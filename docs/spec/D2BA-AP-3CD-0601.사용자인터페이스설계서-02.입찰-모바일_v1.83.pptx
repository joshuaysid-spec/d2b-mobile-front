
<file path=[Content_Types].xml><?xml version="1.0" encoding="utf-8"?>
<Types xmlns="http://schemas.openxmlformats.org/package/2006/content-types">
  <Default Extension="png" ContentType="image/png"/>
  <Default Extension="svg" ContentType="image/svg+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60" r:id="rId1"/>
  </p:sldMasterIdLst>
  <p:notesMasterIdLst>
    <p:notesMasterId r:id="rId456"/>
  </p:notesMasterIdLst>
  <p:handoutMasterIdLst>
    <p:handoutMasterId r:id="rId457"/>
  </p:handoutMasterIdLst>
  <p:sldIdLst>
    <p:sldId id="256" r:id="rId2"/>
    <p:sldId id="627" r:id="rId3"/>
    <p:sldId id="356" r:id="rId4"/>
    <p:sldId id="260" r:id="rId5"/>
    <p:sldId id="571" r:id="rId6"/>
    <p:sldId id="939" r:id="rId7"/>
    <p:sldId id="940" r:id="rId8"/>
    <p:sldId id="291" r:id="rId9"/>
    <p:sldId id="979" r:id="rId10"/>
    <p:sldId id="941" r:id="rId11"/>
    <p:sldId id="273" r:id="rId12"/>
    <p:sldId id="292" r:id="rId13"/>
    <p:sldId id="298" r:id="rId14"/>
    <p:sldId id="299" r:id="rId15"/>
    <p:sldId id="300" r:id="rId16"/>
    <p:sldId id="301" r:id="rId17"/>
    <p:sldId id="1150" r:id="rId18"/>
    <p:sldId id="1151" r:id="rId19"/>
    <p:sldId id="793" r:id="rId20"/>
    <p:sldId id="968" r:id="rId21"/>
    <p:sldId id="969" r:id="rId22"/>
    <p:sldId id="974" r:id="rId23"/>
    <p:sldId id="975" r:id="rId24"/>
    <p:sldId id="970" r:id="rId25"/>
    <p:sldId id="980" r:id="rId26"/>
    <p:sldId id="306" r:id="rId27"/>
    <p:sldId id="314" r:id="rId28"/>
    <p:sldId id="315" r:id="rId29"/>
    <p:sldId id="794" r:id="rId30"/>
    <p:sldId id="795" r:id="rId31"/>
    <p:sldId id="796" r:id="rId32"/>
    <p:sldId id="323" r:id="rId33"/>
    <p:sldId id="329" r:id="rId34"/>
    <p:sldId id="797" r:id="rId35"/>
    <p:sldId id="798" r:id="rId36"/>
    <p:sldId id="328" r:id="rId37"/>
    <p:sldId id="324" r:id="rId38"/>
    <p:sldId id="981" r:id="rId39"/>
    <p:sldId id="982" r:id="rId40"/>
    <p:sldId id="983" r:id="rId41"/>
    <p:sldId id="984" r:id="rId42"/>
    <p:sldId id="799" r:id="rId43"/>
    <p:sldId id="800" r:id="rId44"/>
    <p:sldId id="801" r:id="rId45"/>
    <p:sldId id="802" r:id="rId46"/>
    <p:sldId id="332" r:id="rId47"/>
    <p:sldId id="804" r:id="rId48"/>
    <p:sldId id="335" r:id="rId49"/>
    <p:sldId id="805" r:id="rId50"/>
    <p:sldId id="337" r:id="rId51"/>
    <p:sldId id="803" r:id="rId52"/>
    <p:sldId id="319" r:id="rId53"/>
    <p:sldId id="313" r:id="rId54"/>
    <p:sldId id="310" r:id="rId55"/>
    <p:sldId id="946" r:id="rId56"/>
    <p:sldId id="339" r:id="rId57"/>
    <p:sldId id="985" r:id="rId58"/>
    <p:sldId id="947" r:id="rId59"/>
    <p:sldId id="949" r:id="rId60"/>
    <p:sldId id="948" r:id="rId61"/>
    <p:sldId id="950" r:id="rId62"/>
    <p:sldId id="971" r:id="rId63"/>
    <p:sldId id="976" r:id="rId64"/>
    <p:sldId id="977" r:id="rId65"/>
    <p:sldId id="951" r:id="rId66"/>
    <p:sldId id="1152" r:id="rId67"/>
    <p:sldId id="1153" r:id="rId68"/>
    <p:sldId id="1154" r:id="rId69"/>
    <p:sldId id="369" r:id="rId70"/>
    <p:sldId id="370" r:id="rId71"/>
    <p:sldId id="806" r:id="rId72"/>
    <p:sldId id="807" r:id="rId73"/>
    <p:sldId id="354" r:id="rId74"/>
    <p:sldId id="808" r:id="rId75"/>
    <p:sldId id="371" r:id="rId76"/>
    <p:sldId id="809" r:id="rId77"/>
    <p:sldId id="403" r:id="rId78"/>
    <p:sldId id="407" r:id="rId79"/>
    <p:sldId id="810" r:id="rId80"/>
    <p:sldId id="811" r:id="rId81"/>
    <p:sldId id="812" r:id="rId82"/>
    <p:sldId id="406" r:id="rId83"/>
    <p:sldId id="813" r:id="rId84"/>
    <p:sldId id="814" r:id="rId85"/>
    <p:sldId id="815" r:id="rId86"/>
    <p:sldId id="379" r:id="rId87"/>
    <p:sldId id="816" r:id="rId88"/>
    <p:sldId id="376" r:id="rId89"/>
    <p:sldId id="817" r:id="rId90"/>
    <p:sldId id="818" r:id="rId91"/>
    <p:sldId id="374" r:id="rId92"/>
    <p:sldId id="932" r:id="rId93"/>
    <p:sldId id="400" r:id="rId94"/>
    <p:sldId id="819" r:id="rId95"/>
    <p:sldId id="820" r:id="rId96"/>
    <p:sldId id="362" r:id="rId97"/>
    <p:sldId id="353" r:id="rId98"/>
    <p:sldId id="351" r:id="rId99"/>
    <p:sldId id="352" r:id="rId100"/>
    <p:sldId id="821" r:id="rId101"/>
    <p:sldId id="363" r:id="rId102"/>
    <p:sldId id="366" r:id="rId103"/>
    <p:sldId id="367" r:id="rId104"/>
    <p:sldId id="381" r:id="rId105"/>
    <p:sldId id="382" r:id="rId106"/>
    <p:sldId id="355" r:id="rId107"/>
    <p:sldId id="822" r:id="rId108"/>
    <p:sldId id="383" r:id="rId109"/>
    <p:sldId id="384" r:id="rId110"/>
    <p:sldId id="385" r:id="rId111"/>
    <p:sldId id="628" r:id="rId112"/>
    <p:sldId id="386" r:id="rId113"/>
    <p:sldId id="387" r:id="rId114"/>
    <p:sldId id="388" r:id="rId115"/>
    <p:sldId id="389" r:id="rId116"/>
    <p:sldId id="390" r:id="rId117"/>
    <p:sldId id="391" r:id="rId118"/>
    <p:sldId id="392" r:id="rId119"/>
    <p:sldId id="823" r:id="rId120"/>
    <p:sldId id="824" r:id="rId121"/>
    <p:sldId id="825" r:id="rId122"/>
    <p:sldId id="826" r:id="rId123"/>
    <p:sldId id="827" r:id="rId124"/>
    <p:sldId id="828" r:id="rId125"/>
    <p:sldId id="416" r:id="rId126"/>
    <p:sldId id="411" r:id="rId127"/>
    <p:sldId id="417" r:id="rId128"/>
    <p:sldId id="412" r:id="rId129"/>
    <p:sldId id="413" r:id="rId130"/>
    <p:sldId id="418" r:id="rId131"/>
    <p:sldId id="414" r:id="rId132"/>
    <p:sldId id="830" r:id="rId133"/>
    <p:sldId id="831" r:id="rId134"/>
    <p:sldId id="833" r:id="rId135"/>
    <p:sldId id="832" r:id="rId136"/>
    <p:sldId id="620" r:id="rId137"/>
    <p:sldId id="621" r:id="rId138"/>
    <p:sldId id="430" r:id="rId139"/>
    <p:sldId id="431" r:id="rId140"/>
    <p:sldId id="953" r:id="rId141"/>
    <p:sldId id="432" r:id="rId142"/>
    <p:sldId id="954" r:id="rId143"/>
    <p:sldId id="1155" r:id="rId144"/>
    <p:sldId id="1156" r:id="rId145"/>
    <p:sldId id="1157" r:id="rId146"/>
    <p:sldId id="1158" r:id="rId147"/>
    <p:sldId id="438" r:id="rId148"/>
    <p:sldId id="439" r:id="rId149"/>
    <p:sldId id="834" r:id="rId150"/>
    <p:sldId id="835" r:id="rId151"/>
    <p:sldId id="836" r:id="rId152"/>
    <p:sldId id="837" r:id="rId153"/>
    <p:sldId id="838" r:id="rId154"/>
    <p:sldId id="444" r:id="rId155"/>
    <p:sldId id="445" r:id="rId156"/>
    <p:sldId id="446" r:id="rId157"/>
    <p:sldId id="447" r:id="rId158"/>
    <p:sldId id="448" r:id="rId159"/>
    <p:sldId id="449" r:id="rId160"/>
    <p:sldId id="840" r:id="rId161"/>
    <p:sldId id="841" r:id="rId162"/>
    <p:sldId id="842" r:id="rId163"/>
    <p:sldId id="843" r:id="rId164"/>
    <p:sldId id="844" r:id="rId165"/>
    <p:sldId id="845" r:id="rId166"/>
    <p:sldId id="456" r:id="rId167"/>
    <p:sldId id="457" r:id="rId168"/>
    <p:sldId id="458" r:id="rId169"/>
    <p:sldId id="459" r:id="rId170"/>
    <p:sldId id="847" r:id="rId171"/>
    <p:sldId id="848" r:id="rId172"/>
    <p:sldId id="849" r:id="rId173"/>
    <p:sldId id="463" r:id="rId174"/>
    <p:sldId id="850" r:id="rId175"/>
    <p:sldId id="465" r:id="rId176"/>
    <p:sldId id="851" r:id="rId177"/>
    <p:sldId id="467" r:id="rId178"/>
    <p:sldId id="468" r:id="rId179"/>
    <p:sldId id="469" r:id="rId180"/>
    <p:sldId id="470" r:id="rId181"/>
    <p:sldId id="852" r:id="rId182"/>
    <p:sldId id="853" r:id="rId183"/>
    <p:sldId id="854" r:id="rId184"/>
    <p:sldId id="855" r:id="rId185"/>
    <p:sldId id="474" r:id="rId186"/>
    <p:sldId id="475" r:id="rId187"/>
    <p:sldId id="476" r:id="rId188"/>
    <p:sldId id="477" r:id="rId189"/>
    <p:sldId id="478" r:id="rId190"/>
    <p:sldId id="857" r:id="rId191"/>
    <p:sldId id="856" r:id="rId192"/>
    <p:sldId id="858" r:id="rId193"/>
    <p:sldId id="482" r:id="rId194"/>
    <p:sldId id="483" r:id="rId195"/>
    <p:sldId id="484" r:id="rId196"/>
    <p:sldId id="485" r:id="rId197"/>
    <p:sldId id="486" r:id="rId198"/>
    <p:sldId id="487" r:id="rId199"/>
    <p:sldId id="859" r:id="rId200"/>
    <p:sldId id="860" r:id="rId201"/>
    <p:sldId id="861" r:id="rId202"/>
    <p:sldId id="491" r:id="rId203"/>
    <p:sldId id="492" r:id="rId204"/>
    <p:sldId id="493" r:id="rId205"/>
    <p:sldId id="862" r:id="rId206"/>
    <p:sldId id="863" r:id="rId207"/>
    <p:sldId id="864" r:id="rId208"/>
    <p:sldId id="496" r:id="rId209"/>
    <p:sldId id="497" r:id="rId210"/>
    <p:sldId id="498" r:id="rId211"/>
    <p:sldId id="499" r:id="rId212"/>
    <p:sldId id="865" r:id="rId213"/>
    <p:sldId id="866" r:id="rId214"/>
    <p:sldId id="867" r:id="rId215"/>
    <p:sldId id="502" r:id="rId216"/>
    <p:sldId id="503" r:id="rId217"/>
    <p:sldId id="504" r:id="rId218"/>
    <p:sldId id="505" r:id="rId219"/>
    <p:sldId id="506" r:id="rId220"/>
    <p:sldId id="507" r:id="rId221"/>
    <p:sldId id="868" r:id="rId222"/>
    <p:sldId id="869" r:id="rId223"/>
    <p:sldId id="870" r:id="rId224"/>
    <p:sldId id="511" r:id="rId225"/>
    <p:sldId id="512" r:id="rId226"/>
    <p:sldId id="513" r:id="rId227"/>
    <p:sldId id="514" r:id="rId228"/>
    <p:sldId id="871" r:id="rId229"/>
    <p:sldId id="872" r:id="rId230"/>
    <p:sldId id="873" r:id="rId231"/>
    <p:sldId id="517" r:id="rId232"/>
    <p:sldId id="518" r:id="rId233"/>
    <p:sldId id="519" r:id="rId234"/>
    <p:sldId id="520" r:id="rId235"/>
    <p:sldId id="521" r:id="rId236"/>
    <p:sldId id="874" r:id="rId237"/>
    <p:sldId id="875" r:id="rId238"/>
    <p:sldId id="876" r:id="rId239"/>
    <p:sldId id="525" r:id="rId240"/>
    <p:sldId id="526" r:id="rId241"/>
    <p:sldId id="527" r:id="rId242"/>
    <p:sldId id="528" r:id="rId243"/>
    <p:sldId id="529" r:id="rId244"/>
    <p:sldId id="530" r:id="rId245"/>
    <p:sldId id="531" r:id="rId246"/>
    <p:sldId id="532" r:id="rId247"/>
    <p:sldId id="877" r:id="rId248"/>
    <p:sldId id="878" r:id="rId249"/>
    <p:sldId id="879" r:id="rId250"/>
    <p:sldId id="880" r:id="rId251"/>
    <p:sldId id="536" r:id="rId252"/>
    <p:sldId id="537" r:id="rId253"/>
    <p:sldId id="538" r:id="rId254"/>
    <p:sldId id="539" r:id="rId255"/>
    <p:sldId id="540" r:id="rId256"/>
    <p:sldId id="541" r:id="rId257"/>
    <p:sldId id="542" r:id="rId258"/>
    <p:sldId id="543" r:id="rId259"/>
    <p:sldId id="881" r:id="rId260"/>
    <p:sldId id="882" r:id="rId261"/>
    <p:sldId id="883" r:id="rId262"/>
    <p:sldId id="884" r:id="rId263"/>
    <p:sldId id="547" r:id="rId264"/>
    <p:sldId id="885" r:id="rId265"/>
    <p:sldId id="549" r:id="rId266"/>
    <p:sldId id="886" r:id="rId267"/>
    <p:sldId id="551" r:id="rId268"/>
    <p:sldId id="552" r:id="rId269"/>
    <p:sldId id="553" r:id="rId270"/>
    <p:sldId id="887" r:id="rId271"/>
    <p:sldId id="888" r:id="rId272"/>
    <p:sldId id="889" r:id="rId273"/>
    <p:sldId id="890" r:id="rId274"/>
    <p:sldId id="557" r:id="rId275"/>
    <p:sldId id="558" r:id="rId276"/>
    <p:sldId id="891" r:id="rId277"/>
    <p:sldId id="892" r:id="rId278"/>
    <p:sldId id="893" r:id="rId279"/>
    <p:sldId id="561" r:id="rId280"/>
    <p:sldId id="562" r:id="rId281"/>
    <p:sldId id="563" r:id="rId282"/>
    <p:sldId id="564" r:id="rId283"/>
    <p:sldId id="894" r:id="rId284"/>
    <p:sldId id="895" r:id="rId285"/>
    <p:sldId id="896" r:id="rId286"/>
    <p:sldId id="897" r:id="rId287"/>
    <p:sldId id="569" r:id="rId288"/>
    <p:sldId id="898" r:id="rId289"/>
    <p:sldId id="986" r:id="rId290"/>
    <p:sldId id="987" r:id="rId291"/>
    <p:sldId id="988" r:id="rId292"/>
    <p:sldId id="989" r:id="rId293"/>
    <p:sldId id="990" r:id="rId294"/>
    <p:sldId id="991" r:id="rId295"/>
    <p:sldId id="992" r:id="rId296"/>
    <p:sldId id="993" r:id="rId297"/>
    <p:sldId id="994" r:id="rId298"/>
    <p:sldId id="995" r:id="rId299"/>
    <p:sldId id="996" r:id="rId300"/>
    <p:sldId id="997" r:id="rId301"/>
    <p:sldId id="998" r:id="rId302"/>
    <p:sldId id="999" r:id="rId303"/>
    <p:sldId id="1000" r:id="rId304"/>
    <p:sldId id="1001" r:id="rId305"/>
    <p:sldId id="1002" r:id="rId306"/>
    <p:sldId id="1003" r:id="rId307"/>
    <p:sldId id="1004" r:id="rId308"/>
    <p:sldId id="1005" r:id="rId309"/>
    <p:sldId id="1006" r:id="rId310"/>
    <p:sldId id="1007" r:id="rId311"/>
    <p:sldId id="1008" r:id="rId312"/>
    <p:sldId id="1009" r:id="rId313"/>
    <p:sldId id="1010" r:id="rId314"/>
    <p:sldId id="1011" r:id="rId315"/>
    <p:sldId id="1012" r:id="rId316"/>
    <p:sldId id="1013" r:id="rId317"/>
    <p:sldId id="1014" r:id="rId318"/>
    <p:sldId id="1015" r:id="rId319"/>
    <p:sldId id="1016" r:id="rId320"/>
    <p:sldId id="1017" r:id="rId321"/>
    <p:sldId id="1018" r:id="rId322"/>
    <p:sldId id="1019" r:id="rId323"/>
    <p:sldId id="1020" r:id="rId324"/>
    <p:sldId id="1021" r:id="rId325"/>
    <p:sldId id="1022" r:id="rId326"/>
    <p:sldId id="1023" r:id="rId327"/>
    <p:sldId id="1024" r:id="rId328"/>
    <p:sldId id="1025" r:id="rId329"/>
    <p:sldId id="1026" r:id="rId330"/>
    <p:sldId id="1027" r:id="rId331"/>
    <p:sldId id="1028" r:id="rId332"/>
    <p:sldId id="1029" r:id="rId333"/>
    <p:sldId id="1030" r:id="rId334"/>
    <p:sldId id="1031" r:id="rId335"/>
    <p:sldId id="1032" r:id="rId336"/>
    <p:sldId id="1159" r:id="rId337"/>
    <p:sldId id="1033" r:id="rId338"/>
    <p:sldId id="1034" r:id="rId339"/>
    <p:sldId id="1035" r:id="rId340"/>
    <p:sldId id="1036" r:id="rId341"/>
    <p:sldId id="1037" r:id="rId342"/>
    <p:sldId id="1038" r:id="rId343"/>
    <p:sldId id="1039" r:id="rId344"/>
    <p:sldId id="1040" r:id="rId345"/>
    <p:sldId id="1041" r:id="rId346"/>
    <p:sldId id="1042" r:id="rId347"/>
    <p:sldId id="1043" r:id="rId348"/>
    <p:sldId id="1044" r:id="rId349"/>
    <p:sldId id="1045" r:id="rId350"/>
    <p:sldId id="1046" r:id="rId351"/>
    <p:sldId id="1047" r:id="rId352"/>
    <p:sldId id="1048" r:id="rId353"/>
    <p:sldId id="1049" r:id="rId354"/>
    <p:sldId id="1050" r:id="rId355"/>
    <p:sldId id="1051" r:id="rId356"/>
    <p:sldId id="1052" r:id="rId357"/>
    <p:sldId id="1053" r:id="rId358"/>
    <p:sldId id="1054" r:id="rId359"/>
    <p:sldId id="1055" r:id="rId360"/>
    <p:sldId id="1056" r:id="rId361"/>
    <p:sldId id="1057" r:id="rId362"/>
    <p:sldId id="1058" r:id="rId363"/>
    <p:sldId id="1059" r:id="rId364"/>
    <p:sldId id="1060" r:id="rId365"/>
    <p:sldId id="1061" r:id="rId366"/>
    <p:sldId id="1062" r:id="rId367"/>
    <p:sldId id="1063" r:id="rId368"/>
    <p:sldId id="1064" r:id="rId369"/>
    <p:sldId id="1065" r:id="rId370"/>
    <p:sldId id="1066" r:id="rId371"/>
    <p:sldId id="1067" r:id="rId372"/>
    <p:sldId id="1068" r:id="rId373"/>
    <p:sldId id="1069" r:id="rId374"/>
    <p:sldId id="1070" r:id="rId375"/>
    <p:sldId id="1071" r:id="rId376"/>
    <p:sldId id="1072" r:id="rId377"/>
    <p:sldId id="1073" r:id="rId378"/>
    <p:sldId id="1074" r:id="rId379"/>
    <p:sldId id="1075" r:id="rId380"/>
    <p:sldId id="1076" r:id="rId381"/>
    <p:sldId id="1077" r:id="rId382"/>
    <p:sldId id="1078" r:id="rId383"/>
    <p:sldId id="1079" r:id="rId384"/>
    <p:sldId id="1080" r:id="rId385"/>
    <p:sldId id="1081" r:id="rId386"/>
    <p:sldId id="1082" r:id="rId387"/>
    <p:sldId id="1083" r:id="rId388"/>
    <p:sldId id="1084" r:id="rId389"/>
    <p:sldId id="1085" r:id="rId390"/>
    <p:sldId id="1086" r:id="rId391"/>
    <p:sldId id="1087" r:id="rId392"/>
    <p:sldId id="1088" r:id="rId393"/>
    <p:sldId id="1089" r:id="rId394"/>
    <p:sldId id="1090" r:id="rId395"/>
    <p:sldId id="1091" r:id="rId396"/>
    <p:sldId id="1092" r:id="rId397"/>
    <p:sldId id="1093" r:id="rId398"/>
    <p:sldId id="1094" r:id="rId399"/>
    <p:sldId id="1095" r:id="rId400"/>
    <p:sldId id="1096" r:id="rId401"/>
    <p:sldId id="1097" r:id="rId402"/>
    <p:sldId id="1098" r:id="rId403"/>
    <p:sldId id="1099" r:id="rId404"/>
    <p:sldId id="1100" r:id="rId405"/>
    <p:sldId id="1101" r:id="rId406"/>
    <p:sldId id="1160" r:id="rId407"/>
    <p:sldId id="1102" r:id="rId408"/>
    <p:sldId id="1103" r:id="rId409"/>
    <p:sldId id="1104" r:id="rId410"/>
    <p:sldId id="1105" r:id="rId411"/>
    <p:sldId id="1106" r:id="rId412"/>
    <p:sldId id="1107" r:id="rId413"/>
    <p:sldId id="1108" r:id="rId414"/>
    <p:sldId id="1109" r:id="rId415"/>
    <p:sldId id="1110" r:id="rId416"/>
    <p:sldId id="1111" r:id="rId417"/>
    <p:sldId id="1112" r:id="rId418"/>
    <p:sldId id="1113" r:id="rId419"/>
    <p:sldId id="1114" r:id="rId420"/>
    <p:sldId id="1115" r:id="rId421"/>
    <p:sldId id="1116" r:id="rId422"/>
    <p:sldId id="1117" r:id="rId423"/>
    <p:sldId id="1118" r:id="rId424"/>
    <p:sldId id="1119" r:id="rId425"/>
    <p:sldId id="1120" r:id="rId426"/>
    <p:sldId id="1121" r:id="rId427"/>
    <p:sldId id="1122" r:id="rId428"/>
    <p:sldId id="1123" r:id="rId429"/>
    <p:sldId id="1124" r:id="rId430"/>
    <p:sldId id="1125" r:id="rId431"/>
    <p:sldId id="1126" r:id="rId432"/>
    <p:sldId id="1127" r:id="rId433"/>
    <p:sldId id="1128" r:id="rId434"/>
    <p:sldId id="1129" r:id="rId435"/>
    <p:sldId id="1130" r:id="rId436"/>
    <p:sldId id="1131" r:id="rId437"/>
    <p:sldId id="1132" r:id="rId438"/>
    <p:sldId id="1133" r:id="rId439"/>
    <p:sldId id="1134" r:id="rId440"/>
    <p:sldId id="1135" r:id="rId441"/>
    <p:sldId id="1136" r:id="rId442"/>
    <p:sldId id="1137" r:id="rId443"/>
    <p:sldId id="1138" r:id="rId444"/>
    <p:sldId id="1139" r:id="rId445"/>
    <p:sldId id="1140" r:id="rId446"/>
    <p:sldId id="1141" r:id="rId447"/>
    <p:sldId id="1142" r:id="rId448"/>
    <p:sldId id="1143" r:id="rId449"/>
    <p:sldId id="1144" r:id="rId450"/>
    <p:sldId id="1145" r:id="rId451"/>
    <p:sldId id="1146" r:id="rId452"/>
    <p:sldId id="1147" r:id="rId453"/>
    <p:sldId id="1148" r:id="rId454"/>
    <p:sldId id="1149" r:id="rId455"/>
  </p:sldIdLst>
  <p:sldSz cx="9906000" cy="6858000" type="A4"/>
  <p:notesSz cx="6797675" cy="9926638"/>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E17E9566-FE8C-4BF9-8A43-99A4B4FC8091}">
          <p14:sldIdLst>
            <p14:sldId id="256"/>
            <p14:sldId id="627"/>
            <p14:sldId id="356"/>
            <p14:sldId id="260"/>
            <p14:sldId id="571"/>
          </p14:sldIdLst>
        </p14:section>
        <p14:section name="0. 메인" id="{55BBFC28-8799-4CF9-B657-B280BF4D26FE}">
          <p14:sldIdLst>
            <p14:sldId id="939"/>
          </p14:sldIdLst>
        </p14:section>
        <p14:section name="1.입찰공고 목록조회" id="{A88D8C4A-42D5-488C-851B-9A15CEB54A60}">
          <p14:sldIdLst>
            <p14:sldId id="940"/>
            <p14:sldId id="291"/>
            <p14:sldId id="979"/>
            <p14:sldId id="941"/>
            <p14:sldId id="273"/>
            <p14:sldId id="292"/>
            <p14:sldId id="298"/>
            <p14:sldId id="299"/>
            <p14:sldId id="300"/>
            <p14:sldId id="301"/>
            <p14:sldId id="1150"/>
            <p14:sldId id="1151"/>
            <p14:sldId id="793"/>
          </p14:sldIdLst>
        </p14:section>
        <p14:section name="2.입찰공고상세조회" id="{019FD015-75A8-4452-8691-168FACA46FB5}">
          <p14:sldIdLst>
            <p14:sldId id="968"/>
            <p14:sldId id="969"/>
            <p14:sldId id="974"/>
            <p14:sldId id="975"/>
            <p14:sldId id="970"/>
            <p14:sldId id="980"/>
            <p14:sldId id="306"/>
            <p14:sldId id="314"/>
            <p14:sldId id="315"/>
            <p14:sldId id="794"/>
            <p14:sldId id="795"/>
            <p14:sldId id="796"/>
            <p14:sldId id="323"/>
            <p14:sldId id="329"/>
            <p14:sldId id="797"/>
            <p14:sldId id="798"/>
            <p14:sldId id="328"/>
            <p14:sldId id="324"/>
            <p14:sldId id="981"/>
            <p14:sldId id="982"/>
            <p14:sldId id="983"/>
            <p14:sldId id="984"/>
            <p14:sldId id="799"/>
            <p14:sldId id="800"/>
            <p14:sldId id="801"/>
            <p14:sldId id="802"/>
            <p14:sldId id="332"/>
            <p14:sldId id="804"/>
            <p14:sldId id="335"/>
            <p14:sldId id="805"/>
            <p14:sldId id="337"/>
            <p14:sldId id="803"/>
          </p14:sldIdLst>
        </p14:section>
        <p14:section name="3.입찰공고 상세 기능 안내" id="{EC2577BA-5ADA-4D2C-A338-F65E0039895B}">
          <p14:sldIdLst>
            <p14:sldId id="319"/>
          </p14:sldIdLst>
        </p14:section>
        <p14:section name="4.플로팅 버튼, 환율 정보 조회" id="{A5AF1C76-9E96-4A4A-9A7D-214FEC1DF1CE}">
          <p14:sldIdLst>
            <p14:sldId id="313"/>
            <p14:sldId id="310"/>
            <p14:sldId id="946"/>
            <p14:sldId id="339"/>
            <p14:sldId id="985"/>
          </p14:sldIdLst>
        </p14:section>
        <p14:section name="5.입찰진행 목록 및 신청서 작성" id="{72142622-FA4E-4D90-95BC-6816075B9BE0}">
          <p14:sldIdLst>
            <p14:sldId id="947"/>
            <p14:sldId id="949"/>
            <p14:sldId id="948"/>
            <p14:sldId id="950"/>
            <p14:sldId id="971"/>
            <p14:sldId id="976"/>
            <p14:sldId id="977"/>
            <p14:sldId id="951"/>
            <p14:sldId id="1152"/>
            <p14:sldId id="1153"/>
            <p14:sldId id="1154"/>
            <p14:sldId id="369"/>
            <p14:sldId id="370"/>
            <p14:sldId id="806"/>
            <p14:sldId id="807"/>
            <p14:sldId id="354"/>
            <p14:sldId id="808"/>
            <p14:sldId id="371"/>
            <p14:sldId id="809"/>
            <p14:sldId id="403"/>
            <p14:sldId id="407"/>
            <p14:sldId id="810"/>
            <p14:sldId id="811"/>
            <p14:sldId id="812"/>
            <p14:sldId id="406"/>
            <p14:sldId id="813"/>
            <p14:sldId id="814"/>
            <p14:sldId id="815"/>
            <p14:sldId id="379"/>
            <p14:sldId id="816"/>
            <p14:sldId id="376"/>
            <p14:sldId id="817"/>
            <p14:sldId id="818"/>
            <p14:sldId id="374"/>
            <p14:sldId id="932"/>
            <p14:sldId id="400"/>
            <p14:sldId id="819"/>
            <p14:sldId id="820"/>
            <p14:sldId id="362"/>
            <p14:sldId id="353"/>
            <p14:sldId id="351"/>
            <p14:sldId id="352"/>
            <p14:sldId id="821"/>
            <p14:sldId id="363"/>
            <p14:sldId id="366"/>
            <p14:sldId id="367"/>
            <p14:sldId id="381"/>
            <p14:sldId id="382"/>
            <p14:sldId id="355"/>
            <p14:sldId id="822"/>
            <p14:sldId id="383"/>
            <p14:sldId id="384"/>
            <p14:sldId id="385"/>
            <p14:sldId id="628"/>
            <p14:sldId id="386"/>
            <p14:sldId id="387"/>
            <p14:sldId id="388"/>
            <p14:sldId id="389"/>
            <p14:sldId id="390"/>
            <p14:sldId id="391"/>
            <p14:sldId id="392"/>
            <p14:sldId id="823"/>
            <p14:sldId id="824"/>
            <p14:sldId id="825"/>
            <p14:sldId id="826"/>
            <p14:sldId id="827"/>
            <p14:sldId id="828"/>
            <p14:sldId id="416"/>
            <p14:sldId id="411"/>
            <p14:sldId id="417"/>
            <p14:sldId id="412"/>
            <p14:sldId id="413"/>
            <p14:sldId id="418"/>
            <p14:sldId id="414"/>
            <p14:sldId id="830"/>
            <p14:sldId id="831"/>
            <p14:sldId id="833"/>
            <p14:sldId id="832"/>
            <p14:sldId id="620"/>
            <p14:sldId id="621"/>
          </p14:sldIdLst>
        </p14:section>
        <p14:section name="6.개찰목록 및 이행/적격심사" id="{B55A82DD-BF82-48E6-9A16-642B371930CB}">
          <p14:sldIdLst>
            <p14:sldId id="430"/>
            <p14:sldId id="431"/>
            <p14:sldId id="953"/>
            <p14:sldId id="432"/>
            <p14:sldId id="954"/>
            <p14:sldId id="1155"/>
            <p14:sldId id="1156"/>
            <p14:sldId id="1157"/>
            <p14:sldId id="1158"/>
            <p14:sldId id="438"/>
            <p14:sldId id="439"/>
            <p14:sldId id="834"/>
            <p14:sldId id="835"/>
            <p14:sldId id="836"/>
            <p14:sldId id="837"/>
            <p14:sldId id="838"/>
            <p14:sldId id="444"/>
            <p14:sldId id="445"/>
            <p14:sldId id="446"/>
            <p14:sldId id="447"/>
            <p14:sldId id="448"/>
            <p14:sldId id="449"/>
            <p14:sldId id="840"/>
            <p14:sldId id="841"/>
            <p14:sldId id="842"/>
            <p14:sldId id="843"/>
            <p14:sldId id="844"/>
            <p14:sldId id="845"/>
            <p14:sldId id="456"/>
            <p14:sldId id="457"/>
            <p14:sldId id="458"/>
            <p14:sldId id="459"/>
            <p14:sldId id="847"/>
            <p14:sldId id="848"/>
            <p14:sldId id="849"/>
            <p14:sldId id="463"/>
            <p14:sldId id="850"/>
            <p14:sldId id="465"/>
            <p14:sldId id="851"/>
            <p14:sldId id="467"/>
            <p14:sldId id="468"/>
            <p14:sldId id="469"/>
            <p14:sldId id="470"/>
            <p14:sldId id="852"/>
            <p14:sldId id="853"/>
            <p14:sldId id="854"/>
            <p14:sldId id="855"/>
            <p14:sldId id="474"/>
            <p14:sldId id="475"/>
            <p14:sldId id="476"/>
            <p14:sldId id="477"/>
            <p14:sldId id="478"/>
            <p14:sldId id="857"/>
            <p14:sldId id="856"/>
            <p14:sldId id="858"/>
            <p14:sldId id="482"/>
            <p14:sldId id="483"/>
            <p14:sldId id="484"/>
            <p14:sldId id="485"/>
            <p14:sldId id="486"/>
            <p14:sldId id="487"/>
            <p14:sldId id="859"/>
            <p14:sldId id="860"/>
            <p14:sldId id="861"/>
            <p14:sldId id="491"/>
            <p14:sldId id="492"/>
            <p14:sldId id="493"/>
            <p14:sldId id="862"/>
            <p14:sldId id="863"/>
            <p14:sldId id="864"/>
            <p14:sldId id="496"/>
            <p14:sldId id="497"/>
            <p14:sldId id="498"/>
            <p14:sldId id="499"/>
            <p14:sldId id="865"/>
            <p14:sldId id="866"/>
            <p14:sldId id="867"/>
            <p14:sldId id="502"/>
            <p14:sldId id="503"/>
            <p14:sldId id="504"/>
            <p14:sldId id="505"/>
            <p14:sldId id="506"/>
            <p14:sldId id="507"/>
            <p14:sldId id="868"/>
            <p14:sldId id="869"/>
            <p14:sldId id="870"/>
            <p14:sldId id="511"/>
            <p14:sldId id="512"/>
            <p14:sldId id="513"/>
            <p14:sldId id="514"/>
            <p14:sldId id="871"/>
            <p14:sldId id="872"/>
            <p14:sldId id="873"/>
            <p14:sldId id="517"/>
            <p14:sldId id="518"/>
            <p14:sldId id="519"/>
            <p14:sldId id="520"/>
            <p14:sldId id="521"/>
            <p14:sldId id="874"/>
            <p14:sldId id="875"/>
            <p14:sldId id="876"/>
            <p14:sldId id="525"/>
            <p14:sldId id="526"/>
            <p14:sldId id="527"/>
            <p14:sldId id="528"/>
            <p14:sldId id="529"/>
            <p14:sldId id="530"/>
            <p14:sldId id="531"/>
            <p14:sldId id="532"/>
            <p14:sldId id="877"/>
            <p14:sldId id="878"/>
            <p14:sldId id="879"/>
            <p14:sldId id="880"/>
            <p14:sldId id="536"/>
            <p14:sldId id="537"/>
            <p14:sldId id="538"/>
            <p14:sldId id="539"/>
            <p14:sldId id="540"/>
            <p14:sldId id="541"/>
            <p14:sldId id="542"/>
            <p14:sldId id="543"/>
            <p14:sldId id="881"/>
            <p14:sldId id="882"/>
            <p14:sldId id="883"/>
            <p14:sldId id="884"/>
            <p14:sldId id="547"/>
            <p14:sldId id="885"/>
            <p14:sldId id="549"/>
            <p14:sldId id="886"/>
            <p14:sldId id="551"/>
            <p14:sldId id="552"/>
            <p14:sldId id="553"/>
            <p14:sldId id="887"/>
            <p14:sldId id="888"/>
            <p14:sldId id="889"/>
            <p14:sldId id="890"/>
            <p14:sldId id="557"/>
            <p14:sldId id="558"/>
            <p14:sldId id="891"/>
            <p14:sldId id="892"/>
            <p14:sldId id="893"/>
            <p14:sldId id="561"/>
            <p14:sldId id="562"/>
            <p14:sldId id="563"/>
            <p14:sldId id="564"/>
            <p14:sldId id="894"/>
            <p14:sldId id="895"/>
            <p14:sldId id="896"/>
            <p14:sldId id="897"/>
            <p14:sldId id="569"/>
            <p14:sldId id="898"/>
          </p14:sldIdLst>
        </p14:section>
        <p14:section name="[국외] 입찰공고" id="{65A9D0DA-6746-46CD-8543-32D071B186A6}">
          <p14:sldIdLst>
            <p14:sldId id="986"/>
            <p14:sldId id="987"/>
            <p14:sldId id="988"/>
            <p14:sldId id="989"/>
            <p14:sldId id="990"/>
            <p14:sldId id="991"/>
            <p14:sldId id="992"/>
            <p14:sldId id="993"/>
            <p14:sldId id="994"/>
            <p14:sldId id="995"/>
            <p14:sldId id="996"/>
            <p14:sldId id="997"/>
            <p14:sldId id="998"/>
            <p14:sldId id="999"/>
            <p14:sldId id="1000"/>
            <p14:sldId id="1001"/>
            <p14:sldId id="1002"/>
            <p14:sldId id="1003"/>
            <p14:sldId id="1004"/>
            <p14:sldId id="1005"/>
            <p14:sldId id="1006"/>
            <p14:sldId id="1007"/>
            <p14:sldId id="1008"/>
            <p14:sldId id="1009"/>
            <p14:sldId id="1010"/>
            <p14:sldId id="1011"/>
            <p14:sldId id="1012"/>
            <p14:sldId id="1013"/>
            <p14:sldId id="1014"/>
            <p14:sldId id="1015"/>
            <p14:sldId id="1016"/>
            <p14:sldId id="1017"/>
            <p14:sldId id="1018"/>
            <p14:sldId id="1019"/>
            <p14:sldId id="1020"/>
            <p14:sldId id="1021"/>
            <p14:sldId id="1022"/>
            <p14:sldId id="1023"/>
            <p14:sldId id="1024"/>
            <p14:sldId id="1025"/>
            <p14:sldId id="1026"/>
          </p14:sldIdLst>
        </p14:section>
        <p14:section name="[국외] 입찰진행" id="{8F8B0E34-4114-4555-BC11-FA6CE5A64ADD}">
          <p14:sldIdLst>
            <p14:sldId id="1027"/>
            <p14:sldId id="1028"/>
            <p14:sldId id="1029"/>
            <p14:sldId id="1030"/>
            <p14:sldId id="1031"/>
            <p14:sldId id="1032"/>
            <p14:sldId id="1159"/>
            <p14:sldId id="1033"/>
            <p14:sldId id="1034"/>
            <p14:sldId id="1035"/>
            <p14:sldId id="1036"/>
            <p14:sldId id="1037"/>
            <p14:sldId id="1038"/>
            <p14:sldId id="1039"/>
            <p14:sldId id="1040"/>
            <p14:sldId id="1041"/>
            <p14:sldId id="1042"/>
            <p14:sldId id="1043"/>
            <p14:sldId id="1044"/>
            <p14:sldId id="1045"/>
            <p14:sldId id="1046"/>
            <p14:sldId id="1047"/>
            <p14:sldId id="1048"/>
            <p14:sldId id="1049"/>
            <p14:sldId id="1050"/>
            <p14:sldId id="1051"/>
            <p14:sldId id="1052"/>
            <p14:sldId id="1053"/>
            <p14:sldId id="1054"/>
            <p14:sldId id="1055"/>
            <p14:sldId id="1056"/>
            <p14:sldId id="1057"/>
            <p14:sldId id="1058"/>
            <p14:sldId id="1059"/>
            <p14:sldId id="1060"/>
            <p14:sldId id="1061"/>
            <p14:sldId id="1062"/>
            <p14:sldId id="1063"/>
            <p14:sldId id="1064"/>
            <p14:sldId id="1065"/>
            <p14:sldId id="1066"/>
            <p14:sldId id="1067"/>
            <p14:sldId id="1068"/>
            <p14:sldId id="1069"/>
            <p14:sldId id="1070"/>
            <p14:sldId id="1071"/>
            <p14:sldId id="1072"/>
            <p14:sldId id="1073"/>
            <p14:sldId id="1074"/>
            <p14:sldId id="1075"/>
            <p14:sldId id="1076"/>
            <p14:sldId id="1077"/>
            <p14:sldId id="1078"/>
            <p14:sldId id="1079"/>
            <p14:sldId id="1080"/>
            <p14:sldId id="1081"/>
            <p14:sldId id="1082"/>
            <p14:sldId id="1083"/>
            <p14:sldId id="1084"/>
            <p14:sldId id="1085"/>
            <p14:sldId id="1086"/>
            <p14:sldId id="1087"/>
            <p14:sldId id="1088"/>
            <p14:sldId id="1089"/>
            <p14:sldId id="1090"/>
            <p14:sldId id="1091"/>
            <p14:sldId id="1092"/>
            <p14:sldId id="1093"/>
            <p14:sldId id="1094"/>
            <p14:sldId id="1095"/>
            <p14:sldId id="1096"/>
            <p14:sldId id="1097"/>
            <p14:sldId id="1098"/>
            <p14:sldId id="1099"/>
          </p14:sldIdLst>
        </p14:section>
        <p14:section name="[국외] 개찰" id="{8BF51E7C-1E7A-41BF-BAD4-6362867269E7}">
          <p14:sldIdLst>
            <p14:sldId id="1100"/>
            <p14:sldId id="1101"/>
            <p14:sldId id="1160"/>
            <p14:sldId id="1102"/>
            <p14:sldId id="1103"/>
            <p14:sldId id="1104"/>
            <p14:sldId id="1105"/>
            <p14:sldId id="1106"/>
            <p14:sldId id="1107"/>
            <p14:sldId id="1108"/>
            <p14:sldId id="1109"/>
            <p14:sldId id="1110"/>
            <p14:sldId id="1111"/>
            <p14:sldId id="1112"/>
            <p14:sldId id="1113"/>
            <p14:sldId id="1114"/>
            <p14:sldId id="1115"/>
            <p14:sldId id="1116"/>
            <p14:sldId id="1117"/>
            <p14:sldId id="1118"/>
            <p14:sldId id="1119"/>
            <p14:sldId id="1120"/>
            <p14:sldId id="1121"/>
            <p14:sldId id="1122"/>
            <p14:sldId id="1123"/>
            <p14:sldId id="1124"/>
            <p14:sldId id="1125"/>
            <p14:sldId id="1126"/>
            <p14:sldId id="1127"/>
            <p14:sldId id="1128"/>
            <p14:sldId id="1129"/>
            <p14:sldId id="1130"/>
            <p14:sldId id="1131"/>
            <p14:sldId id="1132"/>
            <p14:sldId id="1133"/>
            <p14:sldId id="1134"/>
            <p14:sldId id="1135"/>
            <p14:sldId id="1136"/>
            <p14:sldId id="1137"/>
            <p14:sldId id="1138"/>
            <p14:sldId id="1139"/>
            <p14:sldId id="1140"/>
            <p14:sldId id="1141"/>
            <p14:sldId id="1142"/>
            <p14:sldId id="1143"/>
            <p14:sldId id="1144"/>
            <p14:sldId id="1145"/>
            <p14:sldId id="1146"/>
            <p14:sldId id="1147"/>
            <p14:sldId id="1148"/>
            <p14:sldId id="1149"/>
          </p14:sldIdLst>
        </p14:section>
      </p14:sectionLst>
    </p:ext>
    <p:ext uri="{EFAFB233-063F-42B5-8137-9DF3F51BA10A}">
      <p15:sldGuideLst xmlns:p15="http://schemas.microsoft.com/office/powerpoint/2012/main">
        <p15:guide id="1" orient="horz" pos="2160" userDrawn="1">
          <p15:clr>
            <a:srgbClr val="A4A3A4"/>
          </p15:clr>
        </p15:guide>
        <p15:guide id="2" pos="312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BFBFBF"/>
    <a:srgbClr val="0D0D0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밝은 스타일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021" autoAdjust="0"/>
    <p:restoredTop sz="94660"/>
  </p:normalViewPr>
  <p:slideViewPr>
    <p:cSldViewPr snapToGrid="0">
      <p:cViewPr varScale="1">
        <p:scale>
          <a:sx n="110" d="100"/>
          <a:sy n="110" d="100"/>
        </p:scale>
        <p:origin x="552" y="102"/>
      </p:cViewPr>
      <p:guideLst>
        <p:guide orient="horz" pos="2160"/>
        <p:guide pos="3120"/>
      </p:guideLst>
    </p:cSldViewPr>
  </p:slideViewPr>
  <p:notesTextViewPr>
    <p:cViewPr>
      <p:scale>
        <a:sx n="3" d="2"/>
        <a:sy n="3" d="2"/>
      </p:scale>
      <p:origin x="0" y="0"/>
    </p:cViewPr>
  </p:notesTextViewPr>
  <p:notesViewPr>
    <p:cSldViewPr snapToGrid="0">
      <p:cViewPr varScale="1">
        <p:scale>
          <a:sx n="81" d="100"/>
          <a:sy n="81" d="100"/>
        </p:scale>
        <p:origin x="3996" y="84"/>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slide" Target="slides/slide454.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handoutMaster" Target="handoutMasters/handoutMaster1.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viewProps" Target="viewProps.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tableStyles" Target="tableStyles.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notesMaster" Target="notesMasters/notesMaster1.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458" Type="http://schemas.openxmlformats.org/officeDocument/2006/relationships/presProps" Target="presProps.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theme" Target="theme/theme1.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255" Type="http://schemas.openxmlformats.org/officeDocument/2006/relationships/slide" Target="slides/slide254.xml"/><Relationship Id="rId297" Type="http://schemas.openxmlformats.org/officeDocument/2006/relationships/slide" Target="slides/slide29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49688" y="0"/>
            <a:ext cx="2946400" cy="496888"/>
          </a:xfrm>
          <a:prstGeom prst="rect">
            <a:avLst/>
          </a:prstGeom>
        </p:spPr>
        <p:txBody>
          <a:bodyPr vert="horz" lIns="91440" tIns="45720" rIns="91440" bIns="45720" rtlCol="0"/>
          <a:lstStyle>
            <a:lvl1pPr algn="r">
              <a:defRPr sz="1200"/>
            </a:lvl1pPr>
          </a:lstStyle>
          <a:p>
            <a:fld id="{8F486772-663E-498C-98A4-55676C0C79D5}" type="datetimeFigureOut">
              <a:rPr lang="ko-KR" altLang="en-US" smtClean="0"/>
              <a:t>2026-07-10 (Friday)</a:t>
            </a:fld>
            <a:endParaRPr lang="ko-KR" altLang="en-US"/>
          </a:p>
        </p:txBody>
      </p:sp>
      <p:sp>
        <p:nvSpPr>
          <p:cNvPr id="4" name="바닥글 개체 틀 3"/>
          <p:cNvSpPr>
            <a:spLocks noGrp="1"/>
          </p:cNvSpPr>
          <p:nvPr>
            <p:ph type="ftr" sz="quarter" idx="2"/>
          </p:nvPr>
        </p:nvSpPr>
        <p:spPr>
          <a:xfrm>
            <a:off x="0" y="9429750"/>
            <a:ext cx="2946400" cy="496888"/>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49688" y="9429750"/>
            <a:ext cx="2946400" cy="496888"/>
          </a:xfrm>
          <a:prstGeom prst="rect">
            <a:avLst/>
          </a:prstGeom>
        </p:spPr>
        <p:txBody>
          <a:bodyPr vert="horz" lIns="91440" tIns="45720" rIns="91440" bIns="45720" rtlCol="0" anchor="b"/>
          <a:lstStyle>
            <a:lvl1pPr algn="r">
              <a:defRPr sz="1200"/>
            </a:lvl1pPr>
          </a:lstStyle>
          <a:p>
            <a:fld id="{BA728BB6-27BE-4996-B82F-8E6CE98335C9}" type="slidenum">
              <a:rPr lang="ko-KR" altLang="en-US" smtClean="0"/>
              <a:t>‹#›</a:t>
            </a:fld>
            <a:endParaRPr lang="ko-KR" altLang="en-US"/>
          </a:p>
        </p:txBody>
      </p:sp>
    </p:spTree>
    <p:extLst>
      <p:ext uri="{BB962C8B-B14F-4D97-AF65-F5344CB8AC3E}">
        <p14:creationId xmlns:p14="http://schemas.microsoft.com/office/powerpoint/2010/main" val="422190483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29880DED-BD55-4631-A63F-CC2459F192F4}" type="datetimeFigureOut">
              <a:rPr lang="ko-KR" altLang="en-US" smtClean="0"/>
              <a:t>2026-07-10 (Friday)</a:t>
            </a:fld>
            <a:endParaRPr lang="ko-KR" altLang="en-US"/>
          </a:p>
        </p:txBody>
      </p:sp>
      <p:sp>
        <p:nvSpPr>
          <p:cNvPr id="4" name="슬라이드 이미지 개체 틀 3"/>
          <p:cNvSpPr>
            <a:spLocks noGrp="1" noRot="1" noChangeAspect="1"/>
          </p:cNvSpPr>
          <p:nvPr>
            <p:ph type="sldImg" idx="2"/>
          </p:nvPr>
        </p:nvSpPr>
        <p:spPr>
          <a:xfrm>
            <a:off x="981075" y="1241425"/>
            <a:ext cx="4835525" cy="3349625"/>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51E14ED1-D705-4645-B89F-2D03A70CCA77}" type="slidenum">
              <a:rPr lang="ko-KR" altLang="en-US" smtClean="0"/>
              <a:t>‹#›</a:t>
            </a:fld>
            <a:endParaRPr lang="ko-KR" altLang="en-US"/>
          </a:p>
        </p:txBody>
      </p:sp>
    </p:spTree>
    <p:extLst>
      <p:ext uri="{BB962C8B-B14F-4D97-AF65-F5344CB8AC3E}">
        <p14:creationId xmlns:p14="http://schemas.microsoft.com/office/powerpoint/2010/main" val="104773054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0</a:t>
            </a:fld>
            <a:endParaRPr lang="ko-KR" altLang="en-US" dirty="0"/>
          </a:p>
        </p:txBody>
      </p:sp>
    </p:spTree>
    <p:extLst>
      <p:ext uri="{BB962C8B-B14F-4D97-AF65-F5344CB8AC3E}">
        <p14:creationId xmlns:p14="http://schemas.microsoft.com/office/powerpoint/2010/main" val="570184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1</a:t>
            </a:fld>
            <a:endParaRPr lang="ko-KR" altLang="en-US"/>
          </a:p>
        </p:txBody>
      </p:sp>
    </p:spTree>
    <p:extLst>
      <p:ext uri="{BB962C8B-B14F-4D97-AF65-F5344CB8AC3E}">
        <p14:creationId xmlns:p14="http://schemas.microsoft.com/office/powerpoint/2010/main" val="16298422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a:t>
            </a:fld>
            <a:endParaRPr lang="ko-KR" altLang="en-US"/>
          </a:p>
        </p:txBody>
      </p:sp>
    </p:spTree>
    <p:extLst>
      <p:ext uri="{BB962C8B-B14F-4D97-AF65-F5344CB8AC3E}">
        <p14:creationId xmlns:p14="http://schemas.microsoft.com/office/powerpoint/2010/main" val="30112509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a:t>
            </a:fld>
            <a:endParaRPr lang="ko-KR" altLang="en-US"/>
          </a:p>
        </p:txBody>
      </p:sp>
    </p:spTree>
    <p:extLst>
      <p:ext uri="{BB962C8B-B14F-4D97-AF65-F5344CB8AC3E}">
        <p14:creationId xmlns:p14="http://schemas.microsoft.com/office/powerpoint/2010/main" val="2215767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a:t>
            </a:fld>
            <a:endParaRPr lang="ko-KR" altLang="en-US"/>
          </a:p>
        </p:txBody>
      </p:sp>
    </p:spTree>
    <p:extLst>
      <p:ext uri="{BB962C8B-B14F-4D97-AF65-F5344CB8AC3E}">
        <p14:creationId xmlns:p14="http://schemas.microsoft.com/office/powerpoint/2010/main" val="19345218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28</a:t>
            </a:fld>
            <a:endParaRPr lang="ko-KR" altLang="en-US"/>
          </a:p>
        </p:txBody>
      </p:sp>
    </p:spTree>
    <p:extLst>
      <p:ext uri="{BB962C8B-B14F-4D97-AF65-F5344CB8AC3E}">
        <p14:creationId xmlns:p14="http://schemas.microsoft.com/office/powerpoint/2010/main" val="4604474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29</a:t>
            </a:fld>
            <a:endParaRPr lang="ko-KR" altLang="en-US"/>
          </a:p>
        </p:txBody>
      </p:sp>
    </p:spTree>
    <p:extLst>
      <p:ext uri="{BB962C8B-B14F-4D97-AF65-F5344CB8AC3E}">
        <p14:creationId xmlns:p14="http://schemas.microsoft.com/office/powerpoint/2010/main" val="2934184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30</a:t>
            </a:fld>
            <a:endParaRPr lang="ko-KR" altLang="en-US"/>
          </a:p>
        </p:txBody>
      </p:sp>
    </p:spTree>
    <p:extLst>
      <p:ext uri="{BB962C8B-B14F-4D97-AF65-F5344CB8AC3E}">
        <p14:creationId xmlns:p14="http://schemas.microsoft.com/office/powerpoint/2010/main" val="39824550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324</a:t>
            </a:fld>
            <a:endParaRPr lang="ko-KR" altLang="en-US"/>
          </a:p>
        </p:txBody>
      </p:sp>
    </p:spTree>
    <p:extLst>
      <p:ext uri="{BB962C8B-B14F-4D97-AF65-F5344CB8AC3E}">
        <p14:creationId xmlns:p14="http://schemas.microsoft.com/office/powerpoint/2010/main" val="210222483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362</a:t>
            </a:fld>
            <a:endParaRPr lang="ko-KR" altLang="en-US"/>
          </a:p>
        </p:txBody>
      </p:sp>
    </p:spTree>
    <p:extLst>
      <p:ext uri="{BB962C8B-B14F-4D97-AF65-F5344CB8AC3E}">
        <p14:creationId xmlns:p14="http://schemas.microsoft.com/office/powerpoint/2010/main" val="367070953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제목">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D56036D5-DD5F-441E-9594-5002CA0E85B5}"/>
              </a:ext>
            </a:extLst>
          </p:cNvPr>
          <p:cNvPicPr>
            <a:picLocks noChangeAspect="1"/>
          </p:cNvPicPr>
          <p:nvPr userDrawn="1"/>
        </p:nvPicPr>
        <p:blipFill>
          <a:blip r:embed="rId2"/>
          <a:stretch>
            <a:fillRect/>
          </a:stretch>
        </p:blipFill>
        <p:spPr>
          <a:xfrm>
            <a:off x="4295427" y="5938279"/>
            <a:ext cx="1331674" cy="164897"/>
          </a:xfrm>
          <a:prstGeom prst="rect">
            <a:avLst/>
          </a:prstGeom>
        </p:spPr>
      </p:pic>
      <p:sp>
        <p:nvSpPr>
          <p:cNvPr id="2" name="Title 1"/>
          <p:cNvSpPr>
            <a:spLocks noGrp="1"/>
          </p:cNvSpPr>
          <p:nvPr>
            <p:ph type="ctrTitle"/>
          </p:nvPr>
        </p:nvSpPr>
        <p:spPr>
          <a:xfrm>
            <a:off x="646694" y="1306235"/>
            <a:ext cx="8640000" cy="612000"/>
          </a:xfrm>
          <a:prstGeom prst="rect">
            <a:avLst/>
          </a:prstGeom>
          <a:ln w="12700">
            <a:noFill/>
          </a:ln>
        </p:spPr>
        <p:txBody>
          <a:bodyPr anchor="b"/>
          <a:lstStyle>
            <a:lvl1pPr algn="r">
              <a:lnSpc>
                <a:spcPct val="100000"/>
              </a:lnSpc>
              <a:defRPr sz="2400" b="1" u="none"/>
            </a:lvl1pPr>
          </a:lstStyle>
          <a:p>
            <a:r>
              <a:rPr lang="ko-KR" altLang="en-US" dirty="0"/>
              <a:t>마스터 제목 스타일 편집</a:t>
            </a:r>
            <a:endParaRPr lang="en-US" dirty="0"/>
          </a:p>
        </p:txBody>
      </p:sp>
      <p:sp>
        <p:nvSpPr>
          <p:cNvPr id="3" name="Subtitle 2"/>
          <p:cNvSpPr>
            <a:spLocks noGrp="1"/>
          </p:cNvSpPr>
          <p:nvPr>
            <p:ph type="subTitle" idx="1"/>
          </p:nvPr>
        </p:nvSpPr>
        <p:spPr>
          <a:xfrm>
            <a:off x="637669" y="1942226"/>
            <a:ext cx="8649025" cy="396376"/>
          </a:xfrm>
          <a:prstGeom prst="rect">
            <a:avLst/>
          </a:prstGeom>
        </p:spPr>
        <p:txBody>
          <a:bodyPr anchor="ctr"/>
          <a:lstStyle>
            <a:lvl1pPr marL="0" indent="0" algn="r">
              <a:lnSpc>
                <a:spcPct val="100000"/>
              </a:lnSpc>
              <a:buNone/>
              <a:defRPr sz="1600" b="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dirty="0"/>
              <a:t>마스터 부제목 스타일 편집</a:t>
            </a:r>
            <a:endParaRPr lang="en-US" dirty="0"/>
          </a:p>
        </p:txBody>
      </p:sp>
      <p:cxnSp>
        <p:nvCxnSpPr>
          <p:cNvPr id="8" name="직선 연결선 7"/>
          <p:cNvCxnSpPr/>
          <p:nvPr userDrawn="1"/>
        </p:nvCxnSpPr>
        <p:spPr>
          <a:xfrm>
            <a:off x="637669" y="1925053"/>
            <a:ext cx="86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1" name="표 10"/>
          <p:cNvGraphicFramePr>
            <a:graphicFrameLocks noGrp="1"/>
          </p:cNvGraphicFramePr>
          <p:nvPr userDrawn="1">
            <p:extLst>
              <p:ext uri="{D42A27DB-BD31-4B8C-83A1-F6EECF244321}">
                <p14:modId xmlns:p14="http://schemas.microsoft.com/office/powerpoint/2010/main" val="213922239"/>
              </p:ext>
            </p:extLst>
          </p:nvPr>
        </p:nvGraphicFramePr>
        <p:xfrm>
          <a:off x="4551204" y="3815479"/>
          <a:ext cx="4744543" cy="952503"/>
        </p:xfrm>
        <a:graphic>
          <a:graphicData uri="http://schemas.openxmlformats.org/drawingml/2006/table">
            <a:tbl>
              <a:tblPr firstRow="1" firstCol="1" bandRow="1"/>
              <a:tblGrid>
                <a:gridCol w="971382">
                  <a:extLst>
                    <a:ext uri="{9D8B030D-6E8A-4147-A177-3AD203B41FA5}">
                      <a16:colId xmlns:a16="http://schemas.microsoft.com/office/drawing/2014/main" val="20000"/>
                    </a:ext>
                  </a:extLst>
                </a:gridCol>
                <a:gridCol w="3773161">
                  <a:extLst>
                    <a:ext uri="{9D8B030D-6E8A-4147-A177-3AD203B41FA5}">
                      <a16:colId xmlns:a16="http://schemas.microsoft.com/office/drawing/2014/main" val="20001"/>
                    </a:ext>
                  </a:extLst>
                </a:gridCol>
              </a:tblGrid>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프로젝트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문서번호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17501">
                <a:tc>
                  <a:txBody>
                    <a:bodyPr/>
                    <a:lstStyle/>
                    <a:p>
                      <a:pPr algn="ctr">
                        <a:spcAft>
                          <a:spcPts val="0"/>
                        </a:spcAft>
                      </a:pPr>
                      <a:r>
                        <a:rPr lang="ko-KR" altLang="en-US" sz="1000" b="1" kern="100" dirty="0" err="1">
                          <a:effectLst/>
                          <a:latin typeface="맑은 고딕" panose="020B0503020000020004" pitchFamily="50" charset="-127"/>
                          <a:ea typeface="+mn-ea"/>
                          <a:cs typeface="Times New Roman" panose="02020603050405020304" pitchFamily="18" charset="0"/>
                        </a:rPr>
                        <a:t>제개정이력</a:t>
                      </a:r>
                      <a:endPar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183031"/>
                  </a:ext>
                </a:extLst>
              </a:tr>
            </a:tbl>
          </a:graphicData>
        </a:graphic>
      </p:graphicFrame>
      <p:sp>
        <p:nvSpPr>
          <p:cNvPr id="14" name="텍스트 개체 틀 12"/>
          <p:cNvSpPr>
            <a:spLocks noGrp="1"/>
          </p:cNvSpPr>
          <p:nvPr>
            <p:ph type="body" sz="quarter" idx="11"/>
          </p:nvPr>
        </p:nvSpPr>
        <p:spPr>
          <a:xfrm>
            <a:off x="5540722" y="3848071"/>
            <a:ext cx="3736946" cy="252000"/>
          </a:xfrm>
          <a:prstGeom prst="rect">
            <a:avLst/>
          </a:prstGeom>
        </p:spPr>
        <p:txBody>
          <a:bodyPr anchor="ctr"/>
          <a:lstStyle>
            <a:lvl1pPr marL="0" marR="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endParaRPr lang="ko-KR" altLang="ko-KR" sz="1000" kern="100" dirty="0">
              <a:effectLst/>
              <a:latin typeface="맑은 고딕" panose="020B0503020000020004" pitchFamily="50" charset="-127"/>
              <a:ea typeface="+mn-ea"/>
              <a:cs typeface="Times New Roman" panose="02020603050405020304" pitchFamily="18" charset="0"/>
            </a:endParaRPr>
          </a:p>
        </p:txBody>
      </p:sp>
      <p:sp>
        <p:nvSpPr>
          <p:cNvPr id="15" name="텍스트 개체 틀 12"/>
          <p:cNvSpPr>
            <a:spLocks noGrp="1"/>
          </p:cNvSpPr>
          <p:nvPr>
            <p:ph type="body" sz="quarter" idx="12"/>
          </p:nvPr>
        </p:nvSpPr>
        <p:spPr>
          <a:xfrm>
            <a:off x="5540722" y="416352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
        <p:nvSpPr>
          <p:cNvPr id="13" name="직사각형 12"/>
          <p:cNvSpPr/>
          <p:nvPr userDrawn="1"/>
        </p:nvSpPr>
        <p:spPr>
          <a:xfrm>
            <a:off x="1527804" y="6225242"/>
            <a:ext cx="6858548" cy="408317"/>
          </a:xfrm>
          <a:prstGeom prst="rect">
            <a:avLst/>
          </a:prstGeom>
        </p:spPr>
        <p:txBody>
          <a:bodyPr wrap="square">
            <a:spAutoFit/>
          </a:bodyPr>
          <a:lstStyle/>
          <a:p>
            <a:pPr algn="ctr">
              <a:lnSpc>
                <a:spcPct val="120000"/>
              </a:lnSpc>
              <a:spcAft>
                <a:spcPts val="0"/>
              </a:spcAft>
            </a:pPr>
            <a:r>
              <a:rPr lang="en-US" altLang="ko-KR" sz="900" kern="100" dirty="0">
                <a:effectLst/>
                <a:latin typeface="+mn-ea"/>
                <a:ea typeface="+mn-ea"/>
                <a:cs typeface="Times New Roman" panose="02020603050405020304" pitchFamily="18" charset="0"/>
              </a:rPr>
              <a:t>Copyright © 2025 by </a:t>
            </a:r>
            <a:r>
              <a:rPr lang="ko-KR" altLang="en-US" sz="900" kern="100" dirty="0">
                <a:effectLst/>
                <a:latin typeface="+mn-ea"/>
                <a:ea typeface="+mn-ea"/>
                <a:cs typeface="Times New Roman" panose="02020603050405020304" pitchFamily="18" charset="0"/>
              </a:rPr>
              <a:t>방위사업청</a:t>
            </a:r>
            <a:endParaRPr lang="en-US" altLang="ko-KR" sz="900" kern="100" dirty="0">
              <a:effectLst/>
              <a:latin typeface="+mn-ea"/>
              <a:ea typeface="+mn-ea"/>
              <a:cs typeface="Times New Roman" panose="02020603050405020304" pitchFamily="18" charset="0"/>
            </a:endParaRPr>
          </a:p>
          <a:p>
            <a:pPr algn="ctr">
              <a:lnSpc>
                <a:spcPct val="120000"/>
              </a:lnSpc>
              <a:spcAft>
                <a:spcPts val="0"/>
              </a:spcAft>
            </a:pPr>
            <a:r>
              <a:rPr lang="ko-KR" altLang="en-US" sz="900" kern="100" dirty="0">
                <a:effectLst/>
                <a:latin typeface="+mn-ea"/>
                <a:ea typeface="+mn-ea"/>
                <a:cs typeface="Times New Roman" panose="02020603050405020304" pitchFamily="18" charset="0"/>
              </a:rPr>
              <a:t>방위사업청의 </a:t>
            </a:r>
            <a:r>
              <a:rPr lang="ko-KR" altLang="ko-KR" sz="900" dirty="0">
                <a:effectLst/>
                <a:latin typeface="+mn-ea"/>
                <a:ea typeface="+mn-ea"/>
                <a:cs typeface="Times New Roman" panose="02020603050405020304" pitchFamily="18" charset="0"/>
              </a:rPr>
              <a:t>사전 승인 없이 본 내용의 전부 또는 일부에 대한 복사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전재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배포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사용을 금합니다</a:t>
            </a:r>
            <a:r>
              <a:rPr lang="en-US" altLang="ko-KR" sz="900" dirty="0">
                <a:effectLst/>
                <a:latin typeface="+mn-ea"/>
                <a:ea typeface="+mn-ea"/>
                <a:cs typeface="Times New Roman" panose="02020603050405020304" pitchFamily="18" charset="0"/>
              </a:rPr>
              <a:t>.</a:t>
            </a:r>
            <a:endParaRPr lang="ko-KR" altLang="en-US" sz="900" dirty="0">
              <a:latin typeface="+mn-ea"/>
              <a:ea typeface="+mn-ea"/>
            </a:endParaRPr>
          </a:p>
        </p:txBody>
      </p:sp>
      <p:sp>
        <p:nvSpPr>
          <p:cNvPr id="12" name="텍스트 개체 틀 12"/>
          <p:cNvSpPr>
            <a:spLocks noGrp="1"/>
          </p:cNvSpPr>
          <p:nvPr>
            <p:ph type="body" sz="quarter" idx="13"/>
          </p:nvPr>
        </p:nvSpPr>
        <p:spPr>
          <a:xfrm>
            <a:off x="5540722" y="447994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pic>
        <p:nvPicPr>
          <p:cNvPr id="17" name="그림 16" descr="그래픽, 폰트, 그래픽 디자인, 로고이(가) 표시된 사진&#10;&#10;AI 생성 콘텐츠는 정확하지 않을 수 있습니다.">
            <a:extLst>
              <a:ext uri="{FF2B5EF4-FFF2-40B4-BE49-F238E27FC236}">
                <a16:creationId xmlns:a16="http://schemas.microsoft.com/office/drawing/2014/main" id="{5A9D3F7C-59D2-46B0-9671-095C3D9268C5}"/>
              </a:ext>
            </a:extLst>
          </p:cNvPr>
          <p:cNvPicPr>
            <a:picLocks noChangeAspect="1"/>
          </p:cNvPicPr>
          <p:nvPr userDrawn="1"/>
        </p:nvPicPr>
        <p:blipFill>
          <a:blip r:embed="rId3"/>
          <a:stretch>
            <a:fillRect/>
          </a:stretch>
        </p:blipFill>
        <p:spPr>
          <a:xfrm>
            <a:off x="637641" y="465349"/>
            <a:ext cx="1005840" cy="340043"/>
          </a:xfrm>
          <a:prstGeom prst="rect">
            <a:avLst/>
          </a:prstGeom>
        </p:spPr>
      </p:pic>
    </p:spTree>
    <p:extLst>
      <p:ext uri="{BB962C8B-B14F-4D97-AF65-F5344CB8AC3E}">
        <p14:creationId xmlns:p14="http://schemas.microsoft.com/office/powerpoint/2010/main" val="254430355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개정이력/목차">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622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20" name="텍스트 개체 틀 12"/>
          <p:cNvSpPr>
            <a:spLocks noGrp="1"/>
          </p:cNvSpPr>
          <p:nvPr>
            <p:ph type="body" sz="quarter" idx="10"/>
          </p:nvPr>
        </p:nvSpPr>
        <p:spPr>
          <a:xfrm>
            <a:off x="2250485" y="821363"/>
            <a:ext cx="5400000" cy="417890"/>
          </a:xfrm>
          <a:prstGeom prst="rect">
            <a:avLst/>
          </a:prstGeom>
        </p:spPr>
        <p:txBody>
          <a:bodyPr anchor="ctr"/>
          <a:lstStyle>
            <a:lvl1pPr marL="0" indent="0" algn="ctr">
              <a:lnSpc>
                <a:spcPct val="100000"/>
              </a:lnSpc>
              <a:buNone/>
              <a:defRPr sz="1400" b="1" u="sng"/>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Tree>
    <p:extLst>
      <p:ext uri="{BB962C8B-B14F-4D97-AF65-F5344CB8AC3E}">
        <p14:creationId xmlns:p14="http://schemas.microsoft.com/office/powerpoint/2010/main" val="1975775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본문-제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57199" y="612000"/>
            <a:ext cx="9001125" cy="324000"/>
          </a:xfrm>
          <a:prstGeom prst="rect">
            <a:avLst/>
          </a:prstGeom>
        </p:spPr>
        <p:txBody>
          <a:bodyPr anchor="t"/>
          <a:lstStyle>
            <a:lvl1pPr marL="0" indent="0">
              <a:lnSpc>
                <a:spcPct val="150000"/>
              </a:lnSpc>
              <a:buNone/>
              <a:defRPr sz="14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322660253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본문-제목&amp;내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734"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67025" y="612000"/>
            <a:ext cx="9000000" cy="324000"/>
          </a:xfrm>
          <a:prstGeom prst="rect">
            <a:avLst/>
          </a:prstGeom>
        </p:spPr>
        <p:txBody>
          <a:bodyPr anchor="t"/>
          <a:lstStyle>
            <a:lvl1pPr marL="0" indent="0">
              <a:lnSpc>
                <a:spcPct val="150000"/>
              </a:lnSpc>
              <a:buNone/>
              <a:defRPr sz="12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
        <p:nvSpPr>
          <p:cNvPr id="10" name="텍스트 개체 틀 2"/>
          <p:cNvSpPr>
            <a:spLocks noGrp="1"/>
          </p:cNvSpPr>
          <p:nvPr>
            <p:ph type="body" sz="quarter" idx="11"/>
          </p:nvPr>
        </p:nvSpPr>
        <p:spPr>
          <a:xfrm>
            <a:off x="457200" y="1038808"/>
            <a:ext cx="9000000" cy="5424196"/>
          </a:xfrm>
          <a:prstGeom prst="rect">
            <a:avLst/>
          </a:prstGeom>
        </p:spPr>
        <p:txBody>
          <a:bodyPr anchor="t"/>
          <a:lstStyle>
            <a:lvl1pPr marL="0" indent="0">
              <a:lnSpc>
                <a:spcPct val="150000"/>
              </a:lnSpc>
              <a:buNone/>
              <a:defRPr sz="10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32103159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본문-내용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7" name="텍스트 개체 틀 2"/>
          <p:cNvSpPr>
            <a:spLocks noGrp="1"/>
          </p:cNvSpPr>
          <p:nvPr>
            <p:ph type="body" sz="quarter" idx="11"/>
          </p:nvPr>
        </p:nvSpPr>
        <p:spPr>
          <a:xfrm>
            <a:off x="457200" y="612000"/>
            <a:ext cx="9000000" cy="5851004"/>
          </a:xfrm>
          <a:prstGeom prst="rect">
            <a:avLst/>
          </a:prstGeom>
        </p:spPr>
        <p:txBody>
          <a:bodyPr anchor="t"/>
          <a:lstStyle>
            <a:lvl1pPr marL="0" indent="0">
              <a:lnSpc>
                <a:spcPct val="150000"/>
              </a:lnSpc>
              <a:buNone/>
              <a:defRPr sz="11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60396506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본문-서식없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Tree>
    <p:extLst>
      <p:ext uri="{BB962C8B-B14F-4D97-AF65-F5344CB8AC3E}">
        <p14:creationId xmlns:p14="http://schemas.microsoft.com/office/powerpoint/2010/main" val="18354753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사용자인터페이스 이미지">
    <p:spTree>
      <p:nvGrpSpPr>
        <p:cNvPr id="1" name=""/>
        <p:cNvGrpSpPr/>
        <p:nvPr/>
      </p:nvGrpSpPr>
      <p:grpSpPr>
        <a:xfrm>
          <a:off x="0" y="0"/>
          <a:ext cx="0" cy="0"/>
          <a:chOff x="0" y="0"/>
          <a:chExt cx="0" cy="0"/>
        </a:xfrm>
      </p:grpSpPr>
      <p:graphicFrame>
        <p:nvGraphicFramePr>
          <p:cNvPr id="4" name="표 3"/>
          <p:cNvGraphicFramePr>
            <a:graphicFrameLocks noGrp="1"/>
          </p:cNvGraphicFramePr>
          <p:nvPr userDrawn="1">
            <p:extLst>
              <p:ext uri="{D42A27DB-BD31-4B8C-83A1-F6EECF244321}">
                <p14:modId xmlns:p14="http://schemas.microsoft.com/office/powerpoint/2010/main" val="3072137626"/>
              </p:ext>
            </p:extLst>
          </p:nvPr>
        </p:nvGraphicFramePr>
        <p:xfrm>
          <a:off x="458167" y="719999"/>
          <a:ext cx="8988374" cy="5755445"/>
        </p:xfrm>
        <a:graphic>
          <a:graphicData uri="http://schemas.openxmlformats.org/drawingml/2006/table">
            <a:tbl>
              <a:tblPr>
                <a:tableStyleId>{5C22544A-7EE6-4342-B048-85BDC9FD1C3A}</a:tableStyleId>
              </a:tblPr>
              <a:tblGrid>
                <a:gridCol w="478985">
                  <a:extLst>
                    <a:ext uri="{9D8B030D-6E8A-4147-A177-3AD203B41FA5}">
                      <a16:colId xmlns:a16="http://schemas.microsoft.com/office/drawing/2014/main" val="20000"/>
                    </a:ext>
                  </a:extLst>
                </a:gridCol>
                <a:gridCol w="1951300">
                  <a:extLst>
                    <a:ext uri="{9D8B030D-6E8A-4147-A177-3AD203B41FA5}">
                      <a16:colId xmlns:a16="http://schemas.microsoft.com/office/drawing/2014/main" val="20001"/>
                    </a:ext>
                  </a:extLst>
                </a:gridCol>
                <a:gridCol w="485933">
                  <a:extLst>
                    <a:ext uri="{9D8B030D-6E8A-4147-A177-3AD203B41FA5}">
                      <a16:colId xmlns:a16="http://schemas.microsoft.com/office/drawing/2014/main" val="20002"/>
                    </a:ext>
                  </a:extLst>
                </a:gridCol>
                <a:gridCol w="2168005">
                  <a:extLst>
                    <a:ext uri="{9D8B030D-6E8A-4147-A177-3AD203B41FA5}">
                      <a16:colId xmlns:a16="http://schemas.microsoft.com/office/drawing/2014/main" val="20003"/>
                    </a:ext>
                  </a:extLst>
                </a:gridCol>
                <a:gridCol w="684241">
                  <a:extLst>
                    <a:ext uri="{9D8B030D-6E8A-4147-A177-3AD203B41FA5}">
                      <a16:colId xmlns:a16="http://schemas.microsoft.com/office/drawing/2014/main" val="20004"/>
                    </a:ext>
                  </a:extLst>
                </a:gridCol>
                <a:gridCol w="843378">
                  <a:extLst>
                    <a:ext uri="{9D8B030D-6E8A-4147-A177-3AD203B41FA5}">
                      <a16:colId xmlns:a16="http://schemas.microsoft.com/office/drawing/2014/main" val="20005"/>
                    </a:ext>
                  </a:extLst>
                </a:gridCol>
                <a:gridCol w="2376532">
                  <a:extLst>
                    <a:ext uri="{9D8B030D-6E8A-4147-A177-3AD203B41FA5}">
                      <a16:colId xmlns:a16="http://schemas.microsoft.com/office/drawing/2014/main" val="20006"/>
                    </a:ext>
                  </a:extLst>
                </a:gridCol>
              </a:tblGrid>
              <a:tr h="263558">
                <a:tc>
                  <a:txBody>
                    <a:bodyPr/>
                    <a:lstStyle/>
                    <a:p>
                      <a:pPr algn="ctr" latinLnBrk="1"/>
                      <a:r>
                        <a:rPr lang="en-US" altLang="ko-KR" sz="900" b="1" dirty="0"/>
                        <a:t>UI</a:t>
                      </a:r>
                      <a:r>
                        <a:rPr lang="en-US" altLang="ko-KR" sz="900" b="1" baseline="0" dirty="0"/>
                        <a:t> ID</a:t>
                      </a:r>
                      <a:endParaRPr lang="ko-KR" altLang="en-US" sz="900" b="1"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900" b="1" dirty="0"/>
                        <a:t>UI </a:t>
                      </a:r>
                      <a:r>
                        <a:rPr lang="ko-KR" altLang="en-US" sz="900" b="1" dirty="0"/>
                        <a:t>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화면경로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0"/>
                  </a:ext>
                </a:extLst>
              </a:tr>
              <a:tr h="263558">
                <a:tc>
                  <a:txBody>
                    <a:bodyPr/>
                    <a:lstStyle/>
                    <a:p>
                      <a:pPr algn="ctr" latinLnBrk="1"/>
                      <a:r>
                        <a:rPr lang="ko-KR" altLang="en-US" sz="900" b="1" dirty="0"/>
                        <a:t>개요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1"/>
                  </a:ext>
                </a:extLst>
              </a:tr>
              <a:tr h="247322">
                <a:tc rowSpan="2"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설명 및 특이사항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4981007">
                <a:tc gridSpan="6"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endParaRPr lang="ko-KR" altLang="en-US" sz="900" dirty="0"/>
                    </a:p>
                  </a:txBody>
                  <a:tcPr marL="36000" marR="36000" marT="36000" marB="36000">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6" name="텍스트 개체 틀 5"/>
          <p:cNvSpPr>
            <a:spLocks noGrp="1"/>
          </p:cNvSpPr>
          <p:nvPr>
            <p:ph type="body" sz="quarter" idx="10"/>
          </p:nvPr>
        </p:nvSpPr>
        <p:spPr>
          <a:xfrm>
            <a:off x="7103286" y="1493927"/>
            <a:ext cx="2300284" cy="4981517"/>
          </a:xfrm>
          <a:prstGeom prst="rect">
            <a:avLst/>
          </a:prstGeom>
        </p:spPr>
        <p:txBody>
          <a:bodyPr/>
          <a:lstStyle>
            <a:lvl1pPr marL="87313" indent="-87313">
              <a:lnSpc>
                <a:spcPct val="100000"/>
              </a:lnSpc>
              <a:spcBef>
                <a:spcPts val="100"/>
              </a:spcBef>
              <a:spcAft>
                <a:spcPts val="100"/>
              </a:spcAft>
              <a:buFont typeface="Arial" panose="020B0604020202020204" pitchFamily="34" charset="0"/>
              <a:buChar char="•"/>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7"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9DF8E3FD-B4FB-473B-BCAD-C4534B9A9D97}" type="slidenum">
              <a:rPr lang="ko-KR" altLang="en-US" smtClean="0"/>
              <a:pPr/>
              <a:t>‹#›</a:t>
            </a:fld>
            <a:endParaRPr lang="ko-KR" altLang="en-US" dirty="0"/>
          </a:p>
        </p:txBody>
      </p:sp>
      <p:sp>
        <p:nvSpPr>
          <p:cNvPr id="11" name="텍스트 개체 틀 10"/>
          <p:cNvSpPr>
            <a:spLocks noGrp="1"/>
          </p:cNvSpPr>
          <p:nvPr>
            <p:ph type="body" sz="quarter" idx="12"/>
          </p:nvPr>
        </p:nvSpPr>
        <p:spPr>
          <a:xfrm>
            <a:off x="3390640" y="755764"/>
            <a:ext cx="2101850" cy="162201"/>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2" name="텍스트 개체 틀 10"/>
          <p:cNvSpPr>
            <a:spLocks noGrp="1"/>
          </p:cNvSpPr>
          <p:nvPr>
            <p:ph type="body" sz="quarter" idx="13"/>
          </p:nvPr>
        </p:nvSpPr>
        <p:spPr>
          <a:xfrm>
            <a:off x="956623" y="1010025"/>
            <a:ext cx="8434506" cy="193878"/>
          </a:xfrm>
          <a:prstGeom prst="rect">
            <a:avLst/>
          </a:prstGeom>
        </p:spPr>
        <p:txBody>
          <a:bodyPr lIns="72000" tIns="36000" rIns="72000" bIns="36000"/>
          <a:lstStyle>
            <a:lvl1pPr marL="0" indent="0">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3" name="텍스트 개체 틀 10"/>
          <p:cNvSpPr>
            <a:spLocks noGrp="1"/>
          </p:cNvSpPr>
          <p:nvPr>
            <p:ph type="body" sz="quarter" idx="14"/>
          </p:nvPr>
        </p:nvSpPr>
        <p:spPr>
          <a:xfrm>
            <a:off x="6238614" y="755764"/>
            <a:ext cx="3140076" cy="177622"/>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0" name="텍스트 개체 틀 10"/>
          <p:cNvSpPr>
            <a:spLocks noGrp="1"/>
          </p:cNvSpPr>
          <p:nvPr>
            <p:ph type="body" sz="quarter" idx="15"/>
          </p:nvPr>
        </p:nvSpPr>
        <p:spPr>
          <a:xfrm>
            <a:off x="956623" y="755764"/>
            <a:ext cx="1404000" cy="193878"/>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Tree>
    <p:extLst>
      <p:ext uri="{BB962C8B-B14F-4D97-AF65-F5344CB8AC3E}">
        <p14:creationId xmlns:p14="http://schemas.microsoft.com/office/powerpoint/2010/main" val="32897163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2" name="그림 11">
            <a:extLst>
              <a:ext uri="{FF2B5EF4-FFF2-40B4-BE49-F238E27FC236}">
                <a16:creationId xmlns:a16="http://schemas.microsoft.com/office/drawing/2014/main" id="{D11E9F2C-2481-4ADA-BED0-11F45689328C}"/>
              </a:ext>
            </a:extLst>
          </p:cNvPr>
          <p:cNvPicPr>
            <a:picLocks noChangeAspect="1"/>
          </p:cNvPicPr>
          <p:nvPr userDrawn="1"/>
        </p:nvPicPr>
        <p:blipFill>
          <a:blip r:embed="rId9"/>
          <a:stretch>
            <a:fillRect/>
          </a:stretch>
        </p:blipFill>
        <p:spPr>
          <a:xfrm>
            <a:off x="8685200" y="6640342"/>
            <a:ext cx="738733" cy="91480"/>
          </a:xfrm>
          <a:prstGeom prst="rect">
            <a:avLst/>
          </a:prstGeom>
        </p:spPr>
      </p:pic>
      <p:cxnSp>
        <p:nvCxnSpPr>
          <p:cNvPr id="8" name="직선 연결선 7"/>
          <p:cNvCxnSpPr/>
          <p:nvPr userDrawn="1"/>
        </p:nvCxnSpPr>
        <p:spPr>
          <a:xfrm>
            <a:off x="445168" y="540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userDrawn="1"/>
        </p:nvCxnSpPr>
        <p:spPr>
          <a:xfrm>
            <a:off x="465216" y="6588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p:cNvSpPr/>
          <p:nvPr userDrawn="1"/>
        </p:nvSpPr>
        <p:spPr>
          <a:xfrm>
            <a:off x="4950372" y="376754"/>
            <a:ext cx="4519928" cy="153888"/>
          </a:xfrm>
          <a:prstGeom prst="rect">
            <a:avLst/>
          </a:prstGeom>
        </p:spPr>
        <p:txBody>
          <a:bodyPr wrap="square" lIns="0" tIns="0" rIns="0" bIns="0">
            <a:spAutoFit/>
          </a:bodyPr>
          <a:lstStyle/>
          <a:p>
            <a:pPr algn="r"/>
            <a:r>
              <a:rPr lang="ko-KR" altLang="en-US" sz="1000" b="1" kern="100" dirty="0" smtClean="0">
                <a:effectLst/>
                <a:latin typeface="맑은 고딕" panose="020B0503020000020004" pitchFamily="50" charset="-127"/>
                <a:ea typeface="+mn-ea"/>
                <a:cs typeface="Times New Roman" panose="02020603050405020304" pitchFamily="18" charset="0"/>
              </a:rPr>
              <a:t>사용자인터페이스설계서 </a:t>
            </a:r>
            <a:r>
              <a:rPr lang="en-US" altLang="ko-KR" sz="1000" b="1" kern="100" dirty="0">
                <a:effectLst/>
                <a:latin typeface="맑은 고딕" panose="020B0503020000020004" pitchFamily="50" charset="-127"/>
                <a:ea typeface="+mn-ea"/>
                <a:cs typeface="Times New Roman" panose="02020603050405020304" pitchFamily="18" charset="0"/>
              </a:rPr>
              <a:t>– 02.</a:t>
            </a:r>
            <a:r>
              <a:rPr lang="ko-KR" altLang="en-US" sz="1000" b="1" kern="100" dirty="0">
                <a:effectLst/>
                <a:latin typeface="맑은 고딕" panose="020B0503020000020004" pitchFamily="50" charset="-127"/>
                <a:ea typeface="+mn-ea"/>
                <a:cs typeface="Times New Roman" panose="02020603050405020304" pitchFamily="18" charset="0"/>
              </a:rPr>
              <a:t>입찰</a:t>
            </a:r>
            <a:r>
              <a:rPr lang="en-US" altLang="ko-KR" sz="1000" b="1" kern="100" dirty="0">
                <a:effectLst/>
                <a:latin typeface="맑은 고딕" panose="020B0503020000020004" pitchFamily="50" charset="-127"/>
                <a:ea typeface="+mn-ea"/>
                <a:cs typeface="Times New Roman" panose="02020603050405020304" pitchFamily="18" charset="0"/>
              </a:rPr>
              <a:t>-</a:t>
            </a:r>
            <a:r>
              <a:rPr lang="ko-KR" altLang="en-US" sz="1000" b="1" kern="100" dirty="0">
                <a:effectLst/>
                <a:latin typeface="맑은 고딕" panose="020B0503020000020004" pitchFamily="50" charset="-127"/>
                <a:ea typeface="+mn-ea"/>
                <a:cs typeface="Times New Roman" panose="02020603050405020304" pitchFamily="18" charset="0"/>
              </a:rPr>
              <a:t>모바일</a:t>
            </a:r>
            <a:endParaRPr lang="ko-KR" altLang="en-US" sz="1000" dirty="0"/>
          </a:p>
        </p:txBody>
      </p:sp>
      <p:sp>
        <p:nvSpPr>
          <p:cNvPr id="10" name="직사각형 9"/>
          <p:cNvSpPr/>
          <p:nvPr userDrawn="1"/>
        </p:nvSpPr>
        <p:spPr>
          <a:xfrm>
            <a:off x="445168" y="376754"/>
            <a:ext cx="3939450" cy="153888"/>
          </a:xfrm>
          <a:prstGeom prst="rect">
            <a:avLst/>
          </a:prstGeom>
        </p:spPr>
        <p:txBody>
          <a:bodyPr wrap="square" lIns="0" tIns="0" rIns="0" bIns="0">
            <a:spAutoFit/>
          </a:body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r>
              <a:rPr lang="ko-KR" altLang="en-US" sz="1000" b="1" kern="100" dirty="0">
                <a:effectLst/>
              </a:rPr>
              <a:t>국방전자조달시스템 고도화 구축사업</a:t>
            </a:r>
          </a:p>
        </p:txBody>
      </p:sp>
      <p:pic>
        <p:nvPicPr>
          <p:cNvPr id="11" name="Picture 1">
            <a:extLst>
              <a:ext uri="{FF2B5EF4-FFF2-40B4-BE49-F238E27FC236}">
                <a16:creationId xmlns:a16="http://schemas.microsoft.com/office/drawing/2014/main" id="{3BECD7E0-1778-4975-BFA0-E9C4CE243F54}"/>
              </a:ext>
            </a:extLst>
          </p:cNvPr>
          <p:cNvPicPr>
            <a:picLocks noChangeAspect="1"/>
          </p:cNvPicPr>
          <p:nvPr userDrawn="1"/>
        </p:nvPicPr>
        <p:blipFill>
          <a:blip r:embed="rId10"/>
          <a:stretch>
            <a:fillRect/>
          </a:stretch>
        </p:blipFill>
        <p:spPr>
          <a:xfrm>
            <a:off x="474463" y="6577231"/>
            <a:ext cx="668534" cy="233715"/>
          </a:xfrm>
          <a:prstGeom prst="rect">
            <a:avLst/>
          </a:prstGeom>
          <a:noFill/>
          <a:ln>
            <a:noFill/>
          </a:ln>
          <a:effectLst/>
        </p:spPr>
      </p:pic>
    </p:spTree>
    <p:extLst>
      <p:ext uri="{BB962C8B-B14F-4D97-AF65-F5344CB8AC3E}">
        <p14:creationId xmlns:p14="http://schemas.microsoft.com/office/powerpoint/2010/main" val="371401212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7" r:id="rId3"/>
    <p:sldLayoutId id="2147483664" r:id="rId4"/>
    <p:sldLayoutId id="2147483665" r:id="rId5"/>
    <p:sldLayoutId id="2147483666" r:id="rId6"/>
    <p:sldLayoutId id="2147483668" r:id="rId7"/>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3.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70.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0.svg"/><Relationship Id="rId4" Type="http://schemas.openxmlformats.org/officeDocument/2006/relationships/image" Target="../media/image7.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제목 52"/>
          <p:cNvSpPr>
            <a:spLocks noGrp="1"/>
          </p:cNvSpPr>
          <p:nvPr>
            <p:ph type="ctrTitle"/>
          </p:nvPr>
        </p:nvSpPr>
        <p:spPr/>
        <p:txBody>
          <a:bodyPr/>
          <a:lstStyle/>
          <a:p>
            <a:r>
              <a:rPr lang="ko-KR" altLang="en-US" dirty="0"/>
              <a:t>사용자인터페이스 설계서 </a:t>
            </a:r>
            <a:r>
              <a:rPr lang="en-US" altLang="ko-KR" dirty="0"/>
              <a:t>- </a:t>
            </a:r>
            <a:r>
              <a:rPr lang="ko-KR" altLang="en-US" dirty="0"/>
              <a:t>모바일</a:t>
            </a:r>
          </a:p>
        </p:txBody>
      </p:sp>
      <p:sp>
        <p:nvSpPr>
          <p:cNvPr id="54" name="부제목 53"/>
          <p:cNvSpPr>
            <a:spLocks noGrp="1"/>
          </p:cNvSpPr>
          <p:nvPr>
            <p:ph type="subTitle" idx="1"/>
          </p:nvPr>
        </p:nvSpPr>
        <p:spPr/>
        <p:txBody>
          <a:bodyPr/>
          <a:lstStyle/>
          <a:p>
            <a:r>
              <a:rPr lang="en-US" altLang="ko-KR" dirty="0"/>
              <a:t>02.</a:t>
            </a:r>
            <a:r>
              <a:rPr lang="ko-KR" altLang="en-US" dirty="0"/>
              <a:t>입찰</a:t>
            </a:r>
          </a:p>
        </p:txBody>
      </p:sp>
      <p:sp>
        <p:nvSpPr>
          <p:cNvPr id="56" name="텍스트 개체 틀 55"/>
          <p:cNvSpPr>
            <a:spLocks noGrp="1"/>
          </p:cNvSpPr>
          <p:nvPr>
            <p:ph type="body" sz="quarter" idx="11"/>
          </p:nvPr>
        </p:nvSpPr>
        <p:spPr/>
        <p:txBody>
          <a:bodyPr/>
          <a:lstStyle/>
          <a:p>
            <a:r>
              <a:rPr lang="ko-KR" altLang="en-US" dirty="0"/>
              <a:t>국방전자조달시스템 고도화 구축사업</a:t>
            </a:r>
          </a:p>
        </p:txBody>
      </p:sp>
      <p:sp>
        <p:nvSpPr>
          <p:cNvPr id="57" name="텍스트 개체 틀 56"/>
          <p:cNvSpPr>
            <a:spLocks noGrp="1"/>
          </p:cNvSpPr>
          <p:nvPr>
            <p:ph type="body" sz="quarter" idx="12"/>
          </p:nvPr>
        </p:nvSpPr>
        <p:spPr/>
        <p:txBody>
          <a:bodyPr/>
          <a:lstStyle/>
          <a:p>
            <a:r>
              <a:rPr lang="en-US" altLang="ko-KR" dirty="0"/>
              <a:t>D2BA-AP-3CD-0601</a:t>
            </a:r>
            <a:endParaRPr lang="ko-KR" altLang="en-US" dirty="0"/>
          </a:p>
        </p:txBody>
      </p:sp>
      <p:sp>
        <p:nvSpPr>
          <p:cNvPr id="6" name="텍스트 개체 틀 5"/>
          <p:cNvSpPr>
            <a:spLocks noGrp="1"/>
          </p:cNvSpPr>
          <p:nvPr>
            <p:ph type="body" sz="quarter" idx="13"/>
          </p:nvPr>
        </p:nvSpPr>
        <p:spPr/>
        <p:txBody>
          <a:bodyPr/>
          <a:lstStyle/>
          <a:p>
            <a:r>
              <a:rPr lang="en-US" altLang="ko-KR" dirty="0"/>
              <a:t>2026.06.18</a:t>
            </a:r>
            <a:endParaRPr lang="ko-KR" altLang="en-US" dirty="0"/>
          </a:p>
        </p:txBody>
      </p:sp>
    </p:spTree>
    <p:extLst>
      <p:ext uri="{BB962C8B-B14F-4D97-AF65-F5344CB8AC3E}">
        <p14:creationId xmlns:p14="http://schemas.microsoft.com/office/powerpoint/2010/main" val="271563249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1</a:t>
            </a:fld>
            <a:endParaRPr lang="ko-KR" altLang="en-US" dirty="0"/>
          </a:p>
        </p:txBody>
      </p:sp>
      <p:sp>
        <p:nvSpPr>
          <p:cNvPr id="4" name="텍스트 개체 틀 15">
            <a:extLst>
              <a:ext uri="{FF2B5EF4-FFF2-40B4-BE49-F238E27FC236}">
                <a16:creationId xmlns:a16="http://schemas.microsoft.com/office/drawing/2014/main" id="{44A815B9-A3EA-BA0B-410C-A69AB9D1A040}"/>
              </a:ext>
            </a:extLst>
          </p:cNvPr>
          <p:cNvSpPr>
            <a:spLocks noGrp="1"/>
          </p:cNvSpPr>
          <p:nvPr>
            <p:ph type="body" sz="quarter" idx="10"/>
          </p:nvPr>
        </p:nvSpPr>
        <p:spPr>
          <a:xfrm>
            <a:off x="2250485" y="821363"/>
            <a:ext cx="5400000" cy="417890"/>
          </a:xfrm>
        </p:spPr>
        <p:txBody>
          <a:bodyPr/>
          <a:lstStyle/>
          <a:p>
            <a:r>
              <a:rPr lang="ko-KR" altLang="en-US" dirty="0" err="1"/>
              <a:t>제</a:t>
            </a:r>
            <a:r>
              <a:rPr lang="ko-KR" altLang="en-US" dirty="0" err="1">
                <a:sym typeface="Wingdings" panose="05000000000000000000" pitchFamily="2" charset="2"/>
              </a:rPr>
              <a:t></a:t>
            </a:r>
            <a:r>
              <a:rPr lang="ko-KR" altLang="en-US" dirty="0" err="1"/>
              <a:t>개</a:t>
            </a:r>
            <a:r>
              <a:rPr lang="ko-KR" altLang="en-US" dirty="0"/>
              <a:t> 정 이 력</a:t>
            </a:r>
          </a:p>
        </p:txBody>
      </p:sp>
      <p:graphicFrame>
        <p:nvGraphicFramePr>
          <p:cNvPr id="7" name="Group 759">
            <a:extLst>
              <a:ext uri="{FF2B5EF4-FFF2-40B4-BE49-F238E27FC236}">
                <a16:creationId xmlns:a16="http://schemas.microsoft.com/office/drawing/2014/main" id="{2831990E-7701-AF86-804F-42A7268A9043}"/>
              </a:ext>
            </a:extLst>
          </p:cNvPr>
          <p:cNvGraphicFramePr>
            <a:graphicFrameLocks noGrp="1"/>
          </p:cNvGraphicFramePr>
          <p:nvPr>
            <p:extLst>
              <p:ext uri="{D42A27DB-BD31-4B8C-83A1-F6EECF244321}">
                <p14:modId xmlns:p14="http://schemas.microsoft.com/office/powerpoint/2010/main" val="90122830"/>
              </p:ext>
            </p:extLst>
          </p:nvPr>
        </p:nvGraphicFramePr>
        <p:xfrm>
          <a:off x="652374" y="1286787"/>
          <a:ext cx="8782571" cy="4370978"/>
        </p:xfrm>
        <a:graphic>
          <a:graphicData uri="http://schemas.openxmlformats.org/drawingml/2006/table">
            <a:tbl>
              <a:tblPr/>
              <a:tblGrid>
                <a:gridCol w="784888">
                  <a:extLst>
                    <a:ext uri="{9D8B030D-6E8A-4147-A177-3AD203B41FA5}">
                      <a16:colId xmlns:a16="http://schemas.microsoft.com/office/drawing/2014/main" val="20000"/>
                    </a:ext>
                  </a:extLst>
                </a:gridCol>
                <a:gridCol w="611958">
                  <a:extLst>
                    <a:ext uri="{9D8B030D-6E8A-4147-A177-3AD203B41FA5}">
                      <a16:colId xmlns:a16="http://schemas.microsoft.com/office/drawing/2014/main" val="20001"/>
                    </a:ext>
                  </a:extLst>
                </a:gridCol>
                <a:gridCol w="4009835">
                  <a:extLst>
                    <a:ext uri="{9D8B030D-6E8A-4147-A177-3AD203B41FA5}">
                      <a16:colId xmlns:a16="http://schemas.microsoft.com/office/drawing/2014/main" val="20002"/>
                    </a:ext>
                  </a:extLst>
                </a:gridCol>
                <a:gridCol w="1256145">
                  <a:extLst>
                    <a:ext uri="{9D8B030D-6E8A-4147-A177-3AD203B41FA5}">
                      <a16:colId xmlns:a16="http://schemas.microsoft.com/office/drawing/2014/main" val="20003"/>
                    </a:ext>
                  </a:extLst>
                </a:gridCol>
                <a:gridCol w="2119745">
                  <a:extLst>
                    <a:ext uri="{9D8B030D-6E8A-4147-A177-3AD203B41FA5}">
                      <a16:colId xmlns:a16="http://schemas.microsoft.com/office/drawing/2014/main" val="3538833938"/>
                    </a:ext>
                  </a:extLst>
                </a:gridCol>
              </a:tblGrid>
              <a:tr h="0">
                <a:tc>
                  <a:txBody>
                    <a:bodyPr/>
                    <a:lstStyle/>
                    <a:p>
                      <a:pPr algn="ctr">
                        <a:lnSpc>
                          <a:spcPct val="120000"/>
                        </a:lnSpc>
                        <a:defRPr/>
                      </a:pPr>
                      <a:r>
                        <a:rPr lang="ko-KR" altLang="en-US" sz="1000" b="1" i="0" u="none" strike="noStrike">
                          <a:solidFill>
                            <a:srgbClr val="000000"/>
                          </a:solidFill>
                          <a:effectLst/>
                          <a:latin typeface="맑은 고딕"/>
                          <a:ea typeface="맑은 고딕"/>
                        </a:rPr>
                        <a:t>제개정일</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a:solidFill>
                            <a:srgbClr val="000000"/>
                          </a:solidFill>
                          <a:effectLst/>
                          <a:latin typeface="맑은 고딕"/>
                          <a:ea typeface="맑은 고딕"/>
                        </a:rPr>
                        <a:t>버전</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제개정내용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작성자</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승인자 및 관련근거</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0">
                <a:tc>
                  <a:txBody>
                    <a:bodyPr/>
                    <a:lstStyle/>
                    <a:p>
                      <a:pPr algn="ctr">
                        <a:lnSpc>
                          <a:spcPct val="120000"/>
                        </a:lnSpc>
                        <a:defRPr/>
                      </a:pPr>
                      <a:r>
                        <a:rPr lang="en-US" sz="900" b="0" i="0" u="none" strike="noStrike" dirty="0">
                          <a:solidFill>
                            <a:srgbClr val="000000"/>
                          </a:solidFill>
                          <a:effectLst/>
                          <a:latin typeface="맑은 고딕"/>
                          <a:ea typeface="맑은 고딕"/>
                        </a:rPr>
                        <a:t>2025.11.03</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a:solidFill>
                            <a:srgbClr val="000000"/>
                          </a:solidFill>
                          <a:effectLst/>
                          <a:latin typeface="맑은 고딕"/>
                          <a:ea typeface="맑은 고딕"/>
                        </a:rPr>
                        <a:t>0.1</a:t>
                      </a:r>
                      <a:endParaRPr 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a:solidFill>
                            <a:srgbClr val="000000"/>
                          </a:solidFill>
                          <a:effectLst/>
                          <a:latin typeface="맑은 고딕"/>
                          <a:ea typeface="맑은 고딕"/>
                        </a:rPr>
                        <a:t>서식 작성</a:t>
                      </a: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mn-lt"/>
                          <a:ea typeface="맑은 고딕"/>
                        </a:rPr>
                        <a:t>신미영</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algn="ctr">
                        <a:lnSpc>
                          <a:spcPct val="120000"/>
                        </a:lnSpc>
                        <a:defRPr/>
                      </a:pPr>
                      <a:r>
                        <a:rPr lang="en-US" altLang="ko-KR" sz="900" b="0" i="0" u="none" strike="noStrike" dirty="0">
                          <a:solidFill>
                            <a:srgbClr val="000000"/>
                          </a:solidFill>
                          <a:effectLst/>
                          <a:latin typeface="맑은 고딕"/>
                          <a:ea typeface="맑은 고딕"/>
                        </a:rPr>
                        <a:t>2026.03.16</a:t>
                      </a: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effectLst/>
                          <a:latin typeface="맑은 고딕"/>
                          <a:ea typeface="맑은 고딕"/>
                        </a:rPr>
                        <a:t>0.3.2</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effectLst/>
                          <a:latin typeface="맑은 고딕"/>
                          <a:ea typeface="맑은 고딕"/>
                        </a:rPr>
                        <a:t>서식 수정</a:t>
                      </a:r>
                      <a:endParaRPr lang="en-US" altLang="ko-KR"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43089213"/>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2026.03.18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61295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3795284"/>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2026.03.23</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PL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err="1">
                          <a:solidFill>
                            <a:srgbClr val="000000"/>
                          </a:solidFill>
                          <a:latin typeface="맑은 고딕"/>
                          <a:ea typeface="맑은 고딕"/>
                          <a:cs typeface="+mn-cs"/>
                        </a:rPr>
                        <a:t>황종서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1604731"/>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030222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08791080"/>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2026.04.17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en-US" altLang="ko-KR" sz="900" b="0" i="0" u="none" strike="noStrike" dirty="0">
                          <a:solidFill>
                            <a:srgbClr val="000000"/>
                          </a:solidFill>
                          <a:latin typeface="맑은 고딕"/>
                          <a:ea typeface="맑은 고딕"/>
                        </a:rPr>
                        <a:t>TF </a:t>
                      </a:r>
                      <a:r>
                        <a:rPr lang="ko-KR" altLang="en-US" sz="900" b="0" i="0" u="none" strike="noStrike" dirty="0">
                          <a:solidFill>
                            <a:srgbClr val="000000"/>
                          </a:solidFill>
                          <a:latin typeface="맑은 고딕"/>
                          <a:ea typeface="맑은 고딕"/>
                        </a:rPr>
                        <a:t>승인</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effectLst/>
                          <a:latin typeface="맑은 고딕"/>
                          <a:ea typeface="맑은 고딕"/>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1.4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en-US" altLang="ko-KR" sz="900" b="0" i="0" u="none" strike="noStrike" kern="1200" dirty="0">
                          <a:solidFill>
                            <a:srgbClr val="000000"/>
                          </a:solidFill>
                          <a:effectLst/>
                          <a:latin typeface="+mn-lt"/>
                          <a:ea typeface="맑은 고딕"/>
                          <a:cs typeface="+mn-cs"/>
                        </a:rPr>
                        <a:t>PL </a:t>
                      </a:r>
                      <a:r>
                        <a:rPr lang="ko-KR" altLang="en-US" sz="900" b="0" i="0" u="none" strike="noStrike" kern="1200" dirty="0">
                          <a:solidFill>
                            <a:srgbClr val="000000"/>
                          </a:solidFill>
                          <a:effectLst/>
                          <a:latin typeface="+mn-lt"/>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latin typeface="+mn-lt"/>
                          <a:ea typeface="맑은 고딕"/>
                          <a:cs typeface="+mn-cs"/>
                        </a:rPr>
                        <a:t>황종서</a:t>
                      </a:r>
                      <a:endParaRPr lang="ko-KR" altLang="en-US" sz="900" b="0" i="0" u="none" strike="noStrike" kern="1200" dirty="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53975" marR="539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박재욱</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1.9</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altLang="ko-KR" sz="900" b="0" i="0" u="none" strike="noStrike" kern="1200" dirty="0">
                          <a:solidFill>
                            <a:srgbClr val="000000"/>
                          </a:solidFill>
                          <a:effectLst/>
                          <a:latin typeface="맑은 고딕"/>
                          <a:ea typeface="맑은 고딕"/>
                          <a:cs typeface="+mn-cs"/>
                        </a:rPr>
                        <a:t>PMO </a:t>
                      </a:r>
                      <a:r>
                        <a:rPr lang="ko-KR" altLang="en-US" sz="900" b="0" i="0" u="none" strike="noStrike" kern="1200" dirty="0">
                          <a:solidFill>
                            <a:srgbClr val="000000"/>
                          </a:solidFill>
                          <a:effectLst/>
                          <a:latin typeface="맑은 고딕"/>
                          <a:ea typeface="맑은 고딕"/>
                          <a:cs typeface="+mn-cs"/>
                        </a:rPr>
                        <a:t>검토 및 </a:t>
                      </a:r>
                      <a:r>
                        <a:rPr lang="en-US" altLang="ko-KR" sz="900" b="0" i="0" u="none" strike="noStrike" kern="1200" dirty="0">
                          <a:solidFill>
                            <a:srgbClr val="000000"/>
                          </a:solidFill>
                          <a:effectLst/>
                          <a:latin typeface="맑은 고딕"/>
                          <a:ea typeface="맑은 고딕"/>
                          <a:cs typeface="+mn-cs"/>
                        </a:rPr>
                        <a:t>TF </a:t>
                      </a:r>
                      <a:r>
                        <a:rPr lang="ko-KR" altLang="en-US" sz="900" b="0" i="0" u="none" strike="noStrike" kern="1200" dirty="0">
                          <a:solidFill>
                            <a:srgbClr val="000000"/>
                          </a:solidFill>
                          <a:effectLst/>
                          <a:latin typeface="맑은 고딕"/>
                          <a:ea typeface="맑은 고딕"/>
                          <a:cs typeface="+mn-cs"/>
                        </a:rPr>
                        <a:t>검토요청</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9776545"/>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5667561"/>
                  </a:ext>
                </a:extLst>
              </a:tr>
            </a:tbl>
          </a:graphicData>
        </a:graphic>
      </p:graphicFrame>
    </p:spTree>
    <p:extLst>
      <p:ext uri="{BB962C8B-B14F-4D97-AF65-F5344CB8AC3E}">
        <p14:creationId xmlns:p14="http://schemas.microsoft.com/office/powerpoint/2010/main" val="223024895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a:t>
            </a:fld>
            <a:endParaRPr lang="ko-KR" altLang="en-US"/>
          </a:p>
        </p:txBody>
      </p:sp>
      <p:sp>
        <p:nvSpPr>
          <p:cNvPr id="7" name="텍스트 개체 틀 15">
            <a:extLst>
              <a:ext uri="{FF2B5EF4-FFF2-40B4-BE49-F238E27FC236}">
                <a16:creationId xmlns:a16="http://schemas.microsoft.com/office/drawing/2014/main" id="{74E68DA1-2E20-231A-31AD-28EAC2F24FE9}"/>
              </a:ext>
            </a:extLst>
          </p:cNvPr>
          <p:cNvSpPr txBox="1">
            <a:spLocks/>
          </p:cNvSpPr>
          <p:nvPr/>
        </p:nvSpPr>
        <p:spPr>
          <a:xfrm>
            <a:off x="2250485" y="959912"/>
            <a:ext cx="5400000" cy="417890"/>
          </a:xfrm>
          <a:prstGeom prst="rect">
            <a:avLst/>
          </a:prstGeom>
        </p:spPr>
        <p:txBody>
          <a:bodyPr anchor="ctr"/>
          <a:lstStyle>
            <a:lvl1pPr marL="0" indent="0" algn="ctr" defTabSz="914400" rtl="0" eaLnBrk="1" latinLnBrk="1" hangingPunct="1">
              <a:lnSpc>
                <a:spcPct val="100000"/>
              </a:lnSpc>
              <a:spcBef>
                <a:spcPts val="1000"/>
              </a:spcBef>
              <a:buFont typeface="Arial" panose="020B0604020202020204" pitchFamily="34" charset="0"/>
              <a:buNone/>
              <a:defRPr sz="1400" b="1" u="sng"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dirty="0"/>
              <a:t>신구 변경 </a:t>
            </a:r>
            <a:r>
              <a:rPr lang="ko-KR" altLang="en-US" dirty="0" err="1"/>
              <a:t>내용표</a:t>
            </a:r>
            <a:endParaRPr lang="ko-KR" altLang="en-US" dirty="0"/>
          </a:p>
        </p:txBody>
      </p:sp>
      <p:graphicFrame>
        <p:nvGraphicFramePr>
          <p:cNvPr id="8" name="Group 759">
            <a:extLst>
              <a:ext uri="{FF2B5EF4-FFF2-40B4-BE49-F238E27FC236}">
                <a16:creationId xmlns:a16="http://schemas.microsoft.com/office/drawing/2014/main" id="{319C15BD-6050-0EF7-51D6-033B70274342}"/>
              </a:ext>
            </a:extLst>
          </p:cNvPr>
          <p:cNvGraphicFramePr>
            <a:graphicFrameLocks noGrp="1"/>
          </p:cNvGraphicFramePr>
          <p:nvPr>
            <p:extLst>
              <p:ext uri="{D42A27DB-BD31-4B8C-83A1-F6EECF244321}">
                <p14:modId xmlns:p14="http://schemas.microsoft.com/office/powerpoint/2010/main" val="322305765"/>
              </p:ext>
            </p:extLst>
          </p:nvPr>
        </p:nvGraphicFramePr>
        <p:xfrm>
          <a:off x="652374" y="1416776"/>
          <a:ext cx="8782571" cy="1243241"/>
        </p:xfrm>
        <a:graphic>
          <a:graphicData uri="http://schemas.openxmlformats.org/drawingml/2006/table">
            <a:tbl>
              <a:tblPr/>
              <a:tblGrid>
                <a:gridCol w="590475">
                  <a:extLst>
                    <a:ext uri="{9D8B030D-6E8A-4147-A177-3AD203B41FA5}">
                      <a16:colId xmlns:a16="http://schemas.microsoft.com/office/drawing/2014/main" val="20000"/>
                    </a:ext>
                  </a:extLst>
                </a:gridCol>
                <a:gridCol w="460379">
                  <a:extLst>
                    <a:ext uri="{9D8B030D-6E8A-4147-A177-3AD203B41FA5}">
                      <a16:colId xmlns:a16="http://schemas.microsoft.com/office/drawing/2014/main" val="20001"/>
                    </a:ext>
                  </a:extLst>
                </a:gridCol>
                <a:gridCol w="980595">
                  <a:extLst>
                    <a:ext uri="{9D8B030D-6E8A-4147-A177-3AD203B41FA5}">
                      <a16:colId xmlns:a16="http://schemas.microsoft.com/office/drawing/2014/main" val="20002"/>
                    </a:ext>
                  </a:extLst>
                </a:gridCol>
                <a:gridCol w="1668483">
                  <a:extLst>
                    <a:ext uri="{9D8B030D-6E8A-4147-A177-3AD203B41FA5}">
                      <a16:colId xmlns:a16="http://schemas.microsoft.com/office/drawing/2014/main" val="20003"/>
                    </a:ext>
                  </a:extLst>
                </a:gridCol>
                <a:gridCol w="4144489">
                  <a:extLst>
                    <a:ext uri="{9D8B030D-6E8A-4147-A177-3AD203B41FA5}">
                      <a16:colId xmlns:a16="http://schemas.microsoft.com/office/drawing/2014/main" val="3538833938"/>
                    </a:ext>
                  </a:extLst>
                </a:gridCol>
                <a:gridCol w="938150">
                  <a:extLst>
                    <a:ext uri="{9D8B030D-6E8A-4147-A177-3AD203B41FA5}">
                      <a16:colId xmlns:a16="http://schemas.microsoft.com/office/drawing/2014/main" val="3926415557"/>
                    </a:ext>
                  </a:extLst>
                </a:gridCol>
              </a:tblGrid>
              <a:tr h="0">
                <a:tc>
                  <a:txBody>
                    <a:bodyPr/>
                    <a:lstStyle/>
                    <a:p>
                      <a:pPr algn="ctr">
                        <a:lnSpc>
                          <a:spcPct val="120000"/>
                        </a:lnSpc>
                        <a:defRPr/>
                      </a:pPr>
                      <a:r>
                        <a:rPr lang="ko-KR" altLang="en-US" sz="1000" b="1" i="0" u="none" strike="noStrike" dirty="0">
                          <a:solidFill>
                            <a:srgbClr val="000000"/>
                          </a:solidFill>
                          <a:effectLst/>
                          <a:latin typeface="맑은 고딕"/>
                          <a:ea typeface="맑은 고딕"/>
                        </a:rPr>
                        <a:t>순번</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구버전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신버전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변경 항목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변경 내용</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  작성자</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106615">
                <a:tc rowSpan="2">
                  <a:txBody>
                    <a:bodyPr/>
                    <a:lstStyle/>
                    <a:p>
                      <a:pPr algn="ctr">
                        <a:lnSpc>
                          <a:spcPct val="120000"/>
                        </a:lnSpc>
                        <a:defRPr/>
                      </a:pPr>
                      <a:r>
                        <a:rPr lang="en-US" sz="900" b="0" i="0" u="none" strike="noStrike" dirty="0">
                          <a:solidFill>
                            <a:srgbClr val="000000"/>
                          </a:solidFill>
                          <a:effectLst/>
                          <a:latin typeface="맑은 고딕"/>
                          <a:ea typeface="맑은 고딕"/>
                        </a:rPr>
                        <a:t>1</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sz="900" b="0" i="0" u="none" strike="noStrike" dirty="0">
                          <a:solidFill>
                            <a:srgbClr val="000000"/>
                          </a:solidFill>
                          <a:latin typeface="맑은 고딕"/>
                          <a:ea typeface="맑은 고딕"/>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altLang="ko-KR" sz="900" b="0" i="0" u="none" strike="noStrike" dirty="0">
                          <a:solidFill>
                            <a:srgbClr val="000000"/>
                          </a:solidFill>
                          <a:latin typeface="맑은 고딕"/>
                          <a:ea typeface="맑은 고딕"/>
                        </a:rPr>
                        <a:t>1.0</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화면목록</a:t>
                      </a: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정보에 </a:t>
                      </a:r>
                      <a:r>
                        <a:rPr lang="en-US" altLang="ko-KR" sz="900" b="0" i="0" u="none" strike="noStrike" dirty="0">
                          <a:solidFill>
                            <a:srgbClr val="000000"/>
                          </a:solidFill>
                          <a:latin typeface="+mn-lt"/>
                          <a:ea typeface="맑은 고딕"/>
                        </a:rPr>
                        <a:t>PC</a:t>
                      </a:r>
                      <a:r>
                        <a:rPr lang="ko-KR" altLang="en-US" sz="900" b="0" i="0" u="none" strike="noStrike" dirty="0">
                          <a:solidFill>
                            <a:srgbClr val="000000"/>
                          </a:solidFill>
                          <a:latin typeface="+mn-lt"/>
                          <a:ea typeface="맑은 고딕"/>
                        </a:rPr>
                        <a:t>의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 </a:t>
                      </a:r>
                      <a:r>
                        <a:rPr lang="ko-KR" altLang="en-US" sz="900" b="0" i="0" u="none" strike="noStrike" dirty="0">
                          <a:solidFill>
                            <a:srgbClr val="000000"/>
                          </a:solidFill>
                          <a:latin typeface="+mn-lt"/>
                          <a:ea typeface="맑은 고딕"/>
                        </a:rPr>
                        <a:t>들어 있는 것 있어 수정</a:t>
                      </a:r>
                      <a:endParaRPr lang="en-US" altLang="ko-KR" sz="900" b="0" i="0" u="none" strike="noStrike" dirty="0">
                        <a:solidFill>
                          <a:srgbClr val="000000"/>
                        </a:solidFill>
                        <a:latin typeface="+mn-lt"/>
                        <a:ea typeface="맑은 고딕"/>
                      </a:endParaRPr>
                    </a:p>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관련 목록 </a:t>
                      </a:r>
                      <a:r>
                        <a:rPr lang="en-US" altLang="ko-KR" sz="900" b="0" i="0" u="none" strike="noStrike" dirty="0">
                          <a:solidFill>
                            <a:srgbClr val="000000"/>
                          </a:solidFill>
                          <a:latin typeface="+mn-lt"/>
                          <a:ea typeface="맑은 고딕"/>
                        </a:rPr>
                        <a:t>:</a:t>
                      </a:r>
                      <a:r>
                        <a:rPr lang="en-US" altLang="ko-KR" sz="900" b="0" i="0" u="none" strike="noStrike" baseline="0" dirty="0">
                          <a:solidFill>
                            <a:srgbClr val="000000"/>
                          </a:solidFill>
                          <a:latin typeface="+mn-lt"/>
                          <a:ea typeface="맑은 고딕"/>
                        </a:rPr>
                        <a:t> 6.1 </a:t>
                      </a:r>
                      <a:r>
                        <a:rPr lang="ko-KR" altLang="en-US" sz="900" b="0" i="0" u="none" strike="noStrike" baseline="0" dirty="0" err="1">
                          <a:solidFill>
                            <a:srgbClr val="000000"/>
                          </a:solidFill>
                          <a:latin typeface="+mn-lt"/>
                          <a:ea typeface="맑은 고딕"/>
                        </a:rPr>
                        <a:t>화면목록</a:t>
                      </a:r>
                      <a:r>
                        <a:rPr lang="en-US" altLang="ko-KR" sz="900" b="0" i="0" u="none" strike="noStrike" baseline="0" dirty="0">
                          <a:solidFill>
                            <a:srgbClr val="000000"/>
                          </a:solidFill>
                          <a:latin typeface="+mn-lt"/>
                          <a:ea typeface="맑은 고딕"/>
                        </a:rPr>
                        <a:t>( </a:t>
                      </a:r>
                      <a:r>
                        <a:rPr lang="ko-KR" altLang="en-US" sz="900" b="0" i="0" u="none" strike="noStrike" baseline="0" dirty="0">
                          <a:solidFill>
                            <a:srgbClr val="000000"/>
                          </a:solidFill>
                          <a:latin typeface="+mn-lt"/>
                          <a:ea typeface="맑은 고딕"/>
                        </a:rPr>
                        <a:t>화면</a:t>
                      </a:r>
                      <a:r>
                        <a:rPr lang="en-US" altLang="ko-KR" sz="900" b="0" i="0" u="none" strike="noStrike" baseline="0" dirty="0">
                          <a:solidFill>
                            <a:srgbClr val="000000"/>
                          </a:solidFill>
                          <a:latin typeface="+mn-lt"/>
                          <a:ea typeface="맑은 고딕"/>
                        </a:rPr>
                        <a:t>ID </a:t>
                      </a:r>
                      <a:r>
                        <a:rPr lang="en-US" altLang="ko-KR" sz="800" kern="1200" dirty="0">
                          <a:solidFill>
                            <a:schemeClr val="tx1"/>
                          </a:solidFill>
                          <a:latin typeface="+mn-ea"/>
                          <a:ea typeface="+mn-ea"/>
                          <a:cs typeface="+mn-cs"/>
                        </a:rPr>
                        <a:t>MUI-BD-09-M01, MUI-BD-09-M02, MUI-BD-09-M03, MUI-BD-09-M04)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김영수</a:t>
                      </a:r>
                      <a:r>
                        <a:rPr lang="en-US" altLang="ko-KR" sz="900" b="0" i="0" u="none" strike="noStrike" dirty="0">
                          <a:solidFill>
                            <a:srgbClr val="000000"/>
                          </a:solidFill>
                          <a:latin typeface="맑은 고딕"/>
                          <a:ea typeface="맑은 고딕"/>
                        </a:rPr>
                        <a:t>, </a:t>
                      </a:r>
                      <a:r>
                        <a:rPr lang="ko-KR" altLang="en-US" sz="900" b="0" i="0" u="none" strike="noStrike" dirty="0">
                          <a:solidFill>
                            <a:srgbClr val="000000"/>
                          </a:solidFill>
                          <a:latin typeface="맑은 고딕"/>
                          <a:ea typeface="맑은 고딕"/>
                        </a:rPr>
                        <a:t>권순태</a:t>
                      </a: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0873">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a:lnSpc>
                          <a:spcPct val="120000"/>
                        </a:lnSpc>
                        <a:defRPr/>
                      </a:pPr>
                      <a:r>
                        <a:rPr lang="ko-KR" altLang="en-US" sz="900" b="0" i="0" u="none" strike="noStrike" dirty="0">
                          <a:solidFill>
                            <a:srgbClr val="000000"/>
                          </a:solidFill>
                          <a:latin typeface="맑은 고딕"/>
                          <a:ea typeface="맑은 고딕"/>
                        </a:rPr>
                        <a:t>화면</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메인</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전자서면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신청완료</a:t>
                      </a:r>
                      <a:r>
                        <a:rPr lang="en-US" altLang="ko-KR" sz="900" b="0" i="0" u="none" strike="noStrike" dirty="0">
                          <a:solidFill>
                            <a:srgbClr val="000000"/>
                          </a:solidFill>
                          <a:latin typeface="맑은 고딕"/>
                          <a:ea typeface="맑은 고딕"/>
                        </a:rPr>
                        <a:t>)</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감리의견</a:t>
                      </a:r>
                      <a:r>
                        <a:rPr lang="ko-KR" altLang="en-US" sz="800" kern="1200" dirty="0">
                          <a:solidFill>
                            <a:schemeClr val="tx1"/>
                          </a:solidFill>
                          <a:latin typeface="+mn-ea"/>
                          <a:ea typeface="+mn-ea"/>
                          <a:cs typeface="+mn-cs"/>
                        </a:rPr>
                        <a:t> 반영하여 요구사항 </a:t>
                      </a:r>
                      <a:r>
                        <a:rPr lang="ko-KR" altLang="en-US" sz="800" kern="1200" dirty="0" err="1">
                          <a:solidFill>
                            <a:schemeClr val="tx1"/>
                          </a:solidFill>
                          <a:latin typeface="+mn-ea"/>
                          <a:ea typeface="+mn-ea"/>
                          <a:cs typeface="+mn-cs"/>
                        </a:rPr>
                        <a:t>추적표에</a:t>
                      </a:r>
                      <a:r>
                        <a:rPr lang="ko-KR" altLang="en-US" sz="800" kern="1200" dirty="0">
                          <a:solidFill>
                            <a:schemeClr val="tx1"/>
                          </a:solidFill>
                          <a:latin typeface="+mn-ea"/>
                          <a:ea typeface="+mn-ea"/>
                          <a:cs typeface="+mn-cs"/>
                        </a:rPr>
                        <a:t> 있는  </a:t>
                      </a:r>
                      <a:r>
                        <a:rPr lang="en-US" altLang="ko-KR" sz="800" kern="1200" dirty="0">
                          <a:solidFill>
                            <a:schemeClr val="tx1"/>
                          </a:solidFill>
                          <a:latin typeface="+mn-ea"/>
                          <a:ea typeface="+mn-ea"/>
                          <a:cs typeface="+mn-cs"/>
                        </a:rPr>
                        <a:t>MUI-MS-02-M01, MUI-MS-02-M05, MUI-MS-02-M06 </a:t>
                      </a:r>
                      <a:r>
                        <a:rPr lang="ko-KR" altLang="en-US" sz="800" kern="1200" dirty="0">
                          <a:solidFill>
                            <a:schemeClr val="tx1"/>
                          </a:solidFill>
                          <a:latin typeface="+mn-ea"/>
                          <a:ea typeface="+mn-ea"/>
                          <a:cs typeface="+mn-cs"/>
                        </a:rPr>
                        <a:t>화면과 </a:t>
                      </a:r>
                      <a:r>
                        <a:rPr lang="en-US" altLang="ko-KR" sz="800" kern="1200" dirty="0">
                          <a:solidFill>
                            <a:schemeClr val="tx1"/>
                          </a:solidFill>
                          <a:latin typeface="+mn-ea"/>
                          <a:ea typeface="+mn-ea"/>
                          <a:cs typeface="+mn-cs"/>
                        </a:rPr>
                        <a:t>MUI-BD-04-M21(</a:t>
                      </a:r>
                      <a:r>
                        <a:rPr lang="ko-KR" altLang="en-US" sz="800" kern="1200" dirty="0">
                          <a:solidFill>
                            <a:schemeClr val="tx1"/>
                          </a:solidFill>
                          <a:latin typeface="+mn-ea"/>
                          <a:ea typeface="+mn-ea"/>
                          <a:cs typeface="+mn-cs"/>
                        </a:rPr>
                        <a:t>전자서명</a:t>
                      </a:r>
                      <a:r>
                        <a:rPr lang="en-US" altLang="ko-KR" sz="800" kern="1200" dirty="0">
                          <a:solidFill>
                            <a:schemeClr val="tx1"/>
                          </a:solidFill>
                          <a:latin typeface="+mn-ea"/>
                          <a:ea typeface="+mn-ea"/>
                          <a:cs typeface="+mn-cs"/>
                        </a:rPr>
                        <a:t>), MUI-BD-06-M08(</a:t>
                      </a:r>
                      <a:r>
                        <a:rPr lang="ko-KR" altLang="en-US" sz="800" kern="1200" dirty="0">
                          <a:solidFill>
                            <a:schemeClr val="tx1"/>
                          </a:solidFill>
                          <a:latin typeface="+mn-ea"/>
                          <a:ea typeface="+mn-ea"/>
                          <a:cs typeface="+mn-cs"/>
                        </a:rPr>
                        <a:t>신청 완료</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화면</a:t>
                      </a:r>
                      <a:r>
                        <a:rPr lang="ko-KR" altLang="en-US" sz="800" kern="1200" baseline="0" dirty="0">
                          <a:solidFill>
                            <a:schemeClr val="tx1"/>
                          </a:solidFill>
                          <a:latin typeface="+mn-ea"/>
                          <a:ea typeface="+mn-ea"/>
                          <a:cs typeface="+mn-cs"/>
                        </a:rPr>
                        <a:t> 추가</a:t>
                      </a:r>
                      <a:endParaRPr lang="en-US" altLang="ko-KR" sz="800" kern="1200" baseline="0" dirty="0">
                        <a:solidFill>
                          <a:schemeClr val="tx1"/>
                        </a:solidFill>
                        <a:latin typeface="+mn-ea"/>
                        <a:ea typeface="+mn-ea"/>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김영수</a:t>
                      </a:r>
                      <a:r>
                        <a:rPr lang="en-US" altLang="ko-KR" sz="900" b="0" i="0" u="none" strike="noStrike" dirty="0">
                          <a:solidFill>
                            <a:srgbClr val="000000"/>
                          </a:solidFill>
                          <a:latin typeface="+mn-lt"/>
                          <a:ea typeface="맑은 고딕"/>
                        </a:rPr>
                        <a:t>, </a:t>
                      </a:r>
                      <a:r>
                        <a:rPr lang="ko-KR" altLang="en-US" sz="900" b="0" i="0" u="none" strike="noStrike" dirty="0" smtClean="0">
                          <a:solidFill>
                            <a:srgbClr val="000000"/>
                          </a:solidFill>
                          <a:latin typeface="+mn-lt"/>
                          <a:ea typeface="맑은 고딕"/>
                        </a:rPr>
                        <a:t>권순태</a:t>
                      </a:r>
                      <a:endParaRPr lang="en-US" altLang="ko-KR" sz="900" b="0" i="0" u="none" strike="noStrike" dirty="0">
                        <a:solidFill>
                          <a:srgbClr val="000000"/>
                        </a:solidFill>
                        <a:latin typeface="+mn-lt"/>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04939008"/>
                  </a:ext>
                </a:extLst>
              </a:tr>
            </a:tbl>
          </a:graphicData>
        </a:graphic>
      </p:graphicFrame>
    </p:spTree>
    <p:extLst>
      <p:ext uri="{BB962C8B-B14F-4D97-AF65-F5344CB8AC3E}">
        <p14:creationId xmlns:p14="http://schemas.microsoft.com/office/powerpoint/2010/main" val="557860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3218353973"/>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smtClean="0">
                          <a:latin typeface="+mn-ea"/>
                          <a:ea typeface="+mn-ea"/>
                        </a:rPr>
                        <a:t>1. </a:t>
                      </a:r>
                      <a:r>
                        <a:rPr lang="ko-KR" altLang="en-US" sz="1200" dirty="0">
                          <a:latin typeface="+mn-ea"/>
                          <a:ea typeface="+mn-ea"/>
                        </a:rPr>
                        <a:t>입찰공고</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2. </a:t>
                      </a:r>
                      <a:r>
                        <a:rPr lang="ko-KR" altLang="en-US" sz="1200" dirty="0">
                          <a:latin typeface="+mn-ea"/>
                          <a:ea typeface="+mn-ea"/>
                        </a:rPr>
                        <a:t>입찰공고상세</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3. </a:t>
                      </a:r>
                      <a:r>
                        <a:rPr lang="ko-KR" altLang="en-US" sz="1200" dirty="0">
                          <a:latin typeface="+mn-ea"/>
                          <a:ea typeface="+mn-ea"/>
                        </a:rPr>
                        <a:t>입찰공고 상세 기능 안내</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smtClean="0">
                          <a:latin typeface="+mn-ea"/>
                          <a:ea typeface="+mn-ea"/>
                        </a:rPr>
                        <a:t>9</a:t>
                      </a:r>
                    </a:p>
                    <a:p>
                      <a:pPr algn="r" latinLnBrk="1">
                        <a:lnSpc>
                          <a:spcPct val="150000"/>
                        </a:lnSpc>
                      </a:pPr>
                      <a:r>
                        <a:rPr lang="en-US" altLang="ko-KR" sz="1200" dirty="0" smtClean="0">
                          <a:latin typeface="+mn-ea"/>
                          <a:ea typeface="+mn-ea"/>
                        </a:rPr>
                        <a:t>9</a:t>
                      </a:r>
                    </a:p>
                    <a:p>
                      <a:pPr algn="r" latinLnBrk="1">
                        <a:lnSpc>
                          <a:spcPct val="150000"/>
                        </a:lnSpc>
                      </a:pPr>
                      <a:r>
                        <a:rPr lang="en-US" altLang="ko-KR" sz="1200" dirty="0" smtClean="0">
                          <a:latin typeface="+mn-ea"/>
                          <a:ea typeface="+mn-ea"/>
                        </a:rPr>
                        <a:t>10</a:t>
                      </a:r>
                      <a:endParaRPr lang="en-US" altLang="ko-KR" sz="1200" dirty="0">
                        <a:latin typeface="+mn-ea"/>
                        <a:ea typeface="+mn-ea"/>
                      </a:endParaRPr>
                    </a:p>
                    <a:p>
                      <a:pPr algn="r" latinLnBrk="1">
                        <a:lnSpc>
                          <a:spcPct val="150000"/>
                        </a:lnSpc>
                      </a:pPr>
                      <a:r>
                        <a:rPr lang="en-US" altLang="ko-KR" sz="1200" dirty="0">
                          <a:latin typeface="+mn-ea"/>
                          <a:ea typeface="+mn-ea"/>
                        </a:rPr>
                        <a:t>11</a:t>
                      </a:r>
                    </a:p>
                    <a:p>
                      <a:pPr algn="r" latinLnBrk="1">
                        <a:lnSpc>
                          <a:spcPct val="150000"/>
                        </a:lnSpc>
                      </a:pPr>
                      <a:r>
                        <a:rPr lang="en-US" altLang="ko-KR" sz="1200" dirty="0">
                          <a:latin typeface="+mn-ea"/>
                          <a:ea typeface="+mn-ea"/>
                        </a:rPr>
                        <a:t>12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24</a:t>
                      </a:r>
                    </a:p>
                    <a:p>
                      <a:pPr algn="r" latinLnBrk="1">
                        <a:lnSpc>
                          <a:spcPct val="150000"/>
                        </a:lnSpc>
                      </a:pPr>
                      <a:r>
                        <a:rPr lang="en-US" altLang="ko-KR" sz="1200" dirty="0">
                          <a:latin typeface="+mn-ea"/>
                          <a:ea typeface="+mn-ea"/>
                        </a:rPr>
                        <a:t>25</a:t>
                      </a:r>
                    </a:p>
                    <a:p>
                      <a:pPr algn="r" latinLnBrk="1">
                        <a:lnSpc>
                          <a:spcPct val="150000"/>
                        </a:lnSpc>
                      </a:pPr>
                      <a:r>
                        <a:rPr lang="en-US" altLang="ko-KR" sz="1200" dirty="0">
                          <a:latin typeface="+mn-ea"/>
                          <a:ea typeface="+mn-ea"/>
                        </a:rPr>
                        <a:t>26</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48</a:t>
                      </a:r>
                    </a:p>
                    <a:p>
                      <a:pPr algn="r" latinLnBrk="1">
                        <a:lnSpc>
                          <a:spcPct val="150000"/>
                        </a:lnSpc>
                      </a:pPr>
                      <a:r>
                        <a:rPr lang="en-US" altLang="ko-KR" sz="1200" dirty="0">
                          <a:latin typeface="+mn-ea"/>
                          <a:ea typeface="+mn-ea"/>
                        </a:rPr>
                        <a:t>49</a:t>
                      </a:r>
                    </a:p>
                    <a:p>
                      <a:pPr algn="r" latinLnBrk="1">
                        <a:lnSpc>
                          <a:spcPct val="150000"/>
                        </a:lnSpc>
                      </a:pPr>
                      <a:r>
                        <a:rPr lang="en-US" altLang="ko-KR" sz="1200" dirty="0">
                          <a:latin typeface="+mn-ea"/>
                          <a:ea typeface="+mn-ea"/>
                        </a:rPr>
                        <a:t>50</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796976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93823576"/>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smtClean="0">
                          <a:latin typeface="+mn-ea"/>
                          <a:ea typeface="+mn-ea"/>
                        </a:rPr>
                        <a:t>4. </a:t>
                      </a:r>
                      <a:r>
                        <a:rPr lang="ko-KR" altLang="en-US" sz="1200" dirty="0" err="1">
                          <a:latin typeface="+mn-ea"/>
                          <a:ea typeface="+mn-ea"/>
                        </a:rPr>
                        <a:t>플로팅</a:t>
                      </a:r>
                      <a:r>
                        <a:rPr lang="ko-KR" altLang="en-US" sz="1200" dirty="0">
                          <a:latin typeface="+mn-ea"/>
                          <a:ea typeface="+mn-ea"/>
                        </a:rPr>
                        <a:t> 버튼</a:t>
                      </a:r>
                      <a:r>
                        <a:rPr lang="en-US" altLang="ko-KR" sz="1200" dirty="0">
                          <a:latin typeface="+mn-ea"/>
                          <a:ea typeface="+mn-ea"/>
                        </a:rPr>
                        <a:t>, </a:t>
                      </a:r>
                      <a:r>
                        <a:rPr lang="ko-KR" altLang="en-US" sz="1200" dirty="0">
                          <a:latin typeface="+mn-ea"/>
                          <a:ea typeface="+mn-ea"/>
                        </a:rPr>
                        <a:t>환율 정보</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5. </a:t>
                      </a:r>
                      <a:r>
                        <a:rPr lang="ko-KR" altLang="en-US" sz="1200" dirty="0" err="1">
                          <a:latin typeface="+mn-ea"/>
                          <a:ea typeface="+mn-ea"/>
                        </a:rPr>
                        <a:t>입찰진행</a:t>
                      </a:r>
                      <a:r>
                        <a:rPr lang="ko-KR" altLang="en-US" sz="1200" dirty="0">
                          <a:latin typeface="+mn-ea"/>
                          <a:ea typeface="+mn-ea"/>
                        </a:rPr>
                        <a:t> 목록 및 신청서 작성</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6. </a:t>
                      </a:r>
                      <a:r>
                        <a:rPr lang="ko-KR" altLang="en-US" sz="1200" dirty="0" err="1">
                          <a:latin typeface="+mn-ea"/>
                          <a:ea typeface="+mn-ea"/>
                        </a:rPr>
                        <a:t>개찰목록</a:t>
                      </a:r>
                      <a:r>
                        <a:rPr lang="ko-KR" altLang="en-US" sz="1200" dirty="0">
                          <a:latin typeface="+mn-ea"/>
                          <a:ea typeface="+mn-ea"/>
                        </a:rPr>
                        <a:t> 및 이행</a:t>
                      </a:r>
                      <a:r>
                        <a:rPr lang="en-US" altLang="ko-KR" sz="1200" dirty="0">
                          <a:latin typeface="+mn-ea"/>
                          <a:ea typeface="+mn-ea"/>
                        </a:rPr>
                        <a:t>/</a:t>
                      </a:r>
                      <a:r>
                        <a:rPr lang="ko-KR" altLang="en-US" sz="1200" dirty="0">
                          <a:latin typeface="+mn-ea"/>
                          <a:ea typeface="+mn-ea"/>
                        </a:rPr>
                        <a:t>적격심사</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53</a:t>
                      </a:r>
                    </a:p>
                    <a:p>
                      <a:pPr algn="r" latinLnBrk="1">
                        <a:lnSpc>
                          <a:spcPct val="150000"/>
                        </a:lnSpc>
                      </a:pPr>
                      <a:r>
                        <a:rPr lang="en-US" altLang="ko-KR" sz="1200" dirty="0">
                          <a:latin typeface="+mn-ea"/>
                          <a:ea typeface="+mn-ea"/>
                        </a:rPr>
                        <a:t>54</a:t>
                      </a:r>
                    </a:p>
                    <a:p>
                      <a:pPr algn="r" latinLnBrk="1">
                        <a:lnSpc>
                          <a:spcPct val="150000"/>
                        </a:lnSpc>
                      </a:pPr>
                      <a:r>
                        <a:rPr lang="en-US" altLang="ko-KR" sz="1200" dirty="0">
                          <a:latin typeface="+mn-ea"/>
                          <a:ea typeface="+mn-ea"/>
                        </a:rPr>
                        <a:t>55</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62</a:t>
                      </a:r>
                    </a:p>
                    <a:p>
                      <a:pPr algn="r" latinLnBrk="1">
                        <a:lnSpc>
                          <a:spcPct val="150000"/>
                        </a:lnSpc>
                      </a:pPr>
                      <a:r>
                        <a:rPr lang="en-US" altLang="ko-KR" sz="1200" dirty="0">
                          <a:latin typeface="+mn-ea"/>
                          <a:ea typeface="+mn-ea"/>
                        </a:rPr>
                        <a:t>63</a:t>
                      </a:r>
                    </a:p>
                    <a:p>
                      <a:pPr algn="r" latinLnBrk="1">
                        <a:lnSpc>
                          <a:spcPct val="150000"/>
                        </a:lnSpc>
                      </a:pPr>
                      <a:r>
                        <a:rPr lang="en-US" altLang="ko-KR" sz="1200" dirty="0">
                          <a:latin typeface="+mn-ea"/>
                          <a:ea typeface="+mn-ea"/>
                        </a:rPr>
                        <a:t>65</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137</a:t>
                      </a:r>
                    </a:p>
                    <a:p>
                      <a:pPr algn="r" latinLnBrk="1">
                        <a:lnSpc>
                          <a:spcPct val="150000"/>
                        </a:lnSpc>
                      </a:pPr>
                      <a:r>
                        <a:rPr lang="en-US" altLang="ko-KR" sz="1200" dirty="0">
                          <a:latin typeface="+mn-ea"/>
                          <a:ea typeface="+mn-ea"/>
                        </a:rPr>
                        <a:t>138</a:t>
                      </a:r>
                    </a:p>
                    <a:p>
                      <a:pPr algn="r" latinLnBrk="1">
                        <a:lnSpc>
                          <a:spcPct val="150000"/>
                        </a:lnSpc>
                      </a:pPr>
                      <a:r>
                        <a:rPr lang="en-US" altLang="ko-KR" sz="1200" dirty="0">
                          <a:latin typeface="+mn-ea"/>
                          <a:ea typeface="+mn-ea"/>
                        </a:rPr>
                        <a:t>143</a:t>
                      </a:r>
                    </a:p>
                    <a:p>
                      <a:pPr algn="r" latinLnBrk="1">
                        <a:lnSpc>
                          <a:spcPct val="150000"/>
                        </a:lnSpc>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950239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메인</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nvGraphicFramePr>
        <p:xfrm>
          <a:off x="635474" y="1413419"/>
          <a:ext cx="8701200" cy="1143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50" b="0" i="0" u="none" strike="noStrike" dirty="0">
                          <a:solidFill>
                            <a:srgbClr val="000000"/>
                          </a:solidFill>
                          <a:effectLst/>
                          <a:latin typeface="맑은 고딕" panose="020B0503020000020004" pitchFamily="50" charset="-127"/>
                          <a:ea typeface="+mn-ea"/>
                        </a:rPr>
                        <a:t>MUI-MS</a:t>
                      </a:r>
                      <a:r>
                        <a:rPr kumimoji="0" lang="en-US" altLang="ko-KR" sz="75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-01-M07</a:t>
                      </a:r>
                      <a:endParaRPr lang="ko-KR" altLang="en-US" sz="750" dirty="0">
                        <a:latin typeface="+mn-ea"/>
                        <a:ea typeface="+mn-ea"/>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smtClean="0">
                          <a:latin typeface="+mn-ea"/>
                          <a:ea typeface="+mn-ea"/>
                        </a:rPr>
                        <a:t>메인홈</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err="1">
                          <a:solidFill>
                            <a:schemeClr val="tx1"/>
                          </a:solidFill>
                          <a:latin typeface="+mn-ea"/>
                          <a:ea typeface="+mn-ea"/>
                          <a:cs typeface="+mn-cs"/>
                        </a:rPr>
                        <a:t>MscrnPage</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앱 기동 완료 후 노출되는 메인 화면</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로그인 사용자</a:t>
                      </a:r>
                      <a:r>
                        <a:rPr lang="en-US" altLang="ko-KR" sz="800" dirty="0">
                          <a:latin typeface="+mn-ea"/>
                          <a:ea typeface="+mn-ea"/>
                        </a:rPr>
                        <a:t>, </a:t>
                      </a:r>
                      <a:r>
                        <a:rPr lang="ko-KR" altLang="en-US" sz="800" dirty="0" err="1">
                          <a:latin typeface="+mn-ea"/>
                          <a:ea typeface="+mn-ea"/>
                        </a:rPr>
                        <a:t>비로그인</a:t>
                      </a:r>
                      <a:r>
                        <a:rPr lang="ko-KR" altLang="en-US" sz="800" dirty="0">
                          <a:latin typeface="+mn-ea"/>
                          <a:ea typeface="+mn-ea"/>
                        </a:rPr>
                        <a:t> 사용자</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/biz/cm/</a:t>
                      </a:r>
                      <a:r>
                        <a:rPr lang="en-US" altLang="ko-KR" sz="800" kern="1200" dirty="0" err="1">
                          <a:solidFill>
                            <a:schemeClr val="tx1"/>
                          </a:solidFill>
                          <a:latin typeface="+mn-ea"/>
                          <a:ea typeface="+mn-ea"/>
                          <a:cs typeface="+mn-cs"/>
                        </a:rPr>
                        <a:t>mscrn</a:t>
                      </a:r>
                      <a:r>
                        <a:rPr lang="en-US" altLang="ko-KR" sz="800" dirty="0">
                          <a:solidFill>
                            <a:schemeClr val="tx1"/>
                          </a:solidFill>
                          <a:latin typeface="+mn-ea"/>
                          <a:ea typeface="+mn-ea"/>
                        </a:rPr>
                        <a:t>/</a:t>
                      </a:r>
                      <a:r>
                        <a:rPr lang="en-US" altLang="ko-KR" sz="800" kern="1200" dirty="0" err="1">
                          <a:solidFill>
                            <a:schemeClr val="tx1"/>
                          </a:solidFill>
                          <a:latin typeface="+mn-ea"/>
                          <a:ea typeface="+mn-ea"/>
                          <a:cs typeface="+mn-cs"/>
                        </a:rPr>
                        <a:t>MscrnPage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UC-ZZ-18-02</a:t>
                      </a:r>
                      <a:endParaRPr lang="ko-KR" altLang="en-US" sz="800" b="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8000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5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MUI-MS-01-M12</a:t>
                      </a:r>
                      <a:endParaRPr lang="ko-KR" altLang="en-US" sz="750" dirty="0">
                        <a:latin typeface="+mn-ea"/>
                        <a:ea typeface="+mn-ea"/>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햄버거메뉴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MenuPage</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모바일 메뉴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/biz/cm/menu/</a:t>
                      </a:r>
                      <a:r>
                        <a:rPr lang="en-US" altLang="ko-KR" sz="800" dirty="0" err="1">
                          <a:solidFill>
                            <a:schemeClr val="tx1"/>
                          </a:solidFill>
                          <a:latin typeface="+mn-ea"/>
                          <a:ea typeface="+mn-ea"/>
                        </a:rPr>
                        <a:t>MenuPage.tsx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Native App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5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MUI-MS-01-M13</a:t>
                      </a:r>
                      <a:endParaRPr lang="ko-KR" altLang="en-US" sz="750" dirty="0">
                        <a:latin typeface="+mn-ea"/>
                        <a:ea typeface="+mn-ea"/>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알림현황</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NotiPrstPage</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모바일 푸시 알림 현황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/biz/cm/</a:t>
                      </a:r>
                      <a:r>
                        <a:rPr lang="en-US" altLang="ko-KR" sz="800" dirty="0" err="1">
                          <a:solidFill>
                            <a:schemeClr val="tx1"/>
                          </a:solidFill>
                          <a:latin typeface="+mn-ea"/>
                          <a:ea typeface="+mn-ea"/>
                        </a:rPr>
                        <a:t>notiPrst</a:t>
                      </a:r>
                      <a:r>
                        <a:rPr lang="en-US" altLang="ko-KR" sz="800" dirty="0">
                          <a:solidFill>
                            <a:schemeClr val="tx1"/>
                          </a:solidFill>
                          <a:latin typeface="+mn-ea"/>
                          <a:ea typeface="+mn-ea"/>
                        </a:rPr>
                        <a:t>/</a:t>
                      </a:r>
                      <a:r>
                        <a:rPr lang="en-US" altLang="ko-KR" sz="800" dirty="0" err="1">
                          <a:solidFill>
                            <a:schemeClr val="tx1"/>
                          </a:solidFill>
                          <a:latin typeface="+mn-ea"/>
                          <a:ea typeface="+mn-ea"/>
                        </a:rPr>
                        <a:t>notiPrstPage.tsx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UC-ZZ-11-07</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UC-ZZ-14-03</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6619C48D-7E22-9D49-50C5-2404458A47CE}"/>
              </a:ext>
            </a:extLst>
          </p:cNvPr>
          <p:cNvSpPr txBox="1"/>
          <p:nvPr/>
        </p:nvSpPr>
        <p:spPr>
          <a:xfrm>
            <a:off x="736948" y="59574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메인 홈</a:t>
            </a:r>
            <a:r>
              <a:rPr lang="en-US" altLang="ko-KR" sz="800" kern="0" dirty="0">
                <a:solidFill>
                  <a:srgbClr val="0000FF"/>
                </a:solidFill>
                <a:latin typeface="+mn-ea"/>
              </a:rPr>
              <a:t>, </a:t>
            </a:r>
            <a:r>
              <a:rPr lang="ko-KR" altLang="en-US" sz="800" kern="0" dirty="0">
                <a:solidFill>
                  <a:srgbClr val="0000FF"/>
                </a:solidFill>
                <a:latin typeface="+mn-ea"/>
              </a:rPr>
              <a:t>햄버거 메뉴</a:t>
            </a:r>
            <a:r>
              <a:rPr lang="en-US" altLang="ko-KR" sz="800" kern="0" dirty="0">
                <a:solidFill>
                  <a:srgbClr val="0000FF"/>
                </a:solidFill>
                <a:latin typeface="+mn-ea"/>
              </a:rPr>
              <a:t>, </a:t>
            </a:r>
            <a:r>
              <a:rPr lang="ko-KR" altLang="en-US" sz="800" kern="0" dirty="0">
                <a:solidFill>
                  <a:srgbClr val="0000FF"/>
                </a:solidFill>
                <a:latin typeface="+mn-ea"/>
              </a:rPr>
              <a:t>알림 현황은 </a:t>
            </a:r>
            <a:r>
              <a:rPr lang="en-US" altLang="ko-KR" sz="800" kern="0" dirty="0">
                <a:solidFill>
                  <a:srgbClr val="0000FF"/>
                </a:solidFill>
                <a:latin typeface="+mn-ea"/>
              </a:rPr>
              <a:t>[D2BA-AP-3CD-0601.</a:t>
            </a:r>
            <a:r>
              <a:rPr lang="ko-KR" altLang="en-US" sz="800" kern="0" dirty="0">
                <a:solidFill>
                  <a:srgbClr val="0000FF"/>
                </a:solidFill>
                <a:latin typeface="+mn-ea"/>
              </a:rPr>
              <a:t>사용자인터페이스설계서</a:t>
            </a:r>
            <a:r>
              <a:rPr lang="en-US" altLang="ko-KR" sz="800" kern="0" dirty="0">
                <a:solidFill>
                  <a:srgbClr val="0000FF"/>
                </a:solidFill>
                <a:latin typeface="+mn-ea"/>
              </a:rPr>
              <a:t>-00</a:t>
            </a:r>
            <a:r>
              <a:rPr lang="ko-KR" altLang="en-US" sz="800" kern="0" dirty="0">
                <a:solidFill>
                  <a:srgbClr val="0000FF"/>
                </a:solidFill>
                <a:latin typeface="+mn-ea"/>
              </a:rPr>
              <a:t>공통</a:t>
            </a:r>
            <a:r>
              <a:rPr lang="en-US" altLang="ko-KR" sz="800" kern="0" dirty="0">
                <a:solidFill>
                  <a:srgbClr val="0000FF"/>
                </a:solidFill>
                <a:latin typeface="+mn-ea"/>
              </a:rPr>
              <a:t>-</a:t>
            </a:r>
            <a:r>
              <a:rPr lang="ko-KR" altLang="en-US" sz="800" kern="0" dirty="0">
                <a:solidFill>
                  <a:srgbClr val="0000FF"/>
                </a:solidFill>
                <a:latin typeface="+mn-ea"/>
              </a:rPr>
              <a:t>모바일</a:t>
            </a:r>
            <a:r>
              <a:rPr lang="en-US" altLang="ko-KR" sz="800" kern="0" dirty="0">
                <a:solidFill>
                  <a:srgbClr val="0000FF"/>
                </a:solidFill>
                <a:latin typeface="+mn-ea"/>
              </a:rPr>
              <a:t>] </a:t>
            </a:r>
            <a:r>
              <a:rPr lang="ko-KR" altLang="en-US" sz="800" kern="0" dirty="0">
                <a:solidFill>
                  <a:srgbClr val="0000FF"/>
                </a:solidFill>
                <a:latin typeface="+mn-ea"/>
              </a:rPr>
              <a:t>문서에서 메인 화면 및 공통 화면 세부 사항 확인 가능함</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spc="0" dirty="0">
                <a:solidFill>
                  <a:srgbClr val="0000FF"/>
                </a:solidFill>
                <a:effectLst/>
                <a:latin typeface="+mn-ea"/>
              </a:rPr>
              <a:t>현재 화면 목록 페이지는 개략 설계 </a:t>
            </a:r>
            <a:r>
              <a:rPr lang="ko-KR" altLang="en-US" sz="800" kern="0" spc="0" dirty="0" err="1">
                <a:solidFill>
                  <a:srgbClr val="0000FF"/>
                </a:solidFill>
                <a:effectLst/>
                <a:latin typeface="+mn-ea"/>
              </a:rPr>
              <a:t>감리시</a:t>
            </a:r>
            <a:r>
              <a:rPr lang="ko-KR" altLang="en-US" sz="800" kern="0" spc="0" dirty="0">
                <a:solidFill>
                  <a:srgbClr val="0000FF"/>
                </a:solidFill>
                <a:effectLst/>
                <a:latin typeface="+mn-ea"/>
              </a:rPr>
              <a:t> 포함된 문서를 유지하고 있음</a:t>
            </a:r>
          </a:p>
        </p:txBody>
      </p:sp>
      <p:sp>
        <p:nvSpPr>
          <p:cNvPr id="9"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038304" y="1140446"/>
            <a:ext cx="2346262"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 </a:t>
            </a:r>
            <a:r>
              <a:rPr lang="en-US" altLang="ko-KR" sz="700" dirty="0">
                <a:solidFill>
                  <a:srgbClr val="000000"/>
                </a:solidFill>
                <a:latin typeface="맑은 고딕" panose="020B0503020000020004" pitchFamily="50" charset="-127"/>
              </a:rPr>
              <a:t>MUI-MS </a:t>
            </a:r>
            <a:r>
              <a:rPr lang="ko-KR" altLang="en-US" sz="700" dirty="0">
                <a:solidFill>
                  <a:srgbClr val="000000"/>
                </a:solidFill>
                <a:latin typeface="맑은 고딕" panose="020B0503020000020004" pitchFamily="50" charset="-127"/>
              </a:rPr>
              <a:t>모바일 시스템은 </a:t>
            </a:r>
            <a:r>
              <a:rPr lang="ko-KR" altLang="en-US" sz="700" dirty="0" err="1">
                <a:solidFill>
                  <a:srgbClr val="000000"/>
                </a:solidFill>
                <a:latin typeface="맑은 고딕" panose="020B0503020000020004" pitchFamily="50" charset="-127"/>
              </a:rPr>
              <a:t>유스케이스</a:t>
            </a:r>
            <a:r>
              <a:rPr lang="ko-KR" altLang="en-US" sz="700" dirty="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ID</a:t>
            </a:r>
            <a:r>
              <a:rPr lang="ko-KR" altLang="en-US" sz="700" dirty="0">
                <a:solidFill>
                  <a:srgbClr val="000000"/>
                </a:solidFill>
                <a:latin typeface="맑은 고딕" panose="020B0503020000020004" pitchFamily="50" charset="-127"/>
              </a:rPr>
              <a:t>가</a:t>
            </a:r>
            <a:r>
              <a:rPr lang="en-US" altLang="ko-KR" sz="700" dirty="0">
                <a:solidFill>
                  <a:srgbClr val="000000"/>
                </a:solidFill>
                <a:latin typeface="맑은 고딕" panose="020B0503020000020004" pitchFamily="50" charset="-127"/>
              </a:rPr>
              <a:t> </a:t>
            </a:r>
            <a:r>
              <a:rPr lang="ko-KR" altLang="en-US" sz="700" dirty="0" err="1">
                <a:solidFill>
                  <a:srgbClr val="000000"/>
                </a:solidFill>
                <a:latin typeface="맑은 고딕" panose="020B0503020000020004" pitchFamily="50" charset="-127"/>
              </a:rPr>
              <a:t>부존재함</a:t>
            </a:r>
            <a:r>
              <a:rPr lang="en-US" altLang="ko-KR" sz="700" dirty="0">
                <a:solidFill>
                  <a:srgbClr val="000000"/>
                </a:solidFill>
                <a:latin typeface="맑은 고딕" panose="020B0503020000020004" pitchFamily="50" charset="-127"/>
              </a:rPr>
              <a:t>.</a:t>
            </a:r>
            <a:endParaRPr lang="en-US" altLang="ko-KR" sz="700" dirty="0">
              <a:solidFill>
                <a:prstClr val="black"/>
              </a:solidFill>
              <a:latin typeface="+mn-ea"/>
            </a:endParaRPr>
          </a:p>
        </p:txBody>
      </p:sp>
      <p:sp>
        <p:nvSpPr>
          <p:cNvPr id="4" name="직사각형 3"/>
          <p:cNvSpPr/>
          <p:nvPr/>
        </p:nvSpPr>
        <p:spPr>
          <a:xfrm rot="19887478">
            <a:off x="1643743" y="2736669"/>
            <a:ext cx="6618514" cy="1384663"/>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ko-KR" altLang="en-US" sz="1200" dirty="0">
                <a:solidFill>
                  <a:srgbClr val="FF0000"/>
                </a:solidFill>
              </a:rPr>
              <a:t>메인 화면은 </a:t>
            </a:r>
            <a:r>
              <a:rPr lang="en-US" altLang="ko-KR" sz="1200" dirty="0">
                <a:solidFill>
                  <a:srgbClr val="FF0000"/>
                </a:solidFill>
              </a:rPr>
              <a:t>00.</a:t>
            </a:r>
            <a:r>
              <a:rPr lang="ko-KR" altLang="en-US" sz="1200" dirty="0">
                <a:solidFill>
                  <a:srgbClr val="FF0000"/>
                </a:solidFill>
              </a:rPr>
              <a:t>공통</a:t>
            </a:r>
            <a:r>
              <a:rPr lang="en-US" altLang="ko-KR" sz="1200" dirty="0">
                <a:solidFill>
                  <a:srgbClr val="FF0000"/>
                </a:solidFill>
              </a:rPr>
              <a:t>-</a:t>
            </a:r>
            <a:r>
              <a:rPr lang="ko-KR" altLang="en-US" sz="1200" dirty="0">
                <a:solidFill>
                  <a:srgbClr val="FF0000"/>
                </a:solidFill>
              </a:rPr>
              <a:t>모바일 설계 파일에서 </a:t>
            </a:r>
            <a:r>
              <a:rPr lang="ko-KR" altLang="en-US" sz="1200" dirty="0" smtClean="0">
                <a:solidFill>
                  <a:srgbClr val="FF0000"/>
                </a:solidFill>
              </a:rPr>
              <a:t>관리함</a:t>
            </a:r>
            <a:endParaRPr lang="en-US" altLang="ko-KR" sz="1200" dirty="0" smtClean="0">
              <a:solidFill>
                <a:srgbClr val="FF0000"/>
              </a:solidFill>
            </a:endParaRPr>
          </a:p>
          <a:p>
            <a:pPr algn="ctr"/>
            <a:endParaRPr lang="ko-KR" altLang="en-US" sz="1200" dirty="0">
              <a:solidFill>
                <a:srgbClr val="FF0000"/>
              </a:solidFill>
            </a:endParaRPr>
          </a:p>
          <a:p>
            <a:pPr algn="ctr"/>
            <a:r>
              <a:rPr lang="en-US" altLang="ko-KR" sz="1200" dirty="0" smtClean="0">
                <a:solidFill>
                  <a:schemeClr val="tx1"/>
                </a:solidFill>
              </a:rPr>
              <a:t>D2BA-AP-3CD-0601</a:t>
            </a:r>
            <a:r>
              <a:rPr lang="en-US" altLang="ko-KR" sz="1200" dirty="0">
                <a:solidFill>
                  <a:schemeClr val="tx1"/>
                </a:solidFill>
              </a:rPr>
              <a:t>.</a:t>
            </a:r>
            <a:r>
              <a:rPr lang="ko-KR" altLang="en-US" sz="1200" dirty="0">
                <a:solidFill>
                  <a:schemeClr val="tx1"/>
                </a:solidFill>
              </a:rPr>
              <a:t>사용자인터페이스설계서</a:t>
            </a:r>
            <a:r>
              <a:rPr lang="en-US" altLang="ko-KR" sz="1200" dirty="0">
                <a:solidFill>
                  <a:schemeClr val="tx1"/>
                </a:solidFill>
              </a:rPr>
              <a:t>-00.</a:t>
            </a:r>
            <a:r>
              <a:rPr lang="ko-KR" altLang="en-US" sz="1200" dirty="0">
                <a:solidFill>
                  <a:schemeClr val="tx1"/>
                </a:solidFill>
              </a:rPr>
              <a:t>공통</a:t>
            </a:r>
            <a:r>
              <a:rPr lang="en-US" altLang="ko-KR" sz="1200" dirty="0">
                <a:solidFill>
                  <a:schemeClr val="tx1"/>
                </a:solidFill>
              </a:rPr>
              <a:t>-</a:t>
            </a:r>
            <a:r>
              <a:rPr lang="ko-KR" altLang="en-US" sz="1200" dirty="0" smtClean="0">
                <a:solidFill>
                  <a:schemeClr val="tx1"/>
                </a:solidFill>
              </a:rPr>
              <a:t>모바일</a:t>
            </a:r>
            <a:endParaRPr lang="en-US" altLang="ko-KR" sz="1200" dirty="0" smtClean="0">
              <a:solidFill>
                <a:schemeClr val="tx1"/>
              </a:solidFill>
            </a:endParaRPr>
          </a:p>
        </p:txBody>
      </p:sp>
    </p:spTree>
    <p:extLst>
      <p:ext uri="{BB962C8B-B14F-4D97-AF65-F5344CB8AC3E}">
        <p14:creationId xmlns:p14="http://schemas.microsoft.com/office/powerpoint/2010/main" val="342432080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입찰공고</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extLst>
              <p:ext uri="{D42A27DB-BD31-4B8C-83A1-F6EECF244321}">
                <p14:modId xmlns:p14="http://schemas.microsoft.com/office/powerpoint/2010/main" val="4251923110"/>
              </p:ext>
            </p:extLst>
          </p:nvPr>
        </p:nvGraphicFramePr>
        <p:xfrm>
          <a:off x="635474" y="1413419"/>
          <a:ext cx="8701200" cy="22127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50" kern="1200" dirty="0">
                          <a:solidFill>
                            <a:schemeClr val="tx1"/>
                          </a:solidFill>
                          <a:latin typeface="+mn-lt"/>
                          <a:ea typeface="+mn-ea"/>
                          <a:cs typeface="+mn-cs"/>
                        </a:rPr>
                        <a:t>MUI-BD-01-M01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r>
                        <a:rPr lang="ko-KR" altLang="en-US" sz="800" dirty="0">
                          <a:latin typeface="+mn-lt"/>
                          <a:ea typeface="+mn-ea"/>
                        </a:rPr>
                        <a:t>입찰공고통합목록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BidPbancIntgListPage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lt"/>
                          <a:ea typeface="+mn-ea"/>
                        </a:rPr>
                        <a:t>입찰공고 통합 목록 조회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lt"/>
                          <a:ea typeface="+mn-ea"/>
                        </a:rPr>
                        <a:t>/</a:t>
                      </a:r>
                      <a:r>
                        <a:rPr lang="en-US" altLang="ko-KR" sz="800" dirty="0" err="1">
                          <a:solidFill>
                            <a:schemeClr val="tx1"/>
                          </a:solidFill>
                          <a:latin typeface="+mn-lt"/>
                          <a:ea typeface="+mn-ea"/>
                        </a:rPr>
                        <a:t>bidPbancIntgListPage.tsx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lt"/>
                          <a:ea typeface="+mn-ea"/>
                        </a:rPr>
                        <a:t>UC-BD-01-01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750" kern="1200" dirty="0" smtClean="0">
                          <a:solidFill>
                            <a:schemeClr val="tx1"/>
                          </a:solidFill>
                          <a:latin typeface="+mn-lt"/>
                          <a:ea typeface="+mn-ea"/>
                          <a:cs typeface="+mn-cs"/>
                        </a:rPr>
                        <a:t>MUI-BD-01-P02</a:t>
                      </a:r>
                      <a:endParaRPr lang="en-US" sz="75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smtClean="0">
                          <a:latin typeface="+mn-lt"/>
                          <a:ea typeface="+mn-ea"/>
                        </a:rPr>
                        <a:t>검색필터</a:t>
                      </a:r>
                      <a:r>
                        <a:rPr lang="en-US" altLang="ko-KR" sz="800" dirty="0" smtClean="0">
                          <a:latin typeface="+mn-lt"/>
                          <a:ea typeface="+mn-ea"/>
                        </a:rPr>
                        <a:t>-</a:t>
                      </a:r>
                      <a:r>
                        <a:rPr lang="ko-KR" altLang="en-US" sz="800" dirty="0" smtClean="0">
                          <a:latin typeface="+mn-lt"/>
                          <a:ea typeface="+mn-ea"/>
                        </a:rPr>
                        <a:t>입찰공고</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dirty="0" err="1">
                          <a:solidFill>
                            <a:schemeClr val="tx1"/>
                          </a:solidFill>
                          <a:latin typeface="+mn-lt"/>
                          <a:ea typeface="+mn-ea"/>
                        </a:rPr>
                        <a:t>BidPbancIntgList_</a:t>
                      </a:r>
                      <a:r>
                        <a:rPr lang="en-US" sz="800" b="0" i="0" u="none" strike="noStrike" dirty="0" err="1">
                          <a:solidFill>
                            <a:schemeClr val="tx1"/>
                          </a:solidFill>
                          <a:effectLst/>
                          <a:latin typeface="+mn-lt"/>
                          <a:ea typeface="맑은 고딕" panose="020B0503020000020004" pitchFamily="50" charset="-127"/>
                        </a:rPr>
                        <a:t>SrchFilter</a:t>
                      </a:r>
                      <a:endParaRPr lang="en-US" sz="8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lt"/>
                          <a:ea typeface="+mn-ea"/>
                          <a:cs typeface="+mn-cs"/>
                        </a:rPr>
                        <a:t>입찰 공고 상세 검색을 위한 검색 필터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lt"/>
                          <a:ea typeface="+mn-ea"/>
                        </a:rPr>
                        <a:t>/</a:t>
                      </a:r>
                      <a:r>
                        <a:rPr lang="en-US" altLang="ko-KR" sz="800" dirty="0" err="1">
                          <a:solidFill>
                            <a:schemeClr val="tx1"/>
                          </a:solidFill>
                          <a:latin typeface="+mn-lt"/>
                          <a:ea typeface="+mn-ea"/>
                        </a:rPr>
                        <a:t>bidPbancIntgList_</a:t>
                      </a:r>
                      <a:r>
                        <a:rPr lang="en-US" altLang="ko-KR" sz="800" b="0" i="0" u="none" strike="noStrike" dirty="0" err="1">
                          <a:solidFill>
                            <a:schemeClr val="tx1"/>
                          </a:solidFill>
                          <a:effectLst/>
                          <a:latin typeface="+mn-lt"/>
                          <a:ea typeface="+mn-ea"/>
                        </a:rPr>
                        <a:t>SrchFilter</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lt"/>
                          <a:ea typeface="+mn-ea"/>
                        </a:rPr>
                        <a:t>UC-BD-01-01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sz="750" strike="sngStrike" kern="1200" dirty="0">
                          <a:solidFill>
                            <a:schemeClr val="tx1"/>
                          </a:solidFill>
                          <a:latin typeface="+mn-lt"/>
                          <a:ea typeface="+mn-ea"/>
                          <a:cs typeface="+mn-cs"/>
                        </a:rPr>
                        <a:t>MUI-BD-01-P03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strike="sngStrike" kern="1200" dirty="0" err="1">
                          <a:solidFill>
                            <a:schemeClr val="tx1"/>
                          </a:solidFill>
                          <a:latin typeface="+mn-lt"/>
                          <a:ea typeface="+mn-ea"/>
                          <a:cs typeface="+mn-cs"/>
                        </a:rPr>
                        <a:t>지역검색</a:t>
                      </a:r>
                      <a:endParaRPr lang="ko-KR" altLang="en-US" sz="800" strike="sngStrike"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strike="sngStrike" spc="0" dirty="0" err="1">
                          <a:solidFill>
                            <a:schemeClr val="tx1"/>
                          </a:solidFill>
                          <a:latin typeface="+mn-lt"/>
                          <a:ea typeface="+mn-ea"/>
                        </a:rPr>
                        <a:t>RgnSrch</a:t>
                      </a:r>
                      <a:endParaRPr lang="ko-KR" altLang="en-US" sz="800" strike="sngStrike" spc="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lt"/>
                          <a:ea typeface="+mn-ea"/>
                          <a:cs typeface="+mn-cs"/>
                        </a:rPr>
                        <a:t>시군구까지</a:t>
                      </a:r>
                      <a:r>
                        <a:rPr lang="ko-KR" altLang="en-US" sz="800" kern="1200" dirty="0">
                          <a:solidFill>
                            <a:schemeClr val="tx1"/>
                          </a:solidFill>
                          <a:latin typeface="+mn-lt"/>
                          <a:ea typeface="+mn-ea"/>
                          <a:cs typeface="+mn-cs"/>
                        </a:rPr>
                        <a:t> 지역 검색 설정 </a:t>
                      </a:r>
                      <a:r>
                        <a:rPr lang="ko-KR" altLang="en-US" sz="800" kern="1200" dirty="0" smtClean="0">
                          <a:solidFill>
                            <a:schemeClr val="tx1"/>
                          </a:solidFill>
                          <a:latin typeface="+mn-lt"/>
                          <a:ea typeface="+mn-ea"/>
                          <a:cs typeface="+mn-cs"/>
                        </a:rPr>
                        <a:t>팝업</a:t>
                      </a:r>
                      <a:endParaRPr lang="en-US" altLang="ko-KR" sz="800" kern="1200" dirty="0" smtClean="0">
                        <a:solidFill>
                          <a:schemeClr val="tx1"/>
                        </a:solidFill>
                        <a:latin typeface="+mn-lt"/>
                        <a:ea typeface="+mn-ea"/>
                        <a:cs typeface="+mn-cs"/>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lt"/>
                          <a:ea typeface="+mn-ea"/>
                          <a:cs typeface="+mn-cs"/>
                        </a:rPr>
                        <a:t>- </a:t>
                      </a:r>
                      <a:r>
                        <a:rPr lang="ko-KR" altLang="en-US" sz="800" kern="1200" dirty="0" smtClean="0">
                          <a:solidFill>
                            <a:schemeClr val="tx1"/>
                          </a:solidFill>
                          <a:latin typeface="+mn-lt"/>
                          <a:ea typeface="+mn-ea"/>
                          <a:cs typeface="+mn-cs"/>
                        </a:rPr>
                        <a:t>지역 직접 입력 방식으로 변경되어 검색 불필요</a:t>
                      </a:r>
                      <a:r>
                        <a:rPr lang="en-US" altLang="ko-KR" sz="800" kern="1200" dirty="0" smtClean="0">
                          <a:solidFill>
                            <a:schemeClr val="tx1"/>
                          </a:solidFill>
                          <a:latin typeface="+mn-lt"/>
                          <a:ea typeface="+mn-ea"/>
                          <a:cs typeface="+mn-cs"/>
                        </a:rPr>
                        <a:t>.</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lt"/>
                          <a:ea typeface="+mn-ea"/>
                        </a:rPr>
                        <a:t>/</a:t>
                      </a:r>
                      <a:r>
                        <a:rPr lang="en-US" altLang="ko-KR" sz="800" spc="0" dirty="0" err="1">
                          <a:solidFill>
                            <a:schemeClr val="tx1"/>
                          </a:solidFill>
                          <a:latin typeface="+mn-lt"/>
                          <a:ea typeface="+mn-ea"/>
                        </a:rPr>
                        <a:t>RgnSrch</a:t>
                      </a:r>
                      <a:r>
                        <a:rPr lang="en-US" altLang="ko-KR" sz="800" b="0" i="0" u="none" strike="noStrike" dirty="0" err="1">
                          <a:solidFill>
                            <a:schemeClr val="tx1"/>
                          </a:solidFill>
                          <a:effectLst/>
                          <a:latin typeface="+mn-lt"/>
                          <a:ea typeface="+mn-ea"/>
                        </a:rPr>
                        <a:t>r</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lt"/>
                          <a:ea typeface="+mn-ea"/>
                        </a:rPr>
                        <a:t>UC-BD-01-01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750" kern="1200" dirty="0">
                          <a:solidFill>
                            <a:schemeClr val="tx1"/>
                          </a:solidFill>
                          <a:latin typeface="+mn-lt"/>
                          <a:ea typeface="+mn-ea"/>
                          <a:cs typeface="+mn-cs"/>
                        </a:rPr>
                        <a:t>MUI-BD-01-P04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lt"/>
                          <a:ea typeface="+mn-ea"/>
                          <a:cs typeface="+mn-cs"/>
                        </a:rPr>
                        <a:t>발주부서</a:t>
                      </a:r>
                      <a:r>
                        <a:rPr lang="en-US" altLang="ko-KR" sz="800" kern="1200" dirty="0">
                          <a:solidFill>
                            <a:schemeClr val="tx1"/>
                          </a:solidFill>
                          <a:latin typeface="+mn-lt"/>
                          <a:ea typeface="+mn-ea"/>
                          <a:cs typeface="+mn-cs"/>
                        </a:rPr>
                        <a:t>(</a:t>
                      </a:r>
                      <a:r>
                        <a:rPr lang="ko-KR" altLang="en-US" sz="800" kern="1200" dirty="0">
                          <a:solidFill>
                            <a:schemeClr val="tx1"/>
                          </a:solidFill>
                          <a:latin typeface="+mn-lt"/>
                          <a:ea typeface="+mn-ea"/>
                          <a:cs typeface="+mn-cs"/>
                        </a:rPr>
                        <a:t>기관</a:t>
                      </a:r>
                      <a:r>
                        <a:rPr lang="en-US" altLang="ko-KR" sz="800" kern="1200" dirty="0">
                          <a:solidFill>
                            <a:schemeClr val="tx1"/>
                          </a:solidFill>
                          <a:latin typeface="+mn-lt"/>
                          <a:ea typeface="+mn-ea"/>
                          <a:cs typeface="+mn-cs"/>
                        </a:rPr>
                        <a:t>)</a:t>
                      </a:r>
                      <a:r>
                        <a:rPr lang="ko-KR" altLang="en-US" sz="800" kern="1200" dirty="0">
                          <a:solidFill>
                            <a:schemeClr val="tx1"/>
                          </a:solidFill>
                          <a:latin typeface="+mn-lt"/>
                          <a:ea typeface="+mn-ea"/>
                          <a:cs typeface="+mn-cs"/>
                        </a:rPr>
                        <a:t>검색</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OrderDeptSrch</a:t>
                      </a:r>
                      <a:endParaRPr lang="ko-KR" altLang="en-US" sz="800" spc="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lt"/>
                          <a:ea typeface="+mn-ea"/>
                          <a:cs typeface="+mn-cs"/>
                        </a:rPr>
                        <a:t>발주기관 검색 설정 팝업</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lt"/>
                          <a:ea typeface="+mn-ea"/>
                        </a:rPr>
                        <a:t>/</a:t>
                      </a:r>
                      <a:r>
                        <a:rPr lang="en-US" altLang="ko-KR" sz="800" spc="0" dirty="0" err="1">
                          <a:solidFill>
                            <a:schemeClr val="tx1"/>
                          </a:solidFill>
                          <a:latin typeface="+mn-lt"/>
                          <a:ea typeface="+mn-ea"/>
                        </a:rPr>
                        <a:t>OrderDeptSrch</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lt"/>
                          <a:ea typeface="+mn-ea"/>
                        </a:rPr>
                        <a:t>UC-BD-01-01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750" kern="1200" dirty="0">
                          <a:solidFill>
                            <a:schemeClr val="tx1"/>
                          </a:solidFill>
                          <a:latin typeface="+mn-lt"/>
                          <a:ea typeface="+mn-ea"/>
                          <a:cs typeface="+mn-cs"/>
                        </a:rPr>
                        <a:t>MUI-BD-01-P05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면허정보검색</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LcnsInfoSrch</a:t>
                      </a:r>
                      <a:endParaRPr lang="ko-KR" altLang="en-US" sz="800" spc="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lt"/>
                          <a:ea typeface="+mn-ea"/>
                          <a:cs typeface="+mn-cs"/>
                        </a:rPr>
                        <a:t>면허정보</a:t>
                      </a:r>
                      <a:r>
                        <a:rPr lang="ko-KR" altLang="en-US" sz="800" kern="1200" dirty="0">
                          <a:solidFill>
                            <a:schemeClr val="tx1"/>
                          </a:solidFill>
                          <a:latin typeface="+mn-lt"/>
                          <a:ea typeface="+mn-ea"/>
                          <a:cs typeface="+mn-cs"/>
                        </a:rPr>
                        <a:t> 검색 설정 팝업</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lt"/>
                          <a:ea typeface="+mn-ea"/>
                        </a:rPr>
                        <a:t>/</a:t>
                      </a:r>
                      <a:r>
                        <a:rPr lang="en-US" altLang="ko-KR" sz="800" spc="0" dirty="0" err="1">
                          <a:solidFill>
                            <a:schemeClr val="tx1"/>
                          </a:solidFill>
                          <a:latin typeface="+mn-lt"/>
                          <a:ea typeface="+mn-ea"/>
                        </a:rPr>
                        <a:t>LcnsInfoSrch</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lt"/>
                          <a:ea typeface="+mn-ea"/>
                        </a:rPr>
                        <a:t>UC-BD-01-01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750" kern="1200" dirty="0">
                          <a:solidFill>
                            <a:schemeClr val="tx1"/>
                          </a:solidFill>
                          <a:latin typeface="+mn-lt"/>
                          <a:ea typeface="+mn-ea"/>
                          <a:cs typeface="+mn-cs"/>
                        </a:rPr>
                        <a:t>MUI-BD-01-P06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lt"/>
                          <a:ea typeface="+mn-ea"/>
                          <a:cs typeface="+mn-cs"/>
                        </a:rPr>
                        <a:t>날짜설정</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DateInput</a:t>
                      </a:r>
                      <a:endParaRPr lang="en-US" altLang="ko-KR" sz="800" b="0" i="0" u="none" strike="noStrike" spc="0" dirty="0">
                        <a:solidFill>
                          <a:schemeClr val="tx1"/>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lt"/>
                          <a:ea typeface="+mn-ea"/>
                          <a:cs typeface="+mn-cs"/>
                        </a:rPr>
                        <a:t>날짜 설정 팝업</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/common/composites/</a:t>
                      </a:r>
                      <a:r>
                        <a:rPr lang="en-US" altLang="ko-KR" sz="800" dirty="0" err="1">
                          <a:solidFill>
                            <a:schemeClr val="tx1"/>
                          </a:solidFill>
                          <a:latin typeface="+mn-lt"/>
                          <a:ea typeface="+mn-ea"/>
                        </a:rPr>
                        <a:t>DateInput.tsx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lt"/>
                          <a:ea typeface="+mn-ea"/>
                        </a:rPr>
                        <a:t>UC-BD-01-01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5721659"/>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 </a:t>
            </a:r>
            <a:r>
              <a:rPr lang="en-US" altLang="ko-KR" dirty="0"/>
              <a:t>– </a:t>
            </a:r>
            <a:r>
              <a:rPr lang="ko-KR" altLang="en-US" dirty="0"/>
              <a:t>입찰 </a:t>
            </a:r>
            <a:r>
              <a:rPr lang="ko-KR" altLang="en-US" dirty="0" smtClean="0"/>
              <a:t>공고</a:t>
            </a:r>
            <a:endParaRPr lang="ko-KR" altLang="en-US" dirty="0"/>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endParaRPr lang="en-US" altLang="ko-KR" sz="800" dirty="0" smtClean="0">
              <a:solidFill>
                <a:schemeClr val="tx1"/>
              </a:solidFill>
            </a:endParaRPr>
          </a:p>
          <a:p>
            <a:pPr algn="ct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검색필터</a:t>
            </a:r>
            <a:endParaRPr lang="ko-KR" altLang="en-US" sz="800" dirty="0">
              <a:solidFill>
                <a:schemeClr val="tx1"/>
              </a:solidFill>
            </a:endParaRP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직사각형 154">
            <a:extLst>
              <a:ext uri="{FF2B5EF4-FFF2-40B4-BE49-F238E27FC236}">
                <a16:creationId xmlns:a16="http://schemas.microsoft.com/office/drawing/2014/main" id="{4FB9FCCA-B5F3-C0E2-F563-4F0CE0FC24CF}"/>
              </a:ext>
            </a:extLst>
          </p:cNvPr>
          <p:cNvSpPr/>
          <p:nvPr/>
        </p:nvSpPr>
        <p:spPr>
          <a:xfrm>
            <a:off x="5790882" y="5198154"/>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5819879" y="4983361"/>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2" name="사각형: 둥근 모서리 5">
            <a:extLst>
              <a:ext uri="{FF2B5EF4-FFF2-40B4-BE49-F238E27FC236}">
                <a16:creationId xmlns:a16="http://schemas.microsoft.com/office/drawing/2014/main" id="{410E5459-200D-7630-863C-88E5109259DF}"/>
              </a:ext>
            </a:extLst>
          </p:cNvPr>
          <p:cNvSpPr/>
          <p:nvPr/>
        </p:nvSpPr>
        <p:spPr>
          <a:xfrm>
            <a:off x="4197742" y="492936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cxnSp>
        <p:nvCxnSpPr>
          <p:cNvPr id="164" name="연결선: 꺾임 7">
            <a:extLst>
              <a:ext uri="{FF2B5EF4-FFF2-40B4-BE49-F238E27FC236}">
                <a16:creationId xmlns:a16="http://schemas.microsoft.com/office/drawing/2014/main" id="{89A2D828-4C18-4F90-6B31-722E89773AA8}"/>
              </a:ext>
            </a:extLst>
          </p:cNvPr>
          <p:cNvCxnSpPr>
            <a:cxnSpLocks/>
            <a:stCxn id="6" idx="2"/>
            <a:endCxn id="162" idx="1"/>
          </p:cNvCxnSpPr>
          <p:nvPr/>
        </p:nvCxnSpPr>
        <p:spPr>
          <a:xfrm rot="16200000" flipH="1">
            <a:off x="1928977" y="2804595"/>
            <a:ext cx="3156397" cy="138113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0" name="연결선: 꺾임 7">
            <a:extLst>
              <a:ext uri="{FF2B5EF4-FFF2-40B4-BE49-F238E27FC236}">
                <a16:creationId xmlns:a16="http://schemas.microsoft.com/office/drawing/2014/main" id="{89A2D828-4C18-4F90-6B31-722E89773AA8}"/>
              </a:ext>
            </a:extLst>
          </p:cNvPr>
          <p:cNvCxnSpPr>
            <a:cxnSpLocks/>
            <a:stCxn id="69" idx="0"/>
            <a:endCxn id="6" idx="0"/>
          </p:cNvCxnSpPr>
          <p:nvPr/>
        </p:nvCxnSpPr>
        <p:spPr>
          <a:xfrm rot="16200000" flipV="1">
            <a:off x="3732175" y="713397"/>
            <a:ext cx="12700" cy="183113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75" name="직선 화살표 연결선 174">
            <a:extLst>
              <a:ext uri="{FF2B5EF4-FFF2-40B4-BE49-F238E27FC236}">
                <a16:creationId xmlns:a16="http://schemas.microsoft.com/office/drawing/2014/main" id="{9A519F08-B829-E35F-09D8-DFCD1F68B911}"/>
              </a:ext>
            </a:extLst>
          </p:cNvPr>
          <p:cNvCxnSpPr>
            <a:cxnSpLocks/>
            <a:stCxn id="162" idx="3"/>
            <a:endCxn id="158" idx="2"/>
          </p:cNvCxnSpPr>
          <p:nvPr/>
        </p:nvCxnSpPr>
        <p:spPr>
          <a:xfrm>
            <a:off x="5097742" y="5073361"/>
            <a:ext cx="72213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사각형: 둥근 모서리 5">
            <a:extLst>
              <a:ext uri="{FF2B5EF4-FFF2-40B4-BE49-F238E27FC236}">
                <a16:creationId xmlns:a16="http://schemas.microsoft.com/office/drawing/2014/main" id="{410E5459-200D-7630-863C-88E5109259DF}"/>
              </a:ext>
            </a:extLst>
          </p:cNvPr>
          <p:cNvSpPr/>
          <p:nvPr/>
        </p:nvSpPr>
        <p:spPr>
          <a:xfrm>
            <a:off x="5107104" y="35603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면허정보검색</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5107104" y="22027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지역검색</a:t>
            </a:r>
            <a:endParaRPr lang="ko-KR" altLang="en-US" sz="800" dirty="0">
              <a:solidFill>
                <a:schemeClr val="tx1"/>
              </a:solidFill>
            </a:endParaRP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5107104" y="288152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발주부서</a:t>
            </a:r>
            <a:r>
              <a:rPr lang="en-US" altLang="ko-KR" sz="800" dirty="0">
                <a:solidFill>
                  <a:schemeClr val="tx1"/>
                </a:solidFill>
              </a:rPr>
              <a:t>(</a:t>
            </a:r>
            <a:r>
              <a:rPr lang="ko-KR" altLang="en-US" sz="800" dirty="0">
                <a:solidFill>
                  <a:schemeClr val="tx1"/>
                </a:solidFill>
              </a:rPr>
              <a:t>기관</a:t>
            </a:r>
            <a:r>
              <a:rPr lang="en-US" altLang="ko-KR" sz="800" dirty="0">
                <a:solidFill>
                  <a:schemeClr val="tx1"/>
                </a:solidFill>
              </a:rPr>
              <a:t>)</a:t>
            </a:r>
          </a:p>
          <a:p>
            <a:pPr algn="ctr"/>
            <a:r>
              <a:rPr lang="ko-KR" altLang="en-US" sz="800" dirty="0">
                <a:solidFill>
                  <a:schemeClr val="tx1"/>
                </a:solidFill>
              </a:rPr>
              <a:t>검색</a:t>
            </a:r>
          </a:p>
        </p:txBody>
      </p:sp>
      <p:sp>
        <p:nvSpPr>
          <p:cNvPr id="30" name="사각형: 둥근 모서리 5">
            <a:extLst>
              <a:ext uri="{FF2B5EF4-FFF2-40B4-BE49-F238E27FC236}">
                <a16:creationId xmlns:a16="http://schemas.microsoft.com/office/drawing/2014/main" id="{410E5459-200D-7630-863C-88E5109259DF}"/>
              </a:ext>
            </a:extLst>
          </p:cNvPr>
          <p:cNvSpPr/>
          <p:nvPr/>
        </p:nvSpPr>
        <p:spPr>
          <a:xfrm>
            <a:off x="5107104" y="42448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날짜설정</a:t>
            </a:r>
            <a:endParaRPr lang="ko-KR" altLang="en-US" sz="800" dirty="0">
              <a:solidFill>
                <a:schemeClr val="tx1"/>
              </a:solidFill>
            </a:endParaRPr>
          </a:p>
        </p:txBody>
      </p:sp>
      <p:cxnSp>
        <p:nvCxnSpPr>
          <p:cNvPr id="33" name="연결선: 꺾임 7">
            <a:extLst>
              <a:ext uri="{FF2B5EF4-FFF2-40B4-BE49-F238E27FC236}">
                <a16:creationId xmlns:a16="http://schemas.microsoft.com/office/drawing/2014/main" id="{89A2D828-4C18-4F90-6B31-722E89773AA8}"/>
              </a:ext>
            </a:extLst>
          </p:cNvPr>
          <p:cNvCxnSpPr>
            <a:cxnSpLocks/>
            <a:stCxn id="69" idx="2"/>
            <a:endCxn id="25" idx="1"/>
          </p:cNvCxnSpPr>
          <p:nvPr/>
        </p:nvCxnSpPr>
        <p:spPr>
          <a:xfrm rot="16200000" flipH="1">
            <a:off x="4323145" y="2241561"/>
            <a:ext cx="1108557"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2"/>
            <a:endCxn id="23" idx="1"/>
          </p:cNvCxnSpPr>
          <p:nvPr/>
        </p:nvCxnSpPr>
        <p:spPr>
          <a:xfrm rot="16200000" flipH="1">
            <a:off x="3983752" y="2580954"/>
            <a:ext cx="1787343"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연결선: 꺾임 7">
            <a:extLst>
              <a:ext uri="{FF2B5EF4-FFF2-40B4-BE49-F238E27FC236}">
                <a16:creationId xmlns:a16="http://schemas.microsoft.com/office/drawing/2014/main" id="{89A2D828-4C18-4F90-6B31-722E89773AA8}"/>
              </a:ext>
            </a:extLst>
          </p:cNvPr>
          <p:cNvCxnSpPr>
            <a:cxnSpLocks/>
            <a:stCxn id="69" idx="2"/>
            <a:endCxn id="30" idx="1"/>
          </p:cNvCxnSpPr>
          <p:nvPr/>
        </p:nvCxnSpPr>
        <p:spPr>
          <a:xfrm rot="16200000" flipH="1">
            <a:off x="3641488" y="2923218"/>
            <a:ext cx="2471870"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4" name="그룹 33"/>
          <p:cNvGrpSpPr/>
          <p:nvPr/>
        </p:nvGrpSpPr>
        <p:grpSpPr>
          <a:xfrm>
            <a:off x="492190" y="5392498"/>
            <a:ext cx="1063310" cy="783216"/>
            <a:chOff x="492190" y="5392498"/>
            <a:chExt cx="1063310" cy="783216"/>
          </a:xfrm>
        </p:grpSpPr>
        <p:grpSp>
          <p:nvGrpSpPr>
            <p:cNvPr id="35" name="그룹 34"/>
            <p:cNvGrpSpPr/>
            <p:nvPr/>
          </p:nvGrpSpPr>
          <p:grpSpPr>
            <a:xfrm>
              <a:off x="492190" y="5624092"/>
              <a:ext cx="235869" cy="548293"/>
              <a:chOff x="669822" y="4927621"/>
              <a:chExt cx="912149" cy="1378059"/>
            </a:xfrm>
          </p:grpSpPr>
          <p:sp>
            <p:nvSpPr>
              <p:cNvPr id="43"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5"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38" name="직사각형 37">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40" name="직사각형 39">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41" name="직사각형 4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42" name="직사각형 41">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cxnSp>
        <p:nvCxnSpPr>
          <p:cNvPr id="62" name="연결선: 꺾임 7">
            <a:extLst>
              <a:ext uri="{FF2B5EF4-FFF2-40B4-BE49-F238E27FC236}">
                <a16:creationId xmlns:a16="http://schemas.microsoft.com/office/drawing/2014/main" id="{89A2D828-4C18-4F90-6B31-722E89773AA8}"/>
              </a:ext>
            </a:extLst>
          </p:cNvPr>
          <p:cNvCxnSpPr>
            <a:cxnSpLocks/>
            <a:stCxn id="69" idx="2"/>
            <a:endCxn id="24" idx="1"/>
          </p:cNvCxnSpPr>
          <p:nvPr/>
        </p:nvCxnSpPr>
        <p:spPr>
          <a:xfrm rot="16200000" flipH="1">
            <a:off x="4662538" y="1902168"/>
            <a:ext cx="429771"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0" name="연결선: 꺾임 7">
            <a:extLst>
              <a:ext uri="{FF2B5EF4-FFF2-40B4-BE49-F238E27FC236}">
                <a16:creationId xmlns:a16="http://schemas.microsoft.com/office/drawing/2014/main" id="{89A2D828-4C18-4F90-6B31-722E89773AA8}"/>
              </a:ext>
            </a:extLst>
          </p:cNvPr>
          <p:cNvCxnSpPr>
            <a:cxnSpLocks/>
            <a:stCxn id="30" idx="3"/>
            <a:endCxn id="69" idx="3"/>
          </p:cNvCxnSpPr>
          <p:nvPr/>
        </p:nvCxnSpPr>
        <p:spPr>
          <a:xfrm flipH="1" flipV="1">
            <a:off x="5097742" y="1772964"/>
            <a:ext cx="909362" cy="2615870"/>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연결선: 꺾임 7">
            <a:extLst>
              <a:ext uri="{FF2B5EF4-FFF2-40B4-BE49-F238E27FC236}">
                <a16:creationId xmlns:a16="http://schemas.microsoft.com/office/drawing/2014/main" id="{89A2D828-4C18-4F90-6B31-722E89773AA8}"/>
              </a:ext>
            </a:extLst>
          </p:cNvPr>
          <p:cNvCxnSpPr>
            <a:cxnSpLocks/>
            <a:stCxn id="23" idx="3"/>
            <a:endCxn id="69" idx="3"/>
          </p:cNvCxnSpPr>
          <p:nvPr/>
        </p:nvCxnSpPr>
        <p:spPr>
          <a:xfrm flipH="1" flipV="1">
            <a:off x="5097742" y="1772964"/>
            <a:ext cx="909362" cy="1931343"/>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연결선: 꺾임 7">
            <a:extLst>
              <a:ext uri="{FF2B5EF4-FFF2-40B4-BE49-F238E27FC236}">
                <a16:creationId xmlns:a16="http://schemas.microsoft.com/office/drawing/2014/main" id="{89A2D828-4C18-4F90-6B31-722E89773AA8}"/>
              </a:ext>
            </a:extLst>
          </p:cNvPr>
          <p:cNvCxnSpPr>
            <a:cxnSpLocks/>
            <a:stCxn id="25" idx="3"/>
            <a:endCxn id="69" idx="3"/>
          </p:cNvCxnSpPr>
          <p:nvPr/>
        </p:nvCxnSpPr>
        <p:spPr>
          <a:xfrm flipH="1" flipV="1">
            <a:off x="5097742" y="1772964"/>
            <a:ext cx="909362" cy="1252557"/>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연결선: 꺾임 7">
            <a:extLst>
              <a:ext uri="{FF2B5EF4-FFF2-40B4-BE49-F238E27FC236}">
                <a16:creationId xmlns:a16="http://schemas.microsoft.com/office/drawing/2014/main" id="{89A2D828-4C18-4F90-6B31-722E89773AA8}"/>
              </a:ext>
            </a:extLst>
          </p:cNvPr>
          <p:cNvCxnSpPr>
            <a:cxnSpLocks/>
            <a:stCxn id="24" idx="3"/>
            <a:endCxn id="69" idx="3"/>
          </p:cNvCxnSpPr>
          <p:nvPr/>
        </p:nvCxnSpPr>
        <p:spPr>
          <a:xfrm flipH="1" flipV="1">
            <a:off x="5097742" y="1772964"/>
            <a:ext cx="909362" cy="573771"/>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0961619"/>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0952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02037"/>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31053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419664" y="2019224"/>
            <a:ext cx="537573"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공고문안</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2680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1480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6692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13271"/>
            <a:ext cx="561034" cy="55828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6" name="연결선: 꺾임 7">
            <a:extLst>
              <a:ext uri="{FF2B5EF4-FFF2-40B4-BE49-F238E27FC236}">
                <a16:creationId xmlns:a16="http://schemas.microsoft.com/office/drawing/2014/main" id="{89A2D828-4C18-4F90-6B31-722E89773AA8}"/>
              </a:ext>
            </a:extLst>
          </p:cNvPr>
          <p:cNvCxnSpPr>
            <a:cxnSpLocks/>
            <a:stCxn id="140" idx="3"/>
            <a:endCxn id="161" idx="1"/>
          </p:cNvCxnSpPr>
          <p:nvPr/>
        </p:nvCxnSpPr>
        <p:spPr>
          <a:xfrm flipV="1">
            <a:off x="6926561" y="3292037"/>
            <a:ext cx="561034" cy="795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39925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132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292037"/>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292037"/>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2735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1" name="사각형: 둥근 모서리 5">
            <a:extLst>
              <a:ext uri="{FF2B5EF4-FFF2-40B4-BE49-F238E27FC236}">
                <a16:creationId xmlns:a16="http://schemas.microsoft.com/office/drawing/2014/main" id="{410E5459-200D-7630-863C-88E5109259DF}"/>
              </a:ext>
            </a:extLst>
          </p:cNvPr>
          <p:cNvSpPr/>
          <p:nvPr/>
        </p:nvSpPr>
        <p:spPr>
          <a:xfrm>
            <a:off x="5929158"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6791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454537"/>
            <a:ext cx="861328" cy="9170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5703835"/>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87168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292037"/>
            <a:ext cx="861732" cy="24117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4594760" y="4746645"/>
            <a:ext cx="1633862"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사각형: 둥근 모서리 5">
            <a:extLst>
              <a:ext uri="{FF2B5EF4-FFF2-40B4-BE49-F238E27FC236}">
                <a16:creationId xmlns:a16="http://schemas.microsoft.com/office/drawing/2014/main" id="{410E5459-200D-7630-863C-88E5109259DF}"/>
              </a:ext>
            </a:extLst>
          </p:cNvPr>
          <p:cNvSpPr/>
          <p:nvPr/>
        </p:nvSpPr>
        <p:spPr>
          <a:xfrm>
            <a:off x="7487595" y="410540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67" name="연결선: 꺾임 7">
            <a:extLst>
              <a:ext uri="{FF2B5EF4-FFF2-40B4-BE49-F238E27FC236}">
                <a16:creationId xmlns:a16="http://schemas.microsoft.com/office/drawing/2014/main" id="{89A2D828-4C18-4F90-6B31-722E89773AA8}"/>
              </a:ext>
            </a:extLst>
          </p:cNvPr>
          <p:cNvCxnSpPr>
            <a:cxnSpLocks/>
            <a:stCxn id="140" idx="3"/>
            <a:endCxn id="65" idx="1"/>
          </p:cNvCxnSpPr>
          <p:nvPr/>
        </p:nvCxnSpPr>
        <p:spPr>
          <a:xfrm>
            <a:off x="6926561" y="3371551"/>
            <a:ext cx="561034" cy="87785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65" idx="3"/>
            <a:endCxn id="158" idx="2"/>
          </p:cNvCxnSpPr>
          <p:nvPr/>
        </p:nvCxnSpPr>
        <p:spPr>
          <a:xfrm flipV="1">
            <a:off x="8387595" y="3292037"/>
            <a:ext cx="861732" cy="95736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5936089"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634511"/>
            <a:chOff x="8223250" y="569392"/>
            <a:chExt cx="3365500" cy="634511"/>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19368"/>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7487595" y="4590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입찰취소</a:t>
            </a:r>
            <a:endParaRPr lang="en-US" altLang="ko-KR" sz="800" dirty="0">
              <a:solidFill>
                <a:schemeClr val="tx1"/>
              </a:solidFill>
            </a:endParaRPr>
          </a:p>
          <a:p>
            <a:pPr algn="ctr"/>
            <a:r>
              <a:rPr lang="ko-KR" altLang="en-US" sz="800" dirty="0" err="1" smtClean="0">
                <a:solidFill>
                  <a:schemeClr val="tx1"/>
                </a:solidFill>
              </a:rPr>
              <a:t>입찰포기</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7487595" y="5075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입찰반려요청</a:t>
            </a:r>
            <a:endParaRPr lang="ko-KR" altLang="en-US" sz="800" dirty="0">
              <a:solidFill>
                <a:schemeClr val="tx1"/>
              </a:solidFill>
            </a:endParaRPr>
          </a:p>
        </p:txBody>
      </p:sp>
      <p:cxnSp>
        <p:nvCxnSpPr>
          <p:cNvPr id="102" name="연결선: 꺾임 7">
            <a:extLst>
              <a:ext uri="{FF2B5EF4-FFF2-40B4-BE49-F238E27FC236}">
                <a16:creationId xmlns:a16="http://schemas.microsoft.com/office/drawing/2014/main" id="{89A2D828-4C18-4F90-6B31-722E89773AA8}"/>
              </a:ext>
            </a:extLst>
          </p:cNvPr>
          <p:cNvCxnSpPr>
            <a:cxnSpLocks/>
            <a:stCxn id="140" idx="3"/>
            <a:endCxn id="98" idx="1"/>
          </p:cNvCxnSpPr>
          <p:nvPr/>
        </p:nvCxnSpPr>
        <p:spPr>
          <a:xfrm>
            <a:off x="6926561" y="3371551"/>
            <a:ext cx="561034" cy="13626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140" idx="3"/>
            <a:endCxn id="99" idx="1"/>
          </p:cNvCxnSpPr>
          <p:nvPr/>
        </p:nvCxnSpPr>
        <p:spPr>
          <a:xfrm>
            <a:off x="6926561" y="3371551"/>
            <a:ext cx="561034" cy="184747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F249990F-1DE5-C694-BDBD-2DE7009D57EA}"/>
              </a:ext>
            </a:extLst>
          </p:cNvPr>
          <p:cNvSpPr/>
          <p:nvPr/>
        </p:nvSpPr>
        <p:spPr>
          <a:xfrm>
            <a:off x="7487595" y="4882466"/>
            <a:ext cx="116378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입찰서</a:t>
            </a:r>
            <a:r>
              <a:rPr lang="en-US" altLang="ko-KR" sz="800" dirty="0" smtClean="0">
                <a:solidFill>
                  <a:schemeClr val="tx1"/>
                </a:solidFill>
              </a:rPr>
              <a:t>(</a:t>
            </a:r>
            <a:r>
              <a:rPr lang="ko-KR" altLang="en-US" sz="800" dirty="0" smtClean="0">
                <a:solidFill>
                  <a:schemeClr val="tx1"/>
                </a:solidFill>
              </a:rPr>
              <a:t>견적서</a:t>
            </a:r>
            <a:r>
              <a:rPr lang="en-US" altLang="ko-KR" sz="800" dirty="0" smtClean="0">
                <a:solidFill>
                  <a:schemeClr val="tx1"/>
                </a:solidFill>
              </a:rPr>
              <a:t>) </a:t>
            </a:r>
            <a:r>
              <a:rPr lang="ko-KR" altLang="en-US" sz="800" dirty="0" smtClean="0">
                <a:solidFill>
                  <a:schemeClr val="tx1"/>
                </a:solidFill>
              </a:rPr>
              <a:t>제출 이후</a:t>
            </a:r>
            <a:endParaRPr lang="ko-KR" altLang="en-US" sz="800" dirty="0">
              <a:solidFill>
                <a:schemeClr val="tx1"/>
              </a:solidFill>
            </a:endParaRPr>
          </a:p>
        </p:txBody>
      </p:sp>
      <p:sp>
        <p:nvSpPr>
          <p:cNvPr id="108" name="직사각형 107">
            <a:extLst>
              <a:ext uri="{FF2B5EF4-FFF2-40B4-BE49-F238E27FC236}">
                <a16:creationId xmlns:a16="http://schemas.microsoft.com/office/drawing/2014/main" id="{F249990F-1DE5-C694-BDBD-2DE7009D57EA}"/>
              </a:ext>
            </a:extLst>
          </p:cNvPr>
          <p:cNvSpPr/>
          <p:nvPr/>
        </p:nvSpPr>
        <p:spPr>
          <a:xfrm>
            <a:off x="7487595" y="536878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입찰참가 신청한 이후</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98325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23542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41367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27847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3700716"/>
            <a:ext cx="89447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공고가 게시되면</a:t>
            </a:r>
            <a:endParaRPr lang="en-US" altLang="ko-KR" sz="800" dirty="0" smtClean="0">
              <a:solidFill>
                <a:schemeClr val="tx1"/>
              </a:solidFill>
            </a:endParaRPr>
          </a:p>
          <a:p>
            <a:r>
              <a:rPr lang="ko-KR" altLang="en-US" sz="800" dirty="0" smtClean="0">
                <a:solidFill>
                  <a:schemeClr val="tx1"/>
                </a:solidFill>
              </a:rPr>
              <a:t>목록에 모두 표시됨</a:t>
            </a:r>
            <a:endParaRPr lang="ko-KR" altLang="en-US" sz="800" dirty="0">
              <a:solidFill>
                <a:schemeClr val="tx1"/>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cxnSp>
        <p:nvCxnSpPr>
          <p:cNvPr id="125" name="연결선: 꺾임 7">
            <a:extLst>
              <a:ext uri="{FF2B5EF4-FFF2-40B4-BE49-F238E27FC236}">
                <a16:creationId xmlns:a16="http://schemas.microsoft.com/office/drawing/2014/main" id="{89A2D828-4C18-4F90-6B31-722E89773AA8}"/>
              </a:ext>
            </a:extLst>
          </p:cNvPr>
          <p:cNvCxnSpPr>
            <a:cxnSpLocks/>
            <a:stCxn id="98" idx="3"/>
            <a:endCxn id="158" idx="2"/>
          </p:cNvCxnSpPr>
          <p:nvPr/>
        </p:nvCxnSpPr>
        <p:spPr>
          <a:xfrm flipV="1">
            <a:off x="8387595" y="3292037"/>
            <a:ext cx="861732" cy="14421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a:stCxn id="99" idx="3"/>
            <a:endCxn id="158" idx="2"/>
          </p:cNvCxnSpPr>
          <p:nvPr/>
        </p:nvCxnSpPr>
        <p:spPr>
          <a:xfrm flipV="1">
            <a:off x="8387595" y="3292037"/>
            <a:ext cx="861732" cy="192698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직사각형 138">
            <a:extLst>
              <a:ext uri="{FF2B5EF4-FFF2-40B4-BE49-F238E27FC236}">
                <a16:creationId xmlns:a16="http://schemas.microsoft.com/office/drawing/2014/main" id="{4FB9FCCA-B5F3-C0E2-F563-4F0CE0FC24CF}"/>
              </a:ext>
            </a:extLst>
          </p:cNvPr>
          <p:cNvSpPr/>
          <p:nvPr/>
        </p:nvSpPr>
        <p:spPr>
          <a:xfrm>
            <a:off x="2581278" y="443777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610275" y="4230283"/>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11" idx="3"/>
            <a:endCxn id="147" idx="2"/>
          </p:cNvCxnSpPr>
          <p:nvPr/>
        </p:nvCxnSpPr>
        <p:spPr>
          <a:xfrm>
            <a:off x="1971925" y="4127254"/>
            <a:ext cx="638350" cy="1930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1" name="연결선: 꺾임 7">
            <a:extLst>
              <a:ext uri="{FF2B5EF4-FFF2-40B4-BE49-F238E27FC236}">
                <a16:creationId xmlns:a16="http://schemas.microsoft.com/office/drawing/2014/main" id="{89A2D828-4C18-4F90-6B31-722E89773AA8}"/>
              </a:ext>
            </a:extLst>
          </p:cNvPr>
          <p:cNvCxnSpPr>
            <a:cxnSpLocks/>
            <a:stCxn id="116" idx="3"/>
            <a:endCxn id="147" idx="2"/>
          </p:cNvCxnSpPr>
          <p:nvPr/>
        </p:nvCxnSpPr>
        <p:spPr>
          <a:xfrm flipV="1">
            <a:off x="1971925" y="4320283"/>
            <a:ext cx="638350" cy="2373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3" name="직사각형 152">
            <a:extLst>
              <a:ext uri="{FF2B5EF4-FFF2-40B4-BE49-F238E27FC236}">
                <a16:creationId xmlns:a16="http://schemas.microsoft.com/office/drawing/2014/main" id="{F249990F-1DE5-C694-BDBD-2DE7009D57EA}"/>
              </a:ext>
            </a:extLst>
          </p:cNvPr>
          <p:cNvSpPr/>
          <p:nvPr/>
        </p:nvSpPr>
        <p:spPr>
          <a:xfrm>
            <a:off x="1860500" y="2627864"/>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
        <p:nvSpPr>
          <p:cNvPr id="100" name="사각형: 둥근 모서리 5">
            <a:extLst>
              <a:ext uri="{FF2B5EF4-FFF2-40B4-BE49-F238E27FC236}">
                <a16:creationId xmlns:a16="http://schemas.microsoft.com/office/drawing/2014/main" id="{410E5459-200D-7630-863C-88E5109259DF}"/>
              </a:ext>
            </a:extLst>
          </p:cNvPr>
          <p:cNvSpPr/>
          <p:nvPr/>
        </p:nvSpPr>
        <p:spPr>
          <a:xfrm>
            <a:off x="3616304" y="457518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계약 단계 이동</a:t>
            </a:r>
            <a:endParaRPr lang="ko-KR" altLang="en-US" sz="800" dirty="0">
              <a:solidFill>
                <a:schemeClr val="tx1"/>
              </a:solidFill>
            </a:endParaRPr>
          </a:p>
        </p:txBody>
      </p:sp>
      <p:cxnSp>
        <p:nvCxnSpPr>
          <p:cNvPr id="103" name="연결선: 꺾임 7">
            <a:extLst>
              <a:ext uri="{FF2B5EF4-FFF2-40B4-BE49-F238E27FC236}">
                <a16:creationId xmlns:a16="http://schemas.microsoft.com/office/drawing/2014/main" id="{89A2D828-4C18-4F90-6B31-722E89773AA8}"/>
              </a:ext>
            </a:extLst>
          </p:cNvPr>
          <p:cNvCxnSpPr>
            <a:cxnSpLocks/>
            <a:stCxn id="66" idx="3"/>
            <a:endCxn id="100" idx="1"/>
          </p:cNvCxnSpPr>
          <p:nvPr/>
        </p:nvCxnSpPr>
        <p:spPr>
          <a:xfrm>
            <a:off x="2754976" y="2454537"/>
            <a:ext cx="861328" cy="226464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7">
            <a:extLst>
              <a:ext uri="{FF2B5EF4-FFF2-40B4-BE49-F238E27FC236}">
                <a16:creationId xmlns:a16="http://schemas.microsoft.com/office/drawing/2014/main" id="{89A2D828-4C18-4F90-6B31-722E89773AA8}"/>
              </a:ext>
            </a:extLst>
          </p:cNvPr>
          <p:cNvCxnSpPr>
            <a:cxnSpLocks/>
            <a:stCxn id="100" idx="2"/>
            <a:endCxn id="147" idx="6"/>
          </p:cNvCxnSpPr>
          <p:nvPr/>
        </p:nvCxnSpPr>
        <p:spPr>
          <a:xfrm rot="5400000" flipH="1">
            <a:off x="3156840" y="3953719"/>
            <a:ext cx="542899" cy="1276029"/>
          </a:xfrm>
          <a:prstGeom prst="bentConnector4">
            <a:avLst>
              <a:gd name="adj1" fmla="val -42107"/>
              <a:gd name="adj2" fmla="val 76505"/>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109" name="표 108"/>
          <p:cNvGraphicFramePr>
            <a:graphicFrameLocks noGrp="1"/>
          </p:cNvGraphicFramePr>
          <p:nvPr>
            <p:extLst>
              <p:ext uri="{D42A27DB-BD31-4B8C-83A1-F6EECF244321}">
                <p14:modId xmlns:p14="http://schemas.microsoft.com/office/powerpoint/2010/main" val="955786107"/>
              </p:ext>
            </p:extLst>
          </p:nvPr>
        </p:nvGraphicFramePr>
        <p:xfrm>
          <a:off x="5297630" y="5980423"/>
          <a:ext cx="4173762" cy="576970"/>
        </p:xfrm>
        <a:graphic>
          <a:graphicData uri="http://schemas.openxmlformats.org/drawingml/2006/table">
            <a:tbl>
              <a:tblPr firstRow="1" bandRow="1">
                <a:tableStyleId>{5C22544A-7EE6-4342-B048-85BDC9FD1C3A}</a:tableStyleId>
              </a:tblPr>
              <a:tblGrid>
                <a:gridCol w="763430">
                  <a:extLst>
                    <a:ext uri="{9D8B030D-6E8A-4147-A177-3AD203B41FA5}">
                      <a16:colId xmlns:a16="http://schemas.microsoft.com/office/drawing/2014/main" val="3629403149"/>
                    </a:ext>
                  </a:extLst>
                </a:gridCol>
                <a:gridCol w="923638">
                  <a:extLst>
                    <a:ext uri="{9D8B030D-6E8A-4147-A177-3AD203B41FA5}">
                      <a16:colId xmlns:a16="http://schemas.microsoft.com/office/drawing/2014/main" val="1460515021"/>
                    </a:ext>
                  </a:extLst>
                </a:gridCol>
                <a:gridCol w="828898">
                  <a:extLst>
                    <a:ext uri="{9D8B030D-6E8A-4147-A177-3AD203B41FA5}">
                      <a16:colId xmlns:a16="http://schemas.microsoft.com/office/drawing/2014/main" val="1918560194"/>
                    </a:ext>
                  </a:extLst>
                </a:gridCol>
                <a:gridCol w="828898">
                  <a:extLst>
                    <a:ext uri="{9D8B030D-6E8A-4147-A177-3AD203B41FA5}">
                      <a16:colId xmlns:a16="http://schemas.microsoft.com/office/drawing/2014/main" val="53436730"/>
                    </a:ext>
                  </a:extLst>
                </a:gridCol>
                <a:gridCol w="828898">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입찰진행목록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필요함</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본인 </a:t>
                      </a:r>
                      <a:r>
                        <a:rPr lang="ko-KR" altLang="en-US" sz="500" dirty="0" err="1" smtClean="0">
                          <a:solidFill>
                            <a:schemeClr val="tx1"/>
                          </a:solidFill>
                        </a:rPr>
                        <a:t>입찰건만</a:t>
                      </a:r>
                      <a:r>
                        <a:rPr lang="ko-KR" altLang="en-US" sz="500" dirty="0" smtClean="0">
                          <a:solidFill>
                            <a:schemeClr val="tx1"/>
                          </a:solidFill>
                        </a:rPr>
                        <a:t>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입찰기간에만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34993">
                <a:tc>
                  <a:txBody>
                    <a:bodyPr/>
                    <a:lstStyle/>
                    <a:p>
                      <a:pPr algn="ctr" latinLnBrk="1"/>
                      <a:r>
                        <a:rPr lang="ko-KR" altLang="en-US" sz="500" dirty="0" err="1" smtClean="0">
                          <a:solidFill>
                            <a:schemeClr val="tx1"/>
                          </a:solidFill>
                        </a:rPr>
                        <a:t>개찰목록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조회 가능</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rPr>
                        <a:t>(</a:t>
                      </a:r>
                      <a:r>
                        <a:rPr lang="ko-KR" altLang="en-US" sz="500" dirty="0" err="1" smtClean="0">
                          <a:solidFill>
                            <a:schemeClr val="tx1"/>
                          </a:solidFill>
                        </a:rPr>
                        <a:t>마스킹</a:t>
                      </a:r>
                      <a:r>
                        <a:rPr lang="ko-KR" altLang="en-US" sz="500" dirty="0" smtClean="0">
                          <a:solidFill>
                            <a:schemeClr val="tx1"/>
                          </a:solidFill>
                        </a:rPr>
                        <a:t> 화면</a:t>
                      </a:r>
                      <a:r>
                        <a:rPr lang="en-US" altLang="ko-KR" sz="500" dirty="0" smtClean="0">
                          <a:solidFill>
                            <a:schemeClr val="tx1"/>
                          </a:solidFill>
                        </a:rPr>
                        <a:t>)</a:t>
                      </a: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개찰기간에만 조회 가능</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bl>
          </a:graphicData>
        </a:graphic>
      </p:graphicFrame>
    </p:spTree>
    <p:extLst>
      <p:ext uri="{BB962C8B-B14F-4D97-AF65-F5344CB8AC3E}">
        <p14:creationId xmlns:p14="http://schemas.microsoft.com/office/powerpoint/2010/main" val="1045765329"/>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smtClean="0"/>
              <a:t>화면 영역</a:t>
            </a:r>
            <a:endParaRPr lang="ko-KR" altLang="en-US" sz="1400" dirty="0"/>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4413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1050" dirty="0">
                <a:solidFill>
                  <a:schemeClr val="tx1"/>
                </a:solidFill>
              </a:rPr>
              <a:t>&lt;&lt;App Page&gt;&gt;</a:t>
            </a:r>
          </a:p>
          <a:p>
            <a:pPr algn="ctr"/>
            <a:r>
              <a:rPr lang="ko-KR" altLang="en-US" sz="1050" dirty="0">
                <a:latin typeface="+mn-ea"/>
              </a:rPr>
              <a:t>입찰공고통합목록</a:t>
            </a:r>
            <a:endParaRPr lang="en-US" altLang="ko-KR" sz="1050" dirty="0">
              <a:solidFill>
                <a:schemeClr val="tx1"/>
              </a:solidFill>
            </a:endParaRPr>
          </a:p>
          <a:p>
            <a:pPr algn="ctr"/>
            <a:r>
              <a:rPr lang="en-US" altLang="ko-KR" sz="1050" dirty="0" err="1">
                <a:solidFill>
                  <a:schemeClr val="tx1"/>
                </a:solidFill>
              </a:rPr>
              <a:t>BidPbancIntgListPage.tsx</a:t>
            </a:r>
            <a:r>
              <a:rPr lang="en-US" altLang="ko-KR" sz="1050" b="1" baseline="30000" dirty="0">
                <a:solidFill>
                  <a:schemeClr val="tx1"/>
                </a:solidFill>
                <a:latin typeface="+mn-ea"/>
              </a:rPr>
              <a:t> 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322217"/>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rPr>
              <a:t>검색필터</a:t>
            </a:r>
            <a:endParaRPr lang="en-US" altLang="ko-KR" sz="1050" dirty="0">
              <a:solidFill>
                <a:schemeClr val="tx1"/>
              </a:solidFill>
            </a:endParaRPr>
          </a:p>
          <a:p>
            <a:pPr algn="ctr"/>
            <a:r>
              <a:rPr lang="en-US" altLang="ko-KR" sz="800" dirty="0" err="1">
                <a:solidFill>
                  <a:schemeClr val="tx1"/>
                </a:solidFill>
              </a:rPr>
              <a:t>BidPbancIntgList_SrchFilter.tsx</a:t>
            </a:r>
            <a:r>
              <a:rPr lang="en-US" altLang="ko-KR" sz="800" b="1" baseline="30000" dirty="0">
                <a:solidFill>
                  <a:schemeClr val="tx1"/>
                </a:solidFill>
                <a:latin typeface="+mn-ea"/>
              </a:rPr>
              <a:t> 1</a:t>
            </a:r>
            <a:r>
              <a:rPr lang="en-US" altLang="ko-KR" sz="1050" b="1" baseline="30000" dirty="0">
                <a:solidFill>
                  <a:schemeClr val="tx1"/>
                </a:solidFill>
                <a:latin typeface="+mn-ea"/>
              </a:rPr>
              <a:t>)</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07148"/>
            <a:ext cx="967509" cy="10830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585226"/>
            <a:ext cx="967509" cy="4049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265382" y="300029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발주부서</a:t>
            </a:r>
            <a:r>
              <a:rPr lang="en-US" altLang="ko-KR" sz="1050" dirty="0">
                <a:solidFill>
                  <a:schemeClr val="tx1"/>
                </a:solidFill>
                <a:latin typeface="+mn-ea"/>
              </a:rPr>
              <a:t>(</a:t>
            </a:r>
            <a:r>
              <a:rPr lang="ko-KR" altLang="en-US" sz="1050" dirty="0">
                <a:solidFill>
                  <a:schemeClr val="tx1"/>
                </a:solidFill>
                <a:latin typeface="+mn-ea"/>
              </a:rPr>
              <a:t>기관</a:t>
            </a:r>
            <a:r>
              <a:rPr lang="en-US" altLang="ko-KR" sz="1050" dirty="0">
                <a:solidFill>
                  <a:schemeClr val="tx1"/>
                </a:solidFill>
                <a:latin typeface="+mn-ea"/>
              </a:rPr>
              <a:t>)</a:t>
            </a:r>
            <a:r>
              <a:rPr lang="ko-KR" altLang="en-US" sz="1050" dirty="0">
                <a:solidFill>
                  <a:schemeClr val="tx1"/>
                </a:solidFill>
                <a:latin typeface="+mn-ea"/>
              </a:rPr>
              <a:t>검색</a:t>
            </a:r>
            <a:endParaRPr lang="en-US" altLang="ko-KR" sz="1050" dirty="0">
              <a:solidFill>
                <a:schemeClr val="tx1"/>
              </a:solidFill>
            </a:endParaRPr>
          </a:p>
          <a:p>
            <a:pPr algn="ctr"/>
            <a:r>
              <a:rPr lang="en-US" altLang="ko-KR" sz="1050" dirty="0" err="1">
                <a:solidFill>
                  <a:schemeClr val="tx1"/>
                </a:solidFill>
              </a:rPr>
              <a:t>OrderDeptSrch.tsx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265382" y="3678373"/>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면허정보검색</a:t>
            </a:r>
            <a:endParaRPr lang="en-US" altLang="ko-KR" sz="1050" dirty="0">
              <a:solidFill>
                <a:schemeClr val="tx1"/>
              </a:solidFill>
            </a:endParaRPr>
          </a:p>
          <a:p>
            <a:pPr algn="ctr"/>
            <a:r>
              <a:rPr lang="en-US" altLang="ko-KR" sz="1050" dirty="0" err="1">
                <a:solidFill>
                  <a:schemeClr val="tx1"/>
                </a:solidFill>
              </a:rPr>
              <a:t>LcnsInfoSrch.tsx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265382" y="4356451"/>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smtClean="0">
                <a:solidFill>
                  <a:schemeClr val="tx1"/>
                </a:solidFill>
                <a:latin typeface="+mn-ea"/>
              </a:rPr>
              <a:t>날짜설정</a:t>
            </a:r>
            <a:endParaRPr lang="en-US" altLang="ko-KR" sz="1050" dirty="0">
              <a:solidFill>
                <a:schemeClr val="tx1"/>
              </a:solidFill>
            </a:endParaRPr>
          </a:p>
          <a:p>
            <a:pPr algn="ctr"/>
            <a:r>
              <a:rPr lang="en-US" altLang="ko-KR" sz="1050" dirty="0" err="1">
                <a:solidFill>
                  <a:schemeClr val="tx1"/>
                </a:solidFill>
                <a:latin typeface="+mn-ea"/>
              </a:rPr>
              <a:t>DateInput</a:t>
            </a:r>
            <a:r>
              <a:rPr lang="en-US" altLang="ko-KR" sz="1050" dirty="0" err="1">
                <a:solidFill>
                  <a:schemeClr val="tx1"/>
                </a:solidFill>
              </a:rPr>
              <a:t>.tsx</a:t>
            </a:r>
            <a:r>
              <a:rPr lang="en-US" altLang="ko-KR" sz="1050" b="1" baseline="30000" dirty="0">
                <a:solidFill>
                  <a:schemeClr val="tx1"/>
                </a:solidFill>
                <a:latin typeface="+mn-ea"/>
              </a:rPr>
              <a:t> 1)</a:t>
            </a:r>
            <a:endParaRPr lang="en-US" altLang="ko-KR" sz="105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992582" y="2990174"/>
            <a:ext cx="967509" cy="2731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992582" y="2990174"/>
            <a:ext cx="967509" cy="9512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992582" y="2990174"/>
            <a:ext cx="967509" cy="16292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62332543"/>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noAutofit/>
          </a:bodyPr>
          <a:lstStyle/>
          <a:p>
            <a:pPr marL="228600" indent="-228600">
              <a:buFont typeface="+mj-lt"/>
              <a:buAutoNum type="arabicPeriod"/>
            </a:pPr>
            <a:r>
              <a:rPr lang="ko-KR" altLang="en-US" sz="800" dirty="0"/>
              <a:t>상단 </a:t>
            </a:r>
            <a:r>
              <a:rPr lang="ko-KR" altLang="en-US" sz="800" dirty="0" smtClean="0"/>
              <a:t>공지사항 </a:t>
            </a:r>
            <a:r>
              <a:rPr lang="ko-KR" altLang="en-US" sz="800" dirty="0"/>
              <a:t>기본 값으로 접힘 상태로 정보 제공</a:t>
            </a:r>
            <a:r>
              <a:rPr lang="en-US" altLang="ko-KR" sz="800" dirty="0"/>
              <a:t/>
            </a:r>
            <a:br>
              <a:rPr lang="en-US" altLang="ko-KR" sz="800" dirty="0"/>
            </a:br>
            <a:r>
              <a:rPr lang="en-US" altLang="ko-KR" sz="800" dirty="0"/>
              <a:t>- </a:t>
            </a:r>
            <a:r>
              <a:rPr lang="ko-KR" altLang="en-US" sz="800" dirty="0"/>
              <a:t>기본값 </a:t>
            </a:r>
            <a:r>
              <a:rPr lang="en-US" altLang="ko-KR" sz="800" dirty="0"/>
              <a:t>: </a:t>
            </a:r>
            <a:r>
              <a:rPr lang="ko-KR" altLang="en-US" sz="800" dirty="0"/>
              <a:t>접힘</a:t>
            </a:r>
            <a:r>
              <a:rPr lang="en-US" altLang="ko-KR" sz="800" dirty="0"/>
              <a:t/>
            </a:r>
            <a:br>
              <a:rPr lang="en-US" altLang="ko-KR" sz="800" dirty="0"/>
            </a:br>
            <a:r>
              <a:rPr lang="en-US" altLang="ko-KR" sz="800" dirty="0"/>
              <a:t>- </a:t>
            </a:r>
            <a:r>
              <a:rPr lang="ko-KR" altLang="en-US" sz="800" dirty="0"/>
              <a:t>사용자 </a:t>
            </a:r>
            <a:r>
              <a:rPr lang="ko-KR" altLang="en-US" sz="800" dirty="0" err="1"/>
              <a:t>클릭시</a:t>
            </a:r>
            <a:r>
              <a:rPr lang="ko-KR" altLang="en-US" sz="800" dirty="0"/>
              <a:t> 확장하여 정보 표시</a:t>
            </a:r>
            <a:r>
              <a:rPr lang="en-US" altLang="ko-KR" sz="800" dirty="0"/>
              <a:t/>
            </a:r>
            <a:br>
              <a:rPr lang="en-US" altLang="ko-KR" sz="800" dirty="0"/>
            </a:br>
            <a:r>
              <a:rPr lang="en-US" altLang="ko-KR" sz="800" dirty="0"/>
              <a:t>- </a:t>
            </a:r>
            <a:r>
              <a:rPr lang="ko-KR" altLang="en-US" sz="800" dirty="0" err="1"/>
              <a:t>업무도움</a:t>
            </a:r>
            <a:r>
              <a:rPr lang="en-US" altLang="ko-KR" sz="800" dirty="0"/>
              <a:t> &gt; </a:t>
            </a:r>
            <a:r>
              <a:rPr lang="ko-KR" altLang="en-US" sz="800" dirty="0"/>
              <a:t>내역이 있는 경우 표시</a:t>
            </a:r>
            <a:r>
              <a:rPr lang="en-US" altLang="ko-KR" sz="800" dirty="0"/>
              <a:t>, </a:t>
            </a:r>
            <a:r>
              <a:rPr lang="ko-KR" altLang="en-US" sz="800" dirty="0"/>
              <a:t>내역이 없으면 항목을 표시하지 않음</a:t>
            </a:r>
            <a:r>
              <a:rPr lang="en-US" altLang="ko-KR" sz="800" dirty="0" smtClean="0"/>
              <a:t>.</a:t>
            </a:r>
            <a:br>
              <a:rPr lang="en-US" altLang="ko-KR" sz="800" dirty="0" smtClean="0"/>
            </a:br>
            <a:r>
              <a:rPr lang="en-US" altLang="ko-KR" sz="800" dirty="0" smtClean="0"/>
              <a:t>1-1,1-2] </a:t>
            </a:r>
            <a:r>
              <a:rPr lang="ko-KR" altLang="en-US" sz="800" dirty="0" err="1" smtClean="0"/>
              <a:t>공고명</a:t>
            </a:r>
            <a:r>
              <a:rPr lang="en-US" altLang="ko-KR" sz="800" dirty="0" smtClean="0"/>
              <a:t>, </a:t>
            </a:r>
            <a:r>
              <a:rPr lang="ko-KR" altLang="en-US" sz="800" dirty="0" err="1" smtClean="0"/>
              <a:t>공고번호</a:t>
            </a:r>
            <a:r>
              <a:rPr lang="ko-KR" altLang="en-US" sz="800" dirty="0" smtClean="0"/>
              <a:t> 중 </a:t>
            </a:r>
            <a:r>
              <a:rPr lang="ko-KR" altLang="en-US" sz="800" dirty="0"/>
              <a:t>선택</a:t>
            </a:r>
            <a:r>
              <a:rPr lang="en-US" altLang="ko-KR" sz="800" dirty="0"/>
              <a:t/>
            </a:r>
            <a:br>
              <a:rPr lang="en-US" altLang="ko-KR" sz="800" dirty="0"/>
            </a:br>
            <a:r>
              <a:rPr lang="en-US" altLang="ko-KR" sz="800" dirty="0" smtClean="0"/>
              <a:t>1-3] </a:t>
            </a:r>
            <a:r>
              <a:rPr lang="ko-KR" altLang="en-US" sz="800" dirty="0" err="1"/>
              <a:t>검색어</a:t>
            </a:r>
            <a:r>
              <a:rPr lang="ko-KR" altLang="en-US" sz="800" dirty="0"/>
              <a:t> 입력</a:t>
            </a:r>
            <a:endParaRPr lang="en-US" altLang="ko-KR" sz="800" dirty="0"/>
          </a:p>
          <a:p>
            <a:pPr marL="228600" indent="-228600">
              <a:buFont typeface="+mj-lt"/>
              <a:buAutoNum type="arabicPeriod"/>
            </a:pPr>
            <a:r>
              <a:rPr lang="ko-KR" altLang="en-US" sz="800" dirty="0" err="1" smtClean="0"/>
              <a:t>검색필터</a:t>
            </a:r>
            <a:r>
              <a:rPr lang="ko-KR" altLang="en-US" sz="800" dirty="0" smtClean="0"/>
              <a:t> </a:t>
            </a:r>
            <a:r>
              <a:rPr lang="ko-KR" altLang="en-US" sz="800" dirty="0"/>
              <a:t>항목 참고</a:t>
            </a:r>
            <a:r>
              <a:rPr lang="en-US" altLang="ko-KR" sz="800" dirty="0"/>
              <a:t/>
            </a:r>
            <a:br>
              <a:rPr lang="en-US" altLang="ko-KR" sz="800" dirty="0"/>
            </a:br>
            <a:r>
              <a:rPr lang="en-US" altLang="ko-KR" sz="800" dirty="0"/>
              <a:t>- </a:t>
            </a:r>
            <a:r>
              <a:rPr lang="ko-KR" altLang="en-US" sz="800" dirty="0">
                <a:latin typeface="+mn-ea"/>
              </a:rPr>
              <a:t>검색 </a:t>
            </a:r>
            <a:r>
              <a:rPr lang="ko-KR" altLang="en-US" sz="800" dirty="0" smtClean="0">
                <a:latin typeface="+mn-ea"/>
              </a:rPr>
              <a:t>필터</a:t>
            </a:r>
            <a:r>
              <a:rPr lang="en-US" altLang="ko-KR" sz="800" dirty="0">
                <a:latin typeface="+mn-ea"/>
              </a:rPr>
              <a:t> </a:t>
            </a:r>
            <a:r>
              <a:rPr lang="ko-KR" altLang="en-US" sz="800" dirty="0" smtClean="0">
                <a:latin typeface="+mn-ea"/>
              </a:rPr>
              <a:t>호출</a:t>
            </a:r>
            <a:r>
              <a:rPr lang="en-US" altLang="ko-KR" sz="800" dirty="0" smtClean="0">
                <a:latin typeface="+mn-ea"/>
              </a:rPr>
              <a:t>(MUI-BD-01-M02)</a:t>
            </a:r>
            <a:endParaRPr lang="en-US" altLang="ko-KR" sz="800" dirty="0"/>
          </a:p>
          <a:p>
            <a:pPr marL="228600" indent="-228600">
              <a:buFont typeface="+mj-lt"/>
              <a:buAutoNum type="arabicPeriod"/>
            </a:pPr>
            <a:r>
              <a:rPr lang="ko-KR" altLang="en-US" sz="800" dirty="0" smtClean="0"/>
              <a:t>문서 </a:t>
            </a:r>
            <a:r>
              <a:rPr lang="ko-KR" altLang="en-US" sz="800" dirty="0"/>
              <a:t>정보 영역 </a:t>
            </a:r>
            <a:r>
              <a:rPr lang="en-US" altLang="ko-KR" sz="800" dirty="0"/>
              <a:t/>
            </a:r>
            <a:br>
              <a:rPr lang="en-US" altLang="ko-KR" sz="800" dirty="0"/>
            </a:br>
            <a:r>
              <a:rPr lang="en-US" altLang="ko-KR" sz="800" dirty="0" smtClean="0"/>
              <a:t>- </a:t>
            </a:r>
            <a:r>
              <a:rPr lang="ko-KR" altLang="en-US" sz="800" dirty="0"/>
              <a:t>총 개수 표시</a:t>
            </a:r>
            <a:r>
              <a:rPr lang="en-US" altLang="ko-KR" sz="800" dirty="0"/>
              <a:t/>
            </a:r>
            <a:br>
              <a:rPr lang="en-US" altLang="ko-KR" sz="800" dirty="0"/>
            </a:br>
            <a:r>
              <a:rPr lang="en-US" altLang="ko-KR" sz="800" dirty="0"/>
              <a:t>- </a:t>
            </a:r>
            <a:r>
              <a:rPr lang="ko-KR" altLang="en-US" sz="800" dirty="0"/>
              <a:t>표시 개수 </a:t>
            </a:r>
            <a:r>
              <a:rPr lang="en-US" altLang="ko-KR" sz="800" dirty="0"/>
              <a:t>(</a:t>
            </a:r>
            <a:r>
              <a:rPr lang="ko-KR" altLang="en-US" sz="800" dirty="0"/>
              <a:t>선택한 건수 만큼 보여주고 </a:t>
            </a:r>
            <a:r>
              <a:rPr lang="ko-KR" altLang="en-US" sz="800" dirty="0" err="1"/>
              <a:t>더보기시</a:t>
            </a:r>
            <a:r>
              <a:rPr lang="ko-KR" altLang="en-US" sz="800" dirty="0"/>
              <a:t> 추가로 불러옴</a:t>
            </a:r>
            <a:r>
              <a:rPr lang="en-US" altLang="ko-KR" sz="800" dirty="0"/>
              <a:t>)</a:t>
            </a:r>
            <a:br>
              <a:rPr lang="en-US" altLang="ko-KR" sz="800" dirty="0"/>
            </a:br>
            <a:r>
              <a:rPr lang="en-US" altLang="ko-KR" sz="800" dirty="0" smtClean="0"/>
              <a:t>- </a:t>
            </a:r>
            <a:r>
              <a:rPr lang="ko-KR" altLang="en-US" sz="800" dirty="0" smtClean="0"/>
              <a:t>카드 목록 표시</a:t>
            </a:r>
            <a:r>
              <a:rPr lang="en-US" altLang="ko-KR" sz="800" dirty="0"/>
              <a:t/>
            </a:r>
            <a:br>
              <a:rPr lang="en-US" altLang="ko-KR" sz="800" dirty="0"/>
            </a:br>
            <a:r>
              <a:rPr lang="en-US" altLang="ko-KR" sz="800" dirty="0"/>
              <a:t>- </a:t>
            </a:r>
            <a:r>
              <a:rPr lang="ko-KR" altLang="en-US" sz="800" dirty="0"/>
              <a:t>카드 </a:t>
            </a:r>
            <a:r>
              <a:rPr lang="ko-KR" altLang="en-US" sz="800" dirty="0" err="1"/>
              <a:t>클릭시</a:t>
            </a:r>
            <a:r>
              <a:rPr lang="ko-KR" altLang="en-US" sz="800" dirty="0"/>
              <a:t> 상세 페이지 </a:t>
            </a:r>
            <a:r>
              <a:rPr lang="ko-KR" altLang="en-US" sz="800" dirty="0" smtClean="0"/>
              <a:t>이동</a:t>
            </a:r>
            <a:r>
              <a:rPr lang="en-US" altLang="ko-KR" sz="800" dirty="0" smtClean="0"/>
              <a:t/>
            </a:r>
            <a:br>
              <a:rPr lang="en-US" altLang="ko-KR" sz="800" dirty="0" smtClean="0"/>
            </a:br>
            <a:r>
              <a:rPr lang="en-US" altLang="ko-KR" sz="800" dirty="0" smtClean="0"/>
              <a:t>3-1</a:t>
            </a:r>
            <a:r>
              <a:rPr lang="en-US" altLang="ko-KR" sz="800" dirty="0"/>
              <a:t>] </a:t>
            </a:r>
            <a:r>
              <a:rPr lang="ko-KR" altLang="en-US" sz="800" dirty="0" smtClean="0"/>
              <a:t>표시 레이블 항목 참고하여 조건에 맞는 레이블 노출</a:t>
            </a:r>
            <a:r>
              <a:rPr lang="en-US" altLang="ko-KR" sz="800" dirty="0" smtClean="0"/>
              <a:t/>
            </a:r>
            <a:br>
              <a:rPr lang="en-US" altLang="ko-KR" sz="800" dirty="0" smtClean="0"/>
            </a:br>
            <a:r>
              <a:rPr lang="en-US" altLang="ko-KR" sz="800" dirty="0" smtClean="0"/>
              <a:t>- </a:t>
            </a:r>
            <a:r>
              <a:rPr lang="ko-KR" altLang="en-US" sz="800" dirty="0" err="1" smtClean="0"/>
              <a:t>업무구분</a:t>
            </a:r>
            <a:r>
              <a:rPr lang="en-US" altLang="ko-KR" sz="800" dirty="0" smtClean="0"/>
              <a:t>, </a:t>
            </a:r>
            <a:r>
              <a:rPr lang="ko-KR" altLang="en-US" sz="800" dirty="0" err="1" smtClean="0"/>
              <a:t>입찰구분</a:t>
            </a:r>
            <a:r>
              <a:rPr lang="en-US" altLang="ko-KR" sz="800" dirty="0" smtClean="0"/>
              <a:t>, </a:t>
            </a:r>
            <a:r>
              <a:rPr lang="ko-KR" altLang="en-US" sz="800" dirty="0" err="1" smtClean="0"/>
              <a:t>공고구분은</a:t>
            </a:r>
            <a:r>
              <a:rPr lang="ko-KR" altLang="en-US" sz="800" dirty="0" smtClean="0"/>
              <a:t> 전체 화면 레이블 기본값으로 함</a:t>
            </a:r>
            <a:r>
              <a:rPr lang="en-US" altLang="ko-KR" sz="800" dirty="0" smtClean="0"/>
              <a:t/>
            </a:r>
            <a:br>
              <a:rPr lang="en-US" altLang="ko-KR" sz="800" dirty="0" smtClean="0"/>
            </a:br>
            <a:r>
              <a:rPr lang="en-US" altLang="ko-KR" sz="800" dirty="0" smtClean="0"/>
              <a:t>3-2] G2B </a:t>
            </a:r>
            <a:r>
              <a:rPr lang="ko-KR" altLang="en-US" sz="800" dirty="0" err="1" smtClean="0"/>
              <a:t>공고번호</a:t>
            </a:r>
            <a:r>
              <a:rPr lang="ko-KR" altLang="en-US" sz="800" dirty="0" smtClean="0"/>
              <a:t> </a:t>
            </a:r>
            <a:r>
              <a:rPr lang="en-US" altLang="ko-KR" sz="800" dirty="0" smtClean="0"/>
              <a:t>+ </a:t>
            </a:r>
            <a:r>
              <a:rPr lang="ko-KR" altLang="en-US" sz="800" dirty="0" smtClean="0"/>
              <a:t>차수 정보 노출</a:t>
            </a:r>
            <a:r>
              <a:rPr lang="en-US" altLang="ko-KR" sz="800" dirty="0" smtClean="0"/>
              <a:t/>
            </a:r>
            <a:br>
              <a:rPr lang="en-US" altLang="ko-KR" sz="800" dirty="0" smtClean="0"/>
            </a:br>
            <a:r>
              <a:rPr lang="en-US" altLang="ko-KR" sz="800" dirty="0" smtClean="0"/>
              <a:t>- </a:t>
            </a:r>
            <a:r>
              <a:rPr lang="ko-KR" altLang="en-US" sz="800" dirty="0" err="1" smtClean="0"/>
              <a:t>공고번호</a:t>
            </a:r>
            <a:r>
              <a:rPr lang="ko-KR" altLang="en-US" sz="800" dirty="0" smtClean="0"/>
              <a:t> 차수가 다르면 같은 계약도 다른 계약으로 보고 전체 노출함 </a:t>
            </a:r>
            <a:r>
              <a:rPr lang="en-US" altLang="ko-KR" sz="800" dirty="0" smtClean="0"/>
              <a:t>(</a:t>
            </a:r>
            <a:r>
              <a:rPr lang="ko-KR" altLang="en-US" sz="800" dirty="0" err="1" smtClean="0"/>
              <a:t>차수별</a:t>
            </a:r>
            <a:r>
              <a:rPr lang="ko-KR" altLang="en-US" sz="800" dirty="0"/>
              <a:t> </a:t>
            </a:r>
            <a:r>
              <a:rPr lang="ko-KR" altLang="en-US" sz="800" dirty="0" err="1" smtClean="0"/>
              <a:t>개별노출</a:t>
            </a:r>
            <a:r>
              <a:rPr lang="en-US" altLang="ko-KR" sz="800" dirty="0" smtClean="0"/>
              <a:t>)</a:t>
            </a:r>
            <a:br>
              <a:rPr lang="en-US" altLang="ko-KR" sz="800" dirty="0" smtClean="0"/>
            </a:br>
            <a:r>
              <a:rPr lang="en-US" altLang="ko-KR" sz="800" dirty="0" smtClean="0"/>
              <a:t>- </a:t>
            </a:r>
            <a:r>
              <a:rPr lang="en-US" altLang="ko-KR" sz="800" dirty="0" smtClean="0">
                <a:latin typeface="+mn-ea"/>
              </a:rPr>
              <a:t>‘</a:t>
            </a:r>
            <a:r>
              <a:rPr lang="ko-KR" altLang="en-US" sz="800" dirty="0" err="1">
                <a:latin typeface="+mn-ea"/>
              </a:rPr>
              <a:t>공고번호</a:t>
            </a:r>
            <a:r>
              <a:rPr lang="en-US" altLang="ko-KR" sz="800" dirty="0">
                <a:latin typeface="+mn-ea"/>
              </a:rPr>
              <a:t>’, ‘</a:t>
            </a:r>
            <a:r>
              <a:rPr lang="ko-KR" altLang="en-US" sz="800" dirty="0">
                <a:latin typeface="+mn-ea"/>
              </a:rPr>
              <a:t>통합참조번호</a:t>
            </a:r>
            <a:r>
              <a:rPr lang="en-US" altLang="ko-KR" sz="800" dirty="0">
                <a:latin typeface="+mn-ea"/>
              </a:rPr>
              <a:t>‘ </a:t>
            </a:r>
            <a:r>
              <a:rPr lang="ko-KR" altLang="en-US" sz="800" dirty="0">
                <a:latin typeface="+mn-ea"/>
              </a:rPr>
              <a:t>선택 가능</a:t>
            </a:r>
            <a:r>
              <a:rPr lang="en-US" altLang="ko-KR" sz="800" dirty="0">
                <a:latin typeface="+mn-ea"/>
              </a:rPr>
              <a:t>.</a:t>
            </a:r>
            <a:r>
              <a:rPr lang="en-US" altLang="ko-KR" sz="800" dirty="0" smtClean="0"/>
              <a:t/>
            </a:r>
            <a:br>
              <a:rPr lang="en-US" altLang="ko-KR" sz="800" dirty="0" smtClean="0"/>
            </a:br>
            <a:r>
              <a:rPr lang="en-US" altLang="ko-KR" sz="800" dirty="0" smtClean="0"/>
              <a:t>3-3] </a:t>
            </a:r>
            <a:r>
              <a:rPr lang="ko-KR" altLang="en-US" sz="800" dirty="0" smtClean="0"/>
              <a:t>입찰 건 명 노출 </a:t>
            </a:r>
            <a:r>
              <a:rPr lang="en-US" altLang="ko-KR" sz="800" dirty="0" smtClean="0"/>
              <a:t>(1</a:t>
            </a:r>
            <a:r>
              <a:rPr lang="ko-KR" altLang="en-US" sz="800" dirty="0" smtClean="0"/>
              <a:t>줄까지 노출 이후 </a:t>
            </a:r>
            <a:r>
              <a:rPr lang="ko-KR" altLang="en-US" sz="800" dirty="0" err="1" smtClean="0"/>
              <a:t>말줄임</a:t>
            </a:r>
            <a:r>
              <a:rPr lang="ko-KR" altLang="en-US" sz="800" dirty="0" smtClean="0"/>
              <a:t> 표시</a:t>
            </a:r>
            <a:r>
              <a:rPr lang="en-US" altLang="ko-KR" sz="800" dirty="0" smtClean="0"/>
              <a:t>)</a:t>
            </a:r>
            <a:br>
              <a:rPr lang="en-US" altLang="ko-KR" sz="800" dirty="0" smtClean="0"/>
            </a:br>
            <a:r>
              <a:rPr lang="en-US" altLang="ko-KR" sz="800" dirty="0" smtClean="0"/>
              <a:t>- </a:t>
            </a:r>
            <a:r>
              <a:rPr lang="ko-KR" altLang="en-US" sz="800" dirty="0"/>
              <a:t>제목은 </a:t>
            </a:r>
            <a:r>
              <a:rPr lang="en-US" altLang="ko-KR" sz="800" dirty="0"/>
              <a:t>2</a:t>
            </a:r>
            <a:r>
              <a:rPr lang="ko-KR" altLang="en-US" sz="800" dirty="0"/>
              <a:t>줄 까지 노출 이후</a:t>
            </a:r>
            <a:r>
              <a:rPr lang="en-US" altLang="ko-KR" sz="800" dirty="0"/>
              <a:t>(…) </a:t>
            </a:r>
            <a:r>
              <a:rPr lang="ko-KR" altLang="en-US" sz="800" dirty="0" err="1"/>
              <a:t>말줄임</a:t>
            </a:r>
            <a:r>
              <a:rPr lang="ko-KR" altLang="en-US" sz="800" dirty="0"/>
              <a:t> </a:t>
            </a:r>
            <a:r>
              <a:rPr lang="ko-KR" altLang="en-US" sz="800" dirty="0" smtClean="0"/>
              <a:t>표시</a:t>
            </a:r>
            <a:r>
              <a:rPr lang="en-US" altLang="ko-KR" sz="800" dirty="0" smtClean="0"/>
              <a:t/>
            </a:r>
            <a:br>
              <a:rPr lang="en-US" altLang="ko-KR" sz="800" dirty="0" smtClean="0"/>
            </a:br>
            <a:r>
              <a:rPr lang="en-US" altLang="ko-KR" sz="800" dirty="0" smtClean="0"/>
              <a:t>3-4] </a:t>
            </a:r>
            <a:r>
              <a:rPr lang="ko-KR" altLang="en-US" sz="800" dirty="0" smtClean="0"/>
              <a:t>업무 구분이 </a:t>
            </a:r>
            <a:r>
              <a:rPr lang="ko-KR" altLang="en-US" sz="800" dirty="0" err="1" smtClean="0"/>
              <a:t>공사건인</a:t>
            </a:r>
            <a:r>
              <a:rPr lang="ko-KR" altLang="en-US" sz="800" dirty="0" smtClean="0"/>
              <a:t> 경우</a:t>
            </a:r>
            <a:r>
              <a:rPr lang="en-US" altLang="ko-KR" sz="800" dirty="0"/>
              <a:t> </a:t>
            </a:r>
            <a:r>
              <a:rPr lang="ko-KR" altLang="en-US" sz="800" dirty="0" err="1" smtClean="0"/>
              <a:t>공사명</a:t>
            </a:r>
            <a:r>
              <a:rPr lang="ko-KR" altLang="en-US" sz="800" dirty="0" smtClean="0"/>
              <a:t> 노출</a:t>
            </a:r>
            <a:r>
              <a:rPr lang="en-US" altLang="ko-KR" sz="800" dirty="0" smtClean="0"/>
              <a:t/>
            </a:r>
            <a:br>
              <a:rPr lang="en-US" altLang="ko-KR" sz="800" dirty="0" smtClean="0"/>
            </a:br>
            <a:r>
              <a:rPr lang="en-US" altLang="ko-KR" sz="800" dirty="0" smtClean="0"/>
              <a:t>3-5] </a:t>
            </a:r>
            <a:r>
              <a:rPr lang="ko-KR" altLang="en-US" sz="800" dirty="0" err="1" smtClean="0"/>
              <a:t>발주기간</a:t>
            </a:r>
            <a:r>
              <a:rPr lang="en-US" altLang="ko-KR" sz="800" dirty="0" smtClean="0"/>
              <a:t>,</a:t>
            </a:r>
            <a:r>
              <a:rPr lang="ko-KR" altLang="en-US" sz="800" dirty="0" smtClean="0"/>
              <a:t>기초예가금액</a:t>
            </a:r>
            <a:r>
              <a:rPr lang="en-US" altLang="ko-KR" sz="800" dirty="0" smtClean="0"/>
              <a:t>,</a:t>
            </a:r>
            <a:r>
              <a:rPr lang="ko-KR" altLang="en-US" sz="800" dirty="0" smtClean="0"/>
              <a:t>생산능력제출마감일시</a:t>
            </a:r>
            <a:r>
              <a:rPr lang="en-US" altLang="ko-KR" sz="800" dirty="0" smtClean="0"/>
              <a:t>, </a:t>
            </a:r>
            <a:r>
              <a:rPr lang="ko-KR" altLang="en-US" sz="800" dirty="0" err="1" smtClean="0"/>
              <a:t>입찰참가등록마감일시</a:t>
            </a:r>
            <a:r>
              <a:rPr lang="en-US" altLang="ko-KR" sz="800" dirty="0" smtClean="0"/>
              <a:t>,</a:t>
            </a:r>
            <a:r>
              <a:rPr lang="ko-KR" altLang="en-US" sz="800" dirty="0" smtClean="0"/>
              <a:t>입찰서제출마감일시 노출 </a:t>
            </a:r>
            <a:r>
              <a:rPr lang="en-US" altLang="ko-KR" sz="800" dirty="0" smtClean="0"/>
              <a:t/>
            </a:r>
            <a:br>
              <a:rPr lang="en-US" altLang="ko-KR" sz="800" dirty="0" smtClean="0"/>
            </a:br>
            <a:r>
              <a:rPr lang="en-US" altLang="ko-KR" sz="800" dirty="0" smtClean="0"/>
              <a:t>- (</a:t>
            </a:r>
            <a:r>
              <a:rPr lang="ko-KR" altLang="en-US" sz="800" dirty="0" smtClean="0"/>
              <a:t>참고</a:t>
            </a:r>
            <a:r>
              <a:rPr lang="en-US" altLang="ko-KR" sz="800" dirty="0" smtClean="0"/>
              <a:t>)</a:t>
            </a:r>
            <a:r>
              <a:rPr lang="ko-KR" altLang="en-US" sz="800" dirty="0" smtClean="0">
                <a:solidFill>
                  <a:prstClr val="black"/>
                </a:solidFill>
              </a:rPr>
              <a:t>입찰공고통합목록</a:t>
            </a:r>
            <a:r>
              <a:rPr lang="en-US" altLang="ko-KR" sz="800" dirty="0" smtClean="0">
                <a:solidFill>
                  <a:prstClr val="black"/>
                </a:solidFill>
              </a:rPr>
              <a:t> </a:t>
            </a:r>
            <a:r>
              <a:rPr lang="ko-KR" altLang="en-US" sz="800" dirty="0">
                <a:solidFill>
                  <a:prstClr val="black"/>
                </a:solidFill>
              </a:rPr>
              <a:t>검색조건 </a:t>
            </a:r>
            <a:r>
              <a:rPr lang="en-US" altLang="ko-KR" sz="800" dirty="0" smtClean="0">
                <a:solidFill>
                  <a:prstClr val="black"/>
                </a:solidFill>
              </a:rPr>
              <a:t>(</a:t>
            </a:r>
            <a:r>
              <a:rPr lang="en-US" altLang="ko-KR" sz="800" dirty="0" err="1" smtClean="0">
                <a:solidFill>
                  <a:prstClr val="black"/>
                </a:solidFill>
              </a:rPr>
              <a:t>dml_bidPbancSrchCnd</a:t>
            </a:r>
            <a:r>
              <a:rPr lang="en-US" altLang="ko-KR" sz="800" dirty="0">
                <a:solidFill>
                  <a:prstClr val="black"/>
                </a:solidFill>
              </a:rPr>
              <a:t>) </a:t>
            </a:r>
            <a:endParaRPr lang="en-US" altLang="ko-KR" sz="800" dirty="0" smtClean="0"/>
          </a:p>
          <a:p>
            <a:pPr marL="228600" indent="-228600">
              <a:buFont typeface="+mj-lt"/>
              <a:buAutoNum type="arabicPeriod"/>
            </a:pPr>
            <a:r>
              <a:rPr lang="ko-KR" altLang="en-US" sz="800" dirty="0" err="1" smtClean="0"/>
              <a:t>더보기</a:t>
            </a:r>
            <a:r>
              <a:rPr lang="ko-KR" altLang="en-US" sz="800" dirty="0" smtClean="0"/>
              <a:t> </a:t>
            </a:r>
            <a:r>
              <a:rPr lang="ko-KR" altLang="en-US" sz="800" dirty="0"/>
              <a:t>기능</a:t>
            </a:r>
            <a:r>
              <a:rPr lang="en-US" altLang="ko-KR" sz="800" dirty="0"/>
              <a:t/>
            </a:r>
            <a:br>
              <a:rPr lang="en-US" altLang="ko-KR" sz="800" dirty="0"/>
            </a:br>
            <a:r>
              <a:rPr lang="en-US" altLang="ko-KR" sz="800" dirty="0"/>
              <a:t>- 3</a:t>
            </a:r>
            <a:r>
              <a:rPr lang="ko-KR" altLang="en-US" sz="800" dirty="0" err="1"/>
              <a:t>번항목</a:t>
            </a:r>
            <a:r>
              <a:rPr lang="ko-KR" altLang="en-US" sz="800" dirty="0"/>
              <a:t> 표시 개수 영역에서 선택한 개수로 증가</a:t>
            </a:r>
            <a:r>
              <a:rPr lang="en-US" altLang="ko-KR" sz="800" dirty="0"/>
              <a:t>.</a:t>
            </a:r>
            <a:br>
              <a:rPr lang="en-US" altLang="ko-KR" sz="800" dirty="0"/>
            </a:br>
            <a:r>
              <a:rPr lang="ko-KR" altLang="en-US" sz="800" dirty="0"/>
              <a:t>예</a:t>
            </a:r>
            <a:r>
              <a:rPr lang="en-US" altLang="ko-KR" sz="800" dirty="0"/>
              <a:t>) 10</a:t>
            </a:r>
            <a:r>
              <a:rPr lang="ko-KR" altLang="en-US" sz="800" dirty="0"/>
              <a:t>개 노출 이후 </a:t>
            </a:r>
            <a:r>
              <a:rPr lang="ko-KR" altLang="en-US" sz="800" dirty="0" err="1"/>
              <a:t>더보기</a:t>
            </a:r>
            <a:r>
              <a:rPr lang="ko-KR" altLang="en-US" sz="800" dirty="0"/>
              <a:t> 버튼 클릭으로 </a:t>
            </a:r>
            <a:r>
              <a:rPr lang="en-US" altLang="ko-KR" sz="800" dirty="0"/>
              <a:t>10</a:t>
            </a:r>
            <a:r>
              <a:rPr lang="ko-KR" altLang="en-US" sz="800" dirty="0"/>
              <a:t>개씩 추가 로드</a:t>
            </a:r>
            <a:r>
              <a:rPr lang="en-US" altLang="ko-KR" sz="800" dirty="0"/>
              <a:t/>
            </a:r>
            <a:br>
              <a:rPr lang="en-US" altLang="ko-KR" sz="800" dirty="0"/>
            </a:br>
            <a:endParaRPr lang="en-US" altLang="ko-KR" sz="8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입찰공고통합목록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34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781461" y="3684828"/>
            <a:ext cx="2186266" cy="467617"/>
            <a:chOff x="781461" y="2610063"/>
            <a:chExt cx="2186266" cy="467617"/>
          </a:xfrm>
        </p:grpSpPr>
        <p:sp>
          <p:nvSpPr>
            <p:cNvPr id="55" name="TextBox 58">
              <a:extLst>
                <a:ext uri="{FF2B5EF4-FFF2-40B4-BE49-F238E27FC236}">
                  <a16:creationId xmlns:a16="http://schemas.microsoft.com/office/drawing/2014/main" id="{02FC114B-B48B-345F-BD70-2B5A196F5B3E}"/>
                </a:ext>
              </a:extLst>
            </p:cNvPr>
            <p:cNvSpPr txBox="1"/>
            <p:nvPr/>
          </p:nvSpPr>
          <p:spPr>
            <a:xfrm>
              <a:off x="808106" y="2831459"/>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mn-ea"/>
                </a:rPr>
                <a:t>G2B</a:t>
              </a: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en-US" altLang="ko-KR" sz="700" dirty="0" smtClean="0"/>
                <a:t>2026LGM000604191-01</a:t>
              </a:r>
              <a:endParaRPr lang="en-US" altLang="ko-KR" sz="700" dirty="0"/>
            </a:p>
            <a:p>
              <a:r>
                <a:rPr lang="en-US" altLang="ko-KR" sz="900" b="1" dirty="0" smtClean="0"/>
                <a:t>(</a:t>
              </a:r>
              <a:r>
                <a:rPr lang="ko-KR" altLang="en-US" sz="900" b="1" dirty="0" smtClean="0"/>
                <a:t>입찰 건명</a:t>
              </a:r>
              <a:r>
                <a:rPr lang="en-US" altLang="ko-KR" sz="900" b="1" dirty="0" smtClean="0"/>
                <a:t>) </a:t>
              </a:r>
              <a:r>
                <a:rPr lang="ko-KR" altLang="en-US" sz="900" b="1" dirty="0" err="1" smtClean="0"/>
                <a:t>입찰건명을</a:t>
              </a:r>
              <a:r>
                <a:rPr lang="ko-KR" altLang="en-US" sz="900" b="1" dirty="0" smtClean="0"/>
                <a:t> 노출하는 영역</a:t>
              </a:r>
              <a:endParaRPr lang="en-US" altLang="ko-KR" sz="900" b="1" dirty="0" smtClean="0"/>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용역</a:t>
              </a:r>
              <a:endParaRPr lang="ko-KR" altLang="en-US" sz="600" dirty="0">
                <a:solidFill>
                  <a:schemeClr val="dk1"/>
                </a:solidFill>
              </a:endParaRP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경쟁입찰</a:t>
              </a:r>
              <a:endParaRPr lang="ko-KR" altLang="en-US" sz="600" dirty="0"/>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19209" y="6408895"/>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5875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63666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32918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36052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44251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8" name="그룹 177"/>
          <p:cNvGrpSpPr/>
          <p:nvPr/>
        </p:nvGrpSpPr>
        <p:grpSpPr>
          <a:xfrm>
            <a:off x="767702" y="2696788"/>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299303" cy="155984"/>
              <a:chOff x="808107" y="2288229"/>
              <a:chExt cx="1189739"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83" name="타원 182"/>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32322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aphicFrame>
        <p:nvGraphicFramePr>
          <p:cNvPr id="3" name="표 2"/>
          <p:cNvGraphicFramePr>
            <a:graphicFrameLocks noGrp="1"/>
          </p:cNvGraphicFramePr>
          <p:nvPr>
            <p:extLst>
              <p:ext uri="{D42A27DB-BD31-4B8C-83A1-F6EECF244321}">
                <p14:modId xmlns:p14="http://schemas.microsoft.com/office/powerpoint/2010/main" val="2636001762"/>
              </p:ext>
            </p:extLst>
          </p:nvPr>
        </p:nvGraphicFramePr>
        <p:xfrm>
          <a:off x="3551340" y="1484491"/>
          <a:ext cx="3422971" cy="1277005"/>
        </p:xfrm>
        <a:graphic>
          <a:graphicData uri="http://schemas.openxmlformats.org/drawingml/2006/table">
            <a:tbl>
              <a:tblPr firstRow="1" bandRow="1">
                <a:tableStyleId>{5C22544A-7EE6-4342-B048-85BDC9FD1C3A}</a:tableStyleId>
              </a:tblPr>
              <a:tblGrid>
                <a:gridCol w="1038646">
                  <a:extLst>
                    <a:ext uri="{9D8B030D-6E8A-4147-A177-3AD203B41FA5}">
                      <a16:colId xmlns:a16="http://schemas.microsoft.com/office/drawing/2014/main" val="3629403149"/>
                    </a:ext>
                  </a:extLst>
                </a:gridCol>
                <a:gridCol w="1256609">
                  <a:extLst>
                    <a:ext uri="{9D8B030D-6E8A-4147-A177-3AD203B41FA5}">
                      <a16:colId xmlns:a16="http://schemas.microsoft.com/office/drawing/2014/main" val="1460515021"/>
                    </a:ext>
                  </a:extLst>
                </a:gridCol>
                <a:gridCol w="1127716">
                  <a:extLst>
                    <a:ext uri="{9D8B030D-6E8A-4147-A177-3AD203B41FA5}">
                      <a16:colId xmlns:a16="http://schemas.microsoft.com/office/drawing/2014/main" val="1918560194"/>
                    </a:ext>
                  </a:extLst>
                </a:gridCol>
              </a:tblGrid>
              <a:tr h="150634">
                <a:tc gridSpan="3">
                  <a:txBody>
                    <a:bodyPr/>
                    <a:lstStyle/>
                    <a:p>
                      <a:pPr algn="ctr" latinLnBrk="1"/>
                      <a:r>
                        <a:rPr lang="ko-KR" altLang="en-US" sz="500" b="1" dirty="0" err="1" smtClean="0">
                          <a:solidFill>
                            <a:schemeClr val="tx1"/>
                          </a:solidFill>
                        </a:rPr>
                        <a:t>표시레이블</a:t>
                      </a:r>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2803010"/>
                  </a:ext>
                </a:extLst>
              </a:tr>
              <a:tr h="103749">
                <a:tc>
                  <a:txBody>
                    <a:bodyPr/>
                    <a:lstStyle/>
                    <a:p>
                      <a:pPr algn="ctr" latinLnBrk="1"/>
                      <a:r>
                        <a:rPr lang="ko-KR" altLang="en-US" sz="500" b="1" dirty="0" err="1" smtClean="0">
                          <a:solidFill>
                            <a:schemeClr val="accent1"/>
                          </a:solidFill>
                        </a:rPr>
                        <a:t>업무구분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b="1" dirty="0" err="1" smtClean="0">
                          <a:solidFill>
                            <a:schemeClr val="accent1"/>
                          </a:solidFill>
                        </a:rPr>
                        <a:t>입찰구분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b="1" dirty="0" err="1" smtClean="0">
                          <a:solidFill>
                            <a:schemeClr val="accent1"/>
                          </a:solidFill>
                        </a:rPr>
                        <a:t>공고구분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24346786"/>
                  </a:ext>
                </a:extLst>
              </a:tr>
              <a:tr h="103749">
                <a:tc>
                  <a:txBody>
                    <a:bodyPr/>
                    <a:lstStyle/>
                    <a:p>
                      <a:pPr algn="ctr" latinLnBrk="1"/>
                      <a:r>
                        <a:rPr lang="ko-KR" altLang="en-US" sz="500" dirty="0" smtClean="0"/>
                        <a:t>전체</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t>경쟁입찰</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정상공고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94262836"/>
                  </a:ext>
                </a:extLst>
              </a:tr>
              <a:tr h="102097">
                <a:tc>
                  <a:txBody>
                    <a:bodyPr/>
                    <a:lstStyle/>
                    <a:p>
                      <a:pPr algn="ctr" latinLnBrk="1"/>
                      <a:r>
                        <a:rPr lang="ko-KR" altLang="en-US" sz="500" dirty="0" smtClean="0"/>
                        <a:t>물품</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공개수의</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긴급공고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02097">
                <a:tc>
                  <a:txBody>
                    <a:bodyPr/>
                    <a:lstStyle/>
                    <a:p>
                      <a:pPr algn="ctr" latinLnBrk="1"/>
                      <a:r>
                        <a:rPr lang="ko-KR" altLang="en-US" sz="500" dirty="0" smtClean="0"/>
                        <a:t>용역</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t>사전심사</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정정공고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75728283"/>
                  </a:ext>
                </a:extLst>
              </a:tr>
              <a:tr h="102097">
                <a:tc>
                  <a:txBody>
                    <a:bodyPr/>
                    <a:lstStyle/>
                    <a:p>
                      <a:pPr algn="ctr" latinLnBrk="1"/>
                      <a:r>
                        <a:rPr lang="ko-KR" altLang="en-US" sz="500" dirty="0" smtClean="0"/>
                        <a:t>공사</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취소공고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02097">
                <a:tc>
                  <a:txBody>
                    <a:bodyPr/>
                    <a:lstStyle/>
                    <a:p>
                      <a:pPr algn="ctr" latinLnBrk="1"/>
                      <a:r>
                        <a:rPr lang="ko-KR" altLang="en-US" sz="500" dirty="0" smtClean="0"/>
                        <a:t>국외</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연기공고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47315877"/>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재공고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갱신공고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92592636"/>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긴급공고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70168100"/>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재공고</a:t>
                      </a:r>
                      <a:r>
                        <a:rPr lang="en-US" altLang="ko-KR" sz="500" dirty="0" smtClean="0"/>
                        <a:t>(3</a:t>
                      </a:r>
                      <a:r>
                        <a:rPr lang="ko-KR" altLang="en-US" sz="500" dirty="0" smtClean="0"/>
                        <a:t>차</a:t>
                      </a:r>
                      <a:r>
                        <a:rPr lang="en-US" altLang="ko-KR" sz="500" dirty="0" smtClean="0"/>
                        <a:t>)</a:t>
                      </a:r>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5870243"/>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08406180"/>
                  </a:ext>
                </a:extLst>
              </a:tr>
            </a:tbl>
          </a:graphicData>
        </a:graphic>
      </p:graphicFrame>
      <p:sp>
        <p:nvSpPr>
          <p:cNvPr id="199" name="TextBox 198">
            <a:extLst>
              <a:ext uri="{FF2B5EF4-FFF2-40B4-BE49-F238E27FC236}">
                <a16:creationId xmlns:a16="http://schemas.microsoft.com/office/drawing/2014/main" id="{FFC49AEA-2A8F-250C-A86A-A7751D9706C3}"/>
              </a:ext>
            </a:extLst>
          </p:cNvPr>
          <p:cNvSpPr txBox="1"/>
          <p:nvPr/>
        </p:nvSpPr>
        <p:spPr>
          <a:xfrm>
            <a:off x="778515" y="3301231"/>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3297177"/>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3297177"/>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399000"/>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677960" y="1582647"/>
            <a:ext cx="2714637" cy="686386"/>
            <a:chOff x="677960" y="1582647"/>
            <a:chExt cx="2714637" cy="686386"/>
          </a:xfrm>
        </p:grpSpPr>
        <p:sp>
          <p:nvSpPr>
            <p:cNvPr id="208" name="TextBox 207">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smtClean="0">
                  <a:latin typeface="+mn-ea"/>
                </a:rPr>
                <a:t>입찰공고 </a:t>
              </a:r>
              <a:r>
                <a:rPr lang="ko-KR" altLang="en-US" sz="800" dirty="0" err="1" smtClean="0">
                  <a:latin typeface="+mn-ea"/>
                </a:rPr>
                <a:t>통합목록</a:t>
              </a:r>
              <a:endParaRPr lang="ko-KR" altLang="en-US" sz="800" dirty="0">
                <a:latin typeface="+mn-ea"/>
              </a:endParaRP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0" name="그룹 209"/>
            <p:cNvGrpSpPr/>
            <p:nvPr/>
          </p:nvGrpSpPr>
          <p:grpSpPr>
            <a:xfrm rot="5400000">
              <a:off x="852159" y="2062596"/>
              <a:ext cx="94010" cy="47005"/>
              <a:chOff x="6812560" y="3297172"/>
              <a:chExt cx="94010" cy="47005"/>
            </a:xfrm>
          </p:grpSpPr>
          <p:cxnSp>
            <p:nvCxnSpPr>
              <p:cNvPr id="211" name="직선 연결선 2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13" name="그룹 212"/>
            <p:cNvGrpSpPr/>
            <p:nvPr/>
          </p:nvGrpSpPr>
          <p:grpSpPr>
            <a:xfrm>
              <a:off x="677960" y="1582647"/>
              <a:ext cx="2712027" cy="324286"/>
              <a:chOff x="677960" y="1582647"/>
              <a:chExt cx="2712027" cy="324286"/>
            </a:xfrm>
          </p:grpSpPr>
          <p:pic>
            <p:nvPicPr>
              <p:cNvPr id="21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15" name="직선 연결선 21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타원 21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타원 21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타원 21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60" name="타원 159">
            <a:extLst>
              <a:ext uri="{FF2B5EF4-FFF2-40B4-BE49-F238E27FC236}">
                <a16:creationId xmlns:a16="http://schemas.microsoft.com/office/drawing/2014/main" id="{37A7FF4F-0EAA-1463-560A-D5EC24416103}"/>
              </a:ext>
            </a:extLst>
          </p:cNvPr>
          <p:cNvSpPr/>
          <p:nvPr/>
        </p:nvSpPr>
        <p:spPr>
          <a:xfrm>
            <a:off x="3500148" y="14782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a:t>3-1</a:t>
            </a:r>
            <a:endParaRPr lang="ko-KR" altLang="en-US" sz="600" b="1" dirty="0"/>
          </a:p>
        </p:txBody>
      </p:sp>
      <p:grpSp>
        <p:nvGrpSpPr>
          <p:cNvPr id="16" name="그룹 15"/>
          <p:cNvGrpSpPr/>
          <p:nvPr/>
        </p:nvGrpSpPr>
        <p:grpSpPr>
          <a:xfrm>
            <a:off x="808106" y="4399754"/>
            <a:ext cx="2461380" cy="692497"/>
            <a:chOff x="783686" y="4433552"/>
            <a:chExt cx="2461380" cy="692497"/>
          </a:xfrm>
        </p:grpSpPr>
        <p:sp>
          <p:nvSpPr>
            <p:cNvPr id="240" name="TextBox 59">
              <a:extLst>
                <a:ext uri="{FF2B5EF4-FFF2-40B4-BE49-F238E27FC236}">
                  <a16:creationId xmlns:a16="http://schemas.microsoft.com/office/drawing/2014/main" id="{F77C802D-3BC8-270F-87FC-5F442BD8054D}"/>
                </a:ext>
              </a:extLst>
            </p:cNvPr>
            <p:cNvSpPr txBox="1"/>
            <p:nvPr/>
          </p:nvSpPr>
          <p:spPr>
            <a:xfrm>
              <a:off x="783686" y="4433552"/>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a:latin typeface="+mn-ea"/>
                </a:rPr>
                <a:t>기초예가금액</a:t>
              </a:r>
              <a:endParaRPr lang="ko-KR" altLang="en-US" sz="500" dirty="0">
                <a:latin typeface="+mn-ea"/>
              </a:endParaRPr>
            </a:p>
            <a:p>
              <a:pPr>
                <a:lnSpc>
                  <a:spcPct val="150000"/>
                </a:lnSpc>
              </a:pPr>
              <a:r>
                <a:rPr lang="ko-KR" altLang="en-US" sz="600" dirty="0" smtClean="0">
                  <a:latin typeface="+mn-ea"/>
                </a:rPr>
                <a:t>생산능력제출마감일시</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p:txBody>
        </p:sp>
        <p:sp>
          <p:nvSpPr>
            <p:cNvPr id="242" name="TextBox 59">
              <a:extLst>
                <a:ext uri="{FF2B5EF4-FFF2-40B4-BE49-F238E27FC236}">
                  <a16:creationId xmlns:a16="http://schemas.microsoft.com/office/drawing/2014/main" id="{F77C802D-3BC8-270F-87FC-5F442BD8054D}"/>
                </a:ext>
              </a:extLst>
            </p:cNvPr>
            <p:cNvSpPr txBox="1"/>
            <p:nvPr/>
          </p:nvSpPr>
          <p:spPr>
            <a:xfrm>
              <a:off x="2757753" y="4433552"/>
              <a:ext cx="487313"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a:p>
              <a:pPr>
                <a:lnSpc>
                  <a:spcPct val="150000"/>
                </a:lnSpc>
              </a:pPr>
              <a:r>
                <a:rPr lang="en-US" altLang="ko-KR" sz="600" dirty="0" smtClean="0">
                  <a:latin typeface="+mn-ea"/>
                </a:rPr>
                <a:t>2026-07-15</a:t>
              </a:r>
            </a:p>
            <a:p>
              <a:pPr>
                <a:lnSpc>
                  <a:spcPct val="150000"/>
                </a:lnSpc>
              </a:pPr>
              <a:r>
                <a:rPr lang="en-US" altLang="ko-KR" sz="600" dirty="0" smtClean="0">
                  <a:latin typeface="+mn-ea"/>
                </a:rPr>
                <a:t>2026-07-17</a:t>
              </a:r>
              <a:br>
                <a:rPr lang="en-US" altLang="ko-KR" sz="600" dirty="0" smtClean="0">
                  <a:latin typeface="+mn-ea"/>
                </a:rPr>
              </a:br>
              <a:r>
                <a:rPr lang="en-US" altLang="ko-KR" sz="600" dirty="0" smtClean="0">
                  <a:latin typeface="+mn-ea"/>
                </a:rPr>
                <a:t>2026-07-18</a:t>
              </a:r>
              <a:endParaRPr lang="en-US" altLang="ko-KR" sz="600" dirty="0">
                <a:latin typeface="+mn-ea"/>
              </a:endParaRPr>
            </a:p>
          </p:txBody>
        </p:sp>
      </p:grpSp>
      <p:sp>
        <p:nvSpPr>
          <p:cNvPr id="243" name="모서리가 둥근 직사각형 242"/>
          <p:cNvSpPr/>
          <p:nvPr/>
        </p:nvSpPr>
        <p:spPr>
          <a:xfrm>
            <a:off x="1522790" y="3684828"/>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취급공고</a:t>
            </a:r>
            <a:endParaRPr lang="ko-KR" altLang="en-US" sz="600" dirty="0"/>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758922" y="51941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5" name="그룹 244"/>
          <p:cNvGrpSpPr/>
          <p:nvPr/>
        </p:nvGrpSpPr>
        <p:grpSpPr>
          <a:xfrm>
            <a:off x="783686" y="5271868"/>
            <a:ext cx="2186266" cy="467617"/>
            <a:chOff x="781461" y="2610063"/>
            <a:chExt cx="2186266" cy="467617"/>
          </a:xfrm>
        </p:grpSpPr>
        <p:sp>
          <p:nvSpPr>
            <p:cNvPr id="246" name="TextBox 58">
              <a:extLst>
                <a:ext uri="{FF2B5EF4-FFF2-40B4-BE49-F238E27FC236}">
                  <a16:creationId xmlns:a16="http://schemas.microsoft.com/office/drawing/2014/main" id="{02FC114B-B48B-345F-BD70-2B5A196F5B3E}"/>
                </a:ext>
              </a:extLst>
            </p:cNvPr>
            <p:cNvSpPr txBox="1"/>
            <p:nvPr/>
          </p:nvSpPr>
          <p:spPr>
            <a:xfrm>
              <a:off x="808106" y="2831459"/>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latin typeface="+mn-ea"/>
                </a:rPr>
                <a:t>: </a:t>
              </a:r>
              <a:r>
                <a:rPr lang="en-US" altLang="ko-KR" sz="700" dirty="0" smtClean="0"/>
                <a:t>2026LGM000604191-01</a:t>
              </a:r>
              <a:endParaRPr lang="en-US" altLang="ko-KR" sz="700" dirty="0"/>
            </a:p>
            <a:p>
              <a:r>
                <a:rPr lang="en-US" altLang="ko-KR" sz="900" b="1" dirty="0">
                  <a:latin typeface="+mn-ea"/>
                </a:rPr>
                <a:t>(</a:t>
              </a:r>
              <a:r>
                <a:rPr lang="ko-KR" altLang="en-US" sz="900" b="1" dirty="0" err="1">
                  <a:latin typeface="+mn-ea"/>
                </a:rPr>
                <a:t>공사명</a:t>
              </a:r>
              <a:r>
                <a:rPr lang="en-US" altLang="ko-KR" sz="900" b="1" dirty="0">
                  <a:latin typeface="+mn-ea"/>
                </a:rPr>
                <a:t>) </a:t>
              </a:r>
              <a:r>
                <a:rPr lang="ko-KR" altLang="en-US" sz="900" b="1" dirty="0">
                  <a:latin typeface="+mn-ea"/>
                </a:rPr>
                <a:t>커피나인청사 </a:t>
              </a:r>
              <a:r>
                <a:rPr lang="ko-KR" altLang="en-US" sz="900" b="1" dirty="0" err="1">
                  <a:latin typeface="+mn-ea"/>
                </a:rPr>
                <a:t>냉난방기</a:t>
              </a:r>
              <a:r>
                <a:rPr lang="ko-KR" altLang="en-US" sz="900" b="1" dirty="0">
                  <a:latin typeface="+mn-ea"/>
                </a:rPr>
                <a:t> </a:t>
              </a:r>
              <a:r>
                <a:rPr lang="ko-KR" altLang="en-US" sz="900" b="1" dirty="0" err="1">
                  <a:latin typeface="+mn-ea"/>
                </a:rPr>
                <a:t>교체공사</a:t>
              </a:r>
              <a:endParaRPr lang="ko-KR" altLang="en-US" sz="900" b="1" dirty="0"/>
            </a:p>
          </p:txBody>
        </p:sp>
        <p:sp>
          <p:nvSpPr>
            <p:cNvPr id="247" name="모서리가 둥근 직사각형 24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공사</a:t>
              </a:r>
              <a:endParaRPr lang="ko-KR" altLang="en-US" sz="600" dirty="0">
                <a:solidFill>
                  <a:schemeClr val="dk1"/>
                </a:solidFill>
              </a:endParaRPr>
            </a:p>
          </p:txBody>
        </p:sp>
        <p:sp>
          <p:nvSpPr>
            <p:cNvPr id="248" name="모서리가 둥근 직사각형 24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공개수의</a:t>
              </a:r>
              <a:endParaRPr lang="ko-KR" altLang="en-US" sz="600" dirty="0"/>
            </a:p>
          </p:txBody>
        </p:sp>
      </p:grpSp>
      <p:grpSp>
        <p:nvGrpSpPr>
          <p:cNvPr id="250" name="그룹 249"/>
          <p:cNvGrpSpPr/>
          <p:nvPr/>
        </p:nvGrpSpPr>
        <p:grpSpPr>
          <a:xfrm>
            <a:off x="810331" y="5986794"/>
            <a:ext cx="2461380" cy="276999"/>
            <a:chOff x="783686" y="4433552"/>
            <a:chExt cx="2461380" cy="276999"/>
          </a:xfrm>
        </p:grpSpPr>
        <p:sp>
          <p:nvSpPr>
            <p:cNvPr id="251" name="TextBox 59">
              <a:extLst>
                <a:ext uri="{FF2B5EF4-FFF2-40B4-BE49-F238E27FC236}">
                  <a16:creationId xmlns:a16="http://schemas.microsoft.com/office/drawing/2014/main" id="{F77C802D-3BC8-270F-87FC-5F442BD8054D}"/>
                </a:ext>
              </a:extLst>
            </p:cNvPr>
            <p:cNvSpPr txBox="1"/>
            <p:nvPr/>
          </p:nvSpPr>
          <p:spPr>
            <a:xfrm>
              <a:off x="783686" y="4433552"/>
              <a:ext cx="461665" cy="2769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smtClean="0">
                  <a:latin typeface="+mn-ea"/>
                </a:rPr>
                <a:t>기초예가금액</a:t>
              </a:r>
              <a:endParaRPr lang="ko-KR" altLang="en-US" sz="500" dirty="0">
                <a:latin typeface="+mn-ea"/>
              </a:endParaRPr>
            </a:p>
          </p:txBody>
        </p:sp>
        <p:sp>
          <p:nvSpPr>
            <p:cNvPr id="252" name="TextBox 59">
              <a:extLst>
                <a:ext uri="{FF2B5EF4-FFF2-40B4-BE49-F238E27FC236}">
                  <a16:creationId xmlns:a16="http://schemas.microsoft.com/office/drawing/2014/main" id="{F77C802D-3BC8-270F-87FC-5F442BD8054D}"/>
                </a:ext>
              </a:extLst>
            </p:cNvPr>
            <p:cNvSpPr txBox="1"/>
            <p:nvPr/>
          </p:nvSpPr>
          <p:spPr>
            <a:xfrm>
              <a:off x="2757753" y="4433552"/>
              <a:ext cx="487313" cy="2769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p:txBody>
        </p:sp>
      </p:grpSp>
      <p:sp>
        <p:nvSpPr>
          <p:cNvPr id="253" name="모서리가 둥근 직사각형 252"/>
          <p:cNvSpPr/>
          <p:nvPr/>
        </p:nvSpPr>
        <p:spPr>
          <a:xfrm>
            <a:off x="1525015" y="5271868"/>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재공고</a:t>
            </a:r>
            <a:endParaRPr lang="ko-KR" altLang="en-US" sz="600" dirty="0"/>
          </a:p>
        </p:txBody>
      </p:sp>
      <p:sp>
        <p:nvSpPr>
          <p:cNvPr id="254" name="타원 253">
            <a:extLst>
              <a:ext uri="{FF2B5EF4-FFF2-40B4-BE49-F238E27FC236}">
                <a16:creationId xmlns:a16="http://schemas.microsoft.com/office/drawing/2014/main" id="{37A7FF4F-0EAA-1463-560A-D5EC24416103}"/>
              </a:ext>
            </a:extLst>
          </p:cNvPr>
          <p:cNvSpPr/>
          <p:nvPr/>
        </p:nvSpPr>
        <p:spPr>
          <a:xfrm>
            <a:off x="635976" y="228572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255" name="타원 254">
            <a:extLst>
              <a:ext uri="{FF2B5EF4-FFF2-40B4-BE49-F238E27FC236}">
                <a16:creationId xmlns:a16="http://schemas.microsoft.com/office/drawing/2014/main" id="{37A7FF4F-0EAA-1463-560A-D5EC24416103}"/>
              </a:ext>
            </a:extLst>
          </p:cNvPr>
          <p:cNvSpPr/>
          <p:nvPr/>
        </p:nvSpPr>
        <p:spPr>
          <a:xfrm>
            <a:off x="635976" y="323153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690880" y="361744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3-1</a:t>
            </a:r>
            <a:endParaRPr lang="ko-KR" altLang="en-US" sz="5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570735" y="60306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259" name="타원 258">
            <a:extLst>
              <a:ext uri="{FF2B5EF4-FFF2-40B4-BE49-F238E27FC236}">
                <a16:creationId xmlns:a16="http://schemas.microsoft.com/office/drawing/2014/main" id="{37A7FF4F-0EAA-1463-560A-D5EC24416103}"/>
              </a:ext>
            </a:extLst>
          </p:cNvPr>
          <p:cNvSpPr/>
          <p:nvPr/>
        </p:nvSpPr>
        <p:spPr>
          <a:xfrm>
            <a:off x="2645799" y="2624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60" name="타원 259">
            <a:extLst>
              <a:ext uri="{FF2B5EF4-FFF2-40B4-BE49-F238E27FC236}">
                <a16:creationId xmlns:a16="http://schemas.microsoft.com/office/drawing/2014/main" id="{37A7FF4F-0EAA-1463-560A-D5EC24416103}"/>
              </a:ext>
            </a:extLst>
          </p:cNvPr>
          <p:cNvSpPr/>
          <p:nvPr/>
        </p:nvSpPr>
        <p:spPr>
          <a:xfrm>
            <a:off x="690880" y="38552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3-2</a:t>
            </a:r>
            <a:endParaRPr lang="ko-KR" altLang="en-US" sz="600" b="1" dirty="0"/>
          </a:p>
        </p:txBody>
      </p:sp>
      <p:sp>
        <p:nvSpPr>
          <p:cNvPr id="261" name="타원 260">
            <a:extLst>
              <a:ext uri="{FF2B5EF4-FFF2-40B4-BE49-F238E27FC236}">
                <a16:creationId xmlns:a16="http://schemas.microsoft.com/office/drawing/2014/main" id="{37A7FF4F-0EAA-1463-560A-D5EC24416103}"/>
              </a:ext>
            </a:extLst>
          </p:cNvPr>
          <p:cNvSpPr/>
          <p:nvPr/>
        </p:nvSpPr>
        <p:spPr>
          <a:xfrm>
            <a:off x="690880" y="437973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3-5</a:t>
            </a:r>
            <a:endParaRPr lang="ko-KR" altLang="en-US" sz="600" b="1" dirty="0"/>
          </a:p>
        </p:txBody>
      </p:sp>
      <p:sp>
        <p:nvSpPr>
          <p:cNvPr id="265" name="타원 264">
            <a:extLst>
              <a:ext uri="{FF2B5EF4-FFF2-40B4-BE49-F238E27FC236}">
                <a16:creationId xmlns:a16="http://schemas.microsoft.com/office/drawing/2014/main" id="{37A7FF4F-0EAA-1463-560A-D5EC24416103}"/>
              </a:ext>
            </a:extLst>
          </p:cNvPr>
          <p:cNvSpPr/>
          <p:nvPr/>
        </p:nvSpPr>
        <p:spPr>
          <a:xfrm>
            <a:off x="2705049" y="397276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3-3</a:t>
            </a:r>
            <a:endParaRPr lang="ko-KR" altLang="en-US" sz="600" b="1" dirty="0"/>
          </a:p>
        </p:txBody>
      </p:sp>
      <p:sp>
        <p:nvSpPr>
          <p:cNvPr id="266" name="타원 265">
            <a:extLst>
              <a:ext uri="{FF2B5EF4-FFF2-40B4-BE49-F238E27FC236}">
                <a16:creationId xmlns:a16="http://schemas.microsoft.com/office/drawing/2014/main" id="{37A7FF4F-0EAA-1463-560A-D5EC24416103}"/>
              </a:ext>
            </a:extLst>
          </p:cNvPr>
          <p:cNvSpPr/>
          <p:nvPr/>
        </p:nvSpPr>
        <p:spPr>
          <a:xfrm>
            <a:off x="690880" y="55411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3-4</a:t>
            </a:r>
            <a:endParaRPr lang="ko-KR" altLang="en-US" sz="6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6072524"/>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5" name="타원 274">
            <a:extLst>
              <a:ext uri="{FF2B5EF4-FFF2-40B4-BE49-F238E27FC236}">
                <a16:creationId xmlns:a16="http://schemas.microsoft.com/office/drawing/2014/main" id="{37A7FF4F-0EAA-1463-560A-D5EC24416103}"/>
              </a:ext>
            </a:extLst>
          </p:cNvPr>
          <p:cNvSpPr/>
          <p:nvPr/>
        </p:nvSpPr>
        <p:spPr>
          <a:xfrm>
            <a:off x="771829" y="269949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1397558" y="269949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277" name="타원 276">
            <a:extLst>
              <a:ext uri="{FF2B5EF4-FFF2-40B4-BE49-F238E27FC236}">
                <a16:creationId xmlns:a16="http://schemas.microsoft.com/office/drawing/2014/main" id="{37A7FF4F-0EAA-1463-560A-D5EC24416103}"/>
              </a:ext>
            </a:extLst>
          </p:cNvPr>
          <p:cNvSpPr/>
          <p:nvPr/>
        </p:nvSpPr>
        <p:spPr>
          <a:xfrm>
            <a:off x="784493" y="29455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1-3</a:t>
            </a:r>
            <a:endParaRPr lang="ko-KR" altLang="en-US" sz="600" b="1" dirty="0"/>
          </a:p>
        </p:txBody>
      </p:sp>
      <p:graphicFrame>
        <p:nvGraphicFramePr>
          <p:cNvPr id="279" name="표 278"/>
          <p:cNvGraphicFramePr>
            <a:graphicFrameLocks noGrp="1"/>
          </p:cNvGraphicFramePr>
          <p:nvPr>
            <p:extLst>
              <p:ext uri="{D42A27DB-BD31-4B8C-83A1-F6EECF244321}">
                <p14:modId xmlns:p14="http://schemas.microsoft.com/office/powerpoint/2010/main" val="377985126"/>
              </p:ext>
            </p:extLst>
          </p:nvPr>
        </p:nvGraphicFramePr>
        <p:xfrm>
          <a:off x="3540760" y="3022203"/>
          <a:ext cx="3438630" cy="272170"/>
        </p:xfrm>
        <a:graphic>
          <a:graphicData uri="http://schemas.openxmlformats.org/drawingml/2006/table">
            <a:tbl>
              <a:tblPr firstRow="1" bandRow="1">
                <a:tableStyleId>{5C22544A-7EE6-4342-B048-85BDC9FD1C3A}</a:tableStyleId>
              </a:tblPr>
              <a:tblGrid>
                <a:gridCol w="670256">
                  <a:extLst>
                    <a:ext uri="{9D8B030D-6E8A-4147-A177-3AD203B41FA5}">
                      <a16:colId xmlns:a16="http://schemas.microsoft.com/office/drawing/2014/main" val="3629403149"/>
                    </a:ext>
                  </a:extLst>
                </a:gridCol>
                <a:gridCol w="604824">
                  <a:extLst>
                    <a:ext uri="{9D8B030D-6E8A-4147-A177-3AD203B41FA5}">
                      <a16:colId xmlns:a16="http://schemas.microsoft.com/office/drawing/2014/main" val="1460515021"/>
                    </a:ext>
                  </a:extLst>
                </a:gridCol>
                <a:gridCol w="574040">
                  <a:extLst>
                    <a:ext uri="{9D8B030D-6E8A-4147-A177-3AD203B41FA5}">
                      <a16:colId xmlns:a16="http://schemas.microsoft.com/office/drawing/2014/main" val="1918560194"/>
                    </a:ext>
                  </a:extLst>
                </a:gridCol>
                <a:gridCol w="797560">
                  <a:extLst>
                    <a:ext uri="{9D8B030D-6E8A-4147-A177-3AD203B41FA5}">
                      <a16:colId xmlns:a16="http://schemas.microsoft.com/office/drawing/2014/main" val="53436730"/>
                    </a:ext>
                  </a:extLst>
                </a:gridCol>
                <a:gridCol w="791950">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bl>
          </a:graphicData>
        </a:graphic>
      </p:graphicFrame>
      <p:sp>
        <p:nvSpPr>
          <p:cNvPr id="18" name="직사각형 17"/>
          <p:cNvSpPr/>
          <p:nvPr/>
        </p:nvSpPr>
        <p:spPr>
          <a:xfrm>
            <a:off x="3458684" y="2815883"/>
            <a:ext cx="1141201" cy="184666"/>
          </a:xfrm>
          <a:prstGeom prst="rect">
            <a:avLst/>
          </a:prstGeom>
        </p:spPr>
        <p:txBody>
          <a:bodyPr wrap="square">
            <a:spAutoFit/>
          </a:bodyPr>
          <a:lstStyle/>
          <a:p>
            <a:r>
              <a:rPr lang="ko-KR" altLang="en-US" sz="600" b="1" dirty="0" smtClean="0"/>
              <a:t>화면 </a:t>
            </a:r>
            <a:r>
              <a:rPr lang="ko-KR" altLang="en-US" sz="600" b="1" dirty="0" err="1" smtClean="0"/>
              <a:t>조회및</a:t>
            </a:r>
            <a:r>
              <a:rPr lang="ko-KR" altLang="en-US" sz="600" b="1" dirty="0" smtClean="0"/>
              <a:t> 접근 정책</a:t>
            </a:r>
            <a:endParaRPr lang="ko-KR" altLang="en-US" sz="600" b="1" dirty="0"/>
          </a:p>
        </p:txBody>
      </p:sp>
      <p:sp>
        <p:nvSpPr>
          <p:cNvPr id="280" name="직사각형 2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설명 추가</a:t>
            </a:r>
            <a:endParaRPr lang="ko-KR" altLang="en-US" dirty="0"/>
          </a:p>
        </p:txBody>
      </p:sp>
      <p:sp>
        <p:nvSpPr>
          <p:cNvPr id="281" name="직사각형 280"/>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sp>
        <p:nvSpPr>
          <p:cNvPr id="282" name="직사각형 281"/>
          <p:cNvSpPr/>
          <p:nvPr/>
        </p:nvSpPr>
        <p:spPr>
          <a:xfrm>
            <a:off x="8223250" y="79974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설명 추가</a:t>
            </a:r>
            <a:endParaRPr lang="ko-KR" altLang="en-US" dirty="0"/>
          </a:p>
        </p:txBody>
      </p:sp>
      <p:sp>
        <p:nvSpPr>
          <p:cNvPr id="283" name="직사각형 282"/>
          <p:cNvSpPr/>
          <p:nvPr/>
        </p:nvSpPr>
        <p:spPr>
          <a:xfrm>
            <a:off x="9906000" y="799744"/>
            <a:ext cx="1682750" cy="21946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spTree>
    <p:extLst>
      <p:ext uri="{BB962C8B-B14F-4D97-AF65-F5344CB8AC3E}">
        <p14:creationId xmlns:p14="http://schemas.microsoft.com/office/powerpoint/2010/main" val="174457344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sz="600" dirty="0" err="1"/>
              <a:t>검색필터</a:t>
            </a:r>
            <a:r>
              <a:rPr lang="ko-KR" altLang="en-US" sz="600" dirty="0"/>
              <a:t> 페이지 타이틀</a:t>
            </a:r>
            <a:r>
              <a:rPr lang="en-US" altLang="ko-KR" sz="600" dirty="0"/>
              <a:t/>
            </a:r>
            <a:br>
              <a:rPr lang="en-US" altLang="ko-KR" sz="600" dirty="0"/>
            </a:br>
            <a:r>
              <a:rPr lang="en-US" altLang="ko-KR" sz="600" dirty="0"/>
              <a:t>1-1] </a:t>
            </a:r>
            <a:r>
              <a:rPr lang="ko-KR" altLang="en-US" sz="600" dirty="0"/>
              <a:t>초기화</a:t>
            </a:r>
            <a:r>
              <a:rPr lang="en-US" altLang="ko-KR" sz="600" dirty="0"/>
              <a:t/>
            </a:r>
            <a:br>
              <a:rPr lang="en-US" altLang="ko-KR" sz="600" dirty="0"/>
            </a:br>
            <a:r>
              <a:rPr lang="en-US" altLang="ko-KR" sz="600" dirty="0"/>
              <a:t>1-2] </a:t>
            </a:r>
            <a:r>
              <a:rPr lang="ko-KR" altLang="en-US" sz="600" dirty="0"/>
              <a:t>창 닫기 버튼</a:t>
            </a:r>
            <a:r>
              <a:rPr lang="en-US" altLang="ko-KR" sz="600" dirty="0"/>
              <a:t/>
            </a:r>
            <a:br>
              <a:rPr lang="en-US" altLang="ko-KR" sz="600" dirty="0"/>
            </a:br>
            <a:r>
              <a:rPr lang="ko-KR" altLang="en-US" sz="600" dirty="0"/>
              <a:t>각 </a:t>
            </a:r>
            <a:r>
              <a:rPr lang="ko-KR" altLang="en-US" sz="600" dirty="0" err="1"/>
              <a:t>섹션명</a:t>
            </a:r>
            <a:r>
              <a:rPr lang="ko-KR" altLang="en-US" sz="600" dirty="0"/>
              <a:t> 클릭 시 아코디언 동작</a:t>
            </a:r>
            <a:endParaRPr lang="en-US" altLang="ko-KR" sz="600" dirty="0"/>
          </a:p>
          <a:p>
            <a:pPr marL="228600" indent="-228600">
              <a:buFont typeface="+mj-lt"/>
              <a:buAutoNum type="arabicPeriod"/>
            </a:pPr>
            <a:r>
              <a:rPr lang="ko-KR" altLang="en-US" sz="700" dirty="0" smtClean="0"/>
              <a:t>업무 구분</a:t>
            </a:r>
            <a:r>
              <a:rPr lang="en-US" altLang="ko-KR" sz="700" dirty="0" smtClean="0"/>
              <a:t/>
            </a:r>
            <a:br>
              <a:rPr lang="en-US" altLang="ko-KR" sz="700" dirty="0" smtClean="0"/>
            </a:br>
            <a:r>
              <a:rPr lang="en-US" altLang="ko-KR" sz="700" dirty="0" smtClean="0"/>
              <a:t>- default ) </a:t>
            </a:r>
            <a:r>
              <a:rPr lang="ko-KR" altLang="en-US" sz="700" dirty="0" smtClean="0"/>
              <a:t>전체 </a:t>
            </a:r>
            <a:r>
              <a:rPr lang="en-US" altLang="ko-KR" sz="700" dirty="0" smtClean="0"/>
              <a:t/>
            </a:r>
            <a:br>
              <a:rPr lang="en-US" altLang="ko-KR" sz="700" dirty="0" smtClean="0"/>
            </a:br>
            <a:r>
              <a:rPr lang="en-US" altLang="ko-KR" sz="700" dirty="0" smtClean="0"/>
              <a:t>- </a:t>
            </a:r>
            <a:r>
              <a:rPr lang="ko-KR" altLang="en-US" sz="700" dirty="0" smtClean="0"/>
              <a:t>전체</a:t>
            </a:r>
            <a:r>
              <a:rPr lang="en-US" altLang="ko-KR" sz="700" dirty="0" smtClean="0"/>
              <a:t>,</a:t>
            </a:r>
            <a:r>
              <a:rPr lang="ko-KR" altLang="en-US" sz="700" dirty="0" smtClean="0"/>
              <a:t>물품</a:t>
            </a:r>
            <a:r>
              <a:rPr lang="en-US" altLang="ko-KR" sz="700" dirty="0" smtClean="0"/>
              <a:t>,</a:t>
            </a:r>
            <a:r>
              <a:rPr lang="ko-KR" altLang="en-US" sz="700" dirty="0" smtClean="0"/>
              <a:t>용역</a:t>
            </a:r>
            <a:r>
              <a:rPr lang="en-US" altLang="ko-KR" sz="700" dirty="0" smtClean="0"/>
              <a:t>,</a:t>
            </a:r>
            <a:r>
              <a:rPr lang="ko-KR" altLang="en-US" sz="700" dirty="0" smtClean="0"/>
              <a:t>공사</a:t>
            </a:r>
            <a:r>
              <a:rPr lang="en-US" altLang="ko-KR" sz="700" dirty="0" smtClean="0"/>
              <a:t>,</a:t>
            </a:r>
            <a:r>
              <a:rPr lang="ko-KR" altLang="en-US" sz="700" dirty="0" smtClean="0"/>
              <a:t>국외 </a:t>
            </a:r>
            <a:r>
              <a:rPr lang="en-US" altLang="ko-KR" sz="700" dirty="0" smtClean="0"/>
              <a:t/>
            </a:r>
            <a:br>
              <a:rPr lang="en-US" altLang="ko-KR" sz="700" dirty="0" smtClean="0"/>
            </a:br>
            <a:r>
              <a:rPr lang="en-US" altLang="ko-KR" sz="700" dirty="0" smtClean="0"/>
              <a:t>- </a:t>
            </a:r>
            <a:r>
              <a:rPr lang="ko-KR" altLang="en-US" sz="700" dirty="0" smtClean="0"/>
              <a:t>물품</a:t>
            </a:r>
            <a:r>
              <a:rPr lang="en-US" altLang="ko-KR" sz="700" dirty="0" smtClean="0"/>
              <a:t>, </a:t>
            </a:r>
            <a:r>
              <a:rPr lang="ko-KR" altLang="en-US" sz="700" dirty="0" smtClean="0"/>
              <a:t>용역</a:t>
            </a:r>
            <a:r>
              <a:rPr lang="en-US" altLang="ko-KR" sz="700" dirty="0" smtClean="0"/>
              <a:t>, </a:t>
            </a:r>
            <a:r>
              <a:rPr lang="ko-KR" altLang="en-US" sz="700" dirty="0" smtClean="0"/>
              <a:t>공사</a:t>
            </a:r>
            <a:r>
              <a:rPr lang="en-US" altLang="ko-KR" sz="700" dirty="0" smtClean="0"/>
              <a:t>, </a:t>
            </a:r>
            <a:r>
              <a:rPr lang="ko-KR" altLang="en-US" sz="700" dirty="0" smtClean="0"/>
              <a:t>국외 모두 개별 선택 시 </a:t>
            </a:r>
            <a:r>
              <a:rPr lang="en-US" altLang="ko-KR" sz="700" dirty="0" smtClean="0">
                <a:sym typeface="Wingdings" panose="05000000000000000000" pitchFamily="2" charset="2"/>
              </a:rPr>
              <a:t> </a:t>
            </a:r>
            <a:r>
              <a:rPr lang="ko-KR" altLang="en-US" sz="700" dirty="0" smtClean="0">
                <a:sym typeface="Wingdings" panose="05000000000000000000" pitchFamily="2" charset="2"/>
              </a:rPr>
              <a:t>전체 활성화</a:t>
            </a:r>
            <a:endParaRPr lang="en-US" altLang="ko-KR" sz="700" dirty="0" smtClean="0"/>
          </a:p>
          <a:p>
            <a:pPr marL="228600" indent="-228600">
              <a:buFont typeface="+mj-lt"/>
              <a:buAutoNum type="arabicPeriod"/>
            </a:pPr>
            <a:r>
              <a:rPr lang="ko-KR" altLang="en-US" sz="700" dirty="0" smtClean="0"/>
              <a:t>일자 설정</a:t>
            </a:r>
            <a:r>
              <a:rPr lang="en-US" altLang="ko-KR" sz="700" dirty="0" smtClean="0"/>
              <a:t/>
            </a:r>
            <a:br>
              <a:rPr lang="en-US" altLang="ko-KR" sz="700" dirty="0" smtClean="0"/>
            </a:br>
            <a:r>
              <a:rPr lang="en-US" altLang="ko-KR" sz="700" dirty="0" smtClean="0"/>
              <a:t>- </a:t>
            </a:r>
            <a:r>
              <a:rPr lang="ko-KR" altLang="en-US" sz="700" dirty="0" err="1" smtClean="0"/>
              <a:t>팝업호출</a:t>
            </a:r>
            <a:r>
              <a:rPr lang="ko-KR" altLang="en-US" sz="700" dirty="0" smtClean="0"/>
              <a:t> </a:t>
            </a:r>
            <a:r>
              <a:rPr lang="en-US" altLang="ko-KR" sz="700" dirty="0" smtClean="0"/>
              <a:t>(</a:t>
            </a:r>
            <a:r>
              <a:rPr lang="en-US" altLang="ko-KR" sz="700" dirty="0" smtClean="0">
                <a:latin typeface="+mn-ea"/>
              </a:rPr>
              <a:t>MUI-BD-01-P06)</a:t>
            </a:r>
            <a:r>
              <a:rPr lang="en-US" altLang="ko-KR" sz="700" dirty="0"/>
              <a:t/>
            </a:r>
            <a:br>
              <a:rPr lang="en-US" altLang="ko-KR" sz="700" dirty="0"/>
            </a:br>
            <a:r>
              <a:rPr lang="en-US" altLang="ko-KR" sz="700" dirty="0"/>
              <a:t>- </a:t>
            </a:r>
            <a:r>
              <a:rPr lang="ko-KR" altLang="en-US" sz="700" dirty="0" err="1"/>
              <a:t>개찰일자</a:t>
            </a:r>
            <a:r>
              <a:rPr lang="en-US" altLang="ko-KR" sz="700" dirty="0"/>
              <a:t>, </a:t>
            </a:r>
            <a:r>
              <a:rPr lang="ko-KR" altLang="en-US" sz="700" dirty="0" err="1"/>
              <a:t>공고일자</a:t>
            </a:r>
            <a:r>
              <a:rPr lang="ko-KR" altLang="en-US" sz="700" dirty="0"/>
              <a:t> </a:t>
            </a:r>
            <a:r>
              <a:rPr lang="ko-KR" altLang="en-US" sz="700" dirty="0" err="1"/>
              <a:t>토글</a:t>
            </a:r>
            <a:r>
              <a:rPr lang="ko-KR" altLang="en-US" sz="700" dirty="0"/>
              <a:t> 스위치</a:t>
            </a:r>
            <a:r>
              <a:rPr lang="en-US" altLang="ko-KR" sz="700" dirty="0"/>
              <a:t/>
            </a:r>
            <a:br>
              <a:rPr lang="en-US" altLang="ko-KR" sz="700" dirty="0"/>
            </a:br>
            <a:r>
              <a:rPr lang="en-US" altLang="ko-KR" sz="700" dirty="0" smtClean="0"/>
              <a:t>- </a:t>
            </a:r>
            <a:r>
              <a:rPr lang="en-US" altLang="ko-KR" sz="700" dirty="0"/>
              <a:t>default) </a:t>
            </a:r>
            <a:r>
              <a:rPr lang="ko-KR" altLang="en-US" sz="700" dirty="0"/>
              <a:t>당일 포함 과거 </a:t>
            </a:r>
            <a:r>
              <a:rPr lang="en-US" altLang="ko-KR" sz="700" dirty="0"/>
              <a:t>7</a:t>
            </a:r>
            <a:r>
              <a:rPr lang="ko-KR" altLang="en-US" sz="700" dirty="0"/>
              <a:t>일</a:t>
            </a:r>
            <a:r>
              <a:rPr lang="en-US" altLang="ko-KR" sz="700" dirty="0"/>
              <a:t/>
            </a:r>
            <a:br>
              <a:rPr lang="en-US" altLang="ko-KR" sz="700" dirty="0"/>
            </a:br>
            <a:r>
              <a:rPr lang="en-US" altLang="ko-KR" sz="700" dirty="0">
                <a:sym typeface="Wingdings" panose="05000000000000000000" pitchFamily="2" charset="2"/>
              </a:rPr>
              <a:t>- </a:t>
            </a:r>
            <a:r>
              <a:rPr lang="ko-KR" altLang="en-US" sz="700" dirty="0">
                <a:sym typeface="Wingdings" panose="05000000000000000000" pitchFamily="2" charset="2"/>
              </a:rPr>
              <a:t>선택 날짜 즉시 업데이트</a:t>
            </a:r>
            <a:r>
              <a:rPr lang="en-US" altLang="ko-KR" sz="700" dirty="0"/>
              <a:t/>
            </a:r>
            <a:br>
              <a:rPr lang="en-US" altLang="ko-KR" sz="700" dirty="0"/>
            </a:br>
            <a:r>
              <a:rPr lang="en-US" altLang="ko-KR" sz="700" dirty="0"/>
              <a:t>- </a:t>
            </a:r>
            <a:r>
              <a:rPr lang="en-US" altLang="ko-KR" sz="700" dirty="0" smtClean="0"/>
              <a:t>3-1</a:t>
            </a:r>
            <a:r>
              <a:rPr lang="en-US" altLang="ko-KR" sz="700" dirty="0"/>
              <a:t>)</a:t>
            </a:r>
            <a:r>
              <a:rPr lang="ko-KR" altLang="en-US" sz="700" dirty="0"/>
              <a:t>직접 입력 가능 </a:t>
            </a:r>
            <a:r>
              <a:rPr lang="en-US" altLang="ko-KR" sz="700" dirty="0"/>
              <a:t/>
            </a:r>
            <a:br>
              <a:rPr lang="en-US" altLang="ko-KR" sz="700" dirty="0"/>
            </a:br>
            <a:r>
              <a:rPr lang="en-US" altLang="ko-KR" sz="700" dirty="0"/>
              <a:t>- </a:t>
            </a:r>
            <a:r>
              <a:rPr lang="ko-KR" altLang="en-US" sz="700" dirty="0"/>
              <a:t>좌</a:t>
            </a:r>
            <a:r>
              <a:rPr lang="en-US" altLang="ko-KR" sz="700" dirty="0"/>
              <a:t>)</a:t>
            </a:r>
            <a:r>
              <a:rPr lang="ko-KR" altLang="en-US" sz="700" dirty="0"/>
              <a:t>과거 우</a:t>
            </a:r>
            <a:r>
              <a:rPr lang="en-US" altLang="ko-KR" sz="700" dirty="0"/>
              <a:t>)</a:t>
            </a:r>
            <a:r>
              <a:rPr lang="ko-KR" altLang="en-US" sz="700" dirty="0" err="1"/>
              <a:t>현재로한다</a:t>
            </a:r>
            <a:r>
              <a:rPr lang="en-US" altLang="ko-KR" sz="700" dirty="0"/>
              <a:t/>
            </a:r>
            <a:br>
              <a:rPr lang="en-US" altLang="ko-KR" sz="700" dirty="0"/>
            </a:br>
            <a:r>
              <a:rPr lang="en-US" altLang="ko-KR" sz="700" dirty="0"/>
              <a:t>- </a:t>
            </a:r>
            <a:r>
              <a:rPr lang="ko-KR" altLang="en-US" sz="700" dirty="0"/>
              <a:t>우</a:t>
            </a:r>
            <a:r>
              <a:rPr lang="en-US" altLang="ko-KR" sz="700" dirty="0"/>
              <a:t>)</a:t>
            </a:r>
            <a:r>
              <a:rPr lang="ko-KR" altLang="en-US" sz="700" dirty="0"/>
              <a:t> 값은 미래를 선택</a:t>
            </a:r>
            <a:r>
              <a:rPr lang="en-US" altLang="ko-KR" sz="700" dirty="0"/>
              <a:t>,</a:t>
            </a:r>
            <a:r>
              <a:rPr lang="ko-KR" altLang="en-US" sz="700" dirty="0"/>
              <a:t>입력 할 </a:t>
            </a:r>
            <a:r>
              <a:rPr lang="ko-KR" altLang="en-US" sz="700" dirty="0" err="1"/>
              <a:t>수없다</a:t>
            </a:r>
            <a:r>
              <a:rPr lang="en-US" altLang="ko-KR" sz="700" dirty="0"/>
              <a:t>.</a:t>
            </a:r>
            <a:br>
              <a:rPr lang="en-US" altLang="ko-KR" sz="700" dirty="0"/>
            </a:br>
            <a:r>
              <a:rPr lang="en-US" altLang="ko-KR" sz="700" dirty="0"/>
              <a:t>- </a:t>
            </a:r>
            <a:r>
              <a:rPr lang="ko-KR" altLang="en-US" sz="700" dirty="0"/>
              <a:t>우</a:t>
            </a:r>
            <a:r>
              <a:rPr lang="en-US" altLang="ko-KR" sz="700" dirty="0"/>
              <a:t>) </a:t>
            </a:r>
            <a:r>
              <a:rPr lang="ko-KR" altLang="en-US" sz="700" dirty="0"/>
              <a:t>값이 미래를 입력한 경우 오늘로 자동 변경</a:t>
            </a:r>
            <a:r>
              <a:rPr lang="en-US" altLang="ko-KR" sz="700" dirty="0"/>
              <a:t>.</a:t>
            </a:r>
            <a:br>
              <a:rPr lang="en-US" altLang="ko-KR" sz="700" dirty="0"/>
            </a:br>
            <a:r>
              <a:rPr lang="en-US" altLang="ko-KR" sz="700" dirty="0"/>
              <a:t>- </a:t>
            </a:r>
            <a:r>
              <a:rPr lang="ko-KR" altLang="en-US" sz="700" dirty="0"/>
              <a:t>당일 기준 최대 </a:t>
            </a:r>
            <a:r>
              <a:rPr lang="en-US" altLang="ko-KR" sz="700" dirty="0"/>
              <a:t>1</a:t>
            </a:r>
            <a:r>
              <a:rPr lang="ko-KR" altLang="en-US" sz="700" dirty="0"/>
              <a:t>년</a:t>
            </a:r>
            <a:r>
              <a:rPr lang="en-US" altLang="ko-KR" sz="700" dirty="0"/>
              <a:t>(365</a:t>
            </a:r>
            <a:r>
              <a:rPr lang="ko-KR" altLang="en-US" sz="700" dirty="0"/>
              <a:t>일</a:t>
            </a:r>
            <a:r>
              <a:rPr lang="en-US" altLang="ko-KR" sz="700" dirty="0"/>
              <a:t>)</a:t>
            </a:r>
            <a:r>
              <a:rPr lang="ko-KR" altLang="en-US" sz="700" dirty="0"/>
              <a:t>까지 조회 가능</a:t>
            </a:r>
            <a:r>
              <a:rPr lang="en-US" altLang="ko-KR" sz="700" dirty="0"/>
              <a:t/>
            </a:r>
            <a:br>
              <a:rPr lang="en-US" altLang="ko-KR" sz="700" dirty="0"/>
            </a:br>
            <a:r>
              <a:rPr lang="en-US" altLang="ko-KR" sz="700" dirty="0"/>
              <a:t>- </a:t>
            </a:r>
            <a:r>
              <a:rPr lang="en-US" altLang="ko-KR" sz="700" dirty="0" smtClean="0"/>
              <a:t>3-2</a:t>
            </a:r>
            <a:r>
              <a:rPr lang="en-US" altLang="ko-KR" sz="700" dirty="0"/>
              <a:t>) </a:t>
            </a:r>
            <a:r>
              <a:rPr lang="ko-KR" altLang="en-US" sz="700" dirty="0"/>
              <a:t>아이콘 </a:t>
            </a:r>
            <a:r>
              <a:rPr lang="en-US" altLang="ko-KR" sz="700" dirty="0">
                <a:sym typeface="Wingdings" panose="05000000000000000000" pitchFamily="2" charset="2"/>
              </a:rPr>
              <a:t> </a:t>
            </a:r>
            <a:r>
              <a:rPr lang="ko-KR" altLang="en-US" sz="700" dirty="0">
                <a:sym typeface="Wingdings" panose="05000000000000000000" pitchFamily="2" charset="2"/>
              </a:rPr>
              <a:t>데이트 </a:t>
            </a:r>
            <a:r>
              <a:rPr lang="ko-KR" altLang="en-US" sz="700" dirty="0" err="1">
                <a:sym typeface="Wingdings" panose="05000000000000000000" pitchFamily="2" charset="2"/>
              </a:rPr>
              <a:t>피커</a:t>
            </a:r>
            <a:r>
              <a:rPr lang="ko-KR" altLang="en-US" sz="700" dirty="0">
                <a:sym typeface="Wingdings" panose="05000000000000000000" pitchFamily="2" charset="2"/>
              </a:rPr>
              <a:t> 호출</a:t>
            </a:r>
            <a:r>
              <a:rPr lang="en-US" altLang="ko-KR" sz="700" dirty="0">
                <a:sym typeface="Wingdings" panose="05000000000000000000" pitchFamily="2" charset="2"/>
              </a:rPr>
              <a:t>( </a:t>
            </a:r>
            <a:r>
              <a:rPr lang="ko-KR" altLang="en-US" sz="700" dirty="0" err="1">
                <a:sym typeface="Wingdings" panose="05000000000000000000" pitchFamily="2" charset="2"/>
              </a:rPr>
              <a:t>미래불가</a:t>
            </a:r>
            <a:r>
              <a:rPr lang="en-US" altLang="ko-KR" sz="700" dirty="0">
                <a:sym typeface="Wingdings" panose="05000000000000000000" pitchFamily="2" charset="2"/>
              </a:rPr>
              <a:t>)</a:t>
            </a:r>
            <a:br>
              <a:rPr lang="en-US" altLang="ko-KR" sz="700" dirty="0">
                <a:sym typeface="Wingdings" panose="05000000000000000000" pitchFamily="2" charset="2"/>
              </a:rPr>
            </a:br>
            <a:r>
              <a:rPr lang="en-US" altLang="ko-KR" sz="700" dirty="0">
                <a:sym typeface="Wingdings" panose="05000000000000000000" pitchFamily="2" charset="2"/>
              </a:rPr>
              <a:t>- </a:t>
            </a:r>
            <a:r>
              <a:rPr lang="en-US" altLang="ko-KR" sz="700" dirty="0" smtClean="0">
                <a:sym typeface="Wingdings" panose="05000000000000000000" pitchFamily="2" charset="2"/>
              </a:rPr>
              <a:t>3-3</a:t>
            </a:r>
            <a:r>
              <a:rPr lang="en-US" altLang="ko-KR" sz="700" dirty="0">
                <a:sym typeface="Wingdings" panose="05000000000000000000" pitchFamily="2" charset="2"/>
              </a:rPr>
              <a:t>) </a:t>
            </a:r>
            <a:r>
              <a:rPr lang="ko-KR" altLang="en-US" sz="700" dirty="0">
                <a:sym typeface="Wingdings" panose="05000000000000000000" pitchFamily="2" charset="2"/>
              </a:rPr>
              <a:t>최근</a:t>
            </a:r>
            <a:r>
              <a:rPr lang="en-US" altLang="ko-KR" sz="700" dirty="0">
                <a:sym typeface="Wingdings" panose="05000000000000000000" pitchFamily="2" charset="2"/>
              </a:rPr>
              <a:t>1,3,6</a:t>
            </a:r>
            <a:r>
              <a:rPr lang="ko-KR" altLang="en-US" sz="700" dirty="0">
                <a:sym typeface="Wingdings" panose="05000000000000000000" pitchFamily="2" charset="2"/>
              </a:rPr>
              <a:t>개월 버튼으로 당일 포함하여 </a:t>
            </a:r>
            <a:r>
              <a:rPr lang="en-US" altLang="ko-KR" sz="700" dirty="0">
                <a:sym typeface="Wingdings" panose="05000000000000000000" pitchFamily="2" charset="2"/>
              </a:rPr>
              <a:t>30</a:t>
            </a:r>
            <a:r>
              <a:rPr lang="ko-KR" altLang="en-US" sz="700" dirty="0">
                <a:sym typeface="Wingdings" panose="05000000000000000000" pitchFamily="2" charset="2"/>
              </a:rPr>
              <a:t>일</a:t>
            </a:r>
            <a:r>
              <a:rPr lang="en-US" altLang="ko-KR" sz="700" dirty="0">
                <a:sym typeface="Wingdings" panose="05000000000000000000" pitchFamily="2" charset="2"/>
              </a:rPr>
              <a:t>, 90</a:t>
            </a:r>
            <a:r>
              <a:rPr lang="ko-KR" altLang="en-US" sz="700" dirty="0">
                <a:sym typeface="Wingdings" panose="05000000000000000000" pitchFamily="2" charset="2"/>
              </a:rPr>
              <a:t>일</a:t>
            </a:r>
            <a:r>
              <a:rPr lang="en-US" altLang="ko-KR" sz="700" dirty="0">
                <a:sym typeface="Wingdings" panose="05000000000000000000" pitchFamily="2" charset="2"/>
              </a:rPr>
              <a:t>,180</a:t>
            </a:r>
            <a:r>
              <a:rPr lang="ko-KR" altLang="en-US" sz="700" dirty="0">
                <a:sym typeface="Wingdings" panose="05000000000000000000" pitchFamily="2" charset="2"/>
              </a:rPr>
              <a:t>일 이전 값을 표시</a:t>
            </a:r>
            <a:r>
              <a:rPr lang="en-US" altLang="ko-KR" sz="700" dirty="0">
                <a:sym typeface="Wingdings" panose="05000000000000000000" pitchFamily="2" charset="2"/>
              </a:rPr>
              <a:t>.</a:t>
            </a:r>
          </a:p>
          <a:p>
            <a:pPr marL="228600" indent="-228600">
              <a:buFont typeface="+mj-lt"/>
              <a:buAutoNum type="arabicPeriod"/>
            </a:pPr>
            <a:r>
              <a:rPr lang="ko-KR" altLang="en-US" sz="700" dirty="0" err="1" smtClean="0">
                <a:sym typeface="Wingdings" panose="05000000000000000000" pitchFamily="2" charset="2"/>
              </a:rPr>
              <a:t>검색어</a:t>
            </a:r>
            <a:r>
              <a:rPr lang="ko-KR" altLang="en-US" sz="700" dirty="0" smtClean="0">
                <a:sym typeface="Wingdings" panose="05000000000000000000" pitchFamily="2" charset="2"/>
              </a:rPr>
              <a:t> 영역</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ko-KR" altLang="en-US" sz="700" dirty="0" smtClean="0">
                <a:solidFill>
                  <a:prstClr val="black"/>
                </a:solidFill>
              </a:rPr>
              <a:t>입찰공고통합목록</a:t>
            </a:r>
            <a:r>
              <a:rPr lang="en-US" altLang="ko-KR" sz="700" dirty="0" smtClean="0">
                <a:solidFill>
                  <a:prstClr val="black"/>
                </a:solidFill>
              </a:rPr>
              <a:t> </a:t>
            </a:r>
            <a:r>
              <a:rPr lang="ko-KR" altLang="en-US" sz="700" dirty="0" smtClean="0">
                <a:solidFill>
                  <a:prstClr val="black"/>
                </a:solidFill>
              </a:rPr>
              <a:t>검색조건</a:t>
            </a:r>
            <a:r>
              <a:rPr lang="en-US" altLang="ko-KR" sz="700" dirty="0" smtClean="0">
                <a:solidFill>
                  <a:prstClr val="black"/>
                </a:solidFill>
              </a:rPr>
              <a:t>(</a:t>
            </a:r>
            <a:r>
              <a:rPr lang="en-US" altLang="ko-KR" sz="700" dirty="0" err="1">
                <a:solidFill>
                  <a:prstClr val="black"/>
                </a:solidFill>
              </a:rPr>
              <a:t>dml_bidPbancSrchCnd</a:t>
            </a:r>
            <a:r>
              <a:rPr lang="en-US" altLang="ko-KR" sz="700" dirty="0">
                <a:solidFill>
                  <a:prstClr val="black"/>
                </a:solidFill>
              </a:rPr>
              <a:t>) </a:t>
            </a:r>
            <a:r>
              <a:rPr lang="ko-KR" altLang="en-US" sz="700" dirty="0" smtClean="0">
                <a:solidFill>
                  <a:prstClr val="black"/>
                </a:solidFill>
              </a:rPr>
              <a:t>참고</a:t>
            </a:r>
            <a:r>
              <a:rPr lang="en-US" altLang="ko-KR" sz="700" dirty="0" smtClean="0">
                <a:solidFill>
                  <a:prstClr val="black"/>
                </a:solidFill>
              </a:rPr>
              <a:t/>
            </a:r>
            <a:br>
              <a:rPr lang="en-US" altLang="ko-KR" sz="700" dirty="0" smtClean="0">
                <a:solidFill>
                  <a:prstClr val="black"/>
                </a:solidFill>
              </a:rPr>
            </a:br>
            <a:r>
              <a:rPr lang="en-US" altLang="ko-KR" sz="700" dirty="0">
                <a:sym typeface="Wingdings" panose="05000000000000000000" pitchFamily="2" charset="2"/>
              </a:rPr>
              <a:t>- </a:t>
            </a:r>
            <a:r>
              <a:rPr lang="ko-KR" altLang="en-US" sz="700" dirty="0">
                <a:sym typeface="Wingdings" panose="05000000000000000000" pitchFamily="2" charset="2"/>
              </a:rPr>
              <a:t>사용자가 입력하고자 하는 내역만 입력 후 검색 가능</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입찰건명</a:t>
            </a:r>
            <a:r>
              <a:rPr lang="ko-KR" altLang="en-US" sz="700" dirty="0" smtClean="0">
                <a:solidFill>
                  <a:prstClr val="black"/>
                </a:solidFill>
              </a:rPr>
              <a:t> </a:t>
            </a:r>
            <a:r>
              <a:rPr lang="en-US" altLang="ko-KR" sz="700" dirty="0" smtClean="0">
                <a:solidFill>
                  <a:prstClr val="black"/>
                </a:solidFill>
              </a:rPr>
              <a:t>: </a:t>
            </a:r>
            <a:r>
              <a:rPr lang="ko-KR" altLang="en-US" sz="700" dirty="0" smtClean="0">
                <a:solidFill>
                  <a:prstClr val="black"/>
                </a:solidFill>
              </a:rPr>
              <a:t>텍스트 검색</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ym typeface="Wingdings" panose="05000000000000000000" pitchFamily="2" charset="2"/>
              </a:rPr>
              <a:t>번호 검색은 </a:t>
            </a:r>
            <a:r>
              <a:rPr lang="ko-KR" altLang="en-US" sz="700" dirty="0" err="1" smtClean="0">
                <a:sym typeface="Wingdings" panose="05000000000000000000" pitchFamily="2" charset="2"/>
              </a:rPr>
              <a:t>공고번호</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통합참조</a:t>
            </a:r>
            <a:r>
              <a:rPr lang="ko-KR" altLang="en-US" sz="700" dirty="0" smtClean="0">
                <a:sym typeface="Wingdings" panose="05000000000000000000" pitchFamily="2" charset="2"/>
              </a:rPr>
              <a:t> 번호 </a:t>
            </a:r>
            <a:r>
              <a:rPr lang="ko-KR" altLang="en-US" sz="700" dirty="0" err="1" smtClean="0">
                <a:sym typeface="Wingdings" panose="05000000000000000000" pitchFamily="2" charset="2"/>
              </a:rPr>
              <a:t>토글</a:t>
            </a:r>
            <a:r>
              <a:rPr lang="ko-KR" altLang="en-US" sz="700" dirty="0" smtClean="0">
                <a:sym typeface="Wingdings" panose="05000000000000000000" pitchFamily="2" charset="2"/>
              </a:rPr>
              <a:t> 스위치로 설정</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err="1" smtClean="0">
                <a:sym typeface="Wingdings" panose="05000000000000000000" pitchFamily="2" charset="2"/>
              </a:rPr>
              <a:t>발주기관명</a:t>
            </a:r>
            <a:r>
              <a:rPr lang="ko-KR" altLang="en-US" sz="700" dirty="0" smtClean="0">
                <a:sym typeface="Wingdings" panose="05000000000000000000" pitchFamily="2" charset="2"/>
              </a:rPr>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팝업호출</a:t>
            </a:r>
            <a:r>
              <a:rPr lang="en-US" altLang="ko-KR" sz="700" dirty="0" smtClean="0">
                <a:sym typeface="Wingdings" panose="05000000000000000000" pitchFamily="2" charset="2"/>
              </a:rPr>
              <a:t>(</a:t>
            </a:r>
            <a:r>
              <a:rPr lang="en-US" altLang="ko-KR" sz="700" dirty="0" smtClean="0">
                <a:latin typeface="+mn-ea"/>
              </a:rPr>
              <a:t>MUI-BD-01-P04)</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err="1" smtClean="0">
                <a:sym typeface="Wingdings" panose="05000000000000000000" pitchFamily="2" charset="2"/>
              </a:rPr>
              <a:t>면허정보</a:t>
            </a:r>
            <a:r>
              <a:rPr lang="ko-KR" altLang="en-US" sz="700" dirty="0" smtClean="0">
                <a:sym typeface="Wingdings" panose="05000000000000000000" pitchFamily="2" charset="2"/>
              </a:rPr>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팝업호출</a:t>
            </a:r>
            <a:r>
              <a:rPr lang="en-US" altLang="ko-KR" sz="700" dirty="0" smtClean="0">
                <a:sym typeface="Wingdings" panose="05000000000000000000" pitchFamily="2" charset="2"/>
              </a:rPr>
              <a:t>(</a:t>
            </a:r>
            <a:r>
              <a:rPr lang="en-US" altLang="ko-KR" sz="700" dirty="0" smtClean="0">
                <a:latin typeface="+mn-ea"/>
              </a:rPr>
              <a:t>MUI-BD-01-P05)</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smtClean="0">
                <a:sym typeface="Wingdings" panose="05000000000000000000" pitchFamily="2" charset="2"/>
              </a:rPr>
              <a:t>군 구분</a:t>
            </a:r>
            <a:r>
              <a:rPr lang="en-US" altLang="ko-KR" sz="700" dirty="0" smtClean="0">
                <a:sym typeface="Wingdings" panose="05000000000000000000" pitchFamily="2" charset="2"/>
              </a:rPr>
              <a:t>: </a:t>
            </a:r>
            <a:r>
              <a:rPr lang="ko-KR" altLang="en-US" sz="700" dirty="0" smtClean="0">
                <a:sym typeface="Wingdings" panose="05000000000000000000" pitchFamily="2" charset="2"/>
              </a:rPr>
              <a:t>텍스트 검색</a:t>
            </a:r>
            <a:endParaRPr lang="en-US" altLang="ko-KR" sz="700" dirty="0" smtClean="0">
              <a:sym typeface="Wingdings" panose="05000000000000000000" pitchFamily="2" charset="2"/>
            </a:endParaRPr>
          </a:p>
          <a:p>
            <a:pPr marL="228600" indent="-228600">
              <a:buFont typeface="+mj-lt"/>
              <a:buAutoNum type="arabicPeriod"/>
            </a:pPr>
            <a:r>
              <a:rPr lang="ko-KR" altLang="en-US" sz="700" dirty="0" smtClean="0">
                <a:sym typeface="Wingdings" panose="05000000000000000000" pitchFamily="2" charset="2"/>
              </a:rPr>
              <a:t>구분 설정 참고</a:t>
            </a:r>
            <a:r>
              <a:rPr lang="en-US" altLang="ko-KR" sz="700" dirty="0">
                <a:sym typeface="Wingdings" panose="05000000000000000000" pitchFamily="2" charset="2"/>
              </a:rPr>
              <a:t> </a:t>
            </a:r>
            <a:r>
              <a:rPr lang="en-US" altLang="ko-KR" sz="700" dirty="0" smtClean="0">
                <a:sym typeface="Wingdings" panose="05000000000000000000" pitchFamily="2" charset="2"/>
              </a:rPr>
              <a:t>:</a:t>
            </a:r>
            <a:br>
              <a:rPr lang="en-US" altLang="ko-KR" sz="700" dirty="0" smtClean="0">
                <a:sym typeface="Wingdings" panose="05000000000000000000" pitchFamily="2" charset="2"/>
              </a:rPr>
            </a:br>
            <a:r>
              <a:rPr lang="ko-KR" altLang="en-US" sz="700" dirty="0" smtClean="0">
                <a:solidFill>
                  <a:prstClr val="black"/>
                </a:solidFill>
              </a:rPr>
              <a:t>입찰공고통합목록</a:t>
            </a:r>
            <a:r>
              <a:rPr lang="en-US" altLang="ko-KR" sz="700" dirty="0" smtClean="0">
                <a:solidFill>
                  <a:prstClr val="black"/>
                </a:solidFill>
              </a:rPr>
              <a:t> </a:t>
            </a:r>
            <a:r>
              <a:rPr lang="ko-KR" altLang="en-US" sz="700" dirty="0">
                <a:solidFill>
                  <a:prstClr val="black"/>
                </a:solidFill>
              </a:rPr>
              <a:t>검색조건 </a:t>
            </a:r>
            <a:r>
              <a:rPr lang="en-US" altLang="ko-KR" sz="700" dirty="0">
                <a:solidFill>
                  <a:prstClr val="black"/>
                </a:solidFill>
              </a:rPr>
              <a:t>(</a:t>
            </a:r>
            <a:r>
              <a:rPr lang="en-US" altLang="ko-KR" sz="700" dirty="0" err="1" smtClean="0">
                <a:solidFill>
                  <a:prstClr val="black"/>
                </a:solidFill>
              </a:rPr>
              <a:t>dml_bidPbancSrchCnd</a:t>
            </a:r>
            <a:r>
              <a:rPr lang="en-US" altLang="ko-KR" sz="700" dirty="0" smtClean="0">
                <a:solidFill>
                  <a:prstClr val="black"/>
                </a:solidFill>
              </a:rPr>
              <a:t>)</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드롭 다운으로 각 </a:t>
            </a:r>
            <a:r>
              <a:rPr lang="ko-KR" altLang="en-US" sz="700" dirty="0" err="1">
                <a:sym typeface="Wingdings" panose="05000000000000000000" pitchFamily="2" charset="2"/>
              </a:rPr>
              <a:t>구분값</a:t>
            </a:r>
            <a:r>
              <a:rPr lang="ko-KR" altLang="en-US" sz="700" dirty="0">
                <a:sym typeface="Wingdings" panose="05000000000000000000" pitchFamily="2" charset="2"/>
              </a:rPr>
              <a:t> </a:t>
            </a:r>
            <a:r>
              <a:rPr lang="ko-KR" altLang="en-US" sz="700" dirty="0" smtClean="0">
                <a:sym typeface="Wingdings" panose="05000000000000000000" pitchFamily="2" charset="2"/>
              </a:rPr>
              <a:t>설정</a:t>
            </a:r>
            <a:endParaRPr lang="en-US" altLang="ko-KR" sz="700" dirty="0">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가격 설정</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사용자 입력</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좌측이 낮은 값</a:t>
            </a:r>
            <a:r>
              <a:rPr lang="en-US" altLang="ko-KR" sz="700" dirty="0">
                <a:sym typeface="Wingdings" panose="05000000000000000000" pitchFamily="2" charset="2"/>
              </a:rPr>
              <a:t>, </a:t>
            </a:r>
            <a:r>
              <a:rPr lang="ko-KR" altLang="en-US" sz="700" dirty="0">
                <a:sym typeface="Wingdings" panose="05000000000000000000" pitchFamily="2" charset="2"/>
              </a:rPr>
              <a:t>우측이 높은 값</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다이얼을 통한 입력 </a:t>
            </a:r>
            <a:r>
              <a:rPr lang="en-US" altLang="ko-KR" sz="700" dirty="0">
                <a:sym typeface="Wingdings" panose="05000000000000000000" pitchFamily="2" charset="2"/>
              </a:rPr>
              <a:t>(</a:t>
            </a:r>
            <a:r>
              <a:rPr lang="ko-KR" altLang="en-US" sz="700" dirty="0">
                <a:sym typeface="Wingdings" panose="05000000000000000000" pitchFamily="2" charset="2"/>
              </a:rPr>
              <a:t>최소값 </a:t>
            </a:r>
            <a:r>
              <a:rPr lang="en-US" altLang="ko-KR" sz="700" dirty="0">
                <a:sym typeface="Wingdings" panose="05000000000000000000" pitchFamily="2" charset="2"/>
              </a:rPr>
              <a:t>100</a:t>
            </a:r>
            <a:r>
              <a:rPr lang="ko-KR" altLang="en-US" sz="700" dirty="0">
                <a:sym typeface="Wingdings" panose="05000000000000000000" pitchFamily="2" charset="2"/>
              </a:rPr>
              <a:t>만</a:t>
            </a:r>
            <a:r>
              <a:rPr lang="en-US" altLang="ko-KR" sz="700" dirty="0">
                <a:sym typeface="Wingdings" panose="05000000000000000000" pitchFamily="2" charset="2"/>
              </a:rPr>
              <a:t>)</a:t>
            </a:r>
          </a:p>
          <a:p>
            <a:pPr marL="228600" indent="-228600">
              <a:buFont typeface="+mj-lt"/>
              <a:buAutoNum type="arabicPeriod"/>
            </a:pPr>
            <a:r>
              <a:rPr lang="ko-KR" altLang="en-US" sz="700" dirty="0">
                <a:sym typeface="Wingdings" panose="05000000000000000000" pitchFamily="2" charset="2"/>
              </a:rPr>
              <a:t>신기술 여부</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기본값</a:t>
            </a:r>
            <a:r>
              <a:rPr lang="en-US" altLang="ko-KR" sz="700" dirty="0">
                <a:sym typeface="Wingdings" panose="05000000000000000000" pitchFamily="2" charset="2"/>
              </a:rPr>
              <a:t>: </a:t>
            </a:r>
            <a:r>
              <a:rPr lang="ko-KR" altLang="en-US" sz="700" dirty="0">
                <a:sym typeface="Wingdings" panose="05000000000000000000" pitchFamily="2" charset="2"/>
              </a:rPr>
              <a:t>아니오</a:t>
            </a:r>
            <a:endParaRPr lang="en-US" altLang="ko-KR" sz="700" dirty="0">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검색 버튼 영역은 화면 하단 </a:t>
            </a:r>
            <a:r>
              <a:rPr lang="ko-KR" altLang="en-US" sz="700" dirty="0" err="1">
                <a:sym typeface="Wingdings" panose="05000000000000000000" pitchFamily="2" charset="2"/>
              </a:rPr>
              <a:t>플로팅</a:t>
            </a:r>
            <a:r>
              <a:rPr lang="ko-KR" altLang="en-US" sz="700" dirty="0">
                <a:sym typeface="Wingdings" panose="05000000000000000000" pitchFamily="2" charset="2"/>
              </a:rPr>
              <a:t> 처리</a:t>
            </a:r>
            <a:endParaRPr lang="en-US" altLang="ko-KR" sz="7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354151"/>
            <a:ext cx="1258128" cy="216000"/>
          </a:xfrm>
        </p:spPr>
        <p:txBody>
          <a:bodyPr/>
          <a:lstStyle/>
          <a:p>
            <a:fld id="{34C8E023-7346-48FC-AB24-9A3388C53208}" type="slidenum">
              <a:rPr lang="ko-KR" altLang="en-US" smtClean="0"/>
              <a:pPr/>
              <a:t>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56623" y="2221322"/>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공고</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72354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smtClean="0">
                <a:latin typeface="+mn-ea"/>
              </a:rPr>
              <a:t>품명</a:t>
            </a:r>
            <a:endParaRPr lang="en-US" altLang="ko-KR" sz="700" dirty="0" smtClean="0">
              <a:latin typeface="+mn-ea"/>
            </a:endParaRPr>
          </a:p>
          <a:p>
            <a:pPr>
              <a:lnSpc>
                <a:spcPct val="200000"/>
              </a:lnSpc>
            </a:pPr>
            <a:r>
              <a:rPr lang="ko-KR" altLang="en-US" sz="700" dirty="0" err="1" smtClean="0">
                <a:latin typeface="+mn-ea"/>
              </a:rPr>
              <a:t>지역명</a:t>
            </a:r>
            <a:endParaRPr lang="en-US" altLang="ko-KR" sz="700" dirty="0">
              <a:latin typeface="+mn-ea"/>
            </a:endParaRPr>
          </a:p>
          <a:p>
            <a:pPr>
              <a:lnSpc>
                <a:spcPct val="200000"/>
              </a:lnSpc>
            </a:pPr>
            <a:r>
              <a:rPr lang="ko-KR" altLang="en-US" sz="700" dirty="0" err="1" smtClean="0">
                <a:latin typeface="+mn-ea"/>
              </a:rPr>
              <a:t>발주기관명</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70944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94566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6016408"/>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0335" y="4921462"/>
            <a:ext cx="391459"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824103"/>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smtClean="0">
                <a:solidFill>
                  <a:schemeClr val="tx1"/>
                </a:solidFill>
              </a:rPr>
              <a:t>전체</a:t>
            </a:r>
            <a:endParaRPr lang="ko-KR" altLang="en-US" sz="700" dirty="0">
              <a:solidFill>
                <a:schemeClr val="tx1"/>
              </a:solidFill>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2035942"/>
          </a:xfrm>
          <a:prstGeom prst="rect">
            <a:avLst/>
          </a:prstGeom>
          <a:noFill/>
        </p:spPr>
        <p:txBody>
          <a:bodyPr wrap="square" lIns="0" tIns="0" rIns="0" bIns="0" rtlCol="0">
            <a:spAutoFit/>
          </a:bodyPr>
          <a:lstStyle/>
          <a:p>
            <a:pPr>
              <a:lnSpc>
                <a:spcPct val="210000"/>
              </a:lnSpc>
            </a:pPr>
            <a:r>
              <a:rPr lang="ko-KR" altLang="en-US" sz="700" dirty="0" err="1" smtClean="0">
                <a:latin typeface="+mn-ea"/>
              </a:rPr>
              <a:t>진행상태명</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smtClean="0">
                <a:latin typeface="+mn-ea"/>
              </a:rPr>
              <a:t>낙찰방법</a:t>
            </a:r>
            <a:endParaRPr lang="en-US" altLang="ko-KR" sz="700" dirty="0" smtClean="0">
              <a:latin typeface="+mn-ea"/>
            </a:endParaRPr>
          </a:p>
          <a:p>
            <a:pPr>
              <a:lnSpc>
                <a:spcPct val="210000"/>
              </a:lnSpc>
            </a:pPr>
            <a:r>
              <a:rPr lang="ko-KR" altLang="en-US" sz="700" dirty="0" err="1" smtClean="0">
                <a:latin typeface="+mn-ea"/>
              </a:rPr>
              <a:t>군구분</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382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415444"/>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637982"/>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513134"/>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665613"/>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685560"/>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665613"/>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51292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5145216"/>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242906"/>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389041"/>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462455"/>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683015"/>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140951" y="5780182"/>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987058"/>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933083"/>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933083"/>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987058"/>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63" name="타원 162">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64" name="타원 163">
            <a:extLst>
              <a:ext uri="{FF2B5EF4-FFF2-40B4-BE49-F238E27FC236}">
                <a16:creationId xmlns:a16="http://schemas.microsoft.com/office/drawing/2014/main" id="{37A7FF4F-0EAA-1463-560A-D5EC24416103}"/>
              </a:ext>
            </a:extLst>
          </p:cNvPr>
          <p:cNvSpPr/>
          <p:nvPr/>
        </p:nvSpPr>
        <p:spPr>
          <a:xfrm>
            <a:off x="3698736" y="42966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65" name="타원 164">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66" name="타원 165">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67" name="타원 166">
            <a:extLst>
              <a:ext uri="{FF2B5EF4-FFF2-40B4-BE49-F238E27FC236}">
                <a16:creationId xmlns:a16="http://schemas.microsoft.com/office/drawing/2014/main" id="{37A7FF4F-0EAA-1463-560A-D5EC24416103}"/>
              </a:ext>
            </a:extLst>
          </p:cNvPr>
          <p:cNvSpPr/>
          <p:nvPr/>
        </p:nvSpPr>
        <p:spPr>
          <a:xfrm>
            <a:off x="573754" y="345716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68" name="타원 167">
            <a:extLst>
              <a:ext uri="{FF2B5EF4-FFF2-40B4-BE49-F238E27FC236}">
                <a16:creationId xmlns:a16="http://schemas.microsoft.com/office/drawing/2014/main" id="{37A7FF4F-0EAA-1463-560A-D5EC24416103}"/>
              </a:ext>
            </a:extLst>
          </p:cNvPr>
          <p:cNvSpPr/>
          <p:nvPr/>
        </p:nvSpPr>
        <p:spPr>
          <a:xfrm>
            <a:off x="573754" y="461451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69" name="타원 168">
            <a:extLst>
              <a:ext uri="{FF2B5EF4-FFF2-40B4-BE49-F238E27FC236}">
                <a16:creationId xmlns:a16="http://schemas.microsoft.com/office/drawing/2014/main" id="{37A7FF4F-0EAA-1463-560A-D5EC24416103}"/>
              </a:ext>
            </a:extLst>
          </p:cNvPr>
          <p:cNvSpPr/>
          <p:nvPr/>
        </p:nvSpPr>
        <p:spPr>
          <a:xfrm>
            <a:off x="3694089" y="51479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
        <p:nvSpPr>
          <p:cNvPr id="170" name="타원 169">
            <a:extLst>
              <a:ext uri="{FF2B5EF4-FFF2-40B4-BE49-F238E27FC236}">
                <a16:creationId xmlns:a16="http://schemas.microsoft.com/office/drawing/2014/main" id="{37A7FF4F-0EAA-1463-560A-D5EC24416103}"/>
              </a:ext>
            </a:extLst>
          </p:cNvPr>
          <p:cNvSpPr/>
          <p:nvPr/>
        </p:nvSpPr>
        <p:spPr>
          <a:xfrm>
            <a:off x="1270915" y="37123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3-1</a:t>
            </a:r>
            <a:endParaRPr lang="ko-KR" altLang="en-US" sz="500" b="1" dirty="0"/>
          </a:p>
        </p:txBody>
      </p:sp>
      <p:sp>
        <p:nvSpPr>
          <p:cNvPr id="175" name="타원 174">
            <a:extLst>
              <a:ext uri="{FF2B5EF4-FFF2-40B4-BE49-F238E27FC236}">
                <a16:creationId xmlns:a16="http://schemas.microsoft.com/office/drawing/2014/main" id="{37A7FF4F-0EAA-1463-560A-D5EC24416103}"/>
              </a:ext>
            </a:extLst>
          </p:cNvPr>
          <p:cNvSpPr/>
          <p:nvPr/>
        </p:nvSpPr>
        <p:spPr>
          <a:xfrm>
            <a:off x="2339295" y="37123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3-2</a:t>
            </a:r>
            <a:endParaRPr lang="ko-KR" altLang="en-US" sz="500" b="1" dirty="0"/>
          </a:p>
        </p:txBody>
      </p:sp>
      <p:sp>
        <p:nvSpPr>
          <p:cNvPr id="177" name="타원 176">
            <a:extLst>
              <a:ext uri="{FF2B5EF4-FFF2-40B4-BE49-F238E27FC236}">
                <a16:creationId xmlns:a16="http://schemas.microsoft.com/office/drawing/2014/main" id="{37A7FF4F-0EAA-1463-560A-D5EC24416103}"/>
              </a:ext>
            </a:extLst>
          </p:cNvPr>
          <p:cNvSpPr/>
          <p:nvPr/>
        </p:nvSpPr>
        <p:spPr>
          <a:xfrm>
            <a:off x="2361392" y="151997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179" name="타원 178">
            <a:extLst>
              <a:ext uri="{FF2B5EF4-FFF2-40B4-BE49-F238E27FC236}">
                <a16:creationId xmlns:a16="http://schemas.microsoft.com/office/drawing/2014/main" id="{37A7FF4F-0EAA-1463-560A-D5EC24416103}"/>
              </a:ext>
            </a:extLst>
          </p:cNvPr>
          <p:cNvSpPr/>
          <p:nvPr/>
        </p:nvSpPr>
        <p:spPr>
          <a:xfrm>
            <a:off x="3070821" y="15232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180" name="타원 179">
            <a:extLst>
              <a:ext uri="{FF2B5EF4-FFF2-40B4-BE49-F238E27FC236}">
                <a16:creationId xmlns:a16="http://schemas.microsoft.com/office/drawing/2014/main" id="{37A7FF4F-0EAA-1463-560A-D5EC24416103}"/>
              </a:ext>
            </a:extLst>
          </p:cNvPr>
          <p:cNvSpPr/>
          <p:nvPr/>
        </p:nvSpPr>
        <p:spPr>
          <a:xfrm>
            <a:off x="1270915" y="397942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3-3</a:t>
            </a:r>
            <a:endParaRPr lang="ko-KR" altLang="en-US" sz="5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3694089" y="58743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8</a:t>
            </a:r>
            <a:endParaRPr lang="ko-KR" altLang="en-US" sz="900" b="1" dirty="0"/>
          </a:p>
        </p:txBody>
      </p:sp>
      <p:sp>
        <p:nvSpPr>
          <p:cNvPr id="184" name="모서리가 둥근 직사각형 183"/>
          <p:cNvSpPr/>
          <p:nvPr/>
        </p:nvSpPr>
        <p:spPr>
          <a:xfrm>
            <a:off x="4572570" y="406357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185" name="그룹 184"/>
          <p:cNvGrpSpPr/>
          <p:nvPr/>
        </p:nvGrpSpPr>
        <p:grpSpPr>
          <a:xfrm>
            <a:off x="6261284" y="4134316"/>
            <a:ext cx="91438" cy="45719"/>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모서리가 둥근 직사각형 187"/>
          <p:cNvSpPr/>
          <p:nvPr/>
        </p:nvSpPr>
        <p:spPr>
          <a:xfrm>
            <a:off x="1449284" y="549581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smtClean="0">
                <a:solidFill>
                  <a:schemeClr val="bg1">
                    <a:lumMod val="65000"/>
                  </a:schemeClr>
                </a:solidFill>
              </a:rPr>
              <a:t>지역명을</a:t>
            </a:r>
            <a:r>
              <a:rPr lang="ko-KR" altLang="en-US" sz="700" dirty="0" smtClean="0">
                <a:solidFill>
                  <a:schemeClr val="bg1">
                    <a:lumMod val="65000"/>
                  </a:schemeClr>
                </a:solidFill>
              </a:rPr>
              <a:t> </a:t>
            </a:r>
            <a:r>
              <a:rPr lang="ko-KR" altLang="en-US" sz="700" dirty="0">
                <a:solidFill>
                  <a:schemeClr val="bg1">
                    <a:lumMod val="65000"/>
                  </a:schemeClr>
                </a:solidFill>
              </a:rPr>
              <a:t>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92" name="그룹 191"/>
          <p:cNvGrpSpPr/>
          <p:nvPr/>
        </p:nvGrpSpPr>
        <p:grpSpPr>
          <a:xfrm>
            <a:off x="8223250" y="804408"/>
            <a:ext cx="3365500" cy="634511"/>
            <a:chOff x="8223250" y="569392"/>
            <a:chExt cx="3365500" cy="634511"/>
          </a:xfrm>
        </p:grpSpPr>
        <p:sp>
          <p:nvSpPr>
            <p:cNvPr id="193" name="직사각형 19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2026-07-09 </a:t>
              </a:r>
              <a:r>
                <a:rPr lang="ko-KR" altLang="en-US" b="1" dirty="0" smtClean="0"/>
                <a:t>화면 수정</a:t>
              </a:r>
              <a:endParaRPr lang="ko-KR" altLang="en-US" b="1" dirty="0"/>
            </a:p>
          </p:txBody>
        </p:sp>
        <p:sp>
          <p:nvSpPr>
            <p:cNvPr id="194" name="직사각형 19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지역명이</a:t>
              </a:r>
              <a:r>
                <a:rPr lang="ko-KR" altLang="en-US" sz="700" dirty="0" smtClean="0"/>
                <a:t> 검색에서 직접 입력으로 변경됨</a:t>
              </a:r>
              <a:r>
                <a:rPr lang="en-US" altLang="ko-KR" sz="700" dirty="0" smtClean="0"/>
                <a:t>.</a:t>
              </a:r>
              <a:endParaRPr lang="en-US" altLang="ko-KR" sz="700" dirty="0"/>
            </a:p>
          </p:txBody>
        </p:sp>
      </p:grpSp>
    </p:spTree>
    <p:extLst>
      <p:ext uri="{BB962C8B-B14F-4D97-AF65-F5344CB8AC3E}">
        <p14:creationId xmlns:p14="http://schemas.microsoft.com/office/powerpoint/2010/main" val="287118153"/>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지역명칭으로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지역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지역검색</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지역검색</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a:solidFill>
                  <a:schemeClr val="tx1"/>
                </a:solidFill>
              </a:rPr>
              <a:t>서울</a:t>
            </a:r>
            <a:endParaRPr lang="ko-KR" altLang="en-US" sz="700" dirty="0">
              <a:solidFill>
                <a:schemeClr val="tx1"/>
              </a:solidFill>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a:solidFill>
                  <a:srgbClr val="0070C0"/>
                </a:solidFill>
              </a:rPr>
              <a:t>검색</a:t>
            </a:r>
            <a:endParaRPr kumimoji="1" lang="en-US" altLang="ko-KR" sz="800" kern="0" dirty="0">
              <a:solidFill>
                <a:srgbClr val="0070C0"/>
              </a:solidFill>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지역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563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시군구를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631637"/>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3897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10" name="타원 309"/>
          <p:cNvSpPr/>
          <p:nvPr/>
        </p:nvSpPr>
        <p:spPr>
          <a:xfrm>
            <a:off x="3112794" y="360161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364551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a:latin typeface="+mn-ea"/>
              </a:rPr>
              <a:t>지역코드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지역명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11000</a:t>
            </a:r>
          </a:p>
          <a:p>
            <a:pPr>
              <a:lnSpc>
                <a:spcPct val="200000"/>
              </a:lnSpc>
            </a:pPr>
            <a:r>
              <a:rPr lang="en-US" altLang="ko-KR" sz="700" dirty="0">
                <a:latin typeface="+mn-ea"/>
              </a:rPr>
              <a:t>11740</a:t>
            </a:r>
          </a:p>
          <a:p>
            <a:pPr>
              <a:lnSpc>
                <a:spcPct val="200000"/>
              </a:lnSpc>
            </a:pPr>
            <a:r>
              <a:rPr lang="en-US" altLang="ko-KR" sz="700" dirty="0">
                <a:latin typeface="+mn-ea"/>
              </a:rPr>
              <a:t>11140</a:t>
            </a:r>
          </a:p>
          <a:p>
            <a:pPr>
              <a:lnSpc>
                <a:spcPct val="200000"/>
              </a:lnSpc>
            </a:pPr>
            <a:r>
              <a:rPr lang="en-US" altLang="ko-KR" sz="700" dirty="0">
                <a:latin typeface="+mn-ea"/>
              </a:rPr>
              <a:t>11170</a:t>
            </a:r>
          </a:p>
          <a:p>
            <a:pPr>
              <a:lnSpc>
                <a:spcPct val="200000"/>
              </a:lnSpc>
            </a:pPr>
            <a:r>
              <a:rPr lang="en-US" altLang="ko-KR" sz="700" dirty="0">
                <a:latin typeface="+mn-ea"/>
              </a:rPr>
              <a:t>11200</a:t>
            </a:r>
          </a:p>
          <a:p>
            <a:pPr>
              <a:lnSpc>
                <a:spcPct val="200000"/>
              </a:lnSpc>
            </a:pPr>
            <a:r>
              <a:rPr lang="en-US" altLang="ko-KR" sz="700" dirty="0">
                <a:latin typeface="+mn-ea"/>
              </a:rPr>
              <a:t>11215</a:t>
            </a:r>
          </a:p>
          <a:p>
            <a:pPr>
              <a:lnSpc>
                <a:spcPct val="200000"/>
              </a:lnSpc>
            </a:pPr>
            <a:r>
              <a:rPr lang="en-US" altLang="ko-KR" sz="700" dirty="0">
                <a:latin typeface="+mn-ea"/>
              </a:rPr>
              <a:t>11230</a:t>
            </a:r>
          </a:p>
          <a:p>
            <a:pPr>
              <a:lnSpc>
                <a:spcPct val="200000"/>
              </a:lnSpc>
            </a:pPr>
            <a:r>
              <a:rPr lang="en-US" altLang="ko-KR" sz="700" dirty="0">
                <a:latin typeface="+mn-ea"/>
              </a:rPr>
              <a:t>11260</a:t>
            </a:r>
          </a:p>
          <a:p>
            <a:pPr>
              <a:lnSpc>
                <a:spcPct val="200000"/>
              </a:lnSpc>
            </a:pPr>
            <a:r>
              <a:rPr lang="en-US" altLang="ko-KR" sz="700" dirty="0">
                <a:latin typeface="+mn-ea"/>
              </a:rPr>
              <a:t>11290</a:t>
            </a:r>
          </a:p>
          <a:p>
            <a:pPr>
              <a:lnSpc>
                <a:spcPct val="200000"/>
              </a:lnSpc>
            </a:pPr>
            <a:r>
              <a:rPr lang="en-US" altLang="ko-KR" sz="700" dirty="0">
                <a:latin typeface="+mn-ea"/>
              </a:rPr>
              <a:t>11305</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720460" cy="2154436"/>
          </a:xfrm>
          <a:prstGeom prst="rect">
            <a:avLst/>
          </a:prstGeom>
          <a:noFill/>
        </p:spPr>
        <p:txBody>
          <a:bodyPr wrap="square" lIns="0" tIns="0" rIns="0" bIns="0" rtlCol="0">
            <a:spAutoFit/>
          </a:bodyPr>
          <a:lstStyle/>
          <a:p>
            <a:pPr>
              <a:lnSpc>
                <a:spcPct val="200000"/>
              </a:lnSpc>
            </a:pPr>
            <a:r>
              <a:rPr lang="ko-KR" altLang="en-US" sz="700" dirty="0">
                <a:latin typeface="+mn-ea"/>
              </a:rPr>
              <a:t>서울특별시</a:t>
            </a:r>
            <a:endParaRPr lang="en-US" altLang="ko-KR" sz="700" dirty="0">
              <a:latin typeface="+mn-ea"/>
            </a:endParaRPr>
          </a:p>
          <a:p>
            <a:pPr>
              <a:lnSpc>
                <a:spcPct val="200000"/>
              </a:lnSpc>
            </a:pPr>
            <a:r>
              <a:rPr lang="ko-KR" altLang="en-US" sz="700" dirty="0">
                <a:latin typeface="+mn-ea"/>
              </a:rPr>
              <a:t>서울특별시 강동구</a:t>
            </a:r>
            <a:endParaRPr lang="en-US" altLang="ko-KR" sz="700" dirty="0">
              <a:latin typeface="+mn-ea"/>
            </a:endParaRPr>
          </a:p>
          <a:p>
            <a:pPr>
              <a:lnSpc>
                <a:spcPct val="200000"/>
              </a:lnSpc>
            </a:pPr>
            <a:r>
              <a:rPr lang="ko-KR" altLang="en-US" sz="700" dirty="0">
                <a:latin typeface="+mn-ea"/>
              </a:rPr>
              <a:t>서울특별시 중구</a:t>
            </a:r>
            <a:endParaRPr lang="en-US" altLang="ko-KR" sz="700" dirty="0">
              <a:latin typeface="+mn-ea"/>
            </a:endParaRPr>
          </a:p>
          <a:p>
            <a:pPr>
              <a:lnSpc>
                <a:spcPct val="200000"/>
              </a:lnSpc>
            </a:pPr>
            <a:r>
              <a:rPr lang="ko-KR" altLang="en-US" sz="700" dirty="0">
                <a:latin typeface="+mn-ea"/>
              </a:rPr>
              <a:t>서울특별시 용산구</a:t>
            </a:r>
            <a:endParaRPr lang="en-US" altLang="ko-KR" sz="700" dirty="0">
              <a:latin typeface="+mn-ea"/>
            </a:endParaRPr>
          </a:p>
          <a:p>
            <a:pPr>
              <a:lnSpc>
                <a:spcPct val="200000"/>
              </a:lnSpc>
            </a:pPr>
            <a:r>
              <a:rPr lang="ko-KR" altLang="en-US" sz="700" dirty="0">
                <a:latin typeface="+mn-ea"/>
              </a:rPr>
              <a:t>서울특별시 성동구</a:t>
            </a:r>
            <a:endParaRPr lang="en-US" altLang="ko-KR" sz="700" dirty="0">
              <a:latin typeface="+mn-ea"/>
            </a:endParaRPr>
          </a:p>
          <a:p>
            <a:pPr>
              <a:lnSpc>
                <a:spcPct val="200000"/>
              </a:lnSpc>
            </a:pPr>
            <a:r>
              <a:rPr lang="ko-KR" altLang="en-US" sz="700" dirty="0">
                <a:latin typeface="+mn-ea"/>
              </a:rPr>
              <a:t>서울특별시 광진구</a:t>
            </a:r>
            <a:endParaRPr lang="en-US" altLang="ko-KR" sz="700" dirty="0">
              <a:latin typeface="+mn-ea"/>
            </a:endParaRPr>
          </a:p>
          <a:p>
            <a:pPr>
              <a:lnSpc>
                <a:spcPct val="200000"/>
              </a:lnSpc>
            </a:pPr>
            <a:r>
              <a:rPr lang="ko-KR" altLang="en-US" sz="700" dirty="0">
                <a:latin typeface="+mn-ea"/>
              </a:rPr>
              <a:t>서울특별시 동대문구</a:t>
            </a:r>
            <a:endParaRPr lang="en-US" altLang="ko-KR" sz="700" dirty="0">
              <a:latin typeface="+mn-ea"/>
            </a:endParaRPr>
          </a:p>
          <a:p>
            <a:pPr>
              <a:lnSpc>
                <a:spcPct val="200000"/>
              </a:lnSpc>
            </a:pPr>
            <a:r>
              <a:rPr lang="ko-KR" altLang="en-US" sz="700" dirty="0">
                <a:latin typeface="+mn-ea"/>
              </a:rPr>
              <a:t>서울특별시 중랑구</a:t>
            </a:r>
            <a:endParaRPr lang="en-US" altLang="ko-KR" sz="700" dirty="0">
              <a:latin typeface="+mn-ea"/>
            </a:endParaRPr>
          </a:p>
          <a:p>
            <a:pPr>
              <a:lnSpc>
                <a:spcPct val="200000"/>
              </a:lnSpc>
            </a:pPr>
            <a:r>
              <a:rPr lang="ko-KR" altLang="en-US" sz="700" dirty="0">
                <a:latin typeface="+mn-ea"/>
              </a:rPr>
              <a:t>서울특별시 성북구</a:t>
            </a:r>
            <a:endParaRPr lang="en-US" altLang="ko-KR" sz="700" dirty="0">
              <a:latin typeface="+mn-ea"/>
            </a:endParaRPr>
          </a:p>
          <a:p>
            <a:pPr>
              <a:lnSpc>
                <a:spcPct val="200000"/>
              </a:lnSpc>
            </a:pPr>
            <a:r>
              <a:rPr lang="ko-KR" altLang="en-US" sz="700" dirty="0">
                <a:latin typeface="+mn-ea"/>
              </a:rPr>
              <a:t>서울특별시 강북구</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5848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390938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81" name="직선 연결선 80"/>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78" name="그룹 77"/>
          <p:cNvGrpSpPr/>
          <p:nvPr/>
        </p:nvGrpSpPr>
        <p:grpSpPr>
          <a:xfrm>
            <a:off x="8223250" y="804408"/>
            <a:ext cx="3365500" cy="634511"/>
            <a:chOff x="8223250" y="569392"/>
            <a:chExt cx="3365500" cy="634511"/>
          </a:xfrm>
        </p:grpSpPr>
        <p:sp>
          <p:nvSpPr>
            <p:cNvPr id="79" name="직사각형 78"/>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2026-07-09 </a:t>
              </a:r>
              <a:r>
                <a:rPr lang="ko-KR" altLang="en-US" b="1" dirty="0" smtClean="0"/>
                <a:t>삭제 화면</a:t>
              </a:r>
              <a:endParaRPr lang="ko-KR" altLang="en-US" b="1" dirty="0"/>
            </a:p>
          </p:txBody>
        </p:sp>
        <p:sp>
          <p:nvSpPr>
            <p:cNvPr id="80" name="직사각형 79"/>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en-US" altLang="ko-KR" sz="700" dirty="0" smtClean="0"/>
                <a:t>PC</a:t>
              </a:r>
              <a:r>
                <a:rPr lang="ko-KR" altLang="en-US" sz="700" dirty="0" smtClean="0"/>
                <a:t>버전의 </a:t>
              </a:r>
              <a:r>
                <a:rPr lang="ko-KR" altLang="en-US" sz="700" dirty="0" err="1" smtClean="0"/>
                <a:t>지역검색이</a:t>
              </a:r>
              <a:r>
                <a:rPr lang="ko-KR" altLang="en-US" sz="700" dirty="0" smtClean="0"/>
                <a:t> 실제 지명을 검색하는 방식이 아닌</a:t>
              </a:r>
              <a:r>
                <a:rPr lang="en-US" altLang="ko-KR" sz="700" dirty="0" smtClean="0"/>
                <a:t>, </a:t>
              </a:r>
              <a:r>
                <a:rPr lang="ko-KR" altLang="en-US" sz="700" dirty="0" smtClean="0"/>
                <a:t>일반 텍스트 입력 검색으로 변경되었음</a:t>
              </a:r>
              <a:r>
                <a:rPr lang="en-US" altLang="ko-KR" sz="700" dirty="0" smtClean="0"/>
                <a:t>.</a:t>
              </a:r>
            </a:p>
            <a:p>
              <a:pPr marL="228600" indent="-228600">
                <a:buAutoNum type="arabicPeriod"/>
              </a:pPr>
              <a:r>
                <a:rPr lang="ko-KR" altLang="en-US" sz="700" dirty="0" smtClean="0"/>
                <a:t>그래서 현재 화면이 </a:t>
              </a:r>
              <a:r>
                <a:rPr lang="ko-KR" altLang="en-US" sz="700" dirty="0" err="1" smtClean="0"/>
                <a:t>불필요해짐</a:t>
              </a:r>
              <a:r>
                <a:rPr lang="en-US" altLang="ko-KR" sz="700" dirty="0" smtClean="0"/>
                <a:t>.</a:t>
              </a:r>
              <a:endParaRPr lang="en-US" altLang="ko-KR" sz="700" dirty="0"/>
            </a:p>
          </p:txBody>
        </p:sp>
      </p:grpSp>
    </p:spTree>
    <p:extLst>
      <p:ext uri="{BB962C8B-B14F-4D97-AF65-F5344CB8AC3E}">
        <p14:creationId xmlns:p14="http://schemas.microsoft.com/office/powerpoint/2010/main" val="2695025489"/>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발주부서</a:t>
            </a:r>
            <a:r>
              <a:rPr lang="ko-KR" altLang="en-US" dirty="0" smtClean="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r>
              <a:rPr lang="en-US" altLang="ko-KR" dirty="0"/>
              <a:t/>
            </a:r>
            <a:br>
              <a:rPr lang="en-US" altLang="ko-KR" dirty="0"/>
            </a:br>
            <a:r>
              <a:rPr lang="en-US" altLang="ko-KR" dirty="0"/>
              <a:t>- </a:t>
            </a:r>
            <a:r>
              <a:rPr lang="ko-KR" altLang="en-US" dirty="0" err="1"/>
              <a:t>입력값</a:t>
            </a:r>
            <a:r>
              <a:rPr lang="ko-KR" altLang="en-US" dirty="0"/>
              <a:t> </a:t>
            </a:r>
            <a:r>
              <a:rPr lang="ko-KR" altLang="en-US" dirty="0" err="1"/>
              <a:t>없는경우</a:t>
            </a:r>
            <a:r>
              <a:rPr lang="ko-KR" altLang="en-US" dirty="0"/>
              <a:t> 검색 버튼 비활성화</a:t>
            </a:r>
            <a:r>
              <a:rPr lang="en-US" altLang="ko-KR" dirty="0"/>
              <a:t/>
            </a:r>
            <a:br>
              <a:rPr lang="en-US" altLang="ko-KR" dirty="0"/>
            </a:br>
            <a:r>
              <a:rPr lang="en-US" altLang="ko-KR" dirty="0"/>
              <a:t>- </a:t>
            </a:r>
            <a:r>
              <a:rPr lang="ko-KR" altLang="en-US" dirty="0"/>
              <a:t>특수문자 입력 불가</a:t>
            </a:r>
            <a:r>
              <a:rPr lang="en-US" altLang="ko-KR" dirty="0"/>
              <a:t/>
            </a:r>
            <a:br>
              <a:rPr lang="en-US" altLang="ko-KR" dirty="0"/>
            </a:br>
            <a:r>
              <a:rPr lang="en-US" altLang="ko-KR" dirty="0"/>
              <a:t>- </a:t>
            </a:r>
            <a:r>
              <a:rPr lang="ko-KR" altLang="en-US" dirty="0"/>
              <a:t>최소 </a:t>
            </a:r>
            <a:r>
              <a:rPr lang="en-US" altLang="ko-KR" dirty="0"/>
              <a:t>2</a:t>
            </a:r>
            <a:r>
              <a:rPr lang="ko-KR" altLang="en-US" dirty="0"/>
              <a:t>글자 이상 </a:t>
            </a:r>
            <a:r>
              <a:rPr lang="ko-KR" altLang="en-US" dirty="0" err="1"/>
              <a:t>입력시</a:t>
            </a:r>
            <a:r>
              <a:rPr lang="ko-KR" altLang="en-US" dirty="0"/>
              <a:t> 검색 가능</a:t>
            </a:r>
            <a:r>
              <a:rPr lang="en-US" altLang="ko-KR" dirty="0"/>
              <a:t/>
            </a:r>
            <a:br>
              <a:rPr lang="en-US" altLang="ko-KR" dirty="0"/>
            </a:br>
            <a:r>
              <a:rPr lang="en-US" altLang="ko-KR" dirty="0"/>
              <a:t>- enter </a:t>
            </a:r>
            <a:r>
              <a:rPr lang="ko-KR" altLang="en-US" dirty="0"/>
              <a:t>검색 가능</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r>
              <a:rPr lang="en-US" altLang="ko-KR" dirty="0"/>
              <a:t/>
            </a:r>
            <a:br>
              <a:rPr lang="en-US" altLang="ko-KR" dirty="0"/>
            </a:br>
            <a:r>
              <a:rPr lang="en-US" altLang="ko-KR" dirty="0"/>
              <a:t>- </a:t>
            </a:r>
            <a:r>
              <a:rPr lang="ko-KR" altLang="en-US" dirty="0"/>
              <a:t>검색 결과가 </a:t>
            </a:r>
            <a:r>
              <a:rPr lang="ko-KR" altLang="en-US" dirty="0" err="1"/>
              <a:t>많은경우</a:t>
            </a:r>
            <a:r>
              <a:rPr lang="ko-KR" altLang="en-US" dirty="0"/>
              <a:t> 무한 스크롤</a:t>
            </a:r>
            <a:r>
              <a:rPr lang="en-US" altLang="ko-KR" dirty="0"/>
              <a:t/>
            </a:r>
            <a:br>
              <a:rPr lang="en-US" altLang="ko-KR" dirty="0"/>
            </a:br>
            <a:r>
              <a:rPr lang="en-US" altLang="ko-KR" dirty="0"/>
              <a:t>- </a:t>
            </a:r>
            <a:r>
              <a:rPr lang="ko-KR" altLang="en-US" dirty="0" err="1" smtClean="0"/>
              <a:t>기관구분</a:t>
            </a:r>
            <a:r>
              <a:rPr lang="ko-KR" altLang="en-US" dirty="0" smtClean="0"/>
              <a:t> </a:t>
            </a:r>
            <a:r>
              <a:rPr lang="en-US" altLang="ko-KR" dirty="0"/>
              <a:t>: </a:t>
            </a:r>
            <a:r>
              <a:rPr lang="ko-KR" altLang="en-US" dirty="0" err="1" smtClean="0"/>
              <a:t>기관구분</a:t>
            </a:r>
            <a:r>
              <a:rPr lang="ko-KR" altLang="en-US" dirty="0" smtClean="0"/>
              <a:t> </a:t>
            </a:r>
            <a:r>
              <a:rPr lang="ko-KR" altLang="en-US" dirty="0"/>
              <a:t>코드 오름차순</a:t>
            </a:r>
            <a:r>
              <a:rPr lang="en-US" altLang="ko-KR" dirty="0"/>
              <a:t/>
            </a:r>
            <a:br>
              <a:rPr lang="en-US" altLang="ko-KR" dirty="0"/>
            </a:br>
            <a:r>
              <a:rPr lang="en-US" altLang="ko-KR" dirty="0"/>
              <a:t>- </a:t>
            </a:r>
            <a:r>
              <a:rPr lang="ko-KR" altLang="en-US" dirty="0" smtClean="0"/>
              <a:t>발주기관</a:t>
            </a:r>
            <a:r>
              <a:rPr lang="en-US" altLang="ko-KR" dirty="0" smtClean="0"/>
              <a:t> </a:t>
            </a:r>
            <a:r>
              <a:rPr lang="en-US" altLang="ko-KR" dirty="0"/>
              <a:t>: </a:t>
            </a:r>
            <a:r>
              <a:rPr lang="ko-KR" altLang="en-US" dirty="0" err="1" smtClean="0"/>
              <a:t>기관명</a:t>
            </a:r>
            <a:r>
              <a:rPr lang="ko-KR" altLang="en-US" dirty="0" smtClean="0"/>
              <a:t> 가나다 </a:t>
            </a:r>
            <a:r>
              <a:rPr lang="ko-KR" altLang="en-US" dirty="0"/>
              <a:t>오름차순</a:t>
            </a:r>
            <a:r>
              <a:rPr lang="en-US" altLang="ko-KR" dirty="0">
                <a:solidFill>
                  <a:srgbClr val="FF0000"/>
                </a:solidFill>
              </a:rPr>
              <a:t/>
            </a:r>
            <a:br>
              <a:rPr lang="en-US" altLang="ko-KR" dirty="0">
                <a:solidFill>
                  <a:srgbClr val="FF0000"/>
                </a:solidFill>
              </a:rPr>
            </a:br>
            <a:r>
              <a:rPr lang="en-US" altLang="ko-KR" dirty="0"/>
              <a:t>- </a:t>
            </a:r>
            <a:r>
              <a:rPr lang="ko-KR" altLang="en-US" dirty="0" smtClean="0"/>
              <a:t>발주기관이 </a:t>
            </a:r>
            <a:r>
              <a:rPr lang="ko-KR" altLang="en-US" dirty="0" err="1"/>
              <a:t>긴경우</a:t>
            </a:r>
            <a:r>
              <a:rPr lang="ko-KR" altLang="en-US" dirty="0"/>
              <a:t> </a:t>
            </a:r>
            <a:r>
              <a:rPr lang="en-US" altLang="ko-KR" dirty="0"/>
              <a:t>(…) </a:t>
            </a:r>
            <a:r>
              <a:rPr lang="ko-KR" altLang="en-US" dirty="0" err="1"/>
              <a:t>말줄임</a:t>
            </a:r>
            <a:r>
              <a:rPr lang="ko-KR" altLang="en-US" dirty="0"/>
              <a:t> 표시</a:t>
            </a:r>
            <a:r>
              <a:rPr lang="en-US" altLang="ko-KR" dirty="0"/>
              <a:t/>
            </a:r>
            <a:br>
              <a:rPr lang="en-US" altLang="ko-KR" dirty="0"/>
            </a:br>
            <a:r>
              <a:rPr lang="en-US" altLang="ko-KR" dirty="0"/>
              <a:t>- </a:t>
            </a:r>
            <a:r>
              <a:rPr lang="ko-KR" altLang="en-US" dirty="0"/>
              <a:t>검색결과가 </a:t>
            </a:r>
            <a:r>
              <a:rPr lang="en-US" altLang="ko-KR" dirty="0"/>
              <a:t>0</a:t>
            </a:r>
            <a:r>
              <a:rPr lang="ko-KR" altLang="en-US" dirty="0"/>
              <a:t>건인 경우 </a:t>
            </a:r>
            <a:r>
              <a:rPr lang="en-US" altLang="ko-KR" dirty="0"/>
              <a:t/>
            </a:r>
            <a:br>
              <a:rPr lang="en-US" altLang="ko-KR" dirty="0"/>
            </a:br>
            <a:r>
              <a:rPr lang="en-US" altLang="ko-KR" dirty="0"/>
              <a:t>“ </a:t>
            </a:r>
            <a:r>
              <a:rPr lang="ko-KR" altLang="en-US" dirty="0"/>
              <a:t>검색 결과가 없습니다</a:t>
            </a:r>
            <a:r>
              <a:rPr lang="en-US" altLang="ko-KR" dirty="0"/>
              <a:t>“ </a:t>
            </a:r>
            <a:r>
              <a:rPr lang="ko-KR" altLang="en-US" dirty="0"/>
              <a:t>표시</a:t>
            </a:r>
            <a:r>
              <a:rPr lang="en-US" altLang="ko-KR" dirty="0"/>
              <a:t/>
            </a:r>
            <a:br>
              <a:rPr lang="en-US" altLang="ko-KR" dirty="0"/>
            </a:br>
            <a:r>
              <a:rPr lang="en-US" altLang="ko-KR" dirty="0"/>
              <a:t>- </a:t>
            </a:r>
            <a:r>
              <a:rPr lang="ko-KR" altLang="en-US" dirty="0" smtClean="0"/>
              <a:t>기관 </a:t>
            </a:r>
            <a:r>
              <a:rPr lang="ko-KR" altLang="en-US" dirty="0"/>
              <a:t>구분 </a:t>
            </a:r>
            <a:r>
              <a:rPr lang="ko-KR" altLang="en-US" dirty="0" err="1"/>
              <a:t>변경시</a:t>
            </a:r>
            <a:r>
              <a:rPr lang="ko-KR" altLang="en-US" dirty="0"/>
              <a:t> </a:t>
            </a:r>
            <a:r>
              <a:rPr lang="ko-KR" altLang="en-US" dirty="0" err="1"/>
              <a:t>입력값</a:t>
            </a:r>
            <a:r>
              <a:rPr lang="ko-KR" altLang="en-US" dirty="0"/>
              <a:t> 초기화</a:t>
            </a:r>
            <a:endParaRPr lang="en-US" altLang="ko-KR" dirty="0"/>
          </a:p>
          <a:p>
            <a:pPr marL="228600" indent="-228600">
              <a:buFont typeface="+mj-lt"/>
              <a:buAutoNum type="arabicPeriod"/>
            </a:pPr>
            <a:r>
              <a:rPr lang="ko-KR" altLang="en-US" dirty="0" smtClean="0"/>
              <a:t>검색결과 </a:t>
            </a:r>
            <a:r>
              <a:rPr lang="ko-KR" altLang="en-US" dirty="0"/>
              <a:t>선택 시 </a:t>
            </a:r>
            <a:r>
              <a:rPr lang="ko-KR" altLang="en-US" dirty="0" err="1"/>
              <a:t>바텀</a:t>
            </a:r>
            <a:r>
              <a:rPr lang="ko-KR" altLang="en-US" dirty="0"/>
              <a:t> 시트 닫힘</a:t>
            </a:r>
            <a:r>
              <a:rPr lang="en-US" altLang="ko-KR" dirty="0"/>
              <a:t/>
            </a:r>
            <a:br>
              <a:rPr lang="en-US" altLang="ko-KR" dirty="0"/>
            </a:br>
            <a:r>
              <a:rPr lang="en-US" altLang="ko-KR" dirty="0"/>
              <a:t>- </a:t>
            </a:r>
            <a:r>
              <a:rPr lang="ko-KR" altLang="en-US" dirty="0"/>
              <a:t>검색 결과 </a:t>
            </a:r>
            <a:r>
              <a:rPr lang="ko-KR" altLang="en-US" dirty="0" err="1"/>
              <a:t>클릭시</a:t>
            </a:r>
            <a:r>
              <a:rPr lang="en-US" altLang="ko-KR" dirty="0"/>
              <a:t>, </a:t>
            </a:r>
            <a:r>
              <a:rPr lang="ko-KR" altLang="en-US" dirty="0" err="1"/>
              <a:t>검색창</a:t>
            </a:r>
            <a:r>
              <a:rPr lang="ko-KR" altLang="en-US" dirty="0"/>
              <a:t> 닫음</a:t>
            </a:r>
            <a:r>
              <a:rPr lang="en-US" altLang="ko-KR" dirty="0"/>
              <a:t>. </a:t>
            </a:r>
            <a:r>
              <a:rPr lang="ko-KR" altLang="en-US" dirty="0" err="1"/>
              <a:t>검색필터에</a:t>
            </a:r>
            <a:r>
              <a:rPr lang="ko-KR" altLang="en-US" dirty="0"/>
              <a:t> </a:t>
            </a:r>
            <a:r>
              <a:rPr lang="ko-KR" altLang="en-US" dirty="0" err="1" smtClean="0"/>
              <a:t>발주부서</a:t>
            </a:r>
            <a:r>
              <a:rPr lang="en-US" altLang="ko-KR" dirty="0" smtClean="0"/>
              <a:t> </a:t>
            </a:r>
            <a:r>
              <a:rPr lang="ko-KR" altLang="en-US" dirty="0"/>
              <a:t>반영</a:t>
            </a:r>
            <a:r>
              <a:rPr lang="en-US" altLang="ko-KR" dirty="0"/>
              <a:t>.</a:t>
            </a:r>
            <a:br>
              <a:rPr lang="en-US" altLang="ko-KR" dirty="0"/>
            </a:br>
            <a:r>
              <a:rPr lang="en-US" altLang="ko-KR" dirty="0"/>
              <a:t>- </a:t>
            </a:r>
            <a:r>
              <a:rPr lang="ko-KR" altLang="en-US" dirty="0"/>
              <a:t>닫기</a:t>
            </a:r>
            <a:r>
              <a:rPr lang="en-US" altLang="ko-KR" dirty="0"/>
              <a:t>(X) </a:t>
            </a:r>
            <a:r>
              <a:rPr lang="ko-KR" altLang="en-US" dirty="0" err="1"/>
              <a:t>클릭시</a:t>
            </a:r>
            <a:r>
              <a:rPr lang="ko-KR" altLang="en-US" dirty="0"/>
              <a:t> </a:t>
            </a:r>
            <a:r>
              <a:rPr lang="ko-KR" altLang="en-US" dirty="0" err="1"/>
              <a:t>입력값</a:t>
            </a:r>
            <a:r>
              <a:rPr lang="ko-KR" altLang="en-US" dirty="0"/>
              <a:t> 초기화</a:t>
            </a:r>
            <a:r>
              <a:rPr lang="en-US" altLang="ko-KR" dirty="0"/>
              <a:t/>
            </a:r>
            <a:br>
              <a:rPr lang="en-US" altLang="ko-KR" dirty="0"/>
            </a:br>
            <a:r>
              <a:rPr lang="en-US" altLang="ko-KR" dirty="0"/>
              <a:t/>
            </a:r>
            <a:br>
              <a:rPr lang="en-US" altLang="ko-KR" dirty="0"/>
            </a:br>
            <a:r>
              <a:rPr lang="ko-KR" altLang="en-US" dirty="0"/>
              <a:t> </a:t>
            </a:r>
            <a:r>
              <a:rPr lang="en-US" altLang="ko-KR" dirty="0"/>
              <a:t> </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발주부서</a:t>
            </a:r>
            <a:r>
              <a:rPr lang="en-US" altLang="ko-KR" dirty="0"/>
              <a:t>(</a:t>
            </a:r>
            <a:r>
              <a:rPr lang="ko-KR" altLang="en-US" dirty="0"/>
              <a:t>기관</a:t>
            </a:r>
            <a:r>
              <a:rPr lang="en-US" altLang="ko-KR" dirty="0"/>
              <a:t>)</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 </a:t>
            </a:r>
            <a:r>
              <a:rPr lang="ko-KR" altLang="en-US" dirty="0">
                <a:latin typeface="+mn-ea"/>
              </a:rPr>
              <a:t>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MUI-BD-01-P04</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육군</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기관구분</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a:latin typeface="+mn-ea"/>
              </a:rPr>
              <a:t>발주기관</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군수사</a:t>
            </a:r>
            <a:endParaRPr lang="en-US" altLang="ko-KR" sz="700" dirty="0">
              <a:latin typeface="+mn-ea"/>
            </a:endParaRPr>
          </a:p>
          <a:p>
            <a:pPr>
              <a:lnSpc>
                <a:spcPct val="200000"/>
              </a:lnSpc>
            </a:pPr>
            <a:r>
              <a:rPr lang="ko-KR" altLang="en-US" sz="700" dirty="0">
                <a:latin typeface="+mn-ea"/>
              </a:rPr>
              <a:t>교육사</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육군 </a:t>
            </a:r>
            <a:r>
              <a:rPr lang="en-US" altLang="ko-KR" sz="700" dirty="0">
                <a:latin typeface="+mn-ea"/>
              </a:rPr>
              <a:t>2</a:t>
            </a:r>
            <a:r>
              <a:rPr lang="ko-KR" altLang="en-US" sz="700" dirty="0">
                <a:latin typeface="+mn-ea"/>
              </a:rPr>
              <a:t>작사 </a:t>
            </a:r>
            <a:r>
              <a:rPr lang="en-US" altLang="ko-KR" sz="700" dirty="0">
                <a:latin typeface="+mn-ea"/>
              </a:rPr>
              <a:t>201</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2</a:t>
            </a:r>
            <a:r>
              <a:rPr lang="ko-KR" altLang="en-US" sz="700" dirty="0">
                <a:latin typeface="+mn-ea"/>
              </a:rPr>
              <a:t>작사 </a:t>
            </a:r>
            <a:r>
              <a:rPr lang="en-US" altLang="ko-KR" sz="700" dirty="0">
                <a:latin typeface="+mn-ea"/>
              </a:rPr>
              <a:t>203</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육군중앙경리단</a:t>
            </a:r>
            <a:endParaRPr lang="en-US" altLang="ko-KR" sz="700" dirty="0">
              <a:latin typeface="+mn-ea"/>
            </a:endParaRPr>
          </a:p>
          <a:p>
            <a:pPr>
              <a:lnSpc>
                <a:spcPct val="200000"/>
              </a:lnSpc>
            </a:pPr>
            <a:r>
              <a:rPr lang="ko-KR" altLang="en-US" sz="700" dirty="0">
                <a:latin typeface="+mn-ea"/>
              </a:rPr>
              <a:t>육군수사령부</a:t>
            </a:r>
            <a:endParaRPr lang="en-US" altLang="ko-KR" sz="700" dirty="0">
              <a:latin typeface="+mn-ea"/>
            </a:endParaRPr>
          </a:p>
          <a:p>
            <a:pPr>
              <a:lnSpc>
                <a:spcPct val="200000"/>
              </a:lnSpc>
            </a:pPr>
            <a:r>
              <a:rPr lang="ko-KR" altLang="en-US" sz="700" dirty="0">
                <a:latin typeface="+mn-ea"/>
              </a:rPr>
              <a:t>육군교육사령부</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3</a:t>
            </a:r>
            <a:r>
              <a:rPr lang="ko-KR" altLang="en-US" sz="700" dirty="0">
                <a:latin typeface="+mn-ea"/>
              </a:rPr>
              <a:t>사관학교</a:t>
            </a:r>
            <a:endParaRPr lang="en-US" altLang="ko-KR" sz="700" dirty="0">
              <a:latin typeface="+mn-ea"/>
            </a:endParaRPr>
          </a:p>
          <a:p>
            <a:pPr>
              <a:lnSpc>
                <a:spcPct val="200000"/>
              </a:lnSpc>
            </a:pPr>
            <a:r>
              <a:rPr lang="ko-KR" altLang="en-US" sz="700" dirty="0">
                <a:latin typeface="+mn-ea"/>
              </a:rPr>
              <a:t>육군공병학교</a:t>
            </a:r>
            <a:endParaRPr lang="en-US" altLang="ko-KR" sz="700" dirty="0">
              <a:latin typeface="+mn-ea"/>
            </a:endParaRPr>
          </a:p>
          <a:p>
            <a:pPr>
              <a:lnSpc>
                <a:spcPct val="200000"/>
              </a:lnSpc>
            </a:pPr>
            <a:r>
              <a:rPr lang="ko-KR" altLang="en-US" sz="700" dirty="0">
                <a:latin typeface="+mn-ea"/>
              </a:rPr>
              <a:t>육군기계화학교</a:t>
            </a:r>
            <a:endParaRPr lang="en-US" altLang="ko-KR" sz="700" dirty="0">
              <a:latin typeface="+mn-ea"/>
            </a:endParaRPr>
          </a:p>
          <a:p>
            <a:pPr>
              <a:lnSpc>
                <a:spcPct val="200000"/>
              </a:lnSpc>
            </a:pPr>
            <a:r>
              <a:rPr lang="ko-KR" altLang="en-US" sz="700" dirty="0">
                <a:latin typeface="+mn-ea"/>
              </a:rPr>
              <a:t>육군대학</a:t>
            </a:r>
            <a:endParaRPr lang="en-US" altLang="ko-KR" sz="700" dirty="0">
              <a:latin typeface="+mn-ea"/>
            </a:endParaRPr>
          </a:p>
          <a:p>
            <a:pPr>
              <a:lnSpc>
                <a:spcPct val="200000"/>
              </a:lnSpc>
            </a:pPr>
            <a:r>
              <a:rPr lang="ko-KR" altLang="en-US" sz="700" dirty="0">
                <a:latin typeface="+mn-ea"/>
              </a:rPr>
              <a:t>육군방공학교</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87148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1960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err="1">
                <a:latin typeface="+mn-ea"/>
              </a:rPr>
              <a:t>기관구분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877275334"/>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면허정보</a:t>
            </a:r>
            <a:r>
              <a:rPr lang="ko-KR" altLang="en-US" dirty="0" smtClean="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a:t>
            </a:r>
            <a:r>
              <a:rPr lang="ko-KR" altLang="en-US" dirty="0" smtClean="0"/>
              <a:t>동작</a:t>
            </a:r>
            <a:r>
              <a:rPr lang="en-US" altLang="ko-KR" dirty="0" smtClean="0"/>
              <a:t/>
            </a:r>
            <a:br>
              <a:rPr lang="en-US" altLang="ko-KR" dirty="0" smtClean="0"/>
            </a:br>
            <a:r>
              <a:rPr lang="en-US" altLang="ko-KR" dirty="0" smtClean="0"/>
              <a:t>- </a:t>
            </a:r>
            <a:r>
              <a:rPr lang="ko-KR" altLang="en-US" dirty="0" err="1" smtClean="0"/>
              <a:t>입력값</a:t>
            </a:r>
            <a:r>
              <a:rPr lang="ko-KR" altLang="en-US" dirty="0" smtClean="0"/>
              <a:t> </a:t>
            </a:r>
            <a:r>
              <a:rPr lang="ko-KR" altLang="en-US" dirty="0" err="1"/>
              <a:t>없는경우</a:t>
            </a:r>
            <a:r>
              <a:rPr lang="ko-KR" altLang="en-US" dirty="0"/>
              <a:t> 검색 버튼 비활성화</a:t>
            </a:r>
            <a:r>
              <a:rPr lang="en-US" altLang="ko-KR" dirty="0"/>
              <a:t/>
            </a:r>
            <a:br>
              <a:rPr lang="en-US" altLang="ko-KR" dirty="0"/>
            </a:br>
            <a:r>
              <a:rPr lang="en-US" altLang="ko-KR" dirty="0" smtClean="0"/>
              <a:t>- </a:t>
            </a:r>
            <a:r>
              <a:rPr lang="ko-KR" altLang="en-US" dirty="0"/>
              <a:t>특수문자 입력 </a:t>
            </a:r>
            <a:r>
              <a:rPr lang="ko-KR" altLang="en-US" dirty="0" smtClean="0"/>
              <a:t>불가</a:t>
            </a:r>
            <a:r>
              <a:rPr lang="en-US" altLang="ko-KR" dirty="0" smtClean="0"/>
              <a:t/>
            </a:r>
            <a:br>
              <a:rPr lang="en-US" altLang="ko-KR" dirty="0" smtClean="0"/>
            </a:br>
            <a:r>
              <a:rPr lang="en-US" altLang="ko-KR" dirty="0"/>
              <a:t>- </a:t>
            </a:r>
            <a:r>
              <a:rPr lang="ko-KR" altLang="en-US" dirty="0"/>
              <a:t>최소 </a:t>
            </a:r>
            <a:r>
              <a:rPr lang="en-US" altLang="ko-KR" dirty="0"/>
              <a:t>2</a:t>
            </a:r>
            <a:r>
              <a:rPr lang="ko-KR" altLang="en-US" dirty="0"/>
              <a:t>글자 이상 </a:t>
            </a:r>
            <a:r>
              <a:rPr lang="ko-KR" altLang="en-US" dirty="0" err="1"/>
              <a:t>입력시</a:t>
            </a:r>
            <a:r>
              <a:rPr lang="ko-KR" altLang="en-US" dirty="0"/>
              <a:t> 검색 </a:t>
            </a:r>
            <a:r>
              <a:rPr lang="ko-KR" altLang="en-US" dirty="0" smtClean="0"/>
              <a:t>가능</a:t>
            </a:r>
            <a:r>
              <a:rPr lang="en-US" altLang="ko-KR" dirty="0" smtClean="0"/>
              <a:t/>
            </a:r>
            <a:br>
              <a:rPr lang="en-US" altLang="ko-KR" dirty="0" smtClean="0"/>
            </a:br>
            <a:r>
              <a:rPr lang="en-US" altLang="ko-KR" dirty="0"/>
              <a:t>- enter </a:t>
            </a:r>
            <a:r>
              <a:rPr lang="ko-KR" altLang="en-US" dirty="0"/>
              <a:t>검색 </a:t>
            </a:r>
            <a:r>
              <a:rPr lang="ko-KR" altLang="en-US" dirty="0" smtClean="0"/>
              <a:t>가능</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a:t>
            </a:r>
            <a:r>
              <a:rPr lang="ko-KR" altLang="en-US" dirty="0" smtClean="0"/>
              <a:t>스크롤</a:t>
            </a:r>
            <a:r>
              <a:rPr lang="en-US" altLang="ko-KR" dirty="0"/>
              <a:t/>
            </a:r>
            <a:br>
              <a:rPr lang="en-US" altLang="ko-KR" dirty="0"/>
            </a:br>
            <a:r>
              <a:rPr lang="en-US" altLang="ko-KR" dirty="0"/>
              <a:t>- </a:t>
            </a:r>
            <a:r>
              <a:rPr lang="ko-KR" altLang="en-US" dirty="0"/>
              <a:t>검색 결과가 </a:t>
            </a:r>
            <a:r>
              <a:rPr lang="ko-KR" altLang="en-US" dirty="0" err="1"/>
              <a:t>많은경우</a:t>
            </a:r>
            <a:r>
              <a:rPr lang="ko-KR" altLang="en-US" dirty="0"/>
              <a:t> 무한 </a:t>
            </a:r>
            <a:r>
              <a:rPr lang="ko-KR" altLang="en-US" dirty="0" smtClean="0"/>
              <a:t>스크롤</a:t>
            </a:r>
            <a:r>
              <a:rPr lang="en-US" altLang="ko-KR" dirty="0" smtClean="0"/>
              <a:t/>
            </a:r>
            <a:br>
              <a:rPr lang="en-US" altLang="ko-KR" dirty="0" smtClean="0"/>
            </a:br>
            <a:r>
              <a:rPr lang="en-US" altLang="ko-KR" dirty="0" smtClean="0"/>
              <a:t>- </a:t>
            </a:r>
            <a:r>
              <a:rPr lang="ko-KR" altLang="en-US" dirty="0" err="1" smtClean="0"/>
              <a:t>면허코드</a:t>
            </a:r>
            <a:r>
              <a:rPr lang="ko-KR" altLang="en-US" dirty="0" smtClean="0"/>
              <a:t> </a:t>
            </a:r>
            <a:r>
              <a:rPr lang="en-US" altLang="ko-KR" dirty="0" smtClean="0"/>
              <a:t>: </a:t>
            </a:r>
            <a:r>
              <a:rPr lang="ko-KR" altLang="en-US" dirty="0" smtClean="0"/>
              <a:t>면허 코드 오름차순</a:t>
            </a:r>
            <a:r>
              <a:rPr lang="en-US" altLang="ko-KR" dirty="0" smtClean="0"/>
              <a:t/>
            </a:r>
            <a:br>
              <a:rPr lang="en-US" altLang="ko-KR" dirty="0" smtClean="0"/>
            </a:br>
            <a:r>
              <a:rPr lang="en-US" altLang="ko-KR" dirty="0"/>
              <a:t>- </a:t>
            </a:r>
            <a:r>
              <a:rPr lang="ko-KR" altLang="en-US" dirty="0" err="1" smtClean="0"/>
              <a:t>면허정보명</a:t>
            </a:r>
            <a:r>
              <a:rPr lang="ko-KR" altLang="en-US" dirty="0" smtClean="0"/>
              <a:t> </a:t>
            </a:r>
            <a:r>
              <a:rPr lang="ko-KR" altLang="en-US" dirty="0"/>
              <a:t>정렬</a:t>
            </a:r>
            <a:r>
              <a:rPr lang="en-US" altLang="ko-KR" dirty="0"/>
              <a:t> : </a:t>
            </a:r>
            <a:r>
              <a:rPr lang="ko-KR" altLang="en-US" dirty="0"/>
              <a:t>가나다 오름차순</a:t>
            </a:r>
            <a:r>
              <a:rPr lang="en-US" altLang="ko-KR" dirty="0">
                <a:solidFill>
                  <a:srgbClr val="FF0000"/>
                </a:solidFill>
              </a:rPr>
              <a:t/>
            </a:r>
            <a:br>
              <a:rPr lang="en-US" altLang="ko-KR" dirty="0">
                <a:solidFill>
                  <a:srgbClr val="FF0000"/>
                </a:solidFill>
              </a:rPr>
            </a:br>
            <a:r>
              <a:rPr lang="en-US" altLang="ko-KR" dirty="0"/>
              <a:t>- </a:t>
            </a:r>
            <a:r>
              <a:rPr lang="ko-KR" altLang="en-US" dirty="0"/>
              <a:t>면허정보명이 </a:t>
            </a:r>
            <a:r>
              <a:rPr lang="ko-KR" altLang="en-US" dirty="0" err="1"/>
              <a:t>긴경우</a:t>
            </a:r>
            <a:r>
              <a:rPr lang="ko-KR" altLang="en-US" dirty="0"/>
              <a:t> </a:t>
            </a:r>
            <a:r>
              <a:rPr lang="en-US" altLang="ko-KR" dirty="0"/>
              <a:t>(…) </a:t>
            </a:r>
            <a:r>
              <a:rPr lang="ko-KR" altLang="en-US" dirty="0" err="1"/>
              <a:t>말줄임</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a:t>검색결과가 </a:t>
            </a:r>
            <a:r>
              <a:rPr lang="en-US" altLang="ko-KR" dirty="0"/>
              <a:t>0</a:t>
            </a:r>
            <a:r>
              <a:rPr lang="ko-KR" altLang="en-US" dirty="0"/>
              <a:t>건인 경우 </a:t>
            </a:r>
            <a:r>
              <a:rPr lang="en-US" altLang="ko-KR" dirty="0" smtClean="0"/>
              <a:t/>
            </a:r>
            <a:br>
              <a:rPr lang="en-US" altLang="ko-KR" dirty="0" smtClean="0"/>
            </a:br>
            <a:r>
              <a:rPr lang="en-US" altLang="ko-KR" dirty="0" smtClean="0"/>
              <a:t>“ </a:t>
            </a:r>
            <a:r>
              <a:rPr lang="ko-KR" altLang="en-US" dirty="0"/>
              <a:t>검색 결과가 없습니다</a:t>
            </a:r>
            <a:r>
              <a:rPr lang="en-US" altLang="ko-KR" dirty="0"/>
              <a:t>“ </a:t>
            </a:r>
            <a:r>
              <a:rPr lang="ko-KR" altLang="en-US" dirty="0" smtClean="0"/>
              <a:t>표시</a:t>
            </a:r>
            <a:r>
              <a:rPr lang="en-US" altLang="ko-KR" dirty="0"/>
              <a:t/>
            </a:r>
            <a:br>
              <a:rPr lang="en-US" altLang="ko-KR" dirty="0"/>
            </a:br>
            <a:r>
              <a:rPr lang="en-US" altLang="ko-KR" dirty="0" smtClean="0"/>
              <a:t>- </a:t>
            </a:r>
            <a:r>
              <a:rPr lang="ko-KR" altLang="en-US" dirty="0" smtClean="0"/>
              <a:t>면허 구분 </a:t>
            </a:r>
            <a:r>
              <a:rPr lang="ko-KR" altLang="en-US" dirty="0" err="1" smtClean="0"/>
              <a:t>변경시</a:t>
            </a:r>
            <a:r>
              <a:rPr lang="ko-KR" altLang="en-US" dirty="0" smtClean="0"/>
              <a:t> </a:t>
            </a:r>
            <a:r>
              <a:rPr lang="ko-KR" altLang="en-US" dirty="0" err="1" smtClean="0"/>
              <a:t>입력값</a:t>
            </a:r>
            <a:r>
              <a:rPr lang="ko-KR" altLang="en-US" dirty="0" smtClean="0"/>
              <a:t> 초기화</a:t>
            </a:r>
            <a:endParaRPr lang="en-US" altLang="ko-KR" dirty="0" smtClean="0"/>
          </a:p>
          <a:p>
            <a:pPr marL="228600" indent="-228600">
              <a:buFont typeface="+mj-lt"/>
              <a:buAutoNum type="arabicPeriod"/>
            </a:pPr>
            <a:r>
              <a:rPr lang="ko-KR" altLang="en-US" dirty="0" err="1" smtClean="0"/>
              <a:t>면허정보</a:t>
            </a:r>
            <a:r>
              <a:rPr lang="ko-KR" altLang="en-US" dirty="0" smtClean="0"/>
              <a:t> </a:t>
            </a:r>
            <a:r>
              <a:rPr lang="ko-KR" altLang="en-US" dirty="0"/>
              <a:t>선택 시 </a:t>
            </a:r>
            <a:r>
              <a:rPr lang="ko-KR" altLang="en-US" dirty="0" err="1"/>
              <a:t>바텀</a:t>
            </a:r>
            <a:r>
              <a:rPr lang="ko-KR" altLang="en-US" dirty="0"/>
              <a:t> 시트 </a:t>
            </a:r>
            <a:r>
              <a:rPr lang="ko-KR" altLang="en-US" dirty="0" smtClean="0"/>
              <a:t>닫힘</a:t>
            </a:r>
            <a:r>
              <a:rPr lang="en-US" altLang="ko-KR" dirty="0" smtClean="0"/>
              <a:t/>
            </a:r>
            <a:br>
              <a:rPr lang="en-US" altLang="ko-KR" dirty="0" smtClean="0"/>
            </a:br>
            <a:r>
              <a:rPr lang="en-US" altLang="ko-KR" dirty="0" smtClean="0"/>
              <a:t>- </a:t>
            </a:r>
            <a:r>
              <a:rPr lang="ko-KR" altLang="en-US" dirty="0" smtClean="0"/>
              <a:t>검색 결과 </a:t>
            </a:r>
            <a:r>
              <a:rPr lang="ko-KR" altLang="en-US" dirty="0" err="1" smtClean="0"/>
              <a:t>클릭시</a:t>
            </a:r>
            <a:r>
              <a:rPr lang="en-US" altLang="ko-KR" dirty="0" smtClean="0"/>
              <a:t>, </a:t>
            </a:r>
            <a:r>
              <a:rPr lang="ko-KR" altLang="en-US" dirty="0" err="1" smtClean="0"/>
              <a:t>검색창</a:t>
            </a:r>
            <a:r>
              <a:rPr lang="ko-KR" altLang="en-US" dirty="0" smtClean="0"/>
              <a:t> 닫음</a:t>
            </a:r>
            <a:r>
              <a:rPr lang="en-US" altLang="ko-KR" dirty="0" smtClean="0"/>
              <a:t>. </a:t>
            </a:r>
            <a:r>
              <a:rPr lang="ko-KR" altLang="en-US" dirty="0" err="1" smtClean="0"/>
              <a:t>검색필터에</a:t>
            </a:r>
            <a:r>
              <a:rPr lang="ko-KR" altLang="en-US" dirty="0" smtClean="0"/>
              <a:t> </a:t>
            </a:r>
            <a:r>
              <a:rPr lang="ko-KR" altLang="en-US" dirty="0" err="1" smtClean="0"/>
              <a:t>면허정보명</a:t>
            </a:r>
            <a:r>
              <a:rPr lang="en-US" altLang="ko-KR" dirty="0"/>
              <a:t> </a:t>
            </a:r>
            <a:r>
              <a:rPr lang="ko-KR" altLang="en-US" dirty="0" smtClean="0"/>
              <a:t>반영</a:t>
            </a:r>
            <a:r>
              <a:rPr lang="en-US" altLang="ko-KR" dirty="0" smtClean="0"/>
              <a:t>.</a:t>
            </a:r>
            <a:br>
              <a:rPr lang="en-US" altLang="ko-KR" dirty="0" smtClean="0"/>
            </a:br>
            <a:r>
              <a:rPr lang="en-US" altLang="ko-KR" dirty="0" smtClean="0"/>
              <a:t>- </a:t>
            </a:r>
            <a:r>
              <a:rPr lang="ko-KR" altLang="en-US" dirty="0" smtClean="0"/>
              <a:t>닫기</a:t>
            </a:r>
            <a:r>
              <a:rPr lang="en-US" altLang="ko-KR" dirty="0" smtClean="0"/>
              <a:t>(X) </a:t>
            </a:r>
            <a:r>
              <a:rPr lang="ko-KR" altLang="en-US" dirty="0" err="1" smtClean="0"/>
              <a:t>클릭시</a:t>
            </a:r>
            <a:r>
              <a:rPr lang="ko-KR" altLang="en-US" dirty="0" smtClean="0"/>
              <a:t> </a:t>
            </a:r>
            <a:r>
              <a:rPr lang="ko-KR" altLang="en-US" dirty="0" err="1" smtClean="0"/>
              <a:t>입력값</a:t>
            </a:r>
            <a:r>
              <a:rPr lang="ko-KR" altLang="en-US" dirty="0" smtClean="0"/>
              <a:t> 초기화</a:t>
            </a:r>
            <a:r>
              <a:rPr lang="en-US" altLang="ko-KR" dirty="0" smtClean="0"/>
              <a:t/>
            </a:r>
            <a:br>
              <a:rPr lang="en-US" altLang="ko-KR" dirty="0" smtClean="0"/>
            </a:br>
            <a:r>
              <a:rPr lang="en-US" altLang="ko-KR" dirty="0" smtClean="0"/>
              <a:t/>
            </a:r>
            <a:br>
              <a:rPr lang="en-US" altLang="ko-KR" dirty="0" smtClean="0"/>
            </a:br>
            <a:r>
              <a:rPr lang="ko-KR" altLang="en-US" dirty="0" smtClean="0"/>
              <a:t> </a:t>
            </a:r>
            <a:r>
              <a:rPr lang="en-US" altLang="ko-KR" dirty="0" smtClean="0"/>
              <a:t> </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면허정보</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면허정보</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a:latin typeface="+mn-ea"/>
              </a:rPr>
              <a:t>면허정보검색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MUI-BD-01-P05</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식품</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면허코드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면허정보명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1399</a:t>
            </a:r>
          </a:p>
          <a:p>
            <a:pPr>
              <a:lnSpc>
                <a:spcPct val="200000"/>
              </a:lnSpc>
            </a:pPr>
            <a:r>
              <a:rPr lang="en-US" altLang="ko-KR" sz="700" dirty="0">
                <a:latin typeface="+mn-ea"/>
              </a:rPr>
              <a:t>8203</a:t>
            </a:r>
          </a:p>
          <a:p>
            <a:pPr>
              <a:lnSpc>
                <a:spcPct val="200000"/>
              </a:lnSpc>
            </a:pPr>
            <a:r>
              <a:rPr lang="en-US" altLang="ko-KR" sz="700" dirty="0">
                <a:latin typeface="+mn-ea"/>
              </a:rPr>
              <a:t>3975</a:t>
            </a:r>
          </a:p>
          <a:p>
            <a:pPr>
              <a:lnSpc>
                <a:spcPct val="200000"/>
              </a:lnSpc>
            </a:pPr>
            <a:r>
              <a:rPr lang="en-US" altLang="ko-KR" sz="700" dirty="0">
                <a:latin typeface="+mn-ea"/>
              </a:rPr>
              <a:t>1450</a:t>
            </a:r>
          </a:p>
          <a:p>
            <a:pPr>
              <a:lnSpc>
                <a:spcPct val="200000"/>
              </a:lnSpc>
            </a:pPr>
            <a:r>
              <a:rPr lang="en-US" altLang="ko-KR" sz="700" dirty="0">
                <a:latin typeface="+mn-ea"/>
              </a:rPr>
              <a:t>3934</a:t>
            </a:r>
          </a:p>
          <a:p>
            <a:pPr>
              <a:lnSpc>
                <a:spcPct val="200000"/>
              </a:lnSpc>
            </a:pPr>
            <a:r>
              <a:rPr lang="en-US" altLang="ko-KR" sz="700" dirty="0">
                <a:latin typeface="+mn-ea"/>
              </a:rPr>
              <a:t>3972</a:t>
            </a:r>
          </a:p>
          <a:p>
            <a:pPr>
              <a:lnSpc>
                <a:spcPct val="200000"/>
              </a:lnSpc>
            </a:pPr>
            <a:r>
              <a:rPr lang="en-US" altLang="ko-KR" sz="700" dirty="0">
                <a:latin typeface="+mn-ea"/>
              </a:rPr>
              <a:t>3973</a:t>
            </a:r>
          </a:p>
          <a:p>
            <a:pPr>
              <a:lnSpc>
                <a:spcPct val="200000"/>
              </a:lnSpc>
            </a:pPr>
            <a:r>
              <a:rPr lang="en-US" altLang="ko-KR" sz="700" dirty="0">
                <a:latin typeface="+mn-ea"/>
              </a:rPr>
              <a:t>3974</a:t>
            </a:r>
          </a:p>
          <a:p>
            <a:pPr>
              <a:lnSpc>
                <a:spcPct val="200000"/>
              </a:lnSpc>
            </a:pPr>
            <a:r>
              <a:rPr lang="en-US" altLang="ko-KR" sz="700" dirty="0">
                <a:latin typeface="+mn-ea"/>
              </a:rPr>
              <a:t>3976</a:t>
            </a:r>
          </a:p>
          <a:p>
            <a:pPr>
              <a:lnSpc>
                <a:spcPct val="200000"/>
              </a:lnSpc>
            </a:pPr>
            <a:r>
              <a:rPr lang="en-US" altLang="ko-KR" sz="700" dirty="0">
                <a:latin typeface="+mn-ea"/>
              </a:rPr>
              <a:t>5201</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식품제조 가공업</a:t>
            </a:r>
            <a:endParaRPr lang="en-US" altLang="ko-KR" sz="700" dirty="0">
              <a:latin typeface="+mn-ea"/>
            </a:endParaRPr>
          </a:p>
          <a:p>
            <a:pPr>
              <a:lnSpc>
                <a:spcPct val="200000"/>
              </a:lnSpc>
            </a:pPr>
            <a:r>
              <a:rPr lang="ko-KR" altLang="en-US" sz="700" dirty="0">
                <a:latin typeface="+mn-ea"/>
              </a:rPr>
              <a:t>식품 등 시험검사기관 </a:t>
            </a:r>
            <a:r>
              <a:rPr lang="en-US" altLang="ko-KR" sz="700" dirty="0">
                <a:latin typeface="+mn-ea"/>
              </a:rPr>
              <a:t>(</a:t>
            </a:r>
            <a:r>
              <a:rPr lang="ko-KR" altLang="en-US" sz="700" dirty="0">
                <a:latin typeface="+mn-ea"/>
              </a:rPr>
              <a:t>식품안전관리인증검사</a:t>
            </a:r>
            <a:r>
              <a:rPr lang="en-US" altLang="ko-KR" sz="700" dirty="0">
                <a:latin typeface="+mn-ea"/>
              </a:rPr>
              <a:t>)</a:t>
            </a:r>
          </a:p>
          <a:p>
            <a:pPr>
              <a:lnSpc>
                <a:spcPct val="200000"/>
              </a:lnSpc>
            </a:pPr>
            <a:r>
              <a:rPr lang="ko-KR" altLang="en-US" sz="700" dirty="0">
                <a:latin typeface="+mn-ea"/>
              </a:rPr>
              <a:t>우수식품인증기관 </a:t>
            </a:r>
            <a:r>
              <a:rPr lang="en-US" altLang="ko-KR" sz="700" dirty="0">
                <a:latin typeface="+mn-ea"/>
              </a:rPr>
              <a:t>(</a:t>
            </a:r>
            <a:r>
              <a:rPr lang="ko-KR" altLang="en-US" sz="700" dirty="0">
                <a:latin typeface="+mn-ea"/>
              </a:rPr>
              <a:t>전통식품품질인증</a:t>
            </a:r>
            <a:r>
              <a:rPr lang="en-US" altLang="ko-KR" sz="700" dirty="0">
                <a:latin typeface="+mn-ea"/>
              </a:rPr>
              <a:t>)</a:t>
            </a:r>
          </a:p>
          <a:p>
            <a:pPr>
              <a:lnSpc>
                <a:spcPct val="200000"/>
              </a:lnSpc>
            </a:pPr>
            <a:r>
              <a:rPr lang="ko-KR" altLang="en-US" sz="700" dirty="0" err="1">
                <a:latin typeface="+mn-ea"/>
              </a:rPr>
              <a:t>식품접객업</a:t>
            </a:r>
            <a:r>
              <a:rPr lang="ko-KR" altLang="en-US" sz="700" dirty="0">
                <a:latin typeface="+mn-ea"/>
              </a:rPr>
              <a:t> </a:t>
            </a:r>
            <a:r>
              <a:rPr lang="en-US" altLang="ko-KR" sz="700" dirty="0">
                <a:latin typeface="+mn-ea"/>
              </a:rPr>
              <a:t>(</a:t>
            </a:r>
            <a:r>
              <a:rPr lang="ko-KR" altLang="en-US" sz="700" dirty="0" err="1">
                <a:latin typeface="+mn-ea"/>
              </a:rPr>
              <a:t>위탁급식업</a:t>
            </a:r>
            <a:r>
              <a:rPr lang="en-US" altLang="ko-KR" sz="700" dirty="0">
                <a:latin typeface="+mn-ea"/>
              </a:rPr>
              <a:t>)</a:t>
            </a:r>
          </a:p>
          <a:p>
            <a:pPr>
              <a:lnSpc>
                <a:spcPct val="200000"/>
              </a:lnSpc>
            </a:pPr>
            <a:r>
              <a:rPr lang="ko-KR" altLang="en-US" sz="700" dirty="0" err="1">
                <a:latin typeface="+mn-ea"/>
              </a:rPr>
              <a:t>유기식품등</a:t>
            </a:r>
            <a:r>
              <a:rPr lang="ko-KR" altLang="en-US" sz="700" dirty="0">
                <a:latin typeface="+mn-ea"/>
              </a:rPr>
              <a:t> 인증기관</a:t>
            </a:r>
            <a:endParaRPr lang="en-US" altLang="ko-KR" sz="700" dirty="0">
              <a:latin typeface="+mn-ea"/>
            </a:endParaRPr>
          </a:p>
          <a:p>
            <a:pPr>
              <a:lnSpc>
                <a:spcPct val="200000"/>
              </a:lnSpc>
            </a:pPr>
            <a:r>
              <a:rPr lang="ko-KR" altLang="en-US" sz="700" dirty="0">
                <a:latin typeface="+mn-ea"/>
              </a:rPr>
              <a:t>식품산업전문인력양성기관</a:t>
            </a:r>
            <a:endParaRPr lang="en-US" altLang="ko-KR" sz="700" dirty="0">
              <a:latin typeface="+mn-ea"/>
            </a:endParaRPr>
          </a:p>
          <a:p>
            <a:pPr>
              <a:lnSpc>
                <a:spcPct val="200000"/>
              </a:lnSpc>
            </a:pPr>
            <a:r>
              <a:rPr lang="ko-KR" altLang="en-US" sz="700" dirty="0" err="1">
                <a:latin typeface="+mn-ea"/>
              </a:rPr>
              <a:t>식품성분</a:t>
            </a:r>
            <a:r>
              <a:rPr lang="ko-KR" altLang="en-US" sz="700" dirty="0">
                <a:latin typeface="+mn-ea"/>
              </a:rPr>
              <a:t> 조사 연구기관</a:t>
            </a:r>
            <a:endParaRPr lang="en-US" altLang="ko-KR" sz="700" dirty="0">
              <a:latin typeface="+mn-ea"/>
            </a:endParaRP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식품산업표준인증</a:t>
            </a:r>
            <a:r>
              <a:rPr lang="en-US" altLang="ko-KR" sz="700" dirty="0">
                <a:latin typeface="+mn-ea"/>
              </a:rPr>
              <a:t>)</a:t>
            </a: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유기가공식품인증</a:t>
            </a:r>
            <a:r>
              <a:rPr lang="en-US" altLang="ko-KR" sz="700" dirty="0">
                <a:latin typeface="+mn-ea"/>
              </a:rPr>
              <a:t>)</a:t>
            </a:r>
          </a:p>
          <a:p>
            <a:pPr>
              <a:lnSpc>
                <a:spcPct val="200000"/>
              </a:lnSpc>
            </a:pPr>
            <a:r>
              <a:rPr lang="ko-KR" altLang="en-US" sz="700" dirty="0">
                <a:latin typeface="+mn-ea"/>
              </a:rPr>
              <a:t>식품 즉석판매제조 가공업</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0100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면허코드</a:t>
            </a:r>
            <a:endParaRPr lang="ko-KR" altLang="en-US" sz="700" dirty="0">
              <a:solidFill>
                <a:schemeClr val="tx1"/>
              </a:solidFill>
            </a:endParaRP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546018067"/>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날짜 설정 </a:t>
            </a:r>
            <a:r>
              <a:rPr lang="ko-KR" altLang="en-US" dirty="0" err="1"/>
              <a:t>바텀</a:t>
            </a:r>
            <a:r>
              <a:rPr lang="ko-KR" altLang="en-US" dirty="0"/>
              <a:t> 시트 캘린더 표시</a:t>
            </a:r>
            <a:r>
              <a:rPr lang="en-US" altLang="ko-KR" dirty="0"/>
              <a:t/>
            </a:r>
            <a:br>
              <a:rPr lang="en-US" altLang="ko-KR" dirty="0"/>
            </a:br>
            <a:r>
              <a:rPr lang="en-US" altLang="ko-KR" dirty="0"/>
              <a:t>- </a:t>
            </a:r>
            <a:r>
              <a:rPr lang="ko-KR" altLang="en-US" dirty="0"/>
              <a:t>오늘 날짜 기본 선택</a:t>
            </a:r>
            <a:r>
              <a:rPr lang="en-US" altLang="ko-KR" dirty="0"/>
              <a:t/>
            </a:r>
            <a:br>
              <a:rPr lang="en-US" altLang="ko-KR" dirty="0"/>
            </a:br>
            <a:r>
              <a:rPr lang="en-US" altLang="ko-KR" dirty="0"/>
              <a:t>- </a:t>
            </a:r>
            <a:r>
              <a:rPr lang="ko-KR" altLang="en-US" dirty="0"/>
              <a:t>저장 선택 시 날짜 반영</a:t>
            </a:r>
            <a:r>
              <a:rPr lang="en-US" altLang="ko-KR" dirty="0"/>
              <a:t/>
            </a:r>
            <a:br>
              <a:rPr lang="en-US" altLang="ko-KR" dirty="0"/>
            </a:br>
            <a:r>
              <a:rPr lang="en-US" altLang="ko-KR" dirty="0"/>
              <a:t>- </a:t>
            </a:r>
            <a:r>
              <a:rPr lang="ko-KR" altLang="en-US" dirty="0"/>
              <a:t>연월 선택 시 연월 다이얼 선택 화면 전환</a:t>
            </a:r>
            <a:endParaRPr lang="en-US" altLang="ko-KR" dirty="0"/>
          </a:p>
          <a:p>
            <a:pPr marL="228600" indent="-228600">
              <a:buFont typeface="+mj-lt"/>
              <a:buAutoNum type="arabicPeriod"/>
            </a:pPr>
            <a:r>
              <a:rPr lang="ko-KR" altLang="en-US" dirty="0"/>
              <a:t>연</a:t>
            </a:r>
            <a:r>
              <a:rPr lang="en-US" altLang="ko-KR" dirty="0"/>
              <a:t>, </a:t>
            </a:r>
            <a:r>
              <a:rPr lang="ko-KR" altLang="en-US" dirty="0"/>
              <a:t>월 선택 시 연도</a:t>
            </a:r>
            <a:r>
              <a:rPr lang="en-US" altLang="ko-KR" dirty="0"/>
              <a:t>, </a:t>
            </a:r>
            <a:r>
              <a:rPr lang="ko-KR" altLang="en-US" dirty="0"/>
              <a:t>월 선택 화면으로 변경</a:t>
            </a:r>
            <a:r>
              <a:rPr lang="en-US" altLang="ko-KR" dirty="0"/>
              <a:t/>
            </a:r>
            <a:br>
              <a:rPr lang="en-US" altLang="ko-KR" dirty="0"/>
            </a:br>
            <a:r>
              <a:rPr lang="en-US" altLang="ko-KR" dirty="0"/>
              <a:t>- </a:t>
            </a:r>
            <a:r>
              <a:rPr lang="ko-KR" altLang="en-US" dirty="0"/>
              <a:t>적용 선택 시 날짜 </a:t>
            </a:r>
            <a:r>
              <a:rPr lang="ko-KR" altLang="en-US" dirty="0" err="1"/>
              <a:t>입력기에</a:t>
            </a:r>
            <a:r>
              <a:rPr lang="ko-KR" altLang="en-US" dirty="0"/>
              <a:t> 연</a:t>
            </a:r>
            <a:r>
              <a:rPr lang="en-US" altLang="ko-KR" dirty="0"/>
              <a:t>, </a:t>
            </a:r>
            <a:r>
              <a:rPr lang="ko-KR" altLang="en-US" dirty="0"/>
              <a:t>월 반영</a:t>
            </a:r>
            <a:r>
              <a:rPr lang="en-US" altLang="ko-KR" dirty="0"/>
              <a:t/>
            </a:r>
            <a:br>
              <a:rPr lang="en-US" altLang="ko-KR" dirty="0"/>
            </a:br>
            <a:r>
              <a:rPr lang="en-US" altLang="ko-KR" dirty="0"/>
              <a:t>  &gt; </a:t>
            </a:r>
            <a:r>
              <a:rPr lang="ko-KR" altLang="en-US" dirty="0"/>
              <a:t>요일 정보 해당 연월에 맞게 변경 노출</a:t>
            </a:r>
            <a:r>
              <a:rPr lang="en-US" altLang="ko-KR" dirty="0"/>
              <a:t/>
            </a:r>
            <a:br>
              <a:rPr lang="en-US" altLang="ko-KR" dirty="0"/>
            </a:br>
            <a:r>
              <a:rPr lang="en-US" altLang="ko-KR" dirty="0"/>
              <a:t>- </a:t>
            </a:r>
            <a:r>
              <a:rPr lang="ko-KR" altLang="en-US" dirty="0"/>
              <a:t>취소 선택 시 선택 입력 없이 복귀</a:t>
            </a:r>
            <a:endParaRPr lang="en-US" altLang="ko-KR" dirty="0"/>
          </a:p>
          <a:p>
            <a:pPr marL="228600" indent="-228600">
              <a:buFont typeface="+mj-lt"/>
              <a:buAutoNum type="arabicPeriod"/>
            </a:pPr>
            <a:r>
              <a:rPr lang="ko-KR" altLang="en-US" dirty="0"/>
              <a:t>적용 선택 시 </a:t>
            </a:r>
            <a:r>
              <a:rPr lang="en-US" altLang="ko-KR" dirty="0"/>
              <a:t>auto fill</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날짜 설정</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날짜를 설정하는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공통 </a:t>
            </a:r>
            <a:r>
              <a:rPr lang="en-US" altLang="ko-KR" dirty="0"/>
              <a:t>&gt; </a:t>
            </a:r>
            <a:r>
              <a:rPr lang="ko-KR" altLang="en-US" dirty="0"/>
              <a:t>날짜 설정</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828962" y="3591898"/>
            <a:ext cx="2404900" cy="1793599"/>
            <a:chOff x="853448" y="3591898"/>
            <a:chExt cx="2404900" cy="1793599"/>
          </a:xfrm>
        </p:grpSpPr>
        <p:grpSp>
          <p:nvGrpSpPr>
            <p:cNvPr id="84" name="그룹 83">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8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9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91" name="그룹 9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96" name="그룹 9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0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04" name="이등변 삼각형 103">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97" name="그룹 9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0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01" name="이등변 삼각형 10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9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9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9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6443575" y="2011321"/>
                <a:ext cx="124829" cy="124829"/>
              </a:xfrm>
              <a:prstGeom prst="rect">
                <a:avLst/>
              </a:prstGeom>
            </p:spPr>
          </p:pic>
          <p:pic>
            <p:nvPicPr>
              <p:cNvPr id="9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6337510" y="2006235"/>
                <a:ext cx="135001" cy="135001"/>
              </a:xfrm>
              <a:prstGeom prst="rect">
                <a:avLst/>
              </a:prstGeom>
            </p:spPr>
          </p:pic>
          <p:pic>
            <p:nvPicPr>
              <p:cNvPr id="9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7582427" y="2011321"/>
                <a:ext cx="124829" cy="124829"/>
              </a:xfrm>
              <a:prstGeom prst="rect">
                <a:avLst/>
              </a:prstGeom>
            </p:spPr>
          </p:pic>
          <p:pic>
            <p:nvPicPr>
              <p:cNvPr id="9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flipH="1">
                <a:off x="7685706" y="2006235"/>
                <a:ext cx="135001" cy="135001"/>
              </a:xfrm>
              <a:prstGeom prst="rect">
                <a:avLst/>
              </a:prstGeom>
            </p:spPr>
          </p:pic>
        </p:grpSp>
        <p:pic>
          <p:nvPicPr>
            <p:cNvPr id="85"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05" name="그룹 104"/>
          <p:cNvGrpSpPr/>
          <p:nvPr/>
        </p:nvGrpSpPr>
        <p:grpSpPr>
          <a:xfrm>
            <a:off x="675399" y="5614711"/>
            <a:ext cx="2712027" cy="617588"/>
            <a:chOff x="675399" y="5614711"/>
            <a:chExt cx="2712027" cy="617588"/>
          </a:xfrm>
        </p:grpSpPr>
        <p:sp>
          <p:nvSpPr>
            <p:cNvPr id="106" name="직사각형 10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9" name="직사각형 10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673" y="3182696"/>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a:off x="3795734" y="5614711"/>
            <a:ext cx="2712027" cy="617588"/>
            <a:chOff x="675399" y="5614711"/>
            <a:chExt cx="2712027" cy="617588"/>
          </a:xfrm>
        </p:grpSpPr>
        <p:sp>
          <p:nvSpPr>
            <p:cNvPr id="143" name="직사각형 1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적용</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TextBox 145">
            <a:extLst>
              <a:ext uri="{FF2B5EF4-FFF2-40B4-BE49-F238E27FC236}">
                <a16:creationId xmlns:a16="http://schemas.microsoft.com/office/drawing/2014/main" id="{FFC49AEA-2A8F-250C-A86A-A7751D9706C3}"/>
              </a:ext>
            </a:extLst>
          </p:cNvPr>
          <p:cNvSpPr txBox="1"/>
          <p:nvPr/>
        </p:nvSpPr>
        <p:spPr>
          <a:xfrm>
            <a:off x="4176932" y="3766913"/>
            <a:ext cx="670770" cy="107722"/>
          </a:xfrm>
          <a:prstGeom prst="rect">
            <a:avLst/>
          </a:prstGeom>
          <a:noFill/>
        </p:spPr>
        <p:txBody>
          <a:bodyPr wrap="square" lIns="0" tIns="0" rIns="0" bIns="0" rtlCol="0">
            <a:spAutoFit/>
          </a:bodyPr>
          <a:lstStyle/>
          <a:p>
            <a:r>
              <a:rPr lang="ko-KR" altLang="en-US" sz="700" b="1" dirty="0">
                <a:latin typeface="+mn-ea"/>
              </a:rPr>
              <a:t>연도</a:t>
            </a:r>
            <a:endParaRPr lang="en-US" altLang="ko-KR" sz="700" b="1"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5330761" y="3766913"/>
            <a:ext cx="670770" cy="107722"/>
          </a:xfrm>
          <a:prstGeom prst="rect">
            <a:avLst/>
          </a:prstGeom>
          <a:noFill/>
        </p:spPr>
        <p:txBody>
          <a:bodyPr wrap="square" lIns="0" tIns="0" rIns="0" bIns="0" rtlCol="0">
            <a:spAutoFit/>
          </a:bodyPr>
          <a:lstStyle/>
          <a:p>
            <a:r>
              <a:rPr lang="ko-KR" altLang="en-US" sz="700" b="1" dirty="0">
                <a:latin typeface="+mn-ea"/>
              </a:rPr>
              <a:t>월</a:t>
            </a:r>
            <a:endParaRPr lang="en-US" altLang="ko-KR" sz="700" b="1"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3924811" y="3497923"/>
            <a:ext cx="1798758" cy="138499"/>
          </a:xfrm>
          <a:prstGeom prst="rect">
            <a:avLst/>
          </a:prstGeom>
          <a:noFill/>
        </p:spPr>
        <p:txBody>
          <a:bodyPr wrap="square" lIns="0" tIns="0" rIns="0" bIns="0" rtlCol="0">
            <a:spAutoFit/>
          </a:bodyPr>
          <a:lstStyle/>
          <a:p>
            <a:r>
              <a:rPr lang="ko-KR" altLang="en-US" sz="900" dirty="0">
                <a:latin typeface="+mn-ea"/>
              </a:rPr>
              <a:t>연도</a:t>
            </a:r>
            <a:r>
              <a:rPr lang="en-US" altLang="ko-KR" sz="900" dirty="0">
                <a:latin typeface="+mn-ea"/>
              </a:rPr>
              <a:t>, </a:t>
            </a:r>
            <a:r>
              <a:rPr lang="ko-KR" altLang="en-US" sz="900" dirty="0">
                <a:latin typeface="+mn-ea"/>
              </a:rPr>
              <a:t>월 설정</a:t>
            </a:r>
          </a:p>
        </p:txBody>
      </p:sp>
      <p:sp>
        <p:nvSpPr>
          <p:cNvPr id="155" name="모서리가 둥근 직사각형 154"/>
          <p:cNvSpPr/>
          <p:nvPr/>
        </p:nvSpPr>
        <p:spPr>
          <a:xfrm rot="5400000">
            <a:off x="6098765" y="4392689"/>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7" name="모서리가 둥근 직사각형 156"/>
          <p:cNvSpPr/>
          <p:nvPr/>
        </p:nvSpPr>
        <p:spPr>
          <a:xfrm rot="5400000">
            <a:off x="4912204" y="4212689"/>
            <a:ext cx="36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7" name="직사각형 6"/>
          <p:cNvSpPr/>
          <p:nvPr/>
        </p:nvSpPr>
        <p:spPr>
          <a:xfrm>
            <a:off x="5287805"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5330761" y="3983744"/>
            <a:ext cx="434753" cy="1508105"/>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월</a:t>
            </a:r>
            <a:endParaRPr lang="en-US" altLang="ko-KR" sz="700" dirty="0">
              <a:latin typeface="+mn-ea"/>
            </a:endParaRPr>
          </a:p>
          <a:p>
            <a:pPr>
              <a:lnSpc>
                <a:spcPct val="200000"/>
              </a:lnSpc>
            </a:pPr>
            <a:r>
              <a:rPr lang="en-US" altLang="ko-KR" sz="700" dirty="0">
                <a:latin typeface="+mn-ea"/>
              </a:rPr>
              <a:t>2</a:t>
            </a:r>
            <a:r>
              <a:rPr lang="ko-KR" altLang="en-US" sz="700" dirty="0">
                <a:latin typeface="+mn-ea"/>
              </a:rPr>
              <a:t>월</a:t>
            </a:r>
            <a:endParaRPr lang="en-US" altLang="ko-KR" sz="700" dirty="0">
              <a:latin typeface="+mn-ea"/>
            </a:endParaRPr>
          </a:p>
          <a:p>
            <a:pPr>
              <a:lnSpc>
                <a:spcPct val="200000"/>
              </a:lnSpc>
            </a:pPr>
            <a:r>
              <a:rPr lang="en-US" altLang="ko-KR" sz="700" dirty="0">
                <a:latin typeface="+mn-ea"/>
              </a:rPr>
              <a:t>3</a:t>
            </a:r>
            <a:r>
              <a:rPr lang="ko-KR" altLang="en-US" sz="700" dirty="0">
                <a:latin typeface="+mn-ea"/>
              </a:rPr>
              <a:t>월</a:t>
            </a:r>
            <a:endParaRPr lang="en-US" altLang="ko-KR" sz="700" dirty="0">
              <a:latin typeface="+mn-ea"/>
            </a:endParaRPr>
          </a:p>
          <a:p>
            <a:pPr>
              <a:lnSpc>
                <a:spcPct val="200000"/>
              </a:lnSpc>
            </a:pPr>
            <a:r>
              <a:rPr lang="en-US" altLang="ko-KR" sz="700" dirty="0">
                <a:latin typeface="+mn-ea"/>
              </a:rPr>
              <a:t>4</a:t>
            </a:r>
            <a:r>
              <a:rPr lang="ko-KR" altLang="en-US" sz="700" dirty="0">
                <a:latin typeface="+mn-ea"/>
              </a:rPr>
              <a:t>월</a:t>
            </a:r>
            <a:endParaRPr lang="en-US" altLang="ko-KR" sz="700" dirty="0">
              <a:latin typeface="+mn-ea"/>
            </a:endParaRPr>
          </a:p>
          <a:p>
            <a:pPr>
              <a:lnSpc>
                <a:spcPct val="200000"/>
              </a:lnSpc>
            </a:pPr>
            <a:r>
              <a:rPr lang="en-US" altLang="ko-KR" sz="700" dirty="0">
                <a:latin typeface="+mn-ea"/>
              </a:rPr>
              <a:t>5</a:t>
            </a:r>
            <a:r>
              <a:rPr lang="ko-KR" altLang="en-US" sz="700" dirty="0">
                <a:latin typeface="+mn-ea"/>
              </a:rPr>
              <a:t>월</a:t>
            </a:r>
            <a:endParaRPr lang="en-US" altLang="ko-KR" sz="700" dirty="0">
              <a:latin typeface="+mn-ea"/>
            </a:endParaRPr>
          </a:p>
          <a:p>
            <a:pPr>
              <a:lnSpc>
                <a:spcPct val="200000"/>
              </a:lnSpc>
            </a:pPr>
            <a:r>
              <a:rPr lang="en-US" altLang="ko-KR" sz="700" dirty="0">
                <a:latin typeface="+mn-ea"/>
              </a:rPr>
              <a:t>6</a:t>
            </a:r>
            <a:r>
              <a:rPr lang="ko-KR" altLang="en-US" sz="700" dirty="0">
                <a:latin typeface="+mn-ea"/>
              </a:rPr>
              <a:t>월</a:t>
            </a:r>
            <a:endParaRPr lang="en-US" altLang="ko-KR" sz="700" dirty="0">
              <a:latin typeface="+mn-ea"/>
            </a:endParaRPr>
          </a:p>
          <a:p>
            <a:pPr>
              <a:lnSpc>
                <a:spcPct val="200000"/>
              </a:lnSpc>
            </a:pPr>
            <a:r>
              <a:rPr lang="en-US" altLang="ko-KR" sz="700" dirty="0">
                <a:latin typeface="+mn-ea"/>
              </a:rPr>
              <a:t>7</a:t>
            </a:r>
            <a:r>
              <a:rPr lang="ko-KR" altLang="en-US" sz="700" dirty="0">
                <a:latin typeface="+mn-ea"/>
              </a:rPr>
              <a:t>월</a:t>
            </a:r>
            <a:endParaRPr lang="en-US" altLang="ko-KR" sz="700" dirty="0">
              <a:latin typeface="+mn-ea"/>
            </a:endParaRPr>
          </a:p>
        </p:txBody>
      </p:sp>
      <p:sp>
        <p:nvSpPr>
          <p:cNvPr id="158" name="직사각형 157"/>
          <p:cNvSpPr/>
          <p:nvPr/>
        </p:nvSpPr>
        <p:spPr>
          <a:xfrm>
            <a:off x="4075450"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4176932" y="3983744"/>
            <a:ext cx="510094" cy="1508105"/>
          </a:xfrm>
          <a:prstGeom prst="rect">
            <a:avLst/>
          </a:prstGeom>
          <a:noFill/>
        </p:spPr>
        <p:txBody>
          <a:bodyPr wrap="square" lIns="0" tIns="0" rIns="0" bIns="0" rtlCol="0">
            <a:spAutoFit/>
          </a:bodyPr>
          <a:lstStyle/>
          <a:p>
            <a:pPr>
              <a:lnSpc>
                <a:spcPct val="200000"/>
              </a:lnSpc>
            </a:pPr>
            <a:r>
              <a:rPr lang="en-US" altLang="ko-KR" sz="700" dirty="0">
                <a:latin typeface="+mn-ea"/>
              </a:rPr>
              <a:t>2026</a:t>
            </a:r>
          </a:p>
          <a:p>
            <a:pPr>
              <a:lnSpc>
                <a:spcPct val="200000"/>
              </a:lnSpc>
            </a:pPr>
            <a:r>
              <a:rPr lang="en-US" altLang="ko-KR" sz="700" dirty="0">
                <a:latin typeface="+mn-ea"/>
              </a:rPr>
              <a:t>2025</a:t>
            </a:r>
          </a:p>
          <a:p>
            <a:pPr>
              <a:lnSpc>
                <a:spcPct val="200000"/>
              </a:lnSpc>
            </a:pPr>
            <a:r>
              <a:rPr lang="en-US" altLang="ko-KR" sz="700" dirty="0">
                <a:latin typeface="+mn-ea"/>
              </a:rPr>
              <a:t>2024</a:t>
            </a:r>
          </a:p>
          <a:p>
            <a:pPr>
              <a:lnSpc>
                <a:spcPct val="200000"/>
              </a:lnSpc>
            </a:pPr>
            <a:r>
              <a:rPr lang="en-US" altLang="ko-KR" sz="700" dirty="0">
                <a:latin typeface="+mn-ea"/>
              </a:rPr>
              <a:t>2023</a:t>
            </a:r>
          </a:p>
          <a:p>
            <a:pPr>
              <a:lnSpc>
                <a:spcPct val="200000"/>
              </a:lnSpc>
            </a:pPr>
            <a:r>
              <a:rPr lang="en-US" altLang="ko-KR" sz="700" dirty="0">
                <a:latin typeface="+mn-ea"/>
              </a:rPr>
              <a:t>2022</a:t>
            </a:r>
          </a:p>
          <a:p>
            <a:pPr>
              <a:lnSpc>
                <a:spcPct val="200000"/>
              </a:lnSpc>
            </a:pPr>
            <a:r>
              <a:rPr lang="en-US" altLang="ko-KR" sz="700" dirty="0">
                <a:latin typeface="+mn-ea"/>
              </a:rPr>
              <a:t>2021</a:t>
            </a:r>
          </a:p>
          <a:p>
            <a:pPr>
              <a:lnSpc>
                <a:spcPct val="200000"/>
              </a:lnSpc>
            </a:pPr>
            <a:r>
              <a:rPr lang="en-US" altLang="ko-KR" sz="700" dirty="0">
                <a:latin typeface="+mn-ea"/>
              </a:rPr>
              <a:t>2020</a:t>
            </a:r>
          </a:p>
        </p:txBody>
      </p:sp>
      <p:sp>
        <p:nvSpPr>
          <p:cNvPr id="159" name="타원 158">
            <a:extLst>
              <a:ext uri="{FF2B5EF4-FFF2-40B4-BE49-F238E27FC236}">
                <a16:creationId xmlns:a16="http://schemas.microsoft.com/office/drawing/2014/main" id="{37A7FF4F-0EAA-1463-560A-D5EC24416103}"/>
              </a:ext>
            </a:extLst>
          </p:cNvPr>
          <p:cNvSpPr/>
          <p:nvPr/>
        </p:nvSpPr>
        <p:spPr>
          <a:xfrm>
            <a:off x="3695055"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2" name="타원 61">
            <a:extLst>
              <a:ext uri="{FF2B5EF4-FFF2-40B4-BE49-F238E27FC236}">
                <a16:creationId xmlns:a16="http://schemas.microsoft.com/office/drawing/2014/main" id="{37A7FF4F-0EAA-1463-560A-D5EC24416103}"/>
              </a:ext>
            </a:extLst>
          </p:cNvPr>
          <p:cNvSpPr/>
          <p:nvPr/>
        </p:nvSpPr>
        <p:spPr>
          <a:xfrm>
            <a:off x="4512317" y="56807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697729806"/>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31632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dml_bidPbancSrchCnd</a:t>
            </a:r>
            <a:r>
              <a:rPr lang="en-US" altLang="ko-KR" sz="900" b="1" dirty="0">
                <a:solidFill>
                  <a:prstClr val="black"/>
                </a:solidFill>
              </a:rPr>
              <a:t>) </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nvPr>
        </p:nvGraphicFramePr>
        <p:xfrm>
          <a:off x="452999" y="1014316"/>
          <a:ext cx="8994883" cy="5507520"/>
        </p:xfrm>
        <a:graphic>
          <a:graphicData uri="http://schemas.openxmlformats.org/drawingml/2006/table">
            <a:tbl>
              <a:tblPr>
                <a:tableStyleId>{616DA210-FB5B-4158-B5E0-FEB733F419BA}</a:tableStyleId>
              </a:tblPr>
              <a:tblGrid>
                <a:gridCol w="1184212">
                  <a:extLst>
                    <a:ext uri="{9D8B030D-6E8A-4147-A177-3AD203B41FA5}">
                      <a16:colId xmlns:a16="http://schemas.microsoft.com/office/drawing/2014/main" val="20000"/>
                    </a:ext>
                  </a:extLst>
                </a:gridCol>
                <a:gridCol w="870858">
                  <a:extLst>
                    <a:ext uri="{9D8B030D-6E8A-4147-A177-3AD203B41FA5}">
                      <a16:colId xmlns:a16="http://schemas.microsoft.com/office/drawing/2014/main" val="4252529446"/>
                    </a:ext>
                  </a:extLst>
                </a:gridCol>
                <a:gridCol w="3100251">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70263">
                  <a:extLst>
                    <a:ext uri="{9D8B030D-6E8A-4147-A177-3AD203B41FA5}">
                      <a16:colId xmlns:a16="http://schemas.microsoft.com/office/drawing/2014/main" val="20004"/>
                    </a:ext>
                  </a:extLst>
                </a:gridCol>
                <a:gridCol w="2454899">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업무구분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공고시작일자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bdopnStDt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시작일자 선택 </a:t>
                      </a:r>
                      <a:r>
                        <a:rPr lang="en-US" altLang="ko-KR" sz="800" dirty="0">
                          <a:latin typeface="+mn-ea"/>
                          <a:ea typeface="+mn-ea"/>
                        </a:rPr>
                        <a:t>(</a:t>
                      </a:r>
                      <a:r>
                        <a:rPr lang="ko-KR" altLang="en-US" sz="800" dirty="0">
                          <a:latin typeface="+mn-ea"/>
                          <a:ea typeface="+mn-ea"/>
                        </a:rPr>
                        <a:t>기본노출</a:t>
                      </a:r>
                      <a:r>
                        <a:rPr lang="en-US" altLang="ko-KR" sz="800" dirty="0">
                          <a:latin typeface="+mn-ea"/>
                          <a:ea typeface="+mn-ea"/>
                        </a:rPr>
                        <a:t>:</a:t>
                      </a:r>
                      <a:r>
                        <a:rPr lang="ko-KR" altLang="en-US" sz="800" dirty="0">
                          <a:latin typeface="+mn-ea"/>
                          <a:ea typeface="+mn-ea"/>
                        </a:rPr>
                        <a:t>개찰일자</a:t>
                      </a:r>
                      <a:r>
                        <a:rPr lang="en-US" altLang="ko-KR" sz="800" dirty="0">
                          <a:latin typeface="+mn-ea"/>
                          <a:ea typeface="+mn-ea"/>
                        </a:rPr>
                        <a:t>, </a:t>
                      </a:r>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공고일자 선택 항목</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공고종료일자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bdopnEndDt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종료일자 선택 </a:t>
                      </a:r>
                      <a:r>
                        <a:rPr lang="en-US" altLang="ko-KR" sz="800" dirty="0">
                          <a:latin typeface="+mn-ea"/>
                          <a:ea typeface="+mn-ea"/>
                        </a:rPr>
                        <a:t>(</a:t>
                      </a:r>
                      <a:r>
                        <a:rPr lang="ko-KR" altLang="en-US" sz="800" dirty="0">
                          <a:latin typeface="+mn-ea"/>
                          <a:ea typeface="+mn-ea"/>
                        </a:rPr>
                        <a:t>기본노출</a:t>
                      </a:r>
                      <a:r>
                        <a:rPr lang="en-US" altLang="ko-KR" sz="800" dirty="0">
                          <a:latin typeface="+mn-ea"/>
                          <a:ea typeface="+mn-ea"/>
                        </a:rPr>
                        <a:t>:</a:t>
                      </a:r>
                      <a:r>
                        <a:rPr lang="ko-KR" altLang="en-US" sz="800" dirty="0">
                          <a:latin typeface="+mn-ea"/>
                          <a:ea typeface="+mn-ea"/>
                        </a:rPr>
                        <a:t>개찰일자</a:t>
                      </a:r>
                      <a:r>
                        <a:rPr lang="en-US" altLang="ko-KR" sz="800" dirty="0">
                          <a:latin typeface="+mn-ea"/>
                          <a:ea typeface="+mn-ea"/>
                        </a:rPr>
                        <a:t>, </a:t>
                      </a:r>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공고일자 선택 항목</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467666"/>
                  </a:ext>
                </a:extLst>
              </a:tr>
              <a:tr h="0">
                <a:tc>
                  <a:txBody>
                    <a:bodyPr/>
                    <a:lstStyle/>
                    <a:p>
                      <a:pPr latinLnBrk="1"/>
                      <a:r>
                        <a:rPr lang="ko-KR" altLang="en-US" sz="800" dirty="0">
                          <a:latin typeface="+mn-ea"/>
                          <a:ea typeface="+mn-ea"/>
                        </a:rPr>
                        <a:t>협상시작일자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BidxStDt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시작일자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비공개수의탭에서만</a:t>
                      </a:r>
                      <a:r>
                        <a:rPr lang="ko-KR" altLang="en-US" sz="800" dirty="0">
                          <a:latin typeface="+mn-ea"/>
                          <a:ea typeface="+mn-ea"/>
                        </a:rPr>
                        <a:t> 검색항목에 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71097210"/>
                  </a:ext>
                </a:extLst>
              </a:tr>
              <a:tr h="0">
                <a:tc>
                  <a:txBody>
                    <a:bodyPr/>
                    <a:lstStyle/>
                    <a:p>
                      <a:pPr latinLnBrk="1"/>
                      <a:r>
                        <a:rPr lang="ko-KR" altLang="en-US" sz="800" dirty="0">
                          <a:latin typeface="+mn-ea"/>
                          <a:ea typeface="+mn-ea"/>
                        </a:rPr>
                        <a:t>협상종료일자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BidxEndDt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종료일자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비공개수의탭에서만</a:t>
                      </a:r>
                      <a:r>
                        <a:rPr lang="ko-KR" altLang="en-US" sz="800" dirty="0">
                          <a:latin typeface="+mn-ea"/>
                          <a:ea typeface="+mn-ea"/>
                        </a:rPr>
                        <a:t> 검색항목에 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6769217"/>
                  </a:ext>
                </a:extLst>
              </a:tr>
              <a:tr h="0">
                <a:tc>
                  <a:txBody>
                    <a:bodyPr/>
                    <a:lstStyle/>
                    <a:p>
                      <a:pPr latinLnBrk="1"/>
                      <a:r>
                        <a:rPr lang="ko-KR" altLang="en-US" sz="800" dirty="0">
                          <a:latin typeface="+mn-ea"/>
                          <a:ea typeface="+mn-ea"/>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발주기관검색 </a:t>
                      </a:r>
                      <a:r>
                        <a:rPr lang="ko-KR" altLang="en-US" sz="800" dirty="0" err="1">
                          <a:latin typeface="+mn-ea"/>
                          <a:ea typeface="+mn-ea"/>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76098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bidPbancNm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134440"/>
                  </a:ext>
                </a:extLst>
              </a:tr>
              <a:tr h="0">
                <a:tc>
                  <a:txBody>
                    <a:bodyPr/>
                    <a:lstStyle/>
                    <a:p>
                      <a:pPr latinLnBrk="1"/>
                      <a:r>
                        <a:rPr lang="ko-KR" altLang="en-US" sz="800" dirty="0">
                          <a:latin typeface="+mn-ea"/>
                          <a:ea typeface="+mn-ea"/>
                        </a:rPr>
                        <a:t>공고번호</a:t>
                      </a:r>
                      <a:r>
                        <a:rPr lang="en-US" altLang="ko-KR" sz="800" dirty="0">
                          <a:latin typeface="+mn-ea"/>
                          <a:ea typeface="+mn-ea"/>
                        </a:rPr>
                        <a:t>/</a:t>
                      </a:r>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a:t>
                      </a:r>
                      <a:r>
                        <a:rPr lang="en-US" altLang="ko-KR" sz="800" dirty="0">
                          <a:latin typeface="+mn-ea"/>
                          <a:ea typeface="+mn-ea"/>
                        </a:rPr>
                        <a:t>/</a:t>
                      </a:r>
                      <a:r>
                        <a:rPr lang="ko-KR" altLang="en-US" sz="800" dirty="0" err="1">
                          <a:latin typeface="+mn-ea"/>
                          <a:ea typeface="+mn-ea"/>
                        </a:rPr>
                        <a:t>통합참조번호</a:t>
                      </a:r>
                      <a:r>
                        <a:rPr lang="ko-KR" altLang="en-US" sz="800" dirty="0">
                          <a:latin typeface="+mn-ea"/>
                          <a:ea typeface="+mn-ea"/>
                        </a:rPr>
                        <a:t> 선택 후 입력 </a:t>
                      </a:r>
                      <a:r>
                        <a:rPr lang="en-US" altLang="ko-KR" sz="800" dirty="0">
                          <a:latin typeface="+mn-ea"/>
                          <a:ea typeface="+mn-ea"/>
                        </a:rPr>
                        <a:t>(</a:t>
                      </a:r>
                      <a:r>
                        <a:rPr lang="ko-KR" altLang="en-US" sz="800" dirty="0">
                          <a:latin typeface="+mn-ea"/>
                          <a:ea typeface="+mn-ea"/>
                        </a:rPr>
                        <a:t>기본노출</a:t>
                      </a:r>
                      <a:r>
                        <a:rPr lang="en-US" altLang="ko-KR" sz="800" dirty="0">
                          <a:latin typeface="+mn-ea"/>
                          <a:ea typeface="+mn-ea"/>
                        </a:rPr>
                        <a:t>: </a:t>
                      </a:r>
                      <a:r>
                        <a:rPr lang="ko-KR" altLang="en-US" sz="800" dirty="0">
                          <a:latin typeface="+mn-ea"/>
                          <a:ea typeface="+mn-ea"/>
                        </a:rPr>
                        <a:t>공고번호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검색항목</a:t>
                      </a:r>
                      <a:r>
                        <a:rPr lang="en-US" altLang="ko-KR" sz="800" dirty="0">
                          <a:latin typeface="+mn-ea"/>
                          <a:ea typeface="+mn-ea"/>
                        </a:rPr>
                        <a:t>) ‘</a:t>
                      </a:r>
                      <a:r>
                        <a:rPr lang="ko-KR" altLang="en-US" sz="800" dirty="0">
                          <a:latin typeface="+mn-ea"/>
                          <a:ea typeface="+mn-ea"/>
                        </a:rPr>
                        <a:t>공고번호</a:t>
                      </a:r>
                      <a:r>
                        <a:rPr lang="en-US" altLang="ko-KR" sz="800" dirty="0">
                          <a:latin typeface="+mn-ea"/>
                          <a:ea typeface="+mn-ea"/>
                        </a:rPr>
                        <a:t>’, ‘</a:t>
                      </a:r>
                      <a:r>
                        <a:rPr lang="ko-KR" altLang="en-US" sz="800" dirty="0" err="1">
                          <a:latin typeface="+mn-ea"/>
                          <a:ea typeface="+mn-ea"/>
                        </a:rPr>
                        <a:t>통합참조번호</a:t>
                      </a:r>
                      <a:r>
                        <a:rPr lang="en-US" altLang="ko-KR" sz="800" dirty="0">
                          <a:latin typeface="+mn-ea"/>
                          <a:ea typeface="+mn-ea"/>
                        </a:rPr>
                        <a:t>‘ </a:t>
                      </a:r>
                      <a:r>
                        <a:rPr lang="ko-KR" altLang="en-US" sz="800" dirty="0">
                          <a:latin typeface="+mn-ea"/>
                          <a:ea typeface="+mn-ea"/>
                        </a:rPr>
                        <a:t>선택 가능</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6705999"/>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선택</a:t>
                      </a:r>
                      <a:r>
                        <a:rPr lang="en-US" altLang="ko-KR" sz="800" dirty="0">
                          <a:latin typeface="+mn-ea"/>
                          <a:ea typeface="+mn-ea"/>
                        </a:rPr>
                        <a:t>/</a:t>
                      </a:r>
                      <a:r>
                        <a:rPr lang="ko-KR" altLang="en-US" sz="800" dirty="0">
                          <a:latin typeface="+mn-ea"/>
                          <a:ea typeface="+mn-ea"/>
                        </a:rPr>
                        <a:t>그리드항목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001573"/>
                  </a:ext>
                </a:extLst>
              </a:tr>
              <a:tr h="0">
                <a:tc>
                  <a:txBody>
                    <a:bodyPr/>
                    <a:lstStyle/>
                    <a:p>
                      <a:pPr latinLnBrk="1"/>
                      <a:r>
                        <a:rPr lang="ko-KR" altLang="en-US" sz="800" dirty="0">
                          <a:latin typeface="+mn-ea"/>
                          <a:ea typeface="+mn-ea"/>
                        </a:rPr>
                        <a:t>진행상태명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661869"/>
                  </a:ext>
                </a:extLst>
              </a:tr>
              <a:tr h="0">
                <a:tc>
                  <a:txBody>
                    <a:bodyPr/>
                    <a:lstStyle/>
                    <a:p>
                      <a:pPr latinLnBrk="1"/>
                      <a:r>
                        <a:rPr lang="ko-KR" altLang="en-US" sz="800" dirty="0" err="1">
                          <a:latin typeface="+mn-ea"/>
                          <a:ea typeface="+mn-ea"/>
                        </a:rPr>
                        <a:t>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지역명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0391839"/>
                  </a:ext>
                </a:extLst>
              </a:tr>
              <a:tr h="0">
                <a:tc>
                  <a:txBody>
                    <a:bodyPr/>
                    <a:lstStyle/>
                    <a:p>
                      <a:pPr latinLnBrk="1"/>
                      <a:r>
                        <a:rPr lang="ko-KR" altLang="en-US" sz="800" dirty="0">
                          <a:latin typeface="+mn-ea"/>
                          <a:ea typeface="+mn-ea"/>
                        </a:rPr>
                        <a:t>면허정보명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선택 팝업 호출 파라미터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 (</a:t>
                      </a:r>
                      <a:r>
                        <a:rPr lang="ko-KR" altLang="en-US" sz="800" dirty="0">
                          <a:latin typeface="+mn-ea"/>
                          <a:ea typeface="+mn-ea"/>
                        </a:rPr>
                        <a:t>면허정보검색 공통 팝업호출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2096497"/>
                  </a:ext>
                </a:extLst>
              </a:tr>
              <a:tr h="0">
                <a:tc>
                  <a:txBody>
                    <a:bodyPr/>
                    <a:lstStyle/>
                    <a:p>
                      <a:pPr latinLnBrk="1"/>
                      <a:r>
                        <a:rPr lang="ko-KR" altLang="en-US" sz="800">
                          <a:latin typeface="+mn-ea"/>
                          <a:ea typeface="+mn-ea"/>
                        </a:rPr>
                        <a:t>면허정보 코드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H</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267781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753219"/>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r>
                        <a:rPr lang="en-US" altLang="ko-KR" sz="800" dirty="0">
                          <a:latin typeface="+mn-ea"/>
                          <a:ea typeface="+mn-ea"/>
                        </a:rPr>
                        <a:t>/</a:t>
                      </a:r>
                      <a:r>
                        <a:rPr lang="ko-KR" altLang="en-US" sz="800" dirty="0">
                          <a:latin typeface="+mn-ea"/>
                          <a:ea typeface="+mn-ea"/>
                        </a:rPr>
                        <a:t>그리드항목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:UA45, '1':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 선택 가능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51159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a:t>
                      </a:r>
                      <a:r>
                        <a:rPr lang="en-US" altLang="ko-KR" sz="800" dirty="0">
                          <a:latin typeface="+mn-ea"/>
                          <a:ea typeface="+mn-ea"/>
                        </a:rPr>
                        <a:t>/</a:t>
                      </a:r>
                      <a:r>
                        <a:rPr lang="ko-KR" altLang="en-US" sz="800" dirty="0">
                          <a:latin typeface="+mn-ea"/>
                          <a:ea typeface="+mn-ea"/>
                        </a:rPr>
                        <a:t>그리드항목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706101"/>
                  </a:ext>
                </a:extLst>
              </a:tr>
              <a:tr h="0">
                <a:tc>
                  <a:txBody>
                    <a:bodyPr/>
                    <a:lstStyle/>
                    <a:p>
                      <a:pPr latinLnBrk="1"/>
                      <a:r>
                        <a:rPr lang="ko-KR" altLang="en-US" sz="800" dirty="0">
                          <a:latin typeface="+mn-ea"/>
                          <a:ea typeface="+mn-ea"/>
                        </a:rPr>
                        <a:t>낙찰방법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낙찰방법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8235773"/>
                  </a:ext>
                </a:extLst>
              </a:tr>
              <a:tr h="0">
                <a:tc>
                  <a:txBody>
                    <a:bodyPr/>
                    <a:lstStyle/>
                    <a:p>
                      <a:pPr latinLnBrk="1"/>
                      <a:r>
                        <a:rPr lang="ko-KR" altLang="en-US" sz="800">
                          <a:latin typeface="+mn-ea"/>
                          <a:ea typeface="+mn-ea"/>
                        </a:rPr>
                        <a:t>기능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spfCode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기능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Alias </a:t>
                      </a:r>
                      <a:r>
                        <a:rPr lang="ko-KR" altLang="en-US" sz="800" dirty="0">
                          <a:latin typeface="+mn-ea"/>
                          <a:ea typeface="+mn-ea"/>
                        </a:rPr>
                        <a:t>항목 </a:t>
                      </a:r>
                      <a:r>
                        <a:rPr lang="en-US" altLang="ko-KR" sz="800" dirty="0">
                          <a:latin typeface="+mn-ea"/>
                          <a:ea typeface="+mn-ea"/>
                        </a:rPr>
                        <a:t>(</a:t>
                      </a:r>
                      <a:r>
                        <a:rPr lang="ko-KR" altLang="en-US" sz="800" dirty="0">
                          <a:latin typeface="+mn-ea"/>
                          <a:ea typeface="+mn-ea"/>
                        </a:rPr>
                        <a:t>상위코드</a:t>
                      </a:r>
                      <a:r>
                        <a:rPr lang="en-US" altLang="ko-KR" sz="800" dirty="0">
                          <a:latin typeface="+mn-ea"/>
                          <a:ea typeface="+mn-ea"/>
                        </a:rPr>
                        <a:t>:SPF)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871939"/>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군구분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4040200"/>
                  </a:ext>
                </a:extLst>
              </a:tr>
              <a:tr h="0">
                <a:tc>
                  <a:txBody>
                    <a:bodyPr/>
                    <a:lstStyle/>
                    <a:p>
                      <a:pPr latinLnBrk="1"/>
                      <a:r>
                        <a:rPr lang="ko-KR" altLang="en-US" sz="800">
                          <a:latin typeface="+mn-ea"/>
                          <a:ea typeface="+mn-ea"/>
                        </a:rPr>
                        <a:t>입찰매체</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bidMediaCd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입찰매체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t>- </a:t>
                      </a:r>
                      <a:r>
                        <a:rPr lang="ko-KR" altLang="en-US" sz="800" dirty="0"/>
                        <a:t>상위코드</a:t>
                      </a:r>
                      <a:r>
                        <a:rPr lang="en-US" altLang="ko-KR" sz="800" dirty="0"/>
                        <a:t>:BMDC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7834301"/>
                  </a:ext>
                </a:extLst>
              </a:tr>
              <a:tr h="0">
                <a:tc>
                  <a:txBody>
                    <a:bodyPr/>
                    <a:lstStyle/>
                    <a:p>
                      <a:pPr latinLnBrk="1"/>
                      <a:r>
                        <a:rPr lang="ko-KR" altLang="en-US" sz="800">
                          <a:latin typeface="+mn-ea"/>
                          <a:ea typeface="+mn-ea"/>
                        </a:rPr>
                        <a:t>추정가격 </a:t>
                      </a:r>
                      <a:r>
                        <a:rPr lang="en-US" altLang="ko-KR" sz="800">
                          <a:latin typeface="+mn-ea"/>
                          <a:ea typeface="+mn-ea"/>
                        </a:rPr>
                        <a:t>MIN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MIN</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304580"/>
                  </a:ext>
                </a:extLst>
              </a:tr>
              <a:tr h="0">
                <a:tc>
                  <a:txBody>
                    <a:bodyPr/>
                    <a:lstStyle/>
                    <a:p>
                      <a:pPr latinLnBrk="1"/>
                      <a:r>
                        <a:rPr lang="ko-KR" altLang="en-US" sz="800">
                          <a:latin typeface="+mn-ea"/>
                          <a:ea typeface="+mn-ea"/>
                        </a:rPr>
                        <a:t>추정가격 </a:t>
                      </a:r>
                      <a:r>
                        <a:rPr lang="en-US" altLang="ko-KR" sz="800">
                          <a:latin typeface="+mn-ea"/>
                          <a:ea typeface="+mn-ea"/>
                        </a:rPr>
                        <a:t>MAX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MAX</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662486"/>
                  </a:ext>
                </a:extLst>
              </a:tr>
              <a:tr h="0">
                <a:tc>
                  <a:txBody>
                    <a:bodyPr/>
                    <a:lstStyle/>
                    <a:p>
                      <a:pPr latinLnBrk="1"/>
                      <a:r>
                        <a:rPr lang="ko-KR" altLang="en-US" sz="800">
                          <a:latin typeface="+mn-ea"/>
                          <a:ea typeface="+mn-ea"/>
                        </a:rPr>
                        <a:t>신기술여부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ntchYn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신기술여부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업무구분을 전체</a:t>
                      </a:r>
                      <a:r>
                        <a:rPr lang="en-US" altLang="ko-KR" sz="800" dirty="0"/>
                        <a:t>, </a:t>
                      </a:r>
                      <a:r>
                        <a:rPr lang="ko-KR" altLang="en-US" sz="800" dirty="0"/>
                        <a:t>물품</a:t>
                      </a:r>
                      <a:r>
                        <a:rPr lang="en-US" altLang="ko-KR" sz="800" dirty="0"/>
                        <a:t>,</a:t>
                      </a:r>
                      <a:r>
                        <a:rPr lang="ko-KR" altLang="en-US" sz="800" dirty="0"/>
                        <a:t> 용역을 선택했을 경우만 </a:t>
                      </a:r>
                      <a:r>
                        <a:rPr lang="en-US" altLang="ko-KR" sz="800" dirty="0"/>
                        <a:t> </a:t>
                      </a:r>
                      <a:r>
                        <a:rPr lang="ko-KR" altLang="en-US" sz="800" dirty="0"/>
                        <a:t>항목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1184435"/>
                  </a:ext>
                </a:extLst>
              </a:tr>
            </a:tbl>
          </a:graphicData>
        </a:graphic>
      </p:graphicFrame>
      <p:sp>
        <p:nvSpPr>
          <p:cNvPr id="2" name="Text Box 73">
            <a:extLst>
              <a:ext uri="{FF2B5EF4-FFF2-40B4-BE49-F238E27FC236}">
                <a16:creationId xmlns:a16="http://schemas.microsoft.com/office/drawing/2014/main" id="{89CA0215-C2D8-E896-1E91-52FE075BED8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3678896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17</a:t>
            </a:fld>
            <a:endParaRPr lang="ko-KR" altLang="en-US" dirty="0"/>
          </a:p>
        </p:txBody>
      </p:sp>
      <p:sp>
        <p:nvSpPr>
          <p:cNvPr id="18" name="TextBox 17">
            <a:extLst>
              <a:ext uri="{FF2B5EF4-FFF2-40B4-BE49-F238E27FC236}">
                <a16:creationId xmlns:a16="http://schemas.microsoft.com/office/drawing/2014/main" id="{83358D31-792E-1F31-CE2A-A2AE122E42CC}"/>
              </a:ext>
            </a:extLst>
          </p:cNvPr>
          <p:cNvSpPr txBox="1"/>
          <p:nvPr/>
        </p:nvSpPr>
        <p:spPr>
          <a:xfrm>
            <a:off x="458117" y="811422"/>
            <a:ext cx="313123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dlt_bidPbancIntgList</a:t>
            </a:r>
            <a:r>
              <a:rPr lang="en-US" altLang="ko-KR" sz="900" b="1" dirty="0">
                <a:solidFill>
                  <a:prstClr val="black"/>
                </a:solidFill>
              </a:rPr>
              <a:t>)</a:t>
            </a:r>
            <a:endParaRPr lang="ko-KR" altLang="en-US" sz="900" b="1" dirty="0">
              <a:solidFill>
                <a:prstClr val="black"/>
              </a:solidFill>
            </a:endParaRPr>
          </a:p>
        </p:txBody>
      </p:sp>
      <p:graphicFrame>
        <p:nvGraphicFramePr>
          <p:cNvPr id="20" name="표 19">
            <a:extLst>
              <a:ext uri="{FF2B5EF4-FFF2-40B4-BE49-F238E27FC236}">
                <a16:creationId xmlns:a16="http://schemas.microsoft.com/office/drawing/2014/main" id="{3969C2BD-BAE7-E4E1-6BA5-91005212D745}"/>
              </a:ext>
            </a:extLst>
          </p:cNvPr>
          <p:cNvGraphicFramePr>
            <a:graphicFrameLocks noGrp="1"/>
          </p:cNvGraphicFramePr>
          <p:nvPr>
            <p:extLst/>
          </p:nvPr>
        </p:nvGraphicFramePr>
        <p:xfrm>
          <a:off x="452999" y="1013115"/>
          <a:ext cx="8994882" cy="2642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329127">
                  <a:extLst>
                    <a:ext uri="{9D8B030D-6E8A-4147-A177-3AD203B41FA5}">
                      <a16:colId xmlns:a16="http://schemas.microsoft.com/office/drawing/2014/main" val="3427634697"/>
                    </a:ext>
                  </a:extLst>
                </a:gridCol>
                <a:gridCol w="2793527">
                  <a:extLst>
                    <a:ext uri="{9D8B030D-6E8A-4147-A177-3AD203B41FA5}">
                      <a16:colId xmlns:a16="http://schemas.microsoft.com/office/drawing/2014/main" val="20001"/>
                    </a:ext>
                  </a:extLst>
                </a:gridCol>
                <a:gridCol w="449743">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목록의 순번</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공곡구분</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latinLnBrk="1"/>
                      <a:r>
                        <a:rPr lang="en-US" altLang="ko-KR" sz="800" dirty="0">
                          <a:latin typeface="+mn-ea"/>
                          <a:ea typeface="+mn-ea"/>
                        </a:rPr>
                        <a:t>G2B</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a:latin typeface="+mn-ea"/>
                        </a:rPr>
                        <a:t>공고번호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err="1">
                          <a:latin typeface="+mn-ea"/>
                        </a:rPr>
                        <a:t>공고차수</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8587622"/>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r>
                        <a:rPr lang="en-US" altLang="ko-KR" sz="800" dirty="0">
                          <a:latin typeface="+mn-ea"/>
                          <a:ea typeface="+mn-ea"/>
                        </a:rPr>
                        <a:t>As-is : </a:t>
                      </a:r>
                      <a:r>
                        <a:rPr lang="ko-KR" altLang="en-US" sz="800" dirty="0" err="1">
                          <a:latin typeface="+mn-ea"/>
                          <a:ea typeface="+mn-ea"/>
                        </a:rPr>
                        <a:t>지시년도</a:t>
                      </a:r>
                      <a:r>
                        <a:rPr lang="en-US" altLang="ko-KR" sz="800" dirty="0">
                          <a:latin typeface="+mn-ea"/>
                          <a:ea typeface="+mn-ea"/>
                        </a:rPr>
                        <a:t>+</a:t>
                      </a:r>
                      <a:r>
                        <a:rPr lang="ko-KR" altLang="en-US" sz="800" dirty="0">
                          <a:latin typeface="+mn-ea"/>
                          <a:ea typeface="+mn-ea"/>
                        </a:rPr>
                        <a:t>부서코드</a:t>
                      </a:r>
                      <a:r>
                        <a:rPr lang="en-US" altLang="ko-KR" sz="800" dirty="0">
                          <a:latin typeface="+mn-ea"/>
                          <a:ea typeface="+mn-ea"/>
                        </a:rPr>
                        <a:t>+</a:t>
                      </a:r>
                      <a:r>
                        <a:rPr lang="ko-KR" altLang="en-US" sz="800" dirty="0">
                          <a:latin typeface="+mn-ea"/>
                          <a:ea typeface="+mn-ea"/>
                        </a:rPr>
                        <a:t>판단번호</a:t>
                      </a:r>
                      <a:r>
                        <a:rPr lang="en-US" altLang="ko-KR" sz="800" dirty="0">
                          <a:latin typeface="+mn-ea"/>
                          <a:ea typeface="+mn-ea"/>
                        </a:rPr>
                        <a:t>(12)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80003859"/>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공고명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csrtName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공사명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69472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발주기관명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a:t>
                      </a:r>
                      <a:r>
                        <a:rPr lang="ko-KR" altLang="en-US" sz="800" dirty="0">
                          <a:latin typeface="+mn-ea"/>
                          <a:ea typeface="+mn-ea"/>
                        </a:rPr>
                        <a:t>발주기관코드는 공통코드로 조회</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err="1">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prdcpIdntySmdocDdlnDt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생산능력제출마감일시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ea typeface="+mn-ea"/>
                        </a:rPr>
                        <a:t>입찰참가등록마감일시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입찰서제출마감일시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err="1">
                          <a:latin typeface="+mn-ea"/>
                          <a:ea typeface="+mn-ea"/>
                        </a:rPr>
                        <a:t>기초예가금액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기초예정가격 금액</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bl>
          </a:graphicData>
        </a:graphic>
      </p:graphicFrame>
      <p:sp>
        <p:nvSpPr>
          <p:cNvPr id="2" name="TextBox 1">
            <a:extLst>
              <a:ext uri="{FF2B5EF4-FFF2-40B4-BE49-F238E27FC236}">
                <a16:creationId xmlns:a16="http://schemas.microsoft.com/office/drawing/2014/main" id="{7DF96B98-6182-D38D-6A2C-E4584E8194E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F9FE1A4-EEE2-C8EB-7EC2-03A00C7695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57026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18</a:t>
            </a:fld>
            <a:endParaRPr lang="ko-KR" altLang="en-US" dirty="0"/>
          </a:p>
        </p:txBody>
      </p:sp>
      <p:sp>
        <p:nvSpPr>
          <p:cNvPr id="6" name="TextBox 5">
            <a:extLst>
              <a:ext uri="{FF2B5EF4-FFF2-40B4-BE49-F238E27FC236}">
                <a16:creationId xmlns:a16="http://schemas.microsoft.com/office/drawing/2014/main" id="{7F545FD0-B8C5-4B98-203E-A36908FB8DD4}"/>
              </a:ext>
            </a:extLst>
          </p:cNvPr>
          <p:cNvSpPr txBox="1"/>
          <p:nvPr/>
        </p:nvSpPr>
        <p:spPr>
          <a:xfrm>
            <a:off x="458117" y="57752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935223516"/>
              </p:ext>
            </p:extLst>
          </p:nvPr>
        </p:nvGraphicFramePr>
        <p:xfrm>
          <a:off x="453000" y="855658"/>
          <a:ext cx="8995591" cy="1263360"/>
        </p:xfrm>
        <a:graphic>
          <a:graphicData uri="http://schemas.openxmlformats.org/drawingml/2006/table">
            <a:tbl>
              <a:tblPr>
                <a:tableStyleId>{616DA210-FB5B-4158-B5E0-FEB733F419BA}</a:tableStyleId>
              </a:tblPr>
              <a:tblGrid>
                <a:gridCol w="1123251">
                  <a:extLst>
                    <a:ext uri="{9D8B030D-6E8A-4147-A177-3AD203B41FA5}">
                      <a16:colId xmlns:a16="http://schemas.microsoft.com/office/drawing/2014/main" val="20000"/>
                    </a:ext>
                  </a:extLst>
                </a:gridCol>
                <a:gridCol w="992778">
                  <a:extLst>
                    <a:ext uri="{9D8B030D-6E8A-4147-A177-3AD203B41FA5}">
                      <a16:colId xmlns:a16="http://schemas.microsoft.com/office/drawing/2014/main" val="624624882"/>
                    </a:ext>
                  </a:extLst>
                </a:gridCol>
                <a:gridCol w="3509827">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페이지 로딩 시</a:t>
                      </a:r>
                      <a:r>
                        <a:rPr lang="en-US" altLang="ko-KR" sz="800" dirty="0"/>
                        <a:t> </a:t>
                      </a:r>
                      <a:r>
                        <a:rPr lang="ko-KR" altLang="en-US" sz="800" dirty="0"/>
                        <a:t>공고</a:t>
                      </a:r>
                      <a:r>
                        <a:rPr lang="en-US" altLang="ko-KR" sz="800" dirty="0"/>
                        <a:t>/</a:t>
                      </a:r>
                      <a:r>
                        <a:rPr lang="ko-KR" altLang="en-US" sz="800" dirty="0"/>
                        <a:t>개찰일자를 현재일자의 </a:t>
                      </a:r>
                      <a:r>
                        <a:rPr lang="ko-KR" altLang="en-US" sz="800" dirty="0" err="1"/>
                        <a:t>한달전일자부터</a:t>
                      </a:r>
                      <a:r>
                        <a:rPr lang="ko-KR" altLang="en-US" sz="800" dirty="0"/>
                        <a:t> 현재일자까지 세팅한다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공고검색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입찰공고통합목록 조회조건을 이용하여 공고목록을 조회한다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r h="0">
                <a:tc>
                  <a:txBody>
                    <a:bodyPr/>
                    <a:lstStyle/>
                    <a:p>
                      <a:r>
                        <a:rPr lang="ko-KR" altLang="en-US" sz="800" dirty="0"/>
                        <a:t>카드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Scwin.grd_pbancList_onclick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입찰공고통합목록에서 공고 클릭 시 해당 공고의 상세정보를 조회한다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국내</a:t>
                      </a:r>
                      <a:r>
                        <a:rPr lang="en-US" altLang="ko-KR" sz="800" dirty="0">
                          <a:latin typeface="+mn-ea"/>
                          <a:ea typeface="+mn-ea"/>
                        </a:rPr>
                        <a:t>:  (</a:t>
                      </a:r>
                      <a:r>
                        <a:rPr lang="en-US" altLang="ko-KR" sz="800" dirty="0"/>
                        <a:t>UI-BD-01-M03</a:t>
                      </a:r>
                      <a:r>
                        <a:rPr lang="en-US" altLang="ko-KR" sz="800" dirty="0">
                          <a:latin typeface="+mn-ea"/>
                          <a:ea typeface="+mn-ea"/>
                        </a:rPr>
                        <a:t>) </a:t>
                      </a:r>
                      <a:r>
                        <a:rPr lang="ko-KR" altLang="en-US" sz="800" dirty="0" err="1">
                          <a:latin typeface="+mn-ea"/>
                          <a:ea typeface="+mn-ea"/>
                        </a:rPr>
                        <a:t>입찰공고상세</a:t>
                      </a:r>
                      <a:endParaRPr lang="en-US" altLang="ko-KR" sz="800" dirty="0">
                        <a:latin typeface="+mn-ea"/>
                        <a:ea typeface="+mn-ea"/>
                      </a:endParaRPr>
                    </a:p>
                    <a:p>
                      <a:pPr marL="87313" indent="-87313" algn="l" latinLnBrk="1">
                        <a:buFont typeface="Arial" panose="020B0604020202020204" pitchFamily="34" charset="0"/>
                        <a:buChar char="•"/>
                      </a:pPr>
                      <a:r>
                        <a:rPr lang="ko-KR" altLang="en-US" sz="800" dirty="0">
                          <a:latin typeface="+mn-ea"/>
                          <a:ea typeface="+mn-ea"/>
                        </a:rPr>
                        <a:t>국외 </a:t>
                      </a:r>
                      <a:r>
                        <a:rPr lang="en-US" altLang="ko-KR" sz="800" dirty="0">
                          <a:latin typeface="+mn-ea"/>
                          <a:ea typeface="+mn-ea"/>
                        </a:rPr>
                        <a:t>: (UI-BD-01-M71) </a:t>
                      </a:r>
                      <a:r>
                        <a:rPr lang="ko-KR" altLang="en-US" sz="800" dirty="0" err="1">
                          <a:latin typeface="+mn-ea"/>
                          <a:ea typeface="+mn-ea"/>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3167767"/>
                  </a:ext>
                </a:extLst>
              </a:tr>
            </a:tbl>
          </a:graphicData>
        </a:graphic>
      </p:graphicFrame>
      <p:sp>
        <p:nvSpPr>
          <p:cNvPr id="8"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8985502"/>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3. </a:t>
            </a:r>
            <a:r>
              <a:rPr lang="ko-KR" altLang="en-US" dirty="0"/>
              <a:t>입찰공고 상세 기능 안내</a:t>
            </a:r>
            <a:endParaRPr lang="en-US" altLang="ko-KR" dirty="0"/>
          </a:p>
          <a:p>
            <a:r>
              <a:rPr lang="en-US" altLang="ko-KR" dirty="0"/>
              <a:t>3.1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3985056199"/>
              </p:ext>
            </p:extLst>
          </p:nvPr>
        </p:nvGraphicFramePr>
        <p:xfrm>
          <a:off x="635474" y="1413419"/>
          <a:ext cx="8701200" cy="33542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00" b="0" i="0" u="none" strike="noStrike" kern="1200" dirty="0">
                          <a:solidFill>
                            <a:srgbClr val="000000"/>
                          </a:solidFill>
                          <a:effectLst/>
                          <a:latin typeface="+mn-ea"/>
                          <a:ea typeface="+mn-ea"/>
                          <a:cs typeface="+mn-cs"/>
                        </a:rPr>
                        <a:t>MUI-BD-01-M07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smtClean="0">
                          <a:latin typeface="+mn-ea"/>
                          <a:ea typeface="+mn-ea"/>
                        </a:rPr>
                        <a:t>입찰공고상세</a:t>
                      </a:r>
                      <a:endParaRPr lang="en-US" altLang="ko-KR"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err="1">
                          <a:solidFill>
                            <a:schemeClr val="tx1"/>
                          </a:solidFill>
                          <a:effectLst/>
                          <a:latin typeface="+mn-lt"/>
                          <a:ea typeface="+mn-ea"/>
                          <a:cs typeface="+mn-cs"/>
                        </a:rPr>
                        <a:t>BidPbancDtlPage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 상세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mn-lt"/>
                          <a:ea typeface="+mn-ea"/>
                          <a:cs typeface="+mn-cs"/>
                        </a:rPr>
                        <a:t>BidPbancDtlPage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700" b="0" i="0" u="none" strike="noStrike" kern="1200">
                          <a:solidFill>
                            <a:srgbClr val="000000"/>
                          </a:solidFill>
                          <a:effectLst/>
                          <a:latin typeface="+mn-ea"/>
                          <a:ea typeface="+mn-ea"/>
                          <a:cs typeface="+mn-cs"/>
                        </a:rPr>
                        <a:t>MUI-BD-01-T01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a:t>
                      </a:r>
                      <a:r>
                        <a:rPr lang="ko-KR" altLang="en-US" sz="800" kern="1200" dirty="0" smtClean="0">
                          <a:solidFill>
                            <a:schemeClr val="tx1"/>
                          </a:solidFill>
                          <a:latin typeface="+mn-ea"/>
                          <a:ea typeface="+mn-ea"/>
                          <a:cs typeface="+mn-cs"/>
                        </a:rPr>
                        <a:t>일반정보</a:t>
                      </a:r>
                      <a:endParaRPr lang="en-US" altLang="ko-KR" sz="8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공고의 일반정보 탭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r>
                        <a:rPr lang="en-US" sz="700" b="0" i="0" u="none" strike="noStrike" kern="1200">
                          <a:solidFill>
                            <a:srgbClr val="000000"/>
                          </a:solidFill>
                          <a:effectLst/>
                          <a:latin typeface="+mn-ea"/>
                          <a:ea typeface="+mn-ea"/>
                          <a:cs typeface="+mn-cs"/>
                        </a:rPr>
                        <a:t>MUI-BD-01-T02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기초예비가격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기초예비가격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BidPbancDtl_Tacpg02</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sz="700" b="0" i="0" u="none" strike="noStrike" kern="1200">
                          <a:solidFill>
                            <a:srgbClr val="000000"/>
                          </a:solidFill>
                          <a:effectLst/>
                          <a:latin typeface="+mn-ea"/>
                          <a:ea typeface="+mn-ea"/>
                          <a:cs typeface="+mn-cs"/>
                        </a:rPr>
                        <a:t>MUI-BD-01-T03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품목명세서</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품목명세서</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BidPbancDtl_Tacpg03</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r>
                        <a:rPr lang="en-US" sz="700" b="0" i="0" u="none" strike="noStrike" kern="1200">
                          <a:solidFill>
                            <a:srgbClr val="000000"/>
                          </a:solidFill>
                          <a:effectLst/>
                          <a:latin typeface="+mn-ea"/>
                          <a:ea typeface="+mn-ea"/>
                          <a:cs typeface="+mn-cs"/>
                        </a:rPr>
                        <a:t>MUI-BD-01-T04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계약특수조건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계약특수조건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BidPbancDtl_Tacpg04</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180000">
                <a:tc>
                  <a:txBody>
                    <a:bodyPr/>
                    <a:lstStyle/>
                    <a:p>
                      <a:pPr algn="l" fontAlgn="ctr"/>
                      <a:r>
                        <a:rPr lang="en-US" sz="700" b="0" i="0" u="none" strike="noStrike" kern="1200">
                          <a:solidFill>
                            <a:srgbClr val="000000"/>
                          </a:solidFill>
                          <a:effectLst/>
                          <a:latin typeface="+mn-ea"/>
                          <a:ea typeface="+mn-ea"/>
                          <a:cs typeface="+mn-cs"/>
                        </a:rPr>
                        <a:t>MUI-BD-01-T05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공고문안</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BidPbancDtl_Tacpg06</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공고문안</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BidPbancDtl_Tacpg06</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180000">
                <a:tc>
                  <a:txBody>
                    <a:bodyPr/>
                    <a:lstStyle/>
                    <a:p>
                      <a:pPr algn="l" fontAlgn="ctr"/>
                      <a:r>
                        <a:rPr lang="en-US" sz="700" b="0" i="0" u="none" strike="noStrike" kern="1200" dirty="0">
                          <a:solidFill>
                            <a:srgbClr val="000000"/>
                          </a:solidFill>
                          <a:effectLst/>
                          <a:latin typeface="+mn-ea"/>
                          <a:ea typeface="+mn-ea"/>
                          <a:cs typeface="+mn-cs"/>
                        </a:rPr>
                        <a:t>MUI-BD-01-T06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입찰진행현황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BidPbancDtl_Tacpg07</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입찰진행현황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BidPbancDtl_Tacpg07</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kern="1200" dirty="0">
                          <a:solidFill>
                            <a:srgbClr val="000000"/>
                          </a:solidFill>
                          <a:effectLst/>
                          <a:latin typeface="+mn-ea"/>
                          <a:ea typeface="+mn-ea"/>
                          <a:cs typeface="+mn-cs"/>
                        </a:rPr>
                        <a:t>MUI-BD-01-P13</a:t>
                      </a: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관심공고등록</a:t>
                      </a:r>
                      <a:r>
                        <a:rPr lang="en-US" altLang="ko-KR" sz="800" kern="1200" dirty="0" smtClean="0">
                          <a:solidFill>
                            <a:schemeClr val="tx1"/>
                          </a:solidFill>
                          <a:latin typeface="+mn-ea"/>
                          <a:ea typeface="+mn-ea"/>
                          <a:cs typeface="+mn-cs"/>
                        </a:rPr>
                        <a:t>,</a:t>
                      </a:r>
                      <a:r>
                        <a:rPr lang="ko-KR" altLang="en-US" sz="800" kern="1200" dirty="0" smtClean="0">
                          <a:solidFill>
                            <a:schemeClr val="tx1"/>
                          </a:solidFill>
                          <a:latin typeface="+mn-ea"/>
                          <a:ea typeface="+mn-ea"/>
                          <a:cs typeface="+mn-cs"/>
                        </a:rPr>
                        <a:t>제외</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Toast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rPr>
                        <a:t>관심공고</a:t>
                      </a:r>
                      <a:r>
                        <a:rPr lang="ko-KR" altLang="en-US" sz="800" dirty="0">
                          <a:latin typeface="+mn-ea"/>
                        </a:rPr>
                        <a:t> 등록</a:t>
                      </a:r>
                      <a:r>
                        <a:rPr lang="en-US" altLang="ko-KR" sz="800" dirty="0">
                          <a:latin typeface="+mn-ea"/>
                        </a:rPr>
                        <a:t>, </a:t>
                      </a:r>
                      <a:r>
                        <a:rPr lang="ko-KR" altLang="en-US" sz="800" dirty="0">
                          <a:latin typeface="+mn-ea"/>
                        </a:rPr>
                        <a:t>제외 메시지</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Toast.tsx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MUI-BD-01-P14</a:t>
                      </a: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서류출력확인</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DcmntOtptIdnty</a:t>
                      </a:r>
                      <a:endParaRPr lang="en-US" sz="8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OZ </a:t>
                      </a:r>
                      <a:r>
                        <a:rPr lang="ko-KR" altLang="en-US" sz="800" kern="1200" dirty="0">
                          <a:solidFill>
                            <a:schemeClr val="tx1"/>
                          </a:solidFill>
                          <a:latin typeface="+mn-ea"/>
                          <a:ea typeface="+mn-ea"/>
                          <a:cs typeface="+mn-cs"/>
                        </a:rPr>
                        <a:t>리포트 연계 전 사용자 확인 팝업</a:t>
                      </a:r>
                      <a:r>
                        <a:rPr lang="en-US" altLang="ko-KR" sz="800" kern="1200" dirty="0">
                          <a:solidFill>
                            <a:schemeClr val="tx1"/>
                          </a:solidFill>
                          <a:latin typeface="+mn-ea"/>
                          <a:ea typeface="+mn-ea"/>
                          <a:cs typeface="+mn-cs"/>
                        </a:rPr>
                        <a:t> </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DcmntOtptIdnty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altLang="ko-KR" sz="700" b="0" i="0" u="none" strike="noStrike" dirty="0">
                          <a:solidFill>
                            <a:srgbClr val="000000"/>
                          </a:solidFill>
                          <a:effectLst/>
                          <a:latin typeface="+mn-ea"/>
                          <a:ea typeface="+mn-ea"/>
                        </a:rPr>
                        <a:t>MUI-BD-01-R15</a:t>
                      </a:r>
                      <a:endParaRPr lang="en-US" altLang="ko-KR"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smtClean="0">
                          <a:solidFill>
                            <a:schemeClr val="tx1"/>
                          </a:solidFill>
                          <a:latin typeface="+mn-ea"/>
                          <a:ea typeface="+mn-ea"/>
                          <a:cs typeface="+mn-cs"/>
                        </a:rPr>
                        <a:t>서류출력</a:t>
                      </a:r>
                      <a:r>
                        <a:rPr lang="ko-KR" altLang="en-US" sz="800" kern="1200" dirty="0" smtClean="0">
                          <a:solidFill>
                            <a:schemeClr val="tx1"/>
                          </a:solidFill>
                          <a:latin typeface="+mn-ea"/>
                          <a:ea typeface="+mn-ea"/>
                          <a:cs typeface="+mn-cs"/>
                        </a:rPr>
                        <a:t> </a:t>
                      </a:r>
                      <a:r>
                        <a:rPr lang="en-US" altLang="ko-KR" sz="800" kern="1200" dirty="0">
                          <a:solidFill>
                            <a:schemeClr val="tx1"/>
                          </a:solidFill>
                          <a:latin typeface="+mn-ea"/>
                          <a:ea typeface="+mn-ea"/>
                          <a:cs typeface="+mn-cs"/>
                        </a:rPr>
                        <a:t>- OZ</a:t>
                      </a:r>
                      <a:r>
                        <a:rPr lang="ko-KR" altLang="en-US" sz="800" kern="1200" dirty="0">
                          <a:solidFill>
                            <a:schemeClr val="tx1"/>
                          </a:solidFill>
                          <a:latin typeface="+mn-ea"/>
                          <a:ea typeface="+mn-ea"/>
                          <a:cs typeface="+mn-cs"/>
                        </a:rPr>
                        <a:t>리포트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DcmntOtpt</a:t>
                      </a:r>
                      <a:endParaRPr lang="en-US" sz="8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dirty="0"/>
                        <a:t>출력이 가능한 화면에서 </a:t>
                      </a:r>
                      <a:r>
                        <a:rPr lang="en-US" altLang="ko-KR" sz="800" dirty="0"/>
                        <a:t>OZ </a:t>
                      </a:r>
                      <a:r>
                        <a:rPr lang="ko-KR" altLang="en-US" sz="800" dirty="0"/>
                        <a:t>리포트 호출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DcmntOtpt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7062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0952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02037"/>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31053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419664" y="2019224"/>
            <a:ext cx="537573"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공고문안</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2680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1480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6692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13271"/>
            <a:ext cx="561034" cy="55828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6" name="연결선: 꺾임 7">
            <a:extLst>
              <a:ext uri="{FF2B5EF4-FFF2-40B4-BE49-F238E27FC236}">
                <a16:creationId xmlns:a16="http://schemas.microsoft.com/office/drawing/2014/main" id="{89A2D828-4C18-4F90-6B31-722E89773AA8}"/>
              </a:ext>
            </a:extLst>
          </p:cNvPr>
          <p:cNvCxnSpPr>
            <a:cxnSpLocks/>
            <a:stCxn id="140" idx="3"/>
            <a:endCxn id="161" idx="1"/>
          </p:cNvCxnSpPr>
          <p:nvPr/>
        </p:nvCxnSpPr>
        <p:spPr>
          <a:xfrm flipV="1">
            <a:off x="6926561" y="3292037"/>
            <a:ext cx="561034" cy="795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39925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132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292037"/>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292037"/>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2735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1" name="사각형: 둥근 모서리 5">
            <a:extLst>
              <a:ext uri="{FF2B5EF4-FFF2-40B4-BE49-F238E27FC236}">
                <a16:creationId xmlns:a16="http://schemas.microsoft.com/office/drawing/2014/main" id="{410E5459-200D-7630-863C-88E5109259DF}"/>
              </a:ext>
            </a:extLst>
          </p:cNvPr>
          <p:cNvSpPr/>
          <p:nvPr/>
        </p:nvSpPr>
        <p:spPr>
          <a:xfrm>
            <a:off x="5929158"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6791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454537"/>
            <a:ext cx="861328" cy="9170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5703835"/>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87168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292037"/>
            <a:ext cx="861732" cy="24117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4594760" y="4746645"/>
            <a:ext cx="1633862"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사각형: 둥근 모서리 5">
            <a:extLst>
              <a:ext uri="{FF2B5EF4-FFF2-40B4-BE49-F238E27FC236}">
                <a16:creationId xmlns:a16="http://schemas.microsoft.com/office/drawing/2014/main" id="{410E5459-200D-7630-863C-88E5109259DF}"/>
              </a:ext>
            </a:extLst>
          </p:cNvPr>
          <p:cNvSpPr/>
          <p:nvPr/>
        </p:nvSpPr>
        <p:spPr>
          <a:xfrm>
            <a:off x="7487595" y="410540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67" name="연결선: 꺾임 7">
            <a:extLst>
              <a:ext uri="{FF2B5EF4-FFF2-40B4-BE49-F238E27FC236}">
                <a16:creationId xmlns:a16="http://schemas.microsoft.com/office/drawing/2014/main" id="{89A2D828-4C18-4F90-6B31-722E89773AA8}"/>
              </a:ext>
            </a:extLst>
          </p:cNvPr>
          <p:cNvCxnSpPr>
            <a:cxnSpLocks/>
            <a:stCxn id="140" idx="3"/>
            <a:endCxn id="65" idx="1"/>
          </p:cNvCxnSpPr>
          <p:nvPr/>
        </p:nvCxnSpPr>
        <p:spPr>
          <a:xfrm>
            <a:off x="6926561" y="3371551"/>
            <a:ext cx="561034" cy="87785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65" idx="3"/>
            <a:endCxn id="158" idx="2"/>
          </p:cNvCxnSpPr>
          <p:nvPr/>
        </p:nvCxnSpPr>
        <p:spPr>
          <a:xfrm flipV="1">
            <a:off x="8387595" y="3292037"/>
            <a:ext cx="861732" cy="95736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5936089"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634511"/>
            <a:chOff x="8223250" y="569392"/>
            <a:chExt cx="3365500" cy="634511"/>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19368"/>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7487595" y="4590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입찰취소</a:t>
            </a:r>
            <a:endParaRPr lang="en-US" altLang="ko-KR" sz="800" dirty="0">
              <a:solidFill>
                <a:schemeClr val="tx1"/>
              </a:solidFill>
            </a:endParaRPr>
          </a:p>
          <a:p>
            <a:pPr algn="ctr"/>
            <a:r>
              <a:rPr lang="ko-KR" altLang="en-US" sz="800" dirty="0" err="1" smtClean="0">
                <a:solidFill>
                  <a:schemeClr val="tx1"/>
                </a:solidFill>
              </a:rPr>
              <a:t>입찰포기</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7487595" y="5075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입찰반려요청</a:t>
            </a:r>
            <a:endParaRPr lang="ko-KR" altLang="en-US" sz="800" dirty="0">
              <a:solidFill>
                <a:schemeClr val="tx1"/>
              </a:solidFill>
            </a:endParaRPr>
          </a:p>
        </p:txBody>
      </p:sp>
      <p:cxnSp>
        <p:nvCxnSpPr>
          <p:cNvPr id="102" name="연결선: 꺾임 7">
            <a:extLst>
              <a:ext uri="{FF2B5EF4-FFF2-40B4-BE49-F238E27FC236}">
                <a16:creationId xmlns:a16="http://schemas.microsoft.com/office/drawing/2014/main" id="{89A2D828-4C18-4F90-6B31-722E89773AA8}"/>
              </a:ext>
            </a:extLst>
          </p:cNvPr>
          <p:cNvCxnSpPr>
            <a:cxnSpLocks/>
            <a:stCxn id="140" idx="3"/>
            <a:endCxn id="98" idx="1"/>
          </p:cNvCxnSpPr>
          <p:nvPr/>
        </p:nvCxnSpPr>
        <p:spPr>
          <a:xfrm>
            <a:off x="6926561" y="3371551"/>
            <a:ext cx="561034" cy="13626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140" idx="3"/>
            <a:endCxn id="99" idx="1"/>
          </p:cNvCxnSpPr>
          <p:nvPr/>
        </p:nvCxnSpPr>
        <p:spPr>
          <a:xfrm>
            <a:off x="6926561" y="3371551"/>
            <a:ext cx="561034" cy="184747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F249990F-1DE5-C694-BDBD-2DE7009D57EA}"/>
              </a:ext>
            </a:extLst>
          </p:cNvPr>
          <p:cNvSpPr/>
          <p:nvPr/>
        </p:nvSpPr>
        <p:spPr>
          <a:xfrm>
            <a:off x="7487595" y="4882466"/>
            <a:ext cx="116378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입찰서</a:t>
            </a:r>
            <a:r>
              <a:rPr lang="en-US" altLang="ko-KR" sz="800" dirty="0" smtClean="0">
                <a:solidFill>
                  <a:schemeClr val="tx1"/>
                </a:solidFill>
              </a:rPr>
              <a:t>(</a:t>
            </a:r>
            <a:r>
              <a:rPr lang="ko-KR" altLang="en-US" sz="800" dirty="0" smtClean="0">
                <a:solidFill>
                  <a:schemeClr val="tx1"/>
                </a:solidFill>
              </a:rPr>
              <a:t>견적서</a:t>
            </a:r>
            <a:r>
              <a:rPr lang="en-US" altLang="ko-KR" sz="800" dirty="0" smtClean="0">
                <a:solidFill>
                  <a:schemeClr val="tx1"/>
                </a:solidFill>
              </a:rPr>
              <a:t>) </a:t>
            </a:r>
            <a:r>
              <a:rPr lang="ko-KR" altLang="en-US" sz="800" dirty="0" smtClean="0">
                <a:solidFill>
                  <a:schemeClr val="tx1"/>
                </a:solidFill>
              </a:rPr>
              <a:t>제출 이후</a:t>
            </a:r>
            <a:endParaRPr lang="ko-KR" altLang="en-US" sz="800" dirty="0">
              <a:solidFill>
                <a:schemeClr val="tx1"/>
              </a:solidFill>
            </a:endParaRPr>
          </a:p>
        </p:txBody>
      </p:sp>
      <p:sp>
        <p:nvSpPr>
          <p:cNvPr id="108" name="직사각형 107">
            <a:extLst>
              <a:ext uri="{FF2B5EF4-FFF2-40B4-BE49-F238E27FC236}">
                <a16:creationId xmlns:a16="http://schemas.microsoft.com/office/drawing/2014/main" id="{F249990F-1DE5-C694-BDBD-2DE7009D57EA}"/>
              </a:ext>
            </a:extLst>
          </p:cNvPr>
          <p:cNvSpPr/>
          <p:nvPr/>
        </p:nvSpPr>
        <p:spPr>
          <a:xfrm>
            <a:off x="7487595" y="536878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입찰참가 신청한 이후</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98325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23542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41367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27847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3700716"/>
            <a:ext cx="89447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공고가 게시되면</a:t>
            </a:r>
            <a:endParaRPr lang="en-US" altLang="ko-KR" sz="800" dirty="0" smtClean="0">
              <a:solidFill>
                <a:schemeClr val="tx1"/>
              </a:solidFill>
            </a:endParaRPr>
          </a:p>
          <a:p>
            <a:r>
              <a:rPr lang="ko-KR" altLang="en-US" sz="800" dirty="0" smtClean="0">
                <a:solidFill>
                  <a:schemeClr val="tx1"/>
                </a:solidFill>
              </a:rPr>
              <a:t>목록에 모두 표시됨</a:t>
            </a:r>
            <a:endParaRPr lang="ko-KR" altLang="en-US" sz="800" dirty="0">
              <a:solidFill>
                <a:schemeClr val="tx1"/>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cxnSp>
        <p:nvCxnSpPr>
          <p:cNvPr id="125" name="연결선: 꺾임 7">
            <a:extLst>
              <a:ext uri="{FF2B5EF4-FFF2-40B4-BE49-F238E27FC236}">
                <a16:creationId xmlns:a16="http://schemas.microsoft.com/office/drawing/2014/main" id="{89A2D828-4C18-4F90-6B31-722E89773AA8}"/>
              </a:ext>
            </a:extLst>
          </p:cNvPr>
          <p:cNvCxnSpPr>
            <a:cxnSpLocks/>
            <a:stCxn id="98" idx="3"/>
            <a:endCxn id="158" idx="2"/>
          </p:cNvCxnSpPr>
          <p:nvPr/>
        </p:nvCxnSpPr>
        <p:spPr>
          <a:xfrm flipV="1">
            <a:off x="8387595" y="3292037"/>
            <a:ext cx="861732" cy="14421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a:stCxn id="99" idx="3"/>
            <a:endCxn id="158" idx="2"/>
          </p:cNvCxnSpPr>
          <p:nvPr/>
        </p:nvCxnSpPr>
        <p:spPr>
          <a:xfrm flipV="1">
            <a:off x="8387595" y="3292037"/>
            <a:ext cx="861732" cy="192698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직사각형 138">
            <a:extLst>
              <a:ext uri="{FF2B5EF4-FFF2-40B4-BE49-F238E27FC236}">
                <a16:creationId xmlns:a16="http://schemas.microsoft.com/office/drawing/2014/main" id="{4FB9FCCA-B5F3-C0E2-F563-4F0CE0FC24CF}"/>
              </a:ext>
            </a:extLst>
          </p:cNvPr>
          <p:cNvSpPr/>
          <p:nvPr/>
        </p:nvSpPr>
        <p:spPr>
          <a:xfrm>
            <a:off x="2581278" y="443777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610275" y="4230283"/>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11" idx="3"/>
            <a:endCxn id="147" idx="2"/>
          </p:cNvCxnSpPr>
          <p:nvPr/>
        </p:nvCxnSpPr>
        <p:spPr>
          <a:xfrm>
            <a:off x="1971925" y="4127254"/>
            <a:ext cx="638350" cy="1930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1" name="연결선: 꺾임 7">
            <a:extLst>
              <a:ext uri="{FF2B5EF4-FFF2-40B4-BE49-F238E27FC236}">
                <a16:creationId xmlns:a16="http://schemas.microsoft.com/office/drawing/2014/main" id="{89A2D828-4C18-4F90-6B31-722E89773AA8}"/>
              </a:ext>
            </a:extLst>
          </p:cNvPr>
          <p:cNvCxnSpPr>
            <a:cxnSpLocks/>
            <a:stCxn id="116" idx="3"/>
            <a:endCxn id="147" idx="2"/>
          </p:cNvCxnSpPr>
          <p:nvPr/>
        </p:nvCxnSpPr>
        <p:spPr>
          <a:xfrm flipV="1">
            <a:off x="1971925" y="4320283"/>
            <a:ext cx="638350" cy="2373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3" name="직사각형 152">
            <a:extLst>
              <a:ext uri="{FF2B5EF4-FFF2-40B4-BE49-F238E27FC236}">
                <a16:creationId xmlns:a16="http://schemas.microsoft.com/office/drawing/2014/main" id="{F249990F-1DE5-C694-BDBD-2DE7009D57EA}"/>
              </a:ext>
            </a:extLst>
          </p:cNvPr>
          <p:cNvSpPr/>
          <p:nvPr/>
        </p:nvSpPr>
        <p:spPr>
          <a:xfrm>
            <a:off x="1860500" y="2627864"/>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
        <p:nvSpPr>
          <p:cNvPr id="100" name="사각형: 둥근 모서리 5">
            <a:extLst>
              <a:ext uri="{FF2B5EF4-FFF2-40B4-BE49-F238E27FC236}">
                <a16:creationId xmlns:a16="http://schemas.microsoft.com/office/drawing/2014/main" id="{410E5459-200D-7630-863C-88E5109259DF}"/>
              </a:ext>
            </a:extLst>
          </p:cNvPr>
          <p:cNvSpPr/>
          <p:nvPr/>
        </p:nvSpPr>
        <p:spPr>
          <a:xfrm>
            <a:off x="3616304" y="457518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계약 단계 이동</a:t>
            </a:r>
            <a:endParaRPr lang="ko-KR" altLang="en-US" sz="800" dirty="0">
              <a:solidFill>
                <a:schemeClr val="tx1"/>
              </a:solidFill>
            </a:endParaRPr>
          </a:p>
        </p:txBody>
      </p:sp>
      <p:cxnSp>
        <p:nvCxnSpPr>
          <p:cNvPr id="103" name="연결선: 꺾임 7">
            <a:extLst>
              <a:ext uri="{FF2B5EF4-FFF2-40B4-BE49-F238E27FC236}">
                <a16:creationId xmlns:a16="http://schemas.microsoft.com/office/drawing/2014/main" id="{89A2D828-4C18-4F90-6B31-722E89773AA8}"/>
              </a:ext>
            </a:extLst>
          </p:cNvPr>
          <p:cNvCxnSpPr>
            <a:cxnSpLocks/>
            <a:stCxn id="66" idx="3"/>
            <a:endCxn id="100" idx="1"/>
          </p:cNvCxnSpPr>
          <p:nvPr/>
        </p:nvCxnSpPr>
        <p:spPr>
          <a:xfrm>
            <a:off x="2754976" y="2454537"/>
            <a:ext cx="861328" cy="226464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7">
            <a:extLst>
              <a:ext uri="{FF2B5EF4-FFF2-40B4-BE49-F238E27FC236}">
                <a16:creationId xmlns:a16="http://schemas.microsoft.com/office/drawing/2014/main" id="{89A2D828-4C18-4F90-6B31-722E89773AA8}"/>
              </a:ext>
            </a:extLst>
          </p:cNvPr>
          <p:cNvCxnSpPr>
            <a:cxnSpLocks/>
            <a:stCxn id="100" idx="2"/>
            <a:endCxn id="147" idx="6"/>
          </p:cNvCxnSpPr>
          <p:nvPr/>
        </p:nvCxnSpPr>
        <p:spPr>
          <a:xfrm rot="5400000" flipH="1">
            <a:off x="3156840" y="3953719"/>
            <a:ext cx="542899" cy="1276029"/>
          </a:xfrm>
          <a:prstGeom prst="bentConnector4">
            <a:avLst>
              <a:gd name="adj1" fmla="val -42107"/>
              <a:gd name="adj2" fmla="val 76505"/>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9837903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4" name="직사각형 3">
            <a:extLst>
              <a:ext uri="{FF2B5EF4-FFF2-40B4-BE49-F238E27FC236}">
                <a16:creationId xmlns:a16="http://schemas.microsoft.com/office/drawing/2014/main" id="{BF8820D5-17EC-A1FF-29CB-1C40047A7078}"/>
              </a:ext>
            </a:extLst>
          </p:cNvPr>
          <p:cNvSpPr/>
          <p:nvPr/>
        </p:nvSpPr>
        <p:spPr>
          <a:xfrm>
            <a:off x="749716" y="1026000"/>
            <a:ext cx="2016000"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a:solidFill>
                  <a:schemeClr val="tx1"/>
                </a:solidFill>
              </a:rPr>
              <a:t>계약방법</a:t>
            </a:r>
            <a:r>
              <a:rPr lang="en-US" altLang="ko-KR" sz="1200" dirty="0">
                <a:solidFill>
                  <a:schemeClr val="tx1"/>
                </a:solidFill>
              </a:rPr>
              <a:t>/</a:t>
            </a:r>
            <a:r>
              <a:rPr lang="ko-KR" altLang="en-US" sz="1200" dirty="0">
                <a:solidFill>
                  <a:schemeClr val="tx1"/>
                </a:solidFill>
              </a:rPr>
              <a:t>낙찰방법 </a:t>
            </a:r>
            <a:r>
              <a:rPr lang="en-US" altLang="ko-KR" sz="1200" dirty="0">
                <a:solidFill>
                  <a:schemeClr val="tx1"/>
                </a:solidFill>
              </a:rPr>
              <a:t>(1/2)</a:t>
            </a:r>
            <a:endParaRPr lang="ko-KR" altLang="en-US" sz="1200" dirty="0">
              <a:solidFill>
                <a:schemeClr val="tx1"/>
              </a:solidFill>
            </a:endParaRPr>
          </a:p>
        </p:txBody>
      </p:sp>
      <p:graphicFrame>
        <p:nvGraphicFramePr>
          <p:cNvPr id="10" name="표 9">
            <a:extLst>
              <a:ext uri="{FF2B5EF4-FFF2-40B4-BE49-F238E27FC236}">
                <a16:creationId xmlns:a16="http://schemas.microsoft.com/office/drawing/2014/main" id="{17D2955A-BCA6-AA81-CCAE-BDB405829402}"/>
              </a:ext>
            </a:extLst>
          </p:cNvPr>
          <p:cNvGraphicFramePr>
            <a:graphicFrameLocks noGrp="1"/>
          </p:cNvGraphicFramePr>
          <p:nvPr>
            <p:extLst/>
          </p:nvPr>
        </p:nvGraphicFramePr>
        <p:xfrm>
          <a:off x="457200" y="1294316"/>
          <a:ext cx="9000004" cy="5216549"/>
        </p:xfrm>
        <a:graphic>
          <a:graphicData uri="http://schemas.openxmlformats.org/drawingml/2006/table">
            <a:tbl>
              <a:tblPr>
                <a:tableStyleId>{073A0DAA-6AF3-43AB-8588-CEC1D06C72B9}</a:tableStyleId>
              </a:tblPr>
              <a:tblGrid>
                <a:gridCol w="450028">
                  <a:extLst>
                    <a:ext uri="{9D8B030D-6E8A-4147-A177-3AD203B41FA5}">
                      <a16:colId xmlns:a16="http://schemas.microsoft.com/office/drawing/2014/main" val="1514238136"/>
                    </a:ext>
                  </a:extLst>
                </a:gridCol>
                <a:gridCol w="415410">
                  <a:extLst>
                    <a:ext uri="{9D8B030D-6E8A-4147-A177-3AD203B41FA5}">
                      <a16:colId xmlns:a16="http://schemas.microsoft.com/office/drawing/2014/main" val="3149676768"/>
                    </a:ext>
                  </a:extLst>
                </a:gridCol>
                <a:gridCol w="726968">
                  <a:extLst>
                    <a:ext uri="{9D8B030D-6E8A-4147-A177-3AD203B41FA5}">
                      <a16:colId xmlns:a16="http://schemas.microsoft.com/office/drawing/2014/main" val="3492731607"/>
                    </a:ext>
                  </a:extLst>
                </a:gridCol>
                <a:gridCol w="673418">
                  <a:extLst>
                    <a:ext uri="{9D8B030D-6E8A-4147-A177-3AD203B41FA5}">
                      <a16:colId xmlns:a16="http://schemas.microsoft.com/office/drawing/2014/main" val="1852613810"/>
                    </a:ext>
                  </a:extLst>
                </a:gridCol>
                <a:gridCol w="673418">
                  <a:extLst>
                    <a:ext uri="{9D8B030D-6E8A-4147-A177-3AD203B41FA5}">
                      <a16:colId xmlns:a16="http://schemas.microsoft.com/office/drawing/2014/main" val="3872983152"/>
                    </a:ext>
                  </a:extLst>
                </a:gridCol>
                <a:gridCol w="673418">
                  <a:extLst>
                    <a:ext uri="{9D8B030D-6E8A-4147-A177-3AD203B41FA5}">
                      <a16:colId xmlns:a16="http://schemas.microsoft.com/office/drawing/2014/main" val="3178130443"/>
                    </a:ext>
                  </a:extLst>
                </a:gridCol>
                <a:gridCol w="673418">
                  <a:extLst>
                    <a:ext uri="{9D8B030D-6E8A-4147-A177-3AD203B41FA5}">
                      <a16:colId xmlns:a16="http://schemas.microsoft.com/office/drawing/2014/main" val="54136518"/>
                    </a:ext>
                  </a:extLst>
                </a:gridCol>
                <a:gridCol w="673418">
                  <a:extLst>
                    <a:ext uri="{9D8B030D-6E8A-4147-A177-3AD203B41FA5}">
                      <a16:colId xmlns:a16="http://schemas.microsoft.com/office/drawing/2014/main" val="3072629197"/>
                    </a:ext>
                  </a:extLst>
                </a:gridCol>
                <a:gridCol w="673418">
                  <a:extLst>
                    <a:ext uri="{9D8B030D-6E8A-4147-A177-3AD203B41FA5}">
                      <a16:colId xmlns:a16="http://schemas.microsoft.com/office/drawing/2014/main" val="853219770"/>
                    </a:ext>
                  </a:extLst>
                </a:gridCol>
                <a:gridCol w="673418">
                  <a:extLst>
                    <a:ext uri="{9D8B030D-6E8A-4147-A177-3AD203B41FA5}">
                      <a16:colId xmlns:a16="http://schemas.microsoft.com/office/drawing/2014/main" val="2654666997"/>
                    </a:ext>
                  </a:extLst>
                </a:gridCol>
                <a:gridCol w="673418">
                  <a:extLst>
                    <a:ext uri="{9D8B030D-6E8A-4147-A177-3AD203B41FA5}">
                      <a16:colId xmlns:a16="http://schemas.microsoft.com/office/drawing/2014/main" val="1536767752"/>
                    </a:ext>
                  </a:extLst>
                </a:gridCol>
                <a:gridCol w="673418">
                  <a:extLst>
                    <a:ext uri="{9D8B030D-6E8A-4147-A177-3AD203B41FA5}">
                      <a16:colId xmlns:a16="http://schemas.microsoft.com/office/drawing/2014/main" val="2640426324"/>
                    </a:ext>
                  </a:extLst>
                </a:gridCol>
                <a:gridCol w="673418">
                  <a:extLst>
                    <a:ext uri="{9D8B030D-6E8A-4147-A177-3AD203B41FA5}">
                      <a16:colId xmlns:a16="http://schemas.microsoft.com/office/drawing/2014/main" val="3093499088"/>
                    </a:ext>
                  </a:extLst>
                </a:gridCol>
                <a:gridCol w="673418">
                  <a:extLst>
                    <a:ext uri="{9D8B030D-6E8A-4147-A177-3AD203B41FA5}">
                      <a16:colId xmlns:a16="http://schemas.microsoft.com/office/drawing/2014/main" val="1033233840"/>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1">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적격심사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공개낙찰자선정</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비공개</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p>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 </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시담</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사전심사신청</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(UI-BD-02-P01)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입찰참가신청서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(UI-BD-05-M01)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(UI-BD-07-M01)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입찰실시상세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(UI-BD-08-M02)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적격심사상세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(UI-BD-10-M01)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공개수의협상계획상세</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(UI-BD-12-M01)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비공개수의협상상세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(UI-BD-13-M01)/</a:t>
                      </a:r>
                      <a:b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b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587402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9485427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514972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65576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782816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5947774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5777821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167041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812178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7226048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840931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232085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1116196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847542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40019903"/>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862172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089193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7063854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0766178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일반용역</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최저가격제</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82195463"/>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983063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9077076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710070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776105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503148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적격심사제</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443578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019377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9254432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06241641"/>
                  </a:ext>
                </a:extLst>
              </a:tr>
            </a:tbl>
          </a:graphicData>
        </a:graphic>
      </p:graphicFrame>
      <p:cxnSp>
        <p:nvCxnSpPr>
          <p:cNvPr id="11" name="직선 연결선 10">
            <a:extLst>
              <a:ext uri="{FF2B5EF4-FFF2-40B4-BE49-F238E27FC236}">
                <a16:creationId xmlns:a16="http://schemas.microsoft.com/office/drawing/2014/main" id="{2C22921C-25BB-6DF2-D238-C864E62F80D6}"/>
              </a:ext>
            </a:extLst>
          </p:cNvPr>
          <p:cNvCxnSpPr/>
          <p:nvPr/>
        </p:nvCxnSpPr>
        <p:spPr>
          <a:xfrm>
            <a:off x="9458325" y="847725"/>
            <a:ext cx="0" cy="6010275"/>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5" name="표 4">
            <a:extLst>
              <a:ext uri="{FF2B5EF4-FFF2-40B4-BE49-F238E27FC236}">
                <a16:creationId xmlns:a16="http://schemas.microsoft.com/office/drawing/2014/main" id="{53BD92BF-DD7A-D947-441D-5075F42C16EA}"/>
              </a:ext>
            </a:extLst>
          </p:cNvPr>
          <p:cNvGraphicFramePr>
            <a:graphicFrameLocks noGrp="1"/>
          </p:cNvGraphicFramePr>
          <p:nvPr>
            <p:extLst/>
          </p:nvPr>
        </p:nvGraphicFramePr>
        <p:xfrm>
          <a:off x="2480883" y="3595186"/>
          <a:ext cx="2584150" cy="1464802"/>
        </p:xfrm>
        <a:graphic>
          <a:graphicData uri="http://schemas.openxmlformats.org/drawingml/2006/table">
            <a:tbl>
              <a:tblPr>
                <a:tableStyleId>{5C22544A-7EE6-4342-B048-85BDC9FD1C3A}</a:tableStyleId>
              </a:tblPr>
              <a:tblGrid>
                <a:gridCol w="559373">
                  <a:extLst>
                    <a:ext uri="{9D8B030D-6E8A-4147-A177-3AD203B41FA5}">
                      <a16:colId xmlns:a16="http://schemas.microsoft.com/office/drawing/2014/main" val="3097178312"/>
                    </a:ext>
                  </a:extLst>
                </a:gridCol>
                <a:gridCol w="1049144">
                  <a:extLst>
                    <a:ext uri="{9D8B030D-6E8A-4147-A177-3AD203B41FA5}">
                      <a16:colId xmlns:a16="http://schemas.microsoft.com/office/drawing/2014/main" val="4063926960"/>
                    </a:ext>
                  </a:extLst>
                </a:gridCol>
                <a:gridCol w="975633">
                  <a:extLst>
                    <a:ext uri="{9D8B030D-6E8A-4147-A177-3AD203B41FA5}">
                      <a16:colId xmlns:a16="http://schemas.microsoft.com/office/drawing/2014/main" val="3761576444"/>
                    </a:ext>
                  </a:extLst>
                </a:gridCol>
              </a:tblGrid>
              <a:tr h="0">
                <a:tc gridSpan="3">
                  <a:txBody>
                    <a:bodyPr/>
                    <a:lstStyle/>
                    <a:p>
                      <a:pPr algn="ctr" fontAlgn="ctr"/>
                      <a:r>
                        <a:rPr lang="en-US" altLang="ko-KR" sz="1000" u="none" strike="noStrike" dirty="0">
                          <a:effectLst/>
                        </a:rPr>
                        <a:t>As-Is</a:t>
                      </a:r>
                      <a:r>
                        <a:rPr lang="ko-KR" altLang="en-US" sz="1000" u="none" strike="noStrike" dirty="0">
                          <a:effectLst/>
                        </a:rPr>
                        <a:t> 계약방법</a:t>
                      </a:r>
                      <a:r>
                        <a:rPr lang="en-US" altLang="ko-KR" sz="1000" u="none" strike="noStrike" dirty="0">
                          <a:effectLst/>
                        </a:rPr>
                        <a:t>/</a:t>
                      </a:r>
                      <a:r>
                        <a:rPr lang="ko-KR" altLang="en-US" sz="1000" u="none" strike="noStrike" dirty="0">
                          <a:effectLst/>
                        </a:rPr>
                        <a:t>낙찰방법</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15856368"/>
                  </a:ext>
                </a:extLst>
              </a:tr>
              <a:tr h="178644">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업무구분</a:t>
                      </a:r>
                      <a:endParaRPr lang="en-US" altLang="ko-KR" sz="8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낙찰방법</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217876900"/>
                  </a:ext>
                </a:extLst>
              </a:tr>
              <a:tr h="231013">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협상에의한계약</a:t>
                      </a:r>
                      <a:r>
                        <a:rPr lang="en-US" altLang="ko-KR" sz="800" u="none" strike="noStrike" dirty="0">
                          <a:effectLst/>
                        </a:rPr>
                        <a:t>(</a:t>
                      </a:r>
                      <a:r>
                        <a:rPr lang="ko-KR" altLang="en-US" sz="800" u="none" strike="noStrike" dirty="0">
                          <a:effectLst/>
                        </a:rPr>
                        <a:t>전자</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협상</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3823699"/>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협상에의한계약</a:t>
                      </a:r>
                      <a:r>
                        <a:rPr lang="en-US" altLang="ko-KR" sz="800" u="none" strike="noStrike" dirty="0">
                          <a:effectLst/>
                        </a:rPr>
                        <a:t>(</a:t>
                      </a:r>
                      <a:r>
                        <a:rPr lang="ko-KR" altLang="en-US" sz="800" u="none" strike="noStrike" dirty="0">
                          <a:effectLst/>
                        </a:rPr>
                        <a:t>서류</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최저가격제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3101304345"/>
                  </a:ext>
                </a:extLst>
              </a:tr>
              <a:tr h="178644">
                <a:tc>
                  <a:txBody>
                    <a:bodyPr/>
                    <a:lstStyle/>
                    <a:p>
                      <a:pPr algn="ctr" fontAlgn="ctr"/>
                      <a:r>
                        <a:rPr lang="en-US" altLang="ko-KR" sz="800" u="none" strike="noStrike">
                          <a:effectLst/>
                        </a:rPr>
                        <a:t>…</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en-US" altLang="ko-KR" sz="800" u="none" strike="noStrike" dirty="0">
                          <a:effectLst/>
                        </a:rPr>
                        <a:t>2</a:t>
                      </a:r>
                      <a:r>
                        <a:rPr lang="ko-KR" altLang="en-US" sz="800" u="none" strike="noStrike" dirty="0">
                          <a:effectLst/>
                        </a:rPr>
                        <a:t>단계경쟁</a:t>
                      </a:r>
                      <a:r>
                        <a:rPr lang="en-US" altLang="ko-KR" sz="800" u="none" strike="noStrike" dirty="0">
                          <a:effectLst/>
                        </a:rPr>
                        <a:t>(</a:t>
                      </a:r>
                      <a:r>
                        <a:rPr lang="ko-KR" altLang="en-US" sz="800" u="none" strike="noStrike" dirty="0">
                          <a:effectLst/>
                        </a:rPr>
                        <a:t>동시</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607243502"/>
                  </a:ext>
                </a:extLst>
              </a:tr>
              <a:tr h="178644">
                <a:tc>
                  <a:txBody>
                    <a:bodyPr/>
                    <a:lstStyle/>
                    <a:p>
                      <a:pPr algn="ctr" fontAlgn="ctr"/>
                      <a:r>
                        <a:rPr lang="en-US" altLang="ko-KR" sz="800" u="none" strike="noStrike">
                          <a:effectLst/>
                        </a:rPr>
                        <a:t>…</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en-US" altLang="ko-KR" sz="800" u="none" strike="noStrike" dirty="0">
                          <a:effectLst/>
                        </a:rPr>
                        <a:t>2</a:t>
                      </a:r>
                      <a:r>
                        <a:rPr lang="ko-KR" altLang="en-US" sz="800" u="none" strike="noStrike" dirty="0">
                          <a:effectLst/>
                        </a:rPr>
                        <a:t>단계경쟁</a:t>
                      </a:r>
                      <a:r>
                        <a:rPr lang="en-US" altLang="ko-KR" sz="800" u="none" strike="noStrike" dirty="0">
                          <a:effectLst/>
                        </a:rPr>
                        <a:t>(</a:t>
                      </a:r>
                      <a:r>
                        <a:rPr lang="ko-KR" altLang="en-US" sz="800" u="none" strike="noStrike" dirty="0">
                          <a:effectLst/>
                        </a:rPr>
                        <a:t>분리</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4039888237"/>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역경매</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02588190"/>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종합낙찰제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82550853"/>
                  </a:ext>
                </a:extLst>
              </a:tr>
            </a:tbl>
          </a:graphicData>
        </a:graphic>
      </p:graphicFrame>
      <p:sp>
        <p:nvSpPr>
          <p:cNvPr id="8" name="직사각형 7">
            <a:extLst>
              <a:ext uri="{FF2B5EF4-FFF2-40B4-BE49-F238E27FC236}">
                <a16:creationId xmlns:a16="http://schemas.microsoft.com/office/drawing/2014/main" id="{FF3BE8E4-FCE4-384A-AFC3-247CD5D732B6}"/>
              </a:ext>
            </a:extLst>
          </p:cNvPr>
          <p:cNvSpPr/>
          <p:nvPr/>
        </p:nvSpPr>
        <p:spPr>
          <a:xfrm>
            <a:off x="447674" y="2421466"/>
            <a:ext cx="9009529" cy="584200"/>
          </a:xfrm>
          <a:prstGeom prst="rect">
            <a:avLst/>
          </a:prstGeom>
          <a:noFill/>
          <a:ln w="19050">
            <a:solidFill>
              <a:srgbClr val="FF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화살표: 아래쪽 8">
            <a:extLst>
              <a:ext uri="{FF2B5EF4-FFF2-40B4-BE49-F238E27FC236}">
                <a16:creationId xmlns:a16="http://schemas.microsoft.com/office/drawing/2014/main" id="{14ED59EE-71DF-5B73-DA71-6C5BF1870219}"/>
              </a:ext>
            </a:extLst>
          </p:cNvPr>
          <p:cNvSpPr/>
          <p:nvPr/>
        </p:nvSpPr>
        <p:spPr>
          <a:xfrm flipV="1">
            <a:off x="3442757" y="3022810"/>
            <a:ext cx="609600" cy="561975"/>
          </a:xfrm>
          <a:prstGeom prst="downArrow">
            <a:avLst/>
          </a:prstGeom>
          <a:ln w="28575">
            <a:solidFill>
              <a:srgbClr val="FF0000"/>
            </a:soli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endParaRPr lang="ko-KR" altLang="en-US"/>
          </a:p>
        </p:txBody>
      </p:sp>
      <p:grpSp>
        <p:nvGrpSpPr>
          <p:cNvPr id="12" name="그룹 11"/>
          <p:cNvGrpSpPr/>
          <p:nvPr/>
        </p:nvGrpSpPr>
        <p:grpSpPr>
          <a:xfrm>
            <a:off x="8223250" y="569392"/>
            <a:ext cx="3365500" cy="634511"/>
            <a:chOff x="8223250" y="569392"/>
            <a:chExt cx="3365500" cy="634511"/>
          </a:xfrm>
        </p:grpSpPr>
        <p:sp>
          <p:nvSpPr>
            <p:cNvPr id="13" name="직사각형 1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추가</a:t>
              </a:r>
              <a:endParaRPr lang="ko-KR" altLang="en-US" dirty="0"/>
            </a:p>
          </p:txBody>
        </p:sp>
        <p:sp>
          <p:nvSpPr>
            <p:cNvPr id="14" name="직사각형 1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grpSp>
    </p:spTree>
    <p:extLst>
      <p:ext uri="{BB962C8B-B14F-4D97-AF65-F5344CB8AC3E}">
        <p14:creationId xmlns:p14="http://schemas.microsoft.com/office/powerpoint/2010/main" val="276514009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4" name="직사각형 3">
            <a:extLst>
              <a:ext uri="{FF2B5EF4-FFF2-40B4-BE49-F238E27FC236}">
                <a16:creationId xmlns:a16="http://schemas.microsoft.com/office/drawing/2014/main" id="{BF8820D5-17EC-A1FF-29CB-1C40047A7078}"/>
              </a:ext>
            </a:extLst>
          </p:cNvPr>
          <p:cNvSpPr/>
          <p:nvPr/>
        </p:nvSpPr>
        <p:spPr>
          <a:xfrm>
            <a:off x="749716" y="1026000"/>
            <a:ext cx="2016000"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a:solidFill>
                  <a:schemeClr val="tx1"/>
                </a:solidFill>
              </a:rPr>
              <a:t>계약방법</a:t>
            </a:r>
            <a:r>
              <a:rPr lang="en-US" altLang="ko-KR" sz="1200" dirty="0">
                <a:solidFill>
                  <a:schemeClr val="tx1"/>
                </a:solidFill>
              </a:rPr>
              <a:t>/</a:t>
            </a:r>
            <a:r>
              <a:rPr lang="ko-KR" altLang="en-US" sz="1200" dirty="0">
                <a:solidFill>
                  <a:schemeClr val="tx1"/>
                </a:solidFill>
              </a:rPr>
              <a:t>낙찰방법 </a:t>
            </a:r>
            <a:r>
              <a:rPr lang="en-US" altLang="ko-KR" sz="1200" dirty="0">
                <a:solidFill>
                  <a:schemeClr val="tx1"/>
                </a:solidFill>
              </a:rPr>
              <a:t>(2/2)</a:t>
            </a:r>
            <a:endParaRPr lang="ko-KR" altLang="en-US" sz="1200" dirty="0">
              <a:solidFill>
                <a:schemeClr val="tx1"/>
              </a:solidFill>
            </a:endParaRPr>
          </a:p>
        </p:txBody>
      </p:sp>
      <p:graphicFrame>
        <p:nvGraphicFramePr>
          <p:cNvPr id="10" name="표 9">
            <a:extLst>
              <a:ext uri="{FF2B5EF4-FFF2-40B4-BE49-F238E27FC236}">
                <a16:creationId xmlns:a16="http://schemas.microsoft.com/office/drawing/2014/main" id="{17D2955A-BCA6-AA81-CCAE-BDB405829402}"/>
              </a:ext>
            </a:extLst>
          </p:cNvPr>
          <p:cNvGraphicFramePr>
            <a:graphicFrameLocks noGrp="1"/>
          </p:cNvGraphicFramePr>
          <p:nvPr>
            <p:extLst/>
          </p:nvPr>
        </p:nvGraphicFramePr>
        <p:xfrm>
          <a:off x="457200" y="1294314"/>
          <a:ext cx="9000004" cy="5292162"/>
        </p:xfrm>
        <a:graphic>
          <a:graphicData uri="http://schemas.openxmlformats.org/drawingml/2006/table">
            <a:tbl>
              <a:tblPr>
                <a:tableStyleId>{073A0DAA-6AF3-43AB-8588-CEC1D06C72B9}</a:tableStyleId>
              </a:tblPr>
              <a:tblGrid>
                <a:gridCol w="450028">
                  <a:extLst>
                    <a:ext uri="{9D8B030D-6E8A-4147-A177-3AD203B41FA5}">
                      <a16:colId xmlns:a16="http://schemas.microsoft.com/office/drawing/2014/main" val="1514238136"/>
                    </a:ext>
                  </a:extLst>
                </a:gridCol>
                <a:gridCol w="415410">
                  <a:extLst>
                    <a:ext uri="{9D8B030D-6E8A-4147-A177-3AD203B41FA5}">
                      <a16:colId xmlns:a16="http://schemas.microsoft.com/office/drawing/2014/main" val="3149676768"/>
                    </a:ext>
                  </a:extLst>
                </a:gridCol>
                <a:gridCol w="726968">
                  <a:extLst>
                    <a:ext uri="{9D8B030D-6E8A-4147-A177-3AD203B41FA5}">
                      <a16:colId xmlns:a16="http://schemas.microsoft.com/office/drawing/2014/main" val="3492731607"/>
                    </a:ext>
                  </a:extLst>
                </a:gridCol>
                <a:gridCol w="673418">
                  <a:extLst>
                    <a:ext uri="{9D8B030D-6E8A-4147-A177-3AD203B41FA5}">
                      <a16:colId xmlns:a16="http://schemas.microsoft.com/office/drawing/2014/main" val="1852613810"/>
                    </a:ext>
                  </a:extLst>
                </a:gridCol>
                <a:gridCol w="673418">
                  <a:extLst>
                    <a:ext uri="{9D8B030D-6E8A-4147-A177-3AD203B41FA5}">
                      <a16:colId xmlns:a16="http://schemas.microsoft.com/office/drawing/2014/main" val="3872983152"/>
                    </a:ext>
                  </a:extLst>
                </a:gridCol>
                <a:gridCol w="673418">
                  <a:extLst>
                    <a:ext uri="{9D8B030D-6E8A-4147-A177-3AD203B41FA5}">
                      <a16:colId xmlns:a16="http://schemas.microsoft.com/office/drawing/2014/main" val="3178130443"/>
                    </a:ext>
                  </a:extLst>
                </a:gridCol>
                <a:gridCol w="673418">
                  <a:extLst>
                    <a:ext uri="{9D8B030D-6E8A-4147-A177-3AD203B41FA5}">
                      <a16:colId xmlns:a16="http://schemas.microsoft.com/office/drawing/2014/main" val="54136518"/>
                    </a:ext>
                  </a:extLst>
                </a:gridCol>
                <a:gridCol w="673418">
                  <a:extLst>
                    <a:ext uri="{9D8B030D-6E8A-4147-A177-3AD203B41FA5}">
                      <a16:colId xmlns:a16="http://schemas.microsoft.com/office/drawing/2014/main" val="3072629197"/>
                    </a:ext>
                  </a:extLst>
                </a:gridCol>
                <a:gridCol w="673418">
                  <a:extLst>
                    <a:ext uri="{9D8B030D-6E8A-4147-A177-3AD203B41FA5}">
                      <a16:colId xmlns:a16="http://schemas.microsoft.com/office/drawing/2014/main" val="853219770"/>
                    </a:ext>
                  </a:extLst>
                </a:gridCol>
                <a:gridCol w="673418">
                  <a:extLst>
                    <a:ext uri="{9D8B030D-6E8A-4147-A177-3AD203B41FA5}">
                      <a16:colId xmlns:a16="http://schemas.microsoft.com/office/drawing/2014/main" val="2654666997"/>
                    </a:ext>
                  </a:extLst>
                </a:gridCol>
                <a:gridCol w="673418">
                  <a:extLst>
                    <a:ext uri="{9D8B030D-6E8A-4147-A177-3AD203B41FA5}">
                      <a16:colId xmlns:a16="http://schemas.microsoft.com/office/drawing/2014/main" val="1536767752"/>
                    </a:ext>
                  </a:extLst>
                </a:gridCol>
                <a:gridCol w="673418">
                  <a:extLst>
                    <a:ext uri="{9D8B030D-6E8A-4147-A177-3AD203B41FA5}">
                      <a16:colId xmlns:a16="http://schemas.microsoft.com/office/drawing/2014/main" val="2640426324"/>
                    </a:ext>
                  </a:extLst>
                </a:gridCol>
                <a:gridCol w="673418">
                  <a:extLst>
                    <a:ext uri="{9D8B030D-6E8A-4147-A177-3AD203B41FA5}">
                      <a16:colId xmlns:a16="http://schemas.microsoft.com/office/drawing/2014/main" val="3093499088"/>
                    </a:ext>
                  </a:extLst>
                </a:gridCol>
                <a:gridCol w="673418">
                  <a:extLst>
                    <a:ext uri="{9D8B030D-6E8A-4147-A177-3AD203B41FA5}">
                      <a16:colId xmlns:a16="http://schemas.microsoft.com/office/drawing/2014/main" val="1033233840"/>
                    </a:ext>
                  </a:extLst>
                </a:gridCol>
              </a:tblGrid>
              <a:tr h="180000">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1">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31007">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적격심사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공개낙찰자선정</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비공개</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p>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 </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시담</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62015">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사전심사신청</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(UI-BD-02-P01)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입찰참가신청서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(UI-BD-05-M01)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(UI-BD-07-M01)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입찰실시상세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(UI-BD-08-M02)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적격심사상세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(UI-BD-10-M01)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공개수의협상계획상세</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(UI-BD-12-M01)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비공개수의협상상세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(UI-BD-13-M01)/</a:t>
                      </a:r>
                      <a:b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b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2849317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96895770"/>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8419580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297046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7592399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02502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44168376"/>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1722268"/>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29405808"/>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0196416"/>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11179963"/>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96518064"/>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8768795"/>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49831405"/>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80490702"/>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32336433"/>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69981911"/>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4175669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059466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2444379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372886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51494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55414776"/>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1756933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023302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748781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FF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75846601"/>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1505029"/>
                  </a:ext>
                </a:extLst>
              </a:tr>
            </a:tbl>
          </a:graphicData>
        </a:graphic>
      </p:graphicFrame>
      <p:grpSp>
        <p:nvGrpSpPr>
          <p:cNvPr id="6" name="그룹 5"/>
          <p:cNvGrpSpPr/>
          <p:nvPr/>
        </p:nvGrpSpPr>
        <p:grpSpPr>
          <a:xfrm>
            <a:off x="8223250" y="569392"/>
            <a:ext cx="3365500" cy="634511"/>
            <a:chOff x="8223250" y="569392"/>
            <a:chExt cx="3365500" cy="634511"/>
          </a:xfrm>
        </p:grpSpPr>
        <p:sp>
          <p:nvSpPr>
            <p:cNvPr id="7" name="직사각형 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추가</a:t>
              </a:r>
              <a:endParaRPr lang="ko-KR" altLang="en-US" dirty="0"/>
            </a:p>
          </p:txBody>
        </p:sp>
        <p:sp>
          <p:nvSpPr>
            <p:cNvPr id="8" name="직사각형 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grpSp>
    </p:spTree>
    <p:extLst>
      <p:ext uri="{BB962C8B-B14F-4D97-AF65-F5344CB8AC3E}">
        <p14:creationId xmlns:p14="http://schemas.microsoft.com/office/powerpoint/2010/main" val="20038562"/>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a:t>
            </a:r>
            <a:r>
              <a:rPr lang="ko-KR" altLang="en-US" dirty="0" smtClean="0"/>
              <a:t>다이어그램</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028700" y="164413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smtClean="0">
                <a:solidFill>
                  <a:schemeClr val="tx1"/>
                </a:solidFill>
              </a:rPr>
              <a:t>입찰공고상세</a:t>
            </a:r>
            <a:endParaRPr lang="ko-KR" altLang="en-US" sz="900" dirty="0">
              <a:solidFill>
                <a:schemeClr val="tx1"/>
              </a:solidFill>
            </a:endParaRPr>
          </a:p>
          <a:p>
            <a:pPr algn="ctr"/>
            <a:r>
              <a:rPr lang="en-US" altLang="ko-KR" sz="900" dirty="0" err="1">
                <a:solidFill>
                  <a:schemeClr val="tx1"/>
                </a:solidFill>
                <a:latin typeface="+mn-ea"/>
              </a:rPr>
              <a:t>BidPbancDtlPage</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28700" y="224445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일반정보</a:t>
            </a:r>
            <a:endParaRPr lang="en-US" altLang="ko-KR" sz="900" dirty="0">
              <a:solidFill>
                <a:schemeClr val="tx1"/>
              </a:solidFill>
            </a:endParaRPr>
          </a:p>
          <a:p>
            <a:pPr algn="ctr"/>
            <a:r>
              <a:rPr lang="en-US" altLang="ko-KR" sz="900" dirty="0" err="1">
                <a:solidFill>
                  <a:schemeClr val="tx1"/>
                </a:solidFill>
              </a:rPr>
              <a:t>BidPbancDtl</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28700" y="2844775"/>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기초예비가격</a:t>
            </a:r>
            <a:endParaRPr lang="en-US" altLang="ko-KR" sz="900" dirty="0">
              <a:solidFill>
                <a:schemeClr val="tx1"/>
              </a:solidFill>
            </a:endParaRPr>
          </a:p>
          <a:p>
            <a:pPr algn="ctr"/>
            <a:r>
              <a:rPr lang="en-US" altLang="ko-KR" sz="900" dirty="0">
                <a:solidFill>
                  <a:schemeClr val="tx1"/>
                </a:solidFill>
              </a:rPr>
              <a:t>BidPbancDtl_Tacpg02</a:t>
            </a:r>
            <a:r>
              <a:rPr lang="en-US" altLang="ko-KR" sz="900" dirty="0"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55900" y="1865266"/>
            <a:ext cx="1204191" cy="11249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55900" y="2465584"/>
            <a:ext cx="1204191" cy="52459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55900" y="2990174"/>
            <a:ext cx="1204191" cy="757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028700" y="3445093"/>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품목명세서</a:t>
            </a:r>
            <a:endParaRPr lang="en-US" altLang="ko-KR" sz="900" dirty="0">
              <a:solidFill>
                <a:schemeClr val="tx1"/>
              </a:solidFill>
            </a:endParaRPr>
          </a:p>
          <a:p>
            <a:pPr algn="ctr"/>
            <a:r>
              <a:rPr lang="en-US" altLang="ko-KR" sz="900" dirty="0" smtClean="0">
                <a:solidFill>
                  <a:schemeClr val="tx1"/>
                </a:solidFill>
              </a:rPr>
              <a:t>BidPbancDtl_Tacpg03.tsx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028700" y="4045411"/>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계약특수조건</a:t>
            </a:r>
            <a:endParaRPr lang="en-US" altLang="ko-KR" sz="900" dirty="0">
              <a:solidFill>
                <a:schemeClr val="tx1"/>
              </a:solidFill>
            </a:endParaRPr>
          </a:p>
          <a:p>
            <a:pPr algn="ctr"/>
            <a:r>
              <a:rPr lang="en-US" altLang="ko-KR" sz="900" dirty="0" smtClean="0">
                <a:solidFill>
                  <a:schemeClr val="tx1"/>
                </a:solidFill>
              </a:rPr>
              <a:t>BidPbancDtl_Tacpg04.tsx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028700" y="464572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공고문안</a:t>
            </a:r>
            <a:endParaRPr lang="en-US" altLang="ko-KR" sz="900" dirty="0">
              <a:solidFill>
                <a:schemeClr val="tx1"/>
              </a:solidFill>
            </a:endParaRPr>
          </a:p>
          <a:p>
            <a:pPr algn="ctr"/>
            <a:r>
              <a:rPr lang="en-US" altLang="ko-KR" sz="900" dirty="0" smtClean="0">
                <a:solidFill>
                  <a:schemeClr val="tx1"/>
                </a:solidFill>
              </a:rPr>
              <a:t>BidPbancDtl_Tacpg05.tsx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755900" y="2990174"/>
            <a:ext cx="1204191" cy="67604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755900" y="2990174"/>
            <a:ext cx="1204191" cy="1276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755900" y="2990174"/>
            <a:ext cx="1204191" cy="18766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326CB017-8967-4DC4-0EAD-ADB3B9EAB841}"/>
              </a:ext>
            </a:extLst>
          </p:cNvPr>
          <p:cNvSpPr/>
          <p:nvPr/>
        </p:nvSpPr>
        <p:spPr>
          <a:xfrm>
            <a:off x="1028700" y="524604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입찰진행현황</a:t>
            </a:r>
            <a:endParaRPr lang="en-US" altLang="ko-KR" sz="900" dirty="0">
              <a:solidFill>
                <a:schemeClr val="tx1"/>
              </a:solidFill>
            </a:endParaRPr>
          </a:p>
          <a:p>
            <a:pPr algn="ctr"/>
            <a:r>
              <a:rPr lang="en-US" altLang="ko-KR" sz="900" dirty="0" smtClean="0">
                <a:solidFill>
                  <a:schemeClr val="tx1"/>
                </a:solidFill>
              </a:rPr>
              <a:t>BidPbancDtl_Tacpg06.tsx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7" name="직선 화살표 연결선 36">
            <a:extLst>
              <a:ext uri="{FF2B5EF4-FFF2-40B4-BE49-F238E27FC236}">
                <a16:creationId xmlns:a16="http://schemas.microsoft.com/office/drawing/2014/main" id="{418E1257-E5C2-5705-1378-45505004ABAF}"/>
              </a:ext>
            </a:extLst>
          </p:cNvPr>
          <p:cNvCxnSpPr>
            <a:cxnSpLocks/>
            <a:stCxn id="36" idx="3"/>
            <a:endCxn id="9" idx="1"/>
          </p:cNvCxnSpPr>
          <p:nvPr/>
        </p:nvCxnSpPr>
        <p:spPr>
          <a:xfrm flipV="1">
            <a:off x="2755900" y="2990174"/>
            <a:ext cx="1204191" cy="24770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4" name="직사각형 23">
            <a:extLst>
              <a:ext uri="{FF2B5EF4-FFF2-40B4-BE49-F238E27FC236}">
                <a16:creationId xmlns:a16="http://schemas.microsoft.com/office/drawing/2014/main" id="{326CB017-8967-4DC4-0EAD-ADB3B9EAB841}"/>
              </a:ext>
            </a:extLst>
          </p:cNvPr>
          <p:cNvSpPr/>
          <p:nvPr/>
        </p:nvSpPr>
        <p:spPr>
          <a:xfrm>
            <a:off x="1028700" y="5844068"/>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smtClean="0">
                <a:solidFill>
                  <a:schemeClr val="tx1"/>
                </a:solidFill>
                <a:latin typeface="+mn-ea"/>
              </a:rPr>
              <a:t>관심공고등록</a:t>
            </a:r>
            <a:r>
              <a:rPr lang="en-US" altLang="ko-KR" sz="900" dirty="0" smtClean="0">
                <a:solidFill>
                  <a:schemeClr val="tx1"/>
                </a:solidFill>
                <a:latin typeface="+mn-ea"/>
              </a:rPr>
              <a:t>,</a:t>
            </a:r>
            <a:r>
              <a:rPr lang="ko-KR" altLang="en-US" sz="900" dirty="0" smtClean="0">
                <a:solidFill>
                  <a:schemeClr val="tx1"/>
                </a:solidFill>
                <a:latin typeface="+mn-ea"/>
              </a:rPr>
              <a:t>제외</a:t>
            </a:r>
            <a:endParaRPr lang="en-US" altLang="ko-KR" sz="900" dirty="0">
              <a:solidFill>
                <a:schemeClr val="tx1"/>
              </a:solidFill>
            </a:endParaRPr>
          </a:p>
          <a:p>
            <a:pPr algn="ctr"/>
            <a:r>
              <a:rPr lang="en-US" altLang="ko-KR" sz="900" dirty="0" err="1">
                <a:solidFill>
                  <a:schemeClr val="tx1"/>
                </a:solidFill>
              </a:rPr>
              <a:t>Toast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288867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smtClean="0">
                <a:solidFill>
                  <a:schemeClr val="tx1"/>
                </a:solidFill>
                <a:latin typeface="+mn-ea"/>
              </a:rPr>
              <a:t>서류출력확인</a:t>
            </a:r>
            <a:endParaRPr lang="en-US" altLang="ko-KR" sz="900" dirty="0">
              <a:solidFill>
                <a:schemeClr val="tx1"/>
              </a:solidFill>
            </a:endParaRPr>
          </a:p>
          <a:p>
            <a:pPr algn="ctr"/>
            <a:r>
              <a:rPr lang="en-US" altLang="ko-KR" sz="900" dirty="0" err="1">
                <a:solidFill>
                  <a:schemeClr val="tx1"/>
                </a:solidFill>
              </a:rPr>
              <a:t>DcmntOtptIdnty</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449703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smtClean="0">
                <a:solidFill>
                  <a:schemeClr val="tx1"/>
                </a:solidFill>
                <a:latin typeface="+mn-ea"/>
              </a:rPr>
              <a:t>서류출력</a:t>
            </a:r>
            <a:r>
              <a:rPr lang="en-US" altLang="ko-KR" sz="900" dirty="0" smtClean="0">
                <a:solidFill>
                  <a:schemeClr val="tx1"/>
                </a:solidFill>
                <a:latin typeface="+mn-ea"/>
              </a:rPr>
              <a:t>-OZ</a:t>
            </a:r>
            <a:r>
              <a:rPr lang="ko-KR" altLang="en-US" sz="900" dirty="0">
                <a:solidFill>
                  <a:schemeClr val="tx1"/>
                </a:solidFill>
                <a:latin typeface="+mn-ea"/>
              </a:rPr>
              <a:t>리포트</a:t>
            </a:r>
            <a:endParaRPr lang="en-US" altLang="ko-KR" sz="900" dirty="0">
              <a:solidFill>
                <a:schemeClr val="tx1"/>
              </a:solidFill>
            </a:endParaRPr>
          </a:p>
          <a:p>
            <a:pPr algn="ctr"/>
            <a:r>
              <a:rPr lang="en-US" altLang="ko-KR" sz="900" dirty="0" err="1">
                <a:solidFill>
                  <a:schemeClr val="tx1"/>
                </a:solidFill>
              </a:rPr>
              <a:t>DcmntOtpt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55900" y="2990174"/>
            <a:ext cx="1204191" cy="307502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0"/>
            <a:endCxn id="9" idx="2"/>
          </p:cNvCxnSpPr>
          <p:nvPr/>
        </p:nvCxnSpPr>
        <p:spPr>
          <a:xfrm flipV="1">
            <a:off x="3627197" y="3810190"/>
            <a:ext cx="1196494"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418E1257-E5C2-5705-1378-45505004ABAF}"/>
              </a:ext>
            </a:extLst>
          </p:cNvPr>
          <p:cNvCxnSpPr>
            <a:cxnSpLocks/>
            <a:stCxn id="28" idx="0"/>
            <a:endCxn id="9" idx="2"/>
          </p:cNvCxnSpPr>
          <p:nvPr/>
        </p:nvCxnSpPr>
        <p:spPr>
          <a:xfrm flipH="1" flipV="1">
            <a:off x="4823691" y="3810190"/>
            <a:ext cx="411866"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7615310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상세 탭 구성 조건 확인</a:t>
            </a:r>
            <a:r>
              <a:rPr lang="en-US" altLang="ko-KR" dirty="0" smtClean="0"/>
              <a:t/>
            </a:r>
            <a:br>
              <a:rPr lang="en-US" altLang="ko-KR" dirty="0" smtClean="0"/>
            </a:br>
            <a:r>
              <a:rPr lang="en-US" altLang="ko-KR" dirty="0" smtClean="0"/>
              <a:t>- </a:t>
            </a:r>
            <a:r>
              <a:rPr lang="ko-KR" altLang="en-US" dirty="0" err="1" smtClean="0"/>
              <a:t>공고문안</a:t>
            </a:r>
            <a:r>
              <a:rPr lang="ko-KR" altLang="en-US" dirty="0" smtClean="0"/>
              <a:t> 항목 보류</a:t>
            </a:r>
            <a:r>
              <a:rPr lang="en-US" altLang="ko-KR" dirty="0" smtClean="0"/>
              <a:t>(</a:t>
            </a:r>
            <a:r>
              <a:rPr lang="ko-KR" altLang="en-US" dirty="0" smtClean="0"/>
              <a:t>모바일에 사용 여부 확인 필요</a:t>
            </a:r>
            <a:r>
              <a:rPr lang="en-US" altLang="ko-KR" dirty="0" smtClean="0"/>
              <a:t>) </a:t>
            </a:r>
            <a:r>
              <a:rPr lang="ko-KR" altLang="en-US" dirty="0" smtClean="0"/>
              <a:t> </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endParaRPr lang="ko-KR" altLang="en-US" b="1"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14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600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3013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9384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2518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10717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374522"/>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557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3913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557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40101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6207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87540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5069556"/>
            <a:ext cx="792000" cy="1162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506955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5069556"/>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smtClean="0">
                <a:latin typeface="+mn-ea"/>
              </a:rPr>
              <a:t>통합참조번호</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5069556"/>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smtClean="0">
                <a:latin typeface="+mn-ea"/>
              </a:rPr>
              <a:t>2025LDG56349</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300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514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7280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94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61554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602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5523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8475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5523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5523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8475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8475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684755"/>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680120"/>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3" name="그룹 162"/>
          <p:cNvGrpSpPr/>
          <p:nvPr/>
        </p:nvGrpSpPr>
        <p:grpSpPr>
          <a:xfrm>
            <a:off x="677960" y="1582647"/>
            <a:ext cx="2714637" cy="686386"/>
            <a:chOff x="677960" y="1582647"/>
            <a:chExt cx="2714637" cy="686386"/>
          </a:xfrm>
        </p:grpSpPr>
        <p:sp>
          <p:nvSpPr>
            <p:cNvPr id="164" name="TextBox 163">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rot="5400000">
              <a:off x="852159" y="2062596"/>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7" name="그룹 176"/>
            <p:cNvGrpSpPr/>
            <p:nvPr/>
          </p:nvGrpSpPr>
          <p:grpSpPr>
            <a:xfrm>
              <a:off x="677960" y="1582647"/>
              <a:ext cx="2712027" cy="324286"/>
              <a:chOff x="677960" y="1582647"/>
              <a:chExt cx="2712027" cy="324286"/>
            </a:xfrm>
          </p:grpSpPr>
          <p:pic>
            <p:nvPicPr>
              <p:cNvPr id="17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9" name="직선 연결선 17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타원 17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타원 18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타원 18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89" name="그룹 188"/>
          <p:cNvGrpSpPr/>
          <p:nvPr/>
        </p:nvGrpSpPr>
        <p:grpSpPr>
          <a:xfrm>
            <a:off x="8223250" y="569392"/>
            <a:ext cx="3365500" cy="251875"/>
            <a:chOff x="8223250" y="569392"/>
            <a:chExt cx="3365500" cy="251875"/>
          </a:xfrm>
        </p:grpSpPr>
        <p:sp>
          <p:nvSpPr>
            <p:cNvPr id="190" name="직사각형 1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a:t>화면 </a:t>
              </a:r>
              <a:r>
                <a:rPr lang="ko-KR" altLang="en-US" dirty="0" smtClean="0"/>
                <a:t>수정</a:t>
              </a:r>
              <a:endParaRPr lang="ko-KR" altLang="en-US" dirty="0"/>
            </a:p>
          </p:txBody>
        </p:sp>
        <p:sp>
          <p:nvSpPr>
            <p:cNvPr id="191" name="직사각형 190"/>
            <p:cNvSpPr/>
            <p:nvPr/>
          </p:nvSpPr>
          <p:spPr>
            <a:xfrm>
              <a:off x="9906000" y="569392"/>
              <a:ext cx="1682750" cy="25187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FontTx/>
                <a:buAutoNum type="arabicPeriod"/>
              </a:pPr>
              <a:r>
                <a:rPr lang="en-US" altLang="ko-KR" sz="400" dirty="0" smtClean="0"/>
                <a:t>Tab</a:t>
              </a:r>
              <a:r>
                <a:rPr lang="ko-KR" altLang="en-US" sz="400" dirty="0" smtClean="0"/>
                <a:t>구성 정책 정의</a:t>
              </a:r>
              <a:r>
                <a:rPr lang="en-US" altLang="ko-KR" sz="400" dirty="0" smtClean="0"/>
                <a:t/>
              </a:r>
              <a:br>
                <a:rPr lang="en-US" altLang="ko-KR" sz="400" dirty="0" smtClean="0"/>
              </a:br>
              <a:r>
                <a:rPr lang="en-US" altLang="ko-KR" sz="500" dirty="0"/>
                <a:t>- </a:t>
              </a:r>
              <a:r>
                <a:rPr lang="ko-KR" altLang="en-US" sz="500" dirty="0"/>
                <a:t>제안서평가결과 항목 </a:t>
              </a:r>
              <a:r>
                <a:rPr lang="ko-KR" altLang="en-US" sz="500" dirty="0" err="1"/>
                <a:t>노출여부</a:t>
              </a:r>
              <a:r>
                <a:rPr lang="ko-KR" altLang="en-US" sz="500" dirty="0"/>
                <a:t> 및 조회 조건 </a:t>
              </a:r>
              <a:r>
                <a:rPr lang="ko-KR" altLang="en-US" sz="500" dirty="0" err="1" smtClean="0"/>
                <a:t>확인필요</a:t>
              </a:r>
              <a:endParaRPr lang="ko-KR" altLang="en-US" sz="400" dirty="0"/>
            </a:p>
          </p:txBody>
        </p:sp>
      </p:grpSp>
      <p:graphicFrame>
        <p:nvGraphicFramePr>
          <p:cNvPr id="192" name="표 191"/>
          <p:cNvGraphicFramePr>
            <a:graphicFrameLocks noGrp="1"/>
          </p:cNvGraphicFramePr>
          <p:nvPr>
            <p:extLst>
              <p:ext uri="{D42A27DB-BD31-4B8C-83A1-F6EECF244321}">
                <p14:modId xmlns:p14="http://schemas.microsoft.com/office/powerpoint/2010/main" val="534187117"/>
              </p:ext>
            </p:extLst>
          </p:nvPr>
        </p:nvGraphicFramePr>
        <p:xfrm>
          <a:off x="3477945" y="1634665"/>
          <a:ext cx="3499097" cy="2294881"/>
        </p:xfrm>
        <a:graphic>
          <a:graphicData uri="http://schemas.openxmlformats.org/drawingml/2006/table">
            <a:tbl>
              <a:tblPr firstRow="1" bandRow="1">
                <a:tableStyleId>{5C22544A-7EE6-4342-B048-85BDC9FD1C3A}</a:tableStyleId>
              </a:tblPr>
              <a:tblGrid>
                <a:gridCol w="401803">
                  <a:extLst>
                    <a:ext uri="{9D8B030D-6E8A-4147-A177-3AD203B41FA5}">
                      <a16:colId xmlns:a16="http://schemas.microsoft.com/office/drawing/2014/main" val="3629403149"/>
                    </a:ext>
                  </a:extLst>
                </a:gridCol>
                <a:gridCol w="362576">
                  <a:extLst>
                    <a:ext uri="{9D8B030D-6E8A-4147-A177-3AD203B41FA5}">
                      <a16:colId xmlns:a16="http://schemas.microsoft.com/office/drawing/2014/main" val="1460515021"/>
                    </a:ext>
                  </a:extLst>
                </a:gridCol>
                <a:gridCol w="344123">
                  <a:extLst>
                    <a:ext uri="{9D8B030D-6E8A-4147-A177-3AD203B41FA5}">
                      <a16:colId xmlns:a16="http://schemas.microsoft.com/office/drawing/2014/main" val="1918560194"/>
                    </a:ext>
                  </a:extLst>
                </a:gridCol>
                <a:gridCol w="478119">
                  <a:extLst>
                    <a:ext uri="{9D8B030D-6E8A-4147-A177-3AD203B41FA5}">
                      <a16:colId xmlns:a16="http://schemas.microsoft.com/office/drawing/2014/main" val="53436730"/>
                    </a:ext>
                  </a:extLst>
                </a:gridCol>
                <a:gridCol w="478119">
                  <a:extLst>
                    <a:ext uri="{9D8B030D-6E8A-4147-A177-3AD203B41FA5}">
                      <a16:colId xmlns:a16="http://schemas.microsoft.com/office/drawing/2014/main" val="2010932193"/>
                    </a:ext>
                  </a:extLst>
                </a:gridCol>
                <a:gridCol w="478119">
                  <a:extLst>
                    <a:ext uri="{9D8B030D-6E8A-4147-A177-3AD203B41FA5}">
                      <a16:colId xmlns:a16="http://schemas.microsoft.com/office/drawing/2014/main" val="2027724900"/>
                    </a:ext>
                  </a:extLst>
                </a:gridCol>
                <a:gridCol w="478119">
                  <a:extLst>
                    <a:ext uri="{9D8B030D-6E8A-4147-A177-3AD203B41FA5}">
                      <a16:colId xmlns:a16="http://schemas.microsoft.com/office/drawing/2014/main" val="2431535656"/>
                    </a:ext>
                  </a:extLst>
                </a:gridCol>
                <a:gridCol w="478119">
                  <a:extLst>
                    <a:ext uri="{9D8B030D-6E8A-4147-A177-3AD203B41FA5}">
                      <a16:colId xmlns:a16="http://schemas.microsoft.com/office/drawing/2014/main" val="729038074"/>
                    </a:ext>
                  </a:extLst>
                </a:gridCol>
              </a:tblGrid>
              <a:tr h="134993">
                <a:tc gridSpan="2">
                  <a:txBody>
                    <a:bodyPr/>
                    <a:lstStyle/>
                    <a:p>
                      <a:pPr algn="ctr" latinLnBrk="1"/>
                      <a:r>
                        <a:rPr lang="ko-KR" altLang="en-US" sz="500" dirty="0" smtClean="0">
                          <a:solidFill>
                            <a:schemeClr val="tx1"/>
                          </a:solidFill>
                        </a:rPr>
                        <a:t>구분</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일반정보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기초예비가격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품목명세서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계약특수조건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공고문안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입찰진행현황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87169711"/>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2740103"/>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86839540"/>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8730365"/>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03052062"/>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59969942"/>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955307"/>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4924294"/>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85107337"/>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6858037"/>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26687968"/>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8077588"/>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7438913"/>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590084"/>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2836772"/>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8694988"/>
                  </a:ext>
                </a:extLst>
              </a:tr>
            </a:tbl>
          </a:graphicData>
        </a:graphic>
      </p:graphicFrame>
      <p:sp>
        <p:nvSpPr>
          <p:cNvPr id="193" name="직사각형 192"/>
          <p:cNvSpPr/>
          <p:nvPr/>
        </p:nvSpPr>
        <p:spPr>
          <a:xfrm>
            <a:off x="3395869" y="1428345"/>
            <a:ext cx="1141201" cy="184666"/>
          </a:xfrm>
          <a:prstGeom prst="rect">
            <a:avLst/>
          </a:prstGeom>
        </p:spPr>
        <p:txBody>
          <a:bodyPr wrap="square">
            <a:spAutoFit/>
          </a:bodyPr>
          <a:lstStyle/>
          <a:p>
            <a:r>
              <a:rPr lang="en-US" altLang="ko-KR" sz="600" b="1" dirty="0" smtClean="0"/>
              <a:t>Tab </a:t>
            </a:r>
            <a:r>
              <a:rPr lang="ko-KR" altLang="en-US" sz="600" b="1" dirty="0" smtClean="0"/>
              <a:t>구성 정책</a:t>
            </a:r>
            <a:endParaRPr lang="ko-KR" altLang="en-US" sz="600" b="1" dirty="0"/>
          </a:p>
        </p:txBody>
      </p:sp>
      <p:grpSp>
        <p:nvGrpSpPr>
          <p:cNvPr id="225" name="그룹 224"/>
          <p:cNvGrpSpPr/>
          <p:nvPr/>
        </p:nvGrpSpPr>
        <p:grpSpPr>
          <a:xfrm>
            <a:off x="764934" y="2349193"/>
            <a:ext cx="2186266" cy="434465"/>
            <a:chOff x="781461" y="2610063"/>
            <a:chExt cx="2186266" cy="434465"/>
          </a:xfrm>
        </p:grpSpPr>
        <p:sp>
          <p:nvSpPr>
            <p:cNvPr id="226" name="TextBox 58">
              <a:extLst>
                <a:ext uri="{FF2B5EF4-FFF2-40B4-BE49-F238E27FC236}">
                  <a16:creationId xmlns:a16="http://schemas.microsoft.com/office/drawing/2014/main" id="{02FC114B-B48B-345F-BD70-2B5A196F5B3E}"/>
                </a:ext>
              </a:extLst>
            </p:cNvPr>
            <p:cNvSpPr txBox="1"/>
            <p:nvPr/>
          </p:nvSpPr>
          <p:spPr>
            <a:xfrm>
              <a:off x="808106" y="2798307"/>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mn-ea"/>
                </a:rPr>
                <a:t>G2B</a:t>
              </a: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en-US" altLang="ko-KR" sz="700" dirty="0" smtClean="0"/>
                <a:t>2026LGM000604191-01</a:t>
              </a:r>
              <a:endParaRPr lang="en-US" altLang="ko-KR" sz="700" dirty="0"/>
            </a:p>
            <a:p>
              <a:r>
                <a:rPr lang="en-US" altLang="ko-KR" sz="900" b="1" dirty="0" smtClean="0"/>
                <a:t>(</a:t>
              </a:r>
              <a:r>
                <a:rPr lang="ko-KR" altLang="en-US" sz="900" b="1" dirty="0" smtClean="0"/>
                <a:t>입찰 건명</a:t>
              </a:r>
              <a:r>
                <a:rPr lang="en-US" altLang="ko-KR" sz="900" b="1" dirty="0" smtClean="0"/>
                <a:t>) </a:t>
              </a:r>
              <a:r>
                <a:rPr lang="ko-KR" altLang="en-US" sz="900" b="1" dirty="0" err="1" smtClean="0"/>
                <a:t>입찰건명을</a:t>
              </a:r>
              <a:r>
                <a:rPr lang="ko-KR" altLang="en-US" sz="900" b="1" dirty="0" smtClean="0"/>
                <a:t> 노출하는 영역</a:t>
              </a:r>
              <a:endParaRPr lang="en-US" altLang="ko-KR" sz="900" b="1" dirty="0" smtClean="0"/>
            </a:p>
          </p:txBody>
        </p:sp>
        <p:sp>
          <p:nvSpPr>
            <p:cNvPr id="227" name="모서리가 둥근 직사각형 22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용역</a:t>
              </a:r>
              <a:endParaRPr lang="ko-KR" altLang="en-US" sz="600" dirty="0">
                <a:solidFill>
                  <a:schemeClr val="dk1"/>
                </a:solidFill>
              </a:endParaRPr>
            </a:p>
          </p:txBody>
        </p:sp>
        <p:sp>
          <p:nvSpPr>
            <p:cNvPr id="228" name="모서리가 둥근 직사각형 22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경쟁입찰</a:t>
              </a:r>
              <a:endParaRPr lang="ko-KR" altLang="en-US" sz="600" dirty="0"/>
            </a:p>
          </p:txBody>
        </p:sp>
      </p:grpSp>
      <p:grpSp>
        <p:nvGrpSpPr>
          <p:cNvPr id="229" name="그룹 228"/>
          <p:cNvGrpSpPr/>
          <p:nvPr/>
        </p:nvGrpSpPr>
        <p:grpSpPr>
          <a:xfrm>
            <a:off x="791579" y="2837348"/>
            <a:ext cx="2461380" cy="692497"/>
            <a:chOff x="783686" y="4433552"/>
            <a:chExt cx="2461380" cy="692497"/>
          </a:xfrm>
        </p:grpSpPr>
        <p:sp>
          <p:nvSpPr>
            <p:cNvPr id="230" name="TextBox 59">
              <a:extLst>
                <a:ext uri="{FF2B5EF4-FFF2-40B4-BE49-F238E27FC236}">
                  <a16:creationId xmlns:a16="http://schemas.microsoft.com/office/drawing/2014/main" id="{F77C802D-3BC8-270F-87FC-5F442BD8054D}"/>
                </a:ext>
              </a:extLst>
            </p:cNvPr>
            <p:cNvSpPr txBox="1"/>
            <p:nvPr/>
          </p:nvSpPr>
          <p:spPr>
            <a:xfrm>
              <a:off x="783686" y="4433552"/>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a:latin typeface="+mn-ea"/>
                </a:rPr>
                <a:t>기초예가금액</a:t>
              </a:r>
              <a:endParaRPr lang="ko-KR" altLang="en-US" sz="500" dirty="0">
                <a:latin typeface="+mn-ea"/>
              </a:endParaRPr>
            </a:p>
            <a:p>
              <a:pPr>
                <a:lnSpc>
                  <a:spcPct val="150000"/>
                </a:lnSpc>
              </a:pPr>
              <a:r>
                <a:rPr lang="ko-KR" altLang="en-US" sz="600" dirty="0" smtClean="0">
                  <a:latin typeface="+mn-ea"/>
                </a:rPr>
                <a:t>생산능력제출마감일시</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p:txBody>
        </p:sp>
        <p:sp>
          <p:nvSpPr>
            <p:cNvPr id="235" name="TextBox 59">
              <a:extLst>
                <a:ext uri="{FF2B5EF4-FFF2-40B4-BE49-F238E27FC236}">
                  <a16:creationId xmlns:a16="http://schemas.microsoft.com/office/drawing/2014/main" id="{F77C802D-3BC8-270F-87FC-5F442BD8054D}"/>
                </a:ext>
              </a:extLst>
            </p:cNvPr>
            <p:cNvSpPr txBox="1"/>
            <p:nvPr/>
          </p:nvSpPr>
          <p:spPr>
            <a:xfrm>
              <a:off x="2757753" y="4433552"/>
              <a:ext cx="487313"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a:p>
              <a:pPr>
                <a:lnSpc>
                  <a:spcPct val="150000"/>
                </a:lnSpc>
              </a:pPr>
              <a:r>
                <a:rPr lang="en-US" altLang="ko-KR" sz="600" dirty="0" smtClean="0">
                  <a:latin typeface="+mn-ea"/>
                </a:rPr>
                <a:t>2026-07-15</a:t>
              </a:r>
            </a:p>
            <a:p>
              <a:pPr>
                <a:lnSpc>
                  <a:spcPct val="150000"/>
                </a:lnSpc>
              </a:pPr>
              <a:r>
                <a:rPr lang="en-US" altLang="ko-KR" sz="600" dirty="0" smtClean="0">
                  <a:latin typeface="+mn-ea"/>
                </a:rPr>
                <a:t>2026-07-17</a:t>
              </a:r>
              <a:br>
                <a:rPr lang="en-US" altLang="ko-KR" sz="600" dirty="0" smtClean="0">
                  <a:latin typeface="+mn-ea"/>
                </a:rPr>
              </a:br>
              <a:r>
                <a:rPr lang="en-US" altLang="ko-KR" sz="600" dirty="0" smtClean="0">
                  <a:latin typeface="+mn-ea"/>
                </a:rPr>
                <a:t>2026-07-18</a:t>
              </a:r>
              <a:endParaRPr lang="en-US" altLang="ko-KR" sz="600" dirty="0">
                <a:latin typeface="+mn-ea"/>
              </a:endParaRPr>
            </a:p>
          </p:txBody>
        </p:sp>
      </p:grpSp>
      <p:sp>
        <p:nvSpPr>
          <p:cNvPr id="236" name="모서리가 둥근 직사각형 235"/>
          <p:cNvSpPr/>
          <p:nvPr/>
        </p:nvSpPr>
        <p:spPr>
          <a:xfrm>
            <a:off x="1506263" y="234919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취급공고</a:t>
            </a:r>
            <a:endParaRPr lang="ko-KR" altLang="en-US" sz="600" dirty="0"/>
          </a:p>
        </p:txBody>
      </p:sp>
      <p:grpSp>
        <p:nvGrpSpPr>
          <p:cNvPr id="237" name="그룹 236">
            <a:extLst>
              <a:ext uri="{FF2B5EF4-FFF2-40B4-BE49-F238E27FC236}">
                <a16:creationId xmlns:a16="http://schemas.microsoft.com/office/drawing/2014/main" id="{22BC05EE-C648-7CA2-4CCC-6E1C1A7E9BDA}"/>
              </a:ext>
            </a:extLst>
          </p:cNvPr>
          <p:cNvGrpSpPr/>
          <p:nvPr/>
        </p:nvGrpSpPr>
        <p:grpSpPr>
          <a:xfrm>
            <a:off x="1919209" y="6141388"/>
            <a:ext cx="76863" cy="292489"/>
            <a:chOff x="3750067" y="4683795"/>
            <a:chExt cx="76863" cy="292489"/>
          </a:xfrm>
        </p:grpSpPr>
        <p:sp>
          <p:nvSpPr>
            <p:cNvPr id="238" name="타원 2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9" name="타원 2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0" name="타원 2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0" name="직사각형 109"/>
          <p:cNvSpPr/>
          <p:nvPr/>
        </p:nvSpPr>
        <p:spPr>
          <a:xfrm>
            <a:off x="8223250" y="8035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2026-07-08 </a:t>
            </a:r>
            <a:r>
              <a:rPr lang="ko-KR" altLang="en-US" dirty="0"/>
              <a:t>화면 </a:t>
            </a:r>
            <a:r>
              <a:rPr lang="ko-KR" altLang="en-US" dirty="0" smtClean="0"/>
              <a:t>수정 </a:t>
            </a:r>
            <a:endParaRPr lang="ko-KR" altLang="en-US" dirty="0"/>
          </a:p>
        </p:txBody>
      </p:sp>
      <p:sp>
        <p:nvSpPr>
          <p:cNvPr id="6" name="직사각형 5"/>
          <p:cNvSpPr/>
          <p:nvPr/>
        </p:nvSpPr>
        <p:spPr>
          <a:xfrm>
            <a:off x="5981700" y="1582647"/>
            <a:ext cx="581061" cy="2411195"/>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66120383"/>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14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7" name="모서리가 둥근 직사각형 66"/>
          <p:cNvSpPr/>
          <p:nvPr/>
        </p:nvSpPr>
        <p:spPr>
          <a:xfrm>
            <a:off x="781461" y="2398625"/>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862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371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2783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7086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0220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08419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374522"/>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327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1615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3276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37803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3909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852423"/>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5046577"/>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5046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5046577"/>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5046577"/>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2776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4913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7050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918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61325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3462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5599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5794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32255"/>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61776"/>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32255"/>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32255"/>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61776"/>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61776"/>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17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661776"/>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657141"/>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3" name="그룹 162"/>
          <p:cNvGrpSpPr/>
          <p:nvPr/>
        </p:nvGrpSpPr>
        <p:grpSpPr>
          <a:xfrm>
            <a:off x="677960" y="1582647"/>
            <a:ext cx="2714637" cy="686386"/>
            <a:chOff x="677960" y="1582647"/>
            <a:chExt cx="2714637" cy="686386"/>
          </a:xfrm>
        </p:grpSpPr>
        <p:sp>
          <p:nvSpPr>
            <p:cNvPr id="164" name="TextBox 163">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rot="5400000">
              <a:off x="852159" y="2062596"/>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7" name="그룹 176"/>
            <p:cNvGrpSpPr/>
            <p:nvPr/>
          </p:nvGrpSpPr>
          <p:grpSpPr>
            <a:xfrm>
              <a:off x="677960" y="1582647"/>
              <a:ext cx="2712027" cy="324286"/>
              <a:chOff x="677960" y="1582647"/>
              <a:chExt cx="2712027" cy="324286"/>
            </a:xfrm>
          </p:grpSpPr>
          <p:pic>
            <p:nvPicPr>
              <p:cNvPr id="17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9" name="직선 연결선 17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타원 17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타원 18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타원 18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89" name="그룹 188"/>
          <p:cNvGrpSpPr/>
          <p:nvPr/>
        </p:nvGrpSpPr>
        <p:grpSpPr>
          <a:xfrm>
            <a:off x="8223250" y="569392"/>
            <a:ext cx="3365500" cy="634511"/>
            <a:chOff x="8223250" y="569392"/>
            <a:chExt cx="3365500" cy="634511"/>
          </a:xfrm>
        </p:grpSpPr>
        <p:sp>
          <p:nvSpPr>
            <p:cNvPr id="190" name="직사각형 1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a:t>
              </a:r>
              <a:r>
                <a:rPr lang="ko-KR" altLang="en-US" dirty="0" smtClean="0"/>
                <a:t>수정</a:t>
              </a:r>
              <a:endParaRPr lang="ko-KR" altLang="en-US" dirty="0"/>
            </a:p>
          </p:txBody>
        </p:sp>
        <p:sp>
          <p:nvSpPr>
            <p:cNvPr id="191" name="직사각형 19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앱바</a:t>
              </a:r>
              <a:r>
                <a:rPr lang="ko-KR" altLang="en-US" sz="700" dirty="0" smtClean="0"/>
                <a:t> 영역 변경</a:t>
              </a:r>
              <a:r>
                <a:rPr lang="en-US" altLang="ko-KR" sz="700" dirty="0" smtClean="0"/>
                <a:t/>
              </a:r>
              <a:br>
                <a:rPr lang="en-US" altLang="ko-KR" sz="700" dirty="0" smtClean="0"/>
              </a:br>
              <a:r>
                <a:rPr lang="en-US" altLang="ko-KR" sz="700" dirty="0" smtClean="0"/>
                <a:t>- </a:t>
              </a:r>
              <a:r>
                <a:rPr lang="ko-KR" altLang="en-US" sz="700" dirty="0" err="1" smtClean="0"/>
                <a:t>앱바는</a:t>
              </a:r>
              <a:r>
                <a:rPr lang="ko-KR" altLang="en-US" sz="700" dirty="0" smtClean="0"/>
                <a:t> </a:t>
              </a:r>
              <a:r>
                <a:rPr lang="ko-KR" altLang="en-US" sz="700" dirty="0" err="1" smtClean="0"/>
                <a:t>메인과</a:t>
              </a:r>
              <a:r>
                <a:rPr lang="ko-KR" altLang="en-US" sz="700" dirty="0" smtClean="0"/>
                <a:t> 동일하게 표시</a:t>
              </a:r>
              <a:r>
                <a:rPr lang="en-US" altLang="ko-KR" sz="700" dirty="0" smtClean="0"/>
                <a:t/>
              </a:r>
              <a:br>
                <a:rPr lang="en-US" altLang="ko-KR" sz="700" dirty="0" smtClean="0"/>
              </a:br>
              <a:r>
                <a:rPr lang="en-US" altLang="ko-KR" sz="700" dirty="0" smtClean="0"/>
                <a:t>- </a:t>
              </a:r>
              <a:r>
                <a:rPr lang="ko-KR" altLang="en-US" sz="700" dirty="0" smtClean="0"/>
                <a:t>하단에 페이지 </a:t>
              </a:r>
              <a:r>
                <a:rPr lang="ko-KR" altLang="en-US" sz="700" dirty="0" err="1" smtClean="0"/>
                <a:t>뒤로가기</a:t>
              </a:r>
              <a:r>
                <a:rPr lang="ko-KR" altLang="en-US" sz="700" dirty="0" smtClean="0"/>
                <a:t> 및 페이지 타이틀 영역 추가</a:t>
              </a:r>
              <a:endParaRPr lang="ko-KR" altLang="en-US" sz="700" dirty="0"/>
            </a:p>
          </p:txBody>
        </p:sp>
      </p:grpSp>
      <p:sp>
        <p:nvSpPr>
          <p:cNvPr id="20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202" name="평행 사변형 201"/>
          <p:cNvSpPr/>
          <p:nvPr/>
        </p:nvSpPr>
        <p:spPr>
          <a:xfrm rot="16200000" flipH="1">
            <a:off x="2386190" y="2503093"/>
            <a:ext cx="2410786"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타원 191">
            <a:extLst>
              <a:ext uri="{FF2B5EF4-FFF2-40B4-BE49-F238E27FC236}">
                <a16:creationId xmlns:a16="http://schemas.microsoft.com/office/drawing/2014/main" id="{37A7FF4F-0EAA-1463-560A-D5EC24416103}"/>
              </a:ext>
            </a:extLst>
          </p:cNvPr>
          <p:cNvSpPr/>
          <p:nvPr/>
        </p:nvSpPr>
        <p:spPr>
          <a:xfrm>
            <a:off x="575035" y="204634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93" name="타원 192">
            <a:extLst>
              <a:ext uri="{FF2B5EF4-FFF2-40B4-BE49-F238E27FC236}">
                <a16:creationId xmlns:a16="http://schemas.microsoft.com/office/drawing/2014/main" id="{37A7FF4F-0EAA-1463-560A-D5EC24416103}"/>
              </a:ext>
            </a:extLst>
          </p:cNvPr>
          <p:cNvSpPr/>
          <p:nvPr/>
        </p:nvSpPr>
        <p:spPr>
          <a:xfrm>
            <a:off x="571127" y="372828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00" name="타원 199">
            <a:extLst>
              <a:ext uri="{FF2B5EF4-FFF2-40B4-BE49-F238E27FC236}">
                <a16:creationId xmlns:a16="http://schemas.microsoft.com/office/drawing/2014/main" id="{37A7FF4F-0EAA-1463-560A-D5EC24416103}"/>
              </a:ext>
            </a:extLst>
          </p:cNvPr>
          <p:cNvSpPr/>
          <p:nvPr/>
        </p:nvSpPr>
        <p:spPr>
          <a:xfrm>
            <a:off x="571127" y="41060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449583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205" name="타원 204">
            <a:extLst>
              <a:ext uri="{FF2B5EF4-FFF2-40B4-BE49-F238E27FC236}">
                <a16:creationId xmlns:a16="http://schemas.microsoft.com/office/drawing/2014/main" id="{37A7FF4F-0EAA-1463-560A-D5EC24416103}"/>
              </a:ext>
            </a:extLst>
          </p:cNvPr>
          <p:cNvSpPr/>
          <p:nvPr/>
        </p:nvSpPr>
        <p:spPr>
          <a:xfrm>
            <a:off x="697490" y="223285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206" name="타원 205">
            <a:extLst>
              <a:ext uri="{FF2B5EF4-FFF2-40B4-BE49-F238E27FC236}">
                <a16:creationId xmlns:a16="http://schemas.microsoft.com/office/drawing/2014/main" id="{37A7FF4F-0EAA-1463-560A-D5EC24416103}"/>
              </a:ext>
            </a:extLst>
          </p:cNvPr>
          <p:cNvSpPr/>
          <p:nvPr/>
        </p:nvSpPr>
        <p:spPr>
          <a:xfrm>
            <a:off x="2907275" y="223701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8" name="직사각형 7"/>
          <p:cNvSpPr/>
          <p:nvPr/>
        </p:nvSpPr>
        <p:spPr>
          <a:xfrm>
            <a:off x="7091473" y="1493927"/>
            <a:ext cx="2312097" cy="4678204"/>
          </a:xfrm>
          <a:prstGeom prst="rect">
            <a:avLst/>
          </a:prstGeom>
        </p:spPr>
        <p:txBody>
          <a:bodyPr wrap="square">
            <a:spAutoFit/>
          </a:bodyPr>
          <a:lstStyle/>
          <a:p>
            <a:pPr marL="228600" indent="-228600">
              <a:buFont typeface="+mj-lt"/>
              <a:buAutoNum type="arabicPeriod"/>
            </a:pPr>
            <a:r>
              <a:rPr lang="ko-KR" altLang="en-US" sz="800" dirty="0" smtClean="0"/>
              <a:t>타이틀 </a:t>
            </a:r>
            <a:r>
              <a:rPr lang="ko-KR" altLang="en-US" sz="800" dirty="0"/>
              <a:t>영역</a:t>
            </a:r>
            <a:r>
              <a:rPr lang="en-US" altLang="ko-KR" sz="800" dirty="0"/>
              <a:t/>
            </a:r>
            <a:br>
              <a:rPr lang="en-US" altLang="ko-KR" sz="800" dirty="0"/>
            </a:br>
            <a:r>
              <a:rPr lang="en-US" altLang="ko-KR" sz="800" dirty="0"/>
              <a:t>1-1] </a:t>
            </a:r>
            <a:r>
              <a:rPr lang="ko-KR" altLang="en-US" sz="800" dirty="0"/>
              <a:t>레이블이 화면</a:t>
            </a:r>
            <a:r>
              <a:rPr lang="en-US" altLang="ko-KR" sz="800" dirty="0"/>
              <a:t/>
            </a:r>
            <a:br>
              <a:rPr lang="en-US" altLang="ko-KR" sz="800" dirty="0"/>
            </a:br>
            <a:r>
              <a:rPr lang="en-US" altLang="ko-KR" sz="800" dirty="0"/>
              <a:t>- </a:t>
            </a:r>
            <a:r>
              <a:rPr lang="ko-KR" altLang="en-US" sz="800" dirty="0"/>
              <a:t>화면 넘치는 경우 드래그하여 확인 가능 </a:t>
            </a:r>
            <a:r>
              <a:rPr lang="en-US" altLang="ko-KR" sz="800" dirty="0"/>
              <a:t>(</a:t>
            </a:r>
            <a:r>
              <a:rPr lang="ko-KR" altLang="en-US" sz="800" dirty="0" err="1"/>
              <a:t>스와이프기능</a:t>
            </a:r>
            <a:r>
              <a:rPr lang="ko-KR" altLang="en-US" sz="800" dirty="0"/>
              <a:t> 반영 필요</a:t>
            </a:r>
            <a:r>
              <a:rPr lang="en-US" altLang="ko-KR" sz="800" dirty="0" smtClean="0"/>
              <a:t>)</a:t>
            </a:r>
            <a:br>
              <a:rPr lang="en-US" altLang="ko-KR" sz="800" dirty="0" smtClean="0"/>
            </a:br>
            <a:r>
              <a:rPr lang="en-US" altLang="ko-KR" sz="800" dirty="0" smtClean="0"/>
              <a:t>1-2] </a:t>
            </a:r>
            <a:r>
              <a:rPr lang="ko-KR" altLang="en-US" sz="800" dirty="0" err="1" smtClean="0"/>
              <a:t>관심공고</a:t>
            </a:r>
            <a:r>
              <a:rPr lang="ko-KR" altLang="en-US" sz="800" dirty="0" smtClean="0"/>
              <a:t> 등록 </a:t>
            </a:r>
            <a:r>
              <a:rPr lang="en-US" altLang="ko-KR" sz="800" dirty="0" smtClean="0"/>
              <a:t>/ </a:t>
            </a:r>
            <a:r>
              <a:rPr lang="ko-KR" altLang="en-US" sz="800" dirty="0" smtClean="0"/>
              <a:t>해제 기능</a:t>
            </a:r>
            <a:r>
              <a:rPr lang="en-US" altLang="ko-KR" sz="800" dirty="0"/>
              <a:t/>
            </a:r>
            <a:br>
              <a:rPr lang="en-US" altLang="ko-KR" sz="800" dirty="0"/>
            </a:br>
            <a:r>
              <a:rPr lang="en-US" altLang="ko-KR" sz="800" dirty="0" smtClean="0"/>
              <a:t>1-3] </a:t>
            </a:r>
            <a:r>
              <a:rPr lang="ko-KR" altLang="en-US" sz="800" dirty="0"/>
              <a:t>문서 정보 영역</a:t>
            </a:r>
            <a:r>
              <a:rPr lang="en-US" altLang="ko-KR" sz="800" dirty="0"/>
              <a:t/>
            </a:r>
            <a:br>
              <a:rPr lang="en-US" altLang="ko-KR" sz="800" dirty="0"/>
            </a:br>
            <a:r>
              <a:rPr lang="en-US" altLang="ko-KR" sz="800" dirty="0"/>
              <a:t>- </a:t>
            </a:r>
            <a:r>
              <a:rPr lang="ko-KR" altLang="en-US" sz="800" dirty="0" err="1"/>
              <a:t>판단번호</a:t>
            </a:r>
            <a:r>
              <a:rPr lang="ko-KR" altLang="en-US" sz="800" dirty="0"/>
              <a:t> </a:t>
            </a:r>
            <a:r>
              <a:rPr lang="en-US" altLang="ko-KR" sz="800" dirty="0"/>
              <a:t>,  </a:t>
            </a:r>
            <a:r>
              <a:rPr lang="ko-KR" altLang="en-US" sz="800" dirty="0" err="1" smtClean="0"/>
              <a:t>계약번호</a:t>
            </a:r>
            <a:r>
              <a:rPr lang="en-US" altLang="ko-KR" sz="800" dirty="0" smtClean="0"/>
              <a:t>, </a:t>
            </a:r>
            <a:r>
              <a:rPr lang="ko-KR" altLang="en-US" sz="800" dirty="0" smtClean="0"/>
              <a:t> </a:t>
            </a:r>
            <a:r>
              <a:rPr lang="ko-KR" altLang="en-US" sz="800" dirty="0"/>
              <a:t>노출 </a:t>
            </a:r>
            <a:r>
              <a:rPr lang="en-US" altLang="ko-KR" sz="800" dirty="0"/>
              <a:t/>
            </a:r>
            <a:br>
              <a:rPr lang="en-US" altLang="ko-KR" sz="800" dirty="0"/>
            </a:br>
            <a:r>
              <a:rPr lang="en-US" altLang="ko-KR" sz="800" dirty="0"/>
              <a:t>- </a:t>
            </a:r>
            <a:r>
              <a:rPr lang="ko-KR" altLang="en-US" sz="800" dirty="0" err="1"/>
              <a:t>판단번호</a:t>
            </a:r>
            <a:r>
              <a:rPr lang="ko-KR" altLang="en-US" sz="800" dirty="0"/>
              <a:t> </a:t>
            </a:r>
            <a:r>
              <a:rPr lang="ko-KR" altLang="en-US" sz="800" dirty="0" err="1"/>
              <a:t>전체노출</a:t>
            </a:r>
            <a:r>
              <a:rPr lang="ko-KR" altLang="en-US" sz="800" dirty="0"/>
              <a:t> </a:t>
            </a:r>
            <a:r>
              <a:rPr lang="en-US" altLang="ko-KR" sz="800" dirty="0"/>
              <a:t>/ </a:t>
            </a:r>
            <a:r>
              <a:rPr lang="ko-KR" altLang="en-US" sz="800" dirty="0" err="1"/>
              <a:t>계약번호</a:t>
            </a:r>
            <a:r>
              <a:rPr lang="ko-KR" altLang="en-US" sz="800" dirty="0"/>
              <a:t> </a:t>
            </a:r>
            <a:r>
              <a:rPr lang="ko-KR" altLang="en-US" sz="800" dirty="0" err="1"/>
              <a:t>노출시</a:t>
            </a:r>
            <a:r>
              <a:rPr lang="ko-KR" altLang="en-US" sz="800" dirty="0"/>
              <a:t> 해당 라인을 넘어가면 </a:t>
            </a:r>
            <a:r>
              <a:rPr lang="en-US" altLang="ko-KR" sz="800" dirty="0"/>
              <a:t>(…) </a:t>
            </a:r>
            <a:r>
              <a:rPr lang="ko-KR" altLang="en-US" sz="800" dirty="0" err="1"/>
              <a:t>말줄임</a:t>
            </a:r>
            <a:r>
              <a:rPr lang="ko-KR" altLang="en-US" sz="800" dirty="0"/>
              <a:t> 표시</a:t>
            </a:r>
            <a:r>
              <a:rPr lang="en-US" altLang="ko-KR" sz="800" dirty="0"/>
              <a:t/>
            </a:r>
            <a:br>
              <a:rPr lang="en-US" altLang="ko-KR" sz="800" dirty="0"/>
            </a:br>
            <a:r>
              <a:rPr lang="en-US" altLang="ko-KR" sz="800" dirty="0"/>
              <a:t>1-3] </a:t>
            </a:r>
            <a:r>
              <a:rPr lang="ko-KR" altLang="en-US" sz="800" dirty="0"/>
              <a:t>문서 제목 </a:t>
            </a:r>
            <a:r>
              <a:rPr lang="en-US" altLang="ko-KR" sz="800" dirty="0"/>
              <a:t/>
            </a:r>
            <a:br>
              <a:rPr lang="en-US" altLang="ko-KR" sz="800" dirty="0"/>
            </a:br>
            <a:r>
              <a:rPr lang="en-US" altLang="ko-KR" sz="800" dirty="0"/>
              <a:t>- </a:t>
            </a:r>
            <a:r>
              <a:rPr lang="ko-KR" altLang="en-US" sz="800" dirty="0"/>
              <a:t>제목은 </a:t>
            </a:r>
            <a:r>
              <a:rPr lang="en-US" altLang="ko-KR" sz="800" dirty="0"/>
              <a:t>2</a:t>
            </a:r>
            <a:r>
              <a:rPr lang="ko-KR" altLang="en-US" sz="800" dirty="0"/>
              <a:t>줄 까지 노출 이후</a:t>
            </a:r>
            <a:r>
              <a:rPr lang="en-US" altLang="ko-KR" sz="800" dirty="0"/>
              <a:t>(…) </a:t>
            </a:r>
            <a:r>
              <a:rPr lang="ko-KR" altLang="en-US" sz="800" dirty="0" err="1"/>
              <a:t>말줄임</a:t>
            </a:r>
            <a:r>
              <a:rPr lang="ko-KR" altLang="en-US" sz="800" dirty="0"/>
              <a:t> </a:t>
            </a:r>
            <a:r>
              <a:rPr lang="ko-KR" altLang="en-US" sz="800" dirty="0" smtClean="0"/>
              <a:t>표시</a:t>
            </a:r>
            <a:endParaRPr lang="en-US" altLang="ko-KR" sz="800" dirty="0"/>
          </a:p>
          <a:p>
            <a:pPr marL="228600" indent="-228600">
              <a:buFont typeface="+mj-lt"/>
              <a:buAutoNum type="arabicPeriod"/>
            </a:pPr>
            <a:r>
              <a:rPr lang="ko-KR" altLang="en-US" sz="800" dirty="0" smtClean="0"/>
              <a:t>단계 표시기</a:t>
            </a:r>
            <a:r>
              <a:rPr lang="en-US" altLang="ko-KR" sz="800" dirty="0" smtClean="0"/>
              <a:t/>
            </a:r>
            <a:br>
              <a:rPr lang="en-US" altLang="ko-KR" sz="800" dirty="0" smtClean="0"/>
            </a:br>
            <a:r>
              <a:rPr lang="en-US" altLang="ko-KR" sz="800" dirty="0" smtClean="0"/>
              <a:t>-</a:t>
            </a:r>
            <a:r>
              <a:rPr lang="ko-KR" altLang="en-US" sz="800" dirty="0"/>
              <a:t> 클릭 시 </a:t>
            </a:r>
            <a:r>
              <a:rPr lang="en-US" altLang="ko-KR" sz="800" dirty="0"/>
              <a:t>– </a:t>
            </a:r>
            <a:r>
              <a:rPr lang="ko-KR" altLang="en-US" sz="800" dirty="0"/>
              <a:t>진행 단계를 볼 수 있는 팝업 호출 </a:t>
            </a:r>
            <a:r>
              <a:rPr lang="en-US" altLang="ko-KR" sz="800" dirty="0"/>
              <a:t>(</a:t>
            </a:r>
            <a:r>
              <a:rPr lang="en-US" altLang="ko-KR" sz="800" dirty="0">
                <a:solidFill>
                  <a:srgbClr val="000000"/>
                </a:solidFill>
                <a:latin typeface="맑은 고딕" panose="020B0503020000020004" pitchFamily="50" charset="-127"/>
              </a:rPr>
              <a:t>MUI-CM-06-P03 </a:t>
            </a:r>
            <a:r>
              <a:rPr lang="ko-KR" altLang="en-US" sz="800" dirty="0">
                <a:latin typeface="+mn-ea"/>
              </a:rPr>
              <a:t>세부 스텝 팝업</a:t>
            </a:r>
            <a:r>
              <a:rPr lang="en-US" altLang="ko-KR" sz="800" dirty="0"/>
              <a:t>)</a:t>
            </a:r>
            <a:endParaRPr lang="en-US" altLang="ko-KR" sz="800" dirty="0" smtClean="0"/>
          </a:p>
          <a:p>
            <a:pPr marL="228600" indent="-228600">
              <a:buFont typeface="+mj-lt"/>
              <a:buAutoNum type="arabicPeriod"/>
            </a:pPr>
            <a:r>
              <a:rPr lang="ko-KR" altLang="en-US" sz="800" dirty="0" smtClean="0"/>
              <a:t>공지사항</a:t>
            </a:r>
            <a:r>
              <a:rPr lang="en-US" altLang="ko-KR" sz="800" dirty="0" smtClean="0"/>
              <a:t/>
            </a:r>
            <a:br>
              <a:rPr lang="en-US" altLang="ko-KR" sz="800" dirty="0" smtClean="0"/>
            </a:br>
            <a:r>
              <a:rPr lang="en-US" altLang="ko-KR" sz="800" dirty="0" smtClean="0"/>
              <a:t>- </a:t>
            </a:r>
            <a:r>
              <a:rPr lang="ko-KR" altLang="en-US" sz="800" dirty="0" smtClean="0"/>
              <a:t>기본값 </a:t>
            </a:r>
            <a:r>
              <a:rPr lang="en-US" altLang="ko-KR" sz="800" dirty="0" smtClean="0"/>
              <a:t>: </a:t>
            </a:r>
            <a:r>
              <a:rPr lang="ko-KR" altLang="en-US" sz="800" dirty="0" smtClean="0"/>
              <a:t>접힘</a:t>
            </a:r>
            <a:r>
              <a:rPr lang="en-US" altLang="ko-KR" sz="800" dirty="0" smtClean="0"/>
              <a:t/>
            </a:r>
            <a:br>
              <a:rPr lang="en-US" altLang="ko-KR" sz="800" dirty="0" smtClean="0"/>
            </a:br>
            <a:r>
              <a:rPr lang="en-US" altLang="ko-KR" sz="800" dirty="0" smtClean="0"/>
              <a:t>- </a:t>
            </a:r>
            <a:r>
              <a:rPr lang="ko-KR" altLang="en-US" sz="800" dirty="0" err="1" smtClean="0"/>
              <a:t>클릭시</a:t>
            </a:r>
            <a:r>
              <a:rPr lang="ko-KR" altLang="en-US" sz="800" dirty="0" smtClean="0"/>
              <a:t> 확장하여 정보 표시</a:t>
            </a:r>
            <a:endParaRPr lang="en-US" altLang="ko-KR" sz="800" dirty="0" smtClean="0"/>
          </a:p>
          <a:p>
            <a:pPr marL="228600" indent="-228600">
              <a:buFont typeface="+mj-lt"/>
              <a:buAutoNum type="arabicPeriod"/>
            </a:pPr>
            <a:r>
              <a:rPr lang="ko-KR" altLang="en-US" sz="800" dirty="0" smtClean="0"/>
              <a:t>탭 영역</a:t>
            </a:r>
            <a:r>
              <a:rPr lang="en-US" altLang="ko-KR" sz="800" dirty="0" smtClean="0"/>
              <a:t/>
            </a:r>
            <a:br>
              <a:rPr lang="en-US" altLang="ko-KR" sz="800" dirty="0" smtClean="0"/>
            </a:br>
            <a:r>
              <a:rPr lang="en-US" altLang="ko-KR" sz="800" dirty="0" smtClean="0"/>
              <a:t>- </a:t>
            </a:r>
            <a:r>
              <a:rPr lang="ko-KR" altLang="en-US" sz="800" dirty="0" smtClean="0"/>
              <a:t>상세내용 </a:t>
            </a:r>
            <a:r>
              <a:rPr lang="en-US" altLang="ko-KR" sz="800" dirty="0" smtClean="0"/>
              <a:t>Tab</a:t>
            </a:r>
            <a:r>
              <a:rPr lang="ko-KR" altLang="en-US" sz="800" dirty="0" smtClean="0"/>
              <a:t>은 진입 시 고정 노출</a:t>
            </a:r>
            <a:r>
              <a:rPr lang="en-US" altLang="ko-KR" sz="800" dirty="0" smtClean="0"/>
              <a:t/>
            </a:r>
            <a:br>
              <a:rPr lang="en-US" altLang="ko-KR" sz="800" dirty="0" smtClean="0"/>
            </a:br>
            <a:r>
              <a:rPr lang="en-US" altLang="ko-KR" sz="800" dirty="0" smtClean="0"/>
              <a:t>- </a:t>
            </a:r>
            <a:r>
              <a:rPr lang="ko-KR" altLang="en-US" sz="800" dirty="0" smtClean="0"/>
              <a:t>탭 내용</a:t>
            </a:r>
            <a:r>
              <a:rPr lang="en-US" altLang="ko-KR" sz="800" dirty="0" smtClean="0"/>
              <a:t/>
            </a:r>
            <a:br>
              <a:rPr lang="en-US" altLang="ko-KR" sz="800" dirty="0" smtClean="0"/>
            </a:br>
            <a:r>
              <a:rPr lang="ko-KR" altLang="en-US" sz="800" dirty="0" smtClean="0"/>
              <a:t>ㄴ</a:t>
            </a:r>
            <a:r>
              <a:rPr lang="en-US" altLang="ko-KR" sz="800" dirty="0" smtClean="0">
                <a:solidFill>
                  <a:srgbClr val="000000"/>
                </a:solidFill>
                <a:latin typeface="맑은 고딕" panose="020B0503020000020004" pitchFamily="50" charset="-127"/>
              </a:rPr>
              <a:t>MUI-BD-01-M07 </a:t>
            </a:r>
            <a:r>
              <a:rPr lang="en-US" altLang="ko-KR" sz="800" dirty="0">
                <a:solidFill>
                  <a:srgbClr val="000000"/>
                </a:solidFill>
                <a:latin typeface="맑은 고딕" panose="020B0503020000020004" pitchFamily="50" charset="-127"/>
              </a:rPr>
              <a:t>(tab </a:t>
            </a:r>
            <a:r>
              <a:rPr lang="ko-KR" altLang="en-US" sz="800" dirty="0">
                <a:solidFill>
                  <a:srgbClr val="000000"/>
                </a:solidFill>
                <a:latin typeface="맑은 고딕" panose="020B0503020000020004" pitchFamily="50" charset="-127"/>
              </a:rPr>
              <a:t>노출조건확인</a:t>
            </a:r>
            <a:r>
              <a:rPr lang="en-US" altLang="ko-KR" sz="800" dirty="0">
                <a:solidFill>
                  <a:srgbClr val="000000"/>
                </a:solidFill>
                <a:latin typeface="맑은 고딕" panose="020B0503020000020004" pitchFamily="50" charset="-127"/>
              </a:rPr>
              <a:t>)</a:t>
            </a:r>
            <a:r>
              <a:rPr lang="en-US" altLang="ko-KR" sz="800" dirty="0"/>
              <a:t/>
            </a:r>
            <a:br>
              <a:rPr lang="en-US" altLang="ko-KR" sz="800" dirty="0"/>
            </a:br>
            <a:r>
              <a:rPr lang="en-US" altLang="ko-KR" sz="800" dirty="0" smtClean="0"/>
              <a:t>&gt; </a:t>
            </a:r>
            <a:r>
              <a:rPr lang="ko-KR" altLang="en-US" sz="800" dirty="0" smtClean="0"/>
              <a:t>로그인 필요 서비스 안내 표시</a:t>
            </a:r>
            <a:r>
              <a:rPr lang="en-US" altLang="ko-KR" sz="800" dirty="0" smtClean="0"/>
              <a:t/>
            </a:r>
            <a:br>
              <a:rPr lang="en-US" altLang="ko-KR" sz="800" dirty="0" smtClean="0"/>
            </a:br>
            <a:r>
              <a:rPr lang="en-US" altLang="ko-KR" sz="800" dirty="0" smtClean="0"/>
              <a:t>- </a:t>
            </a:r>
            <a:r>
              <a:rPr lang="ko-KR" altLang="en-US" sz="800" dirty="0" smtClean="0"/>
              <a:t>화면을 </a:t>
            </a:r>
            <a:r>
              <a:rPr lang="ko-KR" altLang="en-US" sz="800" dirty="0" err="1" smtClean="0"/>
              <a:t>넘치는경우</a:t>
            </a:r>
            <a:r>
              <a:rPr lang="ko-KR" altLang="en-US" sz="800" dirty="0" smtClean="0"/>
              <a:t> 드래그하여 확인</a:t>
            </a:r>
            <a:r>
              <a:rPr lang="en-US" altLang="ko-KR" sz="800" dirty="0" smtClean="0"/>
              <a:t>(</a:t>
            </a:r>
            <a:r>
              <a:rPr lang="ko-KR" altLang="en-US" sz="800" dirty="0" err="1" smtClean="0"/>
              <a:t>스와이프기능</a:t>
            </a:r>
            <a:r>
              <a:rPr lang="ko-KR" altLang="en-US" sz="800" dirty="0" smtClean="0"/>
              <a:t> 반영 필요</a:t>
            </a:r>
            <a:r>
              <a:rPr lang="en-US" altLang="ko-KR" sz="800" dirty="0" smtClean="0"/>
              <a:t>)</a:t>
            </a:r>
          </a:p>
          <a:p>
            <a:pPr marL="228600" indent="-228600">
              <a:buFont typeface="+mj-lt"/>
              <a:buAutoNum type="arabicPeriod"/>
            </a:pPr>
            <a:r>
              <a:rPr lang="ko-KR" altLang="en-US" sz="800" dirty="0" smtClean="0"/>
              <a:t>공고 일반정보 상세 사항 참고</a:t>
            </a:r>
            <a:r>
              <a:rPr lang="en-US" altLang="ko-KR" sz="800" dirty="0" smtClean="0"/>
              <a:t/>
            </a:r>
            <a:br>
              <a:rPr lang="en-US" altLang="ko-KR" sz="800" dirty="0" smtClean="0"/>
            </a:br>
            <a:r>
              <a:rPr lang="en-US" altLang="ko-KR" sz="800" dirty="0" smtClean="0"/>
              <a:t>- </a:t>
            </a:r>
            <a:r>
              <a:rPr lang="ko-KR" altLang="en-US" sz="800" dirty="0" smtClean="0">
                <a:solidFill>
                  <a:prstClr val="black"/>
                </a:solidFill>
              </a:rPr>
              <a:t>입찰공고상세공고일반</a:t>
            </a:r>
            <a:r>
              <a:rPr lang="en-US" altLang="ko-KR" sz="800" dirty="0" smtClean="0">
                <a:solidFill>
                  <a:prstClr val="black"/>
                </a:solidFill>
              </a:rPr>
              <a:t> </a:t>
            </a:r>
            <a:r>
              <a:rPr lang="ko-KR" altLang="en-US" sz="800" dirty="0" smtClean="0">
                <a:solidFill>
                  <a:prstClr val="black"/>
                </a:solidFill>
              </a:rPr>
              <a:t>데이터 영역 </a:t>
            </a:r>
            <a:r>
              <a:rPr lang="en-US" altLang="ko-KR" sz="800" dirty="0" smtClean="0">
                <a:solidFill>
                  <a:prstClr val="black"/>
                </a:solidFill>
              </a:rPr>
              <a:t>(</a:t>
            </a:r>
            <a:r>
              <a:rPr lang="en-US" altLang="ko-KR" sz="800" dirty="0" err="1" smtClean="0">
                <a:solidFill>
                  <a:prstClr val="black"/>
                </a:solidFill>
              </a:rPr>
              <a:t>dmt_bidPbancGnrl</a:t>
            </a:r>
            <a:r>
              <a:rPr lang="en-US" altLang="ko-KR" sz="800" dirty="0" smtClean="0">
                <a:solidFill>
                  <a:prstClr val="black"/>
                </a:solidFill>
              </a:rPr>
              <a:t>)</a:t>
            </a:r>
          </a:p>
          <a:p>
            <a:pPr marL="228600" indent="-228600">
              <a:buFont typeface="+mj-lt"/>
              <a:buAutoNum type="arabicPeriod"/>
            </a:pPr>
            <a:r>
              <a:rPr lang="en-US" altLang="ko-KR" sz="800" dirty="0"/>
              <a:t>[</a:t>
            </a:r>
            <a:r>
              <a:rPr lang="ko-KR" altLang="en-US" sz="800" dirty="0"/>
              <a:t>공통</a:t>
            </a:r>
            <a:r>
              <a:rPr lang="en-US" altLang="ko-KR" sz="800" dirty="0"/>
              <a:t>] </a:t>
            </a:r>
            <a:r>
              <a:rPr lang="ko-KR" altLang="en-US" sz="800" dirty="0" err="1"/>
              <a:t>앱바</a:t>
            </a:r>
            <a:r>
              <a:rPr lang="ko-KR" altLang="en-US" sz="800" dirty="0"/>
              <a:t> 타이틀 영역에 </a:t>
            </a:r>
            <a:r>
              <a:rPr lang="ko-KR" altLang="en-US" sz="800" dirty="0" err="1"/>
              <a:t>메인과</a:t>
            </a:r>
            <a:r>
              <a:rPr lang="ko-KR" altLang="en-US" sz="800" dirty="0"/>
              <a:t> 동일한</a:t>
            </a:r>
            <a:r>
              <a:rPr lang="en-US" altLang="ko-KR" sz="800" dirty="0"/>
              <a:t>.</a:t>
            </a:r>
            <a:r>
              <a:rPr lang="ko-KR" altLang="en-US" sz="800" dirty="0"/>
              <a:t> </a:t>
            </a:r>
            <a:r>
              <a:rPr lang="ko-KR" altLang="en-US" sz="800" dirty="0" err="1"/>
              <a:t>앱바</a:t>
            </a:r>
            <a:r>
              <a:rPr lang="ko-KR" altLang="en-US" sz="800" dirty="0"/>
              <a:t> 노출</a:t>
            </a:r>
            <a:r>
              <a:rPr lang="en-US" altLang="ko-KR" sz="800" dirty="0"/>
              <a:t>.</a:t>
            </a:r>
            <a:br>
              <a:rPr lang="en-US" altLang="ko-KR" sz="800" dirty="0"/>
            </a:br>
            <a:r>
              <a:rPr lang="en-US" altLang="ko-KR" sz="800" dirty="0"/>
              <a:t>- 2</a:t>
            </a:r>
            <a:r>
              <a:rPr lang="ko-KR" altLang="en-US" sz="800" dirty="0" err="1"/>
              <a:t>뎁스</a:t>
            </a:r>
            <a:r>
              <a:rPr lang="ko-KR" altLang="en-US" sz="800" dirty="0"/>
              <a:t> 이하에서 페이지 별 </a:t>
            </a:r>
            <a:r>
              <a:rPr lang="ko-KR" altLang="en-US" sz="800" dirty="0" err="1"/>
              <a:t>뒤로가기와</a:t>
            </a:r>
            <a:r>
              <a:rPr lang="ko-KR" altLang="en-US" sz="800" dirty="0"/>
              <a:t> 페이지 타이 영역을 </a:t>
            </a:r>
            <a:r>
              <a:rPr lang="ko-KR" altLang="en-US" sz="800" dirty="0" err="1"/>
              <a:t>앱바</a:t>
            </a:r>
            <a:r>
              <a:rPr lang="ko-KR" altLang="en-US" sz="800" dirty="0"/>
              <a:t> 바로 하단 헤더에 배치하여 현재 페이지를 인지하기 쉽도록 함</a:t>
            </a:r>
            <a:endParaRPr lang="en-US" altLang="ko-KR" sz="800" dirty="0"/>
          </a:p>
          <a:p>
            <a:pPr marL="228600" indent="-228600">
              <a:buFont typeface="+mj-lt"/>
              <a:buAutoNum type="arabicPeriod"/>
            </a:pPr>
            <a:r>
              <a:rPr lang="ko-KR" altLang="en-US" sz="800" dirty="0" smtClean="0"/>
              <a:t>이벤트 목록 호출</a:t>
            </a:r>
            <a:r>
              <a:rPr lang="en-US" altLang="ko-KR" sz="800" dirty="0" smtClean="0"/>
              <a:t>(</a:t>
            </a:r>
            <a:r>
              <a:rPr lang="ko-KR" altLang="en-US" sz="800" dirty="0" smtClean="0"/>
              <a:t>화면별도구성</a:t>
            </a:r>
            <a:r>
              <a:rPr lang="en-US" altLang="ko-KR" sz="800" dirty="0" smtClean="0"/>
              <a:t>)</a:t>
            </a:r>
            <a:r>
              <a:rPr lang="ko-KR" altLang="en-US" sz="800" dirty="0" smtClean="0"/>
              <a:t> </a:t>
            </a:r>
            <a:r>
              <a:rPr lang="en-US" altLang="ko-KR" sz="800" dirty="0"/>
              <a:t/>
            </a:r>
            <a:br>
              <a:rPr lang="en-US" altLang="ko-KR" sz="800" dirty="0"/>
            </a:br>
            <a:r>
              <a:rPr lang="en-US" altLang="ko-KR" sz="800" dirty="0" smtClean="0"/>
              <a:t>- </a:t>
            </a:r>
            <a:r>
              <a:rPr lang="en-US" altLang="ko-KR" sz="800" dirty="0">
                <a:solidFill>
                  <a:srgbClr val="000000"/>
                </a:solidFill>
                <a:latin typeface="맑은 고딕" panose="020B0503020000020004" pitchFamily="50" charset="-127"/>
              </a:rPr>
              <a:t>MUI-BD-01-P17</a:t>
            </a:r>
            <a:endParaRPr lang="en-US" altLang="ko-KR" sz="800" dirty="0" smtClean="0"/>
          </a:p>
        </p:txBody>
      </p:sp>
      <p:sp>
        <p:nvSpPr>
          <p:cNvPr id="215" name="TextBox 58">
            <a:extLst>
              <a:ext uri="{FF2B5EF4-FFF2-40B4-BE49-F238E27FC236}">
                <a16:creationId xmlns:a16="http://schemas.microsoft.com/office/drawing/2014/main" id="{02FC114B-B48B-345F-BD70-2B5A196F5B3E}"/>
              </a:ext>
            </a:extLst>
          </p:cNvPr>
          <p:cNvSpPr txBox="1"/>
          <p:nvPr/>
        </p:nvSpPr>
        <p:spPr>
          <a:xfrm>
            <a:off x="781461" y="2582956"/>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16" name="TextBox 59">
            <a:extLst>
              <a:ext uri="{FF2B5EF4-FFF2-40B4-BE49-F238E27FC236}">
                <a16:creationId xmlns:a16="http://schemas.microsoft.com/office/drawing/2014/main" id="{F77C802D-3BC8-270F-87FC-5F442BD8054D}"/>
              </a:ext>
            </a:extLst>
          </p:cNvPr>
          <p:cNvSpPr txBox="1"/>
          <p:nvPr/>
        </p:nvSpPr>
        <p:spPr>
          <a:xfrm>
            <a:off x="781461" y="2918021"/>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17" name="TextBox 60">
            <a:extLst>
              <a:ext uri="{FF2B5EF4-FFF2-40B4-BE49-F238E27FC236}">
                <a16:creationId xmlns:a16="http://schemas.microsoft.com/office/drawing/2014/main" id="{8F5E3227-69E6-C89F-B8C5-534226E95EA8}"/>
              </a:ext>
            </a:extLst>
          </p:cNvPr>
          <p:cNvSpPr txBox="1"/>
          <p:nvPr/>
        </p:nvSpPr>
        <p:spPr>
          <a:xfrm>
            <a:off x="2596303" y="2902632"/>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207" name="타원 206">
            <a:extLst>
              <a:ext uri="{FF2B5EF4-FFF2-40B4-BE49-F238E27FC236}">
                <a16:creationId xmlns:a16="http://schemas.microsoft.com/office/drawing/2014/main" id="{37A7FF4F-0EAA-1463-560A-D5EC24416103}"/>
              </a:ext>
            </a:extLst>
          </p:cNvPr>
          <p:cNvSpPr/>
          <p:nvPr/>
        </p:nvSpPr>
        <p:spPr>
          <a:xfrm>
            <a:off x="697016" y="26000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1-3</a:t>
            </a:r>
            <a:endParaRPr lang="ko-KR" altLang="en-US" sz="600" b="1" dirty="0"/>
          </a:p>
        </p:txBody>
      </p:sp>
      <p:sp>
        <p:nvSpPr>
          <p:cNvPr id="218" name="직사각형 217">
            <a:extLst>
              <a:ext uri="{FF2B5EF4-FFF2-40B4-BE49-F238E27FC236}">
                <a16:creationId xmlns:a16="http://schemas.microsoft.com/office/drawing/2014/main" id="{F56F1743-11A0-EA94-9184-4E42C0A37F9C}"/>
              </a:ext>
            </a:extLst>
          </p:cNvPr>
          <p:cNvSpPr/>
          <p:nvPr/>
        </p:nvSpPr>
        <p:spPr>
          <a:xfrm>
            <a:off x="3797016" y="148884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797016" y="149667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25304" y="18526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868983" y="163604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3825304" y="185265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3" name="그룹 222"/>
          <p:cNvGrpSpPr/>
          <p:nvPr/>
        </p:nvGrpSpPr>
        <p:grpSpPr>
          <a:xfrm>
            <a:off x="6028900" y="1597921"/>
            <a:ext cx="422853" cy="187961"/>
            <a:chOff x="3641308" y="2234886"/>
            <a:chExt cx="422853" cy="187961"/>
          </a:xfrm>
        </p:grpSpPr>
        <p:sp>
          <p:nvSpPr>
            <p:cNvPr id="224" name="타원 22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5" name="그룹 224"/>
            <p:cNvGrpSpPr/>
            <p:nvPr/>
          </p:nvGrpSpPr>
          <p:grpSpPr>
            <a:xfrm rot="5400000" flipH="1">
              <a:off x="3679895" y="2305364"/>
              <a:ext cx="94010" cy="47005"/>
              <a:chOff x="6812560" y="3297172"/>
              <a:chExt cx="94010" cy="47005"/>
            </a:xfrm>
          </p:grpSpPr>
          <p:cxnSp>
            <p:nvCxnSpPr>
              <p:cNvPr id="230" name="직선 연결선 2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6" name="타원 22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7" name="그룹 226"/>
            <p:cNvGrpSpPr/>
            <p:nvPr/>
          </p:nvGrpSpPr>
          <p:grpSpPr>
            <a:xfrm rot="16200000">
              <a:off x="3931564"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36" name="그룹 235"/>
          <p:cNvGrpSpPr/>
          <p:nvPr/>
        </p:nvGrpSpPr>
        <p:grpSpPr>
          <a:xfrm>
            <a:off x="3886275" y="2018251"/>
            <a:ext cx="2456097" cy="181140"/>
            <a:chOff x="712467" y="1964062"/>
            <a:chExt cx="2456097" cy="181140"/>
          </a:xfrm>
        </p:grpSpPr>
        <p:sp>
          <p:nvSpPr>
            <p:cNvPr id="237" name="TextBox 236">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38" name="그룹 237"/>
            <p:cNvGrpSpPr/>
            <p:nvPr/>
          </p:nvGrpSpPr>
          <p:grpSpPr>
            <a:xfrm flipV="1">
              <a:off x="3074554" y="2077393"/>
              <a:ext cx="94010" cy="47005"/>
              <a:chOff x="6812560" y="3297172"/>
              <a:chExt cx="94010" cy="47005"/>
            </a:xfrm>
          </p:grpSpPr>
          <p:cxnSp>
            <p:nvCxnSpPr>
              <p:cNvPr id="239" name="직선 연결선 2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0" name="직선 연결선 2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41" name="그룹 240"/>
          <p:cNvGrpSpPr/>
          <p:nvPr/>
        </p:nvGrpSpPr>
        <p:grpSpPr>
          <a:xfrm>
            <a:off x="3886275" y="2566525"/>
            <a:ext cx="2456097" cy="181140"/>
            <a:chOff x="712467" y="2404329"/>
            <a:chExt cx="2456097" cy="181140"/>
          </a:xfrm>
        </p:grpSpPr>
        <p:sp>
          <p:nvSpPr>
            <p:cNvPr id="242" name="TextBox 241">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지역제한</a:t>
              </a:r>
              <a:endParaRPr lang="ko-KR" altLang="en-US" sz="700" dirty="0">
                <a:latin typeface="+mn-ea"/>
              </a:endParaRPr>
            </a:p>
          </p:txBody>
        </p:sp>
        <p:grpSp>
          <p:nvGrpSpPr>
            <p:cNvPr id="243" name="그룹 242"/>
            <p:cNvGrpSpPr/>
            <p:nvPr/>
          </p:nvGrpSpPr>
          <p:grpSpPr>
            <a:xfrm flipV="1">
              <a:off x="3074554" y="2517660"/>
              <a:ext cx="94010" cy="47005"/>
              <a:chOff x="6812560" y="3297172"/>
              <a:chExt cx="94010" cy="47005"/>
            </a:xfrm>
          </p:grpSpPr>
          <p:cxnSp>
            <p:nvCxnSpPr>
              <p:cNvPr id="244" name="직선 연결선 2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5" name="직선 연결선 2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4" name="그룹 253"/>
          <p:cNvGrpSpPr/>
          <p:nvPr/>
        </p:nvGrpSpPr>
        <p:grpSpPr>
          <a:xfrm>
            <a:off x="3886275" y="3114799"/>
            <a:ext cx="2456097" cy="215444"/>
            <a:chOff x="712467" y="2404329"/>
            <a:chExt cx="2456097" cy="215444"/>
          </a:xfrm>
        </p:grpSpPr>
        <p:sp>
          <p:nvSpPr>
            <p:cNvPr id="255" name="TextBox 254">
              <a:extLst>
                <a:ext uri="{FF2B5EF4-FFF2-40B4-BE49-F238E27FC236}">
                  <a16:creationId xmlns:a16="http://schemas.microsoft.com/office/drawing/2014/main" id="{FFC49AEA-2A8F-250C-A86A-A7751D9706C3}"/>
                </a:ext>
              </a:extLst>
            </p:cNvPr>
            <p:cNvSpPr txBox="1"/>
            <p:nvPr/>
          </p:nvSpPr>
          <p:spPr>
            <a:xfrm>
              <a:off x="712467" y="2404329"/>
              <a:ext cx="938533" cy="215444"/>
            </a:xfrm>
            <a:prstGeom prst="rect">
              <a:avLst/>
            </a:prstGeom>
            <a:noFill/>
          </p:spPr>
          <p:txBody>
            <a:bodyPr wrap="square" lIns="0" tIns="0" rIns="0" bIns="0" rtlCol="0">
              <a:spAutoFit/>
            </a:bodyPr>
            <a:lstStyle/>
            <a:p>
              <a:pPr>
                <a:lnSpc>
                  <a:spcPct val="200000"/>
                </a:lnSpc>
              </a:pPr>
              <a:r>
                <a:rPr lang="ko-KR" altLang="en-US" sz="700" dirty="0" err="1" smtClean="0">
                  <a:latin typeface="+mn-ea"/>
                </a:rPr>
                <a:t>공증및면허제한</a:t>
              </a:r>
              <a:endParaRPr lang="ko-KR" altLang="en-US" sz="700" dirty="0">
                <a:latin typeface="+mn-ea"/>
              </a:endParaRPr>
            </a:p>
          </p:txBody>
        </p:sp>
        <p:grpSp>
          <p:nvGrpSpPr>
            <p:cNvPr id="256" name="그룹 255"/>
            <p:cNvGrpSpPr/>
            <p:nvPr/>
          </p:nvGrpSpPr>
          <p:grpSpPr>
            <a:xfrm flipV="1">
              <a:off x="3074554" y="2517660"/>
              <a:ext cx="94010" cy="47005"/>
              <a:chOff x="6812560" y="3297172"/>
              <a:chExt cx="94010" cy="47005"/>
            </a:xfrm>
          </p:grpSpPr>
          <p:cxnSp>
            <p:nvCxnSpPr>
              <p:cNvPr id="257" name="직선 연결선 2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8" name="직선 연결선 2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9" name="그룹 258"/>
          <p:cNvGrpSpPr/>
          <p:nvPr/>
        </p:nvGrpSpPr>
        <p:grpSpPr>
          <a:xfrm>
            <a:off x="3886275" y="3697377"/>
            <a:ext cx="2456097" cy="181140"/>
            <a:chOff x="712467" y="2404329"/>
            <a:chExt cx="2456097" cy="181140"/>
          </a:xfrm>
        </p:grpSpPr>
        <p:sp>
          <p:nvSpPr>
            <p:cNvPr id="260" name="TextBox 259">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시공능력평가제한</a:t>
              </a:r>
              <a:endParaRPr lang="ko-KR" altLang="en-US" sz="700" dirty="0">
                <a:latin typeface="+mn-ea"/>
              </a:endParaRPr>
            </a:p>
          </p:txBody>
        </p:sp>
        <p:grpSp>
          <p:nvGrpSpPr>
            <p:cNvPr id="267" name="그룹 266"/>
            <p:cNvGrpSpPr/>
            <p:nvPr/>
          </p:nvGrpSpPr>
          <p:grpSpPr>
            <a:xfrm flipV="1">
              <a:off x="3074554" y="2517660"/>
              <a:ext cx="94010" cy="47005"/>
              <a:chOff x="6812560" y="3297172"/>
              <a:chExt cx="94010" cy="47005"/>
            </a:xfrm>
          </p:grpSpPr>
          <p:cxnSp>
            <p:nvCxnSpPr>
              <p:cNvPr id="270" name="직선 연결선 2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886275" y="4245651"/>
            <a:ext cx="2456097" cy="181140"/>
            <a:chOff x="712467" y="2404329"/>
            <a:chExt cx="2456097" cy="181140"/>
          </a:xfrm>
        </p:grpSpPr>
        <p:sp>
          <p:nvSpPr>
            <p:cNvPr id="274" name="TextBox 273">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지명경쟁업체</a:t>
              </a:r>
              <a:endParaRPr lang="ko-KR" altLang="en-US" sz="700" dirty="0">
                <a:latin typeface="+mn-ea"/>
              </a:endParaRPr>
            </a:p>
          </p:txBody>
        </p:sp>
        <p:grpSp>
          <p:nvGrpSpPr>
            <p:cNvPr id="275" name="그룹 274"/>
            <p:cNvGrpSpPr/>
            <p:nvPr/>
          </p:nvGrpSpPr>
          <p:grpSpPr>
            <a:xfrm flipV="1">
              <a:off x="3074554" y="2517660"/>
              <a:ext cx="94010" cy="47005"/>
              <a:chOff x="6812560" y="3297172"/>
              <a:chExt cx="94010" cy="47005"/>
            </a:xfrm>
          </p:grpSpPr>
          <p:cxnSp>
            <p:nvCxnSpPr>
              <p:cNvPr id="276" name="직선 연결선 2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0" name="직선 연결선 2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92" name="그룹 291"/>
          <p:cNvGrpSpPr/>
          <p:nvPr/>
        </p:nvGrpSpPr>
        <p:grpSpPr>
          <a:xfrm>
            <a:off x="3886275" y="4793925"/>
            <a:ext cx="2456097" cy="181140"/>
            <a:chOff x="712467" y="2404329"/>
            <a:chExt cx="2456097" cy="181140"/>
          </a:xfrm>
        </p:grpSpPr>
        <p:sp>
          <p:nvSpPr>
            <p:cNvPr id="293" name="TextBox 292">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첨부서류</a:t>
              </a:r>
              <a:endParaRPr lang="ko-KR" altLang="en-US" sz="700" dirty="0">
                <a:latin typeface="+mn-ea"/>
              </a:endParaRPr>
            </a:p>
          </p:txBody>
        </p:sp>
        <p:grpSp>
          <p:nvGrpSpPr>
            <p:cNvPr id="294" name="그룹 293"/>
            <p:cNvGrpSpPr/>
            <p:nvPr/>
          </p:nvGrpSpPr>
          <p:grpSpPr>
            <a:xfrm flipV="1">
              <a:off x="3074554" y="2517660"/>
              <a:ext cx="94010" cy="47005"/>
              <a:chOff x="6812560" y="3297172"/>
              <a:chExt cx="94010" cy="47005"/>
            </a:xfrm>
          </p:grpSpPr>
          <p:cxnSp>
            <p:nvCxnSpPr>
              <p:cNvPr id="296" name="직선 연결선 29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1" name="직선 연결선 3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08" name="그룹 307"/>
          <p:cNvGrpSpPr/>
          <p:nvPr/>
        </p:nvGrpSpPr>
        <p:grpSpPr>
          <a:xfrm>
            <a:off x="3886275" y="5342201"/>
            <a:ext cx="2456097" cy="181140"/>
            <a:chOff x="712467" y="2404329"/>
            <a:chExt cx="2456097" cy="181140"/>
          </a:xfrm>
        </p:grpSpPr>
        <p:sp>
          <p:nvSpPr>
            <p:cNvPr id="309" name="TextBox 30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문의처</a:t>
              </a:r>
              <a:endParaRPr lang="ko-KR" altLang="en-US" sz="700" dirty="0">
                <a:latin typeface="+mn-ea"/>
              </a:endParaRPr>
            </a:p>
          </p:txBody>
        </p:sp>
        <p:grpSp>
          <p:nvGrpSpPr>
            <p:cNvPr id="318" name="그룹 317"/>
            <p:cNvGrpSpPr/>
            <p:nvPr/>
          </p:nvGrpSpPr>
          <p:grpSpPr>
            <a:xfrm flipV="1">
              <a:off x="3074554" y="2517660"/>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1" name="직선 연결선 3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23" name="직선 연결선 322">
            <a:extLst>
              <a:ext uri="{FF2B5EF4-FFF2-40B4-BE49-F238E27FC236}">
                <a16:creationId xmlns:a16="http://schemas.microsoft.com/office/drawing/2014/main" id="{E9293055-D5CD-4B9E-7F64-64B2D2CA7A52}"/>
              </a:ext>
            </a:extLst>
          </p:cNvPr>
          <p:cNvCxnSpPr/>
          <p:nvPr/>
        </p:nvCxnSpPr>
        <p:spPr>
          <a:xfrm>
            <a:off x="3868983" y="24106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4" name="직선 연결선 323">
            <a:extLst>
              <a:ext uri="{FF2B5EF4-FFF2-40B4-BE49-F238E27FC236}">
                <a16:creationId xmlns:a16="http://schemas.microsoft.com/office/drawing/2014/main" id="{E9293055-D5CD-4B9E-7F64-64B2D2CA7A52}"/>
              </a:ext>
            </a:extLst>
          </p:cNvPr>
          <p:cNvCxnSpPr/>
          <p:nvPr/>
        </p:nvCxnSpPr>
        <p:spPr>
          <a:xfrm>
            <a:off x="3868983" y="29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5" name="직선 연결선 324">
            <a:extLst>
              <a:ext uri="{FF2B5EF4-FFF2-40B4-BE49-F238E27FC236}">
                <a16:creationId xmlns:a16="http://schemas.microsoft.com/office/drawing/2014/main" id="{E9293055-D5CD-4B9E-7F64-64B2D2CA7A52}"/>
              </a:ext>
            </a:extLst>
          </p:cNvPr>
          <p:cNvCxnSpPr/>
          <p:nvPr/>
        </p:nvCxnSpPr>
        <p:spPr>
          <a:xfrm>
            <a:off x="3868983" y="352650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5" name="직선 연결선 344">
            <a:extLst>
              <a:ext uri="{FF2B5EF4-FFF2-40B4-BE49-F238E27FC236}">
                <a16:creationId xmlns:a16="http://schemas.microsoft.com/office/drawing/2014/main" id="{E9293055-D5CD-4B9E-7F64-64B2D2CA7A52}"/>
              </a:ext>
            </a:extLst>
          </p:cNvPr>
          <p:cNvCxnSpPr/>
          <p:nvPr/>
        </p:nvCxnSpPr>
        <p:spPr>
          <a:xfrm>
            <a:off x="3868983" y="40844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6" name="직선 연결선 345">
            <a:extLst>
              <a:ext uri="{FF2B5EF4-FFF2-40B4-BE49-F238E27FC236}">
                <a16:creationId xmlns:a16="http://schemas.microsoft.com/office/drawing/2014/main" id="{E9293055-D5CD-4B9E-7F64-64B2D2CA7A52}"/>
              </a:ext>
            </a:extLst>
          </p:cNvPr>
          <p:cNvCxnSpPr/>
          <p:nvPr/>
        </p:nvCxnSpPr>
        <p:spPr>
          <a:xfrm>
            <a:off x="3868983" y="46424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7" name="직선 연결선 346">
            <a:extLst>
              <a:ext uri="{FF2B5EF4-FFF2-40B4-BE49-F238E27FC236}">
                <a16:creationId xmlns:a16="http://schemas.microsoft.com/office/drawing/2014/main" id="{E9293055-D5CD-4B9E-7F64-64B2D2CA7A52}"/>
              </a:ext>
            </a:extLst>
          </p:cNvPr>
          <p:cNvCxnSpPr/>
          <p:nvPr/>
        </p:nvCxnSpPr>
        <p:spPr>
          <a:xfrm>
            <a:off x="3868983" y="52003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48" name="타원 347">
            <a:extLst>
              <a:ext uri="{FF2B5EF4-FFF2-40B4-BE49-F238E27FC236}">
                <a16:creationId xmlns:a16="http://schemas.microsoft.com/office/drawing/2014/main" id="{37A7FF4F-0EAA-1463-560A-D5EC24416103}"/>
              </a:ext>
            </a:extLst>
          </p:cNvPr>
          <p:cNvSpPr/>
          <p:nvPr/>
        </p:nvSpPr>
        <p:spPr>
          <a:xfrm>
            <a:off x="3685093" y="160555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smtClean="0"/>
              <a:t>5</a:t>
            </a:r>
            <a:endParaRPr lang="ko-KR" altLang="en-US" sz="900" b="1" dirty="0"/>
          </a:p>
        </p:txBody>
      </p:sp>
      <p:sp>
        <p:nvSpPr>
          <p:cNvPr id="349" name="타원 348">
            <a:extLst>
              <a:ext uri="{FF2B5EF4-FFF2-40B4-BE49-F238E27FC236}">
                <a16:creationId xmlns:a16="http://schemas.microsoft.com/office/drawing/2014/main" id="{37A7FF4F-0EAA-1463-560A-D5EC24416103}"/>
              </a:ext>
            </a:extLst>
          </p:cNvPr>
          <p:cNvSpPr/>
          <p:nvPr/>
        </p:nvSpPr>
        <p:spPr>
          <a:xfrm>
            <a:off x="688720" y="15119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81" name="타원 180"/>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2" name="그룹 181"/>
          <p:cNvGrpSpPr/>
          <p:nvPr/>
        </p:nvGrpSpPr>
        <p:grpSpPr>
          <a:xfrm>
            <a:off x="6746288" y="5768679"/>
            <a:ext cx="124144" cy="124144"/>
            <a:chOff x="162544" y="5299917"/>
            <a:chExt cx="124144" cy="124144"/>
          </a:xfrm>
        </p:grpSpPr>
        <p:cxnSp>
          <p:nvCxnSpPr>
            <p:cNvPr id="188" name="직선 연결선 1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94" name="직선 연결선 193"/>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6587950" y="56518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Tree>
    <p:extLst>
      <p:ext uri="{BB962C8B-B14F-4D97-AF65-F5344CB8AC3E}">
        <p14:creationId xmlns:p14="http://schemas.microsoft.com/office/powerpoint/2010/main" val="1306806976"/>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78406" y="1483462"/>
            <a:ext cx="2300284" cy="4981517"/>
          </a:xfrm>
        </p:spPr>
        <p:txBody>
          <a:bodyPr/>
          <a:lstStyle/>
          <a:p>
            <a:pPr>
              <a:buFont typeface="+mj-lt"/>
              <a:buAutoNum type="arabicPeriod"/>
            </a:pPr>
            <a:r>
              <a:rPr lang="ko-KR" altLang="en-US" dirty="0"/>
              <a:t>공고 상세 일반 정보 </a:t>
            </a:r>
            <a:r>
              <a:rPr lang="ko-KR" altLang="en-US" dirty="0" smtClean="0"/>
              <a:t>영역</a:t>
            </a:r>
            <a:r>
              <a:rPr lang="en-US" altLang="ko-KR" dirty="0" smtClean="0"/>
              <a:t/>
            </a:r>
            <a:br>
              <a:rPr lang="en-US" altLang="ko-KR" dirty="0" smtClean="0"/>
            </a:br>
            <a:r>
              <a:rPr lang="ko-KR" altLang="en-US" dirty="0" smtClean="0"/>
              <a:t>* </a:t>
            </a:r>
            <a:r>
              <a:rPr lang="ko-KR" altLang="en-US" dirty="0" err="1" smtClean="0"/>
              <a:t>업무구분이</a:t>
            </a:r>
            <a:r>
              <a:rPr lang="ko-KR" altLang="en-US" dirty="0" smtClean="0"/>
              <a:t> 공사인 </a:t>
            </a:r>
            <a:r>
              <a:rPr lang="ko-KR" altLang="en-US" dirty="0"/>
              <a:t>경우</a:t>
            </a:r>
            <a:r>
              <a:rPr lang="en-US" altLang="ko-KR" dirty="0" smtClean="0"/>
              <a:t/>
            </a:r>
            <a:br>
              <a:rPr lang="en-US" altLang="ko-KR" dirty="0" smtClean="0"/>
            </a:br>
            <a:r>
              <a:rPr lang="en-US" altLang="ko-KR" dirty="0" smtClean="0"/>
              <a:t>- 1-1] </a:t>
            </a:r>
            <a:r>
              <a:rPr lang="ko-KR" altLang="en-US" dirty="0" smtClean="0"/>
              <a:t>사전심사</a:t>
            </a:r>
            <a:r>
              <a:rPr lang="en-US" altLang="ko-KR" dirty="0" smtClean="0"/>
              <a:t>, </a:t>
            </a:r>
            <a:r>
              <a:rPr lang="ko-KR" altLang="en-US" dirty="0" smtClean="0"/>
              <a:t>사전심사마감일시 노출</a:t>
            </a:r>
            <a:r>
              <a:rPr lang="en-US" altLang="ko-KR" dirty="0" smtClean="0"/>
              <a:t/>
            </a:r>
            <a:br>
              <a:rPr lang="en-US" altLang="ko-KR" dirty="0" smtClean="0"/>
            </a:br>
            <a:r>
              <a:rPr lang="en-US" altLang="ko-KR" dirty="0" smtClean="0"/>
              <a:t>- 1-2] </a:t>
            </a:r>
            <a:r>
              <a:rPr lang="ko-KR" altLang="en-US" dirty="0" smtClean="0"/>
              <a:t>현장설명회장소</a:t>
            </a:r>
            <a:r>
              <a:rPr lang="en-US" altLang="ko-KR" dirty="0" smtClean="0"/>
              <a:t>, </a:t>
            </a:r>
            <a:r>
              <a:rPr lang="ko-KR" altLang="en-US" dirty="0" smtClean="0"/>
              <a:t>현장설명회일시로 </a:t>
            </a:r>
            <a:r>
              <a:rPr lang="ko-KR" altLang="en-US" dirty="0"/>
              <a:t>항목 변경</a:t>
            </a:r>
            <a:endParaRPr lang="en-US" altLang="ko-KR" dirty="0"/>
          </a:p>
          <a:p>
            <a:pPr>
              <a:buFont typeface="+mj-lt"/>
              <a:buAutoNum type="arabicPeriod"/>
            </a:pPr>
            <a:endParaRPr lang="ko-KR" altLang="en-US"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b="1"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입찰형태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사전심사</a:t>
              </a:r>
              <a:endParaRPr lang="en-US" altLang="ko-KR" sz="700" dirty="0">
                <a:latin typeface="+mn-ea"/>
              </a:endParaRPr>
            </a:p>
            <a:p>
              <a:pPr>
                <a:lnSpc>
                  <a:spcPct val="200000"/>
                </a:lnSpc>
              </a:pPr>
              <a:r>
                <a:rPr lang="ko-KR" altLang="en-US" sz="700" dirty="0">
                  <a:latin typeface="+mn-ea"/>
                </a:rPr>
                <a:t>사전심사마감일시</a:t>
              </a:r>
              <a:endParaRPr lang="en-US" altLang="ko-KR" sz="700" dirty="0">
                <a:latin typeface="+mn-ea"/>
              </a:endParaRPr>
            </a:p>
            <a:p>
              <a:pPr>
                <a:lnSpc>
                  <a:spcPct val="200000"/>
                </a:lnSpc>
              </a:pPr>
              <a:r>
                <a:rPr lang="ko-KR" altLang="en-US" sz="700" dirty="0" err="1">
                  <a:latin typeface="+mn-ea"/>
                </a:rPr>
                <a:t>계약종류</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적격심사여부</a:t>
              </a:r>
              <a:endParaRPr lang="en-US" altLang="ko-KR" sz="700" dirty="0">
                <a:latin typeface="+mn-ea"/>
              </a:endParaRPr>
            </a:p>
            <a:p>
              <a:pPr>
                <a:lnSpc>
                  <a:spcPct val="200000"/>
                </a:lnSpc>
              </a:pPr>
              <a:r>
                <a:rPr lang="ko-KR" altLang="en-US" sz="700" dirty="0">
                  <a:latin typeface="+mn-ea"/>
                </a:rPr>
                <a:t>사업설명회장소</a:t>
              </a:r>
              <a:endParaRPr lang="en-US" altLang="ko-KR" sz="700" dirty="0">
                <a:latin typeface="+mn-ea"/>
              </a:endParaRPr>
            </a:p>
            <a:p>
              <a:pPr>
                <a:lnSpc>
                  <a:spcPct val="200000"/>
                </a:lnSpc>
              </a:pPr>
              <a:r>
                <a:rPr lang="ko-KR" altLang="en-US" sz="700" dirty="0">
                  <a:latin typeface="+mn-ea"/>
                </a:rPr>
                <a:t>사업설명회일시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4308872"/>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제한경쟁</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1008278" cy="47385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889499" y="1493784"/>
            <a:ext cx="893348" cy="4739759"/>
          </a:xfrm>
          <a:prstGeom prst="rect">
            <a:avLst/>
          </a:prstGeom>
          <a:noFill/>
        </p:spPr>
        <p:txBody>
          <a:bodyPr wrap="square" lIns="0" tIns="0" rIns="0" bIns="0" rtlCol="0">
            <a:spAutoFit/>
          </a:bodyPr>
          <a:lstStyle/>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추정가격</a:t>
            </a:r>
            <a:endParaRPr lang="en-US" altLang="ko-KR" sz="700" dirty="0">
              <a:latin typeface="+mn-ea"/>
            </a:endParaRPr>
          </a:p>
          <a:p>
            <a:pPr>
              <a:lnSpc>
                <a:spcPct val="200000"/>
              </a:lnSpc>
            </a:pPr>
            <a:r>
              <a:rPr lang="ko-KR" altLang="en-US" sz="700" dirty="0">
                <a:latin typeface="+mn-ea"/>
              </a:rPr>
              <a:t>생산능력제출마감일시</a:t>
            </a:r>
            <a:endParaRPr lang="en-US" altLang="ko-KR" sz="700" dirty="0">
              <a:latin typeface="+mn-ea"/>
            </a:endParaRPr>
          </a:p>
          <a:p>
            <a:pPr>
              <a:lnSpc>
                <a:spcPct val="200000"/>
              </a:lnSpc>
            </a:pPr>
            <a:r>
              <a:rPr lang="ko-KR" altLang="en-US" sz="700" dirty="0" err="1">
                <a:latin typeface="+mn-ea"/>
              </a:rPr>
              <a:t>입찰참가등록마감일시</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err="1">
                <a:latin typeface="+mn-ea"/>
              </a:rPr>
              <a:t>입찰장소</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en-US" altLang="ko-KR" sz="700" dirty="0">
                <a:latin typeface="+mn-ea"/>
              </a:rPr>
              <a:t>G2B</a:t>
            </a: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a:latin typeface="+mn-ea"/>
              </a:rPr>
              <a:t>복수업체연구개발대상</a:t>
            </a:r>
            <a:endParaRPr lang="en-US" altLang="ko-KR" sz="700" dirty="0">
              <a:latin typeface="+mn-ea"/>
            </a:endParaRPr>
          </a:p>
          <a:p>
            <a:pPr>
              <a:lnSpc>
                <a:spcPct val="200000"/>
              </a:lnSpc>
            </a:pPr>
            <a:r>
              <a:rPr lang="ko-KR" altLang="en-US" sz="700" dirty="0">
                <a:latin typeface="+mn-ea"/>
              </a:rPr>
              <a:t>산업분류번호</a:t>
            </a:r>
            <a:endParaRPr lang="en-US" altLang="ko-KR" sz="700" dirty="0">
              <a:latin typeface="+mn-ea"/>
            </a:endParaRPr>
          </a:p>
          <a:p>
            <a:pPr>
              <a:lnSpc>
                <a:spcPct val="200000"/>
              </a:lnSpc>
            </a:pPr>
            <a:r>
              <a:rPr lang="ko-KR" altLang="en-US" sz="700" dirty="0">
                <a:latin typeface="+mn-ea"/>
              </a:rPr>
              <a:t>신기술공고여부</a:t>
            </a:r>
            <a:endParaRPr lang="en-US" altLang="ko-KR" sz="700" dirty="0">
              <a:latin typeface="+mn-ea"/>
            </a:endParaRPr>
          </a:p>
          <a:p>
            <a:pPr>
              <a:lnSpc>
                <a:spcPct val="200000"/>
              </a:lnSpc>
            </a:pPr>
            <a:r>
              <a:rPr lang="ko-KR" altLang="en-US" sz="700" dirty="0">
                <a:latin typeface="+mn-ea"/>
              </a:rPr>
              <a:t>공동도급이행방식</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r>
              <a:rPr lang="en-US" altLang="ko-KR" sz="700" dirty="0" smtClean="0">
                <a:latin typeface="+mn-ea"/>
              </a:rPr>
              <a:t>(%)</a:t>
            </a:r>
          </a:p>
          <a:p>
            <a:pPr>
              <a:lnSpc>
                <a:spcPct val="200000"/>
              </a:lnSpc>
            </a:pPr>
            <a:r>
              <a:rPr lang="ko-KR" altLang="en-US" sz="700" dirty="0" err="1" smtClean="0">
                <a:latin typeface="+mn-ea"/>
              </a:rPr>
              <a:t>제한지역명</a:t>
            </a:r>
            <a:endParaRPr lang="en-US" altLang="ko-KR" sz="700" dirty="0" smtClean="0">
              <a:latin typeface="+mn-ea"/>
            </a:endParaRPr>
          </a:p>
          <a:p>
            <a:pPr>
              <a:lnSpc>
                <a:spcPct val="200000"/>
              </a:lnSpc>
            </a:pPr>
            <a:r>
              <a:rPr lang="ko-KR" altLang="en-US" sz="700" dirty="0" err="1" smtClean="0">
                <a:latin typeface="+mn-ea"/>
              </a:rPr>
              <a:t>제한면허명</a:t>
            </a:r>
            <a:endParaRPr lang="en-US" altLang="ko-KR" sz="700" dirty="0" smtClean="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65744" y="1493784"/>
            <a:ext cx="1619722" cy="4739759"/>
          </a:xfrm>
          <a:prstGeom prst="rect">
            <a:avLst/>
          </a:prstGeom>
          <a:noFill/>
        </p:spPr>
        <p:txBody>
          <a:bodyPr wrap="square" lIns="0" tIns="0" rIns="0" bIns="0" rtlCol="0">
            <a:spAutoFit/>
          </a:bodyPr>
          <a:lstStyle/>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563,200,000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해당없음</a:t>
            </a:r>
            <a:endParaRPr lang="en-US" altLang="ko-KR" sz="700" dirty="0">
              <a:latin typeface="+mn-ea"/>
            </a:endParaRPr>
          </a:p>
          <a:p>
            <a:pPr>
              <a:lnSpc>
                <a:spcPct val="200000"/>
              </a:lnSpc>
            </a:pPr>
            <a:r>
              <a:rPr lang="en-US" altLang="ko-KR" sz="700" dirty="0">
                <a:latin typeface="+mn-ea"/>
              </a:rPr>
              <a:t>2025-12-23 17:00</a:t>
            </a:r>
          </a:p>
          <a:p>
            <a:pPr>
              <a:lnSpc>
                <a:spcPct val="200000"/>
              </a:lnSpc>
            </a:pPr>
            <a:r>
              <a:rPr lang="en-US" altLang="ko-KR" sz="700" dirty="0">
                <a:latin typeface="+mn-ea"/>
              </a:rPr>
              <a:t>2025-12-24 10:00</a:t>
            </a:r>
          </a:p>
          <a:p>
            <a:pPr>
              <a:lnSpc>
                <a:spcPct val="200000"/>
              </a:lnSpc>
            </a:pPr>
            <a:r>
              <a:rPr lang="en-US" altLang="ko-KR" sz="700" dirty="0">
                <a:latin typeface="+mn-ea"/>
              </a:rPr>
              <a:t>2025-12-24 10:30</a:t>
            </a:r>
          </a:p>
          <a:p>
            <a:pPr>
              <a:lnSpc>
                <a:spcPct val="200000"/>
              </a:lnSpc>
            </a:pPr>
            <a:r>
              <a:rPr lang="ko-KR" altLang="en-US" sz="700" dirty="0" smtClean="0">
                <a:latin typeface="+mn-ea"/>
              </a:rPr>
              <a:t>국방전자조달시스템</a:t>
            </a:r>
            <a:endParaRPr lang="en-US" altLang="ko-KR" sz="700" dirty="0" smtClean="0">
              <a:latin typeface="+mn-ea"/>
            </a:endParaRPr>
          </a:p>
          <a:p>
            <a:pPr>
              <a:lnSpc>
                <a:spcPct val="200000"/>
              </a:lnSpc>
            </a:pPr>
            <a:r>
              <a:rPr lang="ko-KR" altLang="en-US" sz="700" dirty="0">
                <a:latin typeface="+mn-ea"/>
              </a:rPr>
              <a:t>입찰참가등록 후 </a:t>
            </a:r>
            <a:r>
              <a:rPr lang="ko-KR" altLang="en-US" sz="700" dirty="0" err="1">
                <a:latin typeface="+mn-ea"/>
              </a:rPr>
              <a:t>등록심사</a:t>
            </a:r>
            <a:r>
              <a:rPr lang="ko-KR" altLang="en-US" sz="700" dirty="0">
                <a:latin typeface="+mn-ea"/>
              </a:rPr>
              <a:t> 없이 </a:t>
            </a:r>
            <a:r>
              <a:rPr lang="ko-KR" altLang="en-US" sz="700" dirty="0" err="1">
                <a:latin typeface="+mn-ea"/>
              </a:rPr>
              <a:t>입찰서제출</a:t>
            </a:r>
            <a:r>
              <a:rPr lang="ko-KR" altLang="en-US" sz="700" dirty="0">
                <a:latin typeface="+mn-ea"/>
              </a:rPr>
              <a:t> </a:t>
            </a:r>
            <a:r>
              <a:rPr lang="en-US" altLang="ko-KR" sz="700" dirty="0">
                <a:latin typeface="+mn-ea"/>
              </a:rPr>
              <a:t>(</a:t>
            </a:r>
            <a:r>
              <a:rPr lang="ko-KR" altLang="en-US" sz="700" dirty="0" err="1">
                <a:latin typeface="+mn-ea"/>
              </a:rPr>
              <a:t>등록심사는</a:t>
            </a:r>
            <a:r>
              <a:rPr lang="ko-KR" altLang="en-US" sz="700" dirty="0">
                <a:latin typeface="+mn-ea"/>
              </a:rPr>
              <a:t> 입찰서제출마감 후 실시</a:t>
            </a:r>
            <a:r>
              <a:rPr lang="en-US" altLang="ko-KR" sz="700" dirty="0">
                <a:latin typeface="+mn-ea"/>
              </a:rPr>
              <a:t>) (</a:t>
            </a:r>
            <a:r>
              <a:rPr lang="ko-KR" altLang="en-US" sz="700" dirty="0">
                <a:latin typeface="+mn-ea"/>
              </a:rPr>
              <a:t>등록심사시점은 개찰 후 입찰등록 심사로 변경될 수 있음</a:t>
            </a:r>
            <a:r>
              <a:rPr lang="en-US" altLang="ko-KR" sz="700" dirty="0">
                <a:latin typeface="+mn-ea"/>
              </a:rPr>
              <a:t>)</a:t>
            </a:r>
          </a:p>
          <a:p>
            <a:pPr>
              <a:lnSpc>
                <a:spcPct val="200000"/>
              </a:lnSpc>
            </a:pPr>
            <a:r>
              <a:rPr lang="ko-KR" altLang="en-US" sz="700" dirty="0">
                <a:latin typeface="+mn-ea"/>
              </a:rPr>
              <a:t>적용</a:t>
            </a:r>
            <a:endParaRPr lang="en-US" altLang="ko-KR" sz="700" dirty="0">
              <a:latin typeface="+mn-ea"/>
            </a:endParaRPr>
          </a:p>
          <a:p>
            <a:pPr>
              <a:lnSpc>
                <a:spcPct val="200000"/>
              </a:lnSpc>
            </a:pPr>
            <a:r>
              <a:rPr lang="en-US" altLang="ko-KR" sz="700" dirty="0">
                <a:latin typeface="+mn-ea"/>
              </a:rPr>
              <a:t>2025LDG56349-01</a:t>
            </a:r>
          </a:p>
          <a:p>
            <a:pPr>
              <a:lnSpc>
                <a:spcPct val="200000"/>
              </a:lnSpc>
            </a:pPr>
            <a:r>
              <a:rPr lang="ko-KR" altLang="en-US" sz="700" dirty="0">
                <a:latin typeface="+mn-ea"/>
              </a:rPr>
              <a:t>비대상</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비대상</a:t>
            </a:r>
            <a:endParaRPr lang="en-US" altLang="ko-KR" sz="700" dirty="0">
              <a:latin typeface="+mn-ea"/>
            </a:endParaRPr>
          </a:p>
          <a:p>
            <a:pPr>
              <a:lnSpc>
                <a:spcPct val="200000"/>
              </a:lnSpc>
            </a:pPr>
            <a:r>
              <a:rPr lang="ko-KR" altLang="en-US" sz="700" dirty="0">
                <a:latin typeface="+mn-ea"/>
              </a:rPr>
              <a:t>단독</a:t>
            </a:r>
            <a:endParaRPr lang="en-US" altLang="ko-KR" sz="700" dirty="0">
              <a:latin typeface="+mn-ea"/>
            </a:endParaRPr>
          </a:p>
          <a:p>
            <a:pPr algn="r">
              <a:lnSpc>
                <a:spcPct val="200000"/>
              </a:lnSpc>
            </a:pPr>
            <a:r>
              <a:rPr lang="en-US" altLang="ko-KR" sz="700" dirty="0">
                <a:latin typeface="+mn-ea"/>
              </a:rPr>
              <a:t>-2 %</a:t>
            </a:r>
          </a:p>
          <a:p>
            <a:pPr algn="r">
              <a:lnSpc>
                <a:spcPct val="200000"/>
              </a:lnSpc>
            </a:pPr>
            <a:r>
              <a:rPr lang="en-US" altLang="ko-KR" sz="700" dirty="0">
                <a:latin typeface="+mn-ea"/>
              </a:rPr>
              <a:t>+2 %</a:t>
            </a:r>
          </a:p>
          <a:p>
            <a:pPr algn="r">
              <a:lnSpc>
                <a:spcPct val="200000"/>
              </a:lnSpc>
            </a:pPr>
            <a:r>
              <a:rPr lang="en-US" altLang="ko-KR" sz="700" dirty="0">
                <a:latin typeface="+mn-ea"/>
              </a:rPr>
              <a:t>80 </a:t>
            </a:r>
            <a:r>
              <a:rPr lang="en-US" altLang="ko-KR" sz="700" dirty="0" smtClean="0">
                <a:latin typeface="+mn-ea"/>
              </a:rPr>
              <a:t>%</a:t>
            </a:r>
          </a:p>
          <a:p>
            <a:pPr algn="r">
              <a:lnSpc>
                <a:spcPct val="200000"/>
              </a:lnSpc>
            </a:pPr>
            <a:r>
              <a:rPr lang="en-US" altLang="ko-KR" sz="700" dirty="0" smtClean="0">
                <a:latin typeface="+mn-ea"/>
              </a:rPr>
              <a:t>- </a:t>
            </a:r>
          </a:p>
          <a:p>
            <a:pPr algn="r">
              <a:lnSpc>
                <a:spcPct val="200000"/>
              </a:lnSpc>
            </a:pPr>
            <a:r>
              <a:rPr lang="en-US" altLang="ko-KR" sz="700" dirty="0" smtClean="0">
                <a:latin typeface="+mn-ea"/>
              </a:rPr>
              <a:t>- </a:t>
            </a:r>
            <a:endParaRPr lang="en-US" altLang="ko-KR" sz="700" dirty="0">
              <a:latin typeface="+mn-ea"/>
            </a:endParaRPr>
          </a:p>
        </p:txBody>
      </p:sp>
      <p:grpSp>
        <p:nvGrpSpPr>
          <p:cNvPr id="231" name="그룹 230"/>
          <p:cNvGrpSpPr/>
          <p:nvPr/>
        </p:nvGrpSpPr>
        <p:grpSpPr>
          <a:xfrm>
            <a:off x="3821509" y="1493784"/>
            <a:ext cx="2630093" cy="4305950"/>
            <a:chOff x="701175" y="1835481"/>
            <a:chExt cx="2630093" cy="430595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6141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5699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03268" y="59140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8382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50529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52676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5479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3823602" y="60114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직사각형 2"/>
          <p:cNvSpPr/>
          <p:nvPr/>
        </p:nvSpPr>
        <p:spPr>
          <a:xfrm>
            <a:off x="712377" y="4635526"/>
            <a:ext cx="2655869" cy="42948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직사각형 73"/>
          <p:cNvSpPr/>
          <p:nvPr/>
        </p:nvSpPr>
        <p:spPr>
          <a:xfrm>
            <a:off x="703477" y="5730376"/>
            <a:ext cx="2655869" cy="42948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621567" y="453964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75" name="타원 74">
            <a:extLst>
              <a:ext uri="{FF2B5EF4-FFF2-40B4-BE49-F238E27FC236}">
                <a16:creationId xmlns:a16="http://schemas.microsoft.com/office/drawing/2014/main" id="{37A7FF4F-0EAA-1463-560A-D5EC24416103}"/>
              </a:ext>
            </a:extLst>
          </p:cNvPr>
          <p:cNvSpPr/>
          <p:nvPr/>
        </p:nvSpPr>
        <p:spPr>
          <a:xfrm>
            <a:off x="617458" y="565793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76" name="타원 75">
            <a:extLst>
              <a:ext uri="{FF2B5EF4-FFF2-40B4-BE49-F238E27FC236}">
                <a16:creationId xmlns:a16="http://schemas.microsoft.com/office/drawing/2014/main" id="{37A7FF4F-0EAA-1463-560A-D5EC24416103}"/>
              </a:ext>
            </a:extLst>
          </p:cNvPr>
          <p:cNvSpPr/>
          <p:nvPr/>
        </p:nvSpPr>
        <p:spPr>
          <a:xfrm>
            <a:off x="590016" y="151499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7" name="그룹 6"/>
          <p:cNvGrpSpPr/>
          <p:nvPr/>
        </p:nvGrpSpPr>
        <p:grpSpPr>
          <a:xfrm>
            <a:off x="3821509" y="6269567"/>
            <a:ext cx="2686252" cy="93133"/>
            <a:chOff x="3821509" y="6269567"/>
            <a:chExt cx="2686252" cy="93133"/>
          </a:xfrm>
        </p:grpSpPr>
        <p:sp>
          <p:nvSpPr>
            <p:cNvPr id="5" name="직사각형 4"/>
            <p:cNvSpPr/>
            <p:nvPr/>
          </p:nvSpPr>
          <p:spPr>
            <a:xfrm>
              <a:off x="3821509" y="6269567"/>
              <a:ext cx="2686252" cy="93133"/>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400" dirty="0" err="1" smtClean="0"/>
                <a:t>이어지는화면</a:t>
              </a:r>
              <a:endParaRPr lang="ko-KR" altLang="en-US" sz="400" dirty="0"/>
            </a:p>
          </p:txBody>
        </p:sp>
        <p:sp>
          <p:nvSpPr>
            <p:cNvPr id="6" name="이등변 삼각형 5"/>
            <p:cNvSpPr/>
            <p:nvPr/>
          </p:nvSpPr>
          <p:spPr>
            <a:xfrm flipH="1" flipV="1">
              <a:off x="5380038" y="6291785"/>
              <a:ext cx="61912" cy="5420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415514984"/>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지역 제한 정보 표시</a:t>
            </a:r>
            <a:endParaRPr lang="en-US" altLang="ko-KR" dirty="0"/>
          </a:p>
          <a:p>
            <a:pPr>
              <a:buFont typeface="+mj-lt"/>
              <a:buAutoNum type="arabicPeriod"/>
            </a:pPr>
            <a:r>
              <a:rPr lang="ko-KR" altLang="en-US" dirty="0"/>
              <a:t>공증 및 </a:t>
            </a:r>
            <a:r>
              <a:rPr lang="ko-KR" altLang="en-US" dirty="0" err="1"/>
              <a:t>면허제한</a:t>
            </a:r>
            <a:r>
              <a:rPr lang="ko-KR" altLang="en-US" dirty="0"/>
              <a:t> 정보 표시</a:t>
            </a:r>
            <a:endParaRPr lang="en-US" altLang="ko-KR" dirty="0"/>
          </a:p>
          <a:p>
            <a:pPr>
              <a:buFont typeface="+mj-lt"/>
              <a:buAutoNum type="arabicPeriod"/>
            </a:pPr>
            <a:r>
              <a:rPr lang="ko-KR" altLang="en-US" dirty="0"/>
              <a:t>시공능력평가제한 정보 표시</a:t>
            </a:r>
            <a:endParaRPr lang="en-US" altLang="ko-KR" dirty="0"/>
          </a:p>
          <a:p>
            <a:pPr>
              <a:buFont typeface="+mj-lt"/>
              <a:buAutoNum type="arabicPeriod"/>
            </a:pPr>
            <a:r>
              <a:rPr lang="ko-KR" altLang="en-US" dirty="0"/>
              <a:t>지명경쟁업체 정보 표시</a:t>
            </a:r>
            <a:endParaRPr lang="en-US" altLang="ko-KR" dirty="0"/>
          </a:p>
          <a:p>
            <a:pPr>
              <a:buFont typeface="+mj-lt"/>
              <a:buAutoNum type="arabicPeriod"/>
            </a:pPr>
            <a:r>
              <a:rPr lang="ko-KR" altLang="en-US" dirty="0"/>
              <a:t>첨부서류 표시</a:t>
            </a:r>
            <a:r>
              <a:rPr lang="en-US" altLang="ko-KR" dirty="0"/>
              <a:t/>
            </a:r>
            <a:br>
              <a:rPr lang="en-US" altLang="ko-KR" dirty="0"/>
            </a:br>
            <a:r>
              <a:rPr lang="en-US" altLang="ko-KR" dirty="0"/>
              <a:t>- </a:t>
            </a:r>
            <a:r>
              <a:rPr lang="ko-KR" altLang="en-US" dirty="0"/>
              <a:t>총 </a:t>
            </a:r>
            <a:r>
              <a:rPr lang="ko-KR" altLang="en-US" dirty="0" err="1"/>
              <a:t>몇건이</a:t>
            </a:r>
            <a:r>
              <a:rPr lang="ko-KR" altLang="en-US" dirty="0"/>
              <a:t> 등록되었는지 표시</a:t>
            </a:r>
            <a:r>
              <a:rPr lang="en-US" altLang="ko-KR" dirty="0"/>
              <a:t/>
            </a:r>
            <a:br>
              <a:rPr lang="en-US" altLang="ko-KR" dirty="0"/>
            </a:br>
            <a:r>
              <a:rPr lang="en-US" altLang="ko-KR" dirty="0"/>
              <a:t>- </a:t>
            </a:r>
            <a:r>
              <a:rPr lang="ko-KR" altLang="en-US" dirty="0"/>
              <a:t>개별 리스트 탭으로 개별 다운로드</a:t>
            </a:r>
            <a:endParaRPr lang="en-US" altLang="ko-KR" dirty="0"/>
          </a:p>
          <a:p>
            <a:pPr>
              <a:buFont typeface="+mj-lt"/>
              <a:buAutoNum type="arabicPeriod"/>
            </a:pPr>
            <a:r>
              <a:rPr lang="ko-KR" altLang="en-US" dirty="0"/>
              <a:t>문의처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242493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7" name="TextBox 76">
            <a:extLst>
              <a:ext uri="{FF2B5EF4-FFF2-40B4-BE49-F238E27FC236}">
                <a16:creationId xmlns:a16="http://schemas.microsoft.com/office/drawing/2014/main" id="{FFC49AEA-2A8F-250C-A86A-A7751D9706C3}"/>
              </a:ext>
            </a:extLst>
          </p:cNvPr>
          <p:cNvSpPr txBox="1"/>
          <p:nvPr/>
        </p:nvSpPr>
        <p:spPr>
          <a:xfrm>
            <a:off x="776587" y="2393360"/>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78" name="그룹 77"/>
          <p:cNvGrpSpPr/>
          <p:nvPr/>
        </p:nvGrpSpPr>
        <p:grpSpPr>
          <a:xfrm flipV="1">
            <a:off x="3138674" y="2506691"/>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1" name="모서리가 둥근 직사각형 80"/>
          <p:cNvSpPr/>
          <p:nvPr/>
        </p:nvSpPr>
        <p:spPr>
          <a:xfrm>
            <a:off x="705041" y="2701432"/>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93811" y="2799716"/>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a:p>
            <a:pPr marL="171450" indent="-171450">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en-US" altLang="ko-KR" sz="700" dirty="0">
                <a:solidFill>
                  <a:schemeClr val="tx1">
                    <a:lumMod val="85000"/>
                    <a:lumOff val="15000"/>
                  </a:schemeClr>
                </a:solidFill>
                <a:latin typeface="맑은 고딕" panose="020B0503020000020004" pitchFamily="50" charset="-127"/>
              </a:rPr>
              <a:t>G2b</a:t>
            </a:r>
            <a:r>
              <a:rPr lang="ko-KR" altLang="en-US" sz="700" dirty="0">
                <a:solidFill>
                  <a:schemeClr val="tx1">
                    <a:lumMod val="85000"/>
                    <a:lumOff val="15000"/>
                  </a:schemeClr>
                </a:solidFill>
                <a:latin typeface="맑은 고딕" panose="020B0503020000020004" pitchFamily="50" charset="-127"/>
              </a:rPr>
              <a:t>에 등록된 </a:t>
            </a:r>
            <a:r>
              <a:rPr lang="ko-KR" altLang="en-US" sz="700" dirty="0" err="1">
                <a:solidFill>
                  <a:schemeClr val="tx1">
                    <a:lumMod val="85000"/>
                    <a:lumOff val="15000"/>
                  </a:schemeClr>
                </a:solidFill>
                <a:latin typeface="맑은 고딕" panose="020B0503020000020004" pitchFamily="50" charset="-127"/>
              </a:rPr>
              <a:t>면허정보는</a:t>
            </a:r>
            <a:r>
              <a:rPr lang="ko-KR" altLang="en-US" sz="700" dirty="0">
                <a:solidFill>
                  <a:schemeClr val="tx1">
                    <a:lumMod val="85000"/>
                    <a:lumOff val="15000"/>
                  </a:schemeClr>
                </a:solidFill>
                <a:latin typeface="맑은 고딕" panose="020B0503020000020004" pitchFamily="50" charset="-127"/>
              </a:rPr>
              <a:t> 「업체정보관리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국내업체정보조회</a:t>
            </a:r>
            <a:r>
              <a:rPr lang="en-US" altLang="ko-KR" sz="700" dirty="0">
                <a:solidFill>
                  <a:schemeClr val="tx1">
                    <a:lumMod val="85000"/>
                    <a:lumOff val="15000"/>
                  </a:schemeClr>
                </a:solidFill>
                <a:latin typeface="맑은 고딕" panose="020B0503020000020004" pitchFamily="50" charset="-127"/>
              </a:rPr>
              <a:t>_</a:t>
            </a:r>
            <a:r>
              <a:rPr lang="ko-KR" altLang="en-US" sz="700" dirty="0" err="1">
                <a:solidFill>
                  <a:schemeClr val="tx1">
                    <a:lumMod val="85000"/>
                    <a:lumOff val="15000"/>
                  </a:schemeClr>
                </a:solidFill>
                <a:latin typeface="맑은 고딕" panose="020B0503020000020004" pitchFamily="50" charset="-127"/>
              </a:rPr>
              <a:t>시설정보」에서</a:t>
            </a:r>
            <a:r>
              <a:rPr lang="ko-KR" altLang="en-US" sz="700" dirty="0">
                <a:solidFill>
                  <a:schemeClr val="tx1">
                    <a:lumMod val="85000"/>
                    <a:lumOff val="15000"/>
                  </a:schemeClr>
                </a:solidFill>
                <a:latin typeface="맑은 고딕" panose="020B0503020000020004" pitchFamily="50" charset="-127"/>
              </a:rPr>
              <a:t> 확인하시고 면허 설정의 오류 또는 </a:t>
            </a:r>
            <a:r>
              <a:rPr lang="ko-KR" altLang="en-US" sz="700" dirty="0" err="1">
                <a:solidFill>
                  <a:schemeClr val="tx1">
                    <a:lumMod val="85000"/>
                    <a:lumOff val="15000"/>
                  </a:schemeClr>
                </a:solidFill>
                <a:latin typeface="맑은 고딕" panose="020B0503020000020004" pitchFamily="50" charset="-127"/>
              </a:rPr>
              <a:t>공고내용과</a:t>
            </a:r>
            <a:r>
              <a:rPr lang="ko-KR" altLang="en-US" sz="700" dirty="0">
                <a:solidFill>
                  <a:schemeClr val="tx1">
                    <a:lumMod val="85000"/>
                    <a:lumOff val="15000"/>
                  </a:schemeClr>
                </a:solidFill>
                <a:latin typeface="맑은 고딕" panose="020B0503020000020004" pitchFamily="50" charset="-127"/>
              </a:rPr>
              <a:t> 상이한 면허 제한에 이의 있으면 하단의 문의처로 연락하시기 바랍니다</a:t>
            </a:r>
            <a:r>
              <a:rPr lang="en-US" altLang="ko-KR" sz="700" dirty="0">
                <a:solidFill>
                  <a:schemeClr val="tx1">
                    <a:lumMod val="85000"/>
                    <a:lumOff val="15000"/>
                  </a:schemeClr>
                </a:solidFill>
                <a:latin typeface="맑은 고딕" panose="020B0503020000020004" pitchFamily="50" charset="-127"/>
              </a:rPr>
              <a:t>.</a:t>
            </a:r>
          </a:p>
        </p:txBody>
      </p:sp>
      <p:sp>
        <p:nvSpPr>
          <p:cNvPr id="84" name="타원 83"/>
          <p:cNvSpPr/>
          <p:nvPr/>
        </p:nvSpPr>
        <p:spPr>
          <a:xfrm>
            <a:off x="789853" y="27900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5" name="그룹 84"/>
          <p:cNvGrpSpPr/>
          <p:nvPr/>
        </p:nvGrpSpPr>
        <p:grpSpPr>
          <a:xfrm flipV="1">
            <a:off x="3138674" y="2838563"/>
            <a:ext cx="94010" cy="47005"/>
            <a:chOff x="6812560" y="3297172"/>
            <a:chExt cx="94010" cy="47005"/>
          </a:xfrm>
        </p:grpSpPr>
        <p:cxnSp>
          <p:nvCxnSpPr>
            <p:cNvPr id="86" name="직선 연결선 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TextBox 100">
            <a:extLst>
              <a:ext uri="{FF2B5EF4-FFF2-40B4-BE49-F238E27FC236}">
                <a16:creationId xmlns:a16="http://schemas.microsoft.com/office/drawing/2014/main" id="{FFC49AEA-2A8F-250C-A86A-A7751D9706C3}"/>
              </a:ext>
            </a:extLst>
          </p:cNvPr>
          <p:cNvSpPr txBox="1"/>
          <p:nvPr/>
        </p:nvSpPr>
        <p:spPr>
          <a:xfrm>
            <a:off x="762146" y="4985472"/>
            <a:ext cx="728875" cy="215444"/>
          </a:xfrm>
          <a:prstGeom prst="rect">
            <a:avLst/>
          </a:prstGeom>
          <a:noFill/>
        </p:spPr>
        <p:txBody>
          <a:bodyPr wrap="square" lIns="0" tIns="0" rIns="0" bIns="0" rtlCol="0">
            <a:spAutoFit/>
          </a:bodyPr>
          <a:lstStyle/>
          <a:p>
            <a:pPr>
              <a:lnSpc>
                <a:spcPct val="200000"/>
              </a:lnSpc>
            </a:pPr>
            <a:r>
              <a:rPr lang="ko-KR" altLang="en-US" sz="700" dirty="0">
                <a:latin typeface="+mn-ea"/>
              </a:rPr>
              <a:t>시공능력평가제한</a:t>
            </a:r>
          </a:p>
        </p:txBody>
      </p:sp>
      <p:grpSp>
        <p:nvGrpSpPr>
          <p:cNvPr id="102" name="그룹 101"/>
          <p:cNvGrpSpPr/>
          <p:nvPr/>
        </p:nvGrpSpPr>
        <p:grpSpPr>
          <a:xfrm flipV="1">
            <a:off x="3124233" y="5098803"/>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61591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모서리가 둥근 직사각형 111"/>
          <p:cNvSpPr/>
          <p:nvPr/>
        </p:nvSpPr>
        <p:spPr>
          <a:xfrm>
            <a:off x="715616" y="5449887"/>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3812" y="55152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125945" y="5515286"/>
            <a:ext cx="1233079"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endParaRPr lang="en-US" altLang="ko-KR" sz="700" dirty="0">
              <a:solidFill>
                <a:schemeClr val="tx1">
                  <a:lumMod val="85000"/>
                  <a:lumOff val="15000"/>
                </a:schemeClr>
              </a:solidFill>
              <a:latin typeface="맑은 고딕" panose="020B0503020000020004" pitchFamily="50" charset="-127"/>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793812" y="528553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2460625" y="5515286"/>
            <a:ext cx="808388" cy="107722"/>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1125945" y="5285533"/>
            <a:ext cx="498650"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공종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업종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명</a:t>
            </a:r>
            <a:endParaRPr lang="en-US" altLang="ko-KR" sz="600" dirty="0">
              <a:solidFill>
                <a:schemeClr val="tx1">
                  <a:lumMod val="85000"/>
                  <a:lumOff val="15000"/>
                </a:schemeClr>
              </a:solidFill>
              <a:latin typeface="맑은 고딕" panose="020B0503020000020004" pitchFamily="50" charset="-127"/>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653730" y="5285533"/>
            <a:ext cx="498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제한금액</a:t>
            </a:r>
            <a:endParaRPr lang="en-US" altLang="ko-KR" sz="6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878080" y="1620037"/>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지명경쟁업체</a:t>
            </a:r>
            <a:endParaRPr lang="ko-KR" altLang="en-US" sz="700" dirty="0">
              <a:latin typeface="+mn-ea"/>
            </a:endParaRPr>
          </a:p>
        </p:txBody>
      </p:sp>
      <p:grpSp>
        <p:nvGrpSpPr>
          <p:cNvPr id="121" name="그룹 120"/>
          <p:cNvGrpSpPr/>
          <p:nvPr/>
        </p:nvGrpSpPr>
        <p:grpSpPr>
          <a:xfrm flipV="1">
            <a:off x="6240167" y="1733368"/>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모서리가 둥근 직사각형 124"/>
          <p:cNvSpPr/>
          <p:nvPr/>
        </p:nvSpPr>
        <p:spPr>
          <a:xfrm>
            <a:off x="3831550" y="2084452"/>
            <a:ext cx="2652743" cy="547623"/>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3909746" y="23044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4332218" y="2142820"/>
            <a:ext cx="2071044" cy="430887"/>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업체코드</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대표자</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사업자등록번호</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주소</a:t>
            </a:r>
            <a:endParaRPr lang="en-US" altLang="ko-KR" sz="700" dirty="0">
              <a:solidFill>
                <a:schemeClr val="tx1">
                  <a:lumMod val="85000"/>
                  <a:lumOff val="15000"/>
                </a:schemeClr>
              </a:solidFill>
              <a:latin typeface="맑은 고딕" panose="020B0503020000020004" pitchFamily="50" charset="-127"/>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3838314" y="192009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4332218" y="1920098"/>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업체정보</a:t>
            </a:r>
            <a:endParaRPr lang="en-US" altLang="ko-KR" sz="600" dirty="0">
              <a:solidFill>
                <a:schemeClr val="tx1">
                  <a:lumMod val="85000"/>
                  <a:lumOff val="15000"/>
                </a:schemeClr>
              </a:solidFill>
              <a:latin typeface="맑은 고딕" panose="020B0503020000020004" pitchFamily="50" charset="-127"/>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878080" y="287842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33" name="그룹 132"/>
          <p:cNvGrpSpPr/>
          <p:nvPr/>
        </p:nvGrpSpPr>
        <p:grpSpPr>
          <a:xfrm flipV="1">
            <a:off x="6240167" y="299175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모서리가 둥근 직사각형 136"/>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44" name="타원 143"/>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모서리가 둥근 직사각형 144"/>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8" name="타원 147"/>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문의처</a:t>
            </a:r>
            <a:endParaRPr lang="ko-KR" altLang="en-US" sz="700" dirty="0">
              <a:latin typeface="+mn-ea"/>
            </a:endParaRPr>
          </a:p>
        </p:txBody>
      </p:sp>
      <p:grpSp>
        <p:nvGrpSpPr>
          <p:cNvPr id="152" name="그룹 151"/>
          <p:cNvGrpSpPr/>
          <p:nvPr/>
        </p:nvGrpSpPr>
        <p:grpSpPr>
          <a:xfrm flipV="1">
            <a:off x="6240167" y="4729163"/>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a:solidFill>
                  <a:schemeClr val="tx1">
                    <a:lumMod val="85000"/>
                    <a:lumOff val="15000"/>
                  </a:schemeClr>
                </a:solidFill>
                <a:latin typeface="맑은 고딕" panose="020B0503020000020004" pitchFamily="50" charset="-127"/>
              </a:rPr>
              <a:t>기관 부서명</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257" name="타원 256">
            <a:extLst>
              <a:ext uri="{FF2B5EF4-FFF2-40B4-BE49-F238E27FC236}">
                <a16:creationId xmlns:a16="http://schemas.microsoft.com/office/drawing/2014/main" id="{37A7FF4F-0EAA-1463-560A-D5EC24416103}"/>
              </a:ext>
            </a:extLst>
          </p:cNvPr>
          <p:cNvSpPr/>
          <p:nvPr/>
        </p:nvSpPr>
        <p:spPr>
          <a:xfrm>
            <a:off x="3690133" y="16473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5735" y="275425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3" name="모서리가 둥근 직사각형 192"/>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4" name="TextBox 193">
            <a:extLst>
              <a:ext uri="{FF2B5EF4-FFF2-40B4-BE49-F238E27FC236}">
                <a16:creationId xmlns:a16="http://schemas.microsoft.com/office/drawing/2014/main" id="{FFC49AEA-2A8F-250C-A86A-A7751D9706C3}"/>
              </a:ext>
            </a:extLst>
          </p:cNvPr>
          <p:cNvSpPr txBox="1"/>
          <p:nvPr/>
        </p:nvSpPr>
        <p:spPr>
          <a:xfrm>
            <a:off x="3963885" y="5206692"/>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방위사업청</a:t>
            </a:r>
            <a:endParaRPr lang="en-US" altLang="ko-KR" sz="700" dirty="0">
              <a:solidFill>
                <a:schemeClr val="tx1">
                  <a:lumMod val="85000"/>
                  <a:lumOff val="15000"/>
                </a:schemeClr>
              </a:solidFill>
              <a:latin typeface="맑은 고딕" panose="020B0503020000020004" pitchFamily="50" charset="-127"/>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a:t>
            </a:r>
            <a:r>
              <a:rPr lang="ko-KR" altLang="en-US" sz="700" dirty="0" err="1">
                <a:solidFill>
                  <a:schemeClr val="tx1">
                    <a:lumMod val="85000"/>
                    <a:lumOff val="15000"/>
                  </a:schemeClr>
                </a:solidFill>
                <a:latin typeface="맑은 고딕" panose="020B0503020000020004" pitchFamily="50" charset="-127"/>
              </a:rPr>
              <a:t>주무관</a:t>
            </a:r>
            <a:endParaRPr lang="en-US" altLang="ko-KR" sz="700" dirty="0">
              <a:solidFill>
                <a:schemeClr val="tx1">
                  <a:lumMod val="85000"/>
                  <a:lumOff val="15000"/>
                </a:schemeClr>
              </a:solidFill>
              <a:latin typeface="맑은 고딕" panose="020B0503020000020004" pitchFamily="50" charset="-127"/>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200" name="모서리가 둥근 직사각형 199"/>
          <p:cNvSpPr/>
          <p:nvPr/>
        </p:nvSpPr>
        <p:spPr>
          <a:xfrm>
            <a:off x="715616" y="4262602"/>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3812" y="43280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1125945" y="4328001"/>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err="1"/>
              <a:t>면허제한</a:t>
            </a:r>
            <a:r>
              <a:rPr lang="en-US" altLang="ko-KR" dirty="0"/>
              <a:t>] </a:t>
            </a:r>
            <a:r>
              <a:rPr lang="ko-KR" altLang="en-US" dirty="0"/>
              <a:t>의료기기판매업</a:t>
            </a:r>
            <a:endParaRPr lang="en-US" altLang="ko-KR" dirty="0"/>
          </a:p>
        </p:txBody>
      </p:sp>
      <p:sp>
        <p:nvSpPr>
          <p:cNvPr id="205" name="모서리가 둥근 직사각형 20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TextBox 20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675399" y="49226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675399" y="2289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793812" y="4118569"/>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1125945" y="4118569"/>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명칭</a:t>
            </a:r>
            <a:endParaRPr lang="en-US" altLang="ko-KR" sz="600" dirty="0">
              <a:solidFill>
                <a:schemeClr val="tx1">
                  <a:lumMod val="85000"/>
                  <a:lumOff val="15000"/>
                </a:schemeClr>
              </a:solidFill>
              <a:latin typeface="맑은 고딕" panose="020B0503020000020004" pitchFamily="50" charset="-127"/>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216" name="모서리가 둥근 직사각형 215"/>
          <p:cNvSpPr/>
          <p:nvPr/>
        </p:nvSpPr>
        <p:spPr>
          <a:xfrm>
            <a:off x="715616" y="5750278"/>
            <a:ext cx="2652743" cy="343488"/>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793812" y="58681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1125945" y="5814300"/>
            <a:ext cx="123307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1</a:t>
            </a:r>
          </a:p>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460625" y="5814300"/>
            <a:ext cx="808388" cy="215444"/>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221" name="TextBox 22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922563" y="4328001"/>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879387" y="4118569"/>
            <a:ext cx="413088"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면허코드</a:t>
            </a:r>
            <a:endParaRPr lang="en-US" altLang="ko-KR" sz="600" dirty="0">
              <a:solidFill>
                <a:schemeClr val="tx1">
                  <a:lumMod val="85000"/>
                  <a:lumOff val="15000"/>
                </a:schemeClr>
              </a:solidFill>
              <a:latin typeface="맑은 고딕" panose="020B0503020000020004" pitchFamily="50" charset="-127"/>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25" name="타원 224">
            <a:extLst>
              <a:ext uri="{FF2B5EF4-FFF2-40B4-BE49-F238E27FC236}">
                <a16:creationId xmlns:a16="http://schemas.microsoft.com/office/drawing/2014/main" id="{37A7FF4F-0EAA-1463-560A-D5EC24416103}"/>
              </a:ext>
            </a:extLst>
          </p:cNvPr>
          <p:cNvSpPr/>
          <p:nvPr/>
        </p:nvSpPr>
        <p:spPr>
          <a:xfrm>
            <a:off x="571127" y="50341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26" name="타원 225">
            <a:extLst>
              <a:ext uri="{FF2B5EF4-FFF2-40B4-BE49-F238E27FC236}">
                <a16:creationId xmlns:a16="http://schemas.microsoft.com/office/drawing/2014/main" id="{37A7FF4F-0EAA-1463-560A-D5EC24416103}"/>
              </a:ext>
            </a:extLst>
          </p:cNvPr>
          <p:cNvSpPr/>
          <p:nvPr/>
        </p:nvSpPr>
        <p:spPr>
          <a:xfrm>
            <a:off x="3690133" y="2908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90133" y="4642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28" name="모서리가 둥근 직사각형 227"/>
          <p:cNvSpPr/>
          <p:nvPr/>
        </p:nvSpPr>
        <p:spPr>
          <a:xfrm>
            <a:off x="715616" y="4534773"/>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3812" y="460017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1125945" y="4600172"/>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a:t>공증</a:t>
            </a:r>
            <a:r>
              <a:rPr lang="en-US" altLang="ko-KR" dirty="0"/>
              <a:t>] </a:t>
            </a:r>
            <a:r>
              <a:rPr lang="ko-KR" altLang="en-US" dirty="0"/>
              <a:t>의료기기판매업</a:t>
            </a:r>
            <a:endParaRPr lang="en-US" altLang="ko-KR" dirty="0"/>
          </a:p>
        </p:txBody>
      </p:sp>
      <p:sp>
        <p:nvSpPr>
          <p:cNvPr id="235" name="TextBox 234">
            <a:extLst>
              <a:ext uri="{FF2B5EF4-FFF2-40B4-BE49-F238E27FC236}">
                <a16:creationId xmlns:a16="http://schemas.microsoft.com/office/drawing/2014/main" id="{FFC49AEA-2A8F-250C-A86A-A7751D9706C3}"/>
              </a:ext>
            </a:extLst>
          </p:cNvPr>
          <p:cNvSpPr txBox="1"/>
          <p:nvPr/>
        </p:nvSpPr>
        <p:spPr>
          <a:xfrm>
            <a:off x="2922563" y="4600172"/>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47" name="TextBox 2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5" name="직사각형 104"/>
          <p:cNvSpPr/>
          <p:nvPr/>
        </p:nvSpPr>
        <p:spPr>
          <a:xfrm>
            <a:off x="7077159" y="6005021"/>
            <a:ext cx="2343520" cy="154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smtClean="0"/>
              <a:t>항목설명  내용 없음</a:t>
            </a:r>
            <a:endParaRPr lang="ko-KR" altLang="en-US" sz="600" dirty="0"/>
          </a:p>
        </p:txBody>
      </p:sp>
    </p:spTree>
    <p:extLst>
      <p:ext uri="{BB962C8B-B14F-4D97-AF65-F5344CB8AC3E}">
        <p14:creationId xmlns:p14="http://schemas.microsoft.com/office/powerpoint/2010/main" val="4131422944"/>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28</a:t>
            </a:fld>
            <a:endParaRPr lang="ko-KR" altLang="en-US"/>
          </a:p>
        </p:txBody>
      </p:sp>
      <p:sp>
        <p:nvSpPr>
          <p:cNvPr id="2" name="TextBox 1">
            <a:extLst>
              <a:ext uri="{FF2B5EF4-FFF2-40B4-BE49-F238E27FC236}">
                <a16:creationId xmlns:a16="http://schemas.microsoft.com/office/drawing/2014/main" id="{2628823E-7D74-C311-A6E9-F7478194E7B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3" name="Text Box 73">
            <a:extLst>
              <a:ext uri="{FF2B5EF4-FFF2-40B4-BE49-F238E27FC236}">
                <a16:creationId xmlns:a16="http://schemas.microsoft.com/office/drawing/2014/main" id="{1240B3F4-C021-14BC-41C7-C32BCB1DB2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09938"/>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extLst>
              <p:ext uri="{D42A27DB-BD31-4B8C-83A1-F6EECF244321}">
                <p14:modId xmlns:p14="http://schemas.microsoft.com/office/powerpoint/2010/main" val="4291977699"/>
              </p:ext>
            </p:extLst>
          </p:nvPr>
        </p:nvGraphicFramePr>
        <p:xfrm>
          <a:off x="452999" y="1097925"/>
          <a:ext cx="8994884" cy="4122240"/>
        </p:xfrm>
        <a:graphic>
          <a:graphicData uri="http://schemas.openxmlformats.org/drawingml/2006/table">
            <a:tbl>
              <a:tblPr>
                <a:tableStyleId>{616DA210-FB5B-4158-B5E0-FEB733F419BA}</a:tableStyleId>
              </a:tblPr>
              <a:tblGrid>
                <a:gridCol w="1071001">
                  <a:extLst>
                    <a:ext uri="{9D8B030D-6E8A-4147-A177-3AD203B41FA5}">
                      <a16:colId xmlns:a16="http://schemas.microsoft.com/office/drawing/2014/main" val="20000"/>
                    </a:ext>
                  </a:extLst>
                </a:gridCol>
                <a:gridCol w="1125415">
                  <a:extLst>
                    <a:ext uri="{9D8B030D-6E8A-4147-A177-3AD203B41FA5}">
                      <a16:colId xmlns:a16="http://schemas.microsoft.com/office/drawing/2014/main" val="3804317184"/>
                    </a:ext>
                  </a:extLst>
                </a:gridCol>
                <a:gridCol w="2661139">
                  <a:extLst>
                    <a:ext uri="{9D8B030D-6E8A-4147-A177-3AD203B41FA5}">
                      <a16:colId xmlns:a16="http://schemas.microsoft.com/office/drawing/2014/main" val="20001"/>
                    </a:ext>
                  </a:extLst>
                </a:gridCol>
                <a:gridCol w="480646">
                  <a:extLst>
                    <a:ext uri="{9D8B030D-6E8A-4147-A177-3AD203B41FA5}">
                      <a16:colId xmlns:a16="http://schemas.microsoft.com/office/drawing/2014/main" val="20002"/>
                    </a:ext>
                  </a:extLst>
                </a:gridCol>
                <a:gridCol w="644769">
                  <a:extLst>
                    <a:ext uri="{9D8B030D-6E8A-4147-A177-3AD203B41FA5}">
                      <a16:colId xmlns:a16="http://schemas.microsoft.com/office/drawing/2014/main" val="20003"/>
                    </a:ext>
                  </a:extLst>
                </a:gridCol>
                <a:gridCol w="515816">
                  <a:extLst>
                    <a:ext uri="{9D8B030D-6E8A-4147-A177-3AD203B41FA5}">
                      <a16:colId xmlns:a16="http://schemas.microsoft.com/office/drawing/2014/main" val="20004"/>
                    </a:ext>
                  </a:extLst>
                </a:gridCol>
                <a:gridCol w="24960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pbancCycl</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고유번호의 차수</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107474">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pbancYmd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등록 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107474">
                <a:tc>
                  <a:txBody>
                    <a:bodyPr/>
                    <a:lstStyle/>
                    <a:p>
                      <a:pPr latinLnBrk="1"/>
                      <a:r>
                        <a:rPr lang="ko-KR" altLang="en-US" sz="800" dirty="0" err="1">
                          <a:latin typeface="+mn-ea"/>
                          <a:ea typeface="+mn-ea"/>
                        </a:rPr>
                        <a:t>공고명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rprsItemNm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물품</a:t>
                      </a:r>
                      <a:r>
                        <a:rPr lang="en-US" altLang="ko-KR" sz="800" dirty="0">
                          <a:latin typeface="+mn-ea"/>
                        </a:rPr>
                        <a:t>‘, ‘</a:t>
                      </a:r>
                      <a:r>
                        <a:rPr lang="ko-KR" altLang="en-US" sz="800" dirty="0">
                          <a:latin typeface="+mn-ea"/>
                        </a:rPr>
                        <a:t>용역</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641400"/>
                  </a:ext>
                </a:extLst>
              </a:tr>
              <a:tr h="107474">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cstrnNm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공사</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3818"/>
                  </a:ext>
                </a:extLst>
              </a:tr>
              <a:tr h="0">
                <a:tc>
                  <a:txBody>
                    <a:bodyPr/>
                    <a:lstStyle/>
                    <a:p>
                      <a:pPr latinLnBrk="1"/>
                      <a:r>
                        <a:rPr lang="ko-KR" altLang="en-US" sz="800" dirty="0">
                          <a:latin typeface="+mn-ea"/>
                          <a:ea typeface="+mn-ea"/>
                        </a:rPr>
                        <a:t>게재기관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pblctnInstNm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게재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부서번호</a:t>
                      </a:r>
                      <a:r>
                        <a:rPr lang="en-US" altLang="ko-KR" sz="800" dirty="0">
                          <a:latin typeface="+mn-ea"/>
                          <a:ea typeface="+mn-ea"/>
                        </a:rPr>
                        <a:t>(3)+</a:t>
                      </a:r>
                      <a:r>
                        <a:rPr lang="ko-KR" altLang="en-US" sz="800" dirty="0">
                          <a:latin typeface="+mn-ea"/>
                          <a:ea typeface="+mn-ea"/>
                        </a:rPr>
                        <a:t>판단번호</a:t>
                      </a:r>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totalItemCnt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품목의 전체 </a:t>
                      </a:r>
                      <a:r>
                        <a:rPr lang="ko-KR" altLang="en-US" sz="800" dirty="0" err="1">
                          <a:latin typeface="+mn-ea"/>
                        </a:rPr>
                        <a:t>수량값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a:t>
                      </a:r>
                      <a:r>
                        <a:rPr lang="ko-KR" altLang="en-US" sz="800" dirty="0">
                          <a:latin typeface="+mn-ea"/>
                          <a:ea typeface="+mn-ea"/>
                        </a:rPr>
                        <a:t>항목 </a:t>
                      </a:r>
                      <a:endParaRPr lang="en-US" altLang="ko-KR" sz="800" dirty="0">
                        <a:latin typeface="+mn-ea"/>
                        <a:ea typeface="+mn-ea"/>
                      </a:endParaRPr>
                    </a:p>
                    <a:p>
                      <a:pPr algn="l" latinLnBrk="1"/>
                      <a:r>
                        <a:rPr lang="en-US" altLang="ko-KR" sz="800" dirty="0">
                          <a:latin typeface="+mn-ea"/>
                          <a:ea typeface="+mn-ea"/>
                        </a:rPr>
                        <a:t>- </a:t>
                      </a:r>
                      <a:r>
                        <a:rPr lang="ko-KR" altLang="en-US" sz="800" dirty="0" err="1">
                          <a:latin typeface="+mn-ea"/>
                          <a:ea typeface="+mn-ea"/>
                        </a:rPr>
                        <a:t>조달판단납기납지철</a:t>
                      </a:r>
                      <a:r>
                        <a:rPr lang="ko-KR" altLang="en-US" sz="800" dirty="0">
                          <a:latin typeface="+mn-ea"/>
                          <a:ea typeface="+mn-ea"/>
                        </a:rPr>
                        <a:t> 테이블의 </a:t>
                      </a:r>
                      <a:r>
                        <a:rPr lang="ko-KR" altLang="en-US" sz="800" dirty="0" err="1">
                          <a:latin typeface="+mn-ea"/>
                          <a:ea typeface="+mn-ea"/>
                        </a:rPr>
                        <a:t>납지수량의</a:t>
                      </a:r>
                      <a:r>
                        <a:rPr lang="ko-KR" altLang="en-US" sz="800" dirty="0">
                          <a:latin typeface="+mn-ea"/>
                          <a:ea typeface="+mn-ea"/>
                        </a:rPr>
                        <a:t> 합계</a:t>
                      </a:r>
                      <a:endParaRPr lang="en-US" altLang="ko-KR" sz="800" dirty="0">
                        <a:latin typeface="+mn-ea"/>
                        <a:ea typeface="+mn-ea"/>
                      </a:endParaRPr>
                    </a:p>
                    <a:p>
                      <a:pPr algn="l" latinLnBrk="1"/>
                      <a:r>
                        <a:rPr lang="en-US" altLang="ko-KR" sz="800" dirty="0">
                          <a:latin typeface="+mn-ea"/>
                          <a:ea typeface="+mn-ea"/>
                        </a:rPr>
                        <a:t>- SUM(WTB_PDB213.DLVR_QNTY)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bizTpcd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집행유형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prcmNo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판단번호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 : </a:t>
                      </a:r>
                      <a:r>
                        <a:rPr lang="ko-KR" altLang="en-US" sz="800" dirty="0">
                          <a:latin typeface="+mn-ea"/>
                          <a:ea typeface="+mn-ea"/>
                        </a:rPr>
                        <a:t>판단번호</a:t>
                      </a:r>
                      <a:r>
                        <a:rPr lang="en-US" altLang="ko-KR" sz="800" dirty="0">
                          <a:latin typeface="+mn-ea"/>
                          <a:ea typeface="+mn-ea"/>
                        </a:rPr>
                        <a:t>(DCSN_NUMB)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orderInstNm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발주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ctrtMthdNm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bidMthd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입찰방법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:BDTC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단가제유형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:BTUP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r h="0">
                <a:tc>
                  <a:txBody>
                    <a:bodyPr/>
                    <a:lstStyle/>
                    <a:p>
                      <a:pPr latinLnBrk="1"/>
                      <a:r>
                        <a:rPr lang="ko-KR" altLang="en-US" sz="800" dirty="0">
                          <a:latin typeface="+mn-ea"/>
                          <a:ea typeface="+mn-ea"/>
                        </a:rPr>
                        <a:t>계약종류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ctrtTpcd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계약종류</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:CTKC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82591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낙찰자결정방법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a:latin typeface="+mn-ea"/>
                          <a:ea typeface="+mn-ea"/>
                        </a:rPr>
                        <a:t>. </a:t>
                      </a:r>
                      <a:r>
                        <a:rPr lang="ko-KR" altLang="en-US" sz="80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7497890"/>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elgbSrngYn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적격심사 대상 여부 </a:t>
                      </a:r>
                      <a:r>
                        <a:rPr lang="ko-KR" altLang="en-US" sz="800" dirty="0" err="1">
                          <a:latin typeface="+mn-ea"/>
                        </a:rPr>
                        <a:t>식별값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a:t>
                      </a:r>
                      <a:r>
                        <a:rPr lang="ko-KR" altLang="en-US" sz="800" dirty="0">
                          <a:latin typeface="+mn-ea"/>
                          <a:ea typeface="+mn-ea"/>
                        </a:rPr>
                        <a:t> </a:t>
                      </a:r>
                      <a:r>
                        <a:rPr lang="en-US" altLang="ko-KR" sz="800" dirty="0">
                          <a:latin typeface="+mn-ea"/>
                          <a:ea typeface="+mn-ea"/>
                        </a:rPr>
                        <a:t>:</a:t>
                      </a:r>
                      <a:r>
                        <a:rPr lang="ko-KR" altLang="en-US" sz="800" dirty="0">
                          <a:latin typeface="+mn-ea"/>
                          <a:ea typeface="+mn-ea"/>
                        </a:rPr>
                        <a:t> 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708474"/>
                  </a:ext>
                </a:extLst>
              </a:tr>
              <a:tr h="0">
                <a:tc>
                  <a:txBody>
                    <a:bodyPr/>
                    <a:lstStyle/>
                    <a:p>
                      <a:pPr latinLnBrk="1"/>
                      <a:r>
                        <a:rPr lang="ko-KR" altLang="en-US" sz="800" dirty="0">
                          <a:latin typeface="+mn-ea"/>
                          <a:ea typeface="+mn-ea"/>
                        </a:rPr>
                        <a:t>사업설명회장소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사업설명회장소명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177320"/>
                  </a:ext>
                </a:extLst>
              </a:tr>
            </a:tbl>
          </a:graphicData>
        </a:graphic>
      </p:graphicFrame>
    </p:spTree>
    <p:extLst>
      <p:ext uri="{BB962C8B-B14F-4D97-AF65-F5344CB8AC3E}">
        <p14:creationId xmlns:p14="http://schemas.microsoft.com/office/powerpoint/2010/main" val="716107707"/>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29</a:t>
            </a:fld>
            <a:endParaRPr lang="ko-KR" altLang="en-US"/>
          </a:p>
        </p:txBody>
      </p:sp>
      <p:sp>
        <p:nvSpPr>
          <p:cNvPr id="4" name="TextBox 3">
            <a:extLst>
              <a:ext uri="{FF2B5EF4-FFF2-40B4-BE49-F238E27FC236}">
                <a16:creationId xmlns:a16="http://schemas.microsoft.com/office/drawing/2014/main" id="{C17648F3-5514-E13E-20AA-46C086C0BA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AC319EA0-2B46-01CB-89B0-805B73B758C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62355"/>
          <a:ext cx="8994884" cy="5385600"/>
        </p:xfrm>
        <a:graphic>
          <a:graphicData uri="http://schemas.openxmlformats.org/drawingml/2006/table">
            <a:tbl>
              <a:tblPr>
                <a:tableStyleId>{616DA210-FB5B-4158-B5E0-FEB733F419BA}</a:tableStyleId>
              </a:tblPr>
              <a:tblGrid>
                <a:gridCol w="1493032">
                  <a:extLst>
                    <a:ext uri="{9D8B030D-6E8A-4147-A177-3AD203B41FA5}">
                      <a16:colId xmlns:a16="http://schemas.microsoft.com/office/drawing/2014/main" val="20000"/>
                    </a:ext>
                  </a:extLst>
                </a:gridCol>
                <a:gridCol w="1500554">
                  <a:extLst>
                    <a:ext uri="{9D8B030D-6E8A-4147-A177-3AD203B41FA5}">
                      <a16:colId xmlns:a16="http://schemas.microsoft.com/office/drawing/2014/main" val="3090674670"/>
                    </a:ext>
                  </a:extLst>
                </a:gridCol>
                <a:gridCol w="2719753">
                  <a:extLst>
                    <a:ext uri="{9D8B030D-6E8A-4147-A177-3AD203B41FA5}">
                      <a16:colId xmlns:a16="http://schemas.microsoft.com/office/drawing/2014/main" val="20001"/>
                    </a:ext>
                  </a:extLst>
                </a:gridCol>
                <a:gridCol w="433754">
                  <a:extLst>
                    <a:ext uri="{9D8B030D-6E8A-4147-A177-3AD203B41FA5}">
                      <a16:colId xmlns:a16="http://schemas.microsoft.com/office/drawing/2014/main" val="20002"/>
                    </a:ext>
                  </a:extLst>
                </a:gridCol>
                <a:gridCol w="552544">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사업설명회일시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사업설명회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현장설명회장소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a:latin typeface="+mn-ea"/>
                          <a:ea typeface="+mn-ea"/>
                        </a:rPr>
                        <a:t>현장설명회일시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a:latin typeface="+mn-ea"/>
                          <a:ea typeface="+mn-ea"/>
                        </a:rPr>
                        <a:t>예산금액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sumAmt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예산금액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r h="0">
                <a:tc>
                  <a:txBody>
                    <a:bodyPr/>
                    <a:lstStyle/>
                    <a:p>
                      <a:pPr latinLnBrk="1"/>
                      <a:r>
                        <a:rPr lang="ko-KR" altLang="en-US" sz="800">
                          <a:latin typeface="+mn-ea"/>
                          <a:ea typeface="+mn-ea"/>
                        </a:rPr>
                        <a:t>추정가격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prsmpPrc</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추정가격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792337"/>
                  </a:ext>
                </a:extLst>
              </a:tr>
              <a:tr h="0">
                <a:tc>
                  <a:txBody>
                    <a:bodyPr/>
                    <a:lstStyle/>
                    <a:p>
                      <a:pPr latinLnBrk="1"/>
                      <a:r>
                        <a:rPr lang="ko-KR" altLang="en-US" sz="800">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prdcpIdntySmdocDdlnDt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생산능력제출마감일시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5639779"/>
                  </a:ext>
                </a:extLst>
              </a:tr>
              <a:tr h="0">
                <a:tc>
                  <a:txBody>
                    <a:bodyPr/>
                    <a:lstStyle/>
                    <a:p>
                      <a:pPr latinLnBrk="1"/>
                      <a:r>
                        <a:rPr lang="ko-KR" altLang="en-US" sz="800">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bidClrsDt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입찰참가등록마감일시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96059"/>
                  </a:ext>
                </a:extLst>
              </a:tr>
              <a:tr h="0">
                <a:tc>
                  <a:txBody>
                    <a:bodyPr/>
                    <a:lstStyle/>
                    <a:p>
                      <a:pPr latinLnBrk="1"/>
                      <a:r>
                        <a:rPr lang="ko-KR" altLang="en-US" sz="800">
                          <a:latin typeface="+mn-ea"/>
                          <a:ea typeface="+mn-ea"/>
                        </a:rPr>
                        <a:t>입찰서제출마감일시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tndrSbmsnDdlnDt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입찰서제출마감일시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739674"/>
                  </a:ext>
                </a:extLst>
              </a:tr>
              <a:tr h="0">
                <a:tc>
                  <a:txBody>
                    <a:bodyPr/>
                    <a:lstStyle/>
                    <a:p>
                      <a:pPr latinLnBrk="1"/>
                      <a:r>
                        <a:rPr lang="ko-KR" altLang="en-US" sz="800">
                          <a:latin typeface="+mn-ea"/>
                          <a:ea typeface="+mn-ea"/>
                        </a:rPr>
                        <a:t>개찰일시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bdopnDt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개찰일시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913609"/>
                  </a:ext>
                </a:extLst>
              </a:tr>
              <a:tr h="0">
                <a:tc>
                  <a:txBody>
                    <a:bodyPr/>
                    <a:lstStyle/>
                    <a:p>
                      <a:pPr latinLnBrk="1"/>
                      <a:r>
                        <a:rPr lang="ko-KR" altLang="en-US" sz="800">
                          <a:latin typeface="+mn-ea"/>
                          <a:ea typeface="+mn-ea"/>
                        </a:rPr>
                        <a:t>입찰장소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bidPlcNm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입찰장소 </a:t>
                      </a:r>
                      <a:r>
                        <a:rPr lang="ko-KR" altLang="en-US" sz="800">
                          <a:latin typeface="+mn-ea"/>
                          <a:ea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0827933"/>
                  </a:ext>
                </a:extLst>
              </a:tr>
              <a:tr h="0">
                <a:tc>
                  <a:txBody>
                    <a:bodyPr/>
                    <a:lstStyle/>
                    <a:p>
                      <a:pPr latinLnBrk="1"/>
                      <a:r>
                        <a:rPr lang="ko-KR" altLang="en-US" sz="800">
                          <a:latin typeface="+mn-ea"/>
                          <a:ea typeface="+mn-ea"/>
                        </a:rPr>
                        <a:t>등록심사시점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tndrSbmsnPntmCd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입찰등록심사 시점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 </a:t>
                      </a:r>
                      <a:r>
                        <a:rPr lang="ko-KR" altLang="en-US" sz="800" dirty="0">
                          <a:latin typeface="+mn-ea"/>
                          <a:ea typeface="+mn-ea"/>
                        </a:rPr>
                        <a:t>입찰서제출 후 심사 </a:t>
                      </a:r>
                      <a:r>
                        <a:rPr lang="en-US" altLang="ko-KR" sz="800" dirty="0">
                          <a:latin typeface="+mn-ea"/>
                          <a:ea typeface="+mn-ea"/>
                        </a:rPr>
                        <a:t>(</a:t>
                      </a:r>
                      <a:r>
                        <a:rPr lang="ko-KR" altLang="en-US" sz="800" dirty="0">
                          <a:latin typeface="+mn-ea"/>
                          <a:ea typeface="+mn-ea"/>
                        </a:rPr>
                        <a:t>등록심사</a:t>
                      </a:r>
                      <a:r>
                        <a:rPr lang="en-US" altLang="ko-KR" sz="800" dirty="0">
                          <a:latin typeface="+mn-ea"/>
                          <a:ea typeface="+mn-ea"/>
                        </a:rPr>
                        <a:t>)</a:t>
                      </a:r>
                    </a:p>
                    <a:p>
                      <a:pPr algn="l" latinLnBrk="1"/>
                      <a:r>
                        <a:rPr lang="en-US" altLang="ko-KR" sz="800" dirty="0">
                          <a:latin typeface="+mn-ea"/>
                          <a:ea typeface="+mn-ea"/>
                        </a:rPr>
                        <a:t>N : </a:t>
                      </a:r>
                      <a:r>
                        <a:rPr lang="ko-KR" altLang="en-US" sz="800" dirty="0">
                          <a:latin typeface="+mn-ea"/>
                          <a:ea typeface="+mn-ea"/>
                        </a:rPr>
                        <a:t>입찰참가신청 후 입찰서제출 전 심사</a:t>
                      </a:r>
                      <a:r>
                        <a:rPr lang="en-US" altLang="ko-KR" sz="800" dirty="0">
                          <a:latin typeface="+mn-ea"/>
                          <a:ea typeface="+mn-ea"/>
                        </a:rPr>
                        <a:t>(</a:t>
                      </a:r>
                      <a:r>
                        <a:rPr lang="ko-KR" altLang="en-US" sz="800" dirty="0">
                          <a:latin typeface="+mn-ea"/>
                          <a:ea typeface="+mn-ea"/>
                        </a:rPr>
                        <a:t>사전심사</a:t>
                      </a:r>
                      <a:r>
                        <a:rPr lang="en-US" altLang="ko-KR" sz="800" dirty="0">
                          <a:latin typeface="+mn-ea"/>
                          <a:ea typeface="+mn-ea"/>
                        </a:rPr>
                        <a:t>), F : </a:t>
                      </a:r>
                      <a:r>
                        <a:rPr lang="ko-KR" altLang="en-US" sz="800" dirty="0" err="1">
                          <a:latin typeface="+mn-ea"/>
                          <a:ea typeface="+mn-ea"/>
                        </a:rPr>
                        <a:t>개찰후심사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5415962"/>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bidPrtcpQlfcYn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기초예비가격 적용 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 </a:t>
                      </a:r>
                      <a:r>
                        <a:rPr lang="ko-KR" altLang="en-US" sz="800">
                          <a:latin typeface="+mn-ea"/>
                          <a:ea typeface="+mn-ea"/>
                        </a:rPr>
                        <a:t>적용 </a:t>
                      </a:r>
                      <a:r>
                        <a:rPr lang="en-US" altLang="ko-KR" sz="800">
                          <a:latin typeface="+mn-ea"/>
                          <a:ea typeface="+mn-ea"/>
                        </a:rPr>
                        <a:t>, N : </a:t>
                      </a:r>
                      <a:r>
                        <a:rPr lang="ko-KR" altLang="en-US" sz="800">
                          <a:latin typeface="+mn-ea"/>
                          <a:ea typeface="+mn-ea"/>
                        </a:rPr>
                        <a:t>미적용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7603090"/>
                  </a:ext>
                </a:extLst>
              </a:tr>
              <a:tr h="0">
                <a:tc>
                  <a:txBody>
                    <a:bodyPr/>
                    <a:lstStyle/>
                    <a:p>
                      <a:pPr latinLnBrk="1"/>
                      <a:r>
                        <a:rPr lang="en-US" altLang="ko-KR" sz="800" dirty="0">
                          <a:latin typeface="+mn-ea"/>
                          <a:ea typeface="+mn-ea"/>
                        </a:rPr>
                        <a:t>G2B</a:t>
                      </a:r>
                      <a:r>
                        <a:rPr lang="ko-KR" altLang="en-US" sz="800" dirty="0">
                          <a:latin typeface="+mn-ea"/>
                          <a:ea typeface="+mn-ea"/>
                        </a:rPr>
                        <a:t>공고번호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a:t>
                      </a:r>
                      <a:r>
                        <a:rPr lang="ko-KR" altLang="en-US" sz="800" dirty="0">
                          <a:latin typeface="+mn-ea"/>
                        </a:rPr>
                        <a:t>공고번호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p>
                    <a:p>
                      <a:pPr algn="l" latinLnBrk="1"/>
                      <a:r>
                        <a:rPr lang="en-US" altLang="ko-KR" sz="800" dirty="0">
                          <a:latin typeface="+mn-ea"/>
                          <a:ea typeface="+mn-ea"/>
                        </a:rPr>
                        <a:t>:</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공고번호</a:t>
                      </a:r>
                      <a:r>
                        <a:rPr lang="en-US" altLang="ko-KR" sz="800" dirty="0">
                          <a:latin typeface="+mn-ea"/>
                          <a:ea typeface="+mn-ea"/>
                        </a:rPr>
                        <a:t>(7)+</a:t>
                      </a:r>
                      <a:r>
                        <a:rPr lang="ko-KR" altLang="en-US" sz="800" dirty="0">
                          <a:latin typeface="+mn-ea"/>
                          <a:ea typeface="+mn-ea"/>
                        </a:rPr>
                        <a:t>판단번호</a:t>
                      </a:r>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33986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G2B</a:t>
                      </a:r>
                      <a:r>
                        <a:rPr lang="ko-KR" altLang="en-US" sz="800">
                          <a:latin typeface="+mn-ea"/>
                        </a:rPr>
                        <a:t>공고차수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복수업체연구개발대상구분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plrlBzentyRndTrgtYn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복수업체연구개발대상구분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산업분류번호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tpbizCdNm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산업분류번호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rPr>
                        <a:t>tpbizCd</a:t>
                      </a:r>
                      <a:r>
                        <a:rPr lang="en-US" altLang="ko-KR" sz="800" dirty="0">
                          <a:latin typeface="+mn-ea"/>
                        </a:rPr>
                        <a:t>+’:’+</a:t>
                      </a:r>
                      <a:r>
                        <a:rPr lang="en-US" altLang="ko-KR" sz="800" dirty="0" err="1">
                          <a:latin typeface="+mn-ea"/>
                        </a:rPr>
                        <a:t>tpbizCdNm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a:latin typeface="+mn-ea"/>
                          <a:ea typeface="+mn-ea"/>
                        </a:rPr>
                        <a:t>신기술공고여부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ntchYn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신기술공고여부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공동도급이행방식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jsdShcd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공동도급이행방식명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:CMCT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llmtAmtRt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하한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상한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ulprcRt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상한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scsbdLlmtRt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낙찰하한율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a:latin typeface="+mn-ea"/>
                          <a:ea typeface="+mn-ea"/>
                        </a:rPr>
                        <a:t>제한지역명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rgnNm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제한지역명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:SDCD(</a:t>
                      </a:r>
                      <a:r>
                        <a:rPr lang="ko-KR" altLang="en-US" sz="800" dirty="0">
                          <a:latin typeface="+mn-ea"/>
                          <a:ea typeface="+mn-ea"/>
                        </a:rPr>
                        <a:t>지역코드</a:t>
                      </a:r>
                      <a:r>
                        <a:rPr lang="en-US" altLang="ko-KR" sz="800" dirty="0">
                          <a:latin typeface="+mn-ea"/>
                          <a:ea typeface="+mn-ea"/>
                        </a:rPr>
                        <a:t>), GU7(</a:t>
                      </a:r>
                      <a:r>
                        <a:rPr lang="ko-KR" altLang="en-US" sz="800" dirty="0">
                          <a:latin typeface="+mn-ea"/>
                          <a:ea typeface="+mn-ea"/>
                        </a:rPr>
                        <a:t>소재지코드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a:latin typeface="+mn-ea"/>
                          <a:ea typeface="+mn-ea"/>
                        </a:rPr>
                        <a:t>제한면허명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제한면허명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bl>
          </a:graphicData>
        </a:graphic>
      </p:graphicFrame>
    </p:spTree>
    <p:extLst>
      <p:ext uri="{BB962C8B-B14F-4D97-AF65-F5344CB8AC3E}">
        <p14:creationId xmlns:p14="http://schemas.microsoft.com/office/powerpoint/2010/main" val="224576121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30</a:t>
            </a:fld>
            <a:endParaRPr lang="ko-KR" altLang="en-US"/>
          </a:p>
        </p:txBody>
      </p:sp>
      <p:graphicFrame>
        <p:nvGraphicFramePr>
          <p:cNvPr id="3" name="표 2">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79459"/>
          <a:ext cx="8994884" cy="969600"/>
        </p:xfrm>
        <a:graphic>
          <a:graphicData uri="http://schemas.openxmlformats.org/drawingml/2006/table">
            <a:tbl>
              <a:tblPr>
                <a:tableStyleId>{616DA210-FB5B-4158-B5E0-FEB733F419BA}</a:tableStyleId>
              </a:tblPr>
              <a:tblGrid>
                <a:gridCol w="1094447">
                  <a:extLst>
                    <a:ext uri="{9D8B030D-6E8A-4147-A177-3AD203B41FA5}">
                      <a16:colId xmlns:a16="http://schemas.microsoft.com/office/drawing/2014/main" val="20000"/>
                    </a:ext>
                  </a:extLst>
                </a:gridCol>
                <a:gridCol w="1172308">
                  <a:extLst>
                    <a:ext uri="{9D8B030D-6E8A-4147-A177-3AD203B41FA5}">
                      <a16:colId xmlns:a16="http://schemas.microsoft.com/office/drawing/2014/main" val="1483970480"/>
                    </a:ext>
                  </a:extLst>
                </a:gridCol>
                <a:gridCol w="3364523">
                  <a:extLst>
                    <a:ext uri="{9D8B030D-6E8A-4147-A177-3AD203B41FA5}">
                      <a16:colId xmlns:a16="http://schemas.microsoft.com/office/drawing/2014/main" val="20001"/>
                    </a:ext>
                  </a:extLst>
                </a:gridCol>
                <a:gridCol w="468923">
                  <a:extLst>
                    <a:ext uri="{9D8B030D-6E8A-4147-A177-3AD203B41FA5}">
                      <a16:colId xmlns:a16="http://schemas.microsoft.com/office/drawing/2014/main" val="20002"/>
                    </a:ext>
                  </a:extLst>
                </a:gridCol>
                <a:gridCol w="599436">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제한면허코드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공증</a:t>
                      </a:r>
                      <a:r>
                        <a:rPr lang="en-US" altLang="ko-KR" sz="800" dirty="0">
                          <a:latin typeface="+mn-ea"/>
                        </a:rPr>
                        <a:t>(</a:t>
                      </a:r>
                      <a:r>
                        <a:rPr lang="ko-KR" altLang="en-US" sz="800" dirty="0">
                          <a:latin typeface="+mn-ea"/>
                        </a:rPr>
                        <a:t>업종</a:t>
                      </a:r>
                      <a:r>
                        <a:rPr lang="en-US" altLang="ko-KR" sz="800" dirty="0">
                          <a:latin typeface="+mn-ea"/>
                        </a:rPr>
                        <a:t>)</a:t>
                      </a:r>
                      <a:r>
                        <a:rPr lang="ko-KR" altLang="en-US" sz="800" dirty="0">
                          <a:latin typeface="+mn-ea"/>
                        </a:rPr>
                        <a:t>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제한금액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cnstAbltEvlLmtAmt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제한금액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 식별번호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bl>
          </a:graphicData>
        </a:graphic>
      </p:graphicFrame>
      <p:sp>
        <p:nvSpPr>
          <p:cNvPr id="7" name="TextBox 6">
            <a:extLst>
              <a:ext uri="{FF2B5EF4-FFF2-40B4-BE49-F238E27FC236}">
                <a16:creationId xmlns:a16="http://schemas.microsoft.com/office/drawing/2014/main" id="{8666DEFA-0D20-AA80-F2BF-B143A891188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F3BAC0D8-F7F8-5D04-5043-AAD77B246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1A246CDD-3403-2D77-0210-DE28FDA040FE}"/>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sp>
        <p:nvSpPr>
          <p:cNvPr id="2" name="TextBox 1">
            <a:extLst>
              <a:ext uri="{FF2B5EF4-FFF2-40B4-BE49-F238E27FC236}">
                <a16:creationId xmlns:a16="http://schemas.microsoft.com/office/drawing/2014/main" id="{E66D9D1D-1649-810C-9C62-3E633690892C}"/>
              </a:ext>
            </a:extLst>
          </p:cNvPr>
          <p:cNvSpPr txBox="1"/>
          <p:nvPr/>
        </p:nvSpPr>
        <p:spPr>
          <a:xfrm>
            <a:off x="458117" y="248613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84A2C2C-CD15-881B-3591-4257D55C6718}"/>
              </a:ext>
            </a:extLst>
          </p:cNvPr>
          <p:cNvGraphicFramePr>
            <a:graphicFrameLocks noGrp="1"/>
          </p:cNvGraphicFramePr>
          <p:nvPr/>
        </p:nvGraphicFramePr>
        <p:xfrm>
          <a:off x="453000" y="2764268"/>
          <a:ext cx="8995591" cy="387840"/>
        </p:xfrm>
        <a:graphic>
          <a:graphicData uri="http://schemas.openxmlformats.org/drawingml/2006/table">
            <a:tbl>
              <a:tblPr>
                <a:tableStyleId>{616DA210-FB5B-4158-B5E0-FEB733F419BA}</a:tableStyleId>
              </a:tblPr>
              <a:tblGrid>
                <a:gridCol w="1481308">
                  <a:extLst>
                    <a:ext uri="{9D8B030D-6E8A-4147-A177-3AD203B41FA5}">
                      <a16:colId xmlns:a16="http://schemas.microsoft.com/office/drawing/2014/main" val="20000"/>
                    </a:ext>
                  </a:extLst>
                </a:gridCol>
                <a:gridCol w="1242646">
                  <a:extLst>
                    <a:ext uri="{9D8B030D-6E8A-4147-A177-3AD203B41FA5}">
                      <a16:colId xmlns:a16="http://schemas.microsoft.com/office/drawing/2014/main" val="1191088031"/>
                    </a:ext>
                  </a:extLst>
                </a:gridCol>
                <a:gridCol w="3651482">
                  <a:extLst>
                    <a:ext uri="{9D8B030D-6E8A-4147-A177-3AD203B41FA5}">
                      <a16:colId xmlns:a16="http://schemas.microsoft.com/office/drawing/2014/main" val="20001"/>
                    </a:ext>
                  </a:extLst>
                </a:gridCol>
                <a:gridCol w="262015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 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공통코드정보를 </a:t>
                      </a:r>
                      <a:r>
                        <a:rPr lang="ko-KR" altLang="en-US" sz="800" dirty="0" err="1">
                          <a:latin typeface="+mn-ea"/>
                          <a:ea typeface="+mn-ea"/>
                        </a:rPr>
                        <a:t>로드한다</a:t>
                      </a:r>
                      <a:r>
                        <a:rPr lang="en-US" altLang="ko-KR" sz="800" dirty="0">
                          <a:latin typeface="+mn-ea"/>
                          <a:ea typeface="+mn-ea"/>
                        </a:rPr>
                        <a:t>. </a:t>
                      </a:r>
                      <a:r>
                        <a:rPr lang="ko-KR" altLang="en-US" sz="800" dirty="0">
                          <a:latin typeface="+mn-ea"/>
                          <a:ea typeface="+mn-ea"/>
                        </a:rPr>
                        <a:t>공고일반정보를 </a:t>
                      </a:r>
                      <a:r>
                        <a:rPr lang="ko-KR" altLang="en-US" sz="800" dirty="0" err="1">
                          <a:latin typeface="+mn-ea"/>
                          <a:ea typeface="+mn-ea"/>
                        </a:rPr>
                        <a:t>로드한다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6" name="Text Box 73">
            <a:extLst>
              <a:ext uri="{FF2B5EF4-FFF2-40B4-BE49-F238E27FC236}">
                <a16:creationId xmlns:a16="http://schemas.microsoft.com/office/drawing/2014/main" id="{5E67C676-303D-D53C-67C5-5EB5AC3D44C0}"/>
              </a:ext>
            </a:extLst>
          </p:cNvPr>
          <p:cNvSpPr txBox="1">
            <a:spLocks noChangeArrowheads="1"/>
          </p:cNvSpPr>
          <p:nvPr/>
        </p:nvSpPr>
        <p:spPr bwMode="auto">
          <a:xfrm>
            <a:off x="7769866" y="2543523"/>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3500831"/>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총액제</a:t>
            </a:r>
            <a:r>
              <a:rPr lang="ko-KR" altLang="en-US" dirty="0"/>
              <a:t> 화면</a:t>
            </a:r>
            <a:r>
              <a:rPr lang="en-US" altLang="ko-KR" dirty="0"/>
              <a:t/>
            </a:r>
            <a:br>
              <a:rPr lang="en-US" altLang="ko-KR" dirty="0"/>
            </a:br>
            <a:r>
              <a:rPr lang="en-US" altLang="ko-KR" dirty="0" smtClean="0"/>
              <a:t>- </a:t>
            </a:r>
            <a:r>
              <a:rPr lang="ko-KR" altLang="en-US" dirty="0"/>
              <a:t>수의계약인 경우 탭 노출하지 </a:t>
            </a:r>
            <a:r>
              <a:rPr lang="ko-KR" altLang="en-US" dirty="0" smtClean="0"/>
              <a:t>않음</a:t>
            </a:r>
            <a:r>
              <a:rPr lang="en-US" altLang="ko-KR" dirty="0"/>
              <a:t/>
            </a:r>
            <a:br>
              <a:rPr lang="en-US" altLang="ko-KR" dirty="0"/>
            </a:br>
            <a:r>
              <a:rPr lang="en-US" altLang="ko-KR" dirty="0" smtClean="0"/>
              <a:t>- </a:t>
            </a:r>
            <a:r>
              <a:rPr lang="ko-KR" altLang="en-US" dirty="0"/>
              <a:t>입찰참가자격이 ‘</a:t>
            </a:r>
            <a:r>
              <a:rPr lang="en-US" altLang="ko-KR" dirty="0"/>
              <a:t>Y’</a:t>
            </a:r>
            <a:r>
              <a:rPr lang="ko-KR" altLang="en-US" dirty="0"/>
              <a:t>일 경우 기초예비가격</a:t>
            </a:r>
            <a:r>
              <a:rPr lang="en-US" altLang="ko-KR" dirty="0"/>
              <a:t>Tab </a:t>
            </a:r>
            <a:r>
              <a:rPr lang="ko-KR" altLang="en-US" dirty="0" smtClean="0"/>
              <a:t>노출</a:t>
            </a:r>
            <a:r>
              <a:rPr lang="en-US" altLang="ko-KR" dirty="0" smtClean="0"/>
              <a:t/>
            </a:r>
            <a:br>
              <a:rPr lang="en-US" altLang="ko-KR" dirty="0" smtClean="0"/>
            </a:br>
            <a:r>
              <a:rPr lang="en-US" altLang="ko-KR" dirty="0" smtClean="0"/>
              <a:t>- </a:t>
            </a:r>
            <a:r>
              <a:rPr lang="ko-KR" altLang="en-US" dirty="0" err="1" smtClean="0"/>
              <a:t>업무구분이</a:t>
            </a:r>
            <a:r>
              <a:rPr lang="ko-KR" altLang="en-US" dirty="0" smtClean="0"/>
              <a:t> ‘물품</a:t>
            </a:r>
            <a:r>
              <a:rPr lang="en-US" altLang="ko-KR" dirty="0" smtClean="0"/>
              <a:t>/</a:t>
            </a:r>
            <a:r>
              <a:rPr lang="ko-KR" altLang="en-US" dirty="0" err="1" smtClean="0"/>
              <a:t>용역’인</a:t>
            </a:r>
            <a:r>
              <a:rPr lang="ko-KR" altLang="en-US" dirty="0" smtClean="0"/>
              <a:t> 경우 표시 화면</a:t>
            </a:r>
            <a:endParaRPr lang="en-US" altLang="ko-KR" dirty="0" smtClean="0"/>
          </a:p>
          <a:p>
            <a:pPr>
              <a:buFont typeface="+mj-lt"/>
              <a:buAutoNum type="arabicPeriod"/>
            </a:pPr>
            <a:r>
              <a:rPr lang="ko-KR" altLang="en-US" dirty="0" err="1" smtClean="0">
                <a:solidFill>
                  <a:prstClr val="black"/>
                </a:solidFill>
                <a:latin typeface="맑은 고딕" panose="020B0503020000020004" pitchFamily="50" charset="-127"/>
              </a:rPr>
              <a:t>업무구분</a:t>
            </a:r>
            <a:r>
              <a:rPr lang="ko-KR" altLang="en-US" dirty="0" smtClean="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계약유형</a:t>
            </a:r>
            <a:r>
              <a:rPr lang="ko-KR" altLang="en-US" dirty="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a:t>
            </a:r>
            <a:r>
              <a:rPr lang="ko-KR" altLang="en-US" dirty="0" err="1" smtClean="0">
                <a:solidFill>
                  <a:prstClr val="black"/>
                </a:solidFill>
                <a:latin typeface="맑은 고딕" panose="020B0503020000020004" pitchFamily="50" charset="-127"/>
              </a:rPr>
              <a:t>총액제</a:t>
            </a:r>
            <a:r>
              <a:rPr lang="en-US" altLang="ko-KR" dirty="0" smtClean="0">
                <a:solidFill>
                  <a:prstClr val="black"/>
                </a:solidFill>
                <a:latin typeface="맑은 고딕" panose="020B0503020000020004" pitchFamily="50" charset="-127"/>
              </a:rPr>
              <a:t>’ </a:t>
            </a:r>
            <a:r>
              <a:rPr lang="ko-KR" altLang="en-US" dirty="0" err="1" smtClean="0">
                <a:solidFill>
                  <a:prstClr val="black"/>
                </a:solidFill>
                <a:latin typeface="맑은 고딕" panose="020B0503020000020004" pitchFamily="50" charset="-127"/>
              </a:rPr>
              <a:t>인경우</a:t>
            </a:r>
            <a:r>
              <a:rPr lang="ko-KR" altLang="en-US" dirty="0" smtClean="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 </a:t>
            </a:r>
            <a:br>
              <a:rPr lang="en-US" altLang="ko-KR" dirty="0" smtClean="0">
                <a:solidFill>
                  <a:prstClr val="black"/>
                </a:solidFill>
                <a:latin typeface="맑은 고딕" panose="020B0503020000020004" pitchFamily="50" charset="-127"/>
              </a:rPr>
            </a:br>
            <a:r>
              <a:rPr lang="en-US" altLang="ko-KR" dirty="0" smtClean="0">
                <a:solidFill>
                  <a:prstClr val="black"/>
                </a:solidFill>
                <a:latin typeface="맑은 고딕" panose="020B0503020000020004" pitchFamily="50" charset="-127"/>
              </a:rPr>
              <a:t>- </a:t>
            </a:r>
            <a:r>
              <a:rPr lang="ko-KR" altLang="en-US" dirty="0" err="1" smtClean="0">
                <a:solidFill>
                  <a:prstClr val="black"/>
                </a:solidFill>
                <a:latin typeface="맑은 고딕" panose="020B0503020000020004" pitchFamily="50" charset="-127"/>
              </a:rPr>
              <a:t>낙찰하한율</a:t>
            </a:r>
            <a:r>
              <a:rPr lang="en-US" altLang="ko-KR" dirty="0" smtClean="0">
                <a:solidFill>
                  <a:prstClr val="black"/>
                </a:solidFill>
                <a:latin typeface="맑은 고딕" panose="020B0503020000020004" pitchFamily="50" charset="-127"/>
              </a:rPr>
              <a:t>,</a:t>
            </a:r>
            <a:r>
              <a:rPr lang="ko-KR" altLang="en-US" dirty="0" smtClean="0"/>
              <a:t>확정비목비율</a:t>
            </a:r>
            <a:r>
              <a:rPr lang="en-US" altLang="ko-KR" dirty="0" smtClean="0"/>
              <a:t>,</a:t>
            </a:r>
            <a:r>
              <a:rPr lang="ko-KR" altLang="en-US" dirty="0" smtClean="0"/>
              <a:t>불확정비목비율</a:t>
            </a:r>
            <a:r>
              <a:rPr lang="en-US" altLang="ko-KR" dirty="0"/>
              <a:t> </a:t>
            </a:r>
            <a:r>
              <a:rPr lang="ko-KR" altLang="en-US" dirty="0" smtClean="0"/>
              <a:t>항목이 </a:t>
            </a:r>
            <a:r>
              <a:rPr lang="ko-KR" altLang="en-US" dirty="0"/>
              <a:t>노출</a:t>
            </a:r>
            <a:endParaRPr lang="en-US" altLang="ko-KR" dirty="0"/>
          </a:p>
          <a:p>
            <a:pPr>
              <a:buFont typeface="+mj-lt"/>
              <a:buAutoNum type="arabicPeriod"/>
            </a:pPr>
            <a:r>
              <a:rPr lang="ko-KR" altLang="en-US" dirty="0" err="1">
                <a:solidFill>
                  <a:prstClr val="black"/>
                </a:solidFill>
                <a:latin typeface="맑은 고딕" panose="020B0503020000020004" pitchFamily="50" charset="-127"/>
              </a:rPr>
              <a:t>업무구분</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계약유형</a:t>
            </a:r>
            <a:r>
              <a:rPr lang="ko-KR" altLang="en-US" dirty="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a:t>
            </a:r>
            <a:r>
              <a:rPr lang="ko-KR" altLang="en-US" dirty="0" err="1" smtClean="0">
                <a:solidFill>
                  <a:prstClr val="black"/>
                </a:solidFill>
                <a:latin typeface="맑은 고딕" panose="020B0503020000020004" pitchFamily="50" charset="-127"/>
              </a:rPr>
              <a:t>단가제</a:t>
            </a:r>
            <a:r>
              <a:rPr lang="en-US" altLang="ko-KR" dirty="0" smtClean="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인경우</a:t>
            </a:r>
            <a:r>
              <a:rPr lang="en-US" altLang="ko-KR" dirty="0" smtClean="0"/>
              <a:t/>
            </a:r>
            <a:br>
              <a:rPr lang="en-US" altLang="ko-KR" dirty="0" smtClean="0"/>
            </a:br>
            <a:r>
              <a:rPr lang="en-US" altLang="ko-KR" dirty="0" smtClean="0"/>
              <a:t>- </a:t>
            </a:r>
            <a:r>
              <a:rPr lang="ko-KR" altLang="en-US" dirty="0" smtClean="0">
                <a:solidFill>
                  <a:prstClr val="black"/>
                </a:solidFill>
              </a:rPr>
              <a:t>기초예비가격</a:t>
            </a:r>
            <a:r>
              <a:rPr lang="en-US" altLang="ko-KR" dirty="0">
                <a:solidFill>
                  <a:prstClr val="black"/>
                </a:solidFill>
              </a:rPr>
              <a:t>(</a:t>
            </a:r>
            <a:r>
              <a:rPr lang="ko-KR" altLang="en-US" dirty="0" err="1">
                <a:solidFill>
                  <a:prstClr val="black"/>
                </a:solidFill>
              </a:rPr>
              <a:t>단가제</a:t>
            </a:r>
            <a:r>
              <a:rPr lang="en-US" altLang="ko-KR" dirty="0">
                <a:solidFill>
                  <a:prstClr val="black"/>
                </a:solidFill>
              </a:rPr>
              <a:t>) </a:t>
            </a:r>
            <a:r>
              <a:rPr lang="ko-KR" altLang="en-US" dirty="0">
                <a:solidFill>
                  <a:prstClr val="black"/>
                </a:solidFill>
              </a:rPr>
              <a:t>데이터 영역 </a:t>
            </a:r>
            <a:r>
              <a:rPr lang="en-US" altLang="ko-KR" dirty="0" smtClean="0">
                <a:solidFill>
                  <a:prstClr val="black"/>
                </a:solidFill>
              </a:rPr>
              <a:t>(</a:t>
            </a:r>
            <a:r>
              <a:rPr lang="ko-KR" altLang="en-US" dirty="0" err="1" smtClean="0">
                <a:solidFill>
                  <a:prstClr val="black"/>
                </a:solidFill>
              </a:rPr>
              <a:t>잇</a:t>
            </a:r>
            <a:r>
              <a:rPr lang="en-US" altLang="ko-KR" dirty="0" smtClean="0">
                <a:solidFill>
                  <a:prstClr val="black"/>
                </a:solidFill>
              </a:rPr>
              <a:t>_</a:t>
            </a:r>
            <a:r>
              <a:rPr lang="en-US" altLang="ko-KR" dirty="0" err="1">
                <a:solidFill>
                  <a:prstClr val="black"/>
                </a:solidFill>
              </a:rPr>
              <a:t>BrprcInfoItitb</a:t>
            </a:r>
            <a:r>
              <a:rPr lang="en-US" altLang="ko-KR" dirty="0" smtClean="0">
                <a:solidFill>
                  <a:prstClr val="black"/>
                </a:solidFill>
              </a:rPr>
              <a:t>)</a:t>
            </a:r>
            <a:r>
              <a:rPr lang="ko-KR" altLang="en-US" dirty="0" smtClean="0">
                <a:solidFill>
                  <a:prstClr val="black"/>
                </a:solidFill>
              </a:rPr>
              <a:t>참고</a:t>
            </a:r>
            <a:r>
              <a:rPr lang="en-US" altLang="ko-KR" dirty="0" smtClean="0">
                <a:solidFill>
                  <a:prstClr val="black"/>
                </a:solidFill>
              </a:rPr>
              <a:t/>
            </a:r>
            <a:br>
              <a:rPr lang="en-US" altLang="ko-KR" dirty="0" smtClean="0">
                <a:solidFill>
                  <a:prstClr val="black"/>
                </a:solidFill>
              </a:rPr>
            </a:br>
            <a:r>
              <a:rPr lang="en-US" altLang="ko-KR" dirty="0" smtClean="0"/>
              <a:t>- </a:t>
            </a:r>
            <a:r>
              <a:rPr lang="ko-KR" altLang="en-US" dirty="0"/>
              <a:t>항목이 여러 개인 경우 하단으로 테이블 추가하여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384703"/>
            <a:chOff x="701175" y="1527996"/>
            <a:chExt cx="2630093" cy="13847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smtClean="0">
                  <a:latin typeface="+mn-ea"/>
                </a:rPr>
                <a:t>기초예비가격</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a:p>
              <a:pPr>
                <a:lnSpc>
                  <a:spcPct val="200000"/>
                </a:lnSpc>
              </a:pPr>
              <a:r>
                <a:rPr lang="ko-KR" altLang="en-US" sz="700" dirty="0">
                  <a:latin typeface="+mn-ea"/>
                </a:rPr>
                <a:t>확정비목비율</a:t>
              </a:r>
              <a:endParaRPr lang="en-US" altLang="ko-KR" sz="700" dirty="0">
                <a:latin typeface="+mn-ea"/>
              </a:endParaRPr>
            </a:p>
            <a:p>
              <a:pPr>
                <a:lnSpc>
                  <a:spcPct val="200000"/>
                </a:lnSpc>
              </a:pPr>
              <a:r>
                <a:rPr lang="ko-KR" altLang="en-US" sz="700" dirty="0">
                  <a:latin typeface="+mn-ea"/>
                </a:rPr>
                <a:t>불확정비목비율</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1077218"/>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7" name="그룹 16"/>
            <p:cNvGrpSpPr/>
            <p:nvPr/>
          </p:nvGrpSpPr>
          <p:grpSpPr>
            <a:xfrm>
              <a:off x="701175" y="1835481"/>
              <a:ext cx="2630093" cy="1073700"/>
              <a:chOff x="701175" y="1835481"/>
              <a:chExt cx="2630093" cy="10737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0" y="15279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79" name="그룹 78"/>
          <p:cNvGrpSpPr/>
          <p:nvPr/>
        </p:nvGrpSpPr>
        <p:grpSpPr>
          <a:xfrm>
            <a:off x="3821510" y="1835481"/>
            <a:ext cx="2630093" cy="1503180"/>
            <a:chOff x="701175" y="1835481"/>
            <a:chExt cx="2630093" cy="15031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51367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05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4326" y="260837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5" name="직사각형 104"/>
          <p:cNvSpPr/>
          <p:nvPr/>
        </p:nvSpPr>
        <p:spPr>
          <a:xfrm>
            <a:off x="3823603" y="350449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TextBox 105">
            <a:extLst>
              <a:ext uri="{FF2B5EF4-FFF2-40B4-BE49-F238E27FC236}">
                <a16:creationId xmlns:a16="http://schemas.microsoft.com/office/drawing/2014/main" id="{FFC49AEA-2A8F-250C-A86A-A7751D9706C3}"/>
              </a:ext>
            </a:extLst>
          </p:cNvPr>
          <p:cNvSpPr txBox="1"/>
          <p:nvPr/>
        </p:nvSpPr>
        <p:spPr>
          <a:xfrm>
            <a:off x="3910666" y="350449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667515" y="350449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109" name="그룹 108"/>
          <p:cNvGrpSpPr/>
          <p:nvPr/>
        </p:nvGrpSpPr>
        <p:grpSpPr>
          <a:xfrm>
            <a:off x="3821510" y="3504491"/>
            <a:ext cx="2630093" cy="1503180"/>
            <a:chOff x="701175" y="1835481"/>
            <a:chExt cx="2630093" cy="150318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9" name="직사각형 58"/>
          <p:cNvSpPr/>
          <p:nvPr/>
        </p:nvSpPr>
        <p:spPr>
          <a:xfrm>
            <a:off x="684162" y="2264350"/>
            <a:ext cx="2655869" cy="676565"/>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2" name="표 61"/>
          <p:cNvGraphicFramePr>
            <a:graphicFrameLocks noGrp="1"/>
          </p:cNvGraphicFramePr>
          <p:nvPr>
            <p:extLst>
              <p:ext uri="{D42A27DB-BD31-4B8C-83A1-F6EECF244321}">
                <p14:modId xmlns:p14="http://schemas.microsoft.com/office/powerpoint/2010/main" val="2880506641"/>
              </p:ext>
            </p:extLst>
          </p:nvPr>
        </p:nvGraphicFramePr>
        <p:xfrm>
          <a:off x="7103288" y="4230264"/>
          <a:ext cx="2300282" cy="2213760"/>
        </p:xfrm>
        <a:graphic>
          <a:graphicData uri="http://schemas.openxmlformats.org/drawingml/2006/table">
            <a:tbl>
              <a:tblPr firstRow="1" bandRow="1">
                <a:tableStyleId>{5C22544A-7EE6-4342-B048-85BDC9FD1C3A}</a:tableStyleId>
              </a:tblPr>
              <a:tblGrid>
                <a:gridCol w="264143">
                  <a:extLst>
                    <a:ext uri="{9D8B030D-6E8A-4147-A177-3AD203B41FA5}">
                      <a16:colId xmlns:a16="http://schemas.microsoft.com/office/drawing/2014/main" val="3629403149"/>
                    </a:ext>
                  </a:extLst>
                </a:gridCol>
                <a:gridCol w="238355">
                  <a:extLst>
                    <a:ext uri="{9D8B030D-6E8A-4147-A177-3AD203B41FA5}">
                      <a16:colId xmlns:a16="http://schemas.microsoft.com/office/drawing/2014/main" val="1460515021"/>
                    </a:ext>
                  </a:extLst>
                </a:gridCol>
                <a:gridCol w="226224">
                  <a:extLst>
                    <a:ext uri="{9D8B030D-6E8A-4147-A177-3AD203B41FA5}">
                      <a16:colId xmlns:a16="http://schemas.microsoft.com/office/drawing/2014/main" val="1918560194"/>
                    </a:ext>
                  </a:extLst>
                </a:gridCol>
                <a:gridCol w="314312">
                  <a:extLst>
                    <a:ext uri="{9D8B030D-6E8A-4147-A177-3AD203B41FA5}">
                      <a16:colId xmlns:a16="http://schemas.microsoft.com/office/drawing/2014/main" val="53436730"/>
                    </a:ext>
                  </a:extLst>
                </a:gridCol>
                <a:gridCol w="314312">
                  <a:extLst>
                    <a:ext uri="{9D8B030D-6E8A-4147-A177-3AD203B41FA5}">
                      <a16:colId xmlns:a16="http://schemas.microsoft.com/office/drawing/2014/main" val="2010932193"/>
                    </a:ext>
                  </a:extLst>
                </a:gridCol>
                <a:gridCol w="314312">
                  <a:extLst>
                    <a:ext uri="{9D8B030D-6E8A-4147-A177-3AD203B41FA5}">
                      <a16:colId xmlns:a16="http://schemas.microsoft.com/office/drawing/2014/main" val="2027724900"/>
                    </a:ext>
                  </a:extLst>
                </a:gridCol>
                <a:gridCol w="314312">
                  <a:extLst>
                    <a:ext uri="{9D8B030D-6E8A-4147-A177-3AD203B41FA5}">
                      <a16:colId xmlns:a16="http://schemas.microsoft.com/office/drawing/2014/main" val="2431535656"/>
                    </a:ext>
                  </a:extLst>
                </a:gridCol>
                <a:gridCol w="314312">
                  <a:extLst>
                    <a:ext uri="{9D8B030D-6E8A-4147-A177-3AD203B41FA5}">
                      <a16:colId xmlns:a16="http://schemas.microsoft.com/office/drawing/2014/main" val="729038074"/>
                    </a:ext>
                  </a:extLst>
                </a:gridCol>
              </a:tblGrid>
              <a:tr h="128835">
                <a:tc gridSpan="2">
                  <a:txBody>
                    <a:bodyPr/>
                    <a:lstStyle/>
                    <a:p>
                      <a:pPr algn="ctr" latinLnBrk="1"/>
                      <a:r>
                        <a:rPr lang="ko-KR" altLang="en-US" sz="500" dirty="0" smtClean="0">
                          <a:solidFill>
                            <a:schemeClr val="tx1"/>
                          </a:solidFill>
                        </a:rPr>
                        <a:t>구분</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일반정보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기초예비가격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품목명세서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계약특수조건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공고문안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입찰진행현황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4876776"/>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87169711"/>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2740103"/>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86839540"/>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8730365"/>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03052062"/>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59969942"/>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955307"/>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4924294"/>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85107337"/>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6858037"/>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26687968"/>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8077588"/>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7438913"/>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590084"/>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2836772"/>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8694988"/>
                  </a:ext>
                </a:extLst>
              </a:tr>
            </a:tbl>
          </a:graphicData>
        </a:graphic>
      </p:graphicFrame>
      <p:sp>
        <p:nvSpPr>
          <p:cNvPr id="63" name="직사각형 62"/>
          <p:cNvSpPr/>
          <p:nvPr/>
        </p:nvSpPr>
        <p:spPr>
          <a:xfrm>
            <a:off x="7047129" y="4056378"/>
            <a:ext cx="750218" cy="184666"/>
          </a:xfrm>
          <a:prstGeom prst="rect">
            <a:avLst/>
          </a:prstGeom>
        </p:spPr>
        <p:txBody>
          <a:bodyPr wrap="square">
            <a:spAutoFit/>
          </a:bodyPr>
          <a:lstStyle/>
          <a:p>
            <a:r>
              <a:rPr lang="en-US" altLang="ko-KR" sz="600" b="1" dirty="0" smtClean="0"/>
              <a:t>Tab </a:t>
            </a:r>
            <a:r>
              <a:rPr lang="ko-KR" altLang="en-US" sz="600" b="1" dirty="0" smtClean="0"/>
              <a:t>구성 정책</a:t>
            </a:r>
            <a:endParaRPr lang="ko-KR" altLang="en-US" sz="600" b="1" dirty="0"/>
          </a:p>
        </p:txBody>
      </p:sp>
    </p:spTree>
    <p:extLst>
      <p:ext uri="{BB962C8B-B14F-4D97-AF65-F5344CB8AC3E}">
        <p14:creationId xmlns:p14="http://schemas.microsoft.com/office/powerpoint/2010/main" val="473786895"/>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공사의 기초예비가격 </a:t>
            </a:r>
            <a:r>
              <a:rPr lang="ko-KR" altLang="en-US" dirty="0" smtClean="0"/>
              <a:t>화면</a:t>
            </a:r>
            <a:r>
              <a:rPr lang="en-US" altLang="ko-KR" dirty="0"/>
              <a:t/>
            </a:r>
            <a:br>
              <a:rPr lang="en-US" altLang="ko-KR" dirty="0"/>
            </a:br>
            <a:r>
              <a:rPr lang="en-US" altLang="ko-KR" dirty="0"/>
              <a:t>- </a:t>
            </a:r>
            <a:r>
              <a:rPr lang="ko-KR" altLang="en-US" dirty="0" err="1"/>
              <a:t>업무구분이</a:t>
            </a:r>
            <a:r>
              <a:rPr lang="ko-KR" altLang="en-US" dirty="0"/>
              <a:t> ‘</a:t>
            </a:r>
            <a:r>
              <a:rPr lang="ko-KR" altLang="en-US" dirty="0" err="1"/>
              <a:t>공사’인</a:t>
            </a:r>
            <a:r>
              <a:rPr lang="ko-KR" altLang="en-US" dirty="0"/>
              <a:t> 경우 표시 </a:t>
            </a:r>
            <a:r>
              <a:rPr lang="ko-KR" altLang="en-US" dirty="0" smtClean="0"/>
              <a:t>화면</a:t>
            </a:r>
            <a:endParaRPr lang="en-US" altLang="ko-KR" dirty="0" smtClean="0"/>
          </a:p>
          <a:p>
            <a:pPr>
              <a:buFont typeface="+mj-lt"/>
              <a:buAutoNum type="arabicPeriod"/>
            </a:pPr>
            <a:r>
              <a:rPr lang="ko-KR" altLang="en-US" dirty="0" smtClean="0"/>
              <a:t>유의사항</a:t>
            </a:r>
            <a:r>
              <a:rPr lang="en-US" altLang="ko-KR" dirty="0" smtClean="0"/>
              <a:t/>
            </a:r>
            <a:br>
              <a:rPr lang="en-US" altLang="ko-KR" dirty="0" smtClean="0"/>
            </a:br>
            <a:r>
              <a:rPr lang="en-US" altLang="ko-KR" dirty="0" smtClean="0"/>
              <a:t>- </a:t>
            </a:r>
            <a:r>
              <a:rPr lang="ko-KR" altLang="en-US" dirty="0" smtClean="0"/>
              <a:t>상단 </a:t>
            </a:r>
            <a:r>
              <a:rPr lang="ko-KR" altLang="en-US" dirty="0" err="1" smtClean="0"/>
              <a:t>업무도움</a:t>
            </a:r>
            <a:r>
              <a:rPr lang="en-US" altLang="ko-KR" dirty="0" smtClean="0"/>
              <a:t>, </a:t>
            </a:r>
            <a:r>
              <a:rPr lang="ko-KR" altLang="en-US" dirty="0" smtClean="0"/>
              <a:t>공지사항 외에 해당 화면에 필요한 도움말 노출</a:t>
            </a:r>
            <a:r>
              <a:rPr lang="en-US" altLang="ko-KR" dirty="0" smtClean="0"/>
              <a:t/>
            </a:r>
            <a:br>
              <a:rPr lang="en-US" altLang="ko-KR" dirty="0" smtClean="0"/>
            </a:br>
            <a:r>
              <a:rPr lang="en-US" altLang="ko-KR" dirty="0" smtClean="0"/>
              <a:t>- default </a:t>
            </a:r>
            <a:r>
              <a:rPr lang="ko-KR" altLang="en-US" dirty="0" smtClean="0"/>
              <a:t>열림</a:t>
            </a:r>
            <a:r>
              <a:rPr lang="en-US" altLang="ko-KR" dirty="0" smtClean="0"/>
              <a:t>.</a:t>
            </a:r>
            <a:br>
              <a:rPr lang="en-US" altLang="ko-KR" dirty="0" smtClean="0"/>
            </a:br>
            <a:r>
              <a:rPr lang="en-US" altLang="ko-KR" dirty="0" smtClean="0"/>
              <a:t>- </a:t>
            </a:r>
            <a:r>
              <a:rPr lang="ko-KR" altLang="en-US" dirty="0" smtClean="0"/>
              <a:t>닫힘 기능 필요</a:t>
            </a:r>
            <a:r>
              <a:rPr lang="en-US" altLang="ko-KR" dirty="0" smtClean="0"/>
              <a:t>.</a:t>
            </a:r>
            <a:br>
              <a:rPr lang="en-US" altLang="ko-KR" dirty="0" smtClean="0"/>
            </a:b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2918001"/>
            <a:ext cx="792000" cy="33142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2918001"/>
            <a:ext cx="827906" cy="323165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a:latin typeface="+mn-ea"/>
              </a:rPr>
              <a:t>국민건강보험료</a:t>
            </a:r>
            <a:endParaRPr lang="en-US" altLang="ko-KR" sz="700" dirty="0">
              <a:latin typeface="+mn-ea"/>
            </a:endParaRPr>
          </a:p>
          <a:p>
            <a:pPr>
              <a:lnSpc>
                <a:spcPct val="200000"/>
              </a:lnSpc>
            </a:pPr>
            <a:r>
              <a:rPr lang="ko-KR" altLang="en-US" sz="700" dirty="0">
                <a:latin typeface="+mn-ea"/>
              </a:rPr>
              <a:t>국민연금보험료</a:t>
            </a:r>
            <a:endParaRPr lang="en-US" altLang="ko-KR" sz="700" dirty="0">
              <a:latin typeface="+mn-ea"/>
            </a:endParaRPr>
          </a:p>
          <a:p>
            <a:pPr>
              <a:lnSpc>
                <a:spcPct val="200000"/>
              </a:lnSpc>
            </a:pPr>
            <a:r>
              <a:rPr lang="ko-KR" altLang="en-US" sz="700" dirty="0">
                <a:latin typeface="+mn-ea"/>
              </a:rPr>
              <a:t>평가기준금액</a:t>
            </a:r>
            <a:endParaRPr lang="en-US" altLang="ko-KR" sz="700" dirty="0">
              <a:latin typeface="+mn-ea"/>
            </a:endParaRPr>
          </a:p>
          <a:p>
            <a:pPr>
              <a:lnSpc>
                <a:spcPct val="200000"/>
              </a:lnSpc>
            </a:pPr>
            <a:r>
              <a:rPr lang="ko-KR" altLang="en-US" sz="700" dirty="0">
                <a:latin typeface="+mn-ea"/>
              </a:rPr>
              <a:t>토목기초금액</a:t>
            </a:r>
            <a:endParaRPr lang="en-US" altLang="ko-KR" sz="700" dirty="0">
              <a:latin typeface="+mn-ea"/>
            </a:endParaRPr>
          </a:p>
          <a:p>
            <a:pPr>
              <a:lnSpc>
                <a:spcPct val="200000"/>
              </a:lnSpc>
            </a:pPr>
            <a:r>
              <a:rPr lang="ko-KR" altLang="en-US" sz="700" dirty="0">
                <a:latin typeface="+mn-ea"/>
              </a:rPr>
              <a:t>건축기초금액</a:t>
            </a:r>
            <a:endParaRPr lang="en-US" altLang="ko-KR" sz="700" dirty="0">
              <a:latin typeface="+mn-ea"/>
            </a:endParaRPr>
          </a:p>
          <a:p>
            <a:pPr>
              <a:lnSpc>
                <a:spcPct val="200000"/>
              </a:lnSpc>
            </a:pPr>
            <a:r>
              <a:rPr lang="ko-KR" altLang="en-US" sz="700" dirty="0" err="1">
                <a:latin typeface="+mn-ea"/>
              </a:rPr>
              <a:t>노구기준율</a:t>
            </a:r>
            <a:r>
              <a:rPr lang="en-US" altLang="ko-KR" sz="700" dirty="0">
                <a:latin typeface="+mn-ea"/>
              </a:rPr>
              <a:t>(%)</a:t>
            </a:r>
          </a:p>
          <a:p>
            <a:pPr>
              <a:lnSpc>
                <a:spcPct val="200000"/>
              </a:lnSpc>
            </a:pPr>
            <a:r>
              <a:rPr lang="ko-KR" altLang="en-US" sz="700" dirty="0">
                <a:latin typeface="+mn-ea"/>
              </a:rPr>
              <a:t>기타경비기준율</a:t>
            </a:r>
            <a:r>
              <a:rPr lang="en-US" altLang="ko-KR" sz="700" dirty="0">
                <a:latin typeface="+mn-ea"/>
              </a:rPr>
              <a:t>(%)</a:t>
            </a:r>
          </a:p>
          <a:p>
            <a:pPr>
              <a:lnSpc>
                <a:spcPct val="200000"/>
              </a:lnSpc>
            </a:pPr>
            <a:r>
              <a:rPr lang="ko-KR" altLang="en-US" sz="700" dirty="0">
                <a:latin typeface="+mn-ea"/>
              </a:rPr>
              <a:t>일반관리비기준비</a:t>
            </a:r>
            <a:r>
              <a:rPr lang="en-US" altLang="ko-KR" sz="700" dirty="0">
                <a:latin typeface="+mn-ea"/>
              </a:rPr>
              <a:t>(%)</a:t>
            </a:r>
          </a:p>
          <a:p>
            <a:pPr>
              <a:lnSpc>
                <a:spcPct val="200000"/>
              </a:lnSpc>
            </a:pPr>
            <a:r>
              <a:rPr lang="ko-KR" altLang="en-US" sz="700" dirty="0" err="1">
                <a:latin typeface="+mn-ea"/>
              </a:rPr>
              <a:t>이윤기준율</a:t>
            </a:r>
            <a:r>
              <a:rPr lang="en-US" altLang="ko-KR" sz="700" dirty="0">
                <a:latin typeface="+mn-ea"/>
              </a:rPr>
              <a:t>(%)</a:t>
            </a:r>
          </a:p>
          <a:p>
            <a:pPr>
              <a:lnSpc>
                <a:spcPct val="200000"/>
              </a:lnSpc>
            </a:pPr>
            <a:r>
              <a:rPr lang="ko-KR" altLang="en-US" sz="700" dirty="0">
                <a:latin typeface="+mn-ea"/>
              </a:rPr>
              <a:t>적용난이도계수</a:t>
            </a:r>
            <a:endParaRPr lang="en-US" altLang="ko-KR" sz="700" dirty="0">
              <a:latin typeface="+mn-ea"/>
            </a:endParaRPr>
          </a:p>
          <a:p>
            <a:pPr>
              <a:lnSpc>
                <a:spcPct val="200000"/>
              </a:lnSpc>
            </a:pPr>
            <a:r>
              <a:rPr lang="ko-KR" altLang="en-US" sz="700" dirty="0" err="1">
                <a:latin typeface="+mn-ea"/>
              </a:rPr>
              <a:t>요양보험료</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2918001"/>
            <a:ext cx="1784088" cy="323165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2918001"/>
            <a:ext cx="2630093" cy="3224116"/>
            <a:chOff x="701175" y="1835481"/>
            <a:chExt cx="2630093" cy="3224116"/>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직선 연결선 66">
              <a:extLst>
                <a:ext uri="{FF2B5EF4-FFF2-40B4-BE49-F238E27FC236}">
                  <a16:creationId xmlns:a16="http://schemas.microsoft.com/office/drawing/2014/main" id="{E9293055-D5CD-4B9E-7F64-64B2D2CA7A52}"/>
                </a:ext>
              </a:extLst>
            </p:cNvPr>
            <p:cNvCxnSpPr/>
            <p:nvPr/>
          </p:nvCxnSpPr>
          <p:spPr>
            <a:xfrm>
              <a:off x="703268" y="31285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직선 연결선 67">
              <a:extLst>
                <a:ext uri="{FF2B5EF4-FFF2-40B4-BE49-F238E27FC236}">
                  <a16:creationId xmlns:a16="http://schemas.microsoft.com/office/drawing/2014/main" id="{E9293055-D5CD-4B9E-7F64-64B2D2CA7A52}"/>
                </a:ext>
              </a:extLst>
            </p:cNvPr>
            <p:cNvCxnSpPr/>
            <p:nvPr/>
          </p:nvCxnSpPr>
          <p:spPr>
            <a:xfrm>
              <a:off x="703268" y="3343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직선 연결선 68">
              <a:extLst>
                <a:ext uri="{FF2B5EF4-FFF2-40B4-BE49-F238E27FC236}">
                  <a16:creationId xmlns:a16="http://schemas.microsoft.com/office/drawing/2014/main" id="{E9293055-D5CD-4B9E-7F64-64B2D2CA7A52}"/>
                </a:ext>
              </a:extLst>
            </p:cNvPr>
            <p:cNvCxnSpPr/>
            <p:nvPr/>
          </p:nvCxnSpPr>
          <p:spPr>
            <a:xfrm>
              <a:off x="703268" y="35580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703268" y="3772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03268" y="39875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03268" y="4200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03268" y="441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4630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4844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5059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6" name="직사각형 75"/>
          <p:cNvSpPr/>
          <p:nvPr/>
        </p:nvSpPr>
        <p:spPr>
          <a:xfrm>
            <a:off x="3823603" y="1500106"/>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500106"/>
            <a:ext cx="811272" cy="1938992"/>
          </a:xfrm>
          <a:prstGeom prst="rect">
            <a:avLst/>
          </a:prstGeom>
          <a:noFill/>
        </p:spPr>
        <p:txBody>
          <a:bodyPr wrap="square" lIns="0" tIns="0" rIns="0" bIns="0" rtlCol="0">
            <a:spAutoFit/>
          </a:bodyPr>
          <a:lstStyle/>
          <a:p>
            <a:pPr>
              <a:lnSpc>
                <a:spcPct val="200000"/>
              </a:lnSpc>
            </a:pPr>
            <a:r>
              <a:rPr lang="ko-KR" altLang="en-US" sz="700" dirty="0">
                <a:latin typeface="+mn-ea"/>
              </a:rPr>
              <a:t>산업안전보건관리비</a:t>
            </a:r>
            <a:endParaRPr lang="en-US" altLang="ko-KR" sz="700" dirty="0">
              <a:latin typeface="+mn-ea"/>
            </a:endParaRPr>
          </a:p>
          <a:p>
            <a:pPr>
              <a:lnSpc>
                <a:spcPct val="200000"/>
              </a:lnSpc>
            </a:pPr>
            <a:r>
              <a:rPr lang="ko-KR" altLang="en-US" sz="700" dirty="0">
                <a:latin typeface="+mn-ea"/>
              </a:rPr>
              <a:t>퇴직급여충당금</a:t>
            </a:r>
            <a:endParaRPr lang="en-US" altLang="ko-KR" sz="700" dirty="0">
              <a:latin typeface="+mn-ea"/>
            </a:endParaRPr>
          </a:p>
          <a:p>
            <a:pPr>
              <a:lnSpc>
                <a:spcPct val="200000"/>
              </a:lnSpc>
            </a:pPr>
            <a:r>
              <a:rPr lang="ko-KR" altLang="en-US" sz="700" dirty="0">
                <a:latin typeface="+mn-ea"/>
              </a:rPr>
              <a:t>퇴직공제부금</a:t>
            </a:r>
            <a:endParaRPr lang="en-US" altLang="ko-KR" sz="700" dirty="0">
              <a:latin typeface="+mn-ea"/>
            </a:endParaRPr>
          </a:p>
          <a:p>
            <a:pPr>
              <a:lnSpc>
                <a:spcPct val="200000"/>
              </a:lnSpc>
            </a:pPr>
            <a:r>
              <a:rPr lang="ko-KR" altLang="en-US" sz="700" dirty="0">
                <a:latin typeface="+mn-ea"/>
              </a:rPr>
              <a:t>안전관리비</a:t>
            </a:r>
            <a:endParaRPr lang="en-US" altLang="ko-KR" sz="700" dirty="0">
              <a:latin typeface="+mn-ea"/>
            </a:endParaRPr>
          </a:p>
          <a:p>
            <a:pPr>
              <a:lnSpc>
                <a:spcPct val="200000"/>
              </a:lnSpc>
            </a:pPr>
            <a:r>
              <a:rPr lang="ko-KR" altLang="en-US" sz="700" dirty="0">
                <a:latin typeface="+mn-ea"/>
              </a:rPr>
              <a:t>재료비</a:t>
            </a:r>
            <a:endParaRPr lang="en-US" altLang="ko-KR" sz="700" dirty="0">
              <a:latin typeface="+mn-ea"/>
            </a:endParaRPr>
          </a:p>
          <a:p>
            <a:pPr>
              <a:lnSpc>
                <a:spcPct val="200000"/>
              </a:lnSpc>
            </a:pPr>
            <a:r>
              <a:rPr lang="ko-KR" altLang="en-US" sz="700" dirty="0" err="1">
                <a:latin typeface="+mn-ea"/>
              </a:rPr>
              <a:t>노무비</a:t>
            </a:r>
            <a:endParaRPr lang="en-US" altLang="ko-KR" sz="700" dirty="0">
              <a:latin typeface="+mn-ea"/>
            </a:endParaRPr>
          </a:p>
          <a:p>
            <a:pPr>
              <a:lnSpc>
                <a:spcPct val="200000"/>
              </a:lnSpc>
            </a:pPr>
            <a:r>
              <a:rPr lang="ko-KR" altLang="en-US" sz="700" dirty="0">
                <a:latin typeface="+mn-ea"/>
              </a:rPr>
              <a:t>경비</a:t>
            </a:r>
            <a:endParaRPr lang="en-US" altLang="ko-KR" sz="700" dirty="0">
              <a:latin typeface="+mn-ea"/>
            </a:endParaRPr>
          </a:p>
          <a:p>
            <a:pPr>
              <a:lnSpc>
                <a:spcPct val="200000"/>
              </a:lnSpc>
            </a:pPr>
            <a:r>
              <a:rPr lang="ko-KR" altLang="en-US" sz="700" dirty="0" err="1">
                <a:latin typeface="+mn-ea"/>
              </a:rPr>
              <a:t>무가가치세</a:t>
            </a:r>
            <a:endParaRPr lang="en-US" altLang="ko-KR" sz="700" dirty="0">
              <a:latin typeface="+mn-ea"/>
            </a:endParaRPr>
          </a:p>
          <a:p>
            <a:pPr>
              <a:lnSpc>
                <a:spcPct val="200000"/>
              </a:lnSpc>
            </a:pPr>
            <a:r>
              <a:rPr lang="ko-KR" altLang="en-US" sz="700" dirty="0" err="1">
                <a:latin typeface="+mn-ea"/>
              </a:rPr>
              <a:t>품질관리비</a:t>
            </a:r>
            <a:endParaRPr lang="en-US" altLang="ko-KR"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500106"/>
            <a:ext cx="1784088" cy="1938992"/>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500106"/>
            <a:ext cx="2630093" cy="1941480"/>
            <a:chOff x="701175" y="1835481"/>
            <a:chExt cx="2630093" cy="19414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5622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776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3609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0" name="TextBox 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모서리가 둥근 직사각형 60"/>
          <p:cNvSpPr/>
          <p:nvPr/>
        </p:nvSpPr>
        <p:spPr>
          <a:xfrm>
            <a:off x="705041" y="1785561"/>
            <a:ext cx="2652743" cy="1033314"/>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793811" y="1883844"/>
            <a:ext cx="2475203" cy="86177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smtClean="0">
                <a:solidFill>
                  <a:schemeClr val="tx1">
                    <a:lumMod val="85000"/>
                    <a:lumOff val="15000"/>
                  </a:schemeClr>
                </a:solidFill>
                <a:latin typeface="맑은 고딕" panose="020B0503020000020004" pitchFamily="50" charset="-127"/>
              </a:rPr>
              <a:t>유의사항 </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기획재정부</a:t>
            </a:r>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계약예규</a:t>
            </a:r>
            <a:r>
              <a:rPr lang="ko-KR" altLang="en-US" sz="700" dirty="0">
                <a:solidFill>
                  <a:schemeClr val="tx1">
                    <a:lumMod val="85000"/>
                    <a:lumOff val="15000"/>
                  </a:schemeClr>
                </a:solidFill>
                <a:latin typeface="맑은 고딕" panose="020B0503020000020004" pitchFamily="50" charset="-127"/>
              </a:rPr>
              <a:t> 정부 입찰</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계약 집행기준 제</a:t>
            </a:r>
            <a:r>
              <a:rPr lang="en-US" altLang="ko-KR" sz="700" dirty="0">
                <a:solidFill>
                  <a:schemeClr val="tx1">
                    <a:lumMod val="85000"/>
                    <a:lumOff val="15000"/>
                  </a:schemeClr>
                </a:solidFill>
                <a:latin typeface="맑은 고딕" panose="020B0503020000020004" pitchFamily="50" charset="-127"/>
              </a:rPr>
              <a:t>2</a:t>
            </a:r>
            <a:r>
              <a:rPr lang="ko-KR" altLang="en-US" sz="700" dirty="0">
                <a:solidFill>
                  <a:schemeClr val="tx1">
                    <a:lumMod val="85000"/>
                    <a:lumOff val="15000"/>
                  </a:schemeClr>
                </a:solidFill>
                <a:latin typeface="맑은 고딕" panose="020B0503020000020004" pitchFamily="50" charset="-127"/>
              </a:rPr>
              <a:t>조의</a:t>
            </a:r>
            <a:r>
              <a:rPr lang="en-US" altLang="ko-KR" sz="700" dirty="0">
                <a:solidFill>
                  <a:schemeClr val="tx1">
                    <a:lumMod val="85000"/>
                    <a:lumOff val="15000"/>
                  </a:schemeClr>
                </a:solidFill>
                <a:latin typeface="맑은 고딕" panose="020B0503020000020004" pitchFamily="50" charset="-127"/>
              </a:rPr>
              <a:t>5(</a:t>
            </a:r>
            <a:r>
              <a:rPr lang="ko-KR" altLang="en-US" sz="700" dirty="0" err="1">
                <a:solidFill>
                  <a:schemeClr val="tx1">
                    <a:lumMod val="85000"/>
                    <a:lumOff val="15000"/>
                  </a:schemeClr>
                </a:solidFill>
                <a:latin typeface="맑은 고딕" panose="020B0503020000020004" pitchFamily="50" charset="-127"/>
              </a:rPr>
              <a:t>순공사원가</a:t>
            </a:r>
            <a:r>
              <a:rPr lang="ko-KR" altLang="en-US" sz="700" dirty="0">
                <a:solidFill>
                  <a:schemeClr val="tx1">
                    <a:lumMod val="85000"/>
                    <a:lumOff val="15000"/>
                  </a:schemeClr>
                </a:solidFill>
                <a:latin typeface="맑은 고딕" panose="020B0503020000020004" pitchFamily="50" charset="-127"/>
              </a:rPr>
              <a:t> 기준 등의 공고</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및 적격심사기준 제</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조</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심사방법</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에 따라 예정가격이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억원 미만인 공사의 경우 예정가격 중 재료비</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노무비</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경비 및 이에 대한 부가가치세를 합산한 금액의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분의 </a:t>
            </a:r>
            <a:r>
              <a:rPr lang="en-US" altLang="ko-KR" sz="700" dirty="0">
                <a:solidFill>
                  <a:schemeClr val="tx1">
                    <a:lumMod val="85000"/>
                    <a:lumOff val="15000"/>
                  </a:schemeClr>
                </a:solidFill>
                <a:latin typeface="맑은 고딕" panose="020B0503020000020004" pitchFamily="50" charset="-127"/>
              </a:rPr>
              <a:t>98</a:t>
            </a:r>
            <a:r>
              <a:rPr lang="ko-KR" altLang="en-US" sz="700" dirty="0">
                <a:solidFill>
                  <a:schemeClr val="tx1">
                    <a:lumMod val="85000"/>
                    <a:lumOff val="15000"/>
                  </a:schemeClr>
                </a:solidFill>
                <a:latin typeface="맑은 고딕" panose="020B0503020000020004" pitchFamily="50" charset="-127"/>
              </a:rPr>
              <a:t>미만으로 입찰한 자는 낙찰자로 결정하지 않습니다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단서신설</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20.4.7.〉</a:t>
            </a:r>
          </a:p>
        </p:txBody>
      </p:sp>
      <p:sp>
        <p:nvSpPr>
          <p:cNvPr id="63" name="타원 62"/>
          <p:cNvSpPr/>
          <p:nvPr/>
        </p:nvSpPr>
        <p:spPr>
          <a:xfrm>
            <a:off x="789853" y="18741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flipV="1">
            <a:off x="3138674" y="192269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타원 98">
            <a:extLst>
              <a:ext uri="{FF2B5EF4-FFF2-40B4-BE49-F238E27FC236}">
                <a16:creationId xmlns:a16="http://schemas.microsoft.com/office/drawing/2014/main" id="{37A7FF4F-0EAA-1463-560A-D5EC24416103}"/>
              </a:ext>
            </a:extLst>
          </p:cNvPr>
          <p:cNvSpPr/>
          <p:nvPr/>
        </p:nvSpPr>
        <p:spPr>
          <a:xfrm>
            <a:off x="646322" y="187211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193315993"/>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 name="TextBox 1">
            <a:extLst>
              <a:ext uri="{FF2B5EF4-FFF2-40B4-BE49-F238E27FC236}">
                <a16:creationId xmlns:a16="http://schemas.microsoft.com/office/drawing/2014/main" id="{D2898AB1-8736-AB97-26CD-6A60F05FD8FF}"/>
              </a:ext>
            </a:extLst>
          </p:cNvPr>
          <p:cNvSpPr txBox="1"/>
          <p:nvPr/>
        </p:nvSpPr>
        <p:spPr>
          <a:xfrm>
            <a:off x="458117" y="811270"/>
            <a:ext cx="299658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dmt_BrprcInfo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449152">
                  <a:extLst>
                    <a:ext uri="{9D8B030D-6E8A-4147-A177-3AD203B41FA5}">
                      <a16:colId xmlns:a16="http://schemas.microsoft.com/office/drawing/2014/main" val="20004"/>
                    </a:ext>
                  </a:extLst>
                </a:gridCol>
                <a:gridCol w="232427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57920">
                <a:tc rowSpan="2">
                  <a:txBody>
                    <a:bodyPr/>
                    <a:lstStyle/>
                    <a:p>
                      <a:pPr latinLnBrk="1"/>
                      <a:r>
                        <a:rPr lang="ko-KR" altLang="en-US" sz="800" dirty="0" err="1">
                          <a:latin typeface="+mn-ea"/>
                          <a:ea typeface="+mn-ea"/>
                        </a:rPr>
                        <a:t>사정율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latinLnBrk="1"/>
                      <a:r>
                        <a:rPr lang="ko-KR" altLang="en-US" sz="800" dirty="0" err="1">
                          <a:latin typeface="+mn-ea"/>
                          <a:ea typeface="+mn-ea"/>
                        </a:rPr>
                        <a:t>사정율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낙찰하한율이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이상일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lang="en-US" altLang="ko-KR" sz="800" dirty="0" err="1">
                          <a:latin typeface="+mn-ea"/>
                          <a:ea typeface="+mn-ea"/>
                        </a:rPr>
                        <a:t>assmLlmtRt</a:t>
                      </a:r>
                      <a:r>
                        <a:rPr lang="en-US" altLang="ko-KR" sz="800" dirty="0">
                          <a:latin typeface="+mn-ea"/>
                          <a:ea typeface="+mn-ea"/>
                        </a:rPr>
                        <a:t> ~ </a:t>
                      </a:r>
                      <a:r>
                        <a:rPr lang="en-US" altLang="ko-KR" sz="800" dirty="0" err="1">
                          <a:latin typeface="+mn-ea"/>
                          <a:ea typeface="+mn-ea"/>
                        </a:rPr>
                        <a:t>brprcCmpttnScpRt</a:t>
                      </a:r>
                      <a:r>
                        <a:rPr lang="en-US" altLang="ko-KR" sz="800" dirty="0">
                          <a:latin typeface="+mn-ea"/>
                          <a:ea typeface="+mn-ea"/>
                        </a:rPr>
                        <a:t>”</a:t>
                      </a:r>
                      <a:r>
                        <a:rPr lang="ko-KR" altLang="en-US" sz="800" dirty="0">
                          <a:latin typeface="+mn-ea"/>
                          <a:ea typeface="+mn-ea"/>
                        </a:rPr>
                        <a:t>로 표기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vMerge="1">
                  <a:txBody>
                    <a:bodyPr/>
                    <a:lstStyle/>
                    <a:p>
                      <a:pPr latinLnBrk="1"/>
                      <a:endParaRPr lang="ko-KR" altLang="en-US"/>
                    </a:p>
                  </a:txBody>
                  <a:tcPr/>
                </a:tc>
                <a:tc>
                  <a:txBody>
                    <a:bodyPr/>
                    <a:lstStyle/>
                    <a:p>
                      <a:pPr latinLnBrk="1"/>
                      <a:r>
                        <a:rPr lang="en-US" altLang="ko-KR" sz="800" dirty="0" err="1">
                          <a:latin typeface="+mn-ea"/>
                          <a:ea typeface="+mn-ea"/>
                        </a:rPr>
                        <a:t>brprcCmpttnScpRt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294979047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낙찰하안율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cfmtnItmexpRt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err="1">
                          <a:latin typeface="+mn-ea"/>
                          <a:ea typeface="+mn-ea"/>
                        </a:rPr>
                        <a:t>불확정비목비율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indtmnItmexpRt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불확정비목비율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Box 5">
            <a:extLst>
              <a:ext uri="{FF2B5EF4-FFF2-40B4-BE49-F238E27FC236}">
                <a16:creationId xmlns:a16="http://schemas.microsoft.com/office/drawing/2014/main" id="{B096DA34-FEDD-CFEA-8271-D1A2E345E966}"/>
              </a:ext>
            </a:extLst>
          </p:cNvPr>
          <p:cNvSpPr txBox="1"/>
          <p:nvPr/>
        </p:nvSpPr>
        <p:spPr>
          <a:xfrm>
            <a:off x="458117" y="2745984"/>
            <a:ext cx="315848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dlt_BrprcInfoItitb</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BA69F1E6-A082-F4FD-F602-FB1F894A2CB6}"/>
              </a:ext>
            </a:extLst>
          </p:cNvPr>
          <p:cNvGraphicFramePr>
            <a:graphicFrameLocks noGrp="1"/>
          </p:cNvGraphicFramePr>
          <p:nvPr/>
        </p:nvGraphicFramePr>
        <p:xfrm>
          <a:off x="452999" y="3029738"/>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항목번호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재고번호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규격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a:latin typeface="+mn-ea"/>
                          <a:ea typeface="+mn-ea"/>
                        </a:rPr>
                        <a:t>기초예비가격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사정율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사정율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41705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낙찰하한율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1684842"/>
                  </a:ext>
                </a:extLst>
              </a:tr>
            </a:tbl>
          </a:graphicData>
        </a:graphic>
      </p:graphicFrame>
      <p:sp>
        <p:nvSpPr>
          <p:cNvPr id="14" name="Text Box 73">
            <a:extLst>
              <a:ext uri="{FF2B5EF4-FFF2-40B4-BE49-F238E27FC236}">
                <a16:creationId xmlns:a16="http://schemas.microsoft.com/office/drawing/2014/main" id="{3F4C11C5-FAE2-202D-5180-0A92672DE98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936416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34</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92124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기초예비가격</a:t>
            </a:r>
            <a:r>
              <a:rPr lang="en-US" altLang="ko-KR" sz="900" b="1" dirty="0">
                <a:solidFill>
                  <a:prstClr val="black"/>
                </a:solidFill>
              </a:rPr>
              <a:t>(</a:t>
            </a:r>
            <a:r>
              <a:rPr lang="ko-KR" altLang="en-US" sz="900" b="1" dirty="0">
                <a:solidFill>
                  <a:prstClr val="black"/>
                </a:solidFill>
              </a:rPr>
              <a:t>공사</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BrprcInfo</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4848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llmtAmtRt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상한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ulprcRt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낙찰하한율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국민건강보험료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nthtIspm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국민건강보험료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국민연금보험료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npnIspm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국민연금보험료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평가기준금액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evlCrtrAmt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평가기준금액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토목기초금액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pbwksBscsAmt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토목기초금액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건축기초금액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archBscsAmt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건출기초금액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노무기준율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노구기준율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034400"/>
                  </a:ext>
                </a:extLst>
              </a:tr>
              <a:tr h="0">
                <a:tc>
                  <a:txBody>
                    <a:bodyPr/>
                    <a:lstStyle/>
                    <a:p>
                      <a:pPr latinLnBrk="1"/>
                      <a:r>
                        <a:rPr lang="ko-KR" altLang="en-US" sz="800" dirty="0">
                          <a:latin typeface="+mn-ea"/>
                          <a:ea typeface="+mn-ea"/>
                        </a:rPr>
                        <a:t>기타경비기준율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etcEpsStdrt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기타경비기준율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일반관리비기준비</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gnadcoCrtrRt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일반관리비기준비</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이윤기준율</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pfStdrt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이윤기준율</a:t>
                      </a:r>
                      <a:r>
                        <a:rPr lang="en-US" altLang="ko-KR" sz="800" dirty="0">
                          <a:latin typeface="+mn-ea"/>
                          <a:ea typeface="+mn-ea"/>
                        </a:rPr>
                        <a:t>(%)</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aplcnLvdffCfc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latinLnBrk="1"/>
                      <a:r>
                        <a:rPr lang="ko-KR" altLang="en-US" sz="800" dirty="0">
                          <a:latin typeface="+mn-ea"/>
                          <a:ea typeface="+mn-ea"/>
                        </a:rPr>
                        <a:t>요양보험료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rcprIspm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요양보험료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003859"/>
                  </a:ext>
                </a:extLst>
              </a:tr>
              <a:tr h="0">
                <a:tc>
                  <a:txBody>
                    <a:bodyPr/>
                    <a:lstStyle/>
                    <a:p>
                      <a:pPr latinLnBrk="1"/>
                      <a:r>
                        <a:rPr lang="ko-KR" altLang="en-US" sz="800" dirty="0">
                          <a:latin typeface="+mn-ea"/>
                          <a:ea typeface="+mn-ea"/>
                        </a:rPr>
                        <a:t>산업안전보건관리비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oshmco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산업안전보건관리비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a:latin typeface="+mn-ea"/>
                          <a:ea typeface="+mn-ea"/>
                        </a:rPr>
                        <a:t>퇴직급여충당금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rtrmSlryApamt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퇴직급여충당금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a:latin typeface="+mn-ea"/>
                          <a:ea typeface="+mn-ea"/>
                        </a:rPr>
                        <a:t>퇴직공제부금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rmcfe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퇴직공제부금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583308"/>
                  </a:ext>
                </a:extLst>
              </a:tr>
              <a:tr h="0">
                <a:tc>
                  <a:txBody>
                    <a:bodyPr/>
                    <a:lstStyle/>
                    <a:p>
                      <a:pPr latinLnBrk="1"/>
                      <a:r>
                        <a:rPr lang="ko-KR" altLang="en-US" sz="800" dirty="0">
                          <a:latin typeface="+mn-ea"/>
                          <a:ea typeface="+mn-ea"/>
                        </a:rPr>
                        <a:t>안전관리비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sftyMnco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안전관리비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83871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mtco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a:latin typeface="+mn-ea"/>
                          <a:ea typeface="+mn-ea"/>
                        </a:rPr>
                        <a:t>노무비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노무비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경비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gnadcoUseAmt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a:latin typeface="+mn-ea"/>
                          <a:ea typeface="+mn-ea"/>
                        </a:rPr>
                        <a:t>부가가치세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vatAmt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부가가치세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r h="0">
                <a:tc>
                  <a:txBody>
                    <a:bodyPr/>
                    <a:lstStyle/>
                    <a:p>
                      <a:pPr latinLnBrk="1"/>
                      <a:r>
                        <a:rPr lang="ko-KR" altLang="en-US" sz="800" dirty="0">
                          <a:latin typeface="+mn-ea"/>
                          <a:ea typeface="+mn-ea"/>
                        </a:rPr>
                        <a:t>품질관리비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7572541"/>
                  </a:ext>
                </a:extLst>
              </a:tr>
            </a:tbl>
          </a:graphicData>
        </a:graphic>
      </p:graphicFrame>
      <p:sp>
        <p:nvSpPr>
          <p:cNvPr id="2" name="TextBox 1">
            <a:extLst>
              <a:ext uri="{FF2B5EF4-FFF2-40B4-BE49-F238E27FC236}">
                <a16:creationId xmlns:a16="http://schemas.microsoft.com/office/drawing/2014/main" id="{5E87C575-0A06-02EE-4755-8816A726AD9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89DF149-1642-7B44-4475-F8010FDDA29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03562567"/>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smtClean="0"/>
              <a:t>업무구분</a:t>
            </a:r>
            <a:r>
              <a:rPr lang="ko-KR" altLang="en-US" dirty="0" smtClean="0"/>
              <a:t> 물품</a:t>
            </a:r>
            <a:r>
              <a:rPr lang="en-US" altLang="ko-KR" dirty="0" smtClean="0"/>
              <a:t>/</a:t>
            </a:r>
            <a:r>
              <a:rPr lang="ko-KR" altLang="en-US" dirty="0" smtClean="0"/>
              <a:t>용역 </a:t>
            </a:r>
            <a:r>
              <a:rPr lang="en-US" altLang="ko-KR" dirty="0" smtClean="0"/>
              <a:t>, </a:t>
            </a:r>
            <a:r>
              <a:rPr lang="ko-KR" altLang="en-US" dirty="0" smtClean="0"/>
              <a:t>입찰방법 </a:t>
            </a:r>
            <a:r>
              <a:rPr lang="ko-KR" altLang="en-US" dirty="0" err="1" smtClean="0"/>
              <a:t>총액제일</a:t>
            </a:r>
            <a:r>
              <a:rPr lang="ko-KR" altLang="en-US" dirty="0" smtClean="0"/>
              <a:t> 때 노출 항목</a:t>
            </a:r>
            <a:r>
              <a:rPr lang="en-US" altLang="ko-KR" dirty="0" smtClean="0"/>
              <a:t/>
            </a:r>
            <a:br>
              <a:rPr lang="en-US" altLang="ko-KR" dirty="0" smtClean="0"/>
            </a:br>
            <a:r>
              <a:rPr lang="en-US" altLang="ko-KR" dirty="0" smtClean="0"/>
              <a:t>- </a:t>
            </a:r>
            <a:r>
              <a:rPr lang="ko-KR" altLang="en-US" dirty="0" err="1">
                <a:solidFill>
                  <a:prstClr val="black"/>
                </a:solidFill>
              </a:rPr>
              <a:t>항</a:t>
            </a:r>
            <a:r>
              <a:rPr lang="ko-KR" altLang="en-US" dirty="0" err="1" smtClean="0">
                <a:solidFill>
                  <a:prstClr val="black"/>
                </a:solidFill>
              </a:rPr>
              <a:t>목명세서</a:t>
            </a:r>
            <a:r>
              <a:rPr lang="en-US" altLang="ko-KR" dirty="0">
                <a:solidFill>
                  <a:prstClr val="black"/>
                </a:solidFill>
              </a:rPr>
              <a:t>(</a:t>
            </a:r>
            <a:r>
              <a:rPr lang="ko-KR" altLang="en-US" dirty="0" err="1">
                <a:solidFill>
                  <a:prstClr val="black"/>
                </a:solidFill>
              </a:rPr>
              <a:t>총액제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a:solidFill>
                  <a:prstClr val="black"/>
                </a:solidFill>
              </a:rPr>
              <a:t>dlt_ItemDtst</a:t>
            </a:r>
            <a:r>
              <a:rPr lang="en-US" altLang="ko-KR" dirty="0" smtClean="0">
                <a:solidFill>
                  <a:prstClr val="black"/>
                </a:solidFill>
              </a:rPr>
              <a:t>)</a:t>
            </a:r>
            <a:endParaRPr lang="en-US" altLang="ko-KR" dirty="0">
              <a:solidFill>
                <a:prstClr val="black"/>
              </a:solidFill>
            </a:endParaRPr>
          </a:p>
          <a:p>
            <a:pPr>
              <a:buFont typeface="+mj-lt"/>
              <a:buAutoNum type="arabicPeriod"/>
            </a:pPr>
            <a:r>
              <a:rPr lang="ko-KR" altLang="en-US" dirty="0" err="1" smtClean="0"/>
              <a:t>업무구분이</a:t>
            </a:r>
            <a:r>
              <a:rPr lang="ko-KR" altLang="en-US" dirty="0" smtClean="0"/>
              <a:t> 물품</a:t>
            </a:r>
            <a:r>
              <a:rPr lang="en-US" altLang="ko-KR" dirty="0" smtClean="0"/>
              <a:t>/</a:t>
            </a:r>
            <a:r>
              <a:rPr lang="ko-KR" altLang="en-US" dirty="0" smtClean="0"/>
              <a:t>용역</a:t>
            </a:r>
            <a:r>
              <a:rPr lang="en-US" altLang="ko-KR" dirty="0" smtClean="0"/>
              <a:t>, </a:t>
            </a:r>
            <a:r>
              <a:rPr lang="ko-KR" altLang="en-US" dirty="0" smtClean="0"/>
              <a:t>입찰방법</a:t>
            </a:r>
            <a:r>
              <a:rPr lang="en-US" altLang="ko-KR" dirty="0" smtClean="0"/>
              <a:t> </a:t>
            </a:r>
            <a:r>
              <a:rPr lang="ko-KR" altLang="en-US" dirty="0" err="1" smtClean="0"/>
              <a:t>단가제일</a:t>
            </a:r>
            <a:r>
              <a:rPr lang="ko-KR" altLang="en-US" dirty="0" smtClean="0"/>
              <a:t> 때 노출 항목 </a:t>
            </a:r>
            <a:r>
              <a:rPr lang="en-US" altLang="ko-KR" dirty="0"/>
              <a:t/>
            </a:r>
            <a:br>
              <a:rPr lang="en-US" altLang="ko-KR" dirty="0"/>
            </a:br>
            <a:r>
              <a:rPr lang="en-US" altLang="ko-KR" dirty="0"/>
              <a:t>- </a:t>
            </a:r>
            <a:r>
              <a:rPr lang="ko-KR" altLang="en-US" dirty="0" err="1">
                <a:solidFill>
                  <a:prstClr val="black"/>
                </a:solidFill>
              </a:rPr>
              <a:t>품목명세서</a:t>
            </a:r>
            <a:r>
              <a:rPr lang="en-US" altLang="ko-KR" dirty="0">
                <a:solidFill>
                  <a:prstClr val="black"/>
                </a:solidFill>
              </a:rPr>
              <a:t>(</a:t>
            </a:r>
            <a:r>
              <a:rPr lang="ko-KR" altLang="en-US" dirty="0" err="1">
                <a:solidFill>
                  <a:prstClr val="black"/>
                </a:solidFill>
              </a:rPr>
              <a:t>단가제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a:solidFill>
                  <a:prstClr val="black"/>
                </a:solidFill>
              </a:rPr>
              <a:t>dlt_ItemDtst</a:t>
            </a:r>
            <a:r>
              <a:rPr lang="en-US" altLang="ko-KR" dirty="0">
                <a:solidFill>
                  <a:prstClr val="black"/>
                </a:solidFill>
              </a:rPr>
              <a:t>)</a:t>
            </a:r>
            <a:endParaRPr lang="ko-KR" altLang="en-US" dirty="0">
              <a:solidFill>
                <a:prstClr val="black"/>
              </a:solidFill>
            </a:endParaRPr>
          </a:p>
          <a:p>
            <a:pPr>
              <a:buFont typeface="+mj-lt"/>
              <a:buAutoNum type="arabicPeriod"/>
            </a:pPr>
            <a:r>
              <a:rPr lang="ko-KR" altLang="en-US" dirty="0" err="1" smtClean="0"/>
              <a:t>군급</a:t>
            </a:r>
            <a:r>
              <a:rPr lang="en-US" altLang="ko-KR" dirty="0"/>
              <a:t>-</a:t>
            </a:r>
            <a:r>
              <a:rPr lang="ko-KR" altLang="en-US" dirty="0" err="1"/>
              <a:t>재고번호</a:t>
            </a:r>
            <a:r>
              <a:rPr lang="ko-KR" altLang="en-US" dirty="0"/>
              <a:t> 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a:solidFill>
                  <a:srgbClr val="000000"/>
                </a:solidFill>
                <a:latin typeface="맑은 고딕" panose="020B0503020000020004" pitchFamily="50" charset="-127"/>
              </a:rPr>
              <a:t>MUI-OP-01-T73</a:t>
            </a:r>
            <a:r>
              <a:rPr lang="en-US" altLang="ko-KR" dirty="0" smtClean="0"/>
              <a:t>)</a:t>
            </a:r>
            <a:r>
              <a:rPr lang="ko-KR" altLang="en-US" dirty="0" smtClean="0"/>
              <a:t>팝업을 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PC) </a:t>
            </a:r>
            <a:r>
              <a:rPr lang="ko-KR" altLang="en-US" sz="700" dirty="0">
                <a:solidFill>
                  <a:srgbClr val="000000"/>
                </a:solidFill>
                <a:latin typeface="맑은 고딕" panose="020B0503020000020004" pitchFamily="50" charset="-127"/>
              </a:rPr>
              <a:t>팝업 </a:t>
            </a:r>
            <a:r>
              <a:rPr lang="ko-KR" altLang="en-US" sz="700" dirty="0" err="1">
                <a:solidFill>
                  <a:srgbClr val="000000"/>
                </a:solidFill>
                <a:latin typeface="맑은 고딕" panose="020B0503020000020004" pitchFamily="50" charset="-127"/>
              </a:rPr>
              <a:t>호출시</a:t>
            </a:r>
            <a:r>
              <a:rPr lang="ko-KR" altLang="en-US" sz="700" dirty="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parameter</a:t>
            </a:r>
            <a:r>
              <a:rPr lang="ko-KR" altLang="en-US" sz="700" dirty="0">
                <a:solidFill>
                  <a:srgbClr val="000000"/>
                </a:solidFill>
                <a:latin typeface="맑은 고딕" panose="020B0503020000020004" pitchFamily="50" charset="-127"/>
              </a:rPr>
              <a:t>값이 없어 조회가 안되는 경우 에러메세지가 나오고 있음</a:t>
            </a:r>
            <a:r>
              <a:rPr lang="en-US" altLang="ko-KR" sz="700" dirty="0">
                <a:solidFill>
                  <a:srgbClr val="000000"/>
                </a:solidFill>
                <a:latin typeface="맑은 고딕" panose="020B0503020000020004" pitchFamily="50" charset="-127"/>
              </a:rPr>
              <a:t>.</a:t>
            </a:r>
            <a:endParaRPr lang="en-US" altLang="ko-KR" sz="700" dirty="0"/>
          </a:p>
          <a:p>
            <a:pPr>
              <a:buFont typeface="+mj-lt"/>
              <a:buAutoNum type="arabicPeriod"/>
            </a:pPr>
            <a:r>
              <a:rPr lang="ko-KR" altLang="en-US" dirty="0" smtClean="0"/>
              <a:t>조달요구번호 </a:t>
            </a:r>
            <a:r>
              <a:rPr lang="ko-KR" altLang="en-US" dirty="0"/>
              <a:t>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smtClean="0">
                <a:solidFill>
                  <a:srgbClr val="000000"/>
                </a:solidFill>
                <a:latin typeface="맑은 고딕" panose="020B0503020000020004" pitchFamily="50" charset="-127"/>
              </a:rPr>
              <a:t>MUI-OP-01-T73)</a:t>
            </a:r>
            <a:r>
              <a:rPr lang="en-US" altLang="ko-KR" dirty="0" smtClean="0"/>
              <a:t> </a:t>
            </a:r>
            <a:r>
              <a:rPr lang="ko-KR" altLang="en-US" dirty="0"/>
              <a:t>팝업을 </a:t>
            </a:r>
            <a:r>
              <a:rPr lang="ko-KR" altLang="en-US" dirty="0" smtClean="0"/>
              <a:t>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a:solidFill>
                  <a:srgbClr val="000000"/>
                </a:solidFill>
                <a:latin typeface="맑은 고딕" panose="020B0503020000020004" pitchFamily="50" charset="-127"/>
              </a:rPr>
              <a:t>- </a:t>
            </a:r>
            <a:r>
              <a:rPr lang="en-US" altLang="ko-KR" sz="700" dirty="0" smtClean="0">
                <a:solidFill>
                  <a:srgbClr val="000000"/>
                </a:solidFill>
                <a:latin typeface="맑은 고딕" panose="020B0503020000020004" pitchFamily="50" charset="-127"/>
              </a:rPr>
              <a:t>PC) </a:t>
            </a:r>
            <a:r>
              <a:rPr lang="ko-KR" altLang="en-US" sz="700" dirty="0" smtClean="0">
                <a:solidFill>
                  <a:srgbClr val="000000"/>
                </a:solidFill>
                <a:latin typeface="맑은 고딕" panose="020B0503020000020004" pitchFamily="50" charset="-127"/>
              </a:rPr>
              <a:t>팝업 </a:t>
            </a:r>
            <a:r>
              <a:rPr lang="ko-KR" altLang="en-US" sz="700" dirty="0" err="1" smtClean="0">
                <a:solidFill>
                  <a:srgbClr val="000000"/>
                </a:solidFill>
                <a:latin typeface="맑은 고딕" panose="020B0503020000020004" pitchFamily="50" charset="-127"/>
              </a:rPr>
              <a:t>호출시</a:t>
            </a:r>
            <a:r>
              <a:rPr lang="ko-KR" altLang="en-US" sz="700" dirty="0" smtClean="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p</a:t>
            </a:r>
            <a:r>
              <a:rPr lang="en-US" altLang="ko-KR" sz="700" dirty="0" smtClean="0">
                <a:solidFill>
                  <a:srgbClr val="000000"/>
                </a:solidFill>
                <a:latin typeface="맑은 고딕" panose="020B0503020000020004" pitchFamily="50" charset="-127"/>
              </a:rPr>
              <a:t>arameter</a:t>
            </a:r>
            <a:r>
              <a:rPr lang="ko-KR" altLang="en-US" sz="700" dirty="0" smtClean="0">
                <a:solidFill>
                  <a:srgbClr val="000000"/>
                </a:solidFill>
                <a:latin typeface="맑은 고딕" panose="020B0503020000020004" pitchFamily="50" charset="-127"/>
              </a:rPr>
              <a:t>값이 없어 조회가 안되는 </a:t>
            </a:r>
            <a:r>
              <a:rPr lang="ko-KR" altLang="en-US" sz="700" dirty="0">
                <a:solidFill>
                  <a:srgbClr val="000000"/>
                </a:solidFill>
                <a:latin typeface="맑은 고딕" panose="020B0503020000020004" pitchFamily="50" charset="-127"/>
              </a:rPr>
              <a:t>경우 에러메세지가 나오고 있음</a:t>
            </a:r>
            <a:r>
              <a:rPr lang="en-US" altLang="ko-KR" sz="700" dirty="0">
                <a:solidFill>
                  <a:srgbClr val="000000"/>
                </a:solidFill>
                <a:latin typeface="맑은 고딕" panose="020B0503020000020004" pitchFamily="50" charset="-127"/>
              </a:rPr>
              <a:t>.</a:t>
            </a:r>
            <a:endParaRPr lang="en-US" altLang="ko-KR" sz="700" dirty="0"/>
          </a:p>
          <a:p>
            <a:pPr>
              <a:buFont typeface="+mj-lt"/>
              <a:buAutoNum type="arabicPeriod"/>
            </a:pPr>
            <a:endParaRPr lang="en-US" altLang="ko-KR" sz="700" dirty="0"/>
          </a:p>
          <a:p>
            <a:pPr marL="0" indent="0">
              <a:buNone/>
            </a:pP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970026"/>
            <a:chOff x="701175" y="1527996"/>
            <a:chExt cx="2660475" cy="3970026"/>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6478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3662541"/>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ko-KR" altLang="en-US" sz="700" dirty="0">
                <a:latin typeface="+mn-ea"/>
              </a:endParaRP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적용장비명</a:t>
              </a:r>
              <a:endParaRPr lang="ko-KR" altLang="en-US" sz="700" dirty="0">
                <a:latin typeface="+mn-ea"/>
              </a:endParaRPr>
            </a:p>
            <a:p>
              <a:pPr>
                <a:lnSpc>
                  <a:spcPct val="200000"/>
                </a:lnSpc>
              </a:pPr>
              <a:r>
                <a:rPr lang="ko-KR" altLang="en-US" sz="700" dirty="0" err="1">
                  <a:latin typeface="+mn-ea"/>
                </a:rPr>
                <a:t>납지</a:t>
              </a:r>
              <a:endParaRPr lang="ko-KR" altLang="en-US" sz="700" dirty="0">
                <a:latin typeface="+mn-ea"/>
              </a:endParaRPr>
            </a:p>
            <a:p>
              <a:pPr>
                <a:lnSpc>
                  <a:spcPct val="200000"/>
                </a:lnSpc>
              </a:pPr>
              <a:r>
                <a:rPr lang="ko-KR" altLang="en-US" sz="700" dirty="0">
                  <a:latin typeface="+mn-ea"/>
                </a:rPr>
                <a:t>단가</a:t>
              </a:r>
            </a:p>
            <a:p>
              <a:pPr>
                <a:lnSpc>
                  <a:spcPct val="200000"/>
                </a:lnSpc>
              </a:pPr>
              <a:r>
                <a:rPr lang="ko-KR" altLang="en-US" sz="700" dirty="0">
                  <a:latin typeface="+mn-ea"/>
                </a:rPr>
                <a:t>품명</a:t>
              </a: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예산구분</a:t>
              </a:r>
              <a:endParaRPr lang="ko-KR" altLang="en-US" sz="700" dirty="0">
                <a:latin typeface="+mn-ea"/>
              </a:endParaRPr>
            </a:p>
            <a:p>
              <a:pPr>
                <a:lnSpc>
                  <a:spcPct val="200000"/>
                </a:lnSpc>
              </a:pPr>
              <a:r>
                <a:rPr lang="ko-KR" altLang="en-US" sz="700" dirty="0">
                  <a:latin typeface="+mn-ea"/>
                </a:rPr>
                <a:t>납기</a:t>
              </a:r>
            </a:p>
            <a:p>
              <a:pPr>
                <a:lnSpc>
                  <a:spcPct val="200000"/>
                </a:lnSpc>
              </a:pPr>
              <a:r>
                <a:rPr lang="ko-KR" altLang="en-US" sz="700" dirty="0">
                  <a:latin typeface="+mn-ea"/>
                </a:rPr>
                <a:t>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362823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err="1">
                  <a:latin typeface="+mn-ea"/>
                </a:rPr>
                <a:t>소요군검사</a:t>
              </a:r>
              <a:endParaRPr lang="ko-KR" altLang="en-US" sz="700" dirty="0">
                <a:latin typeface="+mn-ea"/>
              </a:endParaRPr>
            </a:p>
            <a:p>
              <a:pPr>
                <a:lnSpc>
                  <a:spcPct val="200000"/>
                </a:lnSpc>
              </a:pPr>
              <a:r>
                <a:rPr lang="en-US" altLang="ko-KR" sz="700" dirty="0">
                  <a:latin typeface="+mn-ea"/>
                </a:rPr>
                <a:t>MB201639962A001</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31,608,000.00 </a:t>
              </a:r>
              <a:r>
                <a:rPr lang="ko-KR" altLang="en-US" sz="700" dirty="0">
                  <a:latin typeface="+mn-ea"/>
                </a:rPr>
                <a:t>원</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ko-KR" altLang="en-US"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2016-11-25</a:t>
              </a:r>
            </a:p>
            <a:p>
              <a:pPr algn="r">
                <a:lnSpc>
                  <a:spcPct val="200000"/>
                </a:lnSpc>
              </a:pPr>
              <a:r>
                <a:rPr lang="en-US" altLang="ko-KR" sz="700" dirty="0">
                  <a:latin typeface="+mn-ea"/>
                </a:rPr>
                <a:t>31,608,000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1835481"/>
              <a:ext cx="2630093" cy="3650578"/>
              <a:chOff x="701175" y="1835481"/>
              <a:chExt cx="2630093" cy="3650578"/>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335857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2585323"/>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품명</a:t>
            </a: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814470" cy="2585323"/>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endParaRPr lang="ko-KR" altLang="en-US" sz="700" dirty="0">
              <a:latin typeface="+mn-ea"/>
            </a:endParaRP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835481"/>
            <a:ext cx="2630093" cy="2576880"/>
            <a:chOff x="701175" y="1835481"/>
            <a:chExt cx="2630093" cy="25768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5" name="TextBox 64">
            <a:extLst>
              <a:ext uri="{FF2B5EF4-FFF2-40B4-BE49-F238E27FC236}">
                <a16:creationId xmlns:a16="http://schemas.microsoft.com/office/drawing/2014/main" id="{FFC49AEA-2A8F-250C-A86A-A7751D9706C3}"/>
              </a:ext>
            </a:extLst>
          </p:cNvPr>
          <p:cNvSpPr txBox="1"/>
          <p:nvPr/>
        </p:nvSpPr>
        <p:spPr>
          <a:xfrm>
            <a:off x="3882481" y="4581218"/>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6244568" y="4694549"/>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3823603" y="4888704"/>
            <a:ext cx="792000" cy="13435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3910666" y="4888703"/>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p>
        </p:txBody>
      </p:sp>
      <p:sp>
        <p:nvSpPr>
          <p:cNvPr id="71" name="TextBox 70">
            <a:extLst>
              <a:ext uri="{FF2B5EF4-FFF2-40B4-BE49-F238E27FC236}">
                <a16:creationId xmlns:a16="http://schemas.microsoft.com/office/drawing/2014/main" id="{FFC49AEA-2A8F-250C-A86A-A7751D9706C3}"/>
              </a:ext>
            </a:extLst>
          </p:cNvPr>
          <p:cNvSpPr txBox="1"/>
          <p:nvPr/>
        </p:nvSpPr>
        <p:spPr>
          <a:xfrm>
            <a:off x="4667515" y="4888703"/>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73" name="그룹 72"/>
          <p:cNvGrpSpPr/>
          <p:nvPr/>
        </p:nvGrpSpPr>
        <p:grpSpPr>
          <a:xfrm>
            <a:off x="3821510" y="4888703"/>
            <a:ext cx="2630093" cy="1288440"/>
            <a:chOff x="701175" y="1835481"/>
            <a:chExt cx="2630093" cy="12884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4537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타원 101">
            <a:extLst>
              <a:ext uri="{FF2B5EF4-FFF2-40B4-BE49-F238E27FC236}">
                <a16:creationId xmlns:a16="http://schemas.microsoft.com/office/drawing/2014/main" id="{37A7FF4F-0EAA-1463-560A-D5EC24416103}"/>
              </a:ext>
            </a:extLst>
          </p:cNvPr>
          <p:cNvSpPr/>
          <p:nvPr/>
        </p:nvSpPr>
        <p:spPr>
          <a:xfrm>
            <a:off x="3689399" y="53330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56034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336870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5957256" y="534320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195064102"/>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en-US" altLang="ko-KR" dirty="0"/>
              <a:t>‘</a:t>
            </a:r>
            <a:r>
              <a:rPr lang="ko-KR" altLang="en-US" b="1" dirty="0">
                <a:solidFill>
                  <a:srgbClr val="FF0000"/>
                </a:solidFill>
              </a:rPr>
              <a:t>통합사업관리시스템</a:t>
            </a:r>
            <a:r>
              <a:rPr lang="en-US" altLang="ko-KR" dirty="0"/>
              <a:t>’</a:t>
            </a:r>
            <a:r>
              <a:rPr lang="ko-KR" altLang="en-US" dirty="0"/>
              <a:t>을 통해 인터페이스 수신 받은 공고일 경우 노출되는 상세 목록 그리드 </a:t>
            </a:r>
            <a:r>
              <a:rPr lang="en-US" altLang="ko-KR" dirty="0" smtClean="0"/>
              <a:t>(</a:t>
            </a:r>
            <a:r>
              <a:rPr lang="ko-KR" altLang="en-US" dirty="0" err="1" smtClean="0"/>
              <a:t>방위사업청</a:t>
            </a:r>
            <a:r>
              <a:rPr lang="en-US" altLang="ko-KR" dirty="0"/>
              <a:t>, </a:t>
            </a:r>
            <a:r>
              <a:rPr lang="ko-KR" altLang="en-US" dirty="0"/>
              <a:t>조달본부</a:t>
            </a:r>
            <a:r>
              <a:rPr lang="en-US" altLang="ko-KR" dirty="0"/>
              <a:t>)</a:t>
            </a:r>
            <a:br>
              <a:rPr lang="en-US" altLang="ko-KR" dirty="0"/>
            </a:br>
            <a:r>
              <a:rPr lang="en-US" altLang="ko-KR" dirty="0" smtClean="0"/>
              <a:t>- </a:t>
            </a:r>
            <a:r>
              <a:rPr lang="ko-KR" altLang="en-US" dirty="0">
                <a:solidFill>
                  <a:prstClr val="black"/>
                </a:solidFill>
              </a:rPr>
              <a:t>품목명세서상세</a:t>
            </a:r>
            <a:r>
              <a:rPr lang="en-US" altLang="ko-KR" dirty="0">
                <a:solidFill>
                  <a:prstClr val="black"/>
                </a:solidFill>
              </a:rPr>
              <a:t>(</a:t>
            </a:r>
            <a:r>
              <a:rPr lang="ko-KR" altLang="en-US" dirty="0">
                <a:solidFill>
                  <a:prstClr val="black"/>
                </a:solidFill>
              </a:rPr>
              <a:t>통합사업관리시스템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smtClean="0">
                <a:solidFill>
                  <a:prstClr val="black"/>
                </a:solidFill>
              </a:rPr>
              <a:t>dmt_ItemDtstDtl</a:t>
            </a:r>
            <a:r>
              <a:rPr lang="en-US" altLang="ko-KR" dirty="0">
                <a:solidFill>
                  <a:prstClr val="black"/>
                </a:solidFill>
              </a:rPr>
              <a:t>)</a:t>
            </a:r>
            <a:endParaRPr lang="en-US" altLang="ko-KR" dirty="0" smtClean="0"/>
          </a:p>
          <a:p>
            <a:pPr>
              <a:buFont typeface="+mj-lt"/>
              <a:buAutoNum type="arabicPeriod"/>
            </a:pPr>
            <a:r>
              <a:rPr lang="ko-KR" altLang="en-US" dirty="0" smtClean="0"/>
              <a:t>’</a:t>
            </a:r>
            <a:r>
              <a:rPr lang="ko-KR" altLang="en-US" b="1" dirty="0" err="1" smtClean="0">
                <a:solidFill>
                  <a:srgbClr val="FF0000"/>
                </a:solidFill>
              </a:rPr>
              <a:t>부대조달정보체계</a:t>
            </a:r>
            <a:r>
              <a:rPr lang="ko-KR" altLang="en-US" b="1" dirty="0" err="1" smtClean="0"/>
              <a:t>‘</a:t>
            </a:r>
            <a:r>
              <a:rPr lang="ko-KR" altLang="en-US" dirty="0" err="1" smtClean="0"/>
              <a:t>를</a:t>
            </a:r>
            <a:r>
              <a:rPr lang="ko-KR" altLang="en-US" dirty="0" smtClean="0"/>
              <a:t> 통해 인터페이스 수신 받은 공고일 경우 노출되는 상세 목록 그리드</a:t>
            </a:r>
            <a:endParaRPr lang="en-US" altLang="ko-KR" dirty="0" smtClean="0"/>
          </a:p>
          <a:p>
            <a:pPr>
              <a:buFont typeface="+mj-lt"/>
              <a:buAutoNum type="arabicPeriod"/>
            </a:pPr>
            <a:r>
              <a:rPr lang="ko-KR" altLang="en-US" dirty="0" err="1" smtClean="0"/>
              <a:t>품보형태</a:t>
            </a:r>
            <a:r>
              <a:rPr lang="ko-KR" altLang="en-US" dirty="0" smtClean="0"/>
              <a:t> </a:t>
            </a:r>
            <a:r>
              <a:rPr lang="ko-KR" altLang="en-US" dirty="0"/>
              <a:t>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smtClean="0">
                <a:solidFill>
                  <a:srgbClr val="000000"/>
                </a:solidFill>
                <a:latin typeface="맑은 고딕" panose="020B0503020000020004" pitchFamily="50" charset="-127"/>
              </a:rPr>
              <a:t>MUI-OP-01-T73)</a:t>
            </a:r>
            <a:r>
              <a:rPr lang="en-US" altLang="ko-KR" dirty="0" smtClean="0"/>
              <a:t> </a:t>
            </a:r>
            <a:r>
              <a:rPr lang="ko-KR" altLang="en-US" dirty="0"/>
              <a:t>팝업을 </a:t>
            </a:r>
            <a:r>
              <a:rPr lang="ko-KR" altLang="en-US" dirty="0" smtClean="0"/>
              <a:t>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en-US" altLang="ko-KR" sz="800" dirty="0">
                <a:solidFill>
                  <a:srgbClr val="000000"/>
                </a:solidFill>
                <a:latin typeface="맑은 고딕" panose="020B0503020000020004" pitchFamily="50" charset="-127"/>
              </a:rPr>
              <a:t>PC) </a:t>
            </a:r>
            <a:r>
              <a:rPr lang="ko-KR" altLang="en-US" sz="800" dirty="0">
                <a:solidFill>
                  <a:srgbClr val="000000"/>
                </a:solidFill>
                <a:latin typeface="맑은 고딕" panose="020B0503020000020004" pitchFamily="50" charset="-127"/>
              </a:rPr>
              <a:t>팝업 </a:t>
            </a:r>
            <a:r>
              <a:rPr lang="ko-KR" altLang="en-US" sz="800" dirty="0" err="1">
                <a:solidFill>
                  <a:srgbClr val="000000"/>
                </a:solidFill>
                <a:latin typeface="맑은 고딕" panose="020B0503020000020004" pitchFamily="50" charset="-127"/>
              </a:rPr>
              <a:t>호출시</a:t>
            </a:r>
            <a:r>
              <a:rPr lang="ko-KR" altLang="en-US" sz="800" dirty="0">
                <a:solidFill>
                  <a:srgbClr val="000000"/>
                </a:solidFill>
                <a:latin typeface="맑은 고딕" panose="020B0503020000020004" pitchFamily="50" charset="-127"/>
              </a:rPr>
              <a:t> </a:t>
            </a:r>
            <a:r>
              <a:rPr lang="en-US" altLang="ko-KR" sz="800" dirty="0">
                <a:solidFill>
                  <a:srgbClr val="000000"/>
                </a:solidFill>
                <a:latin typeface="맑은 고딕" panose="020B0503020000020004" pitchFamily="50" charset="-127"/>
              </a:rPr>
              <a:t>parameter</a:t>
            </a:r>
            <a:r>
              <a:rPr lang="ko-KR" altLang="en-US" sz="800" dirty="0">
                <a:solidFill>
                  <a:srgbClr val="000000"/>
                </a:solidFill>
                <a:latin typeface="맑은 고딕" panose="020B0503020000020004" pitchFamily="50" charset="-127"/>
              </a:rPr>
              <a:t>값이 없어 조회가 안되는 경우 에러메세지가 나오고 있음</a:t>
            </a:r>
            <a:r>
              <a:rPr lang="en-US" altLang="ko-KR" sz="800" dirty="0">
                <a:solidFill>
                  <a:srgbClr val="000000"/>
                </a:solidFill>
                <a:latin typeface="맑은 고딕" panose="020B0503020000020004" pitchFamily="50" charset="-127"/>
              </a:rPr>
              <a:t>.</a:t>
            </a:r>
            <a:endParaRPr lang="en-US" altLang="ko-KR" sz="800" dirty="0"/>
          </a:p>
          <a:p>
            <a:pPr>
              <a:buFont typeface="+mj-lt"/>
              <a:buAutoNum type="arabicPeriod"/>
            </a:pP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C49AEA-2A8F-250C-A86A-A7751D9706C3}"/>
              </a:ext>
            </a:extLst>
          </p:cNvPr>
          <p:cNvSpPr txBox="1"/>
          <p:nvPr/>
        </p:nvSpPr>
        <p:spPr>
          <a:xfrm>
            <a:off x="762146"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3124233" y="1641327"/>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703268" y="1835481"/>
            <a:ext cx="792000" cy="2791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90331" y="1835481"/>
            <a:ext cx="725552" cy="2800767"/>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fontAlgn="ctr"/>
            <a:endParaRPr lang="en-US" altLang="ko-KR" sz="700" dirty="0" smtClean="0"/>
          </a:p>
          <a:p>
            <a:pPr fontAlgn="ctr"/>
            <a:r>
              <a:rPr lang="ko-KR" altLang="ko-KR" sz="700" dirty="0" err="1" smtClean="0"/>
              <a:t>납지</a:t>
            </a:r>
            <a:endParaRPr lang="en-US" altLang="ko-KR" sz="700" dirty="0" smtClean="0"/>
          </a:p>
          <a:p>
            <a:pPr fontAlgn="ctr"/>
            <a:endParaRPr lang="ko-KR" altLang="ko-KR" sz="700" dirty="0"/>
          </a:p>
          <a:p>
            <a:pPr fontAlgn="ctr"/>
            <a:r>
              <a:rPr lang="ko-KR" altLang="ko-KR" sz="700" dirty="0"/>
              <a:t>납기</a:t>
            </a:r>
          </a:p>
          <a:p>
            <a:pPr>
              <a:lnSpc>
                <a:spcPct val="200000"/>
              </a:lnSpc>
            </a:pPr>
            <a:r>
              <a:rPr lang="ko-KR" altLang="en-US" sz="700" dirty="0" smtClean="0">
                <a:latin typeface="+mn-ea"/>
              </a:rPr>
              <a:t>수량</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군구분</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1547180" y="1835481"/>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solidFill>
                <a:srgbClr val="0070C0"/>
              </a:solidFill>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3" name="그룹 72"/>
          <p:cNvGrpSpPr/>
          <p:nvPr/>
        </p:nvGrpSpPr>
        <p:grpSpPr>
          <a:xfrm>
            <a:off x="701175" y="1835481"/>
            <a:ext cx="2630093" cy="2791401"/>
            <a:chOff x="701175" y="1835481"/>
            <a:chExt cx="2630093" cy="2791401"/>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549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7639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9786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1175" y="41934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4121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1175" y="46268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103" name="그룹 102"/>
          <p:cNvGrpSpPr/>
          <p:nvPr/>
        </p:nvGrpSpPr>
        <p:grpSpPr>
          <a:xfrm flipV="1">
            <a:off x="6244568" y="1641327"/>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2" name="직사각형 121"/>
          <p:cNvSpPr/>
          <p:nvPr/>
        </p:nvSpPr>
        <p:spPr>
          <a:xfrm>
            <a:off x="3823603" y="1835482"/>
            <a:ext cx="792000" cy="1731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3910666" y="1835481"/>
            <a:ext cx="725552" cy="1723549"/>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납지</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667515" y="1835481"/>
            <a:ext cx="181447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125" name="그룹 124"/>
          <p:cNvGrpSpPr/>
          <p:nvPr/>
        </p:nvGrpSpPr>
        <p:grpSpPr>
          <a:xfrm>
            <a:off x="3821510" y="1835481"/>
            <a:ext cx="2630093" cy="1731507"/>
            <a:chOff x="701175" y="1835481"/>
            <a:chExt cx="2630093" cy="1731507"/>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356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타원 53">
            <a:extLst>
              <a:ext uri="{FF2B5EF4-FFF2-40B4-BE49-F238E27FC236}">
                <a16:creationId xmlns:a16="http://schemas.microsoft.com/office/drawing/2014/main" id="{37A7FF4F-0EAA-1463-560A-D5EC24416103}"/>
              </a:ext>
            </a:extLst>
          </p:cNvPr>
          <p:cNvSpPr/>
          <p:nvPr/>
        </p:nvSpPr>
        <p:spPr>
          <a:xfrm>
            <a:off x="5871191" y="19899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675399" y="4777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3795734" y="374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7" name="사각형: 둥근 모서리 15">
            <a:extLst>
              <a:ext uri="{FF2B5EF4-FFF2-40B4-BE49-F238E27FC236}">
                <a16:creationId xmlns:a16="http://schemas.microsoft.com/office/drawing/2014/main" id="{E2B61CFB-AD16-68D0-8752-50D9C5E01971}"/>
              </a:ext>
            </a:extLst>
          </p:cNvPr>
          <p:cNvSpPr/>
          <p:nvPr/>
        </p:nvSpPr>
        <p:spPr>
          <a:xfrm>
            <a:off x="2836921" y="229601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0895652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군수품</a:t>
            </a:r>
            <a:r>
              <a:rPr lang="en-US" altLang="ko-KR" dirty="0"/>
              <a:t> </a:t>
            </a:r>
            <a:r>
              <a:rPr lang="ko-KR" altLang="en-US" dirty="0"/>
              <a:t>정보 </a:t>
            </a:r>
            <a:r>
              <a:rPr lang="en-US" altLang="ko-KR" dirty="0"/>
              <a:t>NIIN</a:t>
            </a:r>
            <a:br>
              <a:rPr lang="en-US" altLang="ko-KR" dirty="0"/>
            </a:br>
            <a:r>
              <a:rPr lang="en-US" altLang="ko-KR" dirty="0"/>
              <a:t>- </a:t>
            </a:r>
            <a:r>
              <a:rPr lang="ko-KR" altLang="en-US" dirty="0"/>
              <a:t>페이지 접근 시 </a:t>
            </a:r>
            <a:r>
              <a:rPr lang="en-US" altLang="ko-KR" dirty="0"/>
              <a:t>NIIN</a:t>
            </a:r>
            <a:r>
              <a:rPr lang="ko-KR" altLang="en-US" dirty="0"/>
              <a:t>이 있는 경우</a:t>
            </a:r>
            <a:r>
              <a:rPr lang="en-US" altLang="ko-KR" dirty="0"/>
              <a:t> </a:t>
            </a:r>
            <a:r>
              <a:rPr lang="ko-KR" altLang="en-US" dirty="0"/>
              <a:t>자동 채우기</a:t>
            </a:r>
            <a:r>
              <a:rPr lang="en-US" altLang="ko-KR" dirty="0"/>
              <a:t/>
            </a:r>
            <a:br>
              <a:rPr lang="en-US" altLang="ko-KR" dirty="0"/>
            </a:br>
            <a:r>
              <a:rPr lang="en-US" altLang="ko-KR" dirty="0"/>
              <a:t>- </a:t>
            </a:r>
            <a:r>
              <a:rPr lang="ko-KR" altLang="en-US" dirty="0"/>
              <a:t>다른 탭 페이지에서 </a:t>
            </a:r>
            <a:r>
              <a:rPr lang="en-US" altLang="ko-KR" dirty="0"/>
              <a:t>NIIN </a:t>
            </a:r>
            <a:r>
              <a:rPr lang="ko-KR" altLang="en-US" dirty="0"/>
              <a:t>설정 시 탭에 모두 </a:t>
            </a:r>
            <a:r>
              <a:rPr lang="en-US" altLang="ko-KR" dirty="0"/>
              <a:t>NIIN </a:t>
            </a:r>
            <a:r>
              <a:rPr lang="ko-KR" altLang="en-US" dirty="0"/>
              <a:t>유지</a:t>
            </a:r>
            <a:r>
              <a:rPr lang="en-US" altLang="ko-KR" dirty="0"/>
              <a:t/>
            </a:r>
            <a:br>
              <a:rPr lang="en-US" altLang="ko-KR" dirty="0"/>
            </a:br>
            <a:r>
              <a:rPr lang="en-US" altLang="ko-KR" dirty="0"/>
              <a:t>- </a:t>
            </a:r>
            <a:r>
              <a:rPr lang="ko-KR" altLang="en-US" dirty="0"/>
              <a:t>내용이 있는 경우 삭제</a:t>
            </a:r>
            <a:r>
              <a:rPr lang="en-US" altLang="ko-KR" dirty="0"/>
              <a:t>(X)</a:t>
            </a:r>
            <a:r>
              <a:rPr lang="ko-KR" altLang="en-US" dirty="0"/>
              <a:t> 버튼 활성화</a:t>
            </a:r>
            <a:r>
              <a:rPr lang="en-US" altLang="ko-KR" dirty="0"/>
              <a:t>. </a:t>
            </a:r>
            <a:br>
              <a:rPr lang="en-US" altLang="ko-KR" dirty="0"/>
            </a:br>
            <a:r>
              <a:rPr lang="en-US" altLang="ko-KR" dirty="0"/>
              <a:t>- </a:t>
            </a:r>
            <a:r>
              <a:rPr lang="ko-KR" altLang="en-US" dirty="0"/>
              <a:t>내용이 없는 경우 삭제 버튼 숨김</a:t>
            </a:r>
            <a:endParaRPr lang="en-US" altLang="ko-KR" dirty="0"/>
          </a:p>
          <a:p>
            <a:pPr marL="228600" indent="-228600">
              <a:buFont typeface="+mj-lt"/>
              <a:buAutoNum type="arabicPeriod"/>
            </a:pPr>
            <a:r>
              <a:rPr lang="ko-KR" altLang="en-US" dirty="0"/>
              <a:t>식별정보 데이터 영역</a:t>
            </a:r>
          </a:p>
          <a:p>
            <a:pPr marL="228600" indent="-228600">
              <a:buFont typeface="+mj-lt"/>
              <a:buAutoNum type="arabicPeriod"/>
            </a:pPr>
            <a:r>
              <a:rPr lang="ko-KR" altLang="en-US" dirty="0" err="1"/>
              <a:t>참조번호</a:t>
            </a:r>
            <a:r>
              <a:rPr lang="ko-KR" altLang="en-US" dirty="0"/>
              <a:t> 데이터 영역</a:t>
            </a:r>
          </a:p>
          <a:p>
            <a:pPr marL="228600" indent="-228600">
              <a:buFont typeface="+mj-lt"/>
              <a:buAutoNum type="arabicPeriod"/>
            </a:pPr>
            <a:r>
              <a:rPr lang="ko-KR" altLang="en-US" dirty="0"/>
              <a:t>업체정보 데이터 영역</a:t>
            </a:r>
            <a:r>
              <a:rPr lang="en-US" altLang="ko-KR" dirty="0"/>
              <a:t/>
            </a:r>
            <a:br>
              <a:rPr lang="en-US" altLang="ko-KR" dirty="0"/>
            </a:br>
            <a:r>
              <a:rPr lang="en-US" altLang="ko-KR" dirty="0"/>
              <a:t>- </a:t>
            </a:r>
            <a:r>
              <a:rPr lang="en-US" altLang="ko-KR" dirty="0">
                <a:solidFill>
                  <a:srgbClr val="000000"/>
                </a:solidFill>
                <a:latin typeface="맑은 고딕" panose="020B0503020000020004" pitchFamily="50" charset="-127"/>
              </a:rPr>
              <a:t>MUI-OP-01-P77 </a:t>
            </a:r>
            <a:r>
              <a:rPr lang="ko-KR" altLang="en-US" dirty="0">
                <a:latin typeface="+mn-ea"/>
              </a:rPr>
              <a:t>업체정보 팝업 호출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형상자료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a:t>
            </a:r>
            <a:r>
              <a:rPr lang="ko-KR" altLang="en-US" dirty="0" err="1"/>
              <a:t>형상자료</a:t>
            </a:r>
            <a:r>
              <a:rPr lang="ko-KR" altLang="en-US" dirty="0"/>
              <a:t>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err="1">
                <a:latin typeface="+mn-ea"/>
              </a:rPr>
              <a:t>형상자료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088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b="1" dirty="0" err="1">
                <a:latin typeface="+mn-ea"/>
              </a:rPr>
              <a:t>형상자료</a:t>
            </a:r>
            <a:endParaRPr lang="ko-KR" altLang="en-US" sz="700" b="1"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dirty="0" err="1">
                <a:latin typeface="+mn-ea"/>
              </a:rPr>
              <a:t>식별자료</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191791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298844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식별정보</a:t>
            </a:r>
          </a:p>
        </p:txBody>
      </p:sp>
      <p:grpSp>
        <p:nvGrpSpPr>
          <p:cNvPr id="107" name="그룹 106"/>
          <p:cNvGrpSpPr/>
          <p:nvPr/>
        </p:nvGrpSpPr>
        <p:grpSpPr>
          <a:xfrm flipV="1">
            <a:off x="3143548" y="3101773"/>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3295927"/>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32959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3295927"/>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영문품명</a:t>
            </a:r>
            <a:endParaRPr lang="en-US" altLang="ko-KR" sz="700" dirty="0">
              <a:latin typeface="+mn-ea"/>
            </a:endParaRPr>
          </a:p>
          <a:p>
            <a:pPr>
              <a:lnSpc>
                <a:spcPct val="200000"/>
              </a:lnSpc>
            </a:pPr>
            <a:r>
              <a:rPr lang="ko-KR" altLang="en-US" sz="700" dirty="0" err="1">
                <a:latin typeface="+mn-ea"/>
              </a:rPr>
              <a:t>한글품명</a:t>
            </a:r>
            <a:endParaRPr lang="en-US" altLang="ko-KR" sz="700" dirty="0">
              <a:latin typeface="+mn-ea"/>
            </a:endParaRPr>
          </a:p>
          <a:p>
            <a:pPr>
              <a:lnSpc>
                <a:spcPct val="200000"/>
              </a:lnSpc>
            </a:pPr>
            <a:r>
              <a:rPr lang="ko-KR" altLang="en-US" sz="700" dirty="0" err="1">
                <a:latin typeface="+mn-ea"/>
              </a:rPr>
              <a:t>군급</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3295927"/>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1523-12-1251232</a:t>
            </a:r>
          </a:p>
          <a:p>
            <a:pPr>
              <a:lnSpc>
                <a:spcPct val="200000"/>
              </a:lnSpc>
            </a:pPr>
            <a:r>
              <a:rPr lang="en-US" altLang="ko-KR" sz="700" dirty="0">
                <a:latin typeface="+mn-ea"/>
              </a:rPr>
              <a:t>BELSCDFE ASSEMVGBY</a:t>
            </a:r>
          </a:p>
          <a:p>
            <a:pPr>
              <a:lnSpc>
                <a:spcPct val="200000"/>
              </a:lnSpc>
            </a:pPr>
            <a:r>
              <a:rPr lang="ko-KR" altLang="en-US" sz="700" dirty="0" err="1">
                <a:latin typeface="+mn-ea"/>
              </a:rPr>
              <a:t>밸크랭크</a:t>
            </a:r>
            <a:r>
              <a:rPr lang="ko-KR" altLang="en-US" sz="700" dirty="0">
                <a:latin typeface="+mn-ea"/>
              </a:rPr>
              <a:t> </a:t>
            </a:r>
            <a:r>
              <a:rPr lang="ko-KR" altLang="en-US" sz="700" dirty="0" err="1">
                <a:latin typeface="+mn-ea"/>
              </a:rPr>
              <a:t>조립체</a:t>
            </a:r>
            <a:endParaRPr lang="ko-KR" altLang="en-US" sz="700" dirty="0">
              <a:latin typeface="+mn-ea"/>
            </a:endParaRPr>
          </a:p>
          <a:p>
            <a:pPr>
              <a:lnSpc>
                <a:spcPct val="200000"/>
              </a:lnSpc>
            </a:pPr>
            <a:r>
              <a:rPr lang="en-US" altLang="ko-KR" sz="700" dirty="0">
                <a:latin typeface="+mn-ea"/>
              </a:rPr>
              <a:t>1612</a:t>
            </a:r>
            <a:endParaRPr lang="ko-KR" altLang="en-US"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3527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37407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39544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1681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0392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1" name="TextBox 250">
            <a:extLst>
              <a:ext uri="{FF2B5EF4-FFF2-40B4-BE49-F238E27FC236}">
                <a16:creationId xmlns:a16="http://schemas.microsoft.com/office/drawing/2014/main" id="{FFC49AEA-2A8F-250C-A86A-A7751D9706C3}"/>
              </a:ext>
            </a:extLst>
          </p:cNvPr>
          <p:cNvSpPr txBox="1"/>
          <p:nvPr/>
        </p:nvSpPr>
        <p:spPr>
          <a:xfrm>
            <a:off x="3884993" y="189012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ko-KR" altLang="en-US" sz="700" dirty="0">
              <a:latin typeface="+mn-ea"/>
            </a:endParaRPr>
          </a:p>
        </p:txBody>
      </p:sp>
      <p:grpSp>
        <p:nvGrpSpPr>
          <p:cNvPr id="252" name="그룹 251"/>
          <p:cNvGrpSpPr/>
          <p:nvPr/>
        </p:nvGrpSpPr>
        <p:grpSpPr>
          <a:xfrm flipV="1">
            <a:off x="6247080" y="2003454"/>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197608"/>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197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197608"/>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en-US" altLang="ko-KR" sz="700" dirty="0">
              <a:latin typeface="+mn-ea"/>
            </a:endParaRPr>
          </a:p>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생산자부호</a:t>
            </a:r>
            <a:endParaRPr lang="en-US" altLang="ko-KR" sz="700" dirty="0">
              <a:latin typeface="+mn-ea"/>
            </a:endParaRPr>
          </a:p>
          <a:p>
            <a:pPr>
              <a:lnSpc>
                <a:spcPct val="200000"/>
              </a:lnSpc>
            </a:pPr>
            <a:r>
              <a:rPr lang="ko-KR" altLang="en-US" sz="700" dirty="0" err="1">
                <a:latin typeface="+mn-ea"/>
              </a:rPr>
              <a:t>생산자명</a:t>
            </a:r>
            <a:endParaRPr lang="en-US" altLang="ko-KR" sz="700" dirty="0">
              <a:latin typeface="+mn-ea"/>
            </a:endParaRP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8" y="2197608"/>
            <a:ext cx="1784650" cy="861774"/>
          </a:xfrm>
          <a:prstGeom prst="rect">
            <a:avLst/>
          </a:prstGeom>
          <a:noFill/>
        </p:spPr>
        <p:txBody>
          <a:bodyPr wrap="square" lIns="0" tIns="0" rIns="0" bIns="0" rtlCol="0">
            <a:spAutoFit/>
          </a:bodyPr>
          <a:lstStyle/>
          <a:p>
            <a:pPr>
              <a:lnSpc>
                <a:spcPct val="200000"/>
              </a:lnSpc>
            </a:pPr>
            <a:r>
              <a:rPr lang="en-US" altLang="ko-KR" sz="700" dirty="0">
                <a:latin typeface="+mn-ea"/>
              </a:rPr>
              <a:t>70400-01230-023</a:t>
            </a:r>
          </a:p>
          <a:p>
            <a:pPr>
              <a:lnSpc>
                <a:spcPct val="200000"/>
              </a:lnSpc>
            </a:pPr>
            <a:r>
              <a:rPr lang="ko-KR" altLang="en-US" sz="700" dirty="0" err="1">
                <a:latin typeface="+mn-ea"/>
              </a:rPr>
              <a:t>도면번호</a:t>
            </a:r>
            <a:endParaRPr lang="en-US" altLang="ko-KR" sz="700" dirty="0">
              <a:latin typeface="+mn-ea"/>
            </a:endParaRPr>
          </a:p>
          <a:p>
            <a:pPr>
              <a:lnSpc>
                <a:spcPct val="200000"/>
              </a:lnSpc>
            </a:pPr>
            <a:r>
              <a:rPr lang="en-US" altLang="ko-KR" sz="700" dirty="0">
                <a:latin typeface="+mn-ea"/>
              </a:rPr>
              <a:t>78245</a:t>
            </a:r>
          </a:p>
          <a:p>
            <a:pPr>
              <a:lnSpc>
                <a:spcPct val="200000"/>
              </a:lnSpc>
            </a:pPr>
            <a:r>
              <a:rPr lang="en-US" altLang="ko-KR" sz="700" dirty="0">
                <a:latin typeface="+mn-ea"/>
              </a:rPr>
              <a:t>SIBSK ERKAS EKCORPO</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428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642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856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069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44337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7584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19237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8" name="TextBox 147">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dirty="0">
                <a:latin typeface="+mn-ea"/>
              </a:rPr>
              <a:t>참고자료</a:t>
            </a: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767702" y="2604413"/>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1" name="모서리가 둥근 직사각형 150"/>
          <p:cNvSpPr/>
          <p:nvPr/>
        </p:nvSpPr>
        <p:spPr>
          <a:xfrm>
            <a:off x="1443878" y="2270698"/>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04476" y="2339011"/>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53" name="그룹 152"/>
          <p:cNvGrpSpPr/>
          <p:nvPr/>
        </p:nvGrpSpPr>
        <p:grpSpPr>
          <a:xfrm>
            <a:off x="3112794" y="2308984"/>
            <a:ext cx="145884" cy="145882"/>
            <a:chOff x="3112794" y="3984500"/>
            <a:chExt cx="145884" cy="145882"/>
          </a:xfrm>
        </p:grpSpPr>
        <p:sp>
          <p:nvSpPr>
            <p:cNvPr id="154" name="타원 153"/>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5" name="그룹 154"/>
            <p:cNvGrpSpPr/>
            <p:nvPr/>
          </p:nvGrpSpPr>
          <p:grpSpPr>
            <a:xfrm>
              <a:off x="3156699" y="4028404"/>
              <a:ext cx="58075" cy="58074"/>
              <a:chOff x="6812560" y="3297172"/>
              <a:chExt cx="94010" cy="94010"/>
            </a:xfrm>
          </p:grpSpPr>
          <p:cxnSp>
            <p:nvCxnSpPr>
              <p:cNvPr id="167" name="직선 연결선 16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29437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6115" y="3426381"/>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3" name="직선 연결선 172">
            <a:extLst>
              <a:ext uri="{FF2B5EF4-FFF2-40B4-BE49-F238E27FC236}">
                <a16:creationId xmlns:a16="http://schemas.microsoft.com/office/drawing/2014/main" id="{E9293055-D5CD-4B9E-7F64-64B2D2CA7A52}"/>
              </a:ext>
            </a:extLst>
          </p:cNvPr>
          <p:cNvCxnSpPr/>
          <p:nvPr/>
        </p:nvCxnSpPr>
        <p:spPr>
          <a:xfrm>
            <a:off x="3824022" y="34263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3913179" y="3426381"/>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en-US" altLang="ko-KR" sz="700" dirty="0">
              <a:latin typeface="+mn-ea"/>
            </a:endParaRPr>
          </a:p>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생산자부호</a:t>
            </a:r>
            <a:endParaRPr lang="en-US" altLang="ko-KR" sz="700" dirty="0">
              <a:latin typeface="+mn-ea"/>
            </a:endParaRPr>
          </a:p>
          <a:p>
            <a:pPr>
              <a:lnSpc>
                <a:spcPct val="200000"/>
              </a:lnSpc>
            </a:pPr>
            <a:r>
              <a:rPr lang="ko-KR" altLang="en-US" sz="700" dirty="0" err="1">
                <a:latin typeface="+mn-ea"/>
              </a:rPr>
              <a:t>생산자명</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670028" y="3426381"/>
            <a:ext cx="1784650" cy="861774"/>
          </a:xfrm>
          <a:prstGeom prst="rect">
            <a:avLst/>
          </a:prstGeom>
          <a:noFill/>
        </p:spPr>
        <p:txBody>
          <a:bodyPr wrap="square" lIns="0" tIns="0" rIns="0" bIns="0" rtlCol="0">
            <a:spAutoFit/>
          </a:bodyPr>
          <a:lstStyle/>
          <a:p>
            <a:pPr>
              <a:lnSpc>
                <a:spcPct val="200000"/>
              </a:lnSpc>
            </a:pPr>
            <a:r>
              <a:rPr lang="en-US" altLang="ko-KR" sz="700" dirty="0">
                <a:latin typeface="+mn-ea"/>
              </a:rPr>
              <a:t>70400-01230-024</a:t>
            </a:r>
          </a:p>
          <a:p>
            <a:pPr>
              <a:lnSpc>
                <a:spcPct val="200000"/>
              </a:lnSpc>
            </a:pPr>
            <a:r>
              <a:rPr lang="ko-KR" altLang="en-US" sz="700" dirty="0">
                <a:latin typeface="+mn-ea"/>
              </a:rPr>
              <a:t>기타</a:t>
            </a:r>
            <a:endParaRPr lang="en-US" altLang="ko-KR" sz="700" dirty="0">
              <a:latin typeface="+mn-ea"/>
            </a:endParaRPr>
          </a:p>
          <a:p>
            <a:pPr>
              <a:lnSpc>
                <a:spcPct val="200000"/>
              </a:lnSpc>
            </a:pPr>
            <a:r>
              <a:rPr lang="en-US" altLang="ko-KR" sz="700" dirty="0">
                <a:latin typeface="+mn-ea"/>
              </a:rPr>
              <a:t>23129</a:t>
            </a:r>
          </a:p>
          <a:p>
            <a:pPr>
              <a:lnSpc>
                <a:spcPct val="200000"/>
              </a:lnSpc>
            </a:pPr>
            <a:r>
              <a:rPr lang="en-US" altLang="ko-KR" sz="700" dirty="0">
                <a:latin typeface="+mn-ea"/>
              </a:rPr>
              <a:t>US ARPY ACLHGET ASLTM</a:t>
            </a: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26115" y="36574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26115" y="38711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6115" y="40849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26115" y="42986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타원 223">
            <a:extLst>
              <a:ext uri="{FF2B5EF4-FFF2-40B4-BE49-F238E27FC236}">
                <a16:creationId xmlns:a16="http://schemas.microsoft.com/office/drawing/2014/main" id="{37A7FF4F-0EAA-1463-560A-D5EC24416103}"/>
              </a:ext>
            </a:extLst>
          </p:cNvPr>
          <p:cNvSpPr/>
          <p:nvPr/>
        </p:nvSpPr>
        <p:spPr>
          <a:xfrm>
            <a:off x="3717693" y="422901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26115" y="33227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사각형: 둥근 모서리 15">
            <a:extLst>
              <a:ext uri="{FF2B5EF4-FFF2-40B4-BE49-F238E27FC236}">
                <a16:creationId xmlns:a16="http://schemas.microsoft.com/office/drawing/2014/main" id="{E2B61CFB-AD16-68D0-8752-50D9C5E01971}"/>
              </a:ext>
            </a:extLst>
          </p:cNvPr>
          <p:cNvSpPr/>
          <p:nvPr/>
        </p:nvSpPr>
        <p:spPr>
          <a:xfrm>
            <a:off x="3890740" y="3104583"/>
            <a:ext cx="2522014" cy="18574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업체정보 보기</a:t>
            </a:r>
            <a:endParaRPr kumimoji="1" lang="en-US" sz="800" b="0" i="0" u="none" strike="noStrike" kern="0" cap="none" spc="0" normalizeH="0" baseline="0" noProof="0" dirty="0">
              <a:ln>
                <a:noFill/>
              </a:ln>
              <a:effectLst/>
              <a:uLnTx/>
              <a:uFillTx/>
              <a:latin typeface="맑은 고딕"/>
            </a:endParaRP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3826115" y="4553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사각형: 둥근 모서리 15">
            <a:extLst>
              <a:ext uri="{FF2B5EF4-FFF2-40B4-BE49-F238E27FC236}">
                <a16:creationId xmlns:a16="http://schemas.microsoft.com/office/drawing/2014/main" id="{E2B61CFB-AD16-68D0-8752-50D9C5E01971}"/>
              </a:ext>
            </a:extLst>
          </p:cNvPr>
          <p:cNvSpPr/>
          <p:nvPr/>
        </p:nvSpPr>
        <p:spPr>
          <a:xfrm>
            <a:off x="3890740" y="4335074"/>
            <a:ext cx="2522014" cy="18574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업체정보 보기</a:t>
            </a:r>
            <a:endParaRPr kumimoji="1" lang="en-US" sz="800" b="0" i="0" u="none" strike="noStrike" kern="0" cap="none" spc="0" normalizeH="0" baseline="0" noProof="0" dirty="0">
              <a:ln>
                <a:noFill/>
              </a:ln>
              <a:effectLst/>
              <a:uLnTx/>
              <a:uFillTx/>
              <a:latin typeface="맑은 고딕"/>
            </a:endParaRPr>
          </a:p>
        </p:txBody>
      </p:sp>
      <p:grpSp>
        <p:nvGrpSpPr>
          <p:cNvPr id="125" name="그룹 124"/>
          <p:cNvGrpSpPr/>
          <p:nvPr/>
        </p:nvGrpSpPr>
        <p:grpSpPr>
          <a:xfrm>
            <a:off x="3138377" y="1650089"/>
            <a:ext cx="94010" cy="94010"/>
            <a:chOff x="6812560" y="3297172"/>
            <a:chExt cx="94010" cy="94010"/>
          </a:xfrm>
        </p:grpSpPr>
        <p:cxnSp>
          <p:nvCxnSpPr>
            <p:cNvPr id="126" name="직선 연결선 12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3" name="그룹 2"/>
          <p:cNvGrpSpPr/>
          <p:nvPr/>
        </p:nvGrpSpPr>
        <p:grpSpPr>
          <a:xfrm>
            <a:off x="3795734" y="1630768"/>
            <a:ext cx="2712027" cy="216169"/>
            <a:chOff x="3795734" y="1630768"/>
            <a:chExt cx="2712027" cy="216169"/>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0" name="그룹 119"/>
            <p:cNvGrpSpPr/>
            <p:nvPr/>
          </p:nvGrpSpPr>
          <p:grpSpPr>
            <a:xfrm>
              <a:off x="6253541" y="1650089"/>
              <a:ext cx="94010" cy="94010"/>
              <a:chOff x="6812560" y="3297172"/>
              <a:chExt cx="94010" cy="94010"/>
            </a:xfrm>
          </p:grpSpPr>
          <p:cxnSp>
            <p:nvCxnSpPr>
              <p:cNvPr id="121" name="직선 연결선 12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3" name="TextBox 122">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87" name="그룹 86"/>
          <p:cNvGrpSpPr/>
          <p:nvPr/>
        </p:nvGrpSpPr>
        <p:grpSpPr>
          <a:xfrm>
            <a:off x="8223250" y="569392"/>
            <a:ext cx="3365500" cy="634511"/>
            <a:chOff x="8223250" y="569392"/>
            <a:chExt cx="3365500" cy="634511"/>
          </a:xfrm>
        </p:grpSpPr>
        <p:sp>
          <p:nvSpPr>
            <p:cNvPr id="89" name="직사각형 8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90" name="직사각형 8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395106005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식별자료</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식별자료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a:t>
            </a:r>
            <a:r>
              <a:rPr lang="ko-KR" altLang="en-US" dirty="0" err="1"/>
              <a:t>식별자료</a:t>
            </a:r>
            <a:r>
              <a:rPr lang="ko-KR" altLang="en-US" dirty="0"/>
              <a:t>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err="1">
                <a:latin typeface="+mn-ea"/>
              </a:rPr>
              <a:t>식별자료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999834"/>
            <a:ext cx="452259" cy="181140"/>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err="1"/>
              <a:t>식별자료</a:t>
            </a:r>
            <a:endParaRPr lang="ko-KR" altLang="en-US" dirty="0"/>
          </a:p>
        </p:txBody>
      </p:sp>
      <p:grpSp>
        <p:nvGrpSpPr>
          <p:cNvPr id="157" name="그룹 156"/>
          <p:cNvGrpSpPr/>
          <p:nvPr/>
        </p:nvGrpSpPr>
        <p:grpSpPr>
          <a:xfrm flipV="1">
            <a:off x="3124233" y="3113165"/>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30484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4" name="직사각형 73"/>
          <p:cNvSpPr/>
          <p:nvPr/>
        </p:nvSpPr>
        <p:spPr>
          <a:xfrm>
            <a:off x="3832577" y="1873082"/>
            <a:ext cx="933066" cy="42745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3919640" y="1873082"/>
            <a:ext cx="725552" cy="430887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품명부호</a:t>
            </a:r>
            <a:r>
              <a:rPr lang="en-US" altLang="ko-KR" sz="700" dirty="0">
                <a:latin typeface="+mn-ea"/>
              </a:rPr>
              <a:t>(INC)</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대체재고</a:t>
            </a:r>
            <a:r>
              <a:rPr lang="ko-KR" altLang="en-US" sz="700" dirty="0">
                <a:latin typeface="+mn-ea"/>
              </a:rPr>
              <a:t> 번호</a:t>
            </a:r>
          </a:p>
          <a:p>
            <a:pPr>
              <a:lnSpc>
                <a:spcPct val="200000"/>
              </a:lnSpc>
            </a:pPr>
            <a:endParaRPr lang="en-US" altLang="ko-KR" sz="700" dirty="0">
              <a:latin typeface="+mn-ea"/>
            </a:endParaRPr>
          </a:p>
          <a:p>
            <a:pPr>
              <a:lnSpc>
                <a:spcPct val="200000"/>
              </a:lnSpc>
            </a:pPr>
            <a:r>
              <a:rPr lang="ko-KR" altLang="en-US" sz="700" dirty="0">
                <a:latin typeface="+mn-ea"/>
              </a:rPr>
              <a:t>품종 </a:t>
            </a:r>
            <a:r>
              <a:rPr lang="ko-KR" altLang="en-US" sz="700" dirty="0" err="1">
                <a:latin typeface="+mn-ea"/>
              </a:rPr>
              <a:t>구분번호</a:t>
            </a:r>
            <a:r>
              <a:rPr lang="en-US" altLang="ko-KR" sz="700" dirty="0">
                <a:latin typeface="+mn-ea"/>
              </a:rPr>
              <a:t>(CS)</a:t>
            </a:r>
          </a:p>
          <a:p>
            <a:pPr>
              <a:lnSpc>
                <a:spcPct val="200000"/>
              </a:lnSpc>
            </a:pPr>
            <a:r>
              <a:rPr lang="ko-KR" altLang="en-US" sz="700" dirty="0" err="1">
                <a:latin typeface="+mn-ea"/>
              </a:rPr>
              <a:t>제조국부호</a:t>
            </a:r>
            <a:r>
              <a:rPr lang="en-US" altLang="ko-KR" sz="700" dirty="0">
                <a:latin typeface="+mn-ea"/>
              </a:rPr>
              <a:t>(NTL)</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목록화담당자</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자료변경일자</a:t>
            </a:r>
            <a:endParaRPr lang="en-US" altLang="ko-KR" sz="700" dirty="0">
              <a:latin typeface="+mn-ea"/>
            </a:endParaRPr>
          </a:p>
        </p:txBody>
      </p:sp>
      <p:sp>
        <p:nvSpPr>
          <p:cNvPr id="76" name="TextBox 75">
            <a:extLst>
              <a:ext uri="{FF2B5EF4-FFF2-40B4-BE49-F238E27FC236}">
                <a16:creationId xmlns:a16="http://schemas.microsoft.com/office/drawing/2014/main" id="{FFC49AEA-2A8F-250C-A86A-A7751D9706C3}"/>
              </a:ext>
            </a:extLst>
          </p:cNvPr>
          <p:cNvSpPr txBox="1"/>
          <p:nvPr/>
        </p:nvSpPr>
        <p:spPr>
          <a:xfrm>
            <a:off x="4800394" y="1873082"/>
            <a:ext cx="1672616" cy="4308872"/>
          </a:xfrm>
          <a:prstGeom prst="rect">
            <a:avLst/>
          </a:prstGeom>
          <a:noFill/>
        </p:spPr>
        <p:txBody>
          <a:bodyPr wrap="square" lIns="0" tIns="0" rIns="0" bIns="0" rtlCol="0">
            <a:spAutoFit/>
          </a:bodyPr>
          <a:lstStyle/>
          <a:p>
            <a:pPr>
              <a:lnSpc>
                <a:spcPct val="200000"/>
              </a:lnSpc>
            </a:pPr>
            <a:r>
              <a:rPr lang="en-US" altLang="ko-KR" sz="700" dirty="0">
                <a:latin typeface="+mn-ea"/>
              </a:rPr>
              <a:t>111</a:t>
            </a:r>
          </a:p>
          <a:p>
            <a:pPr>
              <a:lnSpc>
                <a:spcPct val="200000"/>
              </a:lnSpc>
            </a:pPr>
            <a:endParaRPr lang="en-US" altLang="ko-KR" sz="700" dirty="0">
              <a:latin typeface="+mn-ea"/>
            </a:endParaRPr>
          </a:p>
          <a:p>
            <a:pPr>
              <a:lnSpc>
                <a:spcPct val="200000"/>
              </a:lnSpc>
            </a:pPr>
            <a:r>
              <a:rPr lang="en-US" altLang="ko-KR" sz="700" dirty="0">
                <a:latin typeface="+mn-ea"/>
              </a:rPr>
              <a:t>A12000</a:t>
            </a:r>
          </a:p>
          <a:p>
            <a:pPr>
              <a:lnSpc>
                <a:spcPct val="200000"/>
              </a:lnSpc>
            </a:pPr>
            <a:r>
              <a:rPr lang="en-US" altLang="ko-KR" sz="700" dirty="0">
                <a:latin typeface="+mn-ea"/>
              </a:rPr>
              <a:t>11112</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p>
          <a:p>
            <a:pPr>
              <a:lnSpc>
                <a:spcPct val="200000"/>
              </a:lnSpc>
            </a:pPr>
            <a:endParaRPr lang="en-US" altLang="ko-KR" sz="700" dirty="0">
              <a:latin typeface="+mn-ea"/>
            </a:endParaRPr>
          </a:p>
          <a:p>
            <a:pPr>
              <a:lnSpc>
                <a:spcPct val="200000"/>
              </a:lnSpc>
            </a:pPr>
            <a:r>
              <a:rPr lang="en-US" altLang="ko-KR" sz="700" dirty="0">
                <a:latin typeface="+mn-ea"/>
              </a:rPr>
              <a:t>M</a:t>
            </a:r>
          </a:p>
          <a:p>
            <a:pPr>
              <a:lnSpc>
                <a:spcPct val="200000"/>
              </a:lnSpc>
            </a:pPr>
            <a:r>
              <a:rPr lang="en-US" altLang="ko-KR" sz="700" dirty="0">
                <a:latin typeface="+mn-ea"/>
              </a:rPr>
              <a:t>9</a:t>
            </a:r>
          </a:p>
          <a:p>
            <a:pPr>
              <a:lnSpc>
                <a:spcPct val="200000"/>
              </a:lnSpc>
            </a:pPr>
            <a:endParaRPr lang="en-US" altLang="ko-KR" sz="700" dirty="0">
              <a:latin typeface="+mn-ea"/>
            </a:endParaRPr>
          </a:p>
          <a:p>
            <a:pPr>
              <a:lnSpc>
                <a:spcPct val="200000"/>
              </a:lnSpc>
            </a:pPr>
            <a:r>
              <a:rPr lang="en-US" altLang="ko-KR" sz="700" dirty="0">
                <a:latin typeface="+mn-ea"/>
              </a:rPr>
              <a:t>A</a:t>
            </a:r>
          </a:p>
          <a:p>
            <a:pPr>
              <a:lnSpc>
                <a:spcPct val="200000"/>
              </a:lnSpc>
            </a:pPr>
            <a:r>
              <a:rPr lang="en-US" altLang="ko-KR" sz="700" dirty="0">
                <a:latin typeface="+mn-ea"/>
              </a:rPr>
              <a:t>B</a:t>
            </a:r>
          </a:p>
          <a:p>
            <a:pPr>
              <a:lnSpc>
                <a:spcPct val="200000"/>
              </a:lnSpc>
            </a:pPr>
            <a:endParaRPr lang="en-US" altLang="ko-KR" sz="700" dirty="0">
              <a:latin typeface="+mn-ea"/>
            </a:endParaRPr>
          </a:p>
          <a:p>
            <a:pPr>
              <a:lnSpc>
                <a:spcPct val="200000"/>
              </a:lnSpc>
            </a:pPr>
            <a:r>
              <a:rPr lang="en-US" altLang="ko-KR" sz="700" dirty="0">
                <a:latin typeface="+mn-ea"/>
              </a:rPr>
              <a:t>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1980-01-05</a:t>
            </a:r>
          </a:p>
          <a:p>
            <a:pPr>
              <a:lnSpc>
                <a:spcPct val="200000"/>
              </a:lnSpc>
            </a:pPr>
            <a:r>
              <a:rPr lang="en-US" altLang="ko-KR" sz="700" dirty="0">
                <a:latin typeface="+mn-ea"/>
              </a:rPr>
              <a:t>2026-03-06</a:t>
            </a:r>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830484" y="18730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3832577" y="2087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3832577" y="23025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3832577" y="25173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3832577" y="2732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2577" y="2946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0484" y="31615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3832577" y="33762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3832577" y="35910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3832577" y="38057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3832577" y="40348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3832577" y="4229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830484" y="44370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3832577" y="4651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32577" y="48811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669260" y="33066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832577" y="51008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577" y="5295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0484" y="55030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577" y="5717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577" y="5947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577" y="61600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722583" y="3391949"/>
            <a:ext cx="792000" cy="658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20490" y="33919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7" name="TextBox 106">
            <a:extLst>
              <a:ext uri="{FF2B5EF4-FFF2-40B4-BE49-F238E27FC236}">
                <a16:creationId xmlns:a16="http://schemas.microsoft.com/office/drawing/2014/main" id="{FFC49AEA-2A8F-250C-A86A-A7751D9706C3}"/>
              </a:ext>
            </a:extLst>
          </p:cNvPr>
          <p:cNvSpPr txBox="1"/>
          <p:nvPr/>
        </p:nvSpPr>
        <p:spPr>
          <a:xfrm>
            <a:off x="809647" y="3391949"/>
            <a:ext cx="670770" cy="646331"/>
          </a:xfrm>
          <a:prstGeom prst="rect">
            <a:avLst/>
          </a:prstGeom>
          <a:noFill/>
        </p:spPr>
        <p:txBody>
          <a:bodyPr wrap="square" lIns="0" tIns="0" rIns="0" bIns="0" rtlCol="0">
            <a:spAutoFit/>
          </a:bodyPr>
          <a:lstStyle/>
          <a:p>
            <a:pPr>
              <a:lnSpc>
                <a:spcPct val="200000"/>
              </a:lnSpc>
            </a:pPr>
            <a:r>
              <a:rPr lang="ko-KR" altLang="en-US" sz="700" dirty="0" err="1">
                <a:latin typeface="+mn-ea"/>
              </a:rPr>
              <a:t>군급분류</a:t>
            </a:r>
            <a:endParaRPr lang="en-US" altLang="ko-KR" sz="700" dirty="0">
              <a:latin typeface="+mn-ea"/>
            </a:endParaRPr>
          </a:p>
          <a:p>
            <a:pPr>
              <a:lnSpc>
                <a:spcPct val="200000"/>
              </a:lnSpc>
            </a:pPr>
            <a:r>
              <a:rPr lang="ko-KR" altLang="en-US" sz="700" dirty="0" err="1">
                <a:latin typeface="+mn-ea"/>
              </a:rPr>
              <a:t>영문품명</a:t>
            </a:r>
            <a:endParaRPr lang="en-US" altLang="ko-KR" sz="700" dirty="0">
              <a:latin typeface="+mn-ea"/>
            </a:endParaRPr>
          </a:p>
          <a:p>
            <a:pPr>
              <a:lnSpc>
                <a:spcPct val="200000"/>
              </a:lnSpc>
            </a:pPr>
            <a:r>
              <a:rPr lang="ko-KR" altLang="en-US" sz="700" dirty="0" err="1">
                <a:latin typeface="+mn-ea"/>
              </a:rPr>
              <a:t>한글품명</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66495" y="3391949"/>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1000</a:t>
            </a:r>
          </a:p>
          <a:p>
            <a:pPr>
              <a:lnSpc>
                <a:spcPct val="200000"/>
              </a:lnSpc>
            </a:pPr>
            <a:r>
              <a:rPr lang="en-US" altLang="ko-KR" sz="700" dirty="0">
                <a:latin typeface="+mn-ea"/>
              </a:rPr>
              <a:t>MODEL-Y</a:t>
            </a:r>
          </a:p>
          <a:p>
            <a:pPr>
              <a:lnSpc>
                <a:spcPct val="200000"/>
              </a:lnSpc>
            </a:pPr>
            <a:r>
              <a:rPr lang="ko-KR" altLang="en-US" sz="700" dirty="0">
                <a:latin typeface="+mn-ea"/>
              </a:rPr>
              <a:t>모델</a:t>
            </a:r>
            <a:r>
              <a:rPr lang="en-US" altLang="ko-KR" sz="700" dirty="0">
                <a:latin typeface="+mn-ea"/>
              </a:rPr>
              <a:t>Y</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22583" y="362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22583" y="3836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22583" y="4050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263361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14" name="모서리가 둥근 직사각형 113"/>
          <p:cNvSpPr/>
          <p:nvPr/>
        </p:nvSpPr>
        <p:spPr>
          <a:xfrm>
            <a:off x="1443878" y="229990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4476" y="2368217"/>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16" name="그룹 115"/>
          <p:cNvGrpSpPr/>
          <p:nvPr/>
        </p:nvGrpSpPr>
        <p:grpSpPr>
          <a:xfrm>
            <a:off x="3112794" y="2338190"/>
            <a:ext cx="145884" cy="145882"/>
            <a:chOff x="3112794" y="3984500"/>
            <a:chExt cx="145884" cy="145882"/>
          </a:xfrm>
        </p:grpSpPr>
        <p:sp>
          <p:nvSpPr>
            <p:cNvPr id="117" name="타원 116"/>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8" name="그룹 117"/>
            <p:cNvGrpSpPr/>
            <p:nvPr/>
          </p:nvGrpSpPr>
          <p:grpSpPr>
            <a:xfrm>
              <a:off x="3156699" y="4028404"/>
              <a:ext cx="58075" cy="58074"/>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0" name="직선 연결선 11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675399" y="29729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919640" y="1873082"/>
            <a:ext cx="725552" cy="215444"/>
          </a:xfrm>
          <a:prstGeom prst="rect">
            <a:avLst/>
          </a:prstGeom>
          <a:noFill/>
        </p:spPr>
        <p:txBody>
          <a:bodyPr wrap="square" lIns="0" tIns="0" rIns="0" bIns="0" rtlCol="0">
            <a:spAutoFit/>
          </a:bodyPr>
          <a:lstStyle/>
          <a:p>
            <a:r>
              <a:rPr lang="en-US" altLang="ko-KR" sz="700" dirty="0">
                <a:latin typeface="+mn-ea"/>
              </a:rPr>
              <a:t>FIIG</a:t>
            </a:r>
            <a:r>
              <a:rPr lang="ko-KR" altLang="en-US" sz="700" dirty="0" err="1">
                <a:latin typeface="+mn-ea"/>
              </a:rPr>
              <a:t>긴요도부호</a:t>
            </a:r>
            <a:r>
              <a:rPr lang="ko-KR" altLang="en-US" sz="700" dirty="0">
                <a:latin typeface="+mn-ea"/>
              </a:rPr>
              <a:t> </a:t>
            </a:r>
            <a:r>
              <a:rPr lang="en-US" altLang="ko-KR" sz="700" dirty="0">
                <a:latin typeface="+mn-ea"/>
              </a:rPr>
              <a:t>(FCC)</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3919640" y="2088699"/>
            <a:ext cx="725552" cy="215444"/>
          </a:xfrm>
          <a:prstGeom prst="rect">
            <a:avLst/>
          </a:prstGeom>
          <a:noFill/>
        </p:spPr>
        <p:txBody>
          <a:bodyPr wrap="square" lIns="0" tIns="0" rIns="0" bIns="0" rtlCol="0">
            <a:spAutoFit/>
          </a:bodyPr>
          <a:lstStyle/>
          <a:p>
            <a:r>
              <a:rPr lang="ko-KR" altLang="en-US" sz="700" dirty="0" err="1">
                <a:latin typeface="+mn-ea"/>
              </a:rPr>
              <a:t>취소이유</a:t>
            </a:r>
            <a:r>
              <a:rPr lang="ko-KR" altLang="en-US" sz="700" dirty="0">
                <a:latin typeface="+mn-ea"/>
              </a:rPr>
              <a:t> 부호</a:t>
            </a:r>
            <a:r>
              <a:rPr lang="en-US" altLang="ko-KR" sz="700" dirty="0">
                <a:latin typeface="+mn-ea"/>
              </a:rPr>
              <a:t>(DRC)</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3919640" y="2299904"/>
            <a:ext cx="725552" cy="215444"/>
          </a:xfrm>
          <a:prstGeom prst="rect">
            <a:avLst/>
          </a:prstGeom>
          <a:noFill/>
        </p:spPr>
        <p:txBody>
          <a:bodyPr wrap="square" lIns="0" tIns="0" rIns="0" bIns="0" rtlCol="0">
            <a:spAutoFit/>
          </a:bodyPr>
          <a:lstStyle/>
          <a:p>
            <a:r>
              <a:rPr lang="ko-KR" altLang="en-US" sz="700" dirty="0" err="1">
                <a:latin typeface="+mn-ea"/>
              </a:rPr>
              <a:t>품목식별</a:t>
            </a:r>
            <a:r>
              <a:rPr lang="ko-KR" altLang="en-US" sz="700" dirty="0">
                <a:latin typeface="+mn-ea"/>
              </a:rPr>
              <a:t> </a:t>
            </a:r>
            <a:r>
              <a:rPr lang="ko-KR" altLang="en-US" sz="700" dirty="0" err="1">
                <a:latin typeface="+mn-ea"/>
              </a:rPr>
              <a:t>지침서번호</a:t>
            </a:r>
            <a:r>
              <a:rPr lang="en-US" altLang="ko-KR" sz="700" dirty="0">
                <a:latin typeface="+mn-ea"/>
              </a:rPr>
              <a:t>(FIIG </a:t>
            </a:r>
            <a:r>
              <a:rPr lang="ko-KR" altLang="en-US" sz="700" dirty="0">
                <a:latin typeface="+mn-ea"/>
              </a:rPr>
              <a:t>순번</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9640" y="2744986"/>
            <a:ext cx="725552" cy="215444"/>
          </a:xfrm>
          <a:prstGeom prst="rect">
            <a:avLst/>
          </a:prstGeom>
          <a:noFill/>
        </p:spPr>
        <p:txBody>
          <a:bodyPr wrap="square" lIns="0" tIns="0" rIns="0" bIns="0" rtlCol="0">
            <a:spAutoFit/>
          </a:bodyPr>
          <a:lstStyle/>
          <a:p>
            <a:r>
              <a:rPr lang="ko-KR" altLang="en-US" sz="700" dirty="0">
                <a:latin typeface="+mn-ea"/>
              </a:rPr>
              <a:t>자동자료처리 </a:t>
            </a:r>
            <a:r>
              <a:rPr lang="ko-KR" altLang="en-US" sz="700" dirty="0" err="1">
                <a:latin typeface="+mn-ea"/>
              </a:rPr>
              <a:t>장비부호</a:t>
            </a:r>
            <a:r>
              <a:rPr lang="en-US" altLang="ko-KR" sz="700" dirty="0">
                <a:latin typeface="+mn-ea"/>
              </a:rPr>
              <a:t>(ADPEC)</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3919640" y="2947669"/>
            <a:ext cx="725552" cy="215444"/>
          </a:xfrm>
          <a:prstGeom prst="rect">
            <a:avLst/>
          </a:prstGeom>
          <a:noFill/>
        </p:spPr>
        <p:txBody>
          <a:bodyPr wrap="square" lIns="0" tIns="0" rIns="0" bIns="0" rtlCol="0">
            <a:spAutoFit/>
          </a:bodyPr>
          <a:lstStyle/>
          <a:p>
            <a:r>
              <a:rPr lang="ko-KR" altLang="en-US" sz="700" dirty="0">
                <a:latin typeface="+mn-ea"/>
              </a:rPr>
              <a:t>귀금속 </a:t>
            </a:r>
            <a:r>
              <a:rPr lang="ko-KR" altLang="en-US" sz="700" dirty="0" err="1">
                <a:latin typeface="+mn-ea"/>
              </a:rPr>
              <a:t>지시부호</a:t>
            </a:r>
            <a:r>
              <a:rPr lang="en-US" altLang="ko-KR" sz="700" dirty="0">
                <a:latin typeface="+mn-ea"/>
              </a:rPr>
              <a:t>(PMIC)</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19639" y="3156726"/>
            <a:ext cx="756849" cy="215444"/>
          </a:xfrm>
          <a:prstGeom prst="rect">
            <a:avLst/>
          </a:prstGeom>
          <a:noFill/>
        </p:spPr>
        <p:txBody>
          <a:bodyPr wrap="square" lIns="0" tIns="0" rIns="0" bIns="0" rtlCol="0">
            <a:spAutoFit/>
          </a:bodyPr>
          <a:lstStyle/>
          <a:p>
            <a:r>
              <a:rPr lang="ko-KR" altLang="en-US" sz="700" dirty="0">
                <a:latin typeface="+mn-ea"/>
              </a:rPr>
              <a:t>참조</a:t>
            </a:r>
            <a:r>
              <a:rPr lang="en-US" altLang="ko-KR" sz="700" dirty="0">
                <a:latin typeface="+mn-ea"/>
              </a:rPr>
              <a:t>/</a:t>
            </a:r>
            <a:r>
              <a:rPr lang="ko-KR" altLang="en-US" sz="700" dirty="0">
                <a:latin typeface="+mn-ea"/>
              </a:rPr>
              <a:t>부분 서술형 </a:t>
            </a:r>
            <a:r>
              <a:rPr lang="ko-KR" altLang="en-US" sz="700" dirty="0" err="1">
                <a:latin typeface="+mn-ea"/>
              </a:rPr>
              <a:t>원인부호</a:t>
            </a:r>
            <a:r>
              <a:rPr lang="en-US" altLang="ko-KR" sz="700" dirty="0">
                <a:latin typeface="+mn-ea"/>
              </a:rPr>
              <a:t>(RPDMRC)</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9639" y="3594949"/>
            <a:ext cx="756849" cy="215444"/>
          </a:xfrm>
          <a:prstGeom prst="rect">
            <a:avLst/>
          </a:prstGeom>
          <a:noFill/>
        </p:spPr>
        <p:txBody>
          <a:bodyPr wrap="square" lIns="0" tIns="0" rIns="0" bIns="0" rtlCol="0">
            <a:spAutoFit/>
          </a:bodyPr>
          <a:lstStyle/>
          <a:p>
            <a:r>
              <a:rPr lang="ko-KR" altLang="en-US" sz="700" dirty="0" err="1">
                <a:latin typeface="+mn-ea"/>
              </a:rPr>
              <a:t>품목식별</a:t>
            </a:r>
            <a:r>
              <a:rPr lang="ko-KR" altLang="en-US" sz="700" dirty="0">
                <a:latin typeface="+mn-ea"/>
              </a:rPr>
              <a:t> </a:t>
            </a:r>
            <a:r>
              <a:rPr lang="ko-KR" altLang="en-US" sz="700" dirty="0" err="1">
                <a:latin typeface="+mn-ea"/>
              </a:rPr>
              <a:t>형태부호</a:t>
            </a:r>
            <a:r>
              <a:rPr lang="ko-KR" altLang="en-US" sz="700" dirty="0">
                <a:latin typeface="+mn-ea"/>
              </a:rPr>
              <a:t> </a:t>
            </a:r>
            <a:r>
              <a:rPr lang="en-US" altLang="ko-KR" sz="700" dirty="0">
                <a:latin typeface="+mn-ea"/>
              </a:rPr>
              <a:t>(TIIC)</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9639" y="4235259"/>
            <a:ext cx="756849" cy="215444"/>
          </a:xfrm>
          <a:prstGeom prst="rect">
            <a:avLst/>
          </a:prstGeom>
          <a:noFill/>
        </p:spPr>
        <p:txBody>
          <a:bodyPr wrap="square" lIns="0" tIns="0" rIns="0" bIns="0" rtlCol="0">
            <a:spAutoFit/>
          </a:bodyPr>
          <a:lstStyle/>
          <a:p>
            <a:r>
              <a:rPr lang="ko-KR" altLang="en-US" sz="700" dirty="0" err="1">
                <a:latin typeface="+mn-ea"/>
              </a:rPr>
              <a:t>재고번호</a:t>
            </a:r>
            <a:r>
              <a:rPr lang="ko-KR" altLang="en-US" sz="700" dirty="0">
                <a:latin typeface="+mn-ea"/>
              </a:rPr>
              <a:t> </a:t>
            </a:r>
            <a:r>
              <a:rPr lang="ko-KR" altLang="en-US" sz="700" dirty="0" err="1">
                <a:latin typeface="+mn-ea"/>
              </a:rPr>
              <a:t>식별부호</a:t>
            </a:r>
            <a:r>
              <a:rPr lang="en-US" altLang="ko-KR" sz="700" dirty="0">
                <a:latin typeface="+mn-ea"/>
              </a:rPr>
              <a:t>(IS)</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9639" y="4438170"/>
            <a:ext cx="756849" cy="215444"/>
          </a:xfrm>
          <a:prstGeom prst="rect">
            <a:avLst/>
          </a:prstGeom>
          <a:noFill/>
        </p:spPr>
        <p:txBody>
          <a:bodyPr wrap="square" lIns="0" tIns="0" rIns="0" bIns="0" rtlCol="0">
            <a:spAutoFit/>
          </a:bodyPr>
          <a:lstStyle/>
          <a:p>
            <a:r>
              <a:rPr lang="ko-KR" altLang="en-US" sz="700" dirty="0">
                <a:latin typeface="+mn-ea"/>
              </a:rPr>
              <a:t>비군사화 부호</a:t>
            </a:r>
            <a:r>
              <a:rPr lang="en-US" altLang="ko-KR" sz="700" dirty="0">
                <a:latin typeface="+mn-ea"/>
              </a:rPr>
              <a:t>(DEMIL)</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3919639" y="4661071"/>
            <a:ext cx="756849" cy="215444"/>
          </a:xfrm>
          <a:prstGeom prst="rect">
            <a:avLst/>
          </a:prstGeom>
          <a:noFill/>
        </p:spPr>
        <p:txBody>
          <a:bodyPr wrap="square" lIns="0" tIns="0" rIns="0" bIns="0" rtlCol="0">
            <a:spAutoFit/>
          </a:bodyPr>
          <a:lstStyle/>
          <a:p>
            <a:r>
              <a:rPr lang="ko-KR" altLang="en-US" sz="700" dirty="0">
                <a:latin typeface="+mn-ea"/>
              </a:rPr>
              <a:t>정전기 </a:t>
            </a:r>
            <a:r>
              <a:rPr lang="ko-KR" altLang="en-US" sz="700" dirty="0" err="1">
                <a:latin typeface="+mn-ea"/>
              </a:rPr>
              <a:t>방전부호</a:t>
            </a:r>
            <a:r>
              <a:rPr lang="en-US" altLang="ko-KR" sz="700" dirty="0">
                <a:latin typeface="+mn-ea"/>
              </a:rPr>
              <a:t>(ESDC)</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919639" y="4882515"/>
            <a:ext cx="756849" cy="215444"/>
          </a:xfrm>
          <a:prstGeom prst="rect">
            <a:avLst/>
          </a:prstGeom>
          <a:noFill/>
        </p:spPr>
        <p:txBody>
          <a:bodyPr wrap="square" lIns="0" tIns="0" rIns="0" bIns="0" rtlCol="0">
            <a:spAutoFit/>
          </a:bodyPr>
          <a:lstStyle/>
          <a:p>
            <a:r>
              <a:rPr lang="ko-KR" altLang="en-US" sz="700" dirty="0">
                <a:latin typeface="+mn-ea"/>
              </a:rPr>
              <a:t>품목식별번호 </a:t>
            </a:r>
            <a:r>
              <a:rPr lang="ko-KR" altLang="en-US" sz="700" dirty="0" err="1">
                <a:latin typeface="+mn-ea"/>
              </a:rPr>
              <a:t>상태부호</a:t>
            </a:r>
            <a:r>
              <a:rPr lang="en-US" altLang="ko-KR" sz="700" dirty="0">
                <a:latin typeface="+mn-ea"/>
              </a:rPr>
              <a:t>(NSC)</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9639" y="5092514"/>
            <a:ext cx="756849" cy="215444"/>
          </a:xfrm>
          <a:prstGeom prst="rect">
            <a:avLst/>
          </a:prstGeom>
          <a:noFill/>
        </p:spPr>
        <p:txBody>
          <a:bodyPr wrap="square" lIns="0" tIns="0" rIns="0" bIns="0" rtlCol="0">
            <a:spAutoFit/>
          </a:bodyPr>
          <a:lstStyle/>
          <a:p>
            <a:r>
              <a:rPr lang="ko-KR" altLang="en-US" sz="700" dirty="0">
                <a:latin typeface="+mn-ea"/>
              </a:rPr>
              <a:t>위험물자부호</a:t>
            </a:r>
            <a:r>
              <a:rPr lang="en-US" altLang="ko-KR" sz="700" dirty="0">
                <a:latin typeface="+mn-ea"/>
              </a:rPr>
              <a:t>(HMIC)</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9639" y="5294791"/>
            <a:ext cx="756849" cy="215444"/>
          </a:xfrm>
          <a:prstGeom prst="rect">
            <a:avLst/>
          </a:prstGeom>
          <a:noFill/>
        </p:spPr>
        <p:txBody>
          <a:bodyPr wrap="square" lIns="0" tIns="0" rIns="0" bIns="0" rtlCol="0">
            <a:spAutoFit/>
          </a:bodyPr>
          <a:lstStyle/>
          <a:p>
            <a:r>
              <a:rPr lang="ko-KR" altLang="en-US" sz="700" dirty="0">
                <a:latin typeface="+mn-ea"/>
              </a:rPr>
              <a:t>위험특성부호 </a:t>
            </a:r>
            <a:r>
              <a:rPr lang="en-US" altLang="ko-KR" sz="700" dirty="0">
                <a:latin typeface="+mn-ea"/>
              </a:rPr>
              <a:t>(HCC)</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3919639" y="5733773"/>
            <a:ext cx="756849" cy="215444"/>
          </a:xfrm>
          <a:prstGeom prst="rect">
            <a:avLst/>
          </a:prstGeom>
          <a:noFill/>
        </p:spPr>
        <p:txBody>
          <a:bodyPr wrap="square" lIns="0" tIns="0" rIns="0" bIns="0" rtlCol="0">
            <a:spAutoFit/>
          </a:bodyPr>
          <a:lstStyle/>
          <a:p>
            <a:r>
              <a:rPr lang="ko-KR" altLang="en-US" sz="700" dirty="0" err="1">
                <a:latin typeface="+mn-ea"/>
              </a:rPr>
              <a:t>국가품목</a:t>
            </a:r>
            <a:r>
              <a:rPr lang="ko-KR" altLang="en-US" sz="700" dirty="0">
                <a:latin typeface="+mn-ea"/>
              </a:rPr>
              <a:t> 식별번호</a:t>
            </a:r>
            <a:r>
              <a:rPr lang="en-US" altLang="ko-KR" sz="700" dirty="0">
                <a:latin typeface="+mn-ea"/>
              </a:rPr>
              <a:t>(NIIN)</a:t>
            </a:r>
            <a:r>
              <a:rPr lang="ko-KR" altLang="en-US" sz="700" dirty="0" err="1">
                <a:latin typeface="+mn-ea"/>
              </a:rPr>
              <a:t>부여일자</a:t>
            </a:r>
            <a:endParaRPr lang="ko-KR" altLang="en-US" sz="700" dirty="0">
              <a:latin typeface="+mn-ea"/>
            </a:endParaRPr>
          </a:p>
        </p:txBody>
      </p:sp>
      <p:cxnSp>
        <p:nvCxnSpPr>
          <p:cNvPr id="151" name="직선 연결선 150">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TextBox 152">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dirty="0" err="1">
                <a:latin typeface="+mn-ea"/>
              </a:rPr>
              <a:t>형상자료</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b="1" dirty="0" err="1">
                <a:latin typeface="+mn-ea"/>
              </a:rPr>
              <a:t>식별자료</a:t>
            </a:r>
            <a:endParaRPr lang="ko-KR" altLang="en-US" sz="700" b="1" dirty="0">
              <a:latin typeface="+mn-ea"/>
            </a:endParaRP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1226273"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0" name="그룹 159"/>
          <p:cNvGrpSpPr/>
          <p:nvPr/>
        </p:nvGrpSpPr>
        <p:grpSpPr>
          <a:xfrm>
            <a:off x="2924086" y="1917910"/>
            <a:ext cx="422853" cy="187961"/>
            <a:chOff x="3641308" y="2234886"/>
            <a:chExt cx="422853" cy="187961"/>
          </a:xfrm>
        </p:grpSpPr>
        <p:sp>
          <p:nvSpPr>
            <p:cNvPr id="161" name="타원 1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5400000" flipH="1">
              <a:off x="3679895" y="2305364"/>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3" name="타원 1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4" name="그룹 163"/>
            <p:cNvGrpSpPr/>
            <p:nvPr/>
          </p:nvGrpSpPr>
          <p:grpSpPr>
            <a:xfrm rot="16200000">
              <a:off x="3931564"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9" name="TextBox 168">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dirty="0">
                <a:latin typeface="+mn-ea"/>
              </a:rPr>
              <a:t>참고자료</a:t>
            </a:r>
          </a:p>
        </p:txBody>
      </p:sp>
      <p:grpSp>
        <p:nvGrpSpPr>
          <p:cNvPr id="170" name="그룹 169"/>
          <p:cNvGrpSpPr/>
          <p:nvPr/>
        </p:nvGrpSpPr>
        <p:grpSpPr>
          <a:xfrm>
            <a:off x="3138377" y="1650089"/>
            <a:ext cx="94010" cy="94010"/>
            <a:chOff x="6812560" y="3297172"/>
            <a:chExt cx="94010" cy="94010"/>
          </a:xfrm>
        </p:grpSpPr>
        <p:cxnSp>
          <p:nvCxnSpPr>
            <p:cNvPr id="171" name="직선 연결선 17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2" name="직선 연결선 17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3" name="TextBox 172">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174" name="그룹 173"/>
          <p:cNvGrpSpPr/>
          <p:nvPr/>
        </p:nvGrpSpPr>
        <p:grpSpPr>
          <a:xfrm>
            <a:off x="3795734" y="1630768"/>
            <a:ext cx="2712027" cy="216169"/>
            <a:chOff x="3795734" y="1630768"/>
            <a:chExt cx="2712027" cy="216169"/>
          </a:xfrm>
        </p:grpSpPr>
        <p:cxnSp>
          <p:nvCxnSpPr>
            <p:cNvPr id="175" name="직선 연결선 174">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a:off x="6253541" y="1650089"/>
              <a:ext cx="94010" cy="94010"/>
              <a:chOff x="6812560" y="3297172"/>
              <a:chExt cx="94010" cy="94010"/>
            </a:xfrm>
          </p:grpSpPr>
          <p:cxnSp>
            <p:nvCxnSpPr>
              <p:cNvPr id="178" name="직선 연결선 17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97" name="그룹 96"/>
          <p:cNvGrpSpPr/>
          <p:nvPr/>
        </p:nvGrpSpPr>
        <p:grpSpPr>
          <a:xfrm>
            <a:off x="8223250" y="569392"/>
            <a:ext cx="3365500" cy="634511"/>
            <a:chOff x="8223250" y="569392"/>
            <a:chExt cx="3365500" cy="634511"/>
          </a:xfrm>
        </p:grpSpPr>
        <p:sp>
          <p:nvSpPr>
            <p:cNvPr id="98" name="직사각형 9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104" name="직사각형 10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415604782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참고자료 목록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참고자료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참고자료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a:t>참고자료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09080"/>
            <a:ext cx="452259" cy="181140"/>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참고자료</a:t>
            </a:r>
          </a:p>
        </p:txBody>
      </p:sp>
      <p:grpSp>
        <p:nvGrpSpPr>
          <p:cNvPr id="157" name="그룹 156"/>
          <p:cNvGrpSpPr/>
          <p:nvPr/>
        </p:nvGrpSpPr>
        <p:grpSpPr>
          <a:xfrm flipV="1">
            <a:off x="3124233" y="3222411"/>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3157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56" name="직선 연결선 55">
            <a:extLst>
              <a:ext uri="{FF2B5EF4-FFF2-40B4-BE49-F238E27FC236}">
                <a16:creationId xmlns:a16="http://schemas.microsoft.com/office/drawing/2014/main" id="{E9293055-D5CD-4B9E-7F64-64B2D2CA7A52}"/>
              </a:ext>
            </a:extLst>
          </p:cNvPr>
          <p:cNvCxnSpPr/>
          <p:nvPr/>
        </p:nvCxnSpPr>
        <p:spPr>
          <a:xfrm>
            <a:off x="669260" y="3415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722583" y="3501195"/>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20490" y="350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7" name="TextBox 106">
            <a:extLst>
              <a:ext uri="{FF2B5EF4-FFF2-40B4-BE49-F238E27FC236}">
                <a16:creationId xmlns:a16="http://schemas.microsoft.com/office/drawing/2014/main" id="{FFC49AEA-2A8F-250C-A86A-A7751D9706C3}"/>
              </a:ext>
            </a:extLst>
          </p:cNvPr>
          <p:cNvSpPr txBox="1"/>
          <p:nvPr/>
        </p:nvSpPr>
        <p:spPr>
          <a:xfrm>
            <a:off x="809647" y="3501195"/>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566495" y="3501195"/>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22583" y="3732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22583" y="39460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22583" y="41597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2742865"/>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14" name="모서리가 둥근 직사각형 113"/>
          <p:cNvSpPr/>
          <p:nvPr/>
        </p:nvSpPr>
        <p:spPr>
          <a:xfrm>
            <a:off x="1443878" y="2409150"/>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4476" y="2477463"/>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16" name="그룹 115"/>
          <p:cNvGrpSpPr/>
          <p:nvPr/>
        </p:nvGrpSpPr>
        <p:grpSpPr>
          <a:xfrm>
            <a:off x="3112794" y="2447436"/>
            <a:ext cx="145884" cy="145882"/>
            <a:chOff x="3112794" y="3984500"/>
            <a:chExt cx="145884" cy="145882"/>
          </a:xfrm>
        </p:grpSpPr>
        <p:sp>
          <p:nvSpPr>
            <p:cNvPr id="117" name="타원 116"/>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8" name="그룹 117"/>
            <p:cNvGrpSpPr/>
            <p:nvPr/>
          </p:nvGrpSpPr>
          <p:grpSpPr>
            <a:xfrm>
              <a:off x="3156699" y="4028404"/>
              <a:ext cx="58075" cy="58074"/>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0" name="직선 연결선 11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675399" y="30821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20490" y="4363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22583" y="45944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22583" y="48081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22583" y="5021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22583" y="52326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22583" y="5446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직사각형 9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8" name="직사각형 97"/>
          <p:cNvSpPr/>
          <p:nvPr/>
        </p:nvSpPr>
        <p:spPr>
          <a:xfrm>
            <a:off x="3840699" y="2057748"/>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8606" y="2057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927763" y="2057748"/>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684611" y="2057748"/>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840699" y="22888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840699" y="25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840699" y="2716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8606" y="29198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40699" y="31510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40699" y="3364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40699" y="35784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40699" y="37892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840699" y="40029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직사각형 146"/>
          <p:cNvSpPr/>
          <p:nvPr/>
        </p:nvSpPr>
        <p:spPr>
          <a:xfrm>
            <a:off x="3840699" y="4133227"/>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3838606" y="41332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927763" y="4133227"/>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4684611" y="413322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51" name="직선 연결선 150">
            <a:extLst>
              <a:ext uri="{FF2B5EF4-FFF2-40B4-BE49-F238E27FC236}">
                <a16:creationId xmlns:a16="http://schemas.microsoft.com/office/drawing/2014/main" id="{E9293055-D5CD-4B9E-7F64-64B2D2CA7A52}"/>
              </a:ext>
            </a:extLst>
          </p:cNvPr>
          <p:cNvCxnSpPr/>
          <p:nvPr/>
        </p:nvCxnSpPr>
        <p:spPr>
          <a:xfrm>
            <a:off x="3840699" y="4364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3840699" y="457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3840699" y="47917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606" y="49953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3840699" y="52264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3840699" y="54401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3840699" y="5653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3840699" y="5864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0699" y="60784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7" name="TextBox 66">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dirty="0" err="1">
                <a:latin typeface="+mn-ea"/>
              </a:rPr>
              <a:t>형상자료</a:t>
            </a:r>
            <a:endParaRPr lang="ko-KR" altLang="en-US" sz="700" dirty="0">
              <a:latin typeface="+mn-ea"/>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dirty="0" err="1">
                <a:latin typeface="+mn-ea"/>
              </a:rPr>
              <a:t>식별자료</a:t>
            </a:r>
            <a:endParaRPr lang="ko-KR" altLang="en-US" sz="700" dirty="0">
              <a:latin typeface="+mn-ea"/>
            </a:endParaRP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1754660"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a:off x="2924086" y="1917910"/>
            <a:ext cx="422853" cy="187961"/>
            <a:chOff x="3641308" y="2234886"/>
            <a:chExt cx="422853" cy="187961"/>
          </a:xfrm>
        </p:grpSpPr>
        <p:sp>
          <p:nvSpPr>
            <p:cNvPr id="74" name="타원 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5400000" flipH="1">
              <a:off x="3679895" y="2305364"/>
              <a:ext cx="94010" cy="47005"/>
              <a:chOff x="6812560" y="3297172"/>
              <a:chExt cx="94010" cy="47005"/>
            </a:xfrm>
          </p:grpSpPr>
          <p:cxnSp>
            <p:nvCxnSpPr>
              <p:cNvPr id="81" name="직선 연결선 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2" name="직선 연결선 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타원 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8" name="그룹 77"/>
            <p:cNvGrpSpPr/>
            <p:nvPr/>
          </p:nvGrpSpPr>
          <p:grpSpPr>
            <a:xfrm rot="16200000">
              <a:off x="3931564"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84" name="TextBox 83">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b="1" dirty="0">
                <a:latin typeface="+mn-ea"/>
              </a:rPr>
              <a:t>참고자료</a:t>
            </a:r>
          </a:p>
        </p:txBody>
      </p:sp>
      <p:grpSp>
        <p:nvGrpSpPr>
          <p:cNvPr id="85" name="그룹 84"/>
          <p:cNvGrpSpPr/>
          <p:nvPr/>
        </p:nvGrpSpPr>
        <p:grpSpPr>
          <a:xfrm>
            <a:off x="3138377"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TextBox 87">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89" name="그룹 88"/>
          <p:cNvGrpSpPr/>
          <p:nvPr/>
        </p:nvGrpSpPr>
        <p:grpSpPr>
          <a:xfrm>
            <a:off x="3795734" y="1630768"/>
            <a:ext cx="2712027" cy="216169"/>
            <a:chOff x="3795734" y="1630768"/>
            <a:chExt cx="2712027" cy="216169"/>
          </a:xfrm>
        </p:grpSpPr>
        <p:cxnSp>
          <p:nvCxnSpPr>
            <p:cNvPr id="90" name="직선 연결선 89">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1" name="그룹 90"/>
            <p:cNvGrpSpPr/>
            <p:nvPr/>
          </p:nvGrpSpPr>
          <p:grpSpPr>
            <a:xfrm>
              <a:off x="6253541" y="1650089"/>
              <a:ext cx="94010" cy="94010"/>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6" name="직선 연결선 95"/>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92" name="TextBox 91">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99" name="그룹 98"/>
          <p:cNvGrpSpPr/>
          <p:nvPr/>
        </p:nvGrpSpPr>
        <p:grpSpPr>
          <a:xfrm>
            <a:off x="8223250" y="569392"/>
            <a:ext cx="3365500" cy="634511"/>
            <a:chOff x="8223250" y="569392"/>
            <a:chExt cx="3365500" cy="634511"/>
          </a:xfrm>
        </p:grpSpPr>
        <p:sp>
          <p:nvSpPr>
            <p:cNvPr id="100" name="직사각형 9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101" name="직사각형 10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332180714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업체정보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군수품 </a:t>
            </a:r>
            <a:r>
              <a:rPr lang="ko-KR" altLang="en-US" dirty="0" err="1"/>
              <a:t>형상자료의</a:t>
            </a:r>
            <a:r>
              <a:rPr lang="ko-KR" altLang="en-US" dirty="0"/>
              <a:t> 업체정보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t>조달 계획 </a:t>
            </a:r>
            <a:r>
              <a:rPr lang="en-US" altLang="ko-KR" dirty="0"/>
              <a:t>&gt; </a:t>
            </a:r>
            <a:r>
              <a:rPr lang="ko-KR" altLang="en-US" dirty="0"/>
              <a:t>상세 조회 </a:t>
            </a:r>
            <a:r>
              <a:rPr lang="en-US" altLang="ko-KR" dirty="0"/>
              <a:t>- </a:t>
            </a:r>
            <a:r>
              <a:rPr lang="ko-KR" altLang="en-US" dirty="0" err="1"/>
              <a:t>결과목록</a:t>
            </a:r>
            <a:r>
              <a:rPr lang="en-US" altLang="ko-KR" dirty="0">
                <a:latin typeface="+mn-ea"/>
              </a:rPr>
              <a:t> &gt; </a:t>
            </a:r>
            <a:r>
              <a:rPr lang="ko-KR" altLang="en-US" dirty="0">
                <a:latin typeface="+mn-ea"/>
              </a:rPr>
              <a:t>품목별가격자료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MUI-OP-01-P77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 name="양쪽 모서리가 둥근 사각형 4"/>
          <p:cNvSpPr/>
          <p:nvPr/>
        </p:nvSpPr>
        <p:spPr>
          <a:xfrm>
            <a:off x="675399" y="3658716"/>
            <a:ext cx="2712027" cy="2573583"/>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695344"/>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829760"/>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810439"/>
            <a:ext cx="1798758" cy="138499"/>
          </a:xfrm>
          <a:prstGeom prst="rect">
            <a:avLst/>
          </a:prstGeom>
          <a:noFill/>
        </p:spPr>
        <p:txBody>
          <a:bodyPr wrap="square" lIns="0" tIns="0" rIns="0" bIns="0" rtlCol="0">
            <a:spAutoFit/>
          </a:bodyPr>
          <a:lstStyle/>
          <a:p>
            <a:r>
              <a:rPr lang="ko-KR" altLang="en-US" sz="900" dirty="0">
                <a:latin typeface="+mn-ea"/>
              </a:rPr>
              <a:t>업체정보</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40718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790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716084" y="4288140"/>
            <a:ext cx="2630656" cy="1292662"/>
            <a:chOff x="3824022" y="5160789"/>
            <a:chExt cx="2630656" cy="1292662"/>
          </a:xfrm>
        </p:grpSpPr>
        <p:sp>
          <p:nvSpPr>
            <p:cNvPr id="75" name="직사각형 74"/>
            <p:cNvSpPr/>
            <p:nvPr/>
          </p:nvSpPr>
          <p:spPr>
            <a:xfrm>
              <a:off x="3826115" y="5160789"/>
              <a:ext cx="792000" cy="12852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824022" y="51607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TextBox 76">
              <a:extLst>
                <a:ext uri="{FF2B5EF4-FFF2-40B4-BE49-F238E27FC236}">
                  <a16:creationId xmlns:a16="http://schemas.microsoft.com/office/drawing/2014/main" id="{FFC49AEA-2A8F-250C-A86A-A7751D9706C3}"/>
                </a:ext>
              </a:extLst>
            </p:cNvPr>
            <p:cNvSpPr txBox="1"/>
            <p:nvPr/>
          </p:nvSpPr>
          <p:spPr>
            <a:xfrm>
              <a:off x="3913179" y="5160789"/>
              <a:ext cx="670770"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본사주소</a:t>
              </a:r>
              <a:endParaRPr lang="en-US" altLang="ko-KR" sz="700" dirty="0">
                <a:latin typeface="+mn-ea"/>
              </a:endParaRPr>
            </a:p>
            <a:p>
              <a:pPr>
                <a:lnSpc>
                  <a:spcPct val="200000"/>
                </a:lnSpc>
              </a:pPr>
              <a:r>
                <a:rPr lang="ko-KR" altLang="en-US" sz="700" dirty="0" err="1">
                  <a:latin typeface="+mn-ea"/>
                </a:rPr>
                <a:t>사업자번호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en-US" altLang="ko-KR" sz="700" dirty="0">
                  <a:latin typeface="+mn-ea"/>
                </a:rPr>
                <a:t>FAX</a:t>
              </a:r>
            </a:p>
          </p:txBody>
        </p:sp>
        <p:sp>
          <p:nvSpPr>
            <p:cNvPr id="80" name="TextBox 79">
              <a:extLst>
                <a:ext uri="{FF2B5EF4-FFF2-40B4-BE49-F238E27FC236}">
                  <a16:creationId xmlns:a16="http://schemas.microsoft.com/office/drawing/2014/main" id="{FFC49AEA-2A8F-250C-A86A-A7751D9706C3}"/>
                </a:ext>
              </a:extLst>
            </p:cNvPr>
            <p:cNvSpPr txBox="1"/>
            <p:nvPr/>
          </p:nvSpPr>
          <p:spPr>
            <a:xfrm>
              <a:off x="4670028" y="5160789"/>
              <a:ext cx="1784650"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a:p>
              <a:pPr>
                <a:lnSpc>
                  <a:spcPct val="200000"/>
                </a:lnSpc>
              </a:pPr>
              <a:r>
                <a:rPr lang="en-US" altLang="ko-KR" sz="700" dirty="0">
                  <a:latin typeface="+mn-ea"/>
                </a:rPr>
                <a:t>123-45-67890</a:t>
              </a:r>
            </a:p>
            <a:p>
              <a:pPr>
                <a:lnSpc>
                  <a:spcPct val="200000"/>
                </a:lnSpc>
              </a:pPr>
              <a:r>
                <a:rPr lang="en-US" altLang="ko-KR" sz="700" dirty="0">
                  <a:latin typeface="+mn-ea"/>
                </a:rPr>
                <a:t>02-1234-5678</a:t>
              </a:r>
            </a:p>
            <a:p>
              <a:pPr>
                <a:lnSpc>
                  <a:spcPct val="200000"/>
                </a:lnSpc>
              </a:pPr>
              <a:r>
                <a:rPr lang="en-US" altLang="ko-KR" sz="700" dirty="0">
                  <a:latin typeface="+mn-ea"/>
                </a:rPr>
                <a:t>02-1234-6789</a:t>
              </a: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826115" y="5391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3826115" y="56056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826115" y="58193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826115" y="60330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26115" y="6451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26115" y="6245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srgbClr val="0070C0"/>
                </a:solidFill>
                <a:effectLst/>
                <a:uLnTx/>
                <a:uFillTx/>
                <a:latin typeface="맑은 고딕"/>
                <a:ea typeface="+mn-ea"/>
                <a:cs typeface="+mn-cs"/>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Tree>
    <p:extLst>
      <p:ext uri="{BB962C8B-B14F-4D97-AF65-F5344CB8AC3E}">
        <p14:creationId xmlns:p14="http://schemas.microsoft.com/office/powerpoint/2010/main" val="276053045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41</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41F184BE-29FB-6417-8CB3-7896BA9DC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11270"/>
            <a:ext cx="278017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4853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889184">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35428">
                  <a:extLst>
                    <a:ext uri="{9D8B030D-6E8A-4147-A177-3AD203B41FA5}">
                      <a16:colId xmlns:a16="http://schemas.microsoft.com/office/drawing/2014/main" val="20004"/>
                    </a:ext>
                  </a:extLst>
                </a:gridCol>
                <a:gridCol w="250715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품목명세서 목록의 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ROWNUM</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3371819"/>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0081124"/>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4628599"/>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2502729"/>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0552881"/>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0406556"/>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0157412"/>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8627936"/>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7679206"/>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03754778"/>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7703084"/>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9082383"/>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75251317"/>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5084264"/>
                  </a:ext>
                </a:extLst>
              </a:tr>
            </a:tbl>
          </a:graphicData>
        </a:graphic>
      </p:graphicFrame>
    </p:spTree>
    <p:extLst>
      <p:ext uri="{BB962C8B-B14F-4D97-AF65-F5344CB8AC3E}">
        <p14:creationId xmlns:p14="http://schemas.microsoft.com/office/powerpoint/2010/main" val="116049737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42</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77376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518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395987">
                  <a:extLst>
                    <a:ext uri="{9D8B030D-6E8A-4147-A177-3AD203B41FA5}">
                      <a16:colId xmlns:a16="http://schemas.microsoft.com/office/drawing/2014/main" val="20002"/>
                    </a:ext>
                  </a:extLst>
                </a:gridCol>
                <a:gridCol w="496389">
                  <a:extLst>
                    <a:ext uri="{9D8B030D-6E8A-4147-A177-3AD203B41FA5}">
                      <a16:colId xmlns:a16="http://schemas.microsoft.com/office/drawing/2014/main" val="20003"/>
                    </a:ext>
                  </a:extLst>
                </a:gridCol>
                <a:gridCol w="444137">
                  <a:extLst>
                    <a:ext uri="{9D8B030D-6E8A-4147-A177-3AD203B41FA5}">
                      <a16:colId xmlns:a16="http://schemas.microsoft.com/office/drawing/2014/main" val="20004"/>
                    </a:ext>
                  </a:extLst>
                </a:gridCol>
                <a:gridCol w="2411356">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7030752"/>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1928661"/>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737147"/>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519030"/>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917182"/>
                  </a:ext>
                </a:extLst>
              </a:tr>
            </a:tbl>
          </a:graphicData>
        </a:graphic>
      </p:graphicFrame>
      <p:sp>
        <p:nvSpPr>
          <p:cNvPr id="2" name="TextBox 1">
            <a:extLst>
              <a:ext uri="{FF2B5EF4-FFF2-40B4-BE49-F238E27FC236}">
                <a16:creationId xmlns:a16="http://schemas.microsoft.com/office/drawing/2014/main" id="{14FFD3C4-48A8-9572-1C49-25F68DC3BD3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51C4F42-7186-1C0A-1597-341F2803A36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217583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43</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39022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통합사업관리시스템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252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:AC</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:RS</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busiName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매핑영문명이</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없음</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Asis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 작성</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추후 수정</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530222"/>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122618"/>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3762317"/>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0664758"/>
                  </a:ext>
                </a:extLst>
              </a:tr>
            </a:tbl>
          </a:graphicData>
        </a:graphic>
      </p:graphicFrame>
      <p:sp>
        <p:nvSpPr>
          <p:cNvPr id="8" name="TextBox 7">
            <a:extLst>
              <a:ext uri="{FF2B5EF4-FFF2-40B4-BE49-F238E27FC236}">
                <a16:creationId xmlns:a16="http://schemas.microsoft.com/office/drawing/2014/main" id="{A99DC3EC-FEB0-3897-369B-556B07609F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9" name="Text Box 73">
            <a:extLst>
              <a:ext uri="{FF2B5EF4-FFF2-40B4-BE49-F238E27FC236}">
                <a16:creationId xmlns:a16="http://schemas.microsoft.com/office/drawing/2014/main" id="{4A4A6CA4-5F2F-1032-8987-FF62233AA3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517578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44</a:t>
            </a:fld>
            <a:endParaRPr lang="ko-KR" altLang="en-US" dirty="0"/>
          </a:p>
        </p:txBody>
      </p:sp>
      <p:sp>
        <p:nvSpPr>
          <p:cNvPr id="10" name="Text Box 73">
            <a:extLst>
              <a:ext uri="{FF2B5EF4-FFF2-40B4-BE49-F238E27FC236}">
                <a16:creationId xmlns:a16="http://schemas.microsoft.com/office/drawing/2014/main" id="{796FF3F0-E8FC-C55A-2F77-C5CEF1203745}"/>
              </a:ext>
            </a:extLst>
          </p:cNvPr>
          <p:cNvSpPr txBox="1">
            <a:spLocks noChangeArrowheads="1"/>
          </p:cNvSpPr>
          <p:nvPr/>
        </p:nvSpPr>
        <p:spPr bwMode="auto">
          <a:xfrm>
            <a:off x="7769866" y="361577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2" name="TextBox 11">
            <a:extLst>
              <a:ext uri="{FF2B5EF4-FFF2-40B4-BE49-F238E27FC236}">
                <a16:creationId xmlns:a16="http://schemas.microsoft.com/office/drawing/2014/main" id="{C24F1A0C-392E-45F9-4145-F8DD2A3A911D}"/>
              </a:ext>
            </a:extLst>
          </p:cNvPr>
          <p:cNvSpPr txBox="1"/>
          <p:nvPr/>
        </p:nvSpPr>
        <p:spPr>
          <a:xfrm>
            <a:off x="458117" y="355716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F4BDD1B7-C6C6-7D80-62BD-6F529F0AEAB9}"/>
              </a:ext>
            </a:extLst>
          </p:cNvPr>
          <p:cNvGraphicFramePr>
            <a:graphicFrameLocks noGrp="1"/>
          </p:cNvGraphicFramePr>
          <p:nvPr>
            <p:extLst>
              <p:ext uri="{D42A27DB-BD31-4B8C-83A1-F6EECF244321}">
                <p14:modId xmlns:p14="http://schemas.microsoft.com/office/powerpoint/2010/main" val="2734355705"/>
              </p:ext>
            </p:extLst>
          </p:nvPr>
        </p:nvGraphicFramePr>
        <p:xfrm>
          <a:off x="453000" y="3835294"/>
          <a:ext cx="8995591" cy="825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scwin.btn_itemListOtpt_onclick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품목명세서 </a:t>
                      </a:r>
                      <a:r>
                        <a:rPr lang="en-US" altLang="ko-KR" sz="800" dirty="0">
                          <a:latin typeface="+mn-ea"/>
                        </a:rPr>
                        <a:t>Tab</a:t>
                      </a:r>
                      <a:r>
                        <a:rPr lang="ko-KR" altLang="en-US" sz="800" dirty="0">
                          <a:latin typeface="+mn-ea"/>
                        </a:rPr>
                        <a:t>화면의 내용을 </a:t>
                      </a:r>
                      <a:r>
                        <a:rPr lang="en-US" altLang="ko-KR" sz="800" dirty="0">
                          <a:latin typeface="+mn-ea"/>
                        </a:rPr>
                        <a:t>Report</a:t>
                      </a:r>
                      <a:r>
                        <a:rPr lang="ko-KR" altLang="en-US" sz="800" dirty="0">
                          <a:latin typeface="+mn-ea"/>
                        </a:rPr>
                        <a:t>로 출력 및 파일저장 처리를 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부서코드</a:t>
                      </a:r>
                      <a:r>
                        <a:rPr lang="en-US" altLang="ko-KR" sz="800" dirty="0">
                          <a:latin typeface="+mn-ea"/>
                          <a:ea typeface="+mn-ea"/>
                        </a:rPr>
                        <a:t>.substring(0.1) </a:t>
                      </a:r>
                    </a:p>
                    <a:p>
                      <a:pPr marL="0" indent="0" algn="l" latinLnBrk="1">
                        <a:buFont typeface="Arial" panose="020B0604020202020204" pitchFamily="34" charset="0"/>
                        <a:buNone/>
                      </a:pPr>
                      <a:r>
                        <a:rPr lang="en-US" altLang="ko-KR" sz="800" dirty="0">
                          <a:latin typeface="+mn-ea"/>
                          <a:ea typeface="+mn-ea"/>
                        </a:rPr>
                        <a:t>- ‘E :</a:t>
                      </a:r>
                      <a:r>
                        <a:rPr lang="ko-KR" altLang="en-US" sz="800" dirty="0">
                          <a:latin typeface="+mn-ea"/>
                          <a:ea typeface="+mn-ea"/>
                        </a:rPr>
                        <a:t>방위사업청</a:t>
                      </a:r>
                      <a:r>
                        <a:rPr lang="en-US" altLang="ko-KR" sz="800" dirty="0">
                          <a:latin typeface="+mn-ea"/>
                          <a:ea typeface="+mn-ea"/>
                        </a:rPr>
                        <a:t>‘  / ‘J:</a:t>
                      </a:r>
                      <a:r>
                        <a:rPr lang="ko-KR" altLang="en-US" sz="800" dirty="0">
                          <a:latin typeface="+mn-ea"/>
                          <a:ea typeface="+mn-ea"/>
                        </a:rPr>
                        <a:t>국방조달본부</a:t>
                      </a:r>
                      <a:r>
                        <a:rPr lang="en-US" altLang="ko-KR" sz="800" dirty="0">
                          <a:latin typeface="+mn-ea"/>
                          <a:ea typeface="+mn-ea"/>
                        </a:rPr>
                        <a:t>‘ :</a:t>
                      </a:r>
                      <a:r>
                        <a:rPr lang="ko-KR" altLang="en-US" sz="800" dirty="0">
                          <a:latin typeface="+mn-ea"/>
                          <a:ea typeface="+mn-ea"/>
                        </a:rPr>
                        <a:t> 품목명세서 </a:t>
                      </a:r>
                      <a:r>
                        <a:rPr lang="en-US" altLang="ko-KR" sz="800" dirty="0">
                          <a:latin typeface="+mn-ea"/>
                          <a:ea typeface="+mn-ea"/>
                        </a:rPr>
                        <a:t>(PDB025BC.ozr)</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a:t>
                      </a:r>
                      <a:r>
                        <a:rPr lang="ko-KR" altLang="en-US" sz="800" dirty="0">
                          <a:latin typeface="+mn-ea"/>
                          <a:ea typeface="+mn-ea"/>
                        </a:rPr>
                        <a:t>그 외 </a:t>
                      </a:r>
                      <a:r>
                        <a:rPr lang="en-US" altLang="ko-KR" sz="800" dirty="0">
                          <a:latin typeface="+mn-ea"/>
                          <a:ea typeface="+mn-ea"/>
                        </a:rPr>
                        <a:t>:</a:t>
                      </a:r>
                      <a:r>
                        <a:rPr lang="ko-KR" altLang="en-US" sz="800" dirty="0">
                          <a:latin typeface="+mn-ea"/>
                          <a:ea typeface="+mn-ea"/>
                        </a:rPr>
                        <a:t> 품목명세서 </a:t>
                      </a:r>
                      <a:r>
                        <a:rPr lang="en-US" altLang="ko-KR" sz="800" dirty="0">
                          <a:latin typeface="+mn-ea"/>
                          <a:ea typeface="+mn-ea"/>
                        </a:rPr>
                        <a:t>(PDB025BD.ozr)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8" name="TextBox 7">
            <a:extLst>
              <a:ext uri="{FF2B5EF4-FFF2-40B4-BE49-F238E27FC236}">
                <a16:creationId xmlns:a16="http://schemas.microsoft.com/office/drawing/2014/main" id="{1AB17BD7-28F4-C680-69D6-3B26D8F19914}"/>
              </a:ext>
            </a:extLst>
          </p:cNvPr>
          <p:cNvSpPr txBox="1"/>
          <p:nvPr/>
        </p:nvSpPr>
        <p:spPr>
          <a:xfrm>
            <a:off x="458117" y="805938"/>
            <a:ext cx="381892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부대조달정보체계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6508B470-D95E-FC7E-EE5F-E89DC172522A}"/>
              </a:ext>
            </a:extLst>
          </p:cNvPr>
          <p:cNvGraphicFramePr>
            <a:graphicFrameLocks noGrp="1"/>
          </p:cNvGraphicFramePr>
          <p:nvPr/>
        </p:nvGraphicFramePr>
        <p:xfrm>
          <a:off x="452999" y="1089692"/>
          <a:ext cx="8994883" cy="2111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bl>
          </a:graphicData>
        </a:graphic>
      </p:graphicFrame>
    </p:spTree>
    <p:extLst>
      <p:ext uri="{BB962C8B-B14F-4D97-AF65-F5344CB8AC3E}">
        <p14:creationId xmlns:p14="http://schemas.microsoft.com/office/powerpoint/2010/main" val="275347816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계약 특수 조건 항목 정보 표시</a:t>
            </a:r>
            <a:endParaRPr lang="en-US" altLang="ko-KR" dirty="0"/>
          </a:p>
          <a:p>
            <a:pPr marL="0" indent="0">
              <a:buNone/>
            </a:pPr>
            <a:r>
              <a:rPr lang="en-US" altLang="ko-KR" dirty="0"/>
              <a:t>- </a:t>
            </a:r>
            <a:r>
              <a:rPr lang="ko-KR" altLang="en-US" dirty="0" err="1"/>
              <a:t>계약방법이</a:t>
            </a:r>
            <a:r>
              <a:rPr lang="ko-KR" altLang="en-US" dirty="0"/>
              <a:t> ‘경쟁입찰‘ 중 계약특수조건 내용이 있는 경우 탭 표시</a:t>
            </a:r>
            <a:endParaRPr lang="en-US" altLang="ko-KR" dirty="0"/>
          </a:p>
          <a:p>
            <a:pPr marL="0" indent="0">
              <a:buNone/>
            </a:pPr>
            <a:r>
              <a:rPr lang="en-US" altLang="ko-KR" dirty="0" smtClean="0"/>
              <a:t>2</a:t>
            </a:r>
            <a:r>
              <a:rPr lang="en-US" altLang="ko-KR" dirty="0"/>
              <a:t>.</a:t>
            </a:r>
            <a:r>
              <a:rPr lang="ko-KR" altLang="en-US" dirty="0">
                <a:solidFill>
                  <a:srgbClr val="C00000"/>
                </a:solidFill>
              </a:rPr>
              <a:t>계약 특수 조건 입력 항목 </a:t>
            </a:r>
            <a:r>
              <a:rPr lang="en-US" altLang="ko-KR" dirty="0" smtClean="0">
                <a:solidFill>
                  <a:srgbClr val="C00000"/>
                </a:solidFill>
              </a:rPr>
              <a:t>(</a:t>
            </a:r>
            <a:r>
              <a:rPr lang="ko-KR" altLang="en-US" dirty="0" smtClean="0">
                <a:solidFill>
                  <a:srgbClr val="C00000"/>
                </a:solidFill>
              </a:rPr>
              <a:t>없음</a:t>
            </a:r>
            <a:r>
              <a:rPr lang="en-US" altLang="ko-KR" dirty="0" smtClean="0">
                <a:solidFill>
                  <a:srgbClr val="C00000"/>
                </a:solidFill>
              </a:rPr>
              <a:t>) </a:t>
            </a:r>
            <a:r>
              <a:rPr lang="ko-KR" altLang="en-US" dirty="0" smtClean="0">
                <a:solidFill>
                  <a:srgbClr val="C00000"/>
                </a:solidFill>
              </a:rPr>
              <a:t>표시</a:t>
            </a:r>
            <a:endParaRPr lang="en-US" altLang="ko-KR" dirty="0">
              <a:solidFill>
                <a:srgbClr val="C00000"/>
              </a:solidFill>
            </a:endParaRPr>
          </a:p>
          <a:p>
            <a:pPr marL="0" indent="0">
              <a:buNone/>
            </a:pPr>
            <a:r>
              <a:rPr lang="ko-KR" altLang="en-US" dirty="0"/>
              <a:t>전문 내용은 축약하지 않고 내용에 맞춰 확장하여 전체 스크롤 </a:t>
            </a:r>
            <a:r>
              <a:rPr lang="ko-KR" altLang="en-US" dirty="0" smtClean="0"/>
              <a:t>처리</a:t>
            </a:r>
            <a:endParaRPr lang="en-US" altLang="ko-KR" dirty="0" smtClean="0"/>
          </a:p>
          <a:p>
            <a:pPr marL="0" indent="0">
              <a:buNone/>
            </a:pPr>
            <a:endParaRPr lang="en-US" altLang="ko-KR" dirty="0"/>
          </a:p>
          <a:p>
            <a:pPr marL="0" indent="0">
              <a:buNone/>
            </a:pPr>
            <a:endParaRPr lang="en-US" altLang="ko-KR" dirty="0"/>
          </a:p>
          <a:p>
            <a:pPr>
              <a:buFontTx/>
              <a:buChar char="-"/>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계약특수조건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계약특수조건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계약특수조건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400" y="1493927"/>
            <a:ext cx="2660468"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15417"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57" name="그룹 156"/>
          <p:cNvGrpSpPr/>
          <p:nvPr/>
        </p:nvGrpSpPr>
        <p:grpSpPr>
          <a:xfrm flipV="1">
            <a:off x="3124233" y="1641326"/>
            <a:ext cx="92223"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76943"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11758" cy="1292662"/>
          </a:xfrm>
          <a:prstGeom prst="rect">
            <a:avLst/>
          </a:prstGeom>
          <a:noFill/>
        </p:spPr>
        <p:txBody>
          <a:bodyPr wrap="square" lIns="0" tIns="0" rIns="0" bIns="0" rtlCol="0">
            <a:spAutoFit/>
          </a:bodyPr>
          <a:lstStyle/>
          <a:p>
            <a:pPr>
              <a:lnSpc>
                <a:spcPct val="200000"/>
              </a:lnSpc>
            </a:pPr>
            <a:r>
              <a:rPr lang="ko-KR" altLang="en-US" sz="700" dirty="0" err="1">
                <a:latin typeface="+mn-ea"/>
              </a:rPr>
              <a:t>요구년도</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집행예정일</a:t>
            </a:r>
            <a:endParaRPr lang="en-US" altLang="ko-KR" sz="700" dirty="0">
              <a:latin typeface="+mn-ea"/>
            </a:endParaRPr>
          </a:p>
          <a:p>
            <a:pPr>
              <a:lnSpc>
                <a:spcPct val="200000"/>
              </a:lnSpc>
            </a:pPr>
            <a:r>
              <a:rPr lang="ko-KR" altLang="en-US" sz="700" dirty="0" err="1">
                <a:latin typeface="+mn-ea"/>
              </a:rPr>
              <a:t>계약예정일</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대표품명</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9975" cy="1292662"/>
          </a:xfrm>
          <a:prstGeom prst="rect">
            <a:avLst/>
          </a:prstGeom>
          <a:noFill/>
        </p:spPr>
        <p:txBody>
          <a:bodyPr wrap="square" lIns="0" tIns="0" rIns="0" bIns="0" rtlCol="0">
            <a:spAutoFit/>
          </a:bodyPr>
          <a:lstStyle/>
          <a:p>
            <a:pPr>
              <a:lnSpc>
                <a:spcPct val="200000"/>
              </a:lnSpc>
            </a:pPr>
            <a:r>
              <a:rPr lang="en-US" altLang="ko-KR" sz="700" dirty="0">
                <a:latin typeface="+mn-ea"/>
              </a:rPr>
              <a:t>0000</a:t>
            </a:r>
            <a:r>
              <a:rPr lang="ko-KR" altLang="en-US" sz="700" dirty="0">
                <a:latin typeface="+mn-ea"/>
              </a:rPr>
              <a:t>년도</a:t>
            </a:r>
            <a:endParaRPr lang="en-US" altLang="ko-KR" sz="700" dirty="0">
              <a:latin typeface="+mn-ea"/>
            </a:endParaRPr>
          </a:p>
          <a:p>
            <a:pPr>
              <a:lnSpc>
                <a:spcPct val="200000"/>
              </a:lnSpc>
            </a:pPr>
            <a:r>
              <a:rPr lang="en-US" altLang="ko-KR" sz="700" dirty="0">
                <a:latin typeface="+mn-ea"/>
              </a:rPr>
              <a:t>000 000 000</a:t>
            </a:r>
          </a:p>
          <a:p>
            <a:pPr>
              <a:lnSpc>
                <a:spcPct val="200000"/>
              </a:lnSpc>
            </a:pPr>
            <a:r>
              <a:rPr lang="en-US" altLang="ko-KR" sz="700" dirty="0">
                <a:latin typeface="+mn-ea"/>
              </a:rPr>
              <a:t>0000-00-00</a:t>
            </a:r>
          </a:p>
          <a:p>
            <a:pPr>
              <a:lnSpc>
                <a:spcPct val="200000"/>
              </a:lnSpc>
            </a:pPr>
            <a:r>
              <a:rPr lang="en-US" altLang="ko-KR" sz="700" dirty="0">
                <a:latin typeface="+mn-ea"/>
              </a:rPr>
              <a:t>0000-00-00</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7" name="그룹 16"/>
          <p:cNvGrpSpPr/>
          <p:nvPr/>
        </p:nvGrpSpPr>
        <p:grpSpPr>
          <a:xfrm>
            <a:off x="701176" y="1835481"/>
            <a:ext cx="2580092"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68858"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23671"/>
            <a:ext cx="266046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762146" y="3273753"/>
            <a:ext cx="1015417"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05" name="그룹 104"/>
          <p:cNvGrpSpPr/>
          <p:nvPr/>
        </p:nvGrpSpPr>
        <p:grpSpPr>
          <a:xfrm flipV="1">
            <a:off x="3124233" y="3387083"/>
            <a:ext cx="92223"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435959"/>
            <a:ext cx="266046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565226"/>
            <a:ext cx="2484538" cy="1508105"/>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계약특수조건 </a:t>
            </a:r>
            <a:r>
              <a:rPr lang="en-US" altLang="ko-KR" sz="700" dirty="0">
                <a:latin typeface="+mn-ea"/>
              </a:rPr>
              <a:t>1</a:t>
            </a:r>
          </a:p>
          <a:p>
            <a:pPr>
              <a:lnSpc>
                <a:spcPct val="200000"/>
              </a:lnSpc>
            </a:pPr>
            <a:r>
              <a:rPr lang="en-US" altLang="ko-KR" sz="700" dirty="0">
                <a:latin typeface="+mn-ea"/>
              </a:rPr>
              <a:t>2. </a:t>
            </a:r>
            <a:r>
              <a:rPr lang="ko-KR" altLang="en-US" sz="700" dirty="0">
                <a:latin typeface="+mn-ea"/>
              </a:rPr>
              <a:t>계약특수조건 </a:t>
            </a:r>
            <a:r>
              <a:rPr lang="en-US" altLang="ko-KR" sz="700" dirty="0">
                <a:latin typeface="+mn-ea"/>
              </a:rPr>
              <a:t>2</a:t>
            </a:r>
          </a:p>
          <a:p>
            <a:pPr>
              <a:lnSpc>
                <a:spcPct val="200000"/>
              </a:lnSpc>
            </a:pPr>
            <a:r>
              <a:rPr lang="en-US" altLang="ko-KR" sz="700" dirty="0">
                <a:latin typeface="+mn-ea"/>
              </a:rPr>
              <a:t>3. </a:t>
            </a:r>
            <a:r>
              <a:rPr lang="ko-KR" altLang="en-US" sz="700" dirty="0">
                <a:latin typeface="+mn-ea"/>
              </a:rPr>
              <a:t>계약특수조건 </a:t>
            </a:r>
            <a:r>
              <a:rPr lang="en-US" altLang="ko-KR" sz="700" dirty="0">
                <a:latin typeface="+mn-ea"/>
              </a:rPr>
              <a:t>3</a:t>
            </a:r>
          </a:p>
          <a:p>
            <a:pPr>
              <a:lnSpc>
                <a:spcPct val="200000"/>
              </a:lnSpc>
            </a:pPr>
            <a:r>
              <a:rPr lang="en-US" altLang="ko-KR" sz="700" dirty="0">
                <a:latin typeface="+mn-ea"/>
              </a:rPr>
              <a:t>4. </a:t>
            </a:r>
            <a:r>
              <a:rPr lang="ko-KR" altLang="en-US" sz="700" dirty="0">
                <a:latin typeface="+mn-ea"/>
              </a:rPr>
              <a:t>계약특수조건 </a:t>
            </a:r>
            <a:r>
              <a:rPr lang="en-US" altLang="ko-KR" sz="700" dirty="0">
                <a:latin typeface="+mn-ea"/>
              </a:rPr>
              <a:t>4</a:t>
            </a:r>
          </a:p>
          <a:p>
            <a:pPr>
              <a:lnSpc>
                <a:spcPct val="200000"/>
              </a:lnSpc>
            </a:pPr>
            <a:r>
              <a:rPr lang="en-US" altLang="ko-KR" sz="700" dirty="0">
                <a:latin typeface="+mn-ea"/>
              </a:rPr>
              <a:t>5. </a:t>
            </a:r>
            <a:r>
              <a:rPr lang="ko-KR" altLang="en-US" sz="700" dirty="0">
                <a:latin typeface="+mn-ea"/>
              </a:rPr>
              <a:t>계약특수조건 </a:t>
            </a:r>
            <a:r>
              <a:rPr lang="en-US" altLang="ko-KR" sz="700" dirty="0">
                <a:latin typeface="+mn-ea"/>
              </a:rPr>
              <a:t>5</a:t>
            </a:r>
          </a:p>
          <a:p>
            <a:pPr>
              <a:lnSpc>
                <a:spcPct val="200000"/>
              </a:lnSpc>
            </a:pPr>
            <a:r>
              <a:rPr lang="en-US" altLang="ko-KR" sz="700" dirty="0">
                <a:latin typeface="+mn-ea"/>
              </a:rPr>
              <a:t>6. </a:t>
            </a:r>
            <a:r>
              <a:rPr lang="ko-KR" altLang="en-US" sz="700" dirty="0">
                <a:latin typeface="+mn-ea"/>
              </a:rPr>
              <a:t>계약특수조건 </a:t>
            </a:r>
            <a:r>
              <a:rPr lang="en-US" altLang="ko-KR" sz="700" dirty="0">
                <a:latin typeface="+mn-ea"/>
              </a:rPr>
              <a:t>6</a:t>
            </a: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544731"/>
            <a:ext cx="2571999"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타원 111">
            <a:extLst>
              <a:ext uri="{FF2B5EF4-FFF2-40B4-BE49-F238E27FC236}">
                <a16:creationId xmlns:a16="http://schemas.microsoft.com/office/drawing/2014/main" id="{37A7FF4F-0EAA-1463-560A-D5EC24416103}"/>
              </a:ext>
            </a:extLst>
          </p:cNvPr>
          <p:cNvSpPr/>
          <p:nvPr/>
        </p:nvSpPr>
        <p:spPr>
          <a:xfrm>
            <a:off x="571127" y="3306387"/>
            <a:ext cx="168858"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2" name="직사각형 41"/>
          <p:cNvSpPr/>
          <p:nvPr/>
        </p:nvSpPr>
        <p:spPr>
          <a:xfrm>
            <a:off x="712377" y="3269723"/>
            <a:ext cx="2655869" cy="1795283"/>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3061349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7" name="TextBox 6">
            <a:extLst>
              <a:ext uri="{FF2B5EF4-FFF2-40B4-BE49-F238E27FC236}">
                <a16:creationId xmlns:a16="http://schemas.microsoft.com/office/drawing/2014/main" id="{D2898AB1-8736-AB97-26CD-6A60F05FD8FF}"/>
              </a:ext>
            </a:extLst>
          </p:cNvPr>
          <p:cNvSpPr txBox="1"/>
          <p:nvPr/>
        </p:nvSpPr>
        <p:spPr>
          <a:xfrm>
            <a:off x="458117" y="809361"/>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계약특수조건정보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3115"/>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요구년도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요구년도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집행예정월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a:latin typeface="+mn-ea"/>
                          <a:ea typeface="+mn-ea"/>
                        </a:rPr>
                        <a:t>계약예정월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:ETC</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대표품명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대표품명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140306"/>
                  </a:ext>
                </a:extLst>
              </a:tr>
            </a:tbl>
          </a:graphicData>
        </a:graphic>
      </p:graphicFrame>
      <p:sp>
        <p:nvSpPr>
          <p:cNvPr id="14" name="Text Box 73">
            <a:extLst>
              <a:ext uri="{FF2B5EF4-FFF2-40B4-BE49-F238E27FC236}">
                <a16:creationId xmlns:a16="http://schemas.microsoft.com/office/drawing/2014/main" id="{E8583043-26C0-3245-7098-315B27674F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5314295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lvl="0">
              <a:defRPr/>
            </a:pPr>
            <a:r>
              <a:rPr lang="ko-KR" altLang="en-US" dirty="0" err="1" smtClean="0"/>
              <a:t>공고문안</a:t>
            </a:r>
            <a:r>
              <a:rPr lang="ko-KR" altLang="en-US" dirty="0" smtClean="0"/>
              <a:t> 항목 정보 표시</a:t>
            </a:r>
            <a:r>
              <a:rPr lang="en-US" altLang="ko-KR" dirty="0" smtClean="0"/>
              <a:t/>
            </a:r>
            <a:br>
              <a:rPr lang="en-US" altLang="ko-KR" dirty="0" smtClean="0"/>
            </a:br>
            <a:r>
              <a:rPr lang="en-US" altLang="ko-KR" dirty="0" smtClean="0"/>
              <a:t>- </a:t>
            </a:r>
            <a:r>
              <a:rPr lang="ko-KR" altLang="en-US" dirty="0" smtClean="0"/>
              <a:t>자료구분값이 </a:t>
            </a:r>
            <a:r>
              <a:rPr lang="ko-KR" altLang="en-US" dirty="0" err="1" smtClean="0"/>
              <a:t>구자료</a:t>
            </a:r>
            <a:r>
              <a:rPr lang="en-US" altLang="ko-KR" dirty="0" smtClean="0"/>
              <a:t>(‘N’)</a:t>
            </a:r>
            <a:r>
              <a:rPr lang="ko-KR" altLang="en-US" dirty="0" smtClean="0"/>
              <a:t>일 경우 탭 표시</a:t>
            </a:r>
            <a:r>
              <a:rPr lang="en-US" altLang="ko-KR" dirty="0" smtClean="0"/>
              <a:t/>
            </a:r>
            <a:br>
              <a:rPr lang="en-US" altLang="ko-KR" dirty="0" smtClean="0"/>
            </a:br>
            <a:r>
              <a:rPr lang="en-US" altLang="ko-KR" dirty="0" smtClean="0"/>
              <a:t>- </a:t>
            </a:r>
            <a:r>
              <a:rPr lang="ko-KR" altLang="en-US" dirty="0" smtClean="0"/>
              <a:t>자료구분값이 </a:t>
            </a:r>
            <a:r>
              <a:rPr lang="ko-KR" altLang="en-US" dirty="0" err="1" smtClean="0"/>
              <a:t>신자료</a:t>
            </a:r>
            <a:r>
              <a:rPr lang="en-US" altLang="ko-KR" dirty="0" smtClean="0"/>
              <a:t>(‘Y’)</a:t>
            </a:r>
            <a:r>
              <a:rPr lang="ko-KR" altLang="en-US" dirty="0" smtClean="0"/>
              <a:t>일 경우 </a:t>
            </a:r>
            <a:r>
              <a:rPr lang="en-US" altLang="ko-KR" dirty="0" smtClean="0"/>
              <a:t>Tab</a:t>
            </a:r>
            <a:r>
              <a:rPr lang="ko-KR" altLang="en-US" dirty="0" smtClean="0"/>
              <a:t>은 노출되지 않고 첨부파일로 대체되어 일반정보 </a:t>
            </a:r>
            <a:r>
              <a:rPr lang="en-US" altLang="ko-KR" dirty="0" smtClean="0"/>
              <a:t>Tab</a:t>
            </a:r>
            <a:r>
              <a:rPr lang="ko-KR" altLang="en-US" dirty="0" smtClean="0"/>
              <a:t>의 첨부서류 항목에 조회된다</a:t>
            </a:r>
            <a:r>
              <a:rPr lang="en-US" altLang="ko-KR" dirty="0" smtClean="0"/>
              <a:t>.</a:t>
            </a:r>
            <a:br>
              <a:rPr lang="en-US" altLang="ko-KR" dirty="0" smtClean="0"/>
            </a:br>
            <a:r>
              <a:rPr lang="en-US" altLang="ko-KR" dirty="0" smtClean="0"/>
              <a:t>- </a:t>
            </a:r>
            <a:r>
              <a:rPr lang="ko-KR" altLang="en-US" dirty="0" err="1">
                <a:solidFill>
                  <a:prstClr val="black"/>
                </a:solidFill>
                <a:latin typeface="맑은 고딕" panose="020B0503020000020004" pitchFamily="50" charset="-127"/>
              </a:rPr>
              <a:t>업무구분이</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이고 </a:t>
            </a:r>
            <a:r>
              <a:rPr lang="ko-KR" altLang="en-US" dirty="0" err="1">
                <a:solidFill>
                  <a:prstClr val="black"/>
                </a:solidFill>
                <a:latin typeface="맑은 고딕" panose="020B0503020000020004" pitchFamily="50" charset="-127"/>
              </a:rPr>
              <a:t>계약방법이</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err="1">
                <a:solidFill>
                  <a:srgbClr val="C00000"/>
                </a:solidFill>
                <a:latin typeface="맑은 고딕" panose="020B0503020000020004" pitchFamily="50" charset="-127"/>
              </a:rPr>
              <a:t>협상에의한계약</a:t>
            </a:r>
            <a:r>
              <a:rPr lang="en-US" altLang="ko-KR" dirty="0">
                <a:solidFill>
                  <a:srgbClr val="C00000"/>
                </a:solidFill>
                <a:latin typeface="맑은 고딕" panose="020B0503020000020004" pitchFamily="50" charset="-127"/>
              </a:rPr>
              <a:t>(</a:t>
            </a:r>
            <a:r>
              <a:rPr lang="ko-KR" altLang="en-US" dirty="0">
                <a:solidFill>
                  <a:srgbClr val="C00000"/>
                </a:solidFill>
                <a:latin typeface="맑은 고딕" panose="020B0503020000020004" pitchFamily="50" charset="-127"/>
              </a:rPr>
              <a:t>서류</a:t>
            </a:r>
            <a:r>
              <a:rPr lang="en-US" altLang="ko-KR" dirty="0">
                <a:solidFill>
                  <a:srgbClr val="C00000"/>
                </a:solidFill>
                <a:latin typeface="맑은 고딕" panose="020B0503020000020004" pitchFamily="50" charset="-127"/>
              </a:rPr>
              <a:t>)</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일 경우 노출되는 </a:t>
            </a:r>
            <a:r>
              <a:rPr lang="ko-KR" altLang="en-US" dirty="0" smtClean="0">
                <a:solidFill>
                  <a:prstClr val="black"/>
                </a:solidFill>
                <a:latin typeface="맑은 고딕" panose="020B0503020000020004" pitchFamily="50" charset="-127"/>
              </a:rPr>
              <a:t>영역</a:t>
            </a:r>
            <a:r>
              <a:rPr lang="en-US" altLang="ko-KR" dirty="0" smtClean="0">
                <a:solidFill>
                  <a:prstClr val="black"/>
                </a:solidFill>
                <a:latin typeface="맑은 고딕" panose="020B0503020000020004" pitchFamily="50" charset="-127"/>
              </a:rPr>
              <a:t/>
            </a:r>
            <a:br>
              <a:rPr lang="en-US" altLang="ko-KR" dirty="0" smtClean="0">
                <a:solidFill>
                  <a:prstClr val="black"/>
                </a:solidFill>
                <a:latin typeface="맑은 고딕" panose="020B0503020000020004" pitchFamily="50" charset="-127"/>
              </a:rPr>
            </a:br>
            <a:r>
              <a:rPr lang="en-US" altLang="ko-KR" dirty="0" smtClean="0">
                <a:solidFill>
                  <a:prstClr val="black"/>
                </a:solidFill>
                <a:latin typeface="맑은 고딕" panose="020B0503020000020004" pitchFamily="50" charset="-127"/>
              </a:rPr>
              <a:t>- </a:t>
            </a:r>
            <a:r>
              <a:rPr lang="ko-KR" altLang="en-US" dirty="0" smtClean="0">
                <a:solidFill>
                  <a:prstClr val="black"/>
                </a:solidFill>
                <a:latin typeface="맑은 고딕" panose="020B0503020000020004" pitchFamily="50" charset="-127"/>
              </a:rPr>
              <a:t>로그인 </a:t>
            </a:r>
            <a:r>
              <a:rPr lang="ko-KR" altLang="en-US" dirty="0">
                <a:solidFill>
                  <a:prstClr val="black"/>
                </a:solidFill>
                <a:latin typeface="맑은 고딕" panose="020B0503020000020004" pitchFamily="50" charset="-127"/>
              </a:rPr>
              <a:t>이용자가 해당 </a:t>
            </a:r>
            <a:r>
              <a:rPr lang="ko-KR" altLang="en-US" b="1" dirty="0">
                <a:solidFill>
                  <a:prstClr val="black"/>
                </a:solidFill>
                <a:latin typeface="맑은 고딕" panose="020B0503020000020004" pitchFamily="50" charset="-127"/>
              </a:rPr>
              <a:t>공고의 등록자</a:t>
            </a:r>
            <a:r>
              <a:rPr lang="en-US" altLang="ko-KR" b="1" dirty="0">
                <a:solidFill>
                  <a:prstClr val="black"/>
                </a:solidFill>
                <a:latin typeface="맑은 고딕" panose="020B0503020000020004" pitchFamily="50" charset="-127"/>
              </a:rPr>
              <a:t>/</a:t>
            </a:r>
            <a:r>
              <a:rPr lang="ko-KR" altLang="en-US" b="1" dirty="0" err="1">
                <a:solidFill>
                  <a:prstClr val="black"/>
                </a:solidFill>
                <a:latin typeface="맑은 고딕" panose="020B0503020000020004" pitchFamily="50" charset="-127"/>
              </a:rPr>
              <a:t>방위사업청</a:t>
            </a:r>
            <a:r>
              <a:rPr lang="ko-KR" altLang="en-US" b="1" dirty="0">
                <a:solidFill>
                  <a:prstClr val="black"/>
                </a:solidFill>
                <a:latin typeface="맑은 고딕" panose="020B0503020000020004" pitchFamily="50" charset="-127"/>
              </a:rPr>
              <a:t> </a:t>
            </a:r>
            <a:r>
              <a:rPr lang="ko-KR" altLang="en-US" b="1" dirty="0" smtClean="0">
                <a:solidFill>
                  <a:prstClr val="black"/>
                </a:solidFill>
                <a:latin typeface="맑은 고딕" panose="020B0503020000020004" pitchFamily="50" charset="-127"/>
              </a:rPr>
              <a:t>소속</a:t>
            </a:r>
            <a:r>
              <a:rPr lang="en-US" altLang="ko-KR" b="1" dirty="0" smtClean="0">
                <a:solidFill>
                  <a:prstClr val="black"/>
                </a:solidFill>
                <a:latin typeface="맑은 고딕" panose="020B0503020000020004" pitchFamily="50" charset="-127"/>
              </a:rPr>
              <a:t>(</a:t>
            </a:r>
            <a:r>
              <a:rPr lang="ko-KR" altLang="en-US" b="1" dirty="0" smtClean="0">
                <a:solidFill>
                  <a:prstClr val="black"/>
                </a:solidFill>
                <a:latin typeface="맑은 고딕" panose="020B0503020000020004" pitchFamily="50" charset="-127"/>
              </a:rPr>
              <a:t>관리자</a:t>
            </a:r>
            <a:r>
              <a:rPr lang="en-US" altLang="ko-KR" b="1" dirty="0" smtClean="0">
                <a:solidFill>
                  <a:prstClr val="black"/>
                </a:solidFill>
                <a:latin typeface="맑은 고딕" panose="020B0503020000020004" pitchFamily="50" charset="-127"/>
              </a:rPr>
              <a:t>) </a:t>
            </a:r>
            <a:r>
              <a:rPr lang="ko-KR" altLang="en-US" dirty="0" smtClean="0">
                <a:solidFill>
                  <a:prstClr val="black"/>
                </a:solidFill>
                <a:latin typeface="맑은 고딕" panose="020B0503020000020004" pitchFamily="50" charset="-127"/>
              </a:rPr>
              <a:t>일 </a:t>
            </a:r>
            <a:r>
              <a:rPr lang="ko-KR" altLang="en-US" dirty="0">
                <a:solidFill>
                  <a:prstClr val="black"/>
                </a:solidFill>
                <a:latin typeface="맑은 고딕" panose="020B0503020000020004" pitchFamily="50" charset="-127"/>
              </a:rPr>
              <a:t>경우 노출되는 영역</a:t>
            </a:r>
            <a:endParaRPr lang="en-US" altLang="ko-KR" dirty="0">
              <a:solidFill>
                <a:prstClr val="black"/>
              </a:solidFill>
              <a:latin typeface="맑은 고딕" panose="020B0503020000020004" pitchFamily="50" charset="-127"/>
            </a:endParaRPr>
          </a:p>
          <a:p>
            <a:pPr>
              <a:buFont typeface="+mj-lt"/>
              <a:buAutoNum type="arabicPeriod"/>
            </a:pPr>
            <a:endParaRPr lang="en-US" altLang="ko-KR" dirty="0" smtClean="0"/>
          </a:p>
          <a:p>
            <a:pPr>
              <a:buFont typeface="+mj-lt"/>
              <a:buAutoNum type="arabicPeriod"/>
            </a:pPr>
            <a:r>
              <a:rPr lang="ko-KR" altLang="en-US" dirty="0" err="1" smtClean="0">
                <a:solidFill>
                  <a:srgbClr val="C00000"/>
                </a:solidFill>
              </a:rPr>
              <a:t>공고문안</a:t>
            </a:r>
            <a:r>
              <a:rPr lang="ko-KR" altLang="en-US" dirty="0" smtClean="0"/>
              <a:t> 입력 항목 표시</a:t>
            </a:r>
            <a:r>
              <a:rPr lang="en-US" altLang="ko-KR" dirty="0" smtClean="0"/>
              <a:t/>
            </a:r>
            <a:br>
              <a:rPr lang="en-US" altLang="ko-KR" dirty="0" smtClean="0"/>
            </a:br>
            <a:r>
              <a:rPr lang="en-US" altLang="ko-KR" dirty="0" smtClean="0"/>
              <a:t>- </a:t>
            </a:r>
            <a:r>
              <a:rPr lang="ko-KR" altLang="en-US" dirty="0" smtClean="0"/>
              <a:t>전문 내용은 축약하지 않고 내용에 맞춰 확장하여 전체 스크롤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공고문안</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공고문안</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공고문안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err="1">
                <a:latin typeface="+mn-ea"/>
              </a:rPr>
              <a:t>공고문안</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1609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290218"/>
            <a:ext cx="2532688"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2697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 name="모서리가 둥근 직사각형 34"/>
          <p:cNvSpPr/>
          <p:nvPr/>
        </p:nvSpPr>
        <p:spPr>
          <a:xfrm>
            <a:off x="705041" y="1831489"/>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793811" y="1929773"/>
            <a:ext cx="2475203" cy="1077218"/>
          </a:xfrm>
          <a:prstGeom prst="rect">
            <a:avLst/>
          </a:prstGeom>
          <a:noFill/>
        </p:spPr>
        <p:txBody>
          <a:bodyPr wrap="square" lIns="0" tIns="0" rIns="0" bIns="0" rtlCol="0">
            <a:spAutoFit/>
          </a:bodyPr>
          <a:lstStyle/>
          <a:p>
            <a:r>
              <a:rPr lang="ko-KR" altLang="en-US" sz="700" dirty="0" smtClean="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중 </a:t>
            </a:r>
            <a:r>
              <a:rPr lang="ko-KR" altLang="en-US" sz="700" dirty="0" err="1">
                <a:solidFill>
                  <a:schemeClr val="tx1">
                    <a:lumMod val="85000"/>
                    <a:lumOff val="15000"/>
                  </a:schemeClr>
                </a:solidFill>
                <a:latin typeface="맑은 고딕" panose="020B0503020000020004" pitchFamily="50" charset="-127"/>
              </a:rPr>
              <a:t>공개자료와</a:t>
            </a:r>
            <a:r>
              <a:rPr lang="ko-KR" altLang="en-US" sz="700" dirty="0">
                <a:solidFill>
                  <a:schemeClr val="tx1">
                    <a:lumMod val="85000"/>
                    <a:lumOff val="15000"/>
                  </a:schemeClr>
                </a:solidFill>
                <a:latin typeface="맑은 고딕" panose="020B0503020000020004" pitchFamily="50" charset="-127"/>
              </a:rPr>
              <a:t> 비공개자료는 열람 방식이 </a:t>
            </a:r>
            <a:r>
              <a:rPr lang="ko-KR" altLang="en-US" sz="700" dirty="0" err="1">
                <a:solidFill>
                  <a:schemeClr val="tx1">
                    <a:lumMod val="85000"/>
                    <a:lumOff val="15000"/>
                  </a:schemeClr>
                </a:solidFill>
                <a:latin typeface="맑은 고딕" panose="020B0503020000020004" pitchFamily="50" charset="-127"/>
              </a:rPr>
              <a:t>다름니다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지원 방법을 꼭 확인 하시기 바랍니다</a:t>
            </a:r>
            <a:r>
              <a:rPr lang="en-US" altLang="ko-KR" sz="700" dirty="0">
                <a:solidFill>
                  <a:schemeClr val="tx1">
                    <a:lumMod val="85000"/>
                    <a:lumOff val="15000"/>
                  </a:schemeClr>
                </a:solidFill>
                <a:latin typeface="맑은 고딕" panose="020B0503020000020004" pitchFamily="50" charset="-127"/>
              </a:rPr>
              <a:t>. </a:t>
            </a:r>
            <a:r>
              <a:rPr lang="en-US" altLang="ko-KR" sz="700" b="1" u="sng" dirty="0">
                <a:solidFill>
                  <a:srgbClr val="0070C0"/>
                </a:solidFill>
                <a:latin typeface="맑은 고딕" panose="020B0503020000020004" pitchFamily="50" charset="-127"/>
              </a:rPr>
              <a:t>(</a:t>
            </a:r>
            <a:r>
              <a:rPr lang="ko-KR" altLang="en-US" sz="700" b="1" u="sng" dirty="0">
                <a:solidFill>
                  <a:srgbClr val="0070C0"/>
                </a:solidFill>
                <a:latin typeface="맑은 고딕" panose="020B0503020000020004" pitchFamily="50" charset="-127"/>
              </a:rPr>
              <a:t>규격자료지원방법</a:t>
            </a:r>
            <a:r>
              <a:rPr lang="en-US" altLang="ko-KR" sz="700" b="1" u="sng" dirty="0">
                <a:solidFill>
                  <a:srgbClr val="0070C0"/>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규격서상</a:t>
            </a:r>
            <a:r>
              <a:rPr lang="ko-KR" altLang="en-US" sz="700" dirty="0">
                <a:solidFill>
                  <a:schemeClr val="tx1">
                    <a:lumMod val="85000"/>
                    <a:lumOff val="15000"/>
                  </a:schemeClr>
                </a:solidFill>
                <a:latin typeface="맑은 고딕" panose="020B0503020000020004" pitchFamily="50" charset="-127"/>
              </a:rPr>
              <a:t> 각종 성능시험 요건을 입찰 전에 확인 하시기 바랍니다</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성능시험을 수행할 책임은 </a:t>
            </a:r>
            <a:r>
              <a:rPr lang="ko-KR" altLang="en-US" sz="700" dirty="0" err="1">
                <a:solidFill>
                  <a:schemeClr val="tx1">
                    <a:lumMod val="85000"/>
                    <a:lumOff val="15000"/>
                  </a:schemeClr>
                </a:solidFill>
                <a:latin typeface="맑은 고딕" panose="020B0503020000020004" pitchFamily="50" charset="-127"/>
              </a:rPr>
              <a:t>계약업체에</a:t>
            </a:r>
            <a:r>
              <a:rPr lang="ko-KR" altLang="en-US" sz="700" dirty="0">
                <a:solidFill>
                  <a:schemeClr val="tx1">
                    <a:lumMod val="85000"/>
                    <a:lumOff val="15000"/>
                  </a:schemeClr>
                </a:solidFill>
                <a:latin typeface="맑은 고딕" panose="020B0503020000020004" pitchFamily="50" charset="-127"/>
              </a:rPr>
              <a:t> 있습니다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계약서의 납기와 품질보증형태를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계약특수조건의 품질보증기간을 꼭 확인 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b="1" u="sng" dirty="0">
              <a:solidFill>
                <a:srgbClr val="0070C0"/>
              </a:solidFill>
              <a:latin typeface="맑은 고딕" panose="020B0503020000020004" pitchFamily="50" charset="-127"/>
            </a:endParaRPr>
          </a:p>
        </p:txBody>
      </p:sp>
      <p:sp>
        <p:nvSpPr>
          <p:cNvPr id="37" name="타원 36"/>
          <p:cNvSpPr/>
          <p:nvPr/>
        </p:nvSpPr>
        <p:spPr>
          <a:xfrm>
            <a:off x="789853" y="192012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p:cNvGrpSpPr/>
          <p:nvPr/>
        </p:nvGrpSpPr>
        <p:grpSpPr>
          <a:xfrm flipV="1">
            <a:off x="3138674" y="1968620"/>
            <a:ext cx="94010" cy="47005"/>
            <a:chOff x="6812560" y="3297172"/>
            <a:chExt cx="94010" cy="47005"/>
          </a:xfrm>
        </p:grpSpPr>
        <p:cxnSp>
          <p:nvCxnSpPr>
            <p:cNvPr id="39" name="직선 연결선 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0" name="직선 연결선 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1" name="타원 40">
            <a:extLst>
              <a:ext uri="{FF2B5EF4-FFF2-40B4-BE49-F238E27FC236}">
                <a16:creationId xmlns:a16="http://schemas.microsoft.com/office/drawing/2014/main" id="{37A7FF4F-0EAA-1463-560A-D5EC24416103}"/>
              </a:ext>
            </a:extLst>
          </p:cNvPr>
          <p:cNvSpPr/>
          <p:nvPr/>
        </p:nvSpPr>
        <p:spPr>
          <a:xfrm>
            <a:off x="571127" y="33138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 name="직사각형 6"/>
          <p:cNvSpPr/>
          <p:nvPr/>
        </p:nvSpPr>
        <p:spPr>
          <a:xfrm>
            <a:off x="7103286" y="6036456"/>
            <a:ext cx="2300284" cy="1355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600" dirty="0" err="1" smtClean="0"/>
              <a:t>계약관</a:t>
            </a:r>
            <a:r>
              <a:rPr lang="ko-KR" altLang="en-US" sz="600" dirty="0" smtClean="0"/>
              <a:t> 화면인지 </a:t>
            </a:r>
            <a:r>
              <a:rPr lang="ko-KR" altLang="en-US" sz="600" dirty="0" err="1" smtClean="0"/>
              <a:t>화면사용여부확인필요</a:t>
            </a:r>
            <a:endParaRPr lang="ko-KR" altLang="en-US" sz="600" dirty="0"/>
          </a:p>
        </p:txBody>
      </p:sp>
    </p:spTree>
    <p:extLst>
      <p:ext uri="{BB962C8B-B14F-4D97-AF65-F5344CB8AC3E}">
        <p14:creationId xmlns:p14="http://schemas.microsoft.com/office/powerpoint/2010/main" val="388132544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0F472CB0-E797-B018-37D5-B76A0434B3A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3387"/>
            <a:ext cx="212775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공고문안정보</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extLst>
              <p:ext uri="{D42A27DB-BD31-4B8C-83A1-F6EECF244321}">
                <p14:modId xmlns:p14="http://schemas.microsoft.com/office/powerpoint/2010/main" val="2518286634"/>
              </p:ext>
            </p:extLst>
          </p:nvPr>
        </p:nvGraphicFramePr>
        <p:xfrm>
          <a:off x="452999" y="1087141"/>
          <a:ext cx="8994883" cy="753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공고문안 내용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1.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이고 계약방법이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srgbClr val="C00000"/>
                          </a:solidFill>
                          <a:effectLst/>
                          <a:uLnTx/>
                          <a:uFillTx/>
                          <a:latin typeface="맑은 고딕" panose="020B0503020000020004" pitchFamily="50" charset="-127"/>
                          <a:ea typeface="맑은 고딕" panose="020B0503020000020004" pitchFamily="50" charset="-127"/>
                          <a:cs typeface="+mn-cs"/>
                        </a:rPr>
                        <a:t>협상에의한계약</a:t>
                      </a:r>
                      <a:r>
                        <a:rPr kumimoji="0" lang="en-US" altLang="ko-KR"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서류</a:t>
                      </a:r>
                      <a:r>
                        <a:rPr kumimoji="0" lang="en-US" altLang="ko-KR"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2.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로그인 이용자가 해당 공고의 등록자</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방위사업청 소속일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2316997"/>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954483">
                  <a:extLst>
                    <a:ext uri="{9D8B030D-6E8A-4147-A177-3AD203B41FA5}">
                      <a16:colId xmlns:a16="http://schemas.microsoft.com/office/drawing/2014/main" val="20001"/>
                    </a:ext>
                  </a:extLst>
                </a:gridCol>
                <a:gridCol w="2786534">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출력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Scwin.btn_pbancCnOtpt_onclick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공고문안내용을 </a:t>
                      </a:r>
                      <a:r>
                        <a:rPr lang="en-US" altLang="ko-KR" sz="800" dirty="0">
                          <a:latin typeface="+mn-ea"/>
                        </a:rPr>
                        <a:t>Report</a:t>
                      </a:r>
                      <a:r>
                        <a:rPr lang="ko-KR" altLang="en-US" sz="800" dirty="0">
                          <a:latin typeface="+mn-ea"/>
                        </a:rPr>
                        <a:t>로 출력한다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일 경우 버튼 노출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2. </a:t>
                      </a:r>
                      <a:r>
                        <a:rPr lang="ko-KR" altLang="en-US" sz="800" dirty="0">
                          <a:latin typeface="+mn-ea"/>
                          <a:ea typeface="+mn-ea"/>
                        </a:rPr>
                        <a:t>공고문안</a:t>
                      </a:r>
                      <a:r>
                        <a:rPr lang="en-US" altLang="ko-KR" sz="800" dirty="0">
                          <a:latin typeface="+mn-ea"/>
                          <a:ea typeface="+mn-ea"/>
                        </a:rPr>
                        <a:t>Report : PDB014.ozr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203886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18577984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입찰진행현황 항목 정보 표시</a:t>
            </a:r>
            <a:r>
              <a:rPr lang="en-US" altLang="ko-KR" dirty="0"/>
              <a:t/>
            </a:r>
            <a:br>
              <a:rPr lang="en-US" altLang="ko-KR" dirty="0"/>
            </a:br>
            <a:r>
              <a:rPr lang="en-US" altLang="ko-KR" dirty="0"/>
              <a:t>- </a:t>
            </a:r>
            <a:r>
              <a:rPr lang="ko-KR" altLang="en-US" dirty="0" err="1"/>
              <a:t>현재일자가</a:t>
            </a:r>
            <a:r>
              <a:rPr lang="ko-KR" altLang="en-US" dirty="0"/>
              <a:t> </a:t>
            </a:r>
            <a:r>
              <a:rPr lang="ko-KR" altLang="en-US" dirty="0" err="1"/>
              <a:t>개찰일시</a:t>
            </a:r>
            <a:r>
              <a:rPr lang="ko-KR" altLang="en-US" dirty="0"/>
              <a:t> 이후일 경우 입찰진행현황 탭 표시</a:t>
            </a:r>
            <a:r>
              <a:rPr lang="en-US" altLang="ko-KR" dirty="0"/>
              <a:t/>
            </a:r>
            <a:br>
              <a:rPr lang="en-US" altLang="ko-KR" dirty="0"/>
            </a:br>
            <a:r>
              <a:rPr lang="en-US" altLang="ko-KR" dirty="0"/>
              <a:t>- </a:t>
            </a:r>
            <a:r>
              <a:rPr lang="ko-KR" altLang="en-US" dirty="0"/>
              <a:t>물품</a:t>
            </a:r>
            <a:r>
              <a:rPr lang="en-US" altLang="ko-KR" dirty="0"/>
              <a:t>/</a:t>
            </a:r>
            <a:r>
              <a:rPr lang="ko-KR" altLang="en-US" dirty="0"/>
              <a:t>용역 공고일 경우 </a:t>
            </a:r>
            <a:r>
              <a:rPr lang="ko-KR" altLang="en-US" dirty="0" err="1"/>
              <a:t>무효처리된</a:t>
            </a:r>
            <a:r>
              <a:rPr lang="ko-KR" altLang="en-US" dirty="0"/>
              <a:t> 공고 </a:t>
            </a:r>
            <a:r>
              <a:rPr lang="en-US" altLang="ko-KR" dirty="0"/>
              <a:t/>
            </a:r>
            <a:br>
              <a:rPr lang="en-US" altLang="ko-KR" dirty="0"/>
            </a:br>
            <a:r>
              <a:rPr lang="en-US" altLang="ko-KR" dirty="0" smtClean="0"/>
              <a:t>-</a:t>
            </a:r>
            <a:r>
              <a:rPr lang="ko-KR" altLang="en-US" dirty="0" err="1" smtClean="0"/>
              <a:t>계약방법이</a:t>
            </a:r>
            <a:r>
              <a:rPr lang="ko-KR" altLang="en-US" dirty="0" smtClean="0"/>
              <a:t> </a:t>
            </a:r>
            <a:r>
              <a:rPr lang="ko-KR" altLang="en-US" dirty="0"/>
              <a:t>‘</a:t>
            </a:r>
            <a:r>
              <a:rPr lang="ko-KR" altLang="en-US" dirty="0" err="1"/>
              <a:t>협상에의한계약</a:t>
            </a:r>
            <a:r>
              <a:rPr lang="en-US" altLang="ko-KR" dirty="0"/>
              <a:t>(</a:t>
            </a:r>
            <a:r>
              <a:rPr lang="ko-KR" altLang="en-US" dirty="0"/>
              <a:t>서류</a:t>
            </a:r>
            <a:r>
              <a:rPr lang="en-US" altLang="ko-KR" dirty="0"/>
              <a:t>)’</a:t>
            </a:r>
            <a:r>
              <a:rPr lang="ko-KR" altLang="en-US" dirty="0"/>
              <a:t>일 경우 탭 숨김</a:t>
            </a:r>
            <a:r>
              <a:rPr lang="en-US" altLang="ko-KR" dirty="0"/>
              <a:t/>
            </a:r>
            <a:br>
              <a:rPr lang="en-US" altLang="ko-KR" dirty="0"/>
            </a:br>
            <a:r>
              <a:rPr lang="en-US" altLang="ko-KR" dirty="0"/>
              <a:t>- </a:t>
            </a:r>
            <a:r>
              <a:rPr lang="ko-KR" altLang="en-US" dirty="0"/>
              <a:t>공사 공고일 경우 </a:t>
            </a:r>
            <a:r>
              <a:rPr lang="ko-KR" altLang="en-US" dirty="0" err="1"/>
              <a:t>무효처리된</a:t>
            </a:r>
            <a:r>
              <a:rPr lang="ko-KR" altLang="en-US" dirty="0"/>
              <a:t> 공고일 경우 탭 숨김</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항목에서 조회</a:t>
            </a:r>
            <a:endParaRPr lang="en-US" altLang="ko-KR" dirty="0"/>
          </a:p>
          <a:p>
            <a:pPr>
              <a:buFont typeface="+mj-lt"/>
              <a:buAutoNum type="arabicPeriod"/>
            </a:pPr>
            <a:r>
              <a:rPr lang="ko-KR" altLang="en-US" dirty="0"/>
              <a:t>클릭 시 입찰결과상세화면으로 화면이동</a:t>
            </a:r>
            <a:r>
              <a:rPr lang="en-US" altLang="ko-KR" dirty="0"/>
              <a:t/>
            </a:r>
            <a:br>
              <a:rPr lang="en-US" altLang="ko-KR" dirty="0"/>
            </a:br>
            <a:r>
              <a:rPr lang="en-US" altLang="ko-KR" dirty="0"/>
              <a:t>- </a:t>
            </a:r>
            <a:r>
              <a:rPr lang="ko-KR" altLang="en-US" dirty="0"/>
              <a:t>버튼 활성화 상태 </a:t>
            </a:r>
            <a:r>
              <a:rPr lang="en-US" altLang="ko-KR" dirty="0"/>
              <a:t>: </a:t>
            </a:r>
            <a:r>
              <a:rPr lang="ko-KR" altLang="en-US" dirty="0" err="1"/>
              <a:t>개찰완료</a:t>
            </a:r>
            <a:r>
              <a:rPr lang="en-US" altLang="ko-KR" dirty="0"/>
              <a:t>, </a:t>
            </a:r>
            <a:r>
              <a:rPr lang="ko-KR" altLang="en-US" dirty="0"/>
              <a:t>유찰</a:t>
            </a:r>
            <a:r>
              <a:rPr lang="en-US" altLang="ko-KR" dirty="0"/>
              <a:t/>
            </a:r>
            <a:br>
              <a:rPr lang="en-US" altLang="ko-KR" dirty="0"/>
            </a:br>
            <a:r>
              <a:rPr lang="en-US" altLang="ko-KR" dirty="0"/>
              <a:t>- </a:t>
            </a:r>
            <a:r>
              <a:rPr lang="ko-KR" altLang="en-US" dirty="0"/>
              <a:t>나머지 상태에서 버튼 </a:t>
            </a:r>
            <a:r>
              <a:rPr lang="ko-KR" altLang="en-US" dirty="0" smtClean="0"/>
              <a:t>비활성화</a:t>
            </a:r>
            <a:r>
              <a:rPr lang="en-US" altLang="ko-KR" dirty="0"/>
              <a:t/>
            </a:r>
            <a:br>
              <a:rPr lang="en-US" altLang="ko-KR" dirty="0"/>
            </a:br>
            <a:r>
              <a:rPr lang="en-US" altLang="ko-KR" dirty="0"/>
              <a:t>- </a:t>
            </a:r>
            <a:r>
              <a:rPr lang="ko-KR" altLang="en-US" dirty="0" smtClean="0"/>
              <a:t>입찰결과상세</a:t>
            </a:r>
            <a:r>
              <a:rPr lang="en-US" altLang="ko-KR" dirty="0" smtClean="0"/>
              <a:t>-&gt;</a:t>
            </a:r>
            <a:r>
              <a:rPr lang="ko-KR" altLang="en-US" dirty="0" smtClean="0"/>
              <a:t>일반정보 탭으로 이동</a:t>
            </a:r>
            <a:r>
              <a:rPr lang="en-US" altLang="ko-KR" dirty="0"/>
              <a:t>(</a:t>
            </a:r>
            <a:r>
              <a:rPr lang="en-US" altLang="ko-KR" dirty="0" smtClean="0"/>
              <a:t>MUI-BD-09-M0)</a:t>
            </a:r>
            <a:endParaRPr lang="ko-KR" altLang="en-US" dirty="0"/>
          </a:p>
          <a:p>
            <a:pPr>
              <a:buFont typeface="+mj-lt"/>
              <a:buAutoNum type="arabicPeriod"/>
            </a:pPr>
            <a:r>
              <a:rPr lang="ko-KR" altLang="en-US" dirty="0"/>
              <a:t>항목이 더 있는 경우</a:t>
            </a:r>
            <a:r>
              <a:rPr lang="en-US" altLang="ko-KR" dirty="0"/>
              <a:t/>
            </a:r>
            <a:br>
              <a:rPr lang="en-US" altLang="ko-KR" dirty="0"/>
            </a:br>
            <a:r>
              <a:rPr lang="en-US" altLang="ko-KR" dirty="0"/>
              <a:t>- </a:t>
            </a:r>
            <a:r>
              <a:rPr lang="ko-KR" altLang="en-US" dirty="0"/>
              <a:t>항목이 여러 개인 경우 하단으로 테이블 추가하여 </a:t>
            </a:r>
            <a:r>
              <a:rPr lang="ko-KR" altLang="en-US" dirty="0" smtClean="0"/>
              <a:t>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입찰진행현황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입찰진행현황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입찰진행현황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a:latin typeface="+mn-ea"/>
              </a:rPr>
              <a:t>입찰진행현황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43" name="사각형: 둥근 모서리 15">
            <a:extLst>
              <a:ext uri="{FF2B5EF4-FFF2-40B4-BE49-F238E27FC236}">
                <a16:creationId xmlns:a16="http://schemas.microsoft.com/office/drawing/2014/main" id="{E2B61CFB-AD16-68D0-8752-50D9C5E01971}"/>
              </a:ext>
            </a:extLst>
          </p:cNvPr>
          <p:cNvSpPr/>
          <p:nvPr/>
        </p:nvSpPr>
        <p:spPr>
          <a:xfrm>
            <a:off x="711214" y="3408612"/>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cxnSp>
        <p:nvCxnSpPr>
          <p:cNvPr id="45" name="직선 연결선 44">
            <a:extLst>
              <a:ext uri="{FF2B5EF4-FFF2-40B4-BE49-F238E27FC236}">
                <a16:creationId xmlns:a16="http://schemas.microsoft.com/office/drawing/2014/main" id="{E9293055-D5CD-4B9E-7F64-64B2D2CA7A52}"/>
              </a:ext>
            </a:extLst>
          </p:cNvPr>
          <p:cNvCxnSpPr/>
          <p:nvPr/>
        </p:nvCxnSpPr>
        <p:spPr>
          <a:xfrm>
            <a:off x="675400" y="575345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35481"/>
            <a:ext cx="2630093" cy="1503181"/>
            <a:chOff x="3821510" y="1835481"/>
            <a:chExt cx="2630093" cy="1503181"/>
          </a:xfrm>
        </p:grpSpPr>
        <p:sp>
          <p:nvSpPr>
            <p:cNvPr id="53" name="직사각형 52"/>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FFC49AEA-2A8F-250C-A86A-A7751D9706C3}"/>
                </a:ext>
              </a:extLst>
            </p:cNvPr>
            <p:cNvSpPr txBox="1"/>
            <p:nvPr/>
          </p:nvSpPr>
          <p:spPr>
            <a:xfrm>
              <a:off x="3910665" y="1835481"/>
              <a:ext cx="823463"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smtClean="0">
                  <a:latin typeface="+mn-ea"/>
                </a:rPr>
                <a:t>항목번호입찰서제출마감일시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55" name="TextBox 54">
              <a:extLst>
                <a:ext uri="{FF2B5EF4-FFF2-40B4-BE49-F238E27FC236}">
                  <a16:creationId xmlns:a16="http://schemas.microsoft.com/office/drawing/2014/main" id="{FFC49AEA-2A8F-250C-A86A-A7751D9706C3}"/>
                </a:ext>
              </a:extLst>
            </p:cNvPr>
            <p:cNvSpPr txBox="1"/>
            <p:nvPr/>
          </p:nvSpPr>
          <p:spPr>
            <a:xfrm>
              <a:off x="4667515" y="183548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1234</a:t>
              </a:r>
            </a:p>
            <a:p>
              <a:pPr>
                <a:lnSpc>
                  <a:spcPct val="200000"/>
                </a:lnSpc>
              </a:pPr>
              <a:r>
                <a:rPr lang="en-US" altLang="ko-KR" sz="700" dirty="0">
                  <a:latin typeface="+mn-ea"/>
                </a:rPr>
                <a:t>50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a:t>
              </a:r>
              <a:r>
                <a:rPr lang="en-US" altLang="ko-KR" sz="700" dirty="0" smtClean="0">
                  <a:latin typeface="+mn-ea"/>
                </a:rPr>
                <a:t>0000</a:t>
              </a:r>
            </a:p>
            <a:p>
              <a:pPr>
                <a:lnSpc>
                  <a:spcPct val="200000"/>
                </a:lnSpc>
              </a:pPr>
              <a:r>
                <a:rPr lang="en-US" altLang="ko-KR" sz="700" dirty="0" smtClean="0">
                  <a:solidFill>
                    <a:schemeClr val="tx1">
                      <a:lumMod val="85000"/>
                      <a:lumOff val="15000"/>
                    </a:schemeClr>
                  </a:solidFill>
                  <a:latin typeface="맑은 고딕" panose="020B0503020000020004" pitchFamily="50" charset="-127"/>
                </a:rPr>
                <a:t>2025-12-25 </a:t>
              </a:r>
              <a:r>
                <a:rPr lang="en-US" altLang="ko-KR" sz="700" dirty="0">
                  <a:solidFill>
                    <a:schemeClr val="tx1">
                      <a:lumMod val="85000"/>
                      <a:lumOff val="15000"/>
                    </a:schemeClr>
                  </a:solidFill>
                  <a:latin typeface="맑은 고딕" panose="020B0503020000020004" pitchFamily="50" charset="-127"/>
                </a:rPr>
                <a:t>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err="1">
                  <a:latin typeface="+mn-ea"/>
                </a:rPr>
                <a:t>개찰완료</a:t>
              </a:r>
              <a:endParaRPr lang="en-US" altLang="ko-KR" sz="700" dirty="0">
                <a:latin typeface="+mn-ea"/>
              </a:endParaRPr>
            </a:p>
          </p:txBody>
        </p:sp>
        <p:grpSp>
          <p:nvGrpSpPr>
            <p:cNvPr id="56" name="그룹 55"/>
            <p:cNvGrpSpPr/>
            <p:nvPr/>
          </p:nvGrpSpPr>
          <p:grpSpPr>
            <a:xfrm>
              <a:off x="3821510" y="1835481"/>
              <a:ext cx="2630093" cy="1503180"/>
              <a:chOff x="701175" y="1835481"/>
              <a:chExt cx="2630093" cy="1503180"/>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1" name="타원 40">
            <a:extLst>
              <a:ext uri="{FF2B5EF4-FFF2-40B4-BE49-F238E27FC236}">
                <a16:creationId xmlns:a16="http://schemas.microsoft.com/office/drawing/2014/main" id="{37A7FF4F-0EAA-1463-560A-D5EC24416103}"/>
              </a:ext>
            </a:extLst>
          </p:cNvPr>
          <p:cNvSpPr/>
          <p:nvPr/>
        </p:nvSpPr>
        <p:spPr>
          <a:xfrm>
            <a:off x="571127" y="34303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2" name="사각형: 둥근 모서리 15">
            <a:extLst>
              <a:ext uri="{FF2B5EF4-FFF2-40B4-BE49-F238E27FC236}">
                <a16:creationId xmlns:a16="http://schemas.microsoft.com/office/drawing/2014/main" id="{E2B61CFB-AD16-68D0-8752-50D9C5E01971}"/>
              </a:ext>
            </a:extLst>
          </p:cNvPr>
          <p:cNvSpPr/>
          <p:nvPr/>
        </p:nvSpPr>
        <p:spPr>
          <a:xfrm>
            <a:off x="711214" y="5330583"/>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grpSp>
        <p:nvGrpSpPr>
          <p:cNvPr id="83" name="그룹 82"/>
          <p:cNvGrpSpPr/>
          <p:nvPr/>
        </p:nvGrpSpPr>
        <p:grpSpPr>
          <a:xfrm>
            <a:off x="716366" y="3757452"/>
            <a:ext cx="2630093" cy="1503181"/>
            <a:chOff x="3821510" y="1835481"/>
            <a:chExt cx="2630093" cy="1503181"/>
          </a:xfrm>
        </p:grpSpPr>
        <p:sp>
          <p:nvSpPr>
            <p:cNvPr id="84" name="직사각형 83"/>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FFC49AEA-2A8F-250C-A86A-A7751D9706C3}"/>
                </a:ext>
              </a:extLst>
            </p:cNvPr>
            <p:cNvSpPr txBox="1"/>
            <p:nvPr/>
          </p:nvSpPr>
          <p:spPr>
            <a:xfrm>
              <a:off x="3910665" y="1835481"/>
              <a:ext cx="823463"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smtClean="0">
                  <a:latin typeface="+mn-ea"/>
                </a:rPr>
                <a:t>항목번호</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86" name="TextBox 85">
              <a:extLst>
                <a:ext uri="{FF2B5EF4-FFF2-40B4-BE49-F238E27FC236}">
                  <a16:creationId xmlns:a16="http://schemas.microsoft.com/office/drawing/2014/main" id="{FFC49AEA-2A8F-250C-A86A-A7751D9706C3}"/>
                </a:ext>
              </a:extLst>
            </p:cNvPr>
            <p:cNvSpPr txBox="1"/>
            <p:nvPr/>
          </p:nvSpPr>
          <p:spPr>
            <a:xfrm>
              <a:off x="4667515" y="183548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5678</a:t>
              </a:r>
            </a:p>
            <a:p>
              <a:pPr>
                <a:lnSpc>
                  <a:spcPct val="200000"/>
                </a:lnSpc>
              </a:pPr>
              <a:r>
                <a:rPr lang="en-US" altLang="ko-KR" sz="700" dirty="0">
                  <a:latin typeface="+mn-ea"/>
                </a:rPr>
                <a:t>100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smtClean="0">
                  <a:solidFill>
                    <a:schemeClr val="tx1">
                      <a:lumMod val="85000"/>
                      <a:lumOff val="15000"/>
                    </a:schemeClr>
                  </a:solidFill>
                  <a:latin typeface="맑은 고딕" panose="020B0503020000020004" pitchFamily="50" charset="-127"/>
                </a:rPr>
                <a:t>2025-12-25 </a:t>
              </a:r>
              <a:r>
                <a:rPr lang="en-US" altLang="ko-KR" sz="700" dirty="0">
                  <a:solidFill>
                    <a:schemeClr val="tx1">
                      <a:lumMod val="85000"/>
                      <a:lumOff val="15000"/>
                    </a:schemeClr>
                  </a:solidFill>
                  <a:latin typeface="맑은 고딕" panose="020B0503020000020004" pitchFamily="50" charset="-127"/>
                </a:rPr>
                <a:t>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a:latin typeface="+mn-ea"/>
                </a:rPr>
                <a:t>유찰</a:t>
              </a:r>
              <a:endParaRPr lang="en-US" altLang="ko-KR" sz="700" dirty="0">
                <a:latin typeface="+mn-ea"/>
              </a:endParaRPr>
            </a:p>
          </p:txBody>
        </p:sp>
        <p:grpSp>
          <p:nvGrpSpPr>
            <p:cNvPr id="87" name="그룹 86"/>
            <p:cNvGrpSpPr/>
            <p:nvPr/>
          </p:nvGrpSpPr>
          <p:grpSpPr>
            <a:xfrm>
              <a:off x="3821510" y="1835481"/>
              <a:ext cx="2630093" cy="1503180"/>
              <a:chOff x="701175" y="1835481"/>
              <a:chExt cx="2630093" cy="1503180"/>
            </a:xfrm>
          </p:grpSpPr>
          <p:cxnSp>
            <p:nvCxnSpPr>
              <p:cNvPr id="88" name="직선 연결선 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타원 95">
            <a:extLst>
              <a:ext uri="{FF2B5EF4-FFF2-40B4-BE49-F238E27FC236}">
                <a16:creationId xmlns:a16="http://schemas.microsoft.com/office/drawing/2014/main" id="{37A7FF4F-0EAA-1463-560A-D5EC24416103}"/>
              </a:ext>
            </a:extLst>
          </p:cNvPr>
          <p:cNvSpPr/>
          <p:nvPr/>
        </p:nvSpPr>
        <p:spPr>
          <a:xfrm>
            <a:off x="571127" y="36641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063202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50</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46580F3C-298C-6A2D-A867-6791062FB1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4907"/>
            <a:ext cx="266315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입찰진행현황</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dlt_BidPrgrsPrst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88661"/>
          <a:ext cx="8994883" cy="1723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15310">
                  <a:extLst>
                    <a:ext uri="{9D8B030D-6E8A-4147-A177-3AD203B41FA5}">
                      <a16:colId xmlns:a16="http://schemas.microsoft.com/office/drawing/2014/main" val="20001"/>
                    </a:ext>
                  </a:extLst>
                </a:gridCol>
                <a:gridCol w="383177">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96388">
                  <a:extLst>
                    <a:ext uri="{9D8B030D-6E8A-4147-A177-3AD203B41FA5}">
                      <a16:colId xmlns:a16="http://schemas.microsoft.com/office/drawing/2014/main" val="20004"/>
                    </a:ext>
                  </a:extLst>
                </a:gridCol>
                <a:gridCol w="244619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재입찰차수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재입찰차수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748862"/>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4891604"/>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960327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9705551"/>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760235"/>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3468049"/>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876106">
                  <a:extLst>
                    <a:ext uri="{9D8B030D-6E8A-4147-A177-3AD203B41FA5}">
                      <a16:colId xmlns:a16="http://schemas.microsoft.com/office/drawing/2014/main" val="20001"/>
                    </a:ext>
                  </a:extLst>
                </a:gridCol>
                <a:gridCol w="286491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바로가기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Scwin.btn_BidPrgrsPrstRslt_onclick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입찰결과상세화면으로 이동 처리한다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입찰진행상태가 </a:t>
                      </a:r>
                      <a:r>
                        <a:rPr lang="en-US" altLang="ko-KR" sz="800" dirty="0">
                          <a:latin typeface="+mn-ea"/>
                          <a:ea typeface="+mn-ea"/>
                        </a:rPr>
                        <a:t>‘</a:t>
                      </a:r>
                      <a:r>
                        <a:rPr lang="ko-KR" altLang="en-US" sz="800" dirty="0">
                          <a:latin typeface="+mn-ea"/>
                          <a:ea typeface="+mn-ea"/>
                        </a:rPr>
                        <a:t>개찰완료</a:t>
                      </a:r>
                      <a:r>
                        <a:rPr lang="en-US" altLang="ko-KR" sz="800" dirty="0">
                          <a:latin typeface="+mn-ea"/>
                          <a:ea typeface="+mn-ea"/>
                        </a:rPr>
                        <a:t>‘, ‘</a:t>
                      </a:r>
                      <a:r>
                        <a:rPr lang="ko-KR" altLang="en-US" sz="800" dirty="0">
                          <a:latin typeface="+mn-ea"/>
                          <a:ea typeface="+mn-ea"/>
                        </a:rPr>
                        <a:t>유찰</a:t>
                      </a:r>
                      <a:r>
                        <a:rPr lang="en-US" altLang="ko-KR" sz="800" dirty="0">
                          <a:latin typeface="+mn-ea"/>
                          <a:ea typeface="+mn-ea"/>
                        </a:rPr>
                        <a:t>‘ </a:t>
                      </a:r>
                      <a:r>
                        <a:rPr lang="ko-KR" altLang="en-US" sz="800" dirty="0">
                          <a:latin typeface="+mn-ea"/>
                          <a:ea typeface="+mn-ea"/>
                        </a:rPr>
                        <a:t>상태일 경우 활성화처리</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en-US" altLang="ko-KR" sz="800" dirty="0"/>
                        <a:t>UI-BD-09-M01 </a:t>
                      </a:r>
                      <a:r>
                        <a:rPr lang="ko-KR" altLang="en-US" sz="800" dirty="0" err="1"/>
                        <a:t>입찰결과상세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318991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58061386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관심공고</a:t>
            </a:r>
            <a:r>
              <a:rPr lang="ko-KR" altLang="en-US" dirty="0"/>
              <a:t> 등록 아이콘 클릭</a:t>
            </a:r>
            <a:r>
              <a:rPr lang="en-US" altLang="ko-KR" dirty="0"/>
              <a:t/>
            </a:r>
            <a:br>
              <a:rPr lang="en-US" altLang="ko-KR" dirty="0"/>
            </a:br>
            <a:r>
              <a:rPr lang="en-US" altLang="ko-KR" dirty="0"/>
              <a:t>- </a:t>
            </a:r>
            <a:r>
              <a:rPr lang="ko-KR" altLang="en-US" dirty="0"/>
              <a:t>관심 공고는 </a:t>
            </a:r>
            <a:r>
              <a:rPr lang="ko-KR" altLang="en-US" dirty="0" err="1"/>
              <a:t>로그인이</a:t>
            </a:r>
            <a:r>
              <a:rPr lang="ko-KR" altLang="en-US" dirty="0"/>
              <a:t> 필요한 서비스로 </a:t>
            </a:r>
            <a:r>
              <a:rPr lang="ko-KR" altLang="en-US" dirty="0" err="1"/>
              <a:t>비로그인</a:t>
            </a:r>
            <a:r>
              <a:rPr lang="ko-KR" altLang="en-US" dirty="0"/>
              <a:t> 상태에서는 로그인 화면 호출</a:t>
            </a:r>
            <a:r>
              <a:rPr lang="en-US" altLang="ko-KR" dirty="0"/>
              <a:t/>
            </a:r>
            <a:br>
              <a:rPr lang="en-US" altLang="ko-KR" dirty="0"/>
            </a:br>
            <a:r>
              <a:rPr lang="en-US" altLang="ko-KR" dirty="0"/>
              <a:t>- </a:t>
            </a:r>
            <a:r>
              <a:rPr lang="ko-KR" altLang="en-US" dirty="0"/>
              <a:t>등록 아이콘</a:t>
            </a:r>
            <a:r>
              <a:rPr lang="en-US" altLang="ko-KR" dirty="0"/>
              <a:t/>
            </a:r>
            <a:br>
              <a:rPr lang="en-US" altLang="ko-KR" dirty="0"/>
            </a:br>
            <a:r>
              <a:rPr lang="en-US" altLang="ko-KR" dirty="0"/>
              <a:t>  &gt; </a:t>
            </a:r>
            <a:r>
              <a:rPr lang="ko-KR" altLang="en-US" dirty="0"/>
              <a:t>등록</a:t>
            </a:r>
            <a:r>
              <a:rPr lang="en-US" altLang="ko-KR" dirty="0"/>
              <a:t>, </a:t>
            </a:r>
            <a:r>
              <a:rPr lang="ko-KR" altLang="en-US" dirty="0"/>
              <a:t>미등록 상태에 따라 아이콘 표시 변경 </a:t>
            </a:r>
            <a:r>
              <a:rPr lang="en-US" altLang="ko-KR" dirty="0"/>
              <a:t>(</a:t>
            </a:r>
            <a:r>
              <a:rPr lang="ko-KR" altLang="en-US" dirty="0"/>
              <a:t>라인 아이콘 </a:t>
            </a:r>
            <a:r>
              <a:rPr lang="en-US" altLang="ko-KR" dirty="0">
                <a:sym typeface="Wingdings" panose="05000000000000000000" pitchFamily="2" charset="2"/>
              </a:rPr>
              <a:t> </a:t>
            </a:r>
            <a:r>
              <a:rPr lang="ko-KR" altLang="en-US" dirty="0">
                <a:sym typeface="Wingdings" panose="05000000000000000000" pitchFamily="2" charset="2"/>
              </a:rPr>
              <a:t>채우기</a:t>
            </a:r>
            <a:r>
              <a:rPr lang="en-US" altLang="ko-KR" dirty="0">
                <a:sym typeface="Wingdings" panose="05000000000000000000" pitchFamily="2" charset="2"/>
              </a:rPr>
              <a:t>)</a:t>
            </a:r>
            <a:r>
              <a:rPr lang="en-US" altLang="ko-KR" dirty="0"/>
              <a:t/>
            </a:r>
            <a:br>
              <a:rPr lang="en-US" altLang="ko-KR" dirty="0"/>
            </a:br>
            <a:r>
              <a:rPr lang="en-US" altLang="ko-KR" dirty="0"/>
              <a:t>- </a:t>
            </a:r>
            <a:r>
              <a:rPr lang="ko-KR" altLang="en-US" dirty="0"/>
              <a:t>토스트 메시지 출력</a:t>
            </a:r>
            <a:r>
              <a:rPr lang="en-US" altLang="ko-KR" dirty="0"/>
              <a:t/>
            </a:r>
            <a:br>
              <a:rPr lang="en-US" altLang="ko-KR" dirty="0"/>
            </a:br>
            <a:r>
              <a:rPr lang="en-US" altLang="ko-KR" dirty="0"/>
              <a:t>  &gt; </a:t>
            </a:r>
            <a:r>
              <a:rPr lang="ko-KR" altLang="en-US" dirty="0"/>
              <a:t>등록 </a:t>
            </a:r>
            <a:r>
              <a:rPr lang="en-US" altLang="ko-KR" dirty="0"/>
              <a:t>: </a:t>
            </a:r>
            <a:r>
              <a:rPr lang="ko-KR" altLang="en-US" dirty="0" err="1"/>
              <a:t>관심공고에</a:t>
            </a:r>
            <a:r>
              <a:rPr lang="ko-KR" altLang="en-US" dirty="0"/>
              <a:t> 등록 되었습니다</a:t>
            </a:r>
            <a:r>
              <a:rPr lang="en-US" altLang="ko-KR" dirty="0"/>
              <a:t>.</a:t>
            </a:r>
            <a:br>
              <a:rPr lang="en-US" altLang="ko-KR" dirty="0"/>
            </a:br>
            <a:r>
              <a:rPr lang="en-US" altLang="ko-KR" dirty="0"/>
              <a:t>  &gt; </a:t>
            </a:r>
            <a:r>
              <a:rPr lang="ko-KR" altLang="en-US" dirty="0"/>
              <a:t>제외 </a:t>
            </a:r>
            <a:r>
              <a:rPr lang="en-US" altLang="ko-KR" dirty="0"/>
              <a:t>: </a:t>
            </a:r>
            <a:r>
              <a:rPr lang="ko-KR" altLang="en-US" dirty="0"/>
              <a:t>관심공고에서 제외 되었습니다</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관심공고</a:t>
            </a:r>
            <a:r>
              <a:rPr lang="ko-KR" altLang="en-US" dirty="0">
                <a:latin typeface="+mn-ea"/>
              </a:rPr>
              <a:t> 등록</a:t>
            </a:r>
            <a:r>
              <a:rPr lang="en-US" altLang="ko-KR" dirty="0">
                <a:latin typeface="+mn-ea"/>
              </a:rPr>
              <a:t>, </a:t>
            </a:r>
            <a:r>
              <a:rPr lang="ko-KR" altLang="en-US" dirty="0">
                <a:latin typeface="+mn-ea"/>
              </a:rPr>
              <a:t>제외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2425427" y="190851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1" name="모서리가 둥근 직사각형 200"/>
          <p:cNvSpPr/>
          <p:nvPr/>
        </p:nvSpPr>
        <p:spPr>
          <a:xfrm>
            <a:off x="1337508" y="5845175"/>
            <a:ext cx="1432390"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03" name="모서리가 둥근 직사각형 202"/>
          <p:cNvSpPr/>
          <p:nvPr/>
        </p:nvSpPr>
        <p:spPr>
          <a:xfrm>
            <a:off x="1384229" y="5491535"/>
            <a:ext cx="1338948"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901131" y="5542282"/>
            <a:ext cx="2305144"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관심공고에</a:t>
            </a:r>
            <a:r>
              <a:rPr lang="ko-KR" altLang="en-US" sz="700" dirty="0">
                <a:solidFill>
                  <a:schemeClr val="bg1"/>
                </a:solidFill>
                <a:latin typeface="+mn-ea"/>
              </a:rPr>
              <a:t> 등록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21" name="모서리가 둥근 직사각형 220"/>
          <p:cNvSpPr/>
          <p:nvPr/>
        </p:nvSpPr>
        <p:spPr>
          <a:xfrm>
            <a:off x="3859820" y="4203507"/>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2" name="사각형: 둥근 모서리 14">
            <a:extLst>
              <a:ext uri="{FF2B5EF4-FFF2-40B4-BE49-F238E27FC236}">
                <a16:creationId xmlns:a16="http://schemas.microsoft.com/office/drawing/2014/main" id="{CB17FF57-D096-6A31-10F0-093EB170D38C}"/>
              </a:ext>
            </a:extLst>
          </p:cNvPr>
          <p:cNvSpPr/>
          <p:nvPr/>
        </p:nvSpPr>
        <p:spPr>
          <a:xfrm>
            <a:off x="5202658" y="4962669"/>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3977514" y="4962669"/>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977514" y="4350237"/>
            <a:ext cx="2305144" cy="138499"/>
          </a:xfrm>
          <a:prstGeom prst="rect">
            <a:avLst/>
          </a:prstGeom>
          <a:noFill/>
        </p:spPr>
        <p:txBody>
          <a:bodyPr wrap="square" lIns="0" tIns="0" rIns="0" bIns="0" rtlCol="0">
            <a:spAutoFit/>
          </a:bodyPr>
          <a:lstStyle/>
          <a:p>
            <a:r>
              <a:rPr lang="ko-KR" altLang="en-US" sz="900" b="1" dirty="0">
                <a:latin typeface="+mn-ea"/>
              </a:rPr>
              <a:t>로그인 안내</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97244" y="4582746"/>
            <a:ext cx="2305144" cy="215444"/>
          </a:xfrm>
          <a:prstGeom prst="rect">
            <a:avLst/>
          </a:prstGeom>
          <a:noFill/>
        </p:spPr>
        <p:txBody>
          <a:bodyPr wrap="square" lIns="0" tIns="0" rIns="0" bIns="0" rtlCol="0">
            <a:spAutoFit/>
          </a:bodyPr>
          <a:lstStyle/>
          <a:p>
            <a:r>
              <a:rPr lang="ko-KR" altLang="en-US" sz="700" dirty="0">
                <a:latin typeface="+mn-ea"/>
              </a:rPr>
              <a:t>서비스를 사용하기 위해서 </a:t>
            </a:r>
            <a:r>
              <a:rPr lang="ko-KR" altLang="en-US" sz="700" dirty="0" err="1">
                <a:latin typeface="+mn-ea"/>
              </a:rPr>
              <a:t>로그인이</a:t>
            </a:r>
            <a:r>
              <a:rPr lang="ko-KR" altLang="en-US" sz="700" dirty="0">
                <a:latin typeface="+mn-ea"/>
              </a:rPr>
              <a:t> 필요합니다</a:t>
            </a:r>
            <a:r>
              <a:rPr lang="en-US" altLang="ko-KR" sz="700" dirty="0">
                <a:latin typeface="+mn-ea"/>
              </a:rPr>
              <a:t>.</a:t>
            </a:r>
          </a:p>
          <a:p>
            <a:r>
              <a:rPr lang="ko-KR" altLang="en-US" sz="700" dirty="0">
                <a:latin typeface="+mn-ea"/>
              </a:rPr>
              <a:t>지금 로그인할까요</a:t>
            </a:r>
            <a:r>
              <a:rPr lang="en-US" altLang="ko-KR" sz="700" dirty="0">
                <a:latin typeface="+mn-ea"/>
              </a:rPr>
              <a:t>?</a:t>
            </a:r>
          </a:p>
        </p:txBody>
      </p:sp>
      <p:grpSp>
        <p:nvGrpSpPr>
          <p:cNvPr id="227" name="그룹 226"/>
          <p:cNvGrpSpPr/>
          <p:nvPr/>
        </p:nvGrpSpPr>
        <p:grpSpPr>
          <a:xfrm>
            <a:off x="6188648" y="4350237"/>
            <a:ext cx="94010" cy="94010"/>
            <a:chOff x="6812560" y="3297172"/>
            <a:chExt cx="94010" cy="94010"/>
          </a:xfrm>
        </p:grpSpPr>
        <p:cxnSp>
          <p:nvCxnSpPr>
            <p:cNvPr id="228" name="직선 연결선 2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0" name="직사각형 229"/>
          <p:cNvSpPr/>
          <p:nvPr/>
        </p:nvSpPr>
        <p:spPr>
          <a:xfrm>
            <a:off x="3795734" y="3972675"/>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MUI-CM-03-P19</a:t>
            </a:r>
            <a:endParaRPr lang="ko-KR" altLang="en-US" sz="900" dirty="0">
              <a:solidFill>
                <a:srgbClr val="000000"/>
              </a:solidFill>
              <a:latin typeface="맑은 고딕" panose="020B0503020000020004" pitchFamily="50" charset="-127"/>
            </a:endParaRPr>
          </a:p>
        </p:txBody>
      </p:sp>
      <p:sp>
        <p:nvSpPr>
          <p:cNvPr id="235" name="직사각형 234"/>
          <p:cNvSpPr/>
          <p:nvPr/>
        </p:nvSpPr>
        <p:spPr>
          <a:xfrm>
            <a:off x="5057514" y="3972675"/>
            <a:ext cx="1450248"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로그인 필요 서비스 안내</a:t>
            </a:r>
          </a:p>
        </p:txBody>
      </p:sp>
      <p:cxnSp>
        <p:nvCxnSpPr>
          <p:cNvPr id="23" name="직선 화살표 연결선 22"/>
          <p:cNvCxnSpPr>
            <a:endCxn id="230" idx="1"/>
          </p:cNvCxnSpPr>
          <p:nvPr/>
        </p:nvCxnSpPr>
        <p:spPr>
          <a:xfrm>
            <a:off x="3143548" y="2158410"/>
            <a:ext cx="652186" cy="19296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10" name="그룹 109"/>
          <p:cNvGrpSpPr/>
          <p:nvPr/>
        </p:nvGrpSpPr>
        <p:grpSpPr>
          <a:xfrm>
            <a:off x="2714860" y="3237230"/>
            <a:ext cx="603798" cy="187961"/>
            <a:chOff x="2714860" y="3237230"/>
            <a:chExt cx="603798" cy="187961"/>
          </a:xfrm>
        </p:grpSpPr>
        <p:grpSp>
          <p:nvGrpSpPr>
            <p:cNvPr id="111" name="그룹 110"/>
            <p:cNvGrpSpPr/>
            <p:nvPr/>
          </p:nvGrpSpPr>
          <p:grpSpPr>
            <a:xfrm>
              <a:off x="2714860" y="3237230"/>
              <a:ext cx="187961" cy="187961"/>
              <a:chOff x="2714860" y="3237230"/>
              <a:chExt cx="187961" cy="187961"/>
            </a:xfrm>
          </p:grpSpPr>
          <p:sp>
            <p:nvSpPr>
              <p:cNvPr id="113" name="타원 112"/>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12" name="TextBox 111">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15" name="그룹 114"/>
          <p:cNvGrpSpPr/>
          <p:nvPr/>
        </p:nvGrpSpPr>
        <p:grpSpPr>
          <a:xfrm rot="5400000">
            <a:off x="3158978" y="3232595"/>
            <a:ext cx="187961" cy="187961"/>
            <a:chOff x="3876200" y="2234886"/>
            <a:chExt cx="187961" cy="187961"/>
          </a:xfrm>
        </p:grpSpPr>
        <p:sp>
          <p:nvSpPr>
            <p:cNvPr id="116" name="타원 11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7" name="그룹 116"/>
            <p:cNvGrpSpPr/>
            <p:nvPr/>
          </p:nvGrpSpPr>
          <p:grpSpPr>
            <a:xfrm rot="16200000">
              <a:off x="3931564" y="230536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18886847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4. </a:t>
            </a:r>
            <a:r>
              <a:rPr lang="ko-KR" altLang="en-US" dirty="0" err="1"/>
              <a:t>플로팅</a:t>
            </a:r>
            <a:r>
              <a:rPr lang="ko-KR" altLang="en-US" dirty="0"/>
              <a:t> </a:t>
            </a:r>
            <a:r>
              <a:rPr lang="ko-KR" altLang="en-US" dirty="0" smtClean="0"/>
              <a:t>버튼</a:t>
            </a:r>
            <a:endParaRPr lang="en-US" altLang="ko-KR" dirty="0" smtClean="0"/>
          </a:p>
          <a:p>
            <a:r>
              <a:rPr lang="en-US" altLang="ko-KR" dirty="0" smtClean="0"/>
              <a:t>4.1 </a:t>
            </a:r>
            <a:r>
              <a:rPr lang="ko-KR" altLang="en-US" dirty="0" smtClean="0"/>
              <a:t>화면 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161716890"/>
              </p:ext>
            </p:extLst>
          </p:nvPr>
        </p:nvGraphicFramePr>
        <p:xfrm>
          <a:off x="635474" y="1413419"/>
          <a:ext cx="8701200" cy="5116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플로팅버튼</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latin typeface="+mn-ea"/>
                          <a:ea typeface="+mn-ea"/>
                        </a:rPr>
                        <a:t>FloatBtn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 버튼을 호출하기 위한 </a:t>
                      </a:r>
                      <a:r>
                        <a:rPr lang="ko-KR" altLang="en-US" sz="800" dirty="0" err="1">
                          <a:latin typeface="+mn-ea"/>
                        </a:rPr>
                        <a:t>플로팅</a:t>
                      </a:r>
                      <a:r>
                        <a:rPr lang="ko-KR" altLang="en-US" sz="800" dirty="0">
                          <a:latin typeface="+mn-ea"/>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FloatBtn</a:t>
                      </a:r>
                      <a:r>
                        <a:rPr lang="en-US" altLang="ko-KR" sz="800" dirty="0">
                          <a:solidFill>
                            <a:schemeClr val="tx1"/>
                          </a:solidFill>
                          <a:latin typeface="+mn-ea"/>
                          <a:ea typeface="+mn-ea"/>
                        </a:rPr>
                        <a:t>/</a:t>
                      </a:r>
                      <a:r>
                        <a:rPr lang="en-US" altLang="ko-KR" sz="800" dirty="0" err="1">
                          <a:solidFill>
                            <a:schemeClr val="tx1"/>
                          </a:solidFill>
                          <a:latin typeface="+mn-ea"/>
                          <a:ea typeface="+mn-ea"/>
                        </a:rPr>
                        <a:t>FloatBtn.tsx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2026-07-10 </a:t>
              </a:r>
              <a:r>
                <a:rPr lang="ko-KR" altLang="en-US" dirty="0" smtClean="0"/>
                <a:t>목록 수정</a:t>
              </a:r>
              <a:endParaRPr lang="ko-KR" altLang="en-US" dirty="0"/>
            </a:p>
          </p:txBody>
        </p:sp>
        <p:sp>
          <p:nvSpPr>
            <p:cNvPr id="9" name="직사각형 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환율정보는</a:t>
              </a:r>
              <a:r>
                <a:rPr lang="ko-KR" altLang="en-US" sz="700" dirty="0" smtClean="0"/>
                <a:t> 국외 쪽으로 이동하고 현재 화면에서는 제거함</a:t>
              </a:r>
              <a:r>
                <a:rPr lang="en-US" altLang="ko-KR" sz="700" dirty="0" smtClean="0"/>
                <a:t>.</a:t>
              </a:r>
              <a:endParaRPr lang="ko-KR" altLang="en-US" sz="700" dirty="0"/>
            </a:p>
          </p:txBody>
        </p:sp>
      </p:grpSp>
    </p:spTree>
    <p:extLst>
      <p:ext uri="{BB962C8B-B14F-4D97-AF65-F5344CB8AC3E}">
        <p14:creationId xmlns:p14="http://schemas.microsoft.com/office/powerpoint/2010/main" val="227198843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4.2. </a:t>
            </a:r>
            <a:r>
              <a:rPr lang="ko-KR" altLang="en-US" dirty="0"/>
              <a:t>화면 흐름도 </a:t>
            </a:r>
            <a:r>
              <a:rPr lang="en-US" altLang="ko-KR" dirty="0"/>
              <a:t>– </a:t>
            </a:r>
            <a:r>
              <a:rPr lang="ko-KR" altLang="en-US" dirty="0"/>
              <a:t>입찰 공고 상세 </a:t>
            </a:r>
            <a:r>
              <a:rPr lang="ko-KR" altLang="en-US" dirty="0" err="1"/>
              <a:t>플로팅</a:t>
            </a:r>
            <a:r>
              <a:rPr lang="ko-KR" altLang="en-US" dirty="0"/>
              <a:t> 버튼</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 버튼</a:t>
            </a: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 공고 상세에서 입찰조건에 따른 버튼</a:t>
            </a:r>
            <a:r>
              <a:rPr lang="en-US" altLang="ko-KR" sz="800" kern="0" dirty="0">
                <a:solidFill>
                  <a:srgbClr val="0000FF"/>
                </a:solidFill>
                <a:latin typeface="+mn-ea"/>
              </a:rPr>
              <a:t>(</a:t>
            </a:r>
            <a:r>
              <a:rPr lang="ko-KR" altLang="en-US" sz="800" kern="0" dirty="0">
                <a:solidFill>
                  <a:srgbClr val="0000FF"/>
                </a:solidFill>
                <a:latin typeface="+mn-ea"/>
              </a:rPr>
              <a:t>입찰서</a:t>
            </a:r>
            <a:r>
              <a:rPr lang="en-US" altLang="ko-KR" sz="800" kern="0" dirty="0">
                <a:solidFill>
                  <a:srgbClr val="0000FF"/>
                </a:solidFill>
                <a:latin typeface="+mn-ea"/>
              </a:rPr>
              <a:t>(</a:t>
            </a:r>
            <a:r>
              <a:rPr lang="ko-KR" altLang="en-US" sz="800" kern="0" dirty="0">
                <a:solidFill>
                  <a:srgbClr val="0000FF"/>
                </a:solidFill>
                <a:latin typeface="+mn-ea"/>
              </a:rPr>
              <a:t>견적서</a:t>
            </a:r>
            <a:r>
              <a:rPr lang="en-US" altLang="ko-KR" sz="800" kern="0" dirty="0">
                <a:solidFill>
                  <a:srgbClr val="0000FF"/>
                </a:solidFill>
                <a:latin typeface="+mn-ea"/>
              </a:rPr>
              <a:t>), </a:t>
            </a:r>
            <a:r>
              <a:rPr lang="ko-KR" altLang="en-US" sz="800" kern="0" dirty="0">
                <a:solidFill>
                  <a:srgbClr val="0000FF"/>
                </a:solidFill>
                <a:latin typeface="+mn-ea"/>
              </a:rPr>
              <a:t>입찰참가 신청서</a:t>
            </a:r>
            <a:r>
              <a:rPr lang="en-US" altLang="ko-KR" sz="800" kern="0" dirty="0">
                <a:solidFill>
                  <a:srgbClr val="0000FF"/>
                </a:solidFill>
                <a:latin typeface="+mn-ea"/>
              </a:rPr>
              <a:t>, </a:t>
            </a:r>
            <a:r>
              <a:rPr lang="ko-KR" altLang="en-US" sz="800" kern="0" dirty="0">
                <a:solidFill>
                  <a:srgbClr val="0000FF"/>
                </a:solidFill>
                <a:latin typeface="+mn-ea"/>
              </a:rPr>
              <a:t>사전심사</a:t>
            </a:r>
            <a:r>
              <a:rPr lang="en-US" altLang="ko-KR" sz="800" kern="0" dirty="0">
                <a:solidFill>
                  <a:srgbClr val="0000FF"/>
                </a:solidFill>
                <a:latin typeface="+mn-ea"/>
              </a:rPr>
              <a:t>(PQ) </a:t>
            </a:r>
            <a:r>
              <a:rPr lang="ko-KR" altLang="en-US" sz="800" kern="0" dirty="0">
                <a:solidFill>
                  <a:srgbClr val="0000FF"/>
                </a:solidFill>
                <a:latin typeface="+mn-ea"/>
              </a:rPr>
              <a:t>신청서</a:t>
            </a:r>
            <a:r>
              <a:rPr lang="en-US" altLang="ko-KR" sz="800" kern="0" dirty="0">
                <a:solidFill>
                  <a:srgbClr val="0000FF"/>
                </a:solidFill>
                <a:latin typeface="+mn-ea"/>
              </a:rPr>
              <a:t>)</a:t>
            </a:r>
            <a:r>
              <a:rPr lang="ko-KR" altLang="en-US" sz="800" kern="0" dirty="0">
                <a:solidFill>
                  <a:srgbClr val="0000FF"/>
                </a:solidFill>
                <a:latin typeface="+mn-ea"/>
              </a:rPr>
              <a:t>과 </a:t>
            </a:r>
            <a:r>
              <a:rPr lang="ko-KR" altLang="en-US" sz="800" kern="0" dirty="0" err="1">
                <a:solidFill>
                  <a:srgbClr val="0000FF"/>
                </a:solidFill>
                <a:latin typeface="+mn-ea"/>
              </a:rPr>
              <a:t>관심공고</a:t>
            </a:r>
            <a:r>
              <a:rPr lang="ko-KR" altLang="en-US" sz="800" kern="0" dirty="0">
                <a:solidFill>
                  <a:srgbClr val="0000FF"/>
                </a:solidFill>
                <a:latin typeface="+mn-ea"/>
              </a:rPr>
              <a:t> 등록</a:t>
            </a:r>
            <a:r>
              <a:rPr lang="en-US" altLang="ko-KR" sz="800" kern="0" dirty="0">
                <a:solidFill>
                  <a:srgbClr val="0000FF"/>
                </a:solidFill>
                <a:latin typeface="+mn-ea"/>
              </a:rPr>
              <a:t>, </a:t>
            </a:r>
            <a:r>
              <a:rPr lang="ko-KR" altLang="en-US" sz="800" kern="0" dirty="0" err="1">
                <a:solidFill>
                  <a:srgbClr val="0000FF"/>
                </a:solidFill>
                <a:latin typeface="+mn-ea"/>
              </a:rPr>
              <a:t>환율정보</a:t>
            </a:r>
            <a:r>
              <a:rPr lang="ko-KR" altLang="en-US" sz="800" kern="0" dirty="0">
                <a:solidFill>
                  <a:srgbClr val="0000FF"/>
                </a:solidFill>
                <a:latin typeface="+mn-ea"/>
              </a:rPr>
              <a:t> 조회 버튼은 조건에 따라 노출합니다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입찰공고 상세에서 입찰 가능 조건에 따라 </a:t>
            </a:r>
            <a:r>
              <a:rPr lang="ko-KR" altLang="en-US" sz="800" kern="0" dirty="0" err="1">
                <a:solidFill>
                  <a:srgbClr val="0000FF"/>
                </a:solidFill>
                <a:latin typeface="+mn-ea"/>
              </a:rPr>
              <a:t>플로팅</a:t>
            </a:r>
            <a:r>
              <a:rPr lang="ko-KR" altLang="en-US" sz="800" kern="0" dirty="0">
                <a:solidFill>
                  <a:srgbClr val="0000FF"/>
                </a:solidFill>
                <a:latin typeface="+mn-ea"/>
              </a:rPr>
              <a:t> 버튼 화면상에 표시되는 버튼이 변동됩니다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로그인 여부에 따라 입찰 작성 페이지 이동을 하거나</a:t>
            </a:r>
            <a:r>
              <a:rPr lang="en-US" altLang="ko-KR" sz="800" kern="0" dirty="0">
                <a:solidFill>
                  <a:srgbClr val="0000FF"/>
                </a:solidFill>
                <a:latin typeface="+mn-ea"/>
              </a:rPr>
              <a:t>, </a:t>
            </a:r>
            <a:r>
              <a:rPr lang="ko-KR" altLang="en-US" sz="800" kern="0" dirty="0">
                <a:solidFill>
                  <a:srgbClr val="0000FF"/>
                </a:solidFill>
                <a:latin typeface="+mn-ea"/>
              </a:rPr>
              <a:t>공고 상세 페이지에서 로그인 안내가 노출됩니다</a:t>
            </a:r>
            <a:r>
              <a:rPr lang="en-US" altLang="ko-KR" sz="800" kern="0" dirty="0">
                <a:solidFill>
                  <a:srgbClr val="0000FF"/>
                </a:solidFill>
                <a:latin typeface="+mn-ea"/>
              </a:rPr>
              <a:t>.</a:t>
            </a:r>
            <a:endParaRPr lang="ko-KR" altLang="en-US" sz="800" kern="0" dirty="0">
              <a:solidFill>
                <a:srgbClr val="0000FF"/>
              </a:solidFill>
              <a:latin typeface="+mn-ea"/>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38" idx="0"/>
          </p:cNvCxnSpPr>
          <p:nvPr/>
        </p:nvCxnSpPr>
        <p:spPr>
          <a:xfrm>
            <a:off x="2816608" y="1916964"/>
            <a:ext cx="0" cy="39389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47" name="사각형: 둥근 모서리 5">
            <a:extLst>
              <a:ext uri="{FF2B5EF4-FFF2-40B4-BE49-F238E27FC236}">
                <a16:creationId xmlns:a16="http://schemas.microsoft.com/office/drawing/2014/main" id="{410E5459-200D-7630-863C-88E5109259DF}"/>
              </a:ext>
            </a:extLst>
          </p:cNvPr>
          <p:cNvSpPr/>
          <p:nvPr/>
        </p:nvSpPr>
        <p:spPr>
          <a:xfrm>
            <a:off x="7856934"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페이지 이동</a:t>
            </a:r>
          </a:p>
        </p:txBody>
      </p:sp>
      <p:cxnSp>
        <p:nvCxnSpPr>
          <p:cNvPr id="66" name="연결선: 꺾임 7">
            <a:extLst>
              <a:ext uri="{FF2B5EF4-FFF2-40B4-BE49-F238E27FC236}">
                <a16:creationId xmlns:a16="http://schemas.microsoft.com/office/drawing/2014/main" id="{89A2D828-4C18-4F90-6B31-722E89773AA8}"/>
              </a:ext>
            </a:extLst>
          </p:cNvPr>
          <p:cNvCxnSpPr>
            <a:cxnSpLocks/>
            <a:stCxn id="38" idx="3"/>
            <a:endCxn id="41" idx="1"/>
          </p:cNvCxnSpPr>
          <p:nvPr/>
        </p:nvCxnSpPr>
        <p:spPr>
          <a:xfrm>
            <a:off x="3266608" y="2454859"/>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14708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1628964"/>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230775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1916964"/>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2141147"/>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323949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303833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2595750"/>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38" idx="3"/>
            <a:endCxn id="77" idx="1"/>
          </p:cNvCxnSpPr>
          <p:nvPr/>
        </p:nvCxnSpPr>
        <p:spPr>
          <a:xfrm flipV="1">
            <a:off x="3266608" y="1772964"/>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직선 화살표 연결선 86">
            <a:extLst>
              <a:ext uri="{FF2B5EF4-FFF2-40B4-BE49-F238E27FC236}">
                <a16:creationId xmlns:a16="http://schemas.microsoft.com/office/drawing/2014/main" id="{9A519F08-B829-E35F-09D8-DFCD1F68B911}"/>
              </a:ext>
            </a:extLst>
          </p:cNvPr>
          <p:cNvCxnSpPr>
            <a:cxnSpLocks/>
            <a:stCxn id="72" idx="3"/>
            <a:endCxn id="147" idx="1"/>
          </p:cNvCxnSpPr>
          <p:nvPr/>
        </p:nvCxnSpPr>
        <p:spPr>
          <a:xfrm>
            <a:off x="6893499" y="1772964"/>
            <a:ext cx="96343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사각형: 둥근 모서리 5">
            <a:extLst>
              <a:ext uri="{FF2B5EF4-FFF2-40B4-BE49-F238E27FC236}">
                <a16:creationId xmlns:a16="http://schemas.microsoft.com/office/drawing/2014/main" id="{410E5459-200D-7630-863C-88E5109259DF}"/>
              </a:ext>
            </a:extLst>
          </p:cNvPr>
          <p:cNvSpPr/>
          <p:nvPr/>
        </p:nvSpPr>
        <p:spPr>
          <a:xfrm>
            <a:off x="2366608"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플로팅</a:t>
            </a:r>
            <a:r>
              <a:rPr lang="ko-KR" altLang="en-US" sz="800" dirty="0">
                <a:solidFill>
                  <a:schemeClr val="tx1"/>
                </a:solidFill>
              </a:rPr>
              <a:t> 버튼</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견적서 작성</a:t>
            </a:r>
            <a:endParaRPr lang="en-US" altLang="ko-KR" sz="800" dirty="0">
              <a:solidFill>
                <a:schemeClr val="tx1"/>
              </a:solidFill>
            </a:endParaRPr>
          </a:p>
          <a:p>
            <a:pPr algn="ctr"/>
            <a:r>
              <a:rPr lang="ko-KR" altLang="en-US" sz="800" dirty="0">
                <a:solidFill>
                  <a:schemeClr val="tx1"/>
                </a:solidFill>
              </a:rPr>
              <a:t>입찰서 작성 버튼</a:t>
            </a:r>
          </a:p>
        </p:txBody>
      </p:sp>
      <p:sp>
        <p:nvSpPr>
          <p:cNvPr id="41" name="사각형: 둥근 모서리 5">
            <a:extLst>
              <a:ext uri="{FF2B5EF4-FFF2-40B4-BE49-F238E27FC236}">
                <a16:creationId xmlns:a16="http://schemas.microsoft.com/office/drawing/2014/main" id="{410E5459-200D-7630-863C-88E5109259DF}"/>
              </a:ext>
            </a:extLst>
          </p:cNvPr>
          <p:cNvSpPr/>
          <p:nvPr/>
        </p:nvSpPr>
        <p:spPr>
          <a:xfrm>
            <a:off x="4197742"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작성 버튼</a:t>
            </a:r>
          </a:p>
        </p:txBody>
      </p:sp>
      <p:cxnSp>
        <p:nvCxnSpPr>
          <p:cNvPr id="48" name="직선 화살표 연결선 47">
            <a:extLst>
              <a:ext uri="{FF2B5EF4-FFF2-40B4-BE49-F238E27FC236}">
                <a16:creationId xmlns:a16="http://schemas.microsoft.com/office/drawing/2014/main" id="{9A519F08-B829-E35F-09D8-DFCD1F68B911}"/>
              </a:ext>
            </a:extLst>
          </p:cNvPr>
          <p:cNvCxnSpPr>
            <a:cxnSpLocks/>
            <a:stCxn id="38" idx="3"/>
            <a:endCxn id="40" idx="1"/>
          </p:cNvCxnSpPr>
          <p:nvPr/>
        </p:nvCxnSpPr>
        <p:spPr>
          <a:xfrm>
            <a:off x="3266608"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9A519F08-B829-E35F-09D8-DFCD1F68B911}"/>
              </a:ext>
            </a:extLst>
          </p:cNvPr>
          <p:cNvCxnSpPr>
            <a:cxnSpLocks/>
            <a:stCxn id="77" idx="3"/>
            <a:endCxn id="72" idx="1"/>
          </p:cNvCxnSpPr>
          <p:nvPr/>
        </p:nvCxnSpPr>
        <p:spPr>
          <a:xfrm>
            <a:off x="5097742" y="1772964"/>
            <a:ext cx="89575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연결선: 꺾임 7">
            <a:extLst>
              <a:ext uri="{FF2B5EF4-FFF2-40B4-BE49-F238E27FC236}">
                <a16:creationId xmlns:a16="http://schemas.microsoft.com/office/drawing/2014/main" id="{89A2D828-4C18-4F90-6B31-722E89773AA8}"/>
              </a:ext>
            </a:extLst>
          </p:cNvPr>
          <p:cNvCxnSpPr>
            <a:cxnSpLocks/>
            <a:stCxn id="41" idx="3"/>
            <a:endCxn id="72" idx="1"/>
          </p:cNvCxnSpPr>
          <p:nvPr/>
        </p:nvCxnSpPr>
        <p:spPr>
          <a:xfrm flipV="1">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연결선: 꺾임 7">
            <a:extLst>
              <a:ext uri="{FF2B5EF4-FFF2-40B4-BE49-F238E27FC236}">
                <a16:creationId xmlns:a16="http://schemas.microsoft.com/office/drawing/2014/main" id="{89A2D828-4C18-4F90-6B31-722E89773AA8}"/>
              </a:ext>
            </a:extLst>
          </p:cNvPr>
          <p:cNvCxnSpPr>
            <a:cxnSpLocks/>
            <a:stCxn id="40" idx="3"/>
            <a:endCxn id="72" idx="1"/>
          </p:cNvCxnSpPr>
          <p:nvPr/>
        </p:nvCxnSpPr>
        <p:spPr>
          <a:xfrm flipV="1">
            <a:off x="5097742" y="1772964"/>
            <a:ext cx="895757"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147" idx="2"/>
            <a:endCxn id="80" idx="6"/>
          </p:cNvCxnSpPr>
          <p:nvPr/>
        </p:nvCxnSpPr>
        <p:spPr>
          <a:xfrm rot="5400000">
            <a:off x="6814530" y="1635934"/>
            <a:ext cx="1211374" cy="177343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7742"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endParaRPr lang="en-US" altLang="ko-KR" sz="800" dirty="0">
              <a:solidFill>
                <a:schemeClr val="tx1"/>
              </a:solidFill>
            </a:endParaRPr>
          </a:p>
          <a:p>
            <a:pPr algn="ctr"/>
            <a:r>
              <a:rPr lang="ko-KR" altLang="en-US" sz="800" dirty="0">
                <a:solidFill>
                  <a:schemeClr val="tx1"/>
                </a:solidFill>
              </a:rPr>
              <a:t>신청 버튼</a:t>
            </a:r>
          </a:p>
        </p:txBody>
      </p:sp>
      <p:cxnSp>
        <p:nvCxnSpPr>
          <p:cNvPr id="68" name="연결선: 꺾임 7">
            <a:extLst>
              <a:ext uri="{FF2B5EF4-FFF2-40B4-BE49-F238E27FC236}">
                <a16:creationId xmlns:a16="http://schemas.microsoft.com/office/drawing/2014/main" id="{89A2D828-4C18-4F90-6B31-722E89773AA8}"/>
              </a:ext>
            </a:extLst>
          </p:cNvPr>
          <p:cNvCxnSpPr>
            <a:cxnSpLocks/>
            <a:stCxn id="38" idx="3"/>
            <a:endCxn id="67" idx="1"/>
          </p:cNvCxnSpPr>
          <p:nvPr/>
        </p:nvCxnSpPr>
        <p:spPr>
          <a:xfrm>
            <a:off x="3266608" y="2454859"/>
            <a:ext cx="931134"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사각형: 둥근 모서리 5">
            <a:extLst>
              <a:ext uri="{FF2B5EF4-FFF2-40B4-BE49-F238E27FC236}">
                <a16:creationId xmlns:a16="http://schemas.microsoft.com/office/drawing/2014/main" id="{410E5459-200D-7630-863C-88E5109259DF}"/>
              </a:ext>
            </a:extLst>
          </p:cNvPr>
          <p:cNvSpPr/>
          <p:nvPr/>
        </p:nvSpPr>
        <p:spPr>
          <a:xfrm>
            <a:off x="5993499"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82" name="직선 화살표 연결선 81">
            <a:extLst>
              <a:ext uri="{FF2B5EF4-FFF2-40B4-BE49-F238E27FC236}">
                <a16:creationId xmlns:a16="http://schemas.microsoft.com/office/drawing/2014/main" id="{9A519F08-B829-E35F-09D8-DFCD1F68B911}"/>
              </a:ext>
            </a:extLst>
          </p:cNvPr>
          <p:cNvCxnSpPr>
            <a:cxnSpLocks/>
            <a:stCxn id="47" idx="3"/>
            <a:endCxn id="81" idx="1"/>
          </p:cNvCxnSpPr>
          <p:nvPr/>
        </p:nvCxnSpPr>
        <p:spPr>
          <a:xfrm>
            <a:off x="5097742" y="5184438"/>
            <a:ext cx="8957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81" idx="3"/>
            <a:endCxn id="80" idx="6"/>
          </p:cNvCxnSpPr>
          <p:nvPr/>
        </p:nvCxnSpPr>
        <p:spPr>
          <a:xfrm flipH="1" flipV="1">
            <a:off x="6533499" y="3128338"/>
            <a:ext cx="360000" cy="2056100"/>
          </a:xfrm>
          <a:prstGeom prst="bentConnector3">
            <a:avLst>
              <a:gd name="adj1" fmla="val -635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F249990F-1DE5-C694-BDBD-2DE7009D57EA}"/>
              </a:ext>
            </a:extLst>
          </p:cNvPr>
          <p:cNvSpPr/>
          <p:nvPr/>
        </p:nvSpPr>
        <p:spPr>
          <a:xfrm>
            <a:off x="4197742" y="1496403"/>
            <a:ext cx="101951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100</a:t>
            </a:r>
            <a:r>
              <a:rPr lang="ko-KR" altLang="en-US" sz="800" dirty="0">
                <a:solidFill>
                  <a:schemeClr val="tx1"/>
                </a:solidFill>
              </a:rPr>
              <a:t>억 이상 용역</a:t>
            </a:r>
            <a:r>
              <a:rPr lang="en-US" altLang="ko-KR" sz="800" dirty="0">
                <a:solidFill>
                  <a:schemeClr val="tx1"/>
                </a:solidFill>
              </a:rPr>
              <a:t>, </a:t>
            </a:r>
            <a:r>
              <a:rPr lang="ko-KR" altLang="en-US" sz="800" dirty="0">
                <a:solidFill>
                  <a:schemeClr val="tx1"/>
                </a:solidFill>
              </a:rPr>
              <a:t>공사</a:t>
            </a:r>
          </a:p>
        </p:txBody>
      </p:sp>
      <p:sp>
        <p:nvSpPr>
          <p:cNvPr id="95" name="직사각형 94">
            <a:extLst>
              <a:ext uri="{FF2B5EF4-FFF2-40B4-BE49-F238E27FC236}">
                <a16:creationId xmlns:a16="http://schemas.microsoft.com/office/drawing/2014/main" id="{F249990F-1DE5-C694-BDBD-2DE7009D57EA}"/>
              </a:ext>
            </a:extLst>
          </p:cNvPr>
          <p:cNvSpPr/>
          <p:nvPr/>
        </p:nvSpPr>
        <p:spPr>
          <a:xfrm>
            <a:off x="4197742" y="286398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경쟁계약</a:t>
            </a:r>
          </a:p>
        </p:txBody>
      </p:sp>
      <p:sp>
        <p:nvSpPr>
          <p:cNvPr id="96" name="직사각형 95">
            <a:extLst>
              <a:ext uri="{FF2B5EF4-FFF2-40B4-BE49-F238E27FC236}">
                <a16:creationId xmlns:a16="http://schemas.microsoft.com/office/drawing/2014/main" id="{F249990F-1DE5-C694-BDBD-2DE7009D57EA}"/>
              </a:ext>
            </a:extLst>
          </p:cNvPr>
          <p:cNvSpPr/>
          <p:nvPr/>
        </p:nvSpPr>
        <p:spPr>
          <a:xfrm>
            <a:off x="4197742" y="2184639"/>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공개수의협상</a:t>
            </a:r>
          </a:p>
        </p:txBody>
      </p:sp>
      <p:sp>
        <p:nvSpPr>
          <p:cNvPr id="46" name="사각형: 둥근 모서리 5">
            <a:extLst>
              <a:ext uri="{FF2B5EF4-FFF2-40B4-BE49-F238E27FC236}">
                <a16:creationId xmlns:a16="http://schemas.microsoft.com/office/drawing/2014/main" id="{410E5459-200D-7630-863C-88E5109259DF}"/>
              </a:ext>
            </a:extLst>
          </p:cNvPr>
          <p:cNvSpPr/>
          <p:nvPr/>
        </p:nvSpPr>
        <p:spPr>
          <a:xfrm>
            <a:off x="4197742" y="43565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입찰취소</a:t>
            </a:r>
            <a:endParaRPr lang="en-US" altLang="ko-KR" sz="800" dirty="0">
              <a:solidFill>
                <a:schemeClr val="tx1"/>
              </a:solidFill>
            </a:endParaRPr>
          </a:p>
          <a:p>
            <a:pPr algn="ctr"/>
            <a:r>
              <a:rPr lang="ko-KR" altLang="en-US" sz="800" dirty="0">
                <a:solidFill>
                  <a:schemeClr val="tx1"/>
                </a:solidFill>
              </a:rPr>
              <a:t>신청 버튼</a:t>
            </a:r>
          </a:p>
        </p:txBody>
      </p:sp>
      <p:sp>
        <p:nvSpPr>
          <p:cNvPr id="47" name="사각형: 둥근 모서리 5">
            <a:extLst>
              <a:ext uri="{FF2B5EF4-FFF2-40B4-BE49-F238E27FC236}">
                <a16:creationId xmlns:a16="http://schemas.microsoft.com/office/drawing/2014/main" id="{410E5459-200D-7630-863C-88E5109259DF}"/>
              </a:ext>
            </a:extLst>
          </p:cNvPr>
          <p:cNvSpPr/>
          <p:nvPr/>
        </p:nvSpPr>
        <p:spPr>
          <a:xfrm>
            <a:off x="4197742"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환율정보</a:t>
            </a:r>
            <a:r>
              <a:rPr lang="ko-KR" altLang="en-US" sz="800" dirty="0">
                <a:solidFill>
                  <a:schemeClr val="tx1"/>
                </a:solidFill>
              </a:rPr>
              <a:t> 버튼</a:t>
            </a:r>
          </a:p>
        </p:txBody>
      </p:sp>
      <p:cxnSp>
        <p:nvCxnSpPr>
          <p:cNvPr id="49" name="연결선: 꺾임 7">
            <a:extLst>
              <a:ext uri="{FF2B5EF4-FFF2-40B4-BE49-F238E27FC236}">
                <a16:creationId xmlns:a16="http://schemas.microsoft.com/office/drawing/2014/main" id="{89A2D828-4C18-4F90-6B31-722E89773AA8}"/>
              </a:ext>
            </a:extLst>
          </p:cNvPr>
          <p:cNvCxnSpPr>
            <a:cxnSpLocks/>
            <a:stCxn id="38" idx="3"/>
            <a:endCxn id="46" idx="1"/>
          </p:cNvCxnSpPr>
          <p:nvPr/>
        </p:nvCxnSpPr>
        <p:spPr>
          <a:xfrm>
            <a:off x="3266608" y="2454859"/>
            <a:ext cx="931134"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연결선: 꺾임 7">
            <a:extLst>
              <a:ext uri="{FF2B5EF4-FFF2-40B4-BE49-F238E27FC236}">
                <a16:creationId xmlns:a16="http://schemas.microsoft.com/office/drawing/2014/main" id="{89A2D828-4C18-4F90-6B31-722E89773AA8}"/>
              </a:ext>
            </a:extLst>
          </p:cNvPr>
          <p:cNvCxnSpPr>
            <a:cxnSpLocks/>
            <a:stCxn id="38" idx="3"/>
            <a:endCxn id="47" idx="1"/>
          </p:cNvCxnSpPr>
          <p:nvPr/>
        </p:nvCxnSpPr>
        <p:spPr>
          <a:xfrm>
            <a:off x="3266608" y="2454859"/>
            <a:ext cx="931134" cy="27295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F249990F-1DE5-C694-BDBD-2DE7009D57EA}"/>
              </a:ext>
            </a:extLst>
          </p:cNvPr>
          <p:cNvSpPr/>
          <p:nvPr/>
        </p:nvSpPr>
        <p:spPr>
          <a:xfrm>
            <a:off x="4197742" y="3545607"/>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65" name="직사각형 64">
            <a:extLst>
              <a:ext uri="{FF2B5EF4-FFF2-40B4-BE49-F238E27FC236}">
                <a16:creationId xmlns:a16="http://schemas.microsoft.com/office/drawing/2014/main" id="{F249990F-1DE5-C694-BDBD-2DE7009D57EA}"/>
              </a:ext>
            </a:extLst>
          </p:cNvPr>
          <p:cNvSpPr/>
          <p:nvPr/>
        </p:nvSpPr>
        <p:spPr>
          <a:xfrm>
            <a:off x="4197742" y="4233081"/>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50" name="직사각형 49">
            <a:extLst>
              <a:ext uri="{FF2B5EF4-FFF2-40B4-BE49-F238E27FC236}">
                <a16:creationId xmlns:a16="http://schemas.microsoft.com/office/drawing/2014/main" id="{F249990F-1DE5-C694-BDBD-2DE7009D57EA}"/>
              </a:ext>
            </a:extLst>
          </p:cNvPr>
          <p:cNvSpPr/>
          <p:nvPr/>
        </p:nvSpPr>
        <p:spPr>
          <a:xfrm>
            <a:off x="4197742" y="4893555"/>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국외 공고</a:t>
            </a:r>
          </a:p>
        </p:txBody>
      </p:sp>
    </p:spTree>
    <p:extLst>
      <p:ext uri="{BB962C8B-B14F-4D97-AF65-F5344CB8AC3E}">
        <p14:creationId xmlns:p14="http://schemas.microsoft.com/office/powerpoint/2010/main" val="43291696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플로팅</a:t>
            </a:r>
            <a:r>
              <a:rPr lang="ko-KR" altLang="en-US" sz="1100" dirty="0">
                <a:solidFill>
                  <a:schemeClr val="tx1"/>
                </a:solidFill>
              </a:rPr>
              <a:t> 버튼</a:t>
            </a:r>
            <a:endParaRPr lang="en-US" altLang="ko-KR" sz="1100" dirty="0">
              <a:solidFill>
                <a:schemeClr val="tx1"/>
              </a:solidFill>
            </a:endParaRPr>
          </a:p>
          <a:p>
            <a:pPr algn="ctr"/>
            <a:r>
              <a:rPr lang="en-US" altLang="ko-KR" sz="1100" dirty="0">
                <a:solidFill>
                  <a:schemeClr val="tx1"/>
                </a:solidFill>
                <a:latin typeface="+mn-ea"/>
              </a:rPr>
              <a:t>FloatBtn</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9"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70592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최상단</a:t>
            </a:r>
            <a:r>
              <a:rPr lang="ko-KR" altLang="en-US" dirty="0"/>
              <a:t> 이동 버튼</a:t>
            </a:r>
            <a:r>
              <a:rPr lang="en-US" altLang="ko-KR" dirty="0"/>
              <a:t/>
            </a:r>
            <a:br>
              <a:rPr lang="en-US" altLang="ko-KR" dirty="0"/>
            </a:br>
            <a:r>
              <a:rPr lang="ko-KR" altLang="en-US" dirty="0" err="1"/>
              <a:t>플로팅</a:t>
            </a:r>
            <a:r>
              <a:rPr lang="ko-KR" altLang="en-US" dirty="0"/>
              <a:t> 버튼</a:t>
            </a:r>
            <a:endParaRPr lang="en-US" altLang="ko-KR" dirty="0"/>
          </a:p>
          <a:p>
            <a:pPr marL="228600" indent="-228600">
              <a:buFont typeface="+mj-lt"/>
              <a:buAutoNum type="arabicPeriod"/>
            </a:pPr>
            <a:r>
              <a:rPr lang="ko-KR" altLang="en-US" dirty="0" err="1" smtClean="0"/>
              <a:t>플로팅</a:t>
            </a:r>
            <a:r>
              <a:rPr lang="ko-KR" altLang="en-US" dirty="0" smtClean="0"/>
              <a:t> 버튼 클릭 시</a:t>
            </a:r>
            <a:r>
              <a:rPr lang="en-US" altLang="ko-KR" dirty="0" smtClean="0"/>
              <a:t/>
            </a:r>
            <a:br>
              <a:rPr lang="en-US" altLang="ko-KR" dirty="0" smtClean="0"/>
            </a:br>
            <a:r>
              <a:rPr lang="en-US" altLang="ko-KR" dirty="0" smtClean="0"/>
              <a:t>- </a:t>
            </a:r>
            <a:r>
              <a:rPr lang="ko-KR" altLang="en-US" dirty="0" smtClean="0"/>
              <a:t>조건에 맞는 버튼 표시</a:t>
            </a:r>
            <a:r>
              <a:rPr lang="en-US" altLang="ko-KR" dirty="0" smtClean="0"/>
              <a:t/>
            </a:r>
            <a:br>
              <a:rPr lang="en-US" altLang="ko-KR" dirty="0" smtClean="0"/>
            </a:br>
            <a:r>
              <a:rPr lang="en-US" altLang="ko-KR" dirty="0" smtClean="0"/>
              <a:t>- </a:t>
            </a:r>
            <a:r>
              <a:rPr lang="ko-KR" altLang="en-US" dirty="0" smtClean="0"/>
              <a:t>클릭 시 각각의 페이지 이동</a:t>
            </a:r>
            <a:endParaRPr lang="en-US" altLang="ko-KR" dirty="0" smtClean="0"/>
          </a:p>
          <a:p>
            <a:pPr marL="228600" indent="-228600">
              <a:buFont typeface="+mj-lt"/>
              <a:buAutoNum type="arabicPeriod"/>
            </a:pPr>
            <a:r>
              <a:rPr lang="ko-KR" altLang="en-US" dirty="0" smtClean="0"/>
              <a:t>입찰공고상세에 </a:t>
            </a:r>
            <a:r>
              <a:rPr lang="ko-KR" altLang="en-US" dirty="0"/>
              <a:t>연결된 </a:t>
            </a:r>
            <a:r>
              <a:rPr lang="ko-KR" altLang="en-US" dirty="0" smtClean="0"/>
              <a:t>이벤트</a:t>
            </a:r>
            <a:r>
              <a:rPr lang="en-US" altLang="ko-KR" dirty="0" smtClean="0"/>
              <a:t/>
            </a:r>
            <a:br>
              <a:rPr lang="en-US" altLang="ko-KR" dirty="0" smtClean="0"/>
            </a:br>
            <a:r>
              <a:rPr lang="en-US" altLang="ko-KR" dirty="0" smtClean="0"/>
              <a:t>- </a:t>
            </a:r>
            <a:r>
              <a:rPr lang="ko-KR" altLang="en-US" dirty="0" smtClean="0"/>
              <a:t>사전심사</a:t>
            </a:r>
            <a:r>
              <a:rPr lang="en-US" altLang="ko-KR" dirty="0"/>
              <a:t>PQ </a:t>
            </a:r>
            <a:r>
              <a:rPr lang="ko-KR" altLang="en-US" dirty="0" err="1"/>
              <a:t>신청버튼</a:t>
            </a:r>
            <a:r>
              <a:rPr lang="en-US" altLang="ko-KR" dirty="0"/>
              <a:t/>
            </a:r>
            <a:br>
              <a:rPr lang="en-US" altLang="ko-KR" dirty="0"/>
            </a:br>
            <a:r>
              <a:rPr lang="ko-KR" altLang="en-US" dirty="0"/>
              <a:t>ㄴ </a:t>
            </a:r>
            <a:r>
              <a:rPr lang="en-US" altLang="ko-KR" dirty="0"/>
              <a:t>100</a:t>
            </a:r>
            <a:r>
              <a:rPr lang="ko-KR" altLang="en-US" dirty="0" err="1"/>
              <a:t>억이상</a:t>
            </a:r>
            <a:r>
              <a:rPr lang="en-US" altLang="ko-KR" dirty="0"/>
              <a:t>, </a:t>
            </a:r>
            <a:r>
              <a:rPr lang="ko-KR" altLang="en-US" dirty="0"/>
              <a:t>용역 공고</a:t>
            </a:r>
            <a:r>
              <a:rPr lang="en-US" altLang="ko-KR" dirty="0"/>
              <a:t/>
            </a:r>
            <a:br>
              <a:rPr lang="en-US" altLang="ko-KR" dirty="0"/>
            </a:br>
            <a:r>
              <a:rPr lang="ko-KR" altLang="en-US" dirty="0"/>
              <a:t>ㄴ 공사 공고</a:t>
            </a:r>
            <a:r>
              <a:rPr lang="en-US" altLang="ko-KR" dirty="0"/>
              <a:t/>
            </a:r>
            <a:br>
              <a:rPr lang="en-US" altLang="ko-KR" dirty="0"/>
            </a:br>
            <a:r>
              <a:rPr lang="en-US" altLang="ko-KR" dirty="0" smtClean="0"/>
              <a:t>- </a:t>
            </a:r>
            <a:r>
              <a:rPr lang="ko-KR" altLang="en-US" dirty="0" smtClean="0"/>
              <a:t>견적서 </a:t>
            </a:r>
            <a:r>
              <a:rPr lang="ko-KR" altLang="en-US" dirty="0"/>
              <a:t>작성</a:t>
            </a:r>
            <a:r>
              <a:rPr lang="en-US" altLang="ko-KR" dirty="0"/>
              <a:t/>
            </a:r>
            <a:br>
              <a:rPr lang="en-US" altLang="ko-KR" dirty="0"/>
            </a:br>
            <a:r>
              <a:rPr lang="ko-KR" altLang="en-US" dirty="0"/>
              <a:t>ㄴ 공개수의협상 공고인 경우</a:t>
            </a:r>
            <a:r>
              <a:rPr lang="en-US" altLang="ko-KR" dirty="0"/>
              <a:t/>
            </a:r>
            <a:br>
              <a:rPr lang="en-US" altLang="ko-KR" dirty="0"/>
            </a:br>
            <a:r>
              <a:rPr lang="en-US" altLang="ko-KR" dirty="0" smtClean="0"/>
              <a:t>- </a:t>
            </a:r>
            <a:r>
              <a:rPr lang="ko-KR" altLang="en-US" dirty="0" smtClean="0"/>
              <a:t>입찰서 </a:t>
            </a:r>
            <a:r>
              <a:rPr lang="ko-KR" altLang="en-US" dirty="0"/>
              <a:t>작성</a:t>
            </a:r>
            <a:r>
              <a:rPr lang="en-US" altLang="ko-KR" dirty="0"/>
              <a:t/>
            </a:r>
            <a:br>
              <a:rPr lang="en-US" altLang="ko-KR" dirty="0"/>
            </a:br>
            <a:r>
              <a:rPr lang="ko-KR" altLang="en-US" dirty="0" err="1"/>
              <a:t>ㄴ경쟁계약공고인</a:t>
            </a:r>
            <a:r>
              <a:rPr lang="ko-KR" altLang="en-US" dirty="0"/>
              <a:t> 경우</a:t>
            </a:r>
            <a:r>
              <a:rPr lang="en-US" altLang="ko-KR" dirty="0"/>
              <a:t/>
            </a:r>
            <a:br>
              <a:rPr lang="en-US" altLang="ko-KR" dirty="0"/>
            </a:br>
            <a:r>
              <a:rPr lang="en-US" altLang="ko-KR" dirty="0"/>
              <a:t>-</a:t>
            </a:r>
            <a:r>
              <a:rPr lang="ko-KR" altLang="en-US" dirty="0"/>
              <a:t>입찰참가신청서 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smtClean="0"/>
              <a:t>- </a:t>
            </a:r>
            <a:r>
              <a:rPr lang="ko-KR" altLang="en-US" dirty="0" err="1" smtClean="0"/>
              <a:t>환율정보</a:t>
            </a:r>
            <a:r>
              <a:rPr lang="en-US" altLang="ko-KR" dirty="0" smtClean="0"/>
              <a:t/>
            </a:r>
            <a:br>
              <a:rPr lang="en-US" altLang="ko-KR" dirty="0" smtClean="0"/>
            </a:br>
            <a:r>
              <a:rPr lang="ko-KR" altLang="en-US" dirty="0" err="1" smtClean="0"/>
              <a:t>ㄴ국외</a:t>
            </a:r>
            <a:r>
              <a:rPr lang="ko-KR" altLang="en-US" dirty="0" smtClean="0"/>
              <a:t> 공고인 경우</a:t>
            </a:r>
            <a:r>
              <a:rPr lang="en-US" altLang="ko-KR" dirty="0"/>
              <a:t/>
            </a:r>
            <a:br>
              <a:rPr lang="en-US" altLang="ko-KR" dirty="0"/>
            </a:br>
            <a:r>
              <a:rPr lang="en-US" altLang="ko-KR" dirty="0"/>
              <a:t/>
            </a:r>
            <a:br>
              <a:rPr lang="en-US" altLang="ko-KR" dirty="0"/>
            </a:b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플로팅</a:t>
            </a:r>
            <a:r>
              <a:rPr lang="ko-KR" altLang="en-US" dirty="0">
                <a:latin typeface="+mn-ea"/>
              </a:rPr>
              <a:t> 버튼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29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5" name="TextBox 58">
            <a:extLst>
              <a:ext uri="{FF2B5EF4-FFF2-40B4-BE49-F238E27FC236}">
                <a16:creationId xmlns:a16="http://schemas.microsoft.com/office/drawing/2014/main" id="{02FC114B-B48B-345F-BD70-2B5A196F5B3E}"/>
              </a:ext>
            </a:extLst>
          </p:cNvPr>
          <p:cNvSpPr txBox="1"/>
          <p:nvPr/>
        </p:nvSpPr>
        <p:spPr>
          <a:xfrm>
            <a:off x="781461" y="258445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9520"/>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41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0124"/>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012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386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2798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7236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0370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08569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78167" y="2376021"/>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3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1765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4417653"/>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4417653"/>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4417653"/>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3426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37953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405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956338"/>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5809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3375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6327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3375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3375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6327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6327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112" name="타원 111"/>
          <p:cNvSpPr/>
          <p:nvPr/>
        </p:nvSpPr>
        <p:spPr>
          <a:xfrm>
            <a:off x="287164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001107" y="5271034"/>
            <a:ext cx="124144" cy="148935"/>
            <a:chOff x="161606" y="5392781"/>
            <a:chExt cx="97885" cy="117432"/>
          </a:xfrm>
        </p:grpSpPr>
        <p:cxnSp>
          <p:nvCxnSpPr>
            <p:cNvPr id="114" name="직선 연결선 113"/>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8" name="타원 117"/>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a:off x="3001108" y="5768679"/>
            <a:ext cx="124144" cy="124144"/>
            <a:chOff x="162544" y="5299917"/>
            <a:chExt cx="124144" cy="124144"/>
          </a:xfrm>
        </p:grpSpPr>
        <p:cxnSp>
          <p:nvCxnSpPr>
            <p:cNvPr id="120" name="직선 연결선 119"/>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22" name="타원 121">
            <a:extLst>
              <a:ext uri="{FF2B5EF4-FFF2-40B4-BE49-F238E27FC236}">
                <a16:creationId xmlns:a16="http://schemas.microsoft.com/office/drawing/2014/main" id="{37A7FF4F-0EAA-1463-560A-D5EC24416103}"/>
              </a:ext>
            </a:extLst>
          </p:cNvPr>
          <p:cNvSpPr/>
          <p:nvPr/>
        </p:nvSpPr>
        <p:spPr>
          <a:xfrm>
            <a:off x="2860679" y="5627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3793173"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48791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6282112"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3922250"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3793173"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3704498" y="30215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3885476" y="353706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3885476" y="387487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3885476" y="4207385"/>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3885476" y="4501141"/>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5130062"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26" name="그룹 125"/>
          <p:cNvGrpSpPr/>
          <p:nvPr/>
        </p:nvGrpSpPr>
        <p:grpSpPr>
          <a:xfrm>
            <a:off x="2714860" y="3663275"/>
            <a:ext cx="603798" cy="187961"/>
            <a:chOff x="2714860" y="3237230"/>
            <a:chExt cx="603798" cy="187961"/>
          </a:xfrm>
        </p:grpSpPr>
        <p:grpSp>
          <p:nvGrpSpPr>
            <p:cNvPr id="133" name="그룹 132"/>
            <p:cNvGrpSpPr/>
            <p:nvPr/>
          </p:nvGrpSpPr>
          <p:grpSpPr>
            <a:xfrm>
              <a:off x="2714860" y="3237230"/>
              <a:ext cx="187961" cy="187961"/>
              <a:chOff x="2714860" y="3237230"/>
              <a:chExt cx="187961" cy="187961"/>
            </a:xfrm>
          </p:grpSpPr>
          <p:sp>
            <p:nvSpPr>
              <p:cNvPr id="135" name="타원 134"/>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34" name="TextBox 133">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37" name="그룹 136"/>
          <p:cNvGrpSpPr/>
          <p:nvPr/>
        </p:nvGrpSpPr>
        <p:grpSpPr>
          <a:xfrm rot="5400000">
            <a:off x="3158978" y="3658640"/>
            <a:ext cx="187961" cy="187961"/>
            <a:chOff x="3876200" y="2234886"/>
            <a:chExt cx="187961" cy="187961"/>
          </a:xfrm>
        </p:grpSpPr>
        <p:sp>
          <p:nvSpPr>
            <p:cNvPr id="138" name="타원 13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16200000">
              <a:off x="3931564" y="2305364"/>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48" name="그룹 147"/>
          <p:cNvGrpSpPr/>
          <p:nvPr/>
        </p:nvGrpSpPr>
        <p:grpSpPr>
          <a:xfrm>
            <a:off x="677960" y="1582647"/>
            <a:ext cx="2714637" cy="686386"/>
            <a:chOff x="677960" y="1582647"/>
            <a:chExt cx="2714637" cy="686386"/>
          </a:xfrm>
        </p:grpSpPr>
        <p:sp>
          <p:nvSpPr>
            <p:cNvPr id="149" name="TextBox 148">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6" name="직선 연결선 1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6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62" name="직선 연결선 16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3" name="타원 16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타원 16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5" name="타원 16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68" name="타원 167">
            <a:extLst>
              <a:ext uri="{FF2B5EF4-FFF2-40B4-BE49-F238E27FC236}">
                <a16:creationId xmlns:a16="http://schemas.microsoft.com/office/drawing/2014/main" id="{37A7FF4F-0EAA-1463-560A-D5EC24416103}"/>
              </a:ext>
            </a:extLst>
          </p:cNvPr>
          <p:cNvSpPr/>
          <p:nvPr/>
        </p:nvSpPr>
        <p:spPr>
          <a:xfrm>
            <a:off x="2851029" y="51385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Tree>
    <p:extLst>
      <p:ext uri="{BB962C8B-B14F-4D97-AF65-F5344CB8AC3E}">
        <p14:creationId xmlns:p14="http://schemas.microsoft.com/office/powerpoint/2010/main" val="412544375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 </a:t>
            </a:r>
            <a:r>
              <a:rPr lang="ko-KR" altLang="en-US" dirty="0"/>
              <a:t>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en-US" altLang="ko-KR" dirty="0" smtClean="0"/>
              <a:t>- </a:t>
            </a:r>
            <a:r>
              <a:rPr lang="ko-KR" altLang="en-US" dirty="0" err="1" smtClean="0"/>
              <a:t>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a:t>- </a:t>
            </a:r>
            <a:r>
              <a:rPr lang="ko-KR" altLang="en-US" dirty="0" err="1" smtClean="0"/>
              <a:t>환율정보</a:t>
            </a:r>
            <a:r>
              <a:rPr lang="en-US" altLang="ko-KR" dirty="0"/>
              <a:t/>
            </a:r>
            <a:br>
              <a:rPr lang="en-US" altLang="ko-KR" dirty="0"/>
            </a:br>
            <a:r>
              <a:rPr lang="en-US" altLang="ko-KR" dirty="0" smtClean="0"/>
              <a:t>  &gt; </a:t>
            </a:r>
            <a:r>
              <a:rPr lang="ko-KR" altLang="en-US" dirty="0" smtClean="0"/>
              <a:t>국외 공고일 때 노출</a:t>
            </a:r>
            <a:r>
              <a:rPr lang="en-US" altLang="ko-KR" dirty="0"/>
              <a:t/>
            </a:r>
            <a:br>
              <a:rPr lang="en-US" altLang="ko-KR" dirty="0"/>
            </a:br>
            <a:r>
              <a:rPr lang="en-US" altLang="ko-KR" dirty="0"/>
              <a:t/>
            </a:r>
            <a:br>
              <a:rPr lang="en-US" altLang="ko-KR" dirty="0"/>
            </a:b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플로팅</a:t>
            </a:r>
            <a:r>
              <a:rPr lang="ko-KR" altLang="en-US" dirty="0">
                <a:latin typeface="+mn-ea"/>
              </a:rPr>
              <a:t> 버튼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65127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648717"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734730"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3137656"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777794"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48717"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605664" y="29232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741020" y="353706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741020" y="387487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741020" y="4207385"/>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 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741020" y="4991129"/>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1985606"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741020" y="450446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Tree>
    <p:extLst>
      <p:ext uri="{BB962C8B-B14F-4D97-AF65-F5344CB8AC3E}">
        <p14:creationId xmlns:p14="http://schemas.microsoft.com/office/powerpoint/2010/main" val="34120998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267464447"/>
              </p:ext>
            </p:extLst>
          </p:nvPr>
        </p:nvGraphicFramePr>
        <p:xfrm>
          <a:off x="635474" y="1413419"/>
          <a:ext cx="8701200" cy="40358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MUI-BD-03-M01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lt"/>
                          <a:ea typeface="+mn-ea"/>
                          <a:cs typeface="+mn-cs"/>
                        </a:rPr>
                        <a:t>입찰진행목록</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BidPrgrsListForBzentyPage</a:t>
                      </a:r>
                      <a:endParaRPr lang="en-US" sz="800" b="0" i="0" u="none" strike="noStrike" dirty="0">
                        <a:solidFill>
                          <a:schemeClr val="tx1"/>
                        </a:solidFill>
                        <a:effectLst/>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lt"/>
                        </a:rPr>
                        <a:t>신청한 입찰 내역</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rPr>
                        <a:t>bidPrgrsListForBzenty</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BidPrgrsListForBzentyPage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endParaRPr lang="en-US" altLang="ko-KR" sz="800" dirty="0">
                        <a:solidFill>
                          <a:srgbClr val="FF0000"/>
                        </a:solidFill>
                        <a:latin typeface="+mn-lt"/>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smtClean="0">
                          <a:solidFill>
                            <a:schemeClr val="tx1"/>
                          </a:solidFill>
                          <a:latin typeface="+mn-ea"/>
                          <a:ea typeface="+mn-ea"/>
                          <a:cs typeface="+mn-cs"/>
                        </a:rPr>
                        <a:t>MUI-BD-03-P08</a:t>
                      </a:r>
                      <a:endParaRPr lang="en-US" altLang="ko-KR"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lt"/>
                          <a:ea typeface="+mn-ea"/>
                          <a:cs typeface="+mn-cs"/>
                        </a:rPr>
                        <a:t>검색필터</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입찰진행</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BidPrgrsListForBzenty_SrchFilter</a:t>
                      </a:r>
                      <a:endParaRPr 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lt"/>
                        </a:rPr>
                        <a:t>입찰 내역 검색 필터 화면</a:t>
                      </a:r>
                      <a:endParaRPr lang="ko-KR" altLang="en-US" sz="800" dirty="0">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rPr>
                        <a:t>bidPrgrsListForBzenty</a:t>
                      </a:r>
                      <a:r>
                        <a:rPr lang="en-US" altLang="ko-KR" sz="800" b="0" i="0" u="none" strike="noStrike" dirty="0" smtClean="0">
                          <a:solidFill>
                            <a:schemeClr val="tx1"/>
                          </a:solidFill>
                          <a:effectLst/>
                          <a:latin typeface="+mn-lt"/>
                        </a:rPr>
                        <a:t>/</a:t>
                      </a:r>
                      <a:r>
                        <a:rPr lang="en-US" altLang="ko-KR" sz="800" kern="1200" dirty="0" err="1" smtClean="0">
                          <a:solidFill>
                            <a:schemeClr val="tx1"/>
                          </a:solidFill>
                          <a:latin typeface="+mn-lt"/>
                          <a:ea typeface="+mn-ea"/>
                          <a:cs typeface="+mn-cs"/>
                        </a:rPr>
                        <a:t>BidPrgrsListForBzenty_SrchFilter</a:t>
                      </a:r>
                      <a:r>
                        <a:rPr lang="en-US" altLang="ko-KR" sz="800" dirty="0" err="1" smtClean="0">
                          <a:solidFill>
                            <a:schemeClr val="tx1"/>
                          </a:solidFill>
                          <a:latin typeface="+mn-lt"/>
                          <a:ea typeface="+mn-ea"/>
                        </a:rPr>
                        <a:t>.tsx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lt"/>
                          <a:ea typeface="+mn-ea"/>
                        </a:rPr>
                        <a:t>UC-BD-02-01</a:t>
                      </a:r>
                      <a:endParaRPr lang="en-US" altLang="ko-KR" sz="800" dirty="0" smtClean="0">
                        <a:solidFill>
                          <a:srgbClr val="FF0000"/>
                        </a:solidFill>
                        <a:latin typeface="+mn-lt"/>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latin typeface="+mn-lt"/>
                          <a:ea typeface="+mn-ea"/>
                        </a:rPr>
                        <a:t>UC-BD-08-01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7499842"/>
                  </a:ext>
                </a:extLst>
              </a:tr>
              <a:tr h="180000">
                <a:tc>
                  <a:txBody>
                    <a:bodyPr/>
                    <a:lstStyle/>
                    <a:p>
                      <a:pPr algn="l" fontAlgn="ctr"/>
                      <a:r>
                        <a:rPr lang="en-US" altLang="ko-KR" sz="700" kern="1200" dirty="0">
                          <a:solidFill>
                            <a:schemeClr val="tx1"/>
                          </a:solidFill>
                          <a:latin typeface="+mn-ea"/>
                          <a:ea typeface="+mn-ea"/>
                          <a:cs typeface="+mn-cs"/>
                        </a:rPr>
                        <a:t>MUI-BD-03-M02</a:t>
                      </a:r>
                      <a:endParaRPr 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lt"/>
                          <a:ea typeface="+mn-ea"/>
                          <a:cs typeface="+mn-cs"/>
                        </a:rPr>
                        <a:t>입찰진행상세</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BidPrgsDtlInqPage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신청한 입찰 상세 내역 조회</a:t>
                      </a:r>
                      <a:endParaRPr lang="en-US" altLang="ko-KR"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bidPrgsDtlInq</a:t>
                      </a:r>
                      <a:r>
                        <a:rPr lang="en-US" altLang="ko-KR" sz="800" dirty="0">
                          <a:solidFill>
                            <a:schemeClr val="tx1"/>
                          </a:solidFill>
                          <a:latin typeface="+mn-lt"/>
                          <a:ea typeface="+mn-ea"/>
                        </a:rPr>
                        <a:t>/</a:t>
                      </a:r>
                      <a:r>
                        <a:rPr lang="en-US" altLang="ko-KR" sz="800" dirty="0" err="1">
                          <a:solidFill>
                            <a:schemeClr val="tx1"/>
                          </a:solidFill>
                          <a:latin typeface="+mn-lt"/>
                          <a:ea typeface="+mn-ea"/>
                        </a:rPr>
                        <a:t>BidPrgsDtlInqPage.tsx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endParaRPr lang="en-US" altLang="ko-KR" sz="800" dirty="0">
                        <a:solidFill>
                          <a:srgbClr val="FF0000"/>
                        </a:solidFill>
                        <a:latin typeface="+mn-lt"/>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mn-lt"/>
                          <a:ea typeface="+mn-ea"/>
                          <a:cs typeface="+mn-cs"/>
                        </a:rPr>
                        <a:t>입찰포기신청서</a:t>
                      </a:r>
                      <a:endParaRPr lang="ko-KR" altLang="en-US" sz="800" b="0" i="0" u="none" strike="noStrike" kern="1200" dirty="0">
                        <a:solidFill>
                          <a:srgbClr val="000000"/>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BidAbndAperWrt</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입찰참가신청 후 입찰서 제출 포기</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bidPrgsDtlInqPage</a:t>
                      </a:r>
                      <a:r>
                        <a:rPr lang="en-US" altLang="ko-KR" sz="800" dirty="0">
                          <a:solidFill>
                            <a:schemeClr val="tx1"/>
                          </a:solidFill>
                          <a:latin typeface="+mn-lt"/>
                          <a:ea typeface="+mn-ea"/>
                        </a:rPr>
                        <a:t>/</a:t>
                      </a:r>
                      <a:r>
                        <a:rPr lang="en-US" altLang="ko-KR" sz="800" dirty="0" err="1">
                          <a:solidFill>
                            <a:schemeClr val="tx1"/>
                          </a:solidFill>
                          <a:latin typeface="+mn-lt"/>
                          <a:ea typeface="+mn-ea"/>
                        </a:rPr>
                        <a:t>BidAbndAperWrt.tsx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UC-BD-04-01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mn-lt"/>
                          <a:ea typeface="+mn-ea"/>
                          <a:cs typeface="+mn-cs"/>
                        </a:rPr>
                        <a:t>입찰취소신청서</a:t>
                      </a:r>
                      <a:endParaRPr lang="ko-KR" altLang="en-US" sz="800" b="0" i="0" u="none" strike="noStrike" kern="1200" dirty="0">
                        <a:solidFill>
                          <a:srgbClr val="000000"/>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BidRtrcnAperInq</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작성한 입찰서 취소 및 취소 신청서 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bidPrgsDtlInqPage</a:t>
                      </a:r>
                      <a:r>
                        <a:rPr lang="en-US" altLang="ko-KR" sz="800" dirty="0">
                          <a:solidFill>
                            <a:schemeClr val="tx1"/>
                          </a:solidFill>
                          <a:latin typeface="+mn-lt"/>
                          <a:ea typeface="+mn-ea"/>
                        </a:rPr>
                        <a:t>/</a:t>
                      </a:r>
                      <a:r>
                        <a:rPr lang="en-US" altLang="ko-KR" sz="800" dirty="0" err="1">
                          <a:solidFill>
                            <a:schemeClr val="tx1"/>
                          </a:solidFill>
                          <a:latin typeface="+mn-lt"/>
                          <a:ea typeface="+mn-ea"/>
                        </a:rPr>
                        <a:t>BidRtrcnAperInq.tsx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UC-BD-04-01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MUI-BD-03-M05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mn-lt"/>
                          <a:ea typeface="+mn-ea"/>
                          <a:cs typeface="+mn-cs"/>
                        </a:rPr>
                        <a:t>입찰등록결과</a:t>
                      </a:r>
                      <a:endParaRPr lang="ko-KR" altLang="en-US" sz="800" b="0" i="0" u="none" strike="noStrike" kern="1200" dirty="0">
                        <a:solidFill>
                          <a:srgbClr val="000000"/>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BidRegRsltInqPage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입찰참가신청서 신청 현황 및 심사결과 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bidRtrcnAperInq</a:t>
                      </a:r>
                      <a:r>
                        <a:rPr lang="en-US" altLang="ko-KR" sz="800" dirty="0">
                          <a:solidFill>
                            <a:schemeClr val="tx1"/>
                          </a:solidFill>
                          <a:latin typeface="+mn-lt"/>
                          <a:ea typeface="+mn-ea"/>
                        </a:rPr>
                        <a:t>/</a:t>
                      </a:r>
                      <a:r>
                        <a:rPr lang="en-US" altLang="ko-KR" sz="800" dirty="0" err="1">
                          <a:solidFill>
                            <a:schemeClr val="tx1"/>
                          </a:solidFill>
                          <a:latin typeface="+mn-lt"/>
                          <a:ea typeface="+mn-ea"/>
                        </a:rPr>
                        <a:t>BidRegRsltInqPage.tsx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lt"/>
                          <a:ea typeface="+mn-ea"/>
                        </a:rPr>
                        <a:t>UC-BD-02-01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MUI-BD-07-P01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mn-lt"/>
                          <a:ea typeface="+mn-ea"/>
                          <a:cs typeface="+mn-cs"/>
                        </a:rPr>
                        <a:t>기술평가결과</a:t>
                      </a:r>
                      <a:endParaRPr lang="ko-KR" altLang="en-US" sz="800" b="0" i="0" u="none" strike="noStrike" kern="1200" dirty="0">
                        <a:solidFill>
                          <a:srgbClr val="000000"/>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TechEvlRsltInq</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기술평가 서류 제출 결과</a:t>
                      </a:r>
                      <a:endParaRPr lang="en-US" altLang="ko-KR"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bfhdSrngRsltInq</a:t>
                      </a:r>
                      <a:r>
                        <a:rPr lang="en-US" altLang="ko-KR" sz="800" dirty="0">
                          <a:solidFill>
                            <a:schemeClr val="tx1"/>
                          </a:solidFill>
                          <a:latin typeface="+mn-lt"/>
                          <a:ea typeface="+mn-ea"/>
                        </a:rPr>
                        <a:t>/</a:t>
                      </a:r>
                      <a:r>
                        <a:rPr lang="en-US" altLang="ko-KR" sz="800" dirty="0" err="1">
                          <a:solidFill>
                            <a:schemeClr val="tx1"/>
                          </a:solidFill>
                          <a:latin typeface="+mn-lt"/>
                          <a:ea typeface="+mn-ea"/>
                        </a:rPr>
                        <a:t>TechEvlRsltInq.tsx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lt"/>
                          <a:ea typeface="+mn-ea"/>
                        </a:rPr>
                        <a:t>UC-BD-09-03</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mn-lt"/>
                          <a:ea typeface="+mn-ea"/>
                          <a:cs typeface="+mn-cs"/>
                        </a:rPr>
                        <a:t>생산능력서류제출</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PrdctnAbltDcmntSbmsn</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생산능력서류 제출</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bfhdSrngRsltInq</a:t>
                      </a:r>
                      <a:r>
                        <a:rPr lang="en-US" altLang="ko-KR" sz="800" dirty="0">
                          <a:solidFill>
                            <a:schemeClr val="tx1"/>
                          </a:solidFill>
                          <a:latin typeface="+mn-lt"/>
                          <a:ea typeface="+mn-ea"/>
                        </a:rPr>
                        <a:t>/</a:t>
                      </a:r>
                      <a:r>
                        <a:rPr lang="en-US" altLang="ko-KR" sz="800" dirty="0" err="1">
                          <a:solidFill>
                            <a:schemeClr val="tx1"/>
                          </a:solidFill>
                          <a:latin typeface="+mn-lt"/>
                          <a:ea typeface="+mn-ea"/>
                        </a:rPr>
                        <a:t>PrdctnAbltDcmntSbmsn.tsx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lt"/>
                          <a:ea typeface="+mn-ea"/>
                        </a:rPr>
                        <a:t>UC-BD-02-01</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lt"/>
                          <a:ea typeface="+mn-ea"/>
                          <a:cs typeface="+mn-cs"/>
                        </a:rPr>
                        <a:t>입찰참가신청반려신청</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BidPrtcpAplyRjct</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입찰참가신청반려 신청서 제출</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bfhdSrngRsltInq</a:t>
                      </a:r>
                      <a:r>
                        <a:rPr lang="en-US" altLang="ko-KR" sz="800" dirty="0">
                          <a:solidFill>
                            <a:schemeClr val="tx1"/>
                          </a:solidFill>
                          <a:latin typeface="+mn-lt"/>
                          <a:ea typeface="+mn-ea"/>
                        </a:rPr>
                        <a:t>/</a:t>
                      </a:r>
                      <a:r>
                        <a:rPr lang="en-US" altLang="ko-KR" sz="800" dirty="0" err="1">
                          <a:solidFill>
                            <a:schemeClr val="tx1"/>
                          </a:solidFill>
                          <a:latin typeface="+mn-lt"/>
                          <a:ea typeface="+mn-ea"/>
                        </a:rPr>
                        <a:t>BidPrtcpAplyRjct.tsx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사전심사</a:t>
                      </a:r>
                      <a:r>
                        <a:rPr lang="en-US" altLang="ko-KR" sz="800" kern="1200" dirty="0">
                          <a:solidFill>
                            <a:schemeClr val="tx1"/>
                          </a:solidFill>
                          <a:latin typeface="+mn-lt"/>
                          <a:ea typeface="+mn-ea"/>
                          <a:cs typeface="+mn-cs"/>
                        </a:rPr>
                        <a:t>(PQ)</a:t>
                      </a:r>
                      <a:r>
                        <a:rPr lang="ko-KR" altLang="en-US" sz="800" kern="1200" dirty="0">
                          <a:solidFill>
                            <a:schemeClr val="tx1"/>
                          </a:solidFill>
                          <a:latin typeface="+mn-lt"/>
                          <a:ea typeface="+mn-ea"/>
                          <a:cs typeface="+mn-cs"/>
                        </a:rPr>
                        <a:t>신청</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BfhdSrngAplyPage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lt"/>
                          <a:ea typeface="+mn-ea"/>
                          <a:cs typeface="+mn-cs"/>
                        </a:rPr>
                        <a:t>조달업체는</a:t>
                      </a:r>
                      <a:r>
                        <a:rPr lang="ko-KR" altLang="en-US" sz="800" kern="1200" dirty="0">
                          <a:solidFill>
                            <a:schemeClr val="tx1"/>
                          </a:solidFill>
                          <a:latin typeface="+mn-lt"/>
                          <a:ea typeface="+mn-ea"/>
                          <a:cs typeface="+mn-cs"/>
                        </a:rPr>
                        <a:t> 필요 서류를 첨부하여 사전심사신청서 제출</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bfhdSrngAply</a:t>
                      </a:r>
                      <a:r>
                        <a:rPr lang="en-US" altLang="ko-KR" sz="800" dirty="0">
                          <a:solidFill>
                            <a:schemeClr val="tx1"/>
                          </a:solidFill>
                          <a:latin typeface="+mn-lt"/>
                          <a:ea typeface="+mn-ea"/>
                        </a:rPr>
                        <a:t>/</a:t>
                      </a:r>
                      <a:r>
                        <a:rPr lang="en-US" altLang="ko-KR" sz="800" dirty="0" err="1">
                          <a:solidFill>
                            <a:schemeClr val="tx1"/>
                          </a:solidFill>
                          <a:latin typeface="+mn-lt"/>
                          <a:ea typeface="+mn-ea"/>
                        </a:rPr>
                        <a:t>BfhdSrngAplyPage.tsx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UC-BD-08-02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mn-lt"/>
                          <a:ea typeface="+mn-ea"/>
                          <a:cs typeface="+mn-cs"/>
                        </a:rPr>
                        <a:t>사전심사</a:t>
                      </a:r>
                      <a:r>
                        <a:rPr lang="en-US" altLang="ko-KR" sz="800" b="0" i="0" u="none" strike="noStrike" kern="1200" dirty="0">
                          <a:solidFill>
                            <a:srgbClr val="000000"/>
                          </a:solidFill>
                          <a:effectLst/>
                          <a:latin typeface="+mn-lt"/>
                          <a:ea typeface="+mn-ea"/>
                          <a:cs typeface="+mn-cs"/>
                        </a:rPr>
                        <a:t>(PQ)</a:t>
                      </a:r>
                      <a:r>
                        <a:rPr lang="ko-KR" altLang="en-US" sz="800" b="0" i="0" u="none" strike="noStrike" kern="1200" dirty="0" smtClean="0">
                          <a:solidFill>
                            <a:srgbClr val="000000"/>
                          </a:solidFill>
                          <a:effectLst/>
                          <a:latin typeface="+mn-lt"/>
                          <a:ea typeface="+mn-ea"/>
                          <a:cs typeface="+mn-cs"/>
                        </a:rPr>
                        <a:t>결과</a:t>
                      </a:r>
                      <a:endParaRPr lang="ko-KR" altLang="en-US" sz="800" b="0" i="0" u="none" strike="noStrike" kern="1200" dirty="0">
                        <a:solidFill>
                          <a:srgbClr val="000000"/>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BfhdSrngRsltInqPage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사전심사 신청 현황 및 심사결과 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dirty="0" err="1">
                          <a:solidFill>
                            <a:schemeClr val="tx1"/>
                          </a:solidFill>
                          <a:latin typeface="+mn-lt"/>
                          <a:ea typeface="+mn-ea"/>
                        </a:rPr>
                        <a:t>bfhdSrngRsltInq</a:t>
                      </a:r>
                      <a:r>
                        <a:rPr lang="en-US" altLang="ko-KR" sz="800" dirty="0">
                          <a:solidFill>
                            <a:schemeClr val="tx1"/>
                          </a:solidFill>
                          <a:latin typeface="+mn-lt"/>
                          <a:ea typeface="+mn-ea"/>
                        </a:rPr>
                        <a:t>/</a:t>
                      </a:r>
                      <a:r>
                        <a:rPr lang="en-US" altLang="ko-KR" sz="800" dirty="0" err="1">
                          <a:solidFill>
                            <a:schemeClr val="tx1"/>
                          </a:solidFill>
                          <a:latin typeface="+mn-lt"/>
                          <a:ea typeface="+mn-ea"/>
                        </a:rPr>
                        <a:t>BfhdSrngRsltInqPage.tsx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UC-BD-08-04</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3711201"/>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035731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(2/4)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432057028"/>
              </p:ext>
            </p:extLst>
          </p:nvPr>
        </p:nvGraphicFramePr>
        <p:xfrm>
          <a:off x="635474" y="1413419"/>
          <a:ext cx="8701200" cy="33542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서약서동의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WrotAgrePage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입찰참가신청서</a:t>
                      </a:r>
                      <a:r>
                        <a:rPr lang="ko-KR" altLang="en-US" sz="800" kern="1200" baseline="0" dirty="0" smtClean="0">
                          <a:solidFill>
                            <a:schemeClr val="tx1"/>
                          </a:solidFill>
                          <a:latin typeface="+mn-ea"/>
                          <a:ea typeface="+mn-ea"/>
                          <a:cs typeface="+mn-cs"/>
                        </a:rPr>
                        <a:t> </a:t>
                      </a:r>
                      <a:r>
                        <a:rPr lang="en-US" altLang="ko-KR" sz="800" kern="1200" baseline="0" dirty="0" smtClean="0">
                          <a:solidFill>
                            <a:schemeClr val="tx1"/>
                          </a:solidFill>
                          <a:latin typeface="+mn-ea"/>
                          <a:ea typeface="+mn-ea"/>
                          <a:cs typeface="+mn-cs"/>
                        </a:rPr>
                        <a:t>– </a:t>
                      </a:r>
                      <a:r>
                        <a:rPr lang="ko-KR" altLang="en-US" sz="800" kern="1200" dirty="0" smtClean="0">
                          <a:solidFill>
                            <a:schemeClr val="tx1"/>
                          </a:solidFill>
                          <a:latin typeface="+mn-ea"/>
                          <a:ea typeface="+mn-ea"/>
                          <a:cs typeface="+mn-cs"/>
                        </a:rPr>
                        <a:t>서약서 </a:t>
                      </a:r>
                      <a:r>
                        <a:rPr lang="ko-KR" altLang="en-US" sz="800" kern="1200" dirty="0">
                          <a:solidFill>
                            <a:schemeClr val="tx1"/>
                          </a:solidFill>
                          <a:latin typeface="+mn-ea"/>
                          <a:ea typeface="+mn-ea"/>
                          <a:cs typeface="+mn-cs"/>
                        </a:rPr>
                        <a:t>동의 목록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WrotAgrePage.tsx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048341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조세포탈 사실 없음 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/Wrot1.tsx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283805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청렴이행서약서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/Wrot2.tsx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61578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행정정보공동이용 동의서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/Wrot3.tsx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62722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en-US" altLang="ko-KR" sz="800" kern="1200" dirty="0">
                          <a:solidFill>
                            <a:schemeClr val="tx1"/>
                          </a:solidFill>
                          <a:latin typeface="+mn-ea"/>
                          <a:ea typeface="+mn-ea"/>
                          <a:cs typeface="+mn-cs"/>
                        </a:rPr>
                        <a:t>1-</a:t>
                      </a: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/Stp1.tsx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394024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en-US" altLang="ko-KR" sz="800" kern="1200" dirty="0">
                          <a:solidFill>
                            <a:schemeClr val="tx1"/>
                          </a:solidFill>
                          <a:latin typeface="+mn-ea"/>
                          <a:ea typeface="+mn-ea"/>
                          <a:cs typeface="+mn-cs"/>
                        </a:rPr>
                        <a:t>2-</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99132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en-US" altLang="ko-KR" sz="800" kern="1200" dirty="0">
                          <a:solidFill>
                            <a:schemeClr val="tx1"/>
                          </a:solidFill>
                          <a:latin typeface="+mn-ea"/>
                          <a:ea typeface="+mn-ea"/>
                          <a:cs typeface="+mn-cs"/>
                        </a:rPr>
                        <a:t>3-</a:t>
                      </a:r>
                      <a:r>
                        <a:rPr lang="ko-KR" altLang="en-US" sz="800" kern="1200" dirty="0" err="1">
                          <a:solidFill>
                            <a:schemeClr val="tx1"/>
                          </a:solidFill>
                          <a:latin typeface="+mn-ea"/>
                          <a:ea typeface="+mn-ea"/>
                          <a:cs typeface="+mn-cs"/>
                        </a:rPr>
                        <a:t>공종및면허</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351249"/>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en-US" altLang="ko-KR" sz="800" kern="1200" dirty="0">
                          <a:solidFill>
                            <a:schemeClr val="tx1"/>
                          </a:solidFill>
                          <a:latin typeface="+mn-ea"/>
                          <a:ea typeface="+mn-ea"/>
                          <a:cs typeface="+mn-cs"/>
                        </a:rPr>
                        <a:t>4-</a:t>
                      </a:r>
                      <a:r>
                        <a:rPr lang="ko-KR" altLang="en-US" sz="800" kern="1200" dirty="0">
                          <a:solidFill>
                            <a:schemeClr val="tx1"/>
                          </a:solidFill>
                          <a:latin typeface="+mn-ea"/>
                          <a:ea typeface="+mn-ea"/>
                          <a:cs typeface="+mn-cs"/>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입찰보증금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/Stp4.tsx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61820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MUI-BD-04-P09</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면제여부상세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ExmptnYnDtl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면제여부</a:t>
                      </a:r>
                      <a:r>
                        <a:rPr lang="ko-KR" altLang="en-US" sz="800" kern="1200" dirty="0">
                          <a:solidFill>
                            <a:schemeClr val="tx1"/>
                          </a:solidFill>
                          <a:latin typeface="+mn-ea"/>
                          <a:ea typeface="+mn-ea"/>
                          <a:cs typeface="+mn-cs"/>
                        </a:rPr>
                        <a:t> 설명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ExmptnYnDtl.tsx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01966"/>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MUI-BD-04-M10</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5-</a:t>
                      </a:r>
                      <a:r>
                        <a:rPr lang="ko-KR" altLang="en-US" sz="800" kern="1200" dirty="0" smtClean="0">
                          <a:solidFill>
                            <a:schemeClr val="tx1"/>
                          </a:solidFill>
                          <a:latin typeface="+mn-ea"/>
                          <a:ea typeface="+mn-ea"/>
                          <a:cs typeface="+mn-cs"/>
                        </a:rPr>
                        <a:t>공동수급업체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BidPrtcpAperWrtPage_Stp5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공동수급업체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Stp.tsx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357194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736347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a:t>(3/4)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579036804"/>
              </p:ext>
            </p:extLst>
          </p:nvPr>
        </p:nvGraphicFramePr>
        <p:xfrm>
          <a:off x="635474" y="1413419"/>
          <a:ext cx="8701200" cy="4617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MUI-BD-04-P11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RegBzentySrch</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 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RegBzentySrch.tsx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8205196"/>
                  </a:ext>
                </a:extLst>
              </a:tr>
              <a:tr h="180000">
                <a:tc>
                  <a:txBody>
                    <a:bodyPr/>
                    <a:lstStyle/>
                    <a:p>
                      <a:pPr algn="l" fontAlgn="ctr"/>
                      <a:r>
                        <a:rPr lang="en-US" altLang="ko-KR" sz="700" kern="1200" dirty="0">
                          <a:solidFill>
                            <a:schemeClr val="tx1"/>
                          </a:solidFill>
                          <a:latin typeface="+mn-ea"/>
                          <a:ea typeface="+mn-ea"/>
                          <a:cs typeface="+mn-cs"/>
                        </a:rPr>
                        <a:t>MUI-BD-04-M12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6-</a:t>
                      </a:r>
                      <a:r>
                        <a:rPr lang="ko-KR" altLang="en-US" sz="800" kern="1200" dirty="0" smtClean="0">
                          <a:solidFill>
                            <a:schemeClr val="tx1"/>
                          </a:solidFill>
                          <a:latin typeface="+mn-ea"/>
                          <a:ea typeface="+mn-ea"/>
                          <a:cs typeface="+mn-cs"/>
                        </a:rPr>
                        <a:t>파일첨부</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/Stp6Page.tsx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018659"/>
                  </a:ext>
                </a:extLst>
              </a:tr>
              <a:tr h="180000">
                <a:tc>
                  <a:txBody>
                    <a:bodyPr/>
                    <a:lstStyle/>
                    <a:p>
                      <a:pPr algn="l" fontAlgn="ctr"/>
                      <a:r>
                        <a:rPr lang="en-US" altLang="ko-KR" sz="700" kern="1200" dirty="0">
                          <a:solidFill>
                            <a:schemeClr val="tx1"/>
                          </a:solidFill>
                          <a:latin typeface="+mn-ea"/>
                          <a:ea typeface="+mn-ea"/>
                          <a:cs typeface="+mn-cs"/>
                        </a:rPr>
                        <a:t>MUI-BD-04-P13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캐비닛연결</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CabinetLink</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캐비닛 </a:t>
                      </a:r>
                      <a:r>
                        <a:rPr lang="ko-KR" altLang="en-US" sz="800" kern="1200" dirty="0">
                          <a:solidFill>
                            <a:schemeClr val="tx1"/>
                          </a:solidFill>
                          <a:latin typeface="+mn-ea"/>
                          <a:ea typeface="+mn-ea"/>
                          <a:cs typeface="+mn-cs"/>
                        </a:rPr>
                        <a:t>연결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CabinetLink.tsx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3078353"/>
                  </a:ext>
                </a:extLst>
              </a:tr>
              <a:tr h="180000">
                <a:tc>
                  <a:txBody>
                    <a:bodyPr/>
                    <a:lstStyle/>
                    <a:p>
                      <a:pPr algn="l" fontAlgn="ctr"/>
                      <a:r>
                        <a:rPr lang="en-US" altLang="ko-KR" sz="700" kern="1200" dirty="0">
                          <a:solidFill>
                            <a:schemeClr val="tx1"/>
                          </a:solidFill>
                          <a:latin typeface="+mn-ea"/>
                          <a:ea typeface="+mn-ea"/>
                          <a:cs typeface="+mn-cs"/>
                        </a:rPr>
                        <a:t>MUI-BD-04-M14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7-</a:t>
                      </a:r>
                      <a:r>
                        <a:rPr lang="ko-KR" altLang="en-US" sz="800" kern="1200" dirty="0" err="1" smtClean="0">
                          <a:solidFill>
                            <a:schemeClr val="tx1"/>
                          </a:solidFill>
                          <a:latin typeface="+mn-ea"/>
                          <a:ea typeface="+mn-ea"/>
                          <a:cs typeface="+mn-cs"/>
                        </a:rPr>
                        <a:t>문의및동의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문의 및 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0615974"/>
                  </a:ext>
                </a:extLst>
              </a:tr>
              <a:tr h="180000">
                <a:tc>
                  <a:txBody>
                    <a:bodyPr/>
                    <a:lstStyle/>
                    <a:p>
                      <a:pPr algn="l" fontAlgn="ctr"/>
                      <a:r>
                        <a:rPr lang="en-US" altLang="ko-KR" sz="700" kern="1200" dirty="0">
                          <a:solidFill>
                            <a:schemeClr val="tx1"/>
                          </a:solidFill>
                          <a:latin typeface="+mn-ea"/>
                          <a:ea typeface="+mn-ea"/>
                          <a:cs typeface="+mn-cs"/>
                        </a:rPr>
                        <a:t>MUI-BD-04-P15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/AgreementForm1.tsx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141331"/>
                  </a:ext>
                </a:extLst>
              </a:tr>
              <a:tr h="180000">
                <a:tc>
                  <a:txBody>
                    <a:bodyPr/>
                    <a:lstStyle/>
                    <a:p>
                      <a:pPr algn="l" fontAlgn="ctr"/>
                      <a:r>
                        <a:rPr lang="en-US" altLang="ko-KR" sz="700" kern="1200" dirty="0">
                          <a:solidFill>
                            <a:schemeClr val="tx1"/>
                          </a:solidFill>
                          <a:latin typeface="+mn-ea"/>
                          <a:ea typeface="+mn-ea"/>
                          <a:cs typeface="+mn-cs"/>
                        </a:rPr>
                        <a:t>MUI-BD-04-P16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/AgreementForm2.tsx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3503506"/>
                  </a:ext>
                </a:extLst>
              </a:tr>
              <a:tr h="180000">
                <a:tc>
                  <a:txBody>
                    <a:bodyPr/>
                    <a:lstStyle/>
                    <a:p>
                      <a:pPr algn="l" fontAlgn="ctr"/>
                      <a:r>
                        <a:rPr lang="en-US" altLang="ko-KR" sz="700" kern="1200" dirty="0">
                          <a:solidFill>
                            <a:schemeClr val="tx1"/>
                          </a:solidFill>
                          <a:latin typeface="+mn-ea"/>
                          <a:ea typeface="+mn-ea"/>
                          <a:cs typeface="+mn-cs"/>
                        </a:rPr>
                        <a:t>MUI-BD-04-P17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/AgreementForm3.tsx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3800375"/>
                  </a:ext>
                </a:extLst>
              </a:tr>
              <a:tr h="180000">
                <a:tc>
                  <a:txBody>
                    <a:bodyPr/>
                    <a:lstStyle/>
                    <a:p>
                      <a:pPr algn="l" fontAlgn="ctr"/>
                      <a:r>
                        <a:rPr lang="en-US" altLang="ko-KR" sz="700" kern="1200" dirty="0">
                          <a:solidFill>
                            <a:schemeClr val="tx1"/>
                          </a:solidFill>
                          <a:latin typeface="+mn-ea"/>
                          <a:ea typeface="+mn-ea"/>
                          <a:cs typeface="+mn-cs"/>
                        </a:rPr>
                        <a:t>MUI-BD-04-P18</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4</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/AgreementForm4.tsx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6987638"/>
                  </a:ext>
                </a:extLst>
              </a:tr>
              <a:tr h="180000">
                <a:tc>
                  <a:txBody>
                    <a:bodyPr/>
                    <a:lstStyle/>
                    <a:p>
                      <a:pPr algn="l" fontAlgn="ctr"/>
                      <a:r>
                        <a:rPr lang="en-US" altLang="ko-KR" sz="700" kern="1200" dirty="0">
                          <a:solidFill>
                            <a:schemeClr val="tx1"/>
                          </a:solidFill>
                          <a:latin typeface="+mn-ea"/>
                          <a:ea typeface="+mn-ea"/>
                          <a:cs typeface="+mn-cs"/>
                        </a:rPr>
                        <a:t>MUI-BD-04-P19</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5</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/AgreementForm5.tsx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279451"/>
                  </a:ext>
                </a:extLst>
              </a:tr>
              <a:tr h="180000">
                <a:tc>
                  <a:txBody>
                    <a:bodyPr/>
                    <a:lstStyle/>
                    <a:p>
                      <a:pPr algn="l" fontAlgn="ctr"/>
                      <a:r>
                        <a:rPr lang="en-US" altLang="ko-KR" sz="700" kern="1200" dirty="0">
                          <a:solidFill>
                            <a:schemeClr val="tx1"/>
                          </a:solidFill>
                          <a:latin typeface="+mn-ea"/>
                          <a:ea typeface="+mn-ea"/>
                          <a:cs typeface="+mn-cs"/>
                        </a:rPr>
                        <a:t>MUI-BD-04-P20</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6</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/AgreementForm6.tsx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755354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MUI-BD-04-M21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Elsgn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 진행 화면</a:t>
                      </a:r>
                      <a:r>
                        <a:rPr lang="ko-KR" altLang="en-US" sz="800" kern="1200" baseline="0" dirty="0">
                          <a:solidFill>
                            <a:schemeClr val="tx1"/>
                          </a:solidFill>
                          <a:latin typeface="+mn-ea"/>
                          <a:ea typeface="+mn-ea"/>
                          <a:cs typeface="+mn-cs"/>
                        </a:rPr>
                        <a:t> 표시</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BidPrtcpAperWrt</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Elsgn.tsx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1493139"/>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MUI-BD-06-M01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1-</a:t>
                      </a:r>
                      <a:r>
                        <a:rPr lang="ko-KR" altLang="en-US" sz="800" kern="1200" dirty="0" smtClean="0">
                          <a:solidFill>
                            <a:schemeClr val="tx1"/>
                          </a:solidFill>
                          <a:latin typeface="+mn-ea"/>
                          <a:ea typeface="+mn-ea"/>
                          <a:cs typeface="+mn-cs"/>
                        </a:rPr>
                        <a:t>일반정보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a:t>
                      </a:r>
                      <a:r>
                        <a:rPr lang="en-US" altLang="ko-KR" sz="800" dirty="0" smtClean="0">
                          <a:solidFill>
                            <a:schemeClr val="tx1"/>
                          </a:solidFill>
                          <a:latin typeface="+mn-ea"/>
                          <a:ea typeface="+mn-ea"/>
                        </a:rPr>
                        <a:t>/Stp1.tsx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750695"/>
                  </a:ext>
                </a:extLst>
              </a:tr>
              <a:tr h="180000">
                <a:tc>
                  <a:txBody>
                    <a:bodyPr/>
                    <a:lstStyle/>
                    <a:p>
                      <a:pPr algn="l" fontAlgn="ctr"/>
                      <a:r>
                        <a:rPr lang="en-US" altLang="ko-KR" sz="700" kern="1200" dirty="0">
                          <a:solidFill>
                            <a:schemeClr val="tx1"/>
                          </a:solidFill>
                          <a:latin typeface="+mn-ea"/>
                          <a:ea typeface="+mn-ea"/>
                          <a:cs typeface="+mn-cs"/>
                        </a:rPr>
                        <a:t>MUI-BD-06-M02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2-</a:t>
                      </a:r>
                      <a:r>
                        <a:rPr lang="ko-KR" altLang="en-US" sz="800" kern="1200" dirty="0" err="1" smtClean="0">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a:t>
                      </a:r>
                      <a:r>
                        <a:rPr lang="en-US" altLang="ko-KR" sz="800" dirty="0" smtClean="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3254699"/>
                  </a:ext>
                </a:extLst>
              </a:tr>
              <a:tr h="180000">
                <a:tc>
                  <a:txBody>
                    <a:bodyPr/>
                    <a:lstStyle/>
                    <a:p>
                      <a:pPr algn="l" fontAlgn="ctr"/>
                      <a:r>
                        <a:rPr lang="en-US" altLang="ko-KR" sz="700" kern="1200" dirty="0">
                          <a:solidFill>
                            <a:schemeClr val="tx1"/>
                          </a:solidFill>
                          <a:latin typeface="+mn-ea"/>
                          <a:ea typeface="+mn-ea"/>
                          <a:cs typeface="+mn-cs"/>
                        </a:rPr>
                        <a:t>MUI-BD-06-M03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3-</a:t>
                      </a:r>
                      <a:r>
                        <a:rPr lang="ko-KR" altLang="en-US" sz="800" kern="1200" dirty="0" err="1" smtClean="0">
                          <a:solidFill>
                            <a:schemeClr val="tx1"/>
                          </a:solidFill>
                          <a:latin typeface="+mn-ea"/>
                          <a:ea typeface="+mn-ea"/>
                          <a:cs typeface="+mn-cs"/>
                        </a:rPr>
                        <a:t>투찰내역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투찰내역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a:t>
                      </a:r>
                      <a:r>
                        <a:rPr lang="en-US" altLang="ko-KR" sz="800" dirty="0" smtClean="0">
                          <a:solidFill>
                            <a:schemeClr val="tx1"/>
                          </a:solidFill>
                          <a:latin typeface="+mn-ea"/>
                          <a:ea typeface="+mn-ea"/>
                        </a:rPr>
                        <a:t>/Stp3.tsx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197646"/>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32514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a:t>(4/4)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721623643"/>
              </p:ext>
            </p:extLst>
          </p:nvPr>
        </p:nvGraphicFramePr>
        <p:xfrm>
          <a:off x="635474" y="1413419"/>
          <a:ext cx="8701200" cy="17750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MUI-BD-06-M04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4-</a:t>
                      </a:r>
                      <a:r>
                        <a:rPr lang="ko-KR" altLang="en-US" sz="800" kern="1200" dirty="0" smtClean="0">
                          <a:solidFill>
                            <a:schemeClr val="tx1"/>
                          </a:solidFill>
                          <a:latin typeface="+mn-ea"/>
                          <a:ea typeface="+mn-ea"/>
                          <a:cs typeface="+mn-cs"/>
                        </a:rPr>
                        <a:t>복수예비가격</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복수예비가격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a:t>
                      </a:r>
                      <a:r>
                        <a:rPr lang="en-US" altLang="ko-KR" sz="800" dirty="0" smtClean="0">
                          <a:solidFill>
                            <a:schemeClr val="tx1"/>
                          </a:solidFill>
                          <a:latin typeface="+mn-ea"/>
                          <a:ea typeface="+mn-ea"/>
                        </a:rPr>
                        <a:t>/Stp4.tsx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r h="180000">
                <a:tc>
                  <a:txBody>
                    <a:bodyPr/>
                    <a:lstStyle/>
                    <a:p>
                      <a:pPr algn="l" fontAlgn="ctr"/>
                      <a:r>
                        <a:rPr lang="en-US" altLang="ko-KR" sz="700" kern="1200" dirty="0">
                          <a:solidFill>
                            <a:schemeClr val="tx1"/>
                          </a:solidFill>
                          <a:latin typeface="+mn-ea"/>
                          <a:ea typeface="+mn-ea"/>
                          <a:cs typeface="+mn-cs"/>
                        </a:rPr>
                        <a:t>MUI-BD-06-M05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5-</a:t>
                      </a:r>
                      <a:r>
                        <a:rPr lang="ko-KR" altLang="en-US" sz="800" kern="1200" dirty="0" smtClean="0">
                          <a:solidFill>
                            <a:schemeClr val="tx1"/>
                          </a:solidFill>
                          <a:latin typeface="+mn-ea"/>
                          <a:ea typeface="+mn-ea"/>
                          <a:cs typeface="+mn-cs"/>
                        </a:rPr>
                        <a:t>파일첨부</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a:t>
                      </a:r>
                      <a:r>
                        <a:rPr lang="en-US" altLang="ko-KR" sz="800" dirty="0" smtClean="0">
                          <a:solidFill>
                            <a:schemeClr val="tx1"/>
                          </a:solidFill>
                          <a:latin typeface="+mn-ea"/>
                          <a:ea typeface="+mn-ea"/>
                        </a:rPr>
                        <a:t>/Stp5.tsx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8394604"/>
                  </a:ext>
                </a:extLst>
              </a:tr>
              <a:tr h="180000">
                <a:tc>
                  <a:txBody>
                    <a:bodyPr/>
                    <a:lstStyle/>
                    <a:p>
                      <a:pPr algn="l" fontAlgn="ctr"/>
                      <a:r>
                        <a:rPr lang="en-US" altLang="ko-KR" sz="700" kern="1200" dirty="0">
                          <a:solidFill>
                            <a:schemeClr val="tx1"/>
                          </a:solidFill>
                          <a:latin typeface="+mn-ea"/>
                          <a:ea typeface="+mn-ea"/>
                          <a:cs typeface="+mn-cs"/>
                        </a:rPr>
                        <a:t>MUI-BD-06-M06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6-</a:t>
                      </a:r>
                      <a:r>
                        <a:rPr lang="ko-KR" altLang="en-US" sz="800" kern="1200" dirty="0" err="1" smtClean="0">
                          <a:solidFill>
                            <a:schemeClr val="tx1"/>
                          </a:solidFill>
                          <a:latin typeface="+mn-ea"/>
                          <a:ea typeface="+mn-ea"/>
                          <a:cs typeface="+mn-cs"/>
                        </a:rPr>
                        <a:t>동가낙찰</a:t>
                      </a:r>
                      <a:r>
                        <a:rPr lang="ko-KR" altLang="en-US" sz="800" kern="1200" dirty="0" smtClean="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a:t>
                      </a:r>
                      <a:r>
                        <a:rPr lang="en-US" altLang="ko-KR" sz="800" dirty="0" smtClean="0">
                          <a:solidFill>
                            <a:schemeClr val="tx1"/>
                          </a:solidFill>
                          <a:latin typeface="+mn-ea"/>
                          <a:ea typeface="+mn-ea"/>
                        </a:rPr>
                        <a:t>/Stp6.tsx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626769"/>
                  </a:ext>
                </a:extLst>
              </a:tr>
              <a:tr h="180000">
                <a:tc>
                  <a:txBody>
                    <a:bodyPr/>
                    <a:lstStyle/>
                    <a:p>
                      <a:pPr algn="l" fontAlgn="ctr"/>
                      <a:r>
                        <a:rPr lang="en-US" altLang="ko-KR" sz="700" kern="1200" dirty="0">
                          <a:solidFill>
                            <a:schemeClr val="tx1"/>
                          </a:solidFill>
                          <a:latin typeface="+mn-ea"/>
                          <a:ea typeface="+mn-ea"/>
                          <a:cs typeface="+mn-cs"/>
                        </a:rPr>
                        <a:t>MUI-BD-06-M07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스탭</a:t>
                      </a:r>
                      <a:r>
                        <a:rPr lang="en-US" altLang="ko-KR" sz="800" kern="1200" dirty="0" smtClean="0">
                          <a:solidFill>
                            <a:schemeClr val="tx1"/>
                          </a:solidFill>
                          <a:latin typeface="+mn-ea"/>
                          <a:ea typeface="+mn-ea"/>
                          <a:cs typeface="+mn-cs"/>
                        </a:rPr>
                        <a:t>7-</a:t>
                      </a:r>
                      <a:r>
                        <a:rPr lang="ko-KR" altLang="en-US" sz="800" kern="1200" dirty="0" smtClean="0">
                          <a:solidFill>
                            <a:schemeClr val="tx1"/>
                          </a:solidFill>
                          <a:latin typeface="+mn-ea"/>
                          <a:ea typeface="+mn-ea"/>
                          <a:cs typeface="+mn-cs"/>
                        </a:rPr>
                        <a:t>약관동의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약관동의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a:t>
                      </a:r>
                      <a:r>
                        <a:rPr lang="en-US" altLang="ko-KR" sz="800" dirty="0" smtClean="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9133277"/>
                  </a:ext>
                </a:extLst>
              </a:tr>
              <a:tr h="180000">
                <a:tc>
                  <a:txBody>
                    <a:bodyPr/>
                    <a:lstStyle/>
                    <a:p>
                      <a:pPr algn="l" fontAlgn="ctr"/>
                      <a:r>
                        <a:rPr lang="en-US" altLang="ko-KR" sz="700" kern="1200" dirty="0">
                          <a:solidFill>
                            <a:schemeClr val="tx1"/>
                          </a:solidFill>
                          <a:latin typeface="+mn-ea"/>
                          <a:ea typeface="+mn-ea"/>
                          <a:cs typeface="+mn-cs"/>
                        </a:rPr>
                        <a:t>MUI-BD-06-M08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err="1" smtClean="0">
                          <a:solidFill>
                            <a:srgbClr val="000000"/>
                          </a:solidFill>
                          <a:effectLst/>
                          <a:latin typeface="맑은 고딕" panose="020B0503020000020004" pitchFamily="50" charset="-127"/>
                          <a:ea typeface="+mn-ea"/>
                          <a:cs typeface="+mn-cs"/>
                        </a:rPr>
                        <a:t>신청완료</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AplyCmptn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 </a:t>
                      </a:r>
                      <a:r>
                        <a:rPr lang="ko-KR" altLang="en-US" sz="800" kern="1200" dirty="0">
                          <a:solidFill>
                            <a:schemeClr val="tx1"/>
                          </a:solidFill>
                          <a:latin typeface="+mn-ea"/>
                          <a:ea typeface="+mn-ea"/>
                          <a:cs typeface="+mn-cs"/>
                        </a:rPr>
                        <a:t>작성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TndrWrt</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AplyCmptn.tsx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8641058"/>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6861239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입찰진행목록</a:t>
            </a:r>
            <a:endParaRPr lang="ko-KR" altLang="en-US" dirty="0"/>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52367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a:t>
            </a:r>
          </a:p>
        </p:txBody>
      </p:sp>
      <p:sp>
        <p:nvSpPr>
          <p:cNvPr id="78" name="직사각형 77">
            <a:extLst>
              <a:ext uri="{FF2B5EF4-FFF2-40B4-BE49-F238E27FC236}">
                <a16:creationId xmlns:a16="http://schemas.microsoft.com/office/drawing/2014/main" id="{4FB9FCCA-B5F3-C0E2-F563-4F0CE0FC24CF}"/>
              </a:ext>
            </a:extLst>
          </p:cNvPr>
          <p:cNvSpPr/>
          <p:nvPr/>
        </p:nvSpPr>
        <p:spPr>
          <a:xfrm>
            <a:off x="8889327" y="391741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8918324" y="372831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 동의</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cxnSp>
        <p:nvCxnSpPr>
          <p:cNvPr id="60" name="연결선: 꺾임 7">
            <a:extLst>
              <a:ext uri="{FF2B5EF4-FFF2-40B4-BE49-F238E27FC236}">
                <a16:creationId xmlns:a16="http://schemas.microsoft.com/office/drawing/2014/main" id="{89A2D828-4C18-4F90-6B31-722E89773AA8}"/>
              </a:ext>
            </a:extLst>
          </p:cNvPr>
          <p:cNvCxnSpPr>
            <a:cxnSpLocks/>
            <a:stCxn id="77" idx="3"/>
            <a:endCxn id="70" idx="1"/>
          </p:cNvCxnSpPr>
          <p:nvPr/>
        </p:nvCxnSpPr>
        <p:spPr>
          <a:xfrm flipV="1">
            <a:off x="1912365" y="1772964"/>
            <a:ext cx="611314"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5539941" y="4453553"/>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사전심사</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5539941" y="484459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기술평가</a:t>
            </a:r>
            <a:endParaRPr lang="en-US" altLang="ko-KR"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5539941" y="522760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700" dirty="0" smtClean="0">
                <a:solidFill>
                  <a:schemeClr val="tx1"/>
                </a:solidFill>
              </a:rPr>
              <a:t>생산능력서류 제출</a:t>
            </a:r>
            <a:endParaRPr lang="ko-KR" altLang="en-US" sz="7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sp>
        <p:nvSpPr>
          <p:cNvPr id="118" name="사각형: 둥근 모서리 5">
            <a:extLst>
              <a:ext uri="{FF2B5EF4-FFF2-40B4-BE49-F238E27FC236}">
                <a16:creationId xmlns:a16="http://schemas.microsoft.com/office/drawing/2014/main" id="{410E5459-200D-7630-863C-88E5109259DF}"/>
              </a:ext>
            </a:extLst>
          </p:cNvPr>
          <p:cNvSpPr/>
          <p:nvPr/>
        </p:nvSpPr>
        <p:spPr>
          <a:xfrm>
            <a:off x="5539941" y="562668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입찰포기신청서</a:t>
            </a:r>
            <a:endParaRPr lang="ko-KR" altLang="en-US" sz="800" dirty="0">
              <a:solidFill>
                <a:schemeClr val="tx1"/>
              </a:solidFill>
            </a:endParaRP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입찰참가신청서</a:t>
            </a:r>
            <a:endParaRPr lang="ko-KR" altLang="en-US" sz="800" dirty="0">
              <a:solidFill>
                <a:schemeClr val="tx1"/>
              </a:solidFill>
            </a:endParaRP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6" name="사각형: 둥근 모서리 5">
            <a:extLst>
              <a:ext uri="{FF2B5EF4-FFF2-40B4-BE49-F238E27FC236}">
                <a16:creationId xmlns:a16="http://schemas.microsoft.com/office/drawing/2014/main" id="{410E5459-200D-7630-863C-88E5109259DF}"/>
              </a:ext>
            </a:extLst>
          </p:cNvPr>
          <p:cNvSpPr/>
          <p:nvPr/>
        </p:nvSpPr>
        <p:spPr>
          <a:xfrm>
            <a:off x="1012365"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a:t>
            </a:r>
            <a:r>
              <a:rPr lang="ko-KR" altLang="en-US" sz="800" dirty="0" smtClean="0">
                <a:solidFill>
                  <a:schemeClr val="tx1"/>
                </a:solidFill>
              </a:rPr>
              <a:t>목록</a:t>
            </a:r>
            <a:endParaRPr lang="ko-KR" altLang="en-US" sz="800" dirty="0">
              <a:solidFill>
                <a:schemeClr val="tx1"/>
              </a:solidFill>
            </a:endParaRPr>
          </a:p>
        </p:txBody>
      </p:sp>
      <p:cxnSp>
        <p:nvCxnSpPr>
          <p:cNvPr id="127" name="연결선: 꺾임 7">
            <a:extLst>
              <a:ext uri="{FF2B5EF4-FFF2-40B4-BE49-F238E27FC236}">
                <a16:creationId xmlns:a16="http://schemas.microsoft.com/office/drawing/2014/main" id="{89A2D828-4C18-4F90-6B31-722E89773AA8}"/>
              </a:ext>
            </a:extLst>
          </p:cNvPr>
          <p:cNvCxnSpPr>
            <a:cxnSpLocks/>
            <a:stCxn id="104" idx="6"/>
            <a:endCxn id="126" idx="1"/>
          </p:cNvCxnSpPr>
          <p:nvPr/>
        </p:nvCxnSpPr>
        <p:spPr>
          <a:xfrm>
            <a:off x="700126" y="1772964"/>
            <a:ext cx="312239"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6" idx="3"/>
            <a:endCxn id="149" idx="1"/>
          </p:cNvCxnSpPr>
          <p:nvPr/>
        </p:nvCxnSpPr>
        <p:spPr>
          <a:xfrm flipV="1">
            <a:off x="1912365" y="3815465"/>
            <a:ext cx="607071" cy="31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9" name="사각형: 둥근 모서리 5">
            <a:extLst>
              <a:ext uri="{FF2B5EF4-FFF2-40B4-BE49-F238E27FC236}">
                <a16:creationId xmlns:a16="http://schemas.microsoft.com/office/drawing/2014/main" id="{410E5459-200D-7630-863C-88E5109259DF}"/>
              </a:ext>
            </a:extLst>
          </p:cNvPr>
          <p:cNvSpPr/>
          <p:nvPr/>
        </p:nvSpPr>
        <p:spPr>
          <a:xfrm>
            <a:off x="2519436" y="367146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입찰진행상세</a:t>
            </a:r>
            <a:endParaRPr lang="ko-KR" altLang="en-US" sz="800" dirty="0">
              <a:solidFill>
                <a:schemeClr val="tx1"/>
              </a:solidFill>
            </a:endParaRPr>
          </a:p>
        </p:txBody>
      </p:sp>
      <p:sp>
        <p:nvSpPr>
          <p:cNvPr id="153" name="직사각형 152">
            <a:extLst>
              <a:ext uri="{FF2B5EF4-FFF2-40B4-BE49-F238E27FC236}">
                <a16:creationId xmlns:a16="http://schemas.microsoft.com/office/drawing/2014/main" id="{F249990F-1DE5-C694-BDBD-2DE7009D57EA}"/>
              </a:ext>
            </a:extLst>
          </p:cNvPr>
          <p:cNvSpPr/>
          <p:nvPr/>
        </p:nvSpPr>
        <p:spPr>
          <a:xfrm>
            <a:off x="1012365" y="3429550"/>
            <a:ext cx="91691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상세 진입을 위한</a:t>
            </a:r>
            <a:endParaRPr lang="en-US" altLang="ko-KR" sz="800" dirty="0" smtClean="0">
              <a:solidFill>
                <a:schemeClr val="tx1"/>
              </a:solidFill>
            </a:endParaRPr>
          </a:p>
          <a:p>
            <a:r>
              <a:rPr lang="ko-KR" altLang="en-US" sz="800" dirty="0" err="1" smtClean="0">
                <a:solidFill>
                  <a:schemeClr val="tx1"/>
                </a:solidFill>
              </a:rPr>
              <a:t>업체신청</a:t>
            </a:r>
            <a:r>
              <a:rPr lang="ko-KR" altLang="en-US" sz="800" dirty="0" smtClean="0">
                <a:solidFill>
                  <a:schemeClr val="tx1"/>
                </a:solidFill>
              </a:rPr>
              <a:t> 정보 필요</a:t>
            </a:r>
            <a:r>
              <a:rPr lang="en-US" altLang="ko-KR" sz="800" dirty="0" smtClean="0">
                <a:solidFill>
                  <a:schemeClr val="tx1"/>
                </a:solidFill>
              </a:rPr>
              <a:t>.</a:t>
            </a:r>
            <a:endParaRPr lang="ko-KR" altLang="en-US" sz="800" dirty="0">
              <a:solidFill>
                <a:schemeClr val="tx1"/>
              </a:solidFill>
            </a:endParaRPr>
          </a:p>
        </p:txBody>
      </p:sp>
      <p:cxnSp>
        <p:nvCxnSpPr>
          <p:cNvPr id="175" name="연결선: 꺾임 7">
            <a:extLst>
              <a:ext uri="{FF2B5EF4-FFF2-40B4-BE49-F238E27FC236}">
                <a16:creationId xmlns:a16="http://schemas.microsoft.com/office/drawing/2014/main" id="{89A2D828-4C18-4F90-6B31-722E89773AA8}"/>
              </a:ext>
            </a:extLst>
          </p:cNvPr>
          <p:cNvCxnSpPr>
            <a:cxnSpLocks/>
            <a:stCxn id="77" idx="3"/>
            <a:endCxn id="174" idx="1"/>
          </p:cNvCxnSpPr>
          <p:nvPr/>
        </p:nvCxnSpPr>
        <p:spPr>
          <a:xfrm>
            <a:off x="1912365" y="2451594"/>
            <a:ext cx="607071" cy="69133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1" name="직사각형 250">
            <a:extLst>
              <a:ext uri="{FF2B5EF4-FFF2-40B4-BE49-F238E27FC236}">
                <a16:creationId xmlns:a16="http://schemas.microsoft.com/office/drawing/2014/main" id="{4FB9FCCA-B5F3-C0E2-F563-4F0CE0FC24CF}"/>
              </a:ext>
            </a:extLst>
          </p:cNvPr>
          <p:cNvSpPr/>
          <p:nvPr/>
        </p:nvSpPr>
        <p:spPr>
          <a:xfrm>
            <a:off x="5537819" y="188861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252" name="그룹 251">
            <a:extLst>
              <a:ext uri="{FF2B5EF4-FFF2-40B4-BE49-F238E27FC236}">
                <a16:creationId xmlns:a16="http://schemas.microsoft.com/office/drawing/2014/main" id="{E7279F6C-9434-7961-8F6B-B7AE44CE5FCD}"/>
              </a:ext>
            </a:extLst>
          </p:cNvPr>
          <p:cNvGrpSpPr/>
          <p:nvPr/>
        </p:nvGrpSpPr>
        <p:grpSpPr>
          <a:xfrm>
            <a:off x="5566816" y="1682964"/>
            <a:ext cx="180000" cy="180000"/>
            <a:chOff x="5058274" y="2498299"/>
            <a:chExt cx="180000" cy="180000"/>
          </a:xfrm>
        </p:grpSpPr>
        <p:sp>
          <p:nvSpPr>
            <p:cNvPr id="253" name="타원 252">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타원 25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255" name="직선 화살표 연결선 254">
            <a:extLst>
              <a:ext uri="{FF2B5EF4-FFF2-40B4-BE49-F238E27FC236}">
                <a16:creationId xmlns:a16="http://schemas.microsoft.com/office/drawing/2014/main" id="{9A519F08-B829-E35F-09D8-DFCD1F68B911}"/>
              </a:ext>
            </a:extLst>
          </p:cNvPr>
          <p:cNvCxnSpPr>
            <a:cxnSpLocks/>
            <a:stCxn id="70" idx="3"/>
            <a:endCxn id="260" idx="1"/>
          </p:cNvCxnSpPr>
          <p:nvPr/>
        </p:nvCxnSpPr>
        <p:spPr>
          <a:xfrm>
            <a:off x="3423679" y="1772964"/>
            <a:ext cx="60707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0" name="사각형: 둥근 모서리 5">
            <a:extLst>
              <a:ext uri="{FF2B5EF4-FFF2-40B4-BE49-F238E27FC236}">
                <a16:creationId xmlns:a16="http://schemas.microsoft.com/office/drawing/2014/main" id="{410E5459-200D-7630-863C-88E5109259DF}"/>
              </a:ext>
            </a:extLst>
          </p:cNvPr>
          <p:cNvSpPr/>
          <p:nvPr/>
        </p:nvSpPr>
        <p:spPr>
          <a:xfrm>
            <a:off x="403074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신청 완료</a:t>
            </a:r>
          </a:p>
        </p:txBody>
      </p:sp>
      <p:cxnSp>
        <p:nvCxnSpPr>
          <p:cNvPr id="262" name="직선 화살표 연결선 261">
            <a:extLst>
              <a:ext uri="{FF2B5EF4-FFF2-40B4-BE49-F238E27FC236}">
                <a16:creationId xmlns:a16="http://schemas.microsoft.com/office/drawing/2014/main" id="{9A519F08-B829-E35F-09D8-DFCD1F68B911}"/>
              </a:ext>
            </a:extLst>
          </p:cNvPr>
          <p:cNvCxnSpPr>
            <a:cxnSpLocks/>
            <a:stCxn id="260" idx="3"/>
            <a:endCxn id="253" idx="2"/>
          </p:cNvCxnSpPr>
          <p:nvPr/>
        </p:nvCxnSpPr>
        <p:spPr>
          <a:xfrm>
            <a:off x="4930749" y="1772964"/>
            <a:ext cx="63606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전자 </a:t>
            </a:r>
            <a:r>
              <a:rPr lang="ko-KR" altLang="en-US" sz="800" dirty="0" smtClean="0">
                <a:solidFill>
                  <a:schemeClr val="tx1"/>
                </a:solidFill>
              </a:rPr>
              <a:t>서명</a:t>
            </a:r>
            <a:endParaRPr lang="ko-KR" altLang="en-US" sz="800" dirty="0">
              <a:solidFill>
                <a:schemeClr val="tx1"/>
              </a:solidFill>
            </a:endParaRP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101" idx="3"/>
            <a:endCxn id="267" idx="1"/>
          </p:cNvCxnSpPr>
          <p:nvPr/>
        </p:nvCxnSpPr>
        <p:spPr>
          <a:xfrm>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267" idx="3"/>
            <a:endCxn id="74" idx="1"/>
          </p:cNvCxnSpPr>
          <p:nvPr/>
        </p:nvCxnSpPr>
        <p:spPr>
          <a:xfrm>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89" name="연결선: 꺾임 7">
            <a:extLst>
              <a:ext uri="{FF2B5EF4-FFF2-40B4-BE49-F238E27FC236}">
                <a16:creationId xmlns:a16="http://schemas.microsoft.com/office/drawing/2014/main" id="{89A2D828-4C18-4F90-6B31-722E89773AA8}"/>
              </a:ext>
            </a:extLst>
          </p:cNvPr>
          <p:cNvCxnSpPr>
            <a:cxnSpLocks/>
            <a:stCxn id="40" idx="3"/>
            <a:endCxn id="74" idx="0"/>
          </p:cNvCxnSpPr>
          <p:nvPr/>
        </p:nvCxnSpPr>
        <p:spPr>
          <a:xfrm>
            <a:off x="6439941" y="2454859"/>
            <a:ext cx="2568383" cy="54407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endParaRPr lang="en-US" altLang="ko-KR" sz="800" dirty="0">
              <a:solidFill>
                <a:schemeClr val="tx1"/>
              </a:solidFill>
            </a:endParaRPr>
          </a:p>
        </p:txBody>
      </p:sp>
      <p:sp>
        <p:nvSpPr>
          <p:cNvPr id="165" name="직사각형 164"/>
          <p:cNvSpPr/>
          <p:nvPr/>
        </p:nvSpPr>
        <p:spPr>
          <a:xfrm>
            <a:off x="6857049" y="4275302"/>
            <a:ext cx="479847" cy="146415"/>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8" name="사각형: 둥근 모서리 5">
            <a:extLst>
              <a:ext uri="{FF2B5EF4-FFF2-40B4-BE49-F238E27FC236}">
                <a16:creationId xmlns:a16="http://schemas.microsoft.com/office/drawing/2014/main" id="{410E5459-200D-7630-863C-88E5109259DF}"/>
              </a:ext>
            </a:extLst>
          </p:cNvPr>
          <p:cNvSpPr/>
          <p:nvPr/>
        </p:nvSpPr>
        <p:spPr>
          <a:xfrm>
            <a:off x="4030749"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 동의</a:t>
            </a:r>
          </a:p>
        </p:txBody>
      </p:sp>
      <p:cxnSp>
        <p:nvCxnSpPr>
          <p:cNvPr id="150" name="직선 화살표 연결선 149">
            <a:extLst>
              <a:ext uri="{FF2B5EF4-FFF2-40B4-BE49-F238E27FC236}">
                <a16:creationId xmlns:a16="http://schemas.microsoft.com/office/drawing/2014/main" id="{9A519F08-B829-E35F-09D8-DFCD1F68B911}"/>
              </a:ext>
            </a:extLst>
          </p:cNvPr>
          <p:cNvCxnSpPr>
            <a:cxnSpLocks/>
            <a:stCxn id="174" idx="3"/>
            <a:endCxn id="148" idx="1"/>
          </p:cNvCxnSpPr>
          <p:nvPr/>
        </p:nvCxnSpPr>
        <p:spPr>
          <a:xfrm>
            <a:off x="3419436" y="3142931"/>
            <a:ext cx="611313"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직선 화살표 연결선 151">
            <a:extLst>
              <a:ext uri="{FF2B5EF4-FFF2-40B4-BE49-F238E27FC236}">
                <a16:creationId xmlns:a16="http://schemas.microsoft.com/office/drawing/2014/main" id="{9A519F08-B829-E35F-09D8-DFCD1F68B911}"/>
              </a:ext>
            </a:extLst>
          </p:cNvPr>
          <p:cNvCxnSpPr>
            <a:cxnSpLocks/>
            <a:stCxn id="148" idx="3"/>
            <a:endCxn id="101" idx="1"/>
          </p:cNvCxnSpPr>
          <p:nvPr/>
        </p:nvCxnSpPr>
        <p:spPr>
          <a:xfrm>
            <a:off x="4930749"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7" name="직선 화살표 연결선 166">
            <a:extLst>
              <a:ext uri="{FF2B5EF4-FFF2-40B4-BE49-F238E27FC236}">
                <a16:creationId xmlns:a16="http://schemas.microsoft.com/office/drawing/2014/main" id="{9A519F08-B829-E35F-09D8-DFCD1F68B911}"/>
              </a:ext>
            </a:extLst>
          </p:cNvPr>
          <p:cNvCxnSpPr>
            <a:cxnSpLocks/>
            <a:stCxn id="74" idx="2"/>
            <a:endCxn id="80" idx="0"/>
          </p:cNvCxnSpPr>
          <p:nvPr/>
        </p:nvCxnSpPr>
        <p:spPr>
          <a:xfrm>
            <a:off x="9008324" y="3286931"/>
            <a:ext cx="0" cy="44138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9" name="직선 화살표 연결선 188">
            <a:extLst>
              <a:ext uri="{FF2B5EF4-FFF2-40B4-BE49-F238E27FC236}">
                <a16:creationId xmlns:a16="http://schemas.microsoft.com/office/drawing/2014/main" id="{9A519F08-B829-E35F-09D8-DFCD1F68B911}"/>
              </a:ext>
            </a:extLst>
          </p:cNvPr>
          <p:cNvCxnSpPr>
            <a:cxnSpLocks/>
            <a:stCxn id="149" idx="0"/>
            <a:endCxn id="174" idx="2"/>
          </p:cNvCxnSpPr>
          <p:nvPr/>
        </p:nvCxnSpPr>
        <p:spPr>
          <a:xfrm flipV="1">
            <a:off x="2969436" y="3286931"/>
            <a:ext cx="0" cy="38453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2" name="직선 화살표 연결선 191">
            <a:extLst>
              <a:ext uri="{FF2B5EF4-FFF2-40B4-BE49-F238E27FC236}">
                <a16:creationId xmlns:a16="http://schemas.microsoft.com/office/drawing/2014/main" id="{9A519F08-B829-E35F-09D8-DFCD1F68B911}"/>
              </a:ext>
            </a:extLst>
          </p:cNvPr>
          <p:cNvCxnSpPr>
            <a:cxnSpLocks/>
          </p:cNvCxnSpPr>
          <p:nvPr/>
        </p:nvCxnSpPr>
        <p:spPr>
          <a:xfrm flipV="1">
            <a:off x="3034384" y="2595595"/>
            <a:ext cx="0" cy="1078719"/>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74" name="사각형: 둥근 모서리 5">
            <a:extLst>
              <a:ext uri="{FF2B5EF4-FFF2-40B4-BE49-F238E27FC236}">
                <a16:creationId xmlns:a16="http://schemas.microsoft.com/office/drawing/2014/main" id="{410E5459-200D-7630-863C-88E5109259DF}"/>
              </a:ext>
            </a:extLst>
          </p:cNvPr>
          <p:cNvSpPr/>
          <p:nvPr/>
        </p:nvSpPr>
        <p:spPr>
          <a:xfrm>
            <a:off x="2519436"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sp>
        <p:nvSpPr>
          <p:cNvPr id="197" name="사각형: 둥근 모서리 5">
            <a:extLst>
              <a:ext uri="{FF2B5EF4-FFF2-40B4-BE49-F238E27FC236}">
                <a16:creationId xmlns:a16="http://schemas.microsoft.com/office/drawing/2014/main" id="{410E5459-200D-7630-863C-88E5109259DF}"/>
              </a:ext>
            </a:extLst>
          </p:cNvPr>
          <p:cNvSpPr/>
          <p:nvPr/>
        </p:nvSpPr>
        <p:spPr>
          <a:xfrm>
            <a:off x="5539941" y="367146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rgbClr val="000000"/>
                </a:solidFill>
                <a:latin typeface="맑은 고딕" panose="020B0503020000020004" pitchFamily="50" charset="-127"/>
              </a:rPr>
              <a:t>입찰참가신청서</a:t>
            </a:r>
            <a:endParaRPr lang="ko-KR" altLang="en-US" sz="800" dirty="0">
              <a:solidFill>
                <a:schemeClr val="tx1"/>
              </a:solidFill>
            </a:endParaRPr>
          </a:p>
        </p:txBody>
      </p:sp>
      <p:sp>
        <p:nvSpPr>
          <p:cNvPr id="208" name="사각형: 둥근 모서리 5">
            <a:extLst>
              <a:ext uri="{FF2B5EF4-FFF2-40B4-BE49-F238E27FC236}">
                <a16:creationId xmlns:a16="http://schemas.microsoft.com/office/drawing/2014/main" id="{410E5459-200D-7630-863C-88E5109259DF}"/>
              </a:ext>
            </a:extLst>
          </p:cNvPr>
          <p:cNvSpPr/>
          <p:nvPr/>
        </p:nvSpPr>
        <p:spPr>
          <a:xfrm>
            <a:off x="5539941" y="406250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rgbClr val="000000"/>
                </a:solidFill>
                <a:latin typeface="맑은 고딕" panose="020B0503020000020004" pitchFamily="50" charset="-127"/>
              </a:rPr>
              <a:t>입찰</a:t>
            </a:r>
            <a:endParaRPr lang="ko-KR" altLang="en-US" sz="800" dirty="0">
              <a:solidFill>
                <a:schemeClr val="tx1"/>
              </a:solidFill>
            </a:endParaRPr>
          </a:p>
        </p:txBody>
      </p:sp>
      <p:grpSp>
        <p:nvGrpSpPr>
          <p:cNvPr id="15" name="그룹 14"/>
          <p:cNvGrpSpPr/>
          <p:nvPr/>
        </p:nvGrpSpPr>
        <p:grpSpPr>
          <a:xfrm>
            <a:off x="3419436" y="3815465"/>
            <a:ext cx="2120505" cy="1955219"/>
            <a:chOff x="3419436" y="3815465"/>
            <a:chExt cx="2120505" cy="1955219"/>
          </a:xfrm>
        </p:grpSpPr>
        <p:cxnSp>
          <p:nvCxnSpPr>
            <p:cNvPr id="154" name="직선 화살표 연결선 153">
              <a:extLst>
                <a:ext uri="{FF2B5EF4-FFF2-40B4-BE49-F238E27FC236}">
                  <a16:creationId xmlns:a16="http://schemas.microsoft.com/office/drawing/2014/main" id="{9A519F08-B829-E35F-09D8-DFCD1F68B911}"/>
                </a:ext>
              </a:extLst>
            </p:cNvPr>
            <p:cNvCxnSpPr>
              <a:cxnSpLocks/>
              <a:stCxn id="149" idx="3"/>
              <a:endCxn id="197" idx="1"/>
            </p:cNvCxnSpPr>
            <p:nvPr/>
          </p:nvCxnSpPr>
          <p:spPr>
            <a:xfrm>
              <a:off x="3419436" y="3815465"/>
              <a:ext cx="212050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연결선: 꺾임 7">
              <a:extLst>
                <a:ext uri="{FF2B5EF4-FFF2-40B4-BE49-F238E27FC236}">
                  <a16:creationId xmlns:a16="http://schemas.microsoft.com/office/drawing/2014/main" id="{89A2D828-4C18-4F90-6B31-722E89773AA8}"/>
                </a:ext>
              </a:extLst>
            </p:cNvPr>
            <p:cNvCxnSpPr>
              <a:cxnSpLocks/>
              <a:stCxn id="149" idx="3"/>
              <a:endCxn id="98" idx="1"/>
            </p:cNvCxnSpPr>
            <p:nvPr/>
          </p:nvCxnSpPr>
          <p:spPr>
            <a:xfrm>
              <a:off x="3419436" y="3815465"/>
              <a:ext cx="2120505" cy="117313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연결선: 꺾임 7">
              <a:extLst>
                <a:ext uri="{FF2B5EF4-FFF2-40B4-BE49-F238E27FC236}">
                  <a16:creationId xmlns:a16="http://schemas.microsoft.com/office/drawing/2014/main" id="{89A2D828-4C18-4F90-6B31-722E89773AA8}"/>
                </a:ext>
              </a:extLst>
            </p:cNvPr>
            <p:cNvCxnSpPr>
              <a:cxnSpLocks/>
              <a:stCxn id="149" idx="3"/>
              <a:endCxn id="99" idx="1"/>
            </p:cNvCxnSpPr>
            <p:nvPr/>
          </p:nvCxnSpPr>
          <p:spPr>
            <a:xfrm>
              <a:off x="3419436" y="3815465"/>
              <a:ext cx="2120505" cy="15561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3" name="연결선: 꺾임 7">
              <a:extLst>
                <a:ext uri="{FF2B5EF4-FFF2-40B4-BE49-F238E27FC236}">
                  <a16:creationId xmlns:a16="http://schemas.microsoft.com/office/drawing/2014/main" id="{89A2D828-4C18-4F90-6B31-722E89773AA8}"/>
                </a:ext>
              </a:extLst>
            </p:cNvPr>
            <p:cNvCxnSpPr>
              <a:cxnSpLocks/>
              <a:stCxn id="149" idx="3"/>
              <a:endCxn id="118" idx="1"/>
            </p:cNvCxnSpPr>
            <p:nvPr/>
          </p:nvCxnSpPr>
          <p:spPr>
            <a:xfrm>
              <a:off x="3419436" y="3815465"/>
              <a:ext cx="2120505" cy="195521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1" name="연결선: 꺾임 7">
              <a:extLst>
                <a:ext uri="{FF2B5EF4-FFF2-40B4-BE49-F238E27FC236}">
                  <a16:creationId xmlns:a16="http://schemas.microsoft.com/office/drawing/2014/main" id="{89A2D828-4C18-4F90-6B31-722E89773AA8}"/>
                </a:ext>
              </a:extLst>
            </p:cNvPr>
            <p:cNvCxnSpPr>
              <a:cxnSpLocks/>
              <a:stCxn id="149" idx="3"/>
              <a:endCxn id="97" idx="1"/>
            </p:cNvCxnSpPr>
            <p:nvPr/>
          </p:nvCxnSpPr>
          <p:spPr>
            <a:xfrm>
              <a:off x="3419436" y="3815465"/>
              <a:ext cx="2120505" cy="78208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4" name="연결선: 꺾임 7">
              <a:extLst>
                <a:ext uri="{FF2B5EF4-FFF2-40B4-BE49-F238E27FC236}">
                  <a16:creationId xmlns:a16="http://schemas.microsoft.com/office/drawing/2014/main" id="{89A2D828-4C18-4F90-6B31-722E89773AA8}"/>
                </a:ext>
              </a:extLst>
            </p:cNvPr>
            <p:cNvCxnSpPr>
              <a:cxnSpLocks/>
              <a:stCxn id="149" idx="3"/>
              <a:endCxn id="208" idx="1"/>
            </p:cNvCxnSpPr>
            <p:nvPr/>
          </p:nvCxnSpPr>
          <p:spPr>
            <a:xfrm>
              <a:off x="3419436" y="3815465"/>
              <a:ext cx="2120505" cy="3910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09" name="직사각형 108"/>
          <p:cNvSpPr/>
          <p:nvPr/>
        </p:nvSpPr>
        <p:spPr>
          <a:xfrm>
            <a:off x="6939353" y="820817"/>
            <a:ext cx="3430747" cy="923330"/>
          </a:xfrm>
          <a:prstGeom prst="rect">
            <a:avLst/>
          </a:prstGeom>
        </p:spPr>
        <p:txBody>
          <a:bodyPr wrap="none">
            <a:spAutoFit/>
          </a:bodyPr>
          <a:lstStyle/>
          <a:p>
            <a:r>
              <a:rPr lang="ko-KR" altLang="en-US" dirty="0" smtClean="0"/>
              <a:t>입찰공고 상세에 연결된 이벤트</a:t>
            </a:r>
            <a:r>
              <a:rPr lang="en-US" altLang="ko-KR" dirty="0" smtClean="0"/>
              <a:t/>
            </a:r>
            <a:br>
              <a:rPr lang="en-US" altLang="ko-KR" dirty="0" smtClean="0"/>
            </a:br>
            <a:r>
              <a:rPr lang="ko-KR" altLang="en-US" dirty="0" smtClean="0"/>
              <a:t>입찰진행목록에 연결된 이벤트</a:t>
            </a:r>
            <a:r>
              <a:rPr lang="en-US" altLang="ko-KR" dirty="0" smtClean="0"/>
              <a:t/>
            </a:r>
            <a:br>
              <a:rPr lang="en-US" altLang="ko-KR" dirty="0" smtClean="0"/>
            </a:br>
            <a:r>
              <a:rPr lang="ko-KR" altLang="en-US" dirty="0" err="1" smtClean="0"/>
              <a:t>개찰상세에</a:t>
            </a:r>
            <a:r>
              <a:rPr lang="ko-KR" altLang="en-US" dirty="0" smtClean="0"/>
              <a:t> 연결된 이벤트</a:t>
            </a:r>
            <a:endParaRPr lang="ko-KR" altLang="en-US" dirty="0"/>
          </a:p>
        </p:txBody>
      </p:sp>
      <p:cxnSp>
        <p:nvCxnSpPr>
          <p:cNvPr id="124" name="직선 화살표 연결선 123">
            <a:extLst>
              <a:ext uri="{FF2B5EF4-FFF2-40B4-BE49-F238E27FC236}">
                <a16:creationId xmlns:a16="http://schemas.microsoft.com/office/drawing/2014/main" id="{9A519F08-B829-E35F-09D8-DFCD1F68B911}"/>
              </a:ext>
            </a:extLst>
          </p:cNvPr>
          <p:cNvCxnSpPr>
            <a:cxnSpLocks/>
          </p:cNvCxnSpPr>
          <p:nvPr/>
        </p:nvCxnSpPr>
        <p:spPr>
          <a:xfrm>
            <a:off x="6439941" y="4190745"/>
            <a:ext cx="38892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p:cNvCxnSpPr>
          <p:nvPr/>
        </p:nvCxnSpPr>
        <p:spPr>
          <a:xfrm flipV="1">
            <a:off x="6439941" y="4070540"/>
            <a:ext cx="381538" cy="1202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4" name="직사각형 163"/>
          <p:cNvSpPr/>
          <p:nvPr/>
        </p:nvSpPr>
        <p:spPr>
          <a:xfrm>
            <a:off x="6857049" y="4127135"/>
            <a:ext cx="479847" cy="146415"/>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a:p>
        </p:txBody>
      </p:sp>
      <p:cxnSp>
        <p:nvCxnSpPr>
          <p:cNvPr id="128" name="연결선: 꺾임 7">
            <a:extLst>
              <a:ext uri="{FF2B5EF4-FFF2-40B4-BE49-F238E27FC236}">
                <a16:creationId xmlns:a16="http://schemas.microsoft.com/office/drawing/2014/main" id="{89A2D828-4C18-4F90-6B31-722E89773AA8}"/>
              </a:ext>
            </a:extLst>
          </p:cNvPr>
          <p:cNvCxnSpPr>
            <a:cxnSpLocks/>
          </p:cNvCxnSpPr>
          <p:nvPr/>
        </p:nvCxnSpPr>
        <p:spPr>
          <a:xfrm>
            <a:off x="6439941" y="4190745"/>
            <a:ext cx="381538" cy="13465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직사각형 114"/>
          <p:cNvSpPr/>
          <p:nvPr/>
        </p:nvSpPr>
        <p:spPr>
          <a:xfrm>
            <a:off x="6857049" y="3978968"/>
            <a:ext cx="479847" cy="146415"/>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a:p>
        </p:txBody>
      </p:sp>
      <p:sp>
        <p:nvSpPr>
          <p:cNvPr id="4" name="직사각형 3"/>
          <p:cNvSpPr/>
          <p:nvPr/>
        </p:nvSpPr>
        <p:spPr>
          <a:xfrm>
            <a:off x="6850349" y="3959842"/>
            <a:ext cx="519693" cy="184666"/>
          </a:xfrm>
          <a:prstGeom prst="rect">
            <a:avLst/>
          </a:prstGeom>
        </p:spPr>
        <p:txBody>
          <a:bodyPr wrap="none">
            <a:spAutoFit/>
          </a:bodyPr>
          <a:lstStyle/>
          <a:p>
            <a:pPr algn="ctr"/>
            <a:r>
              <a:rPr lang="ko-KR" altLang="en-US" sz="600" dirty="0"/>
              <a:t>입찰 제출</a:t>
            </a:r>
            <a:endParaRPr lang="en-US" altLang="ko-KR" sz="600" dirty="0"/>
          </a:p>
        </p:txBody>
      </p:sp>
      <p:sp>
        <p:nvSpPr>
          <p:cNvPr id="81" name="직사각형 80"/>
          <p:cNvSpPr/>
          <p:nvPr/>
        </p:nvSpPr>
        <p:spPr>
          <a:xfrm>
            <a:off x="6850349" y="4109067"/>
            <a:ext cx="519694" cy="184666"/>
          </a:xfrm>
          <a:prstGeom prst="rect">
            <a:avLst/>
          </a:prstGeom>
        </p:spPr>
        <p:txBody>
          <a:bodyPr wrap="none">
            <a:spAutoFit/>
          </a:bodyPr>
          <a:lstStyle/>
          <a:p>
            <a:pPr algn="ctr"/>
            <a:r>
              <a:rPr lang="ko-KR" altLang="en-US" sz="600" dirty="0"/>
              <a:t>입찰 </a:t>
            </a:r>
            <a:r>
              <a:rPr lang="ko-KR" altLang="en-US" sz="600" dirty="0" smtClean="0"/>
              <a:t>포기</a:t>
            </a:r>
            <a:endParaRPr lang="en-US" altLang="ko-KR" sz="600" dirty="0"/>
          </a:p>
        </p:txBody>
      </p:sp>
      <p:sp>
        <p:nvSpPr>
          <p:cNvPr id="83" name="직사각형 82"/>
          <p:cNvSpPr/>
          <p:nvPr/>
        </p:nvSpPr>
        <p:spPr>
          <a:xfrm>
            <a:off x="6850349" y="4261467"/>
            <a:ext cx="519694" cy="184666"/>
          </a:xfrm>
          <a:prstGeom prst="rect">
            <a:avLst/>
          </a:prstGeom>
        </p:spPr>
        <p:txBody>
          <a:bodyPr wrap="none">
            <a:spAutoFit/>
          </a:bodyPr>
          <a:lstStyle/>
          <a:p>
            <a:pPr algn="ctr"/>
            <a:r>
              <a:rPr lang="ko-KR" altLang="en-US" sz="600" dirty="0"/>
              <a:t>입찰 </a:t>
            </a:r>
            <a:r>
              <a:rPr lang="ko-KR" altLang="en-US" sz="600" dirty="0" smtClean="0"/>
              <a:t>취소</a:t>
            </a:r>
            <a:endParaRPr lang="en-US" altLang="ko-KR" sz="600" dirty="0"/>
          </a:p>
        </p:txBody>
      </p:sp>
      <p:grpSp>
        <p:nvGrpSpPr>
          <p:cNvPr id="93" name="그룹 92"/>
          <p:cNvGrpSpPr/>
          <p:nvPr/>
        </p:nvGrpSpPr>
        <p:grpSpPr>
          <a:xfrm flipH="1">
            <a:off x="7426270" y="3806092"/>
            <a:ext cx="1582054" cy="1955219"/>
            <a:chOff x="3419436" y="3815465"/>
            <a:chExt cx="2120505" cy="1955219"/>
          </a:xfrm>
        </p:grpSpPr>
        <p:cxnSp>
          <p:nvCxnSpPr>
            <p:cNvPr id="108" name="직선 화살표 연결선 107">
              <a:extLst>
                <a:ext uri="{FF2B5EF4-FFF2-40B4-BE49-F238E27FC236}">
                  <a16:creationId xmlns:a16="http://schemas.microsoft.com/office/drawing/2014/main" id="{9A519F08-B829-E35F-09D8-DFCD1F68B911}"/>
                </a:ext>
              </a:extLst>
            </p:cNvPr>
            <p:cNvCxnSpPr>
              <a:cxnSpLocks/>
            </p:cNvCxnSpPr>
            <p:nvPr/>
          </p:nvCxnSpPr>
          <p:spPr>
            <a:xfrm>
              <a:off x="3419436" y="3815465"/>
              <a:ext cx="212050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117313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15561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195521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78208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3910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3397445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입찰참가신청서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485767"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514764"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err="1">
                <a:solidFill>
                  <a:schemeClr val="tx1"/>
                </a:solidFill>
              </a:rPr>
              <a:t>문의및동의</a:t>
            </a:r>
            <a:endParaRPr lang="ko-KR" altLang="en-US" sz="800" dirty="0">
              <a:solidFill>
                <a:schemeClr val="tx1"/>
              </a:solidFill>
            </a:endParaRP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파일첨부</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공동수급업체</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2213130"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2213130"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2213130"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sp>
        <p:nvSpPr>
          <p:cNvPr id="110" name="직사각형 109">
            <a:extLst>
              <a:ext uri="{FF2B5EF4-FFF2-40B4-BE49-F238E27FC236}">
                <a16:creationId xmlns:a16="http://schemas.microsoft.com/office/drawing/2014/main" id="{F249990F-1DE5-C694-BDBD-2DE7009D57EA}"/>
              </a:ext>
            </a:extLst>
          </p:cNvPr>
          <p:cNvSpPr/>
          <p:nvPr/>
        </p:nvSpPr>
        <p:spPr>
          <a:xfrm>
            <a:off x="2229403"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2229403"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2229403"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2136825"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5400000" flipH="1" flipV="1">
            <a:off x="2369290" y="3048529"/>
            <a:ext cx="1051937" cy="1525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공종및면허</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입찰보증금</a:t>
            </a:r>
          </a:p>
        </p:txBody>
      </p:sp>
      <p:sp>
        <p:nvSpPr>
          <p:cNvPr id="117" name="사각형: 둥근 모서리 5">
            <a:extLst>
              <a:ext uri="{FF2B5EF4-FFF2-40B4-BE49-F238E27FC236}">
                <a16:creationId xmlns:a16="http://schemas.microsoft.com/office/drawing/2014/main" id="{410E5459-200D-7630-863C-88E5109259DF}"/>
              </a:ext>
            </a:extLst>
          </p:cNvPr>
          <p:cNvSpPr/>
          <p:nvPr/>
        </p:nvSpPr>
        <p:spPr>
          <a:xfrm>
            <a:off x="8558324" y="168067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면제여부상세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직선 화살표 연결선 124">
            <a:extLst>
              <a:ext uri="{FF2B5EF4-FFF2-40B4-BE49-F238E27FC236}">
                <a16:creationId xmlns:a16="http://schemas.microsoft.com/office/drawing/2014/main" id="{9A519F08-B829-E35F-09D8-DFCD1F68B911}"/>
              </a:ext>
            </a:extLst>
          </p:cNvPr>
          <p:cNvCxnSpPr>
            <a:cxnSpLocks/>
            <a:stCxn id="116" idx="0"/>
            <a:endCxn id="117" idx="2"/>
          </p:cNvCxnSpPr>
          <p:nvPr/>
        </p:nvCxnSpPr>
        <p:spPr>
          <a:xfrm flipV="1">
            <a:off x="9008324" y="1968675"/>
            <a:ext cx="0" cy="3421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p:cNvCxnSpPr>
          <p:nvPr/>
        </p:nvCxnSpPr>
        <p:spPr>
          <a:xfrm rot="10800000" flipV="1">
            <a:off x="8558324" y="1763712"/>
            <a:ext cx="12700" cy="63018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등록업체검색</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4" name="사각형: 둥근 모서리 5">
            <a:extLst>
              <a:ext uri="{FF2B5EF4-FFF2-40B4-BE49-F238E27FC236}">
                <a16:creationId xmlns:a16="http://schemas.microsoft.com/office/drawing/2014/main" id="{410E5459-200D-7630-863C-88E5109259DF}"/>
              </a:ext>
            </a:extLst>
          </p:cNvPr>
          <p:cNvSpPr/>
          <p:nvPr/>
        </p:nvSpPr>
        <p:spPr>
          <a:xfrm>
            <a:off x="3781221"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동의서</a:t>
            </a:r>
            <a:r>
              <a:rPr lang="en-US" altLang="ko-KR" sz="800" dirty="0">
                <a:solidFill>
                  <a:schemeClr val="tx1"/>
                </a:solidFill>
              </a:rPr>
              <a:t>1</a:t>
            </a:r>
            <a:endParaRPr lang="ko-KR" altLang="en-US" sz="800" dirty="0">
              <a:solidFill>
                <a:schemeClr val="tx1"/>
              </a:solidFill>
            </a:endParaRP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3781221"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3</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3781221"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5</a:t>
            </a:r>
            <a:endParaRPr lang="ko-KR" altLang="en-US" sz="800" dirty="0">
              <a:solidFill>
                <a:schemeClr val="tx1"/>
              </a:solidFill>
            </a:endParaRPr>
          </a:p>
        </p:txBody>
      </p:sp>
      <p:sp>
        <p:nvSpPr>
          <p:cNvPr id="137" name="직사각형 136">
            <a:extLst>
              <a:ext uri="{FF2B5EF4-FFF2-40B4-BE49-F238E27FC236}">
                <a16:creationId xmlns:a16="http://schemas.microsoft.com/office/drawing/2014/main" id="{F249990F-1DE5-C694-BDBD-2DE7009D57EA}"/>
              </a:ext>
            </a:extLst>
          </p:cNvPr>
          <p:cNvSpPr/>
          <p:nvPr/>
        </p:nvSpPr>
        <p:spPr>
          <a:xfrm>
            <a:off x="3797494" y="4167971"/>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국방규격</a:t>
            </a:r>
            <a:r>
              <a:rPr lang="ko-KR" altLang="en-US" sz="800" dirty="0">
                <a:solidFill>
                  <a:schemeClr val="tx1"/>
                </a:solidFill>
              </a:rPr>
              <a:t> 및 </a:t>
            </a:r>
            <a:r>
              <a:rPr lang="ko-KR" altLang="en-US" sz="800" dirty="0" smtClean="0">
                <a:solidFill>
                  <a:schemeClr val="tx1"/>
                </a:solidFill>
              </a:rPr>
              <a:t>계약이행</a:t>
            </a:r>
            <a:endParaRPr lang="en-US" altLang="ko-KR" sz="800" dirty="0" smtClean="0">
              <a:solidFill>
                <a:schemeClr val="tx1"/>
              </a:solidFill>
            </a:endParaRPr>
          </a:p>
          <a:p>
            <a:r>
              <a:rPr lang="ko-KR" altLang="en-US" sz="800" dirty="0" smtClean="0">
                <a:solidFill>
                  <a:schemeClr val="tx1"/>
                </a:solidFill>
              </a:rPr>
              <a:t>가능성 </a:t>
            </a:r>
            <a:r>
              <a:rPr lang="ko-KR" altLang="en-US" sz="800" dirty="0">
                <a:solidFill>
                  <a:schemeClr val="tx1"/>
                </a:solidFill>
              </a:rPr>
              <a:t>확인 동의</a:t>
            </a:r>
          </a:p>
        </p:txBody>
      </p:sp>
      <p:sp>
        <p:nvSpPr>
          <p:cNvPr id="139" name="직사각형 138">
            <a:extLst>
              <a:ext uri="{FF2B5EF4-FFF2-40B4-BE49-F238E27FC236}">
                <a16:creationId xmlns:a16="http://schemas.microsoft.com/office/drawing/2014/main" id="{F249990F-1DE5-C694-BDBD-2DE7009D57EA}"/>
              </a:ext>
            </a:extLst>
          </p:cNvPr>
          <p:cNvSpPr/>
          <p:nvPr/>
        </p:nvSpPr>
        <p:spPr>
          <a:xfrm>
            <a:off x="3797494"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하도급대금의 </a:t>
            </a:r>
            <a:r>
              <a:rPr lang="ko-KR" altLang="en-US" sz="800" dirty="0" smtClean="0">
                <a:solidFill>
                  <a:schemeClr val="tx1"/>
                </a:solidFill>
              </a:rPr>
              <a:t>지급관련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40" name="직사각형 139">
            <a:extLst>
              <a:ext uri="{FF2B5EF4-FFF2-40B4-BE49-F238E27FC236}">
                <a16:creationId xmlns:a16="http://schemas.microsoft.com/office/drawing/2014/main" id="{F249990F-1DE5-C694-BDBD-2DE7009D57EA}"/>
              </a:ext>
            </a:extLst>
          </p:cNvPr>
          <p:cNvSpPr/>
          <p:nvPr/>
        </p:nvSpPr>
        <p:spPr>
          <a:xfrm>
            <a:off x="3797494" y="533556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a:solidFill>
                  <a:schemeClr val="tx1"/>
                </a:solidFill>
              </a:rPr>
              <a:t>지급확약서</a:t>
            </a:r>
            <a:endParaRPr lang="en-US" altLang="ko-KR" sz="800" dirty="0">
              <a:solidFill>
                <a:schemeClr val="tx1"/>
              </a:solidFill>
            </a:endParaRPr>
          </a:p>
          <a:p>
            <a:r>
              <a:rPr lang="ko-KR" altLang="en-US" sz="800" dirty="0">
                <a:solidFill>
                  <a:schemeClr val="tx1"/>
                </a:solidFill>
              </a:rPr>
              <a:t>관련 경고문</a:t>
            </a:r>
          </a:p>
        </p:txBody>
      </p:sp>
      <p:sp>
        <p:nvSpPr>
          <p:cNvPr id="141" name="사각형: 둥근 모서리 5">
            <a:extLst>
              <a:ext uri="{FF2B5EF4-FFF2-40B4-BE49-F238E27FC236}">
                <a16:creationId xmlns:a16="http://schemas.microsoft.com/office/drawing/2014/main" id="{410E5459-200D-7630-863C-88E5109259DF}"/>
              </a:ext>
            </a:extLst>
          </p:cNvPr>
          <p:cNvSpPr/>
          <p:nvPr/>
        </p:nvSpPr>
        <p:spPr>
          <a:xfrm>
            <a:off x="3704916" y="3651922"/>
            <a:ext cx="2390322" cy="2086758"/>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a:endCxn id="141" idx="0"/>
          </p:cNvCxnSpPr>
          <p:nvPr/>
        </p:nvCxnSpPr>
        <p:spPr>
          <a:xfrm rot="10800000" flipV="1">
            <a:off x="4900077" y="3142930"/>
            <a:ext cx="639864" cy="5089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7" name="사각형: 둥근 모서리 5">
            <a:extLst>
              <a:ext uri="{FF2B5EF4-FFF2-40B4-BE49-F238E27FC236}">
                <a16:creationId xmlns:a16="http://schemas.microsoft.com/office/drawing/2014/main" id="{410E5459-200D-7630-863C-88E5109259DF}"/>
              </a:ext>
            </a:extLst>
          </p:cNvPr>
          <p:cNvSpPr/>
          <p:nvPr/>
        </p:nvSpPr>
        <p:spPr>
          <a:xfrm>
            <a:off x="4999395"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2</a:t>
            </a:r>
            <a:endParaRPr lang="ko-KR" altLang="en-US" sz="800" dirty="0">
              <a:solidFill>
                <a:schemeClr val="tx1"/>
              </a:solidFill>
            </a:endParaRPr>
          </a:p>
        </p:txBody>
      </p:sp>
      <p:sp>
        <p:nvSpPr>
          <p:cNvPr id="151" name="사각형: 둥근 모서리 5">
            <a:extLst>
              <a:ext uri="{FF2B5EF4-FFF2-40B4-BE49-F238E27FC236}">
                <a16:creationId xmlns:a16="http://schemas.microsoft.com/office/drawing/2014/main" id="{410E5459-200D-7630-863C-88E5109259DF}"/>
              </a:ext>
            </a:extLst>
          </p:cNvPr>
          <p:cNvSpPr/>
          <p:nvPr/>
        </p:nvSpPr>
        <p:spPr>
          <a:xfrm>
            <a:off x="4999395"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5" name="사각형: 둥근 모서리 5">
            <a:extLst>
              <a:ext uri="{FF2B5EF4-FFF2-40B4-BE49-F238E27FC236}">
                <a16:creationId xmlns:a16="http://schemas.microsoft.com/office/drawing/2014/main" id="{410E5459-200D-7630-863C-88E5109259DF}"/>
              </a:ext>
            </a:extLst>
          </p:cNvPr>
          <p:cNvSpPr/>
          <p:nvPr/>
        </p:nvSpPr>
        <p:spPr>
          <a:xfrm>
            <a:off x="4999395"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6</a:t>
            </a:r>
            <a:endParaRPr lang="ko-KR" altLang="en-US" sz="800" dirty="0">
              <a:solidFill>
                <a:schemeClr val="tx1"/>
              </a:solidFill>
            </a:endParaRPr>
          </a:p>
        </p:txBody>
      </p:sp>
      <p:sp>
        <p:nvSpPr>
          <p:cNvPr id="156" name="직사각형 155">
            <a:extLst>
              <a:ext uri="{FF2B5EF4-FFF2-40B4-BE49-F238E27FC236}">
                <a16:creationId xmlns:a16="http://schemas.microsoft.com/office/drawing/2014/main" id="{F249990F-1DE5-C694-BDBD-2DE7009D57EA}"/>
              </a:ext>
            </a:extLst>
          </p:cNvPr>
          <p:cNvSpPr/>
          <p:nvPr/>
        </p:nvSpPr>
        <p:spPr>
          <a:xfrm>
            <a:off x="4999395" y="4167971"/>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약관동의</a:t>
            </a:r>
          </a:p>
        </p:txBody>
      </p:sp>
      <p:sp>
        <p:nvSpPr>
          <p:cNvPr id="158" name="직사각형 157">
            <a:extLst>
              <a:ext uri="{FF2B5EF4-FFF2-40B4-BE49-F238E27FC236}">
                <a16:creationId xmlns:a16="http://schemas.microsoft.com/office/drawing/2014/main" id="{F249990F-1DE5-C694-BDBD-2DE7009D57EA}"/>
              </a:ext>
            </a:extLst>
          </p:cNvPr>
          <p:cNvSpPr/>
          <p:nvPr/>
        </p:nvSpPr>
        <p:spPr>
          <a:xfrm>
            <a:off x="4999395"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sp>
        <p:nvSpPr>
          <p:cNvPr id="159" name="직사각형 158">
            <a:extLst>
              <a:ext uri="{FF2B5EF4-FFF2-40B4-BE49-F238E27FC236}">
                <a16:creationId xmlns:a16="http://schemas.microsoft.com/office/drawing/2014/main" id="{F249990F-1DE5-C694-BDBD-2DE7009D57EA}"/>
              </a:ext>
            </a:extLst>
          </p:cNvPr>
          <p:cNvSpPr/>
          <p:nvPr/>
        </p:nvSpPr>
        <p:spPr>
          <a:xfrm>
            <a:off x="4999395" y="5335565"/>
            <a:ext cx="960199"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smtClean="0">
                <a:solidFill>
                  <a:schemeClr val="tx1"/>
                </a:solidFill>
              </a:rPr>
              <a:t>면제사유</a:t>
            </a:r>
            <a:endParaRPr lang="en-US" altLang="ko-KR" sz="800" dirty="0" smtClean="0">
              <a:solidFill>
                <a:schemeClr val="tx1"/>
              </a:solidFill>
            </a:endParaRPr>
          </a:p>
          <a:p>
            <a:r>
              <a:rPr lang="ko-KR" altLang="en-US" sz="800" dirty="0" smtClean="0">
                <a:solidFill>
                  <a:schemeClr val="tx1"/>
                </a:solidFill>
              </a:rPr>
              <a:t>확약서</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5815528" y="3461343"/>
            <a:ext cx="963648" cy="614823"/>
          </a:xfrm>
          <a:prstGeom prst="bentConnector3">
            <a:avLst>
              <a:gd name="adj1" fmla="val 2108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6154764"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6604764"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9"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71" name="직선 화살표 연결선 170">
            <a:extLst>
              <a:ext uri="{FF2B5EF4-FFF2-40B4-BE49-F238E27FC236}">
                <a16:creationId xmlns:a16="http://schemas.microsoft.com/office/drawing/2014/main" id="{9A519F08-B829-E35F-09D8-DFCD1F68B911}"/>
              </a:ext>
            </a:extLst>
          </p:cNvPr>
          <p:cNvCxnSpPr>
            <a:cxnSpLocks/>
          </p:cNvCxnSpPr>
          <p:nvPr/>
        </p:nvCxnSpPr>
        <p:spPr>
          <a:xfrm flipH="1">
            <a:off x="2699238" y="2598859"/>
            <a:ext cx="1" cy="104672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직선 화살표 연결선 176">
            <a:extLst>
              <a:ext uri="{FF2B5EF4-FFF2-40B4-BE49-F238E27FC236}">
                <a16:creationId xmlns:a16="http://schemas.microsoft.com/office/drawing/2014/main" id="{9A519F08-B829-E35F-09D8-DFCD1F68B911}"/>
              </a:ext>
            </a:extLst>
          </p:cNvPr>
          <p:cNvCxnSpPr>
            <a:cxnSpLocks/>
          </p:cNvCxnSpPr>
          <p:nvPr/>
        </p:nvCxnSpPr>
        <p:spPr>
          <a:xfrm>
            <a:off x="7430977"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직선 화살표 연결선 177">
            <a:extLst>
              <a:ext uri="{FF2B5EF4-FFF2-40B4-BE49-F238E27FC236}">
                <a16:creationId xmlns:a16="http://schemas.microsoft.com/office/drawing/2014/main" id="{9A519F08-B829-E35F-09D8-DFCD1F68B911}"/>
              </a:ext>
            </a:extLst>
          </p:cNvPr>
          <p:cNvCxnSpPr>
            <a:cxnSpLocks/>
          </p:cNvCxnSpPr>
          <p:nvPr/>
        </p:nvCxnSpPr>
        <p:spPr>
          <a:xfrm flipV="1">
            <a:off x="7547199"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924171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381858"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410855"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a:solidFill>
                  <a:schemeClr val="tx1"/>
                </a:solidFill>
              </a:rPr>
              <a:t>약관동의</a:t>
            </a: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동가낙찰선추첨</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파일첨부</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3082907"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3082907"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3082907"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endCxn id="113" idx="1"/>
          </p:cNvCxnSpPr>
          <p:nvPr/>
        </p:nvCxnSpPr>
        <p:spPr>
          <a:xfrm rot="16200000" flipH="1">
            <a:off x="1868530" y="3454230"/>
            <a:ext cx="1996707" cy="27943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a:extLst>
              <a:ext uri="{FF2B5EF4-FFF2-40B4-BE49-F238E27FC236}">
                <a16:creationId xmlns:a16="http://schemas.microsoft.com/office/drawing/2014/main" id="{F249990F-1DE5-C694-BDBD-2DE7009D57EA}"/>
              </a:ext>
            </a:extLst>
          </p:cNvPr>
          <p:cNvSpPr/>
          <p:nvPr/>
        </p:nvSpPr>
        <p:spPr>
          <a:xfrm>
            <a:off x="3099180"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3099180"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3099180"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3006602"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16200000" flipV="1">
            <a:off x="2804179" y="2766238"/>
            <a:ext cx="1051937" cy="7171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투찰내역</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복수예비가격</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1" name="사각형: 둥근 모서리 5">
            <a:extLst>
              <a:ext uri="{FF2B5EF4-FFF2-40B4-BE49-F238E27FC236}">
                <a16:creationId xmlns:a16="http://schemas.microsoft.com/office/drawing/2014/main" id="{410E5459-200D-7630-863C-88E5109259DF}"/>
              </a:ext>
            </a:extLst>
          </p:cNvPr>
          <p:cNvSpPr/>
          <p:nvPr/>
        </p:nvSpPr>
        <p:spPr>
          <a:xfrm>
            <a:off x="4574693" y="3651922"/>
            <a:ext cx="1323741" cy="1146319"/>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p:cNvCxnSpPr>
          <p:nvPr/>
        </p:nvCxnSpPr>
        <p:spPr>
          <a:xfrm rot="10800000" flipV="1">
            <a:off x="5215247" y="3142931"/>
            <a:ext cx="324694" cy="50786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1" name="사각형: 둥근 모서리 5">
            <a:extLst>
              <a:ext uri="{FF2B5EF4-FFF2-40B4-BE49-F238E27FC236}">
                <a16:creationId xmlns:a16="http://schemas.microsoft.com/office/drawing/2014/main" id="{410E5459-200D-7630-863C-88E5109259DF}"/>
              </a:ext>
            </a:extLst>
          </p:cNvPr>
          <p:cNvSpPr/>
          <p:nvPr/>
        </p:nvSpPr>
        <p:spPr>
          <a:xfrm>
            <a:off x="4685328" y="399225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8" name="직사각형 157">
            <a:extLst>
              <a:ext uri="{FF2B5EF4-FFF2-40B4-BE49-F238E27FC236}">
                <a16:creationId xmlns:a16="http://schemas.microsoft.com/office/drawing/2014/main" id="{F249990F-1DE5-C694-BDBD-2DE7009D57EA}"/>
              </a:ext>
            </a:extLst>
          </p:cNvPr>
          <p:cNvSpPr/>
          <p:nvPr/>
        </p:nvSpPr>
        <p:spPr>
          <a:xfrm>
            <a:off x="4685328" y="430384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6576486" y="2700386"/>
            <a:ext cx="337824" cy="15109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7050855"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7500855"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전자서명</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3" idx="2"/>
            <a:endCxn id="162" idx="0"/>
          </p:cNvCxnSpPr>
          <p:nvPr/>
        </p:nvCxnSpPr>
        <p:spPr>
          <a:xfrm>
            <a:off x="7499133" y="3912755"/>
            <a:ext cx="1722"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771440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a:t>
            </a:r>
            <a:r>
              <a:rPr lang="en-US" altLang="ko-KR" dirty="0" smtClean="0"/>
              <a:t>1/4)</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808602" y="1949750"/>
            <a:ext cx="115148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808602" y="2473010"/>
            <a:ext cx="115148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808602" y="2990174"/>
            <a:ext cx="115148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808602" y="2990174"/>
            <a:ext cx="115148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808602" y="2990174"/>
            <a:ext cx="115148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808602" y="2990174"/>
            <a:ext cx="115148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808602" y="2990174"/>
            <a:ext cx="115148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808602" y="2990174"/>
            <a:ext cx="115148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stCxn id="34" idx="3"/>
            <a:endCxn id="9" idx="1"/>
          </p:cNvCxnSpPr>
          <p:nvPr/>
        </p:nvCxnSpPr>
        <p:spPr>
          <a:xfrm flipV="1">
            <a:off x="2808602" y="2990174"/>
            <a:ext cx="1151489" cy="316873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1" name="직사각형 60">
            <a:extLst>
              <a:ext uri="{FF2B5EF4-FFF2-40B4-BE49-F238E27FC236}">
                <a16:creationId xmlns:a16="http://schemas.microsoft.com/office/drawing/2014/main" id="{015A331E-505A-57E3-A763-CB0C8D48EC9A}"/>
              </a:ext>
            </a:extLst>
          </p:cNvPr>
          <p:cNvSpPr/>
          <p:nvPr/>
        </p:nvSpPr>
        <p:spPr>
          <a:xfrm>
            <a:off x="6913418" y="4246636"/>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
        <p:nvSpPr>
          <p:cNvPr id="62" name="직사각형 61">
            <a:extLst>
              <a:ext uri="{FF2B5EF4-FFF2-40B4-BE49-F238E27FC236}">
                <a16:creationId xmlns:a16="http://schemas.microsoft.com/office/drawing/2014/main" id="{015A331E-505A-57E3-A763-CB0C8D48EC9A}"/>
              </a:ext>
            </a:extLst>
          </p:cNvPr>
          <p:cNvSpPr/>
          <p:nvPr/>
        </p:nvSpPr>
        <p:spPr>
          <a:xfrm>
            <a:off x="6913418" y="485724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기술평가</a:t>
            </a:r>
            <a:r>
              <a:rPr lang="en-US" altLang="ko-KR" sz="1100" dirty="0"/>
              <a:t>Controller&gt;&gt;</a:t>
            </a:r>
          </a:p>
          <a:p>
            <a:pPr algn="ctr"/>
            <a:r>
              <a:rPr lang="en-US" altLang="ko-KR" sz="1100" dirty="0" err="1"/>
              <a:t>TechEvlController</a:t>
            </a:r>
            <a:endParaRPr lang="en-US" altLang="ko-KR" sz="1100" dirty="0"/>
          </a:p>
        </p:txBody>
      </p:sp>
      <p:cxnSp>
        <p:nvCxnSpPr>
          <p:cNvPr id="63" name="직선 연결선 62">
            <a:extLst>
              <a:ext uri="{FF2B5EF4-FFF2-40B4-BE49-F238E27FC236}">
                <a16:creationId xmlns:a16="http://schemas.microsoft.com/office/drawing/2014/main" id="{DB16E99B-0703-15BA-41A8-6D7E6BF1498E}"/>
              </a:ext>
            </a:extLst>
          </p:cNvPr>
          <p:cNvCxnSpPr>
            <a:cxnSpLocks/>
            <a:stCxn id="9" idx="3"/>
            <a:endCxn id="61" idx="1"/>
          </p:cNvCxnSpPr>
          <p:nvPr/>
        </p:nvCxnSpPr>
        <p:spPr>
          <a:xfrm>
            <a:off x="5687291" y="2990174"/>
            <a:ext cx="1226127" cy="1499442"/>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a:extLst>
              <a:ext uri="{FF2B5EF4-FFF2-40B4-BE49-F238E27FC236}">
                <a16:creationId xmlns:a16="http://schemas.microsoft.com/office/drawing/2014/main" id="{DB16E99B-0703-15BA-41A8-6D7E6BF1498E}"/>
              </a:ext>
            </a:extLst>
          </p:cNvPr>
          <p:cNvCxnSpPr>
            <a:cxnSpLocks/>
            <a:stCxn id="9" idx="3"/>
            <a:endCxn id="62" idx="1"/>
          </p:cNvCxnSpPr>
          <p:nvPr/>
        </p:nvCxnSpPr>
        <p:spPr>
          <a:xfrm>
            <a:off x="5687291" y="2990174"/>
            <a:ext cx="1226127" cy="2110048"/>
          </a:xfrm>
          <a:prstGeom prst="line">
            <a:avLst/>
          </a:prstGeom>
        </p:spPr>
        <p:style>
          <a:lnRef idx="1">
            <a:schemeClr val="dk1"/>
          </a:lnRef>
          <a:fillRef idx="0">
            <a:schemeClr val="dk1"/>
          </a:fillRef>
          <a:effectRef idx="0">
            <a:schemeClr val="dk1"/>
          </a:effectRef>
          <a:fontRef idx="minor">
            <a:schemeClr val="tx1"/>
          </a:fontRef>
        </p:style>
      </p:cxnSp>
      <p:sp>
        <p:nvSpPr>
          <p:cNvPr id="6" name="직사각형 5">
            <a:extLst>
              <a:ext uri="{FF2B5EF4-FFF2-40B4-BE49-F238E27FC236}">
                <a16:creationId xmlns:a16="http://schemas.microsoft.com/office/drawing/2014/main" id="{3FD7B626-4B5C-AE29-EFB9-628750B32B78}"/>
              </a:ext>
            </a:extLst>
          </p:cNvPr>
          <p:cNvSpPr/>
          <p:nvPr/>
        </p:nvSpPr>
        <p:spPr>
          <a:xfrm>
            <a:off x="1006967" y="172934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rPr>
              <a:t>입찰진행목록</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BidPrgrsListForBzentyPage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06967" y="22526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75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검색필터</a:t>
            </a:r>
            <a:r>
              <a:rPr lang="en-US" altLang="ko-KR" sz="1050" dirty="0">
                <a:solidFill>
                  <a:schemeClr val="tx1"/>
                </a:solidFill>
              </a:rPr>
              <a:t>-</a:t>
            </a:r>
            <a:r>
              <a:rPr lang="ko-KR" altLang="en-US" sz="1050" dirty="0" err="1">
                <a:solidFill>
                  <a:schemeClr val="tx1"/>
                </a:solidFill>
              </a:rPr>
              <a:t>입찰진행</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BidPrgrsListForBzenty_SrchFilter</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06967" y="277586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입찰진행상세</a:t>
            </a:r>
            <a:endParaRPr lang="en-US" altLang="ko-KR" sz="1050" dirty="0">
              <a:solidFill>
                <a:schemeClr val="tx1"/>
              </a:solidFill>
            </a:endParaRPr>
          </a:p>
          <a:p>
            <a:pPr algn="ctr"/>
            <a:r>
              <a:rPr lang="en-US" altLang="ko-KR" sz="1050" dirty="0">
                <a:solidFill>
                  <a:schemeClr val="tx1"/>
                </a:solidFill>
                <a:latin typeface="+mn-ea"/>
              </a:rPr>
              <a:t>BidPrgsDtlInqPage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06967" y="330511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입찰포기신청서</a:t>
            </a:r>
            <a:endParaRPr lang="en-US" altLang="ko-KR" sz="1050" dirty="0">
              <a:solidFill>
                <a:schemeClr val="tx1"/>
              </a:solidFill>
            </a:endParaRPr>
          </a:p>
          <a:p>
            <a:pPr algn="ctr"/>
            <a:r>
              <a:rPr lang="en-US" altLang="ko-KR" sz="1050" dirty="0">
                <a:solidFill>
                  <a:schemeClr val="tx1"/>
                </a:solidFill>
                <a:latin typeface="+mn-ea"/>
              </a:rPr>
              <a:t>BidAbndAperWrt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006967" y="3834358"/>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입찰취소신청서</a:t>
            </a:r>
            <a:endParaRPr lang="en-US" altLang="ko-KR" sz="1050" dirty="0">
              <a:solidFill>
                <a:schemeClr val="tx1"/>
              </a:solidFill>
            </a:endParaRPr>
          </a:p>
          <a:p>
            <a:pPr algn="ctr"/>
            <a:r>
              <a:rPr lang="en-US" altLang="ko-KR" sz="1050" dirty="0">
                <a:solidFill>
                  <a:schemeClr val="tx1"/>
                </a:solidFill>
                <a:latin typeface="+mn-ea"/>
              </a:rPr>
              <a:t>BidRtrcnAperInq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006967" y="4360394"/>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입찰등록결과</a:t>
            </a:r>
            <a:endParaRPr lang="en-US" altLang="ko-KR" sz="1050" dirty="0">
              <a:solidFill>
                <a:schemeClr val="tx1"/>
              </a:solidFill>
            </a:endParaRPr>
          </a:p>
          <a:p>
            <a:pPr algn="ctr"/>
            <a:r>
              <a:rPr lang="en-US" altLang="ko-KR" sz="1050" dirty="0">
                <a:solidFill>
                  <a:schemeClr val="tx1"/>
                </a:solidFill>
                <a:latin typeface="+mn-ea"/>
              </a:rPr>
              <a:t>BidRegRsltInqPage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006967" y="488643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latin typeface="맑은 고딕" panose="020B0503020000020004" pitchFamily="50" charset="-127"/>
              </a:rPr>
              <a:t>기술평가결과</a:t>
            </a:r>
            <a:endParaRPr lang="en-US" altLang="ko-KR" sz="1050" dirty="0">
              <a:solidFill>
                <a:schemeClr val="tx1"/>
              </a:solidFill>
            </a:endParaRPr>
          </a:p>
          <a:p>
            <a:pPr algn="ctr"/>
            <a:r>
              <a:rPr lang="en-US" altLang="ko-KR" sz="1050" dirty="0">
                <a:solidFill>
                  <a:schemeClr val="tx1"/>
                </a:solidFill>
                <a:latin typeface="+mn-ea"/>
              </a:rPr>
              <a:t>TechEvlRsltInq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006967" y="5412466"/>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생산능력서류제출</a:t>
            </a:r>
            <a:endParaRPr lang="en-US" altLang="ko-KR" sz="1050" dirty="0">
              <a:solidFill>
                <a:schemeClr val="tx1"/>
              </a:solidFill>
            </a:endParaRPr>
          </a:p>
          <a:p>
            <a:pPr algn="ctr"/>
            <a:r>
              <a:rPr lang="en-US" altLang="ko-KR" sz="1050" dirty="0">
                <a:solidFill>
                  <a:schemeClr val="tx1"/>
                </a:solidFill>
                <a:latin typeface="+mn-ea"/>
              </a:rPr>
              <a:t>PrdctnAbltDcmntSbmsn</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006967"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입찰참가등록반려신청</a:t>
            </a:r>
            <a:endParaRPr lang="en-US" altLang="ko-KR" sz="1050" dirty="0">
              <a:solidFill>
                <a:schemeClr val="tx1"/>
              </a:solidFill>
            </a:endParaRPr>
          </a:p>
          <a:p>
            <a:pPr algn="ctr"/>
            <a:r>
              <a:rPr lang="en-US" altLang="ko-KR" sz="1050" dirty="0">
                <a:solidFill>
                  <a:schemeClr val="tx1"/>
                </a:solidFill>
                <a:latin typeface="+mn-ea"/>
              </a:rPr>
              <a:t>BidPrtcpAplyRjct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grpSp>
        <p:nvGrpSpPr>
          <p:cNvPr id="36" name="그룹 35"/>
          <p:cNvGrpSpPr/>
          <p:nvPr/>
        </p:nvGrpSpPr>
        <p:grpSpPr>
          <a:xfrm>
            <a:off x="2896017" y="5938502"/>
            <a:ext cx="3095480" cy="440815"/>
            <a:chOff x="2896017" y="5938502"/>
            <a:chExt cx="3662262" cy="440815"/>
          </a:xfrm>
        </p:grpSpPr>
        <p:sp>
          <p:nvSpPr>
            <p:cNvPr id="46" name="직사각형 45">
              <a:extLst>
                <a:ext uri="{FF2B5EF4-FFF2-40B4-BE49-F238E27FC236}">
                  <a16:creationId xmlns:a16="http://schemas.microsoft.com/office/drawing/2014/main" id="{326CB017-8967-4DC4-0EAD-ADB3B9EAB841}"/>
                </a:ext>
              </a:extLst>
            </p:cNvPr>
            <p:cNvSpPr/>
            <p:nvPr/>
          </p:nvSpPr>
          <p:spPr>
            <a:xfrm>
              <a:off x="2896017"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사전심사</a:t>
              </a:r>
              <a:r>
                <a:rPr lang="en-US" altLang="ko-KR" sz="1050" dirty="0">
                  <a:solidFill>
                    <a:schemeClr val="tx1"/>
                  </a:solidFill>
                </a:rPr>
                <a:t>(PQ)</a:t>
              </a:r>
              <a:r>
                <a:rPr lang="ko-KR" altLang="en-US" sz="1050" dirty="0">
                  <a:solidFill>
                    <a:schemeClr val="tx1"/>
                  </a:solidFill>
                </a:rPr>
                <a:t>신청</a:t>
              </a:r>
              <a:endParaRPr lang="en-US" altLang="ko-KR" sz="1050" dirty="0">
                <a:solidFill>
                  <a:schemeClr val="tx1"/>
                </a:solidFill>
              </a:endParaRPr>
            </a:p>
            <a:p>
              <a:pPr algn="ctr"/>
              <a:r>
                <a:rPr lang="en-US" altLang="ko-KR" sz="1050" dirty="0">
                  <a:solidFill>
                    <a:schemeClr val="tx1"/>
                  </a:solidFill>
                  <a:latin typeface="+mn-ea"/>
                </a:rPr>
                <a:t>BfhdSrngAplyPage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48" name="직사각형 47">
              <a:extLst>
                <a:ext uri="{FF2B5EF4-FFF2-40B4-BE49-F238E27FC236}">
                  <a16:creationId xmlns:a16="http://schemas.microsoft.com/office/drawing/2014/main" id="{326CB017-8967-4DC4-0EAD-ADB3B9EAB841}"/>
                </a:ext>
              </a:extLst>
            </p:cNvPr>
            <p:cNvSpPr/>
            <p:nvPr/>
          </p:nvSpPr>
          <p:spPr>
            <a:xfrm>
              <a:off x="4756644"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사전심사</a:t>
              </a:r>
              <a:r>
                <a:rPr lang="en-US" altLang="ko-KR" sz="1050" dirty="0">
                  <a:solidFill>
                    <a:schemeClr val="tx1"/>
                  </a:solidFill>
                </a:rPr>
                <a:t>(PQ)</a:t>
              </a:r>
              <a:r>
                <a:rPr lang="ko-KR" altLang="en-US" sz="1050" dirty="0">
                  <a:solidFill>
                    <a:schemeClr val="tx1"/>
                  </a:solidFill>
                </a:rPr>
                <a:t>결과</a:t>
              </a:r>
              <a:endParaRPr lang="en-US" altLang="ko-KR" sz="1050" dirty="0">
                <a:solidFill>
                  <a:schemeClr val="tx1"/>
                </a:solidFill>
              </a:endParaRPr>
            </a:p>
            <a:p>
              <a:pPr algn="ctr"/>
              <a:r>
                <a:rPr lang="en-US" altLang="ko-KR" sz="1050" dirty="0">
                  <a:solidFill>
                    <a:schemeClr val="tx1"/>
                  </a:solidFill>
                  <a:latin typeface="+mn-ea"/>
                </a:rPr>
                <a:t>BfhdSrngRsltInqPage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grpSp>
      <p:cxnSp>
        <p:nvCxnSpPr>
          <p:cNvPr id="52" name="직선 화살표 연결선 51">
            <a:extLst>
              <a:ext uri="{FF2B5EF4-FFF2-40B4-BE49-F238E27FC236}">
                <a16:creationId xmlns:a16="http://schemas.microsoft.com/office/drawing/2014/main" id="{418E1257-E5C2-5705-1378-45505004ABAF}"/>
              </a:ext>
            </a:extLst>
          </p:cNvPr>
          <p:cNvCxnSpPr>
            <a:cxnSpLocks/>
            <a:stCxn id="46" idx="0"/>
            <a:endCxn id="9" idx="2"/>
          </p:cNvCxnSpPr>
          <p:nvPr/>
        </p:nvCxnSpPr>
        <p:spPr>
          <a:xfrm flipV="1">
            <a:off x="3657422" y="3810190"/>
            <a:ext cx="1166269" cy="21283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4" name="직선 화살표 연결선 53">
            <a:extLst>
              <a:ext uri="{FF2B5EF4-FFF2-40B4-BE49-F238E27FC236}">
                <a16:creationId xmlns:a16="http://schemas.microsoft.com/office/drawing/2014/main" id="{418E1257-E5C2-5705-1378-45505004ABAF}"/>
              </a:ext>
            </a:extLst>
          </p:cNvPr>
          <p:cNvCxnSpPr>
            <a:cxnSpLocks/>
            <a:stCxn id="48" idx="0"/>
            <a:endCxn id="9" idx="2"/>
          </p:cNvCxnSpPr>
          <p:nvPr/>
        </p:nvCxnSpPr>
        <p:spPr>
          <a:xfrm flipH="1" flipV="1">
            <a:off x="4823691" y="3810190"/>
            <a:ext cx="406402" cy="21283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8687670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smtClean="0"/>
              <a:t>(2/4)</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808602" y="1949750"/>
            <a:ext cx="115148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808602" y="2473010"/>
            <a:ext cx="115148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808602" y="2990174"/>
            <a:ext cx="115148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808602" y="2990174"/>
            <a:ext cx="115148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808602" y="2990174"/>
            <a:ext cx="115148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808602" y="2990174"/>
            <a:ext cx="115148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808602" y="2990174"/>
            <a:ext cx="115148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808602" y="2990174"/>
            <a:ext cx="115148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stCxn id="34" idx="3"/>
            <a:endCxn id="9" idx="1"/>
          </p:cNvCxnSpPr>
          <p:nvPr/>
        </p:nvCxnSpPr>
        <p:spPr>
          <a:xfrm flipV="1">
            <a:off x="2808602" y="2990174"/>
            <a:ext cx="1151489" cy="316873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 name="직사각형 5">
            <a:extLst>
              <a:ext uri="{FF2B5EF4-FFF2-40B4-BE49-F238E27FC236}">
                <a16:creationId xmlns:a16="http://schemas.microsoft.com/office/drawing/2014/main" id="{3FD7B626-4B5C-AE29-EFB9-628750B32B78}"/>
              </a:ext>
            </a:extLst>
          </p:cNvPr>
          <p:cNvSpPr/>
          <p:nvPr/>
        </p:nvSpPr>
        <p:spPr>
          <a:xfrm>
            <a:off x="1006967" y="172934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서약서동의</a:t>
            </a:r>
            <a:endParaRPr lang="en-US" altLang="ko-KR" sz="1050" dirty="0">
              <a:solidFill>
                <a:schemeClr val="tx1"/>
              </a:solidFill>
            </a:endParaRPr>
          </a:p>
          <a:p>
            <a:pPr algn="ctr"/>
            <a:r>
              <a:rPr lang="en-US" altLang="ko-KR" sz="1050" dirty="0">
                <a:solidFill>
                  <a:schemeClr val="tx1"/>
                </a:solidFill>
                <a:latin typeface="+mn-ea"/>
              </a:rPr>
              <a:t>WrotAgrePage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06967" y="22526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서약서</a:t>
            </a:r>
            <a:r>
              <a:rPr lang="en-US" altLang="ko-KR" sz="1050" dirty="0">
                <a:solidFill>
                  <a:schemeClr val="tx1"/>
                </a:solidFill>
              </a:rPr>
              <a:t>1</a:t>
            </a:r>
          </a:p>
          <a:p>
            <a:pPr algn="ctr"/>
            <a:r>
              <a:rPr lang="en-US" altLang="ko-KR" sz="1050" dirty="0" smtClean="0">
                <a:solidFill>
                  <a:schemeClr val="tx1"/>
                </a:solidFill>
                <a:latin typeface="Calibri" panose="020F0502020204030204" pitchFamily="34" charset="0"/>
              </a:rPr>
              <a:t>WrotAgrePage_Wrot1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06967" y="277586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rPr>
              <a:t>서약서</a:t>
            </a:r>
            <a:r>
              <a:rPr lang="en-US" altLang="ko-KR" sz="1050" dirty="0" smtClean="0">
                <a:solidFill>
                  <a:schemeClr val="tx1"/>
                </a:solidFill>
              </a:rPr>
              <a:t>2</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WrotAgrePage_Wrot2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06967" y="330511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rPr>
              <a:t>서약서</a:t>
            </a:r>
            <a:r>
              <a:rPr lang="en-US" altLang="ko-KR" sz="1050" dirty="0" smtClean="0">
                <a:solidFill>
                  <a:schemeClr val="tx1"/>
                </a:solidFill>
              </a:rPr>
              <a:t>3</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WrotAgrePage_Wrot3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006967" y="3834358"/>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1-</a:t>
            </a:r>
            <a:r>
              <a:rPr lang="ko-KR" altLang="en-US" sz="1050" dirty="0">
                <a:solidFill>
                  <a:schemeClr val="tx1"/>
                </a:solidFill>
              </a:rPr>
              <a:t>일반정보</a:t>
            </a:r>
            <a:endParaRPr lang="en-US" altLang="ko-KR" sz="1050" dirty="0">
              <a:solidFill>
                <a:schemeClr val="tx1"/>
              </a:solidFill>
            </a:endParaRPr>
          </a:p>
          <a:p>
            <a:pPr algn="ctr"/>
            <a:r>
              <a:rPr lang="en-US" altLang="ko-KR" sz="1050" dirty="0">
                <a:solidFill>
                  <a:schemeClr val="tx1"/>
                </a:solidFill>
                <a:latin typeface="+mn-ea"/>
              </a:rPr>
              <a:t>BidPrtcpAperWrtPage_Stp1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006967" y="4360394"/>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2-</a:t>
            </a:r>
            <a:r>
              <a:rPr lang="ko-KR" altLang="en-US" sz="1050" dirty="0" err="1">
                <a:solidFill>
                  <a:schemeClr val="tx1"/>
                </a:solidFill>
              </a:rPr>
              <a:t>품목내역</a:t>
            </a:r>
            <a:endParaRPr lang="en-US" altLang="ko-KR" sz="1050" dirty="0">
              <a:solidFill>
                <a:schemeClr val="tx1"/>
              </a:solidFill>
            </a:endParaRPr>
          </a:p>
          <a:p>
            <a:pPr algn="ctr"/>
            <a:r>
              <a:rPr lang="en-US" altLang="ko-KR" sz="1050" dirty="0" smtClean="0">
                <a:solidFill>
                  <a:schemeClr val="tx1"/>
                </a:solidFill>
                <a:latin typeface="+mn-ea"/>
              </a:rPr>
              <a:t>BidPrtcpAperWrtPage_Stp2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006967" y="488643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latin typeface="맑은 고딕" panose="020B0503020000020004" pitchFamily="50" charset="-127"/>
              </a:rPr>
              <a:t>스탭</a:t>
            </a:r>
            <a:r>
              <a:rPr lang="en-US" altLang="ko-KR" sz="1050" dirty="0">
                <a:solidFill>
                  <a:schemeClr val="tx1"/>
                </a:solidFill>
                <a:latin typeface="맑은 고딕" panose="020B0503020000020004" pitchFamily="50" charset="-127"/>
              </a:rPr>
              <a:t>3-</a:t>
            </a:r>
            <a:r>
              <a:rPr lang="ko-KR" altLang="en-US" sz="1050" dirty="0" err="1">
                <a:solidFill>
                  <a:schemeClr val="tx1"/>
                </a:solidFill>
                <a:latin typeface="맑은 고딕" panose="020B0503020000020004" pitchFamily="50" charset="-127"/>
              </a:rPr>
              <a:t>공종및면허</a:t>
            </a:r>
            <a:endParaRPr lang="en-US" altLang="ko-KR" sz="1050" dirty="0">
              <a:solidFill>
                <a:schemeClr val="tx1"/>
              </a:solidFill>
            </a:endParaRPr>
          </a:p>
          <a:p>
            <a:pPr algn="ctr"/>
            <a:r>
              <a:rPr lang="en-US" altLang="ko-KR" sz="1050" dirty="0" smtClean="0">
                <a:solidFill>
                  <a:schemeClr val="tx1"/>
                </a:solidFill>
                <a:latin typeface="+mn-ea"/>
              </a:rPr>
              <a:t>BidPrtcpAperWrtPage_Stp3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006967" y="5412466"/>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latin typeface="맑은 고딕" panose="020B0503020000020004" pitchFamily="50" charset="-127"/>
              </a:rPr>
              <a:t>스탭</a:t>
            </a:r>
            <a:r>
              <a:rPr lang="en-US" altLang="ko-KR" sz="1050" dirty="0">
                <a:solidFill>
                  <a:schemeClr val="tx1"/>
                </a:solidFill>
                <a:latin typeface="맑은 고딕" panose="020B0503020000020004" pitchFamily="50" charset="-127"/>
              </a:rPr>
              <a:t>4-</a:t>
            </a:r>
            <a:r>
              <a:rPr lang="ko-KR" altLang="en-US" sz="1050" dirty="0">
                <a:solidFill>
                  <a:schemeClr val="tx1"/>
                </a:solidFill>
                <a:latin typeface="맑은 고딕" panose="020B0503020000020004" pitchFamily="50" charset="-127"/>
              </a:rPr>
              <a:t>입찰보증금</a:t>
            </a:r>
            <a:endParaRPr lang="en-US" altLang="ko-KR" sz="1050" dirty="0">
              <a:solidFill>
                <a:schemeClr val="tx1"/>
              </a:solidFill>
            </a:endParaRPr>
          </a:p>
          <a:p>
            <a:pPr algn="ctr"/>
            <a:r>
              <a:rPr lang="en-US" altLang="ko-KR" sz="1050" dirty="0" smtClean="0">
                <a:solidFill>
                  <a:schemeClr val="tx1"/>
                </a:solidFill>
                <a:latin typeface="+mn-ea"/>
              </a:rPr>
              <a:t>BidPrtcpAperWrtPage_Stp4</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006967"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스탭</a:t>
            </a:r>
            <a:r>
              <a:rPr lang="en-US" altLang="ko-KR" sz="1050" dirty="0">
                <a:solidFill>
                  <a:schemeClr val="tx1"/>
                </a:solidFill>
                <a:latin typeface="+mn-ea"/>
              </a:rPr>
              <a:t>5-</a:t>
            </a:r>
            <a:r>
              <a:rPr lang="ko-KR" altLang="en-US" sz="1050" dirty="0">
                <a:solidFill>
                  <a:schemeClr val="tx1"/>
                </a:solidFill>
                <a:latin typeface="+mn-ea"/>
              </a:rPr>
              <a:t>공동수급업체</a:t>
            </a:r>
            <a:endParaRPr lang="en-US" altLang="ko-KR" sz="1050" dirty="0">
              <a:solidFill>
                <a:schemeClr val="tx1"/>
              </a:solidFill>
            </a:endParaRPr>
          </a:p>
          <a:p>
            <a:pPr algn="ctr"/>
            <a:r>
              <a:rPr lang="en-US" altLang="ko-KR" sz="1050" dirty="0" smtClean="0">
                <a:solidFill>
                  <a:schemeClr val="tx1"/>
                </a:solidFill>
                <a:latin typeface="+mn-ea"/>
              </a:rPr>
              <a:t>BidPrtcpAperWrtPage_Stp5</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grpSp>
        <p:nvGrpSpPr>
          <p:cNvPr id="36" name="그룹 35"/>
          <p:cNvGrpSpPr/>
          <p:nvPr/>
        </p:nvGrpSpPr>
        <p:grpSpPr>
          <a:xfrm>
            <a:off x="2896017" y="5938502"/>
            <a:ext cx="3095480" cy="440815"/>
            <a:chOff x="2896017" y="5938502"/>
            <a:chExt cx="3662262" cy="440815"/>
          </a:xfrm>
        </p:grpSpPr>
        <p:sp>
          <p:nvSpPr>
            <p:cNvPr id="46" name="직사각형 45">
              <a:extLst>
                <a:ext uri="{FF2B5EF4-FFF2-40B4-BE49-F238E27FC236}">
                  <a16:creationId xmlns:a16="http://schemas.microsoft.com/office/drawing/2014/main" id="{326CB017-8967-4DC4-0EAD-ADB3B9EAB841}"/>
                </a:ext>
              </a:extLst>
            </p:cNvPr>
            <p:cNvSpPr/>
            <p:nvPr/>
          </p:nvSpPr>
          <p:spPr>
            <a:xfrm>
              <a:off x="2896017"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6-</a:t>
              </a:r>
              <a:r>
                <a:rPr lang="ko-KR" altLang="en-US" sz="1050" dirty="0">
                  <a:solidFill>
                    <a:schemeClr val="tx1"/>
                  </a:solidFill>
                </a:rPr>
                <a:t>파일첨부</a:t>
              </a:r>
              <a:endParaRPr lang="en-US" altLang="ko-KR" sz="1050" dirty="0">
                <a:solidFill>
                  <a:schemeClr val="tx1"/>
                </a:solidFill>
              </a:endParaRPr>
            </a:p>
            <a:p>
              <a:pPr algn="ctr"/>
              <a:r>
                <a:rPr lang="en-US" altLang="ko-KR" sz="1050" dirty="0" smtClean="0">
                  <a:solidFill>
                    <a:schemeClr val="tx1"/>
                  </a:solidFill>
                  <a:latin typeface="+mn-ea"/>
                </a:rPr>
                <a:t>BidPrtcpAperWrtPage_Stp6</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48" name="직사각형 47">
              <a:extLst>
                <a:ext uri="{FF2B5EF4-FFF2-40B4-BE49-F238E27FC236}">
                  <a16:creationId xmlns:a16="http://schemas.microsoft.com/office/drawing/2014/main" id="{326CB017-8967-4DC4-0EAD-ADB3B9EAB841}"/>
                </a:ext>
              </a:extLst>
            </p:cNvPr>
            <p:cNvSpPr/>
            <p:nvPr/>
          </p:nvSpPr>
          <p:spPr>
            <a:xfrm>
              <a:off x="4756644"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7-</a:t>
              </a:r>
              <a:r>
                <a:rPr lang="ko-KR" altLang="en-US" sz="1050" dirty="0" err="1">
                  <a:solidFill>
                    <a:schemeClr val="tx1"/>
                  </a:solidFill>
                </a:rPr>
                <a:t>문의및동의</a:t>
              </a:r>
              <a:endParaRPr lang="en-US" altLang="ko-KR" sz="1050" dirty="0">
                <a:solidFill>
                  <a:schemeClr val="tx1"/>
                </a:solidFill>
              </a:endParaRPr>
            </a:p>
            <a:p>
              <a:pPr algn="ctr"/>
              <a:r>
                <a:rPr lang="en-US" altLang="ko-KR" sz="1050" dirty="0" smtClean="0">
                  <a:solidFill>
                    <a:schemeClr val="tx1"/>
                  </a:solidFill>
                  <a:latin typeface="+mn-ea"/>
                </a:rPr>
                <a:t>BidPrtcpAperWrtPage_Stp7</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grpSp>
      <p:cxnSp>
        <p:nvCxnSpPr>
          <p:cNvPr id="52" name="직선 화살표 연결선 51">
            <a:extLst>
              <a:ext uri="{FF2B5EF4-FFF2-40B4-BE49-F238E27FC236}">
                <a16:creationId xmlns:a16="http://schemas.microsoft.com/office/drawing/2014/main" id="{418E1257-E5C2-5705-1378-45505004ABAF}"/>
              </a:ext>
            </a:extLst>
          </p:cNvPr>
          <p:cNvCxnSpPr>
            <a:cxnSpLocks/>
            <a:stCxn id="46" idx="0"/>
            <a:endCxn id="9" idx="2"/>
          </p:cNvCxnSpPr>
          <p:nvPr/>
        </p:nvCxnSpPr>
        <p:spPr>
          <a:xfrm flipV="1">
            <a:off x="3657422" y="3810190"/>
            <a:ext cx="1166269" cy="21283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4" name="직선 화살표 연결선 53">
            <a:extLst>
              <a:ext uri="{FF2B5EF4-FFF2-40B4-BE49-F238E27FC236}">
                <a16:creationId xmlns:a16="http://schemas.microsoft.com/office/drawing/2014/main" id="{418E1257-E5C2-5705-1378-45505004ABAF}"/>
              </a:ext>
            </a:extLst>
          </p:cNvPr>
          <p:cNvCxnSpPr>
            <a:cxnSpLocks/>
            <a:stCxn id="48" idx="0"/>
            <a:endCxn id="9" idx="2"/>
          </p:cNvCxnSpPr>
          <p:nvPr/>
        </p:nvCxnSpPr>
        <p:spPr>
          <a:xfrm flipH="1" flipV="1">
            <a:off x="4823691" y="3810190"/>
            <a:ext cx="406402" cy="21283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58970408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smtClean="0"/>
              <a:t>(3/4)</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808602" y="1949750"/>
            <a:ext cx="115148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808602" y="2473010"/>
            <a:ext cx="115148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808602" y="2990174"/>
            <a:ext cx="115148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808602" y="2990174"/>
            <a:ext cx="115148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808602" y="2990174"/>
            <a:ext cx="115148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808602" y="2990174"/>
            <a:ext cx="115148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808602" y="2990174"/>
            <a:ext cx="115148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808602" y="2990174"/>
            <a:ext cx="115148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stCxn id="34" idx="3"/>
            <a:endCxn id="9" idx="1"/>
          </p:cNvCxnSpPr>
          <p:nvPr/>
        </p:nvCxnSpPr>
        <p:spPr>
          <a:xfrm flipV="1">
            <a:off x="2808602" y="2990174"/>
            <a:ext cx="1151489" cy="316873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 name="직사각형 5">
            <a:extLst>
              <a:ext uri="{FF2B5EF4-FFF2-40B4-BE49-F238E27FC236}">
                <a16:creationId xmlns:a16="http://schemas.microsoft.com/office/drawing/2014/main" id="{3FD7B626-4B5C-AE29-EFB9-628750B32B78}"/>
              </a:ext>
            </a:extLst>
          </p:cNvPr>
          <p:cNvSpPr/>
          <p:nvPr/>
        </p:nvSpPr>
        <p:spPr>
          <a:xfrm>
            <a:off x="1006967" y="172934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면제여부상세</a:t>
            </a:r>
            <a:endParaRPr lang="en-US" altLang="ko-KR" sz="1050" dirty="0">
              <a:solidFill>
                <a:schemeClr val="tx1"/>
              </a:solidFill>
            </a:endParaRPr>
          </a:p>
          <a:p>
            <a:pPr algn="ctr"/>
            <a:r>
              <a:rPr lang="en-US" altLang="ko-KR" sz="1050" dirty="0">
                <a:solidFill>
                  <a:schemeClr val="tx1"/>
                </a:solidFill>
                <a:latin typeface="+mn-ea"/>
              </a:rPr>
              <a:t>ExmptnYnDtl</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06967" y="22526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rPr>
              <a:t>등록업체검색</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RegBzentySrch</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06967" y="277586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smtClean="0">
                <a:solidFill>
                  <a:schemeClr val="tx1"/>
                </a:solidFill>
              </a:rPr>
              <a:t>캐비닛연결</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CabinetLink</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06967" y="330511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동의서</a:t>
            </a:r>
            <a:r>
              <a:rPr lang="en-US" altLang="ko-KR" sz="1050" dirty="0">
                <a:solidFill>
                  <a:schemeClr val="tx1"/>
                </a:solidFill>
              </a:rPr>
              <a:t>1</a:t>
            </a:r>
          </a:p>
          <a:p>
            <a:pPr algn="ctr"/>
            <a:r>
              <a:rPr lang="en-US" altLang="ko-KR" sz="1050" dirty="0">
                <a:solidFill>
                  <a:schemeClr val="tx1"/>
                </a:solidFill>
                <a:latin typeface="Calibri" panose="020F0502020204030204" pitchFamily="34" charset="0"/>
              </a:rPr>
              <a:t>AgreementForm1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006967" y="3834358"/>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rPr>
              <a:t>동의서</a:t>
            </a:r>
            <a:r>
              <a:rPr lang="en-US" altLang="ko-KR" sz="1050" dirty="0" smtClean="0">
                <a:solidFill>
                  <a:schemeClr val="tx1"/>
                </a:solidFill>
              </a:rPr>
              <a:t>2</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AgreementForm2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006967" y="4360394"/>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rPr>
              <a:t>동의서</a:t>
            </a:r>
            <a:r>
              <a:rPr lang="en-US" altLang="ko-KR" sz="1050" dirty="0" smtClean="0">
                <a:solidFill>
                  <a:schemeClr val="tx1"/>
                </a:solidFill>
              </a:rPr>
              <a:t>3</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AgreementForm3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006967" y="488643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latin typeface="맑은 고딕" panose="020B0503020000020004" pitchFamily="50" charset="-127"/>
              </a:rPr>
              <a:t>동의서</a:t>
            </a:r>
            <a:r>
              <a:rPr lang="en-US" altLang="ko-KR" sz="1050" dirty="0" smtClean="0">
                <a:solidFill>
                  <a:schemeClr val="tx1"/>
                </a:solidFill>
                <a:latin typeface="맑은 고딕" panose="020B0503020000020004" pitchFamily="50" charset="-127"/>
              </a:rPr>
              <a:t>4</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AgreementForm4</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006967" y="5412466"/>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latin typeface="맑은 고딕" panose="020B0503020000020004" pitchFamily="50" charset="-127"/>
              </a:rPr>
              <a:t>동의서</a:t>
            </a:r>
            <a:r>
              <a:rPr lang="en-US" altLang="ko-KR" sz="1050" dirty="0" smtClean="0">
                <a:solidFill>
                  <a:schemeClr val="tx1"/>
                </a:solidFill>
                <a:latin typeface="맑은 고딕" panose="020B0503020000020004" pitchFamily="50" charset="-127"/>
              </a:rPr>
              <a:t>5</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AgreementForm5</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006967"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smtClean="0">
                <a:solidFill>
                  <a:schemeClr val="tx1"/>
                </a:solidFill>
                <a:latin typeface="+mn-ea"/>
              </a:rPr>
              <a:t>동의서</a:t>
            </a:r>
            <a:r>
              <a:rPr lang="en-US" altLang="ko-KR" sz="1050" dirty="0" smtClean="0">
                <a:solidFill>
                  <a:schemeClr val="tx1"/>
                </a:solidFill>
                <a:latin typeface="+mn-ea"/>
              </a:rPr>
              <a:t>6</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AgreementForm6</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46" name="직사각형 45">
            <a:extLst>
              <a:ext uri="{FF2B5EF4-FFF2-40B4-BE49-F238E27FC236}">
                <a16:creationId xmlns:a16="http://schemas.microsoft.com/office/drawing/2014/main" id="{326CB017-8967-4DC4-0EAD-ADB3B9EAB841}"/>
              </a:ext>
            </a:extLst>
          </p:cNvPr>
          <p:cNvSpPr/>
          <p:nvPr/>
        </p:nvSpPr>
        <p:spPr>
          <a:xfrm>
            <a:off x="2896017" y="5938502"/>
            <a:ext cx="1522809"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전자서명</a:t>
            </a:r>
            <a:endParaRPr lang="en-US" altLang="ko-KR" sz="1050" dirty="0">
              <a:solidFill>
                <a:schemeClr val="tx1"/>
              </a:solidFill>
            </a:endParaRPr>
          </a:p>
          <a:p>
            <a:pPr algn="ctr"/>
            <a:r>
              <a:rPr lang="en-US" altLang="ko-KR" sz="1050" dirty="0">
                <a:solidFill>
                  <a:schemeClr val="tx1"/>
                </a:solidFill>
                <a:latin typeface="+mn-ea"/>
              </a:rPr>
              <a:t>Elsgn</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52" name="직선 화살표 연결선 51">
            <a:extLst>
              <a:ext uri="{FF2B5EF4-FFF2-40B4-BE49-F238E27FC236}">
                <a16:creationId xmlns:a16="http://schemas.microsoft.com/office/drawing/2014/main" id="{418E1257-E5C2-5705-1378-45505004ABAF}"/>
              </a:ext>
            </a:extLst>
          </p:cNvPr>
          <p:cNvCxnSpPr>
            <a:cxnSpLocks/>
            <a:stCxn id="46" idx="0"/>
            <a:endCxn id="9" idx="2"/>
          </p:cNvCxnSpPr>
          <p:nvPr/>
        </p:nvCxnSpPr>
        <p:spPr>
          <a:xfrm flipV="1">
            <a:off x="3657422" y="3810190"/>
            <a:ext cx="1166269" cy="21283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7446360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smtClean="0"/>
              <a:t>(4/4)</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808602" y="1949750"/>
            <a:ext cx="115148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808602" y="2473010"/>
            <a:ext cx="115148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808602" y="2990174"/>
            <a:ext cx="115148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808602" y="2990174"/>
            <a:ext cx="115148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808602" y="2990174"/>
            <a:ext cx="115148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808602" y="2990174"/>
            <a:ext cx="115148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808602" y="2990174"/>
            <a:ext cx="115148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 name="직사각형 5">
            <a:extLst>
              <a:ext uri="{FF2B5EF4-FFF2-40B4-BE49-F238E27FC236}">
                <a16:creationId xmlns:a16="http://schemas.microsoft.com/office/drawing/2014/main" id="{3FD7B626-4B5C-AE29-EFB9-628750B32B78}"/>
              </a:ext>
            </a:extLst>
          </p:cNvPr>
          <p:cNvSpPr/>
          <p:nvPr/>
        </p:nvSpPr>
        <p:spPr>
          <a:xfrm>
            <a:off x="1006967" y="172934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스탭</a:t>
            </a:r>
            <a:r>
              <a:rPr lang="en-US" altLang="ko-KR" sz="1050" dirty="0">
                <a:solidFill>
                  <a:schemeClr val="tx1"/>
                </a:solidFill>
                <a:latin typeface="+mn-ea"/>
              </a:rPr>
              <a:t>1-</a:t>
            </a:r>
            <a:r>
              <a:rPr lang="ko-KR" altLang="en-US" sz="1050" dirty="0">
                <a:solidFill>
                  <a:schemeClr val="tx1"/>
                </a:solidFill>
                <a:latin typeface="+mn-ea"/>
              </a:rPr>
              <a:t>일반정보</a:t>
            </a:r>
            <a:endParaRPr lang="en-US" altLang="ko-KR" sz="1050" dirty="0">
              <a:solidFill>
                <a:schemeClr val="tx1"/>
              </a:solidFill>
            </a:endParaRPr>
          </a:p>
          <a:p>
            <a:pPr algn="ctr"/>
            <a:r>
              <a:rPr lang="en-US" altLang="ko-KR" sz="1050" dirty="0">
                <a:solidFill>
                  <a:schemeClr val="tx1"/>
                </a:solidFill>
                <a:latin typeface="+mn-ea"/>
              </a:rPr>
              <a:t>TndrWrt_Stp1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06967" y="22526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2-</a:t>
            </a:r>
            <a:r>
              <a:rPr lang="ko-KR" altLang="en-US" sz="1050" dirty="0" err="1">
                <a:solidFill>
                  <a:schemeClr val="tx1"/>
                </a:solidFill>
              </a:rPr>
              <a:t>품목내역</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TndrWrt_Stp2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06967" y="277586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3-</a:t>
            </a:r>
            <a:r>
              <a:rPr lang="ko-KR" altLang="en-US" sz="1050" dirty="0" err="1">
                <a:solidFill>
                  <a:schemeClr val="tx1"/>
                </a:solidFill>
              </a:rPr>
              <a:t>투찰내역</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TndrWrt_Stp3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06967" y="330511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4-</a:t>
            </a:r>
            <a:r>
              <a:rPr lang="ko-KR" altLang="en-US" sz="1050" dirty="0">
                <a:solidFill>
                  <a:schemeClr val="tx1"/>
                </a:solidFill>
              </a:rPr>
              <a:t>복수예비가격</a:t>
            </a:r>
            <a:endParaRPr lang="en-US" altLang="ko-KR" sz="1050" dirty="0">
              <a:solidFill>
                <a:schemeClr val="tx1"/>
              </a:solidFill>
            </a:endParaRPr>
          </a:p>
          <a:p>
            <a:pPr algn="ctr"/>
            <a:r>
              <a:rPr lang="en-US" altLang="ko-KR" sz="1050" dirty="0" smtClean="0">
                <a:solidFill>
                  <a:schemeClr val="tx1"/>
                </a:solidFill>
                <a:latin typeface="Calibri" panose="020F0502020204030204" pitchFamily="34" charset="0"/>
              </a:rPr>
              <a:t>TndrWrt_Stp4</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006967" y="3834358"/>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5-</a:t>
            </a:r>
            <a:r>
              <a:rPr lang="ko-KR" altLang="en-US" sz="1050" dirty="0">
                <a:solidFill>
                  <a:schemeClr val="tx1"/>
                </a:solidFill>
              </a:rPr>
              <a:t>파일첨부</a:t>
            </a:r>
            <a:endParaRPr lang="en-US" altLang="ko-KR" sz="1050" dirty="0">
              <a:solidFill>
                <a:schemeClr val="tx1"/>
              </a:solidFill>
            </a:endParaRPr>
          </a:p>
          <a:p>
            <a:pPr algn="ctr"/>
            <a:r>
              <a:rPr lang="en-US" altLang="ko-KR" sz="1050" dirty="0" smtClean="0">
                <a:solidFill>
                  <a:schemeClr val="tx1"/>
                </a:solidFill>
                <a:latin typeface="+mn-ea"/>
              </a:rPr>
              <a:t>TndrWrt_Stp5</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006967" y="4360394"/>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스탭</a:t>
            </a:r>
            <a:r>
              <a:rPr lang="en-US" altLang="ko-KR" sz="1050" dirty="0">
                <a:solidFill>
                  <a:schemeClr val="tx1"/>
                </a:solidFill>
              </a:rPr>
              <a:t>6-</a:t>
            </a:r>
            <a:r>
              <a:rPr lang="ko-KR" altLang="en-US" sz="1050" dirty="0">
                <a:solidFill>
                  <a:schemeClr val="tx1"/>
                </a:solidFill>
              </a:rPr>
              <a:t>동가낙찰선추첨</a:t>
            </a:r>
            <a:endParaRPr lang="en-US" altLang="ko-KR" sz="1050" dirty="0">
              <a:solidFill>
                <a:schemeClr val="tx1"/>
              </a:solidFill>
            </a:endParaRPr>
          </a:p>
          <a:p>
            <a:pPr algn="ctr"/>
            <a:r>
              <a:rPr lang="en-US" altLang="ko-KR" sz="1050" dirty="0" smtClean="0">
                <a:solidFill>
                  <a:schemeClr val="tx1"/>
                </a:solidFill>
                <a:latin typeface="+mn-ea"/>
              </a:rPr>
              <a:t>TndrWrt_Stp6</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006967" y="488643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latin typeface="맑은 고딕" panose="020B0503020000020004" pitchFamily="50" charset="-127"/>
              </a:rPr>
              <a:t>스탭</a:t>
            </a:r>
            <a:r>
              <a:rPr lang="en-US" altLang="ko-KR" sz="1050" dirty="0">
                <a:solidFill>
                  <a:schemeClr val="tx1"/>
                </a:solidFill>
                <a:latin typeface="맑은 고딕" panose="020B0503020000020004" pitchFamily="50" charset="-127"/>
              </a:rPr>
              <a:t>7-</a:t>
            </a:r>
            <a:r>
              <a:rPr lang="ko-KR" altLang="en-US" sz="1050" dirty="0">
                <a:solidFill>
                  <a:schemeClr val="tx1"/>
                </a:solidFill>
                <a:latin typeface="맑은 고딕" panose="020B0503020000020004" pitchFamily="50" charset="-127"/>
              </a:rPr>
              <a:t>약관동의</a:t>
            </a:r>
            <a:endParaRPr lang="en-US" altLang="ko-KR" sz="1050" dirty="0">
              <a:solidFill>
                <a:schemeClr val="tx1"/>
              </a:solidFill>
            </a:endParaRPr>
          </a:p>
          <a:p>
            <a:pPr algn="ctr"/>
            <a:r>
              <a:rPr lang="en-US" altLang="ko-KR" sz="1050" dirty="0" smtClean="0">
                <a:solidFill>
                  <a:schemeClr val="tx1"/>
                </a:solidFill>
                <a:latin typeface="+mn-ea"/>
              </a:rPr>
              <a:t>TndrWrt_Stp7</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Tree>
    <p:extLst>
      <p:ext uri="{BB962C8B-B14F-4D97-AF65-F5344CB8AC3E}">
        <p14:creationId xmlns:p14="http://schemas.microsoft.com/office/powerpoint/2010/main" val="296457631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업무 도움말 표시</a:t>
            </a:r>
            <a:endParaRPr lang="en-US" altLang="ko-KR" dirty="0"/>
          </a:p>
          <a:p>
            <a:pPr marL="228600" indent="-228600">
              <a:buFont typeface="+mj-lt"/>
              <a:buAutoNum type="arabicPeriod"/>
            </a:pPr>
            <a:r>
              <a:rPr lang="ko-KR" altLang="en-US" dirty="0" smtClean="0">
                <a:solidFill>
                  <a:srgbClr val="FF0000"/>
                </a:solidFill>
              </a:rPr>
              <a:t>공고 전체 </a:t>
            </a:r>
            <a:r>
              <a:rPr lang="ko-KR" altLang="en-US" dirty="0">
                <a:solidFill>
                  <a:srgbClr val="FF0000"/>
                </a:solidFill>
              </a:rPr>
              <a:t>목록 </a:t>
            </a:r>
            <a:r>
              <a:rPr lang="ko-KR" altLang="en-US" dirty="0" smtClean="0">
                <a:solidFill>
                  <a:srgbClr val="FF0000"/>
                </a:solidFill>
              </a:rPr>
              <a:t>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입찰 진행 일시가 도래하지 않은 경우 진입할 수 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토스트 메시지 </a:t>
            </a:r>
            <a:r>
              <a:rPr lang="en-US" altLang="ko-KR" dirty="0" smtClean="0">
                <a:solidFill>
                  <a:srgbClr val="FF0000"/>
                </a:solidFill>
              </a:rPr>
              <a:t>– </a:t>
            </a:r>
            <a:r>
              <a:rPr lang="ko-KR" altLang="en-US" dirty="0" smtClean="0">
                <a:solidFill>
                  <a:srgbClr val="FF0000"/>
                </a:solidFill>
              </a:rPr>
              <a:t>입찰 진행 일이 아닙니다</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입찰한 내역이 있어야 진입할 수 있음</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토스트 메시지</a:t>
            </a:r>
            <a:r>
              <a:rPr lang="en-US" altLang="ko-KR" dirty="0" smtClean="0">
                <a:solidFill>
                  <a:srgbClr val="FF0000"/>
                </a:solidFill>
              </a:rPr>
              <a:t> – </a:t>
            </a:r>
            <a:r>
              <a:rPr lang="ko-KR" altLang="en-US" dirty="0" smtClean="0">
                <a:solidFill>
                  <a:srgbClr val="FF0000"/>
                </a:solidFill>
              </a:rPr>
              <a:t>입찰 진행 이력이 없습니다</a:t>
            </a:r>
            <a:r>
              <a:rPr lang="en-US" altLang="ko-KR" dirty="0" smtClean="0">
                <a:solidFill>
                  <a:srgbClr val="FF0000"/>
                </a:solidFill>
              </a:rPr>
              <a:t>.</a:t>
            </a:r>
            <a:endParaRPr lang="en-US" altLang="ko-KR" dirty="0">
              <a:solidFill>
                <a:srgbClr val="FF0000"/>
              </a:solidFill>
            </a:endParaRPr>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68</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smtClean="0">
                <a:latin typeface="+mn-ea"/>
              </a:rPr>
              <a:t>입찰진행목록</a:t>
            </a:r>
            <a:endParaRPr lang="ko-KR" altLang="en-US" dirty="0">
              <a:latin typeface="+mn-ea"/>
            </a:endParaRPr>
          </a:p>
        </p:txBody>
      </p:sp>
      <p:sp>
        <p:nvSpPr>
          <p:cNvPr id="6" name="텍스트 개체 틀 5"/>
          <p:cNvSpPr>
            <a:spLocks noGrp="1"/>
          </p:cNvSpPr>
          <p:nvPr>
            <p:ph type="body" sz="quarter" idx="13"/>
          </p:nvPr>
        </p:nvSpPr>
        <p:spPr/>
        <p:txBody>
          <a:bodyPr/>
          <a:lstStyle/>
          <a:p>
            <a:r>
              <a:rPr lang="ko-KR" altLang="en-US" dirty="0"/>
              <a:t>입찰 진행 목록 화면 </a:t>
            </a:r>
            <a:r>
              <a:rPr lang="en-US" altLang="ko-KR" dirty="0"/>
              <a:t>– </a:t>
            </a:r>
            <a:r>
              <a:rPr lang="ko-KR" altLang="en-US" dirty="0"/>
              <a:t>조달업체에서 신청서를 작성한 목록</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a:t>
            </a:r>
          </a:p>
        </p:txBody>
      </p:sp>
      <p:sp>
        <p:nvSpPr>
          <p:cNvPr id="8" name="텍스트 개체 틀 7"/>
          <p:cNvSpPr>
            <a:spLocks noGrp="1"/>
          </p:cNvSpPr>
          <p:nvPr>
            <p:ph type="body" sz="quarter" idx="15"/>
          </p:nvPr>
        </p:nvSpPr>
        <p:spPr/>
        <p:txBody>
          <a:bodyPr/>
          <a:lstStyle/>
          <a:p>
            <a:r>
              <a:rPr lang="en-US" altLang="ko-KR" dirty="0">
                <a:latin typeface="+mn-ea"/>
              </a:rPr>
              <a:t>MUI-BD-03-M01</a:t>
            </a:r>
            <a:endParaRPr lang="ko-KR" altLang="en-US" dirty="0">
              <a:latin typeface="+mn-ea"/>
            </a:endParaRPr>
          </a:p>
        </p:txBody>
      </p:sp>
      <p:sp>
        <p:nvSpPr>
          <p:cNvPr id="9" name="직사각형 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연결선 18">
            <a:extLst>
              <a:ext uri="{FF2B5EF4-FFF2-40B4-BE49-F238E27FC236}">
                <a16:creationId xmlns:a16="http://schemas.microsoft.com/office/drawing/2014/main" id="{E9293055-D5CD-4B9E-7F64-64B2D2CA7A52}"/>
              </a:ext>
            </a:extLst>
          </p:cNvPr>
          <p:cNvCxnSpPr/>
          <p:nvPr/>
        </p:nvCxnSpPr>
        <p:spPr>
          <a:xfrm>
            <a:off x="680570" y="22690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23809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5" name="그룹 24"/>
          <p:cNvGrpSpPr/>
          <p:nvPr/>
        </p:nvGrpSpPr>
        <p:grpSpPr>
          <a:xfrm>
            <a:off x="781461" y="3706883"/>
            <a:ext cx="2473257" cy="1098561"/>
            <a:chOff x="781461" y="2610063"/>
            <a:chExt cx="2473257" cy="1098561"/>
          </a:xfrm>
        </p:grpSpPr>
        <p:sp>
          <p:nvSpPr>
            <p:cNvPr id="26"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27"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8"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29" name="모서리가 둥근 직사각형 28"/>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30" name="모서리가 둥근 직사각형 29"/>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31" name="모서리가 둥근 직사각형 30"/>
            <p:cNvSpPr/>
            <p:nvPr/>
          </p:nvSpPr>
          <p:spPr>
            <a:xfrm>
              <a:off x="1522790"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32" name="모서리가 둥근 직사각형 31"/>
            <p:cNvSpPr/>
            <p:nvPr/>
          </p:nvSpPr>
          <p:spPr>
            <a:xfrm>
              <a:off x="1964204"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grpSp>
        <p:nvGrpSpPr>
          <p:cNvPr id="33" name="그룹 32">
            <a:extLst>
              <a:ext uri="{FF2B5EF4-FFF2-40B4-BE49-F238E27FC236}">
                <a16:creationId xmlns:a16="http://schemas.microsoft.com/office/drawing/2014/main" id="{22BC05EE-C648-7CA2-4CCC-6E1C1A7E9BDA}"/>
              </a:ext>
            </a:extLst>
          </p:cNvPr>
          <p:cNvGrpSpPr/>
          <p:nvPr/>
        </p:nvGrpSpPr>
        <p:grpSpPr>
          <a:xfrm>
            <a:off x="1992981" y="5915412"/>
            <a:ext cx="76863" cy="292489"/>
            <a:chOff x="3750067" y="4683795"/>
            <a:chExt cx="76863" cy="292489"/>
          </a:xfrm>
        </p:grpSpPr>
        <p:sp>
          <p:nvSpPr>
            <p:cNvPr id="34" name="타원 3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5" name="타원 3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6" name="타원 3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7" name="그룹 36"/>
          <p:cNvGrpSpPr/>
          <p:nvPr/>
        </p:nvGrpSpPr>
        <p:grpSpPr>
          <a:xfrm>
            <a:off x="778515" y="5037401"/>
            <a:ext cx="2476203" cy="1098561"/>
            <a:chOff x="778515" y="2610063"/>
            <a:chExt cx="2476203" cy="1098561"/>
          </a:xfrm>
        </p:grpSpPr>
        <p:sp>
          <p:nvSpPr>
            <p:cNvPr id="38"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39"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40"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41" name="모서리가 둥근 직사각형 40"/>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42" name="모서리가 둥근 직사각형 41"/>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43" name="모서리가 둥근 직사각형 42"/>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sp>
          <p:nvSpPr>
            <p:cNvPr id="44" name="모서리가 둥근 직사각형 43"/>
            <p:cNvSpPr/>
            <p:nvPr/>
          </p:nvSpPr>
          <p:spPr>
            <a:xfrm>
              <a:off x="1992981" y="2610063"/>
              <a:ext cx="3192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grpSp>
      <p:cxnSp>
        <p:nvCxnSpPr>
          <p:cNvPr id="45" name="직선 연결선 44">
            <a:extLst>
              <a:ext uri="{FF2B5EF4-FFF2-40B4-BE49-F238E27FC236}">
                <a16:creationId xmlns:a16="http://schemas.microsoft.com/office/drawing/2014/main" id="{E9293055-D5CD-4B9E-7F64-64B2D2CA7A52}"/>
              </a:ext>
            </a:extLst>
          </p:cNvPr>
          <p:cNvCxnSpPr/>
          <p:nvPr/>
        </p:nvCxnSpPr>
        <p:spPr>
          <a:xfrm>
            <a:off x="720490" y="49188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20490" y="358232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직선 연결선 47">
            <a:extLst>
              <a:ext uri="{FF2B5EF4-FFF2-40B4-BE49-F238E27FC236}">
                <a16:creationId xmlns:a16="http://schemas.microsoft.com/office/drawing/2014/main" id="{E9293055-D5CD-4B9E-7F64-64B2D2CA7A52}"/>
              </a:ext>
            </a:extLst>
          </p:cNvPr>
          <p:cNvCxnSpPr/>
          <p:nvPr/>
        </p:nvCxnSpPr>
        <p:spPr>
          <a:xfrm>
            <a:off x="675399" y="26322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9" name="TextBox 48">
            <a:extLst>
              <a:ext uri="{FF2B5EF4-FFF2-40B4-BE49-F238E27FC236}">
                <a16:creationId xmlns:a16="http://schemas.microsoft.com/office/drawing/2014/main" id="{FFC49AEA-2A8F-250C-A86A-A7751D9706C3}"/>
              </a:ext>
            </a:extLst>
          </p:cNvPr>
          <p:cNvSpPr txBox="1"/>
          <p:nvPr/>
        </p:nvSpPr>
        <p:spPr>
          <a:xfrm>
            <a:off x="1019814" y="23247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50" name="타원 49"/>
          <p:cNvSpPr/>
          <p:nvPr/>
        </p:nvSpPr>
        <p:spPr>
          <a:xfrm>
            <a:off x="783686" y="23560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p:cNvGrpSpPr/>
          <p:nvPr/>
        </p:nvGrpSpPr>
        <p:grpSpPr>
          <a:xfrm>
            <a:off x="3143548" y="2438078"/>
            <a:ext cx="94010" cy="47005"/>
            <a:chOff x="6812560" y="3297172"/>
            <a:chExt cx="94010" cy="47005"/>
          </a:xfrm>
        </p:grpSpPr>
        <p:cxnSp>
          <p:nvCxnSpPr>
            <p:cNvPr id="52" name="직선 연결선 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3" name="직선 연결선 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4" name="타원 53">
            <a:extLst>
              <a:ext uri="{FF2B5EF4-FFF2-40B4-BE49-F238E27FC236}">
                <a16:creationId xmlns:a16="http://schemas.microsoft.com/office/drawing/2014/main" id="{37A7FF4F-0EAA-1463-560A-D5EC24416103}"/>
              </a:ext>
            </a:extLst>
          </p:cNvPr>
          <p:cNvSpPr/>
          <p:nvPr/>
        </p:nvSpPr>
        <p:spPr>
          <a:xfrm>
            <a:off x="571127" y="4072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32278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FFC49AEA-2A8F-250C-A86A-A7751D9706C3}"/>
              </a:ext>
            </a:extLst>
          </p:cNvPr>
          <p:cNvSpPr txBox="1"/>
          <p:nvPr/>
        </p:nvSpPr>
        <p:spPr>
          <a:xfrm>
            <a:off x="778515" y="329679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60" name="TextBox 59">
            <a:extLst>
              <a:ext uri="{FF2B5EF4-FFF2-40B4-BE49-F238E27FC236}">
                <a16:creationId xmlns:a16="http://schemas.microsoft.com/office/drawing/2014/main" id="{FFC49AEA-2A8F-250C-A86A-A7751D9706C3}"/>
              </a:ext>
            </a:extLst>
          </p:cNvPr>
          <p:cNvSpPr txBox="1"/>
          <p:nvPr/>
        </p:nvSpPr>
        <p:spPr>
          <a:xfrm>
            <a:off x="2278206" y="3292742"/>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61" name="TextBox 60">
            <a:extLst>
              <a:ext uri="{FF2B5EF4-FFF2-40B4-BE49-F238E27FC236}">
                <a16:creationId xmlns:a16="http://schemas.microsoft.com/office/drawing/2014/main" id="{FFC49AEA-2A8F-250C-A86A-A7751D9706C3}"/>
              </a:ext>
            </a:extLst>
          </p:cNvPr>
          <p:cNvSpPr txBox="1"/>
          <p:nvPr/>
        </p:nvSpPr>
        <p:spPr>
          <a:xfrm>
            <a:off x="2727990" y="3292742"/>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62" name="그룹 61"/>
          <p:cNvGrpSpPr/>
          <p:nvPr/>
        </p:nvGrpSpPr>
        <p:grpSpPr>
          <a:xfrm>
            <a:off x="3143548" y="3394565"/>
            <a:ext cx="94010" cy="47005"/>
            <a:chOff x="6812560" y="3297172"/>
            <a:chExt cx="94010" cy="47005"/>
          </a:xfrm>
        </p:grpSpPr>
        <p:cxnSp>
          <p:nvCxnSpPr>
            <p:cNvPr id="63" name="직선 연결선 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4" name="직선 연결선 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5" name="그룹 64"/>
          <p:cNvGrpSpPr/>
          <p:nvPr/>
        </p:nvGrpSpPr>
        <p:grpSpPr>
          <a:xfrm>
            <a:off x="767702" y="2692353"/>
            <a:ext cx="2527420" cy="477995"/>
            <a:chOff x="786326" y="2270279"/>
            <a:chExt cx="2527420" cy="477995"/>
          </a:xfrm>
        </p:grpSpPr>
        <p:sp>
          <p:nvSpPr>
            <p:cNvPr id="66" name="모서리가 둥근 직사각형 65"/>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69" name="그룹 68"/>
            <p:cNvGrpSpPr/>
            <p:nvPr/>
          </p:nvGrpSpPr>
          <p:grpSpPr>
            <a:xfrm>
              <a:off x="795624" y="2274581"/>
              <a:ext cx="1299303" cy="155984"/>
              <a:chOff x="808107" y="2288229"/>
              <a:chExt cx="1189739" cy="168318"/>
            </a:xfrm>
          </p:grpSpPr>
          <p:sp>
            <p:nvSpPr>
              <p:cNvPr id="76"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77"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70" name="타원 69"/>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71"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72" name="타원 71"/>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2901631" y="2585953"/>
              <a:ext cx="58075" cy="58074"/>
              <a:chOff x="6812560" y="3297172"/>
              <a:chExt cx="94010" cy="94010"/>
            </a:xfrm>
          </p:grpSpPr>
          <p:cxnSp>
            <p:nvCxnSpPr>
              <p:cNvPr id="74" name="직선 연결선 7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75" name="직선 연결선 7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78" name="TextBox 77"/>
          <p:cNvSpPr txBox="1"/>
          <p:nvPr/>
        </p:nvSpPr>
        <p:spPr>
          <a:xfrm flipH="1">
            <a:off x="3000338" y="2938525"/>
            <a:ext cx="274434" cy="200055"/>
          </a:xfrm>
          <a:prstGeom prst="rect">
            <a:avLst/>
          </a:prstGeom>
          <a:noFill/>
        </p:spPr>
        <p:txBody>
          <a:bodyPr wrap="none" rtlCol="0">
            <a:spAutoFit/>
          </a:bodyPr>
          <a:lstStyle/>
          <a:p>
            <a:r>
              <a:rPr lang="ko-KR" altLang="en-US" sz="700" dirty="0"/>
              <a:t>🔎</a:t>
            </a:r>
          </a:p>
        </p:txBody>
      </p:sp>
      <p:grpSp>
        <p:nvGrpSpPr>
          <p:cNvPr id="79" name="그룹 78"/>
          <p:cNvGrpSpPr/>
          <p:nvPr/>
        </p:nvGrpSpPr>
        <p:grpSpPr>
          <a:xfrm>
            <a:off x="8223250" y="569392"/>
            <a:ext cx="3365500" cy="634511"/>
            <a:chOff x="8223250" y="569392"/>
            <a:chExt cx="3365500" cy="634511"/>
          </a:xfrm>
        </p:grpSpPr>
        <p:sp>
          <p:nvSpPr>
            <p:cNvPr id="80" name="직사각형 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2026-06-18 </a:t>
              </a:r>
              <a:r>
                <a:rPr lang="ko-KR" altLang="en-US" dirty="0" smtClean="0"/>
                <a:t>설명 </a:t>
              </a:r>
              <a:r>
                <a:rPr lang="ko-KR" altLang="en-US" dirty="0"/>
                <a:t>수정</a:t>
              </a:r>
            </a:p>
          </p:txBody>
        </p:sp>
        <p:sp>
          <p:nvSpPr>
            <p:cNvPr id="81" name="직사각형 8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변경</a:t>
              </a:r>
              <a:endParaRPr lang="ko-KR" altLang="en-US" sz="700" dirty="0"/>
            </a:p>
          </p:txBody>
        </p:sp>
      </p:grpSp>
      <p:grpSp>
        <p:nvGrpSpPr>
          <p:cNvPr id="82" name="그룹 81"/>
          <p:cNvGrpSpPr/>
          <p:nvPr/>
        </p:nvGrpSpPr>
        <p:grpSpPr>
          <a:xfrm>
            <a:off x="677960" y="1582647"/>
            <a:ext cx="2714637" cy="686386"/>
            <a:chOff x="677960" y="1582647"/>
            <a:chExt cx="2714637" cy="686386"/>
          </a:xfrm>
        </p:grpSpPr>
        <p:sp>
          <p:nvSpPr>
            <p:cNvPr id="83" name="TextBox 8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입찰진행목록</a:t>
              </a:r>
              <a:endParaRPr lang="ko-KR" altLang="en-US" sz="800" dirty="0">
                <a:latin typeface="+mn-ea"/>
              </a:endParaRP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rot="5400000">
              <a:off x="852159" y="2062596"/>
              <a:ext cx="94010" cy="47005"/>
              <a:chOff x="6812560" y="3297172"/>
              <a:chExt cx="94010" cy="47005"/>
            </a:xfrm>
          </p:grpSpPr>
          <p:cxnSp>
            <p:nvCxnSpPr>
              <p:cNvPr id="92" name="직선 연결선 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3" name="직선 연결선 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6" name="그룹 85"/>
            <p:cNvGrpSpPr/>
            <p:nvPr/>
          </p:nvGrpSpPr>
          <p:grpSpPr>
            <a:xfrm>
              <a:off x="677960" y="1582647"/>
              <a:ext cx="2712027" cy="324286"/>
              <a:chOff x="677960" y="1582647"/>
              <a:chExt cx="2712027" cy="324286"/>
            </a:xfrm>
          </p:grpSpPr>
          <p:pic>
            <p:nvPicPr>
              <p:cNvPr id="8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타원 8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타원 89"/>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70112058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a:xfrm>
            <a:off x="7090845" y="1497761"/>
            <a:ext cx="2300284" cy="4981517"/>
          </a:xfrm>
        </p:spPr>
        <p:txBody>
          <a:bodyPr/>
          <a:lstStyle/>
          <a:p>
            <a:pPr marL="228600" indent="-228600">
              <a:buFont typeface="+mj-lt"/>
              <a:buAutoNum type="arabicPeriod"/>
            </a:pPr>
            <a:r>
              <a:rPr lang="ko-KR" altLang="en-US" dirty="0"/>
              <a:t>상세정보 화면</a:t>
            </a:r>
            <a:r>
              <a:rPr lang="en-US" altLang="ko-KR" dirty="0"/>
              <a:t> – </a:t>
            </a:r>
            <a:r>
              <a:rPr lang="ko-KR" altLang="en-US" dirty="0"/>
              <a:t>세부 내역 표시</a:t>
            </a:r>
            <a:r>
              <a:rPr lang="en-US" altLang="ko-KR" dirty="0"/>
              <a:t/>
            </a:r>
            <a:br>
              <a:rPr lang="en-US" altLang="ko-KR" dirty="0"/>
            </a:br>
            <a:r>
              <a:rPr lang="en-US" altLang="ko-KR" dirty="0"/>
              <a:t>- </a:t>
            </a:r>
            <a:r>
              <a:rPr lang="ko-KR" altLang="en-US" dirty="0"/>
              <a:t>표시 내역이 없는 항목은 숨김</a:t>
            </a:r>
            <a:endParaRPr lang="en-US" altLang="ko-KR" dirty="0"/>
          </a:p>
          <a:p>
            <a:pPr marL="228600" indent="-228600">
              <a:buFont typeface="+mj-lt"/>
              <a:buAutoNum type="arabicPeriod"/>
            </a:pPr>
            <a:r>
              <a:rPr lang="ko-KR" altLang="en-US" dirty="0"/>
              <a:t>버튼 노출 및 클릭 시 해당 내역 표시</a:t>
            </a:r>
            <a:endParaRPr lang="en-US" altLang="ko-KR" dirty="0"/>
          </a:p>
          <a:p>
            <a:pPr marL="228600" indent="-228600">
              <a:buFont typeface="+mj-lt"/>
              <a:buAutoNum type="arabicPeriod"/>
            </a:pPr>
            <a:r>
              <a:rPr lang="ko-KR" altLang="en-US" dirty="0"/>
              <a:t>작성</a:t>
            </a:r>
            <a:r>
              <a:rPr lang="en-US" altLang="ko-KR" dirty="0"/>
              <a:t>, </a:t>
            </a:r>
            <a:r>
              <a:rPr lang="ko-KR" altLang="en-US" dirty="0"/>
              <a:t>내역 및 결과 보기 페이지 이동</a:t>
            </a:r>
            <a:r>
              <a:rPr lang="en-US" altLang="ko-KR" dirty="0"/>
              <a:t/>
            </a:r>
            <a:br>
              <a:rPr lang="en-US" altLang="ko-KR" dirty="0"/>
            </a:br>
            <a:r>
              <a:rPr lang="en-US" altLang="ko-KR" dirty="0"/>
              <a:t>- </a:t>
            </a:r>
            <a:r>
              <a:rPr lang="ko-KR" altLang="en-US" dirty="0"/>
              <a:t>사전심사</a:t>
            </a:r>
            <a:r>
              <a:rPr lang="en-US" altLang="ko-KR" dirty="0"/>
              <a:t>(PQ), </a:t>
            </a:r>
            <a:r>
              <a:rPr lang="ko-KR" altLang="en-US" dirty="0" err="1"/>
              <a:t>입찰참가서</a:t>
            </a:r>
            <a:r>
              <a:rPr lang="en-US" altLang="ko-KR" dirty="0"/>
              <a:t>, </a:t>
            </a:r>
            <a:r>
              <a:rPr lang="ko-KR" altLang="en-US" dirty="0"/>
              <a:t>견적서 등 작성한 화면을 </a:t>
            </a:r>
            <a:r>
              <a:rPr lang="ko-KR" altLang="en-US" dirty="0" err="1"/>
              <a:t>읽기모드로</a:t>
            </a:r>
            <a:r>
              <a:rPr lang="ko-KR" altLang="en-US" dirty="0"/>
              <a:t> 연계하여 표시</a:t>
            </a:r>
            <a:r>
              <a:rPr lang="en-US" altLang="ko-KR" dirty="0"/>
              <a:t>.</a:t>
            </a:r>
            <a:br>
              <a:rPr lang="en-US" altLang="ko-KR" dirty="0"/>
            </a:br>
            <a:r>
              <a:rPr lang="ko-KR" altLang="en-US" dirty="0" err="1"/>
              <a:t>공동협정이</a:t>
            </a:r>
            <a:r>
              <a:rPr lang="ko-KR" altLang="en-US" dirty="0"/>
              <a:t> 필요한 업체는 내용 보기 중 </a:t>
            </a:r>
            <a:r>
              <a:rPr lang="ko-KR" altLang="en-US" dirty="0" err="1"/>
              <a:t>플로팅</a:t>
            </a:r>
            <a:r>
              <a:rPr lang="ko-KR" altLang="en-US" dirty="0"/>
              <a:t> 버튼으로 </a:t>
            </a:r>
            <a:r>
              <a:rPr lang="ko-KR" altLang="en-US" dirty="0" err="1"/>
              <a:t>반려등의</a:t>
            </a:r>
            <a:r>
              <a:rPr lang="ko-KR" altLang="en-US" dirty="0"/>
              <a:t> 추가 버튼 </a:t>
            </a:r>
            <a:r>
              <a:rPr lang="ko-KR" altLang="en-US" dirty="0" smtClean="0"/>
              <a:t>표시</a:t>
            </a:r>
            <a:endParaRPr lang="en-US" altLang="ko-KR" dirty="0"/>
          </a:p>
          <a:p>
            <a:pPr marL="228600" indent="-228600">
              <a:buFont typeface="+mj-lt"/>
              <a:buAutoNum type="arabicPeriod"/>
            </a:pPr>
            <a:r>
              <a:rPr lang="ko-KR" altLang="en-US" dirty="0" err="1" smtClean="0"/>
              <a:t>플로팅</a:t>
            </a:r>
            <a:r>
              <a:rPr lang="ko-KR" altLang="en-US" dirty="0" smtClean="0"/>
              <a:t> 버튼을 통해 버튼 표시</a:t>
            </a:r>
            <a:r>
              <a:rPr lang="en-US" altLang="ko-KR" dirty="0"/>
              <a:t/>
            </a:r>
            <a:br>
              <a:rPr lang="en-US" altLang="ko-KR" dirty="0"/>
            </a:br>
            <a:r>
              <a:rPr lang="en-US" altLang="ko-KR" dirty="0" smtClean="0"/>
              <a:t>- </a:t>
            </a:r>
            <a:r>
              <a:rPr lang="ko-KR" altLang="en-US" dirty="0" smtClean="0"/>
              <a:t>입찰참가신청서</a:t>
            </a:r>
            <a:r>
              <a:rPr lang="en-US" altLang="ko-KR" dirty="0" smtClean="0"/>
              <a:t>: </a:t>
            </a:r>
            <a:r>
              <a:rPr lang="ko-KR" altLang="en-US" dirty="0" smtClean="0"/>
              <a:t>신청</a:t>
            </a:r>
            <a:r>
              <a:rPr lang="en-US" altLang="ko-KR" dirty="0"/>
              <a:t>, </a:t>
            </a:r>
            <a:r>
              <a:rPr lang="ko-KR" altLang="en-US" dirty="0"/>
              <a:t>미동의</a:t>
            </a:r>
            <a:r>
              <a:rPr lang="en-US" altLang="ko-KR" dirty="0"/>
              <a:t>, </a:t>
            </a:r>
            <a:r>
              <a:rPr lang="ko-KR" altLang="en-US" dirty="0" err="1"/>
              <a:t>등록확정</a:t>
            </a:r>
            <a:r>
              <a:rPr lang="en-US" altLang="ko-KR" dirty="0"/>
              <a:t>, </a:t>
            </a:r>
            <a:r>
              <a:rPr lang="ko-KR" altLang="en-US" dirty="0" err="1"/>
              <a:t>등록불가</a:t>
            </a:r>
            <a:r>
              <a:rPr lang="en-US" altLang="ko-KR" dirty="0"/>
              <a:t>, </a:t>
            </a:r>
            <a:r>
              <a:rPr lang="ko-KR" altLang="en-US" dirty="0" err="1"/>
              <a:t>사후심사</a:t>
            </a:r>
            <a:r>
              <a:rPr lang="en-US" altLang="ko-KR" dirty="0"/>
              <a:t>, </a:t>
            </a:r>
            <a:r>
              <a:rPr lang="ko-KR" altLang="en-US" dirty="0"/>
              <a:t>반려 </a:t>
            </a:r>
            <a:r>
              <a:rPr lang="en-US" altLang="ko-KR" dirty="0" smtClean="0"/>
              <a:t/>
            </a:r>
            <a:br>
              <a:rPr lang="en-US" altLang="ko-KR" dirty="0" smtClean="0"/>
            </a:br>
            <a:r>
              <a:rPr lang="en-US" altLang="ko-KR" dirty="0" smtClean="0"/>
              <a:t>-</a:t>
            </a:r>
            <a:r>
              <a:rPr lang="ko-KR" altLang="en-US" dirty="0" smtClean="0"/>
              <a:t>입찰</a:t>
            </a:r>
            <a:r>
              <a:rPr lang="en-US" altLang="ko-KR" dirty="0" smtClean="0"/>
              <a:t>: </a:t>
            </a:r>
            <a:r>
              <a:rPr lang="ko-KR" altLang="en-US" dirty="0"/>
              <a:t>제출</a:t>
            </a:r>
            <a:r>
              <a:rPr lang="en-US" altLang="ko-KR" dirty="0"/>
              <a:t>, </a:t>
            </a:r>
            <a:r>
              <a:rPr lang="ko-KR" altLang="en-US" dirty="0"/>
              <a:t>포기</a:t>
            </a:r>
            <a:r>
              <a:rPr lang="en-US" altLang="ko-KR" dirty="0"/>
              <a:t>, </a:t>
            </a:r>
            <a:r>
              <a:rPr lang="ko-KR" altLang="en-US" dirty="0"/>
              <a:t>완료</a:t>
            </a:r>
            <a:r>
              <a:rPr lang="en-US" altLang="ko-KR" dirty="0"/>
              <a:t>, </a:t>
            </a:r>
            <a:r>
              <a:rPr lang="ko-KR" altLang="en-US" dirty="0" smtClean="0"/>
              <a:t>취소</a:t>
            </a:r>
            <a:r>
              <a:rPr lang="en-US" altLang="ko-KR" dirty="0" smtClean="0"/>
              <a:t/>
            </a:r>
            <a:br>
              <a:rPr lang="en-US" altLang="ko-KR" dirty="0" smtClean="0"/>
            </a:br>
            <a:r>
              <a:rPr lang="en-US" altLang="ko-KR" dirty="0" smtClean="0"/>
              <a:t>-</a:t>
            </a:r>
            <a:r>
              <a:rPr lang="ko-KR" altLang="en-US" dirty="0" smtClean="0"/>
              <a:t>사전심사</a:t>
            </a:r>
            <a:r>
              <a:rPr lang="en-US" altLang="ko-KR" dirty="0" smtClean="0"/>
              <a:t>: </a:t>
            </a:r>
            <a:r>
              <a:rPr lang="ko-KR" altLang="en-US" dirty="0" smtClean="0"/>
              <a:t>결과</a:t>
            </a:r>
            <a:r>
              <a:rPr lang="en-US" altLang="ko-KR" dirty="0" smtClean="0"/>
              <a:t/>
            </a:r>
            <a:br>
              <a:rPr lang="en-US" altLang="ko-KR" dirty="0" smtClean="0"/>
            </a:br>
            <a:r>
              <a:rPr lang="en-US" altLang="ko-KR" dirty="0" smtClean="0"/>
              <a:t>-</a:t>
            </a:r>
            <a:r>
              <a:rPr lang="ko-KR" altLang="en-US" dirty="0" smtClean="0"/>
              <a:t>기술평가</a:t>
            </a:r>
            <a:r>
              <a:rPr lang="en-US" altLang="ko-KR" dirty="0" smtClean="0"/>
              <a:t>: </a:t>
            </a:r>
            <a:r>
              <a:rPr lang="ko-KR" altLang="en-US" dirty="0" smtClean="0"/>
              <a:t>결과</a:t>
            </a:r>
            <a:r>
              <a:rPr lang="en-US" altLang="ko-KR" dirty="0" smtClean="0"/>
              <a:t/>
            </a:r>
            <a:br>
              <a:rPr lang="en-US" altLang="ko-KR" dirty="0" smtClean="0"/>
            </a:br>
            <a:r>
              <a:rPr lang="en-US" altLang="ko-KR" dirty="0" smtClean="0"/>
              <a:t>-</a:t>
            </a:r>
            <a:r>
              <a:rPr lang="ko-KR" altLang="en-US" dirty="0" smtClean="0"/>
              <a:t>생산능력서류</a:t>
            </a:r>
            <a:r>
              <a:rPr lang="en-US" altLang="ko-KR" dirty="0" smtClean="0"/>
              <a:t>: </a:t>
            </a:r>
            <a:r>
              <a:rPr lang="ko-KR" altLang="en-US" dirty="0" smtClean="0"/>
              <a:t>제출 </a:t>
            </a:r>
            <a:r>
              <a:rPr lang="en-US" altLang="ko-KR" dirty="0" smtClean="0"/>
              <a:t/>
            </a:r>
            <a:br>
              <a:rPr lang="en-US" altLang="ko-KR" dirty="0" smtClean="0"/>
            </a:br>
            <a:r>
              <a:rPr lang="en-US" altLang="ko-KR" dirty="0" smtClean="0"/>
              <a:t>(</a:t>
            </a:r>
            <a:r>
              <a:rPr lang="en-US" altLang="ko-KR" dirty="0" smtClean="0">
                <a:solidFill>
                  <a:srgbClr val="000000"/>
                </a:solidFill>
                <a:latin typeface="맑은 고딕" panose="020B0503020000020004" pitchFamily="50" charset="-127"/>
              </a:rPr>
              <a:t>MUI-BD-01-P17)</a:t>
            </a:r>
            <a:endParaRPr lang="en-US" altLang="ko-KR" dirty="0"/>
          </a:p>
          <a:p>
            <a:pPr marL="0" indent="0">
              <a:buNone/>
            </a:pPr>
            <a:r>
              <a:rPr lang="ko-KR" altLang="en-US" dirty="0" smtClean="0"/>
              <a:t>        </a:t>
            </a:r>
            <a:endParaRPr lang="ko-KR" altLang="en-US" dirty="0"/>
          </a:p>
          <a:p>
            <a:pPr marL="228600" indent="-228600">
              <a:buFont typeface="+mj-lt"/>
              <a:buAutoNum type="arabicPeriod"/>
            </a:pPr>
            <a:endParaRPr lang="en-US" altLang="ko-KR" dirty="0" smtClean="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69</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err="1">
                <a:latin typeface="+mn-ea"/>
              </a:rPr>
              <a:t>입찰진행</a:t>
            </a:r>
            <a:r>
              <a:rPr lang="ko-KR" altLang="en-US" dirty="0">
                <a:latin typeface="+mn-ea"/>
              </a:rPr>
              <a:t> 상세</a:t>
            </a:r>
          </a:p>
        </p:txBody>
      </p:sp>
      <p:sp>
        <p:nvSpPr>
          <p:cNvPr id="6" name="텍스트 개체 틀 5"/>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a:t>
            </a:r>
            <a:r>
              <a:rPr lang="en-US" altLang="ko-KR" dirty="0"/>
              <a:t>, </a:t>
            </a:r>
            <a:r>
              <a:rPr lang="ko-KR" altLang="en-US" dirty="0"/>
              <a:t>사전심사를 진행한 상세 정보 표시</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a:t>
            </a:r>
          </a:p>
        </p:txBody>
      </p:sp>
      <p:sp>
        <p:nvSpPr>
          <p:cNvPr id="8" name="텍스트 개체 틀 7"/>
          <p:cNvSpPr>
            <a:spLocks noGrp="1"/>
          </p:cNvSpPr>
          <p:nvPr>
            <p:ph type="body" sz="quarter" idx="15"/>
          </p:nvPr>
        </p:nvSpPr>
        <p:spPr/>
        <p:txBody>
          <a:bodyPr lIns="72000" tIns="36000" rIns="72000" bIns="36000"/>
          <a:lstStyle/>
          <a:p>
            <a:pPr fontAlgn="ctr"/>
            <a:r>
              <a:rPr lang="en-US" altLang="ko-KR" dirty="0">
                <a:latin typeface="+mn-ea"/>
              </a:rPr>
              <a:t>MUI-BD-03-M02</a:t>
            </a:r>
            <a:endParaRPr lang="ko-KR" altLang="en-US" dirty="0">
              <a:latin typeface="+mn-ea"/>
            </a:endParaRPr>
          </a:p>
        </p:txBody>
      </p:sp>
      <p:sp>
        <p:nvSpPr>
          <p:cNvPr id="58" name="직사각형 5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80570" y="22761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타원 64">
            <a:extLst>
              <a:ext uri="{FF2B5EF4-FFF2-40B4-BE49-F238E27FC236}">
                <a16:creationId xmlns:a16="http://schemas.microsoft.com/office/drawing/2014/main" id="{37A7FF4F-0EAA-1463-560A-D5EC24416103}"/>
              </a:ext>
            </a:extLst>
          </p:cNvPr>
          <p:cNvSpPr/>
          <p:nvPr/>
        </p:nvSpPr>
        <p:spPr>
          <a:xfrm>
            <a:off x="571127" y="238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6" name="TextBox 65">
            <a:extLst>
              <a:ext uri="{FF2B5EF4-FFF2-40B4-BE49-F238E27FC236}">
                <a16:creationId xmlns:a16="http://schemas.microsoft.com/office/drawing/2014/main" id="{FFC49AEA-2A8F-250C-A86A-A7751D9706C3}"/>
              </a:ext>
            </a:extLst>
          </p:cNvPr>
          <p:cNvSpPr txBox="1"/>
          <p:nvPr/>
        </p:nvSpPr>
        <p:spPr>
          <a:xfrm>
            <a:off x="817932" y="2994848"/>
            <a:ext cx="670770" cy="107722"/>
          </a:xfrm>
          <a:prstGeom prst="rect">
            <a:avLst/>
          </a:prstGeom>
          <a:noFill/>
        </p:spPr>
        <p:txBody>
          <a:bodyPr wrap="square" lIns="0" tIns="0" rIns="0" bIns="0" rtlCol="0">
            <a:spAutoFit/>
          </a:bodyPr>
          <a:lstStyle/>
          <a:p>
            <a:r>
              <a:rPr lang="ko-KR" altLang="en-US" sz="700" b="1" dirty="0">
                <a:latin typeface="+mn-ea"/>
              </a:rPr>
              <a:t>구분</a:t>
            </a:r>
            <a:endParaRPr lang="en-US" altLang="ko-KR" sz="700" b="1"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1510284" y="2994848"/>
            <a:ext cx="670770" cy="107722"/>
          </a:xfrm>
          <a:prstGeom prst="rect">
            <a:avLst/>
          </a:prstGeom>
          <a:noFill/>
        </p:spPr>
        <p:txBody>
          <a:bodyPr wrap="square" lIns="0" tIns="0" rIns="0" bIns="0" rtlCol="0">
            <a:spAutoFit/>
          </a:bodyPr>
          <a:lstStyle/>
          <a:p>
            <a:r>
              <a:rPr lang="ko-KR" altLang="en-US" sz="700" b="1" dirty="0">
                <a:latin typeface="+mn-ea"/>
              </a:rPr>
              <a:t>내용</a:t>
            </a:r>
            <a:endParaRPr lang="en-US" altLang="ko-KR" sz="7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88855" y="32002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17932" y="3211679"/>
            <a:ext cx="963760" cy="2800767"/>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업무구분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 연락처</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p:txBody>
      </p:sp>
      <p:sp>
        <p:nvSpPr>
          <p:cNvPr id="70" name="TextBox 69">
            <a:extLst>
              <a:ext uri="{FF2B5EF4-FFF2-40B4-BE49-F238E27FC236}">
                <a16:creationId xmlns:a16="http://schemas.microsoft.com/office/drawing/2014/main" id="{FFC49AEA-2A8F-250C-A86A-A7751D9706C3}"/>
              </a:ext>
            </a:extLst>
          </p:cNvPr>
          <p:cNvSpPr txBox="1"/>
          <p:nvPr/>
        </p:nvSpPr>
        <p:spPr>
          <a:xfrm>
            <a:off x="1510284" y="3211679"/>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a:latin typeface="+mn-ea"/>
              </a:rPr>
              <a:t>물품</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00 00 00 00</a:t>
            </a:r>
          </a:p>
          <a:p>
            <a:pPr>
              <a:lnSpc>
                <a:spcPct val="200000"/>
              </a:lnSpc>
            </a:pPr>
            <a:r>
              <a:rPr lang="en-US" altLang="ko-KR" sz="700" dirty="0">
                <a:latin typeface="+mn-ea"/>
              </a:rPr>
              <a:t>00 00 00000</a:t>
            </a:r>
          </a:p>
          <a:p>
            <a:pPr>
              <a:lnSpc>
                <a:spcPct val="200000"/>
              </a:lnSpc>
            </a:pPr>
            <a:r>
              <a:rPr lang="ko-KR" altLang="en-US" sz="700" dirty="0">
                <a:latin typeface="+mn-ea"/>
              </a:rPr>
              <a:t>간편한 </a:t>
            </a:r>
            <a:r>
              <a:rPr lang="ko-KR" altLang="en-US" sz="700" dirty="0" err="1">
                <a:latin typeface="+mn-ea"/>
              </a:rPr>
              <a:t>아침식</a:t>
            </a:r>
            <a:r>
              <a:rPr lang="ko-KR" altLang="en-US" sz="700" dirty="0">
                <a:latin typeface="+mn-ea"/>
              </a:rPr>
              <a:t> 제조 및 납품</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000-0000-0000</a:t>
            </a:r>
          </a:p>
          <a:p>
            <a:pPr>
              <a:lnSpc>
                <a:spcPct val="200000"/>
              </a:lnSpc>
            </a:pPr>
            <a:r>
              <a:rPr lang="ko-KR" altLang="en-US" sz="700" dirty="0">
                <a:latin typeface="+mn-ea"/>
              </a:rPr>
              <a:t>경쟁입찰</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730868" y="3442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30868" y="36564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30868" y="3870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30868" y="40839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30868" y="4297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30868" y="45113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30868" y="4725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30868" y="4938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30868" y="5366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30868" y="55808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30868" y="57945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30868" y="60082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사각형: 둥근 모서리 15">
            <a:extLst>
              <a:ext uri="{FF2B5EF4-FFF2-40B4-BE49-F238E27FC236}">
                <a16:creationId xmlns:a16="http://schemas.microsoft.com/office/drawing/2014/main" id="{E2B61CFB-AD16-68D0-8752-50D9C5E01971}"/>
              </a:ext>
            </a:extLst>
          </p:cNvPr>
          <p:cNvSpPr/>
          <p:nvPr/>
        </p:nvSpPr>
        <p:spPr>
          <a:xfrm>
            <a:off x="2864521" y="368234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공고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4" name="모서리가 둥근 직사각형 83"/>
          <p:cNvSpPr/>
          <p:nvPr/>
        </p:nvSpPr>
        <p:spPr>
          <a:xfrm rot="5400000">
            <a:off x="2675698" y="361296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2864521" y="560671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864521" y="582081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3327015" y="3431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8" name="타원 87">
            <a:extLst>
              <a:ext uri="{FF2B5EF4-FFF2-40B4-BE49-F238E27FC236}">
                <a16:creationId xmlns:a16="http://schemas.microsoft.com/office/drawing/2014/main" id="{37A7FF4F-0EAA-1463-560A-D5EC24416103}"/>
              </a:ext>
            </a:extLst>
          </p:cNvPr>
          <p:cNvSpPr/>
          <p:nvPr/>
        </p:nvSpPr>
        <p:spPr>
          <a:xfrm>
            <a:off x="3327015" y="54501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9" name="그룹 88"/>
          <p:cNvGrpSpPr/>
          <p:nvPr/>
        </p:nvGrpSpPr>
        <p:grpSpPr>
          <a:xfrm>
            <a:off x="677935" y="2382893"/>
            <a:ext cx="2712027" cy="508898"/>
            <a:chOff x="697390" y="2606886"/>
            <a:chExt cx="2712027" cy="508898"/>
          </a:xfrm>
        </p:grpSpPr>
        <p:sp>
          <p:nvSpPr>
            <p:cNvPr id="90"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1" name="모서리가 둥근 직사각형 90"/>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2" name="모서리가 둥근 직사각형 91"/>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모서리가 둥근 직사각형 9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7" name="모서리가 둥근 직사각형 9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3924811" y="1492793"/>
            <a:ext cx="963760"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a:p>
            <a:pPr>
              <a:lnSpc>
                <a:spcPct val="200000"/>
              </a:lnSpc>
            </a:pPr>
            <a:r>
              <a:rPr lang="ko-KR" altLang="en-US" sz="700" dirty="0">
                <a:latin typeface="+mn-ea"/>
              </a:rPr>
              <a:t>사전심사</a:t>
            </a:r>
            <a:r>
              <a:rPr lang="en-US" altLang="ko-KR" sz="700" dirty="0">
                <a:latin typeface="+mn-ea"/>
              </a:rPr>
              <a:t>(PQ)</a:t>
            </a:r>
          </a:p>
          <a:p>
            <a:pPr>
              <a:lnSpc>
                <a:spcPct val="200000"/>
              </a:lnSpc>
            </a:pPr>
            <a:r>
              <a:rPr lang="ko-KR" altLang="en-US" sz="700" dirty="0">
                <a:latin typeface="+mn-ea"/>
              </a:rPr>
              <a:t>기술평가</a:t>
            </a:r>
            <a:endParaRPr lang="en-US" altLang="ko-KR" sz="700" dirty="0">
              <a:latin typeface="+mn-ea"/>
            </a:endParaRPr>
          </a:p>
          <a:p>
            <a:pPr>
              <a:lnSpc>
                <a:spcPct val="200000"/>
              </a:lnSpc>
            </a:pPr>
            <a:r>
              <a:rPr lang="ko-KR" altLang="en-US" sz="700" dirty="0">
                <a:latin typeface="+mn-ea"/>
              </a:rPr>
              <a:t>생산능력서류</a:t>
            </a:r>
            <a:endParaRPr lang="en-US" altLang="ko-KR" sz="700" dirty="0">
              <a:latin typeface="+mn-ea"/>
            </a:endParaRPr>
          </a:p>
          <a:p>
            <a:pPr>
              <a:lnSpc>
                <a:spcPct val="200000"/>
              </a:lnSpc>
            </a:pPr>
            <a:r>
              <a:rPr lang="ko-KR" altLang="en-US" sz="700" dirty="0">
                <a:latin typeface="+mn-ea"/>
              </a:rPr>
              <a:t>입찰참가등록 </a:t>
            </a:r>
            <a:r>
              <a:rPr lang="ko-KR" altLang="en-US" sz="700" dirty="0" err="1">
                <a:latin typeface="+mn-ea"/>
              </a:rPr>
              <a:t>마감일시</a:t>
            </a:r>
            <a:endParaRPr lang="en-US" altLang="ko-KR" sz="700" dirty="0">
              <a:latin typeface="+mn-ea"/>
            </a:endParaRPr>
          </a:p>
          <a:p>
            <a:pPr>
              <a:lnSpc>
                <a:spcPct val="200000"/>
              </a:lnSpc>
            </a:pPr>
            <a:r>
              <a:rPr lang="ko-KR" altLang="en-US" sz="700" dirty="0" err="1">
                <a:latin typeface="+mn-ea"/>
              </a:rPr>
              <a:t>입찰서제출</a:t>
            </a:r>
            <a:r>
              <a:rPr lang="ko-KR" altLang="en-US" sz="700" dirty="0">
                <a:latin typeface="+mn-ea"/>
              </a:rPr>
              <a:t> </a:t>
            </a:r>
            <a:r>
              <a:rPr lang="ko-KR" altLang="en-US" sz="700" dirty="0" err="1">
                <a:latin typeface="+mn-ea"/>
              </a:rPr>
              <a:t>마감일시</a:t>
            </a:r>
            <a:endParaRPr lang="en-US" altLang="ko-KR"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4617163" y="1492793"/>
            <a:ext cx="1814470"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제출</a:t>
            </a:r>
            <a:endParaRPr lang="en-US" altLang="ko-KR" sz="700" dirty="0">
              <a:latin typeface="+mn-ea"/>
            </a:endParaRPr>
          </a:p>
          <a:p>
            <a:pPr>
              <a:lnSpc>
                <a:spcPct val="200000"/>
              </a:lnSpc>
            </a:pPr>
            <a:r>
              <a:rPr lang="en-US" altLang="ko-KR" sz="700" dirty="0">
                <a:latin typeface="+mn-ea"/>
              </a:rPr>
              <a:t>              2026-03-16 15:00</a:t>
            </a:r>
          </a:p>
          <a:p>
            <a:pPr>
              <a:lnSpc>
                <a:spcPct val="200000"/>
              </a:lnSpc>
            </a:pPr>
            <a:r>
              <a:rPr lang="en-US" altLang="ko-KR" sz="700" dirty="0">
                <a:latin typeface="+mn-ea"/>
              </a:rPr>
              <a:t>              2026-03-17 15:00</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7747" y="17238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7747" y="19376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7747" y="21513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7747" y="2365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7747" y="2578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7747" y="27924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3837747" y="3006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837747" y="3219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사각형: 둥근 모서리 15">
            <a:extLst>
              <a:ext uri="{FF2B5EF4-FFF2-40B4-BE49-F238E27FC236}">
                <a16:creationId xmlns:a16="http://schemas.microsoft.com/office/drawing/2014/main" id="{E2B61CFB-AD16-68D0-8752-50D9C5E01971}"/>
              </a:ext>
            </a:extLst>
          </p:cNvPr>
          <p:cNvSpPr/>
          <p:nvPr/>
        </p:nvSpPr>
        <p:spPr>
          <a:xfrm>
            <a:off x="5971400" y="175370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5971400" y="196780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5971400" y="218473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5971400" y="239376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5971400" y="260455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6433894" y="159712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8851" y="14938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타원 120"/>
          <p:cNvSpPr/>
          <p:nvPr/>
        </p:nvSpPr>
        <p:spPr>
          <a:xfrm>
            <a:off x="661682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a:off x="6746287" y="5271034"/>
            <a:ext cx="124144" cy="148935"/>
            <a:chOff x="161606" y="5392781"/>
            <a:chExt cx="97885" cy="117432"/>
          </a:xfrm>
        </p:grpSpPr>
        <p:cxnSp>
          <p:nvCxnSpPr>
            <p:cNvPr id="123" name="직선 연결선 12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4" name="직선 연결선 12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26" name="직선 연결선 12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p:cNvGrpSpPr/>
          <p:nvPr/>
        </p:nvGrpSpPr>
        <p:grpSpPr>
          <a:xfrm>
            <a:off x="6746288" y="5768679"/>
            <a:ext cx="124144" cy="124144"/>
            <a:chOff x="162544" y="5299917"/>
            <a:chExt cx="124144" cy="124144"/>
          </a:xfrm>
        </p:grpSpPr>
        <p:cxnSp>
          <p:nvCxnSpPr>
            <p:cNvPr id="129" name="직선 연결선 12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1" name="양쪽 모서리가 둥근 사각형 130"/>
          <p:cNvSpPr/>
          <p:nvPr/>
        </p:nvSpPr>
        <p:spPr>
          <a:xfrm>
            <a:off x="3798851" y="3708738"/>
            <a:ext cx="2712027" cy="252356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32" name="모서리가 둥근 직사각형 131"/>
          <p:cNvSpPr/>
          <p:nvPr/>
        </p:nvSpPr>
        <p:spPr>
          <a:xfrm>
            <a:off x="4884864" y="37453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3" name="그룹 132"/>
          <p:cNvGrpSpPr/>
          <p:nvPr/>
        </p:nvGrpSpPr>
        <p:grpSpPr>
          <a:xfrm>
            <a:off x="6287790" y="3879781"/>
            <a:ext cx="94010" cy="94010"/>
            <a:chOff x="6812560" y="3297172"/>
            <a:chExt cx="94010" cy="94010"/>
          </a:xfrm>
        </p:grpSpPr>
        <p:cxnSp>
          <p:nvCxnSpPr>
            <p:cNvPr id="134" name="직선 연결선 13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8851" y="4121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모서리가 둥근 직사각형 40">
            <a:extLst>
              <a:ext uri="{FF2B5EF4-FFF2-40B4-BE49-F238E27FC236}">
                <a16:creationId xmlns:a16="http://schemas.microsoft.com/office/drawing/2014/main" id="{3BE5C28A-F0C3-8BA2-3AC1-EFA405ADE137}"/>
              </a:ext>
            </a:extLst>
          </p:cNvPr>
          <p:cNvSpPr/>
          <p:nvPr/>
        </p:nvSpPr>
        <p:spPr bwMode="auto">
          <a:xfrm>
            <a:off x="3891154" y="4241662"/>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2" name="모서리가 둥근 직사각형 40">
            <a:extLst>
              <a:ext uri="{FF2B5EF4-FFF2-40B4-BE49-F238E27FC236}">
                <a16:creationId xmlns:a16="http://schemas.microsoft.com/office/drawing/2014/main" id="{3BE5C28A-F0C3-8BA2-3AC1-EFA405ADE137}"/>
              </a:ext>
            </a:extLst>
          </p:cNvPr>
          <p:cNvSpPr/>
          <p:nvPr/>
        </p:nvSpPr>
        <p:spPr bwMode="auto">
          <a:xfrm>
            <a:off x="3891154" y="457416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3891154" y="5653807"/>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환율정보</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44" name="그룹 143">
            <a:extLst>
              <a:ext uri="{FF2B5EF4-FFF2-40B4-BE49-F238E27FC236}">
                <a16:creationId xmlns:a16="http://schemas.microsoft.com/office/drawing/2014/main" id="{22BC05EE-C648-7CA2-4CCC-6E1C1A7E9BDA}"/>
              </a:ext>
            </a:extLst>
          </p:cNvPr>
          <p:cNvGrpSpPr/>
          <p:nvPr/>
        </p:nvGrpSpPr>
        <p:grpSpPr>
          <a:xfrm>
            <a:off x="5135740" y="5973112"/>
            <a:ext cx="76863" cy="292489"/>
            <a:chOff x="3750067" y="4683795"/>
            <a:chExt cx="76863" cy="292489"/>
          </a:xfrm>
        </p:grpSpPr>
        <p:sp>
          <p:nvSpPr>
            <p:cNvPr id="145" name="타원 14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6" name="타원 145">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7" name="타원 146">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8" name="모서리가 둥근 직사각형 147"/>
          <p:cNvSpPr/>
          <p:nvPr/>
        </p:nvSpPr>
        <p:spPr>
          <a:xfrm rot="5400000">
            <a:off x="5782577" y="281776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9" name="타원 148">
            <a:extLst>
              <a:ext uri="{FF2B5EF4-FFF2-40B4-BE49-F238E27FC236}">
                <a16:creationId xmlns:a16="http://schemas.microsoft.com/office/drawing/2014/main" id="{37A7FF4F-0EAA-1463-560A-D5EC24416103}"/>
              </a:ext>
            </a:extLst>
          </p:cNvPr>
          <p:cNvSpPr/>
          <p:nvPr/>
        </p:nvSpPr>
        <p:spPr>
          <a:xfrm>
            <a:off x="6818064" y="56114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40" name="그룹 139"/>
          <p:cNvGrpSpPr/>
          <p:nvPr/>
        </p:nvGrpSpPr>
        <p:grpSpPr>
          <a:xfrm>
            <a:off x="677960" y="1582647"/>
            <a:ext cx="2714637" cy="686386"/>
            <a:chOff x="677960" y="1582647"/>
            <a:chExt cx="2714637" cy="686386"/>
          </a:xfrm>
        </p:grpSpPr>
        <p:sp>
          <p:nvSpPr>
            <p:cNvPr id="151" name="TextBox 15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입찰진행</a:t>
              </a:r>
              <a:r>
                <a:rPr lang="ko-KR" altLang="en-US" sz="800" dirty="0">
                  <a:latin typeface="+mn-ea"/>
                </a:rPr>
                <a:t> </a:t>
              </a:r>
              <a:r>
                <a:rPr lang="ko-KR" altLang="en-US" sz="800" dirty="0" smtClean="0">
                  <a:latin typeface="+mn-ea"/>
                </a:rPr>
                <a:t>상세</a:t>
              </a:r>
              <a:endParaRPr lang="ko-KR" altLang="en-US" sz="800" dirty="0">
                <a:latin typeface="+mn-ea"/>
              </a:endParaRP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5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6" name="직선 연결선 15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타원 15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8" name="타원 15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0011963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3954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srchBidPrgrs</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37512"/>
            <a:ext cx="267117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입찰진행 목록 데이터 영역 </a:t>
            </a:r>
            <a:r>
              <a:rPr lang="en-US" altLang="ko-KR" sz="900" b="1" dirty="0">
                <a:solidFill>
                  <a:prstClr val="black"/>
                </a:solidFill>
              </a:rPr>
              <a:t>(</a:t>
            </a:r>
            <a:r>
              <a:rPr lang="en-US" altLang="ko-KR" sz="900" b="1" dirty="0" err="1">
                <a:solidFill>
                  <a:prstClr val="black"/>
                </a:solidFill>
              </a:rPr>
              <a:t>dlt_bidPrgrsList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업무구분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2533">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입찰명</a:t>
                      </a:r>
                      <a:r>
                        <a:rPr lang="ko-KR" altLang="en-US" sz="800" dirty="0">
                          <a:latin typeface="+mn-ea"/>
                        </a:rPr>
                        <a:t>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발주기관명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kern="1200" dirty="0">
                          <a:solidFill>
                            <a:schemeClr val="tx1"/>
                          </a:solidFill>
                          <a:effectLst/>
                          <a:latin typeface="+mn-lt"/>
                          <a:ea typeface="+mn-ea"/>
                          <a:cs typeface="+mn-cs"/>
                        </a:rPr>
                        <a:t>발주기관검색 </a:t>
                      </a:r>
                      <a:r>
                        <a:rPr lang="ko-KR" altLang="en-US" sz="800" b="0" i="0" kern="1200" dirty="0" err="1">
                          <a:solidFill>
                            <a:schemeClr val="tx1"/>
                          </a:solidFill>
                          <a:effectLst/>
                          <a:latin typeface="+mn-lt"/>
                          <a:ea typeface="+mn-ea"/>
                          <a:cs typeface="+mn-cs"/>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참조번호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개찰일자 시작</a:t>
                      </a:r>
                      <a:r>
                        <a:rPr lang="en-US" altLang="ko-KR" sz="800" dirty="0">
                          <a:latin typeface="+mn-ea"/>
                        </a:rPr>
                        <a:t>~</a:t>
                      </a:r>
                      <a:r>
                        <a:rPr lang="ko-KR" altLang="en-US" sz="800" dirty="0">
                          <a:latin typeface="+mn-ea"/>
                        </a:rPr>
                        <a:t>종료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50003"/>
          <a:ext cx="8995589" cy="38784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037455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49003667"/>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228499"/>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853279"/>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물품의 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8820378"/>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6591676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429797"/>
                  </a:ext>
                </a:extLst>
              </a:tr>
              <a:tr h="0">
                <a:tc>
                  <a:txBody>
                    <a:bodyPr/>
                    <a:lstStyle/>
                    <a:p>
                      <a:pPr latinLnBrk="1"/>
                      <a:r>
                        <a:rPr lang="ko-KR" altLang="en-US" sz="800" dirty="0">
                          <a:latin typeface="+mn-ea"/>
                          <a:ea typeface="+mn-ea"/>
                        </a:rPr>
                        <a:t>발주기관연락처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 발주기관명과 발주기관의 연락처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454742"/>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708982"/>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1771616"/>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7055041"/>
                  </a:ext>
                </a:extLst>
              </a:tr>
              <a:tr h="0">
                <a:tc>
                  <a:txBody>
                    <a:bodyPr/>
                    <a:lstStyle/>
                    <a:p>
                      <a:pPr latinLnBrk="1"/>
                      <a:r>
                        <a:rPr lang="ko-KR" altLang="en-US" sz="800" dirty="0">
                          <a:latin typeface="+mn-ea"/>
                          <a:ea typeface="+mn-ea"/>
                        </a:rPr>
                        <a:t>입찰서접수마감일시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1996039"/>
                  </a:ext>
                </a:extLst>
              </a:tr>
              <a:tr h="0">
                <a:tc>
                  <a:txBody>
                    <a:bodyPr/>
                    <a:lstStyle/>
                    <a:p>
                      <a:pPr latinLnBrk="1"/>
                      <a:r>
                        <a:rPr lang="ko-KR" altLang="en-US" sz="800" dirty="0">
                          <a:latin typeface="+mn-ea"/>
                          <a:ea typeface="+mn-ea"/>
                        </a:rPr>
                        <a:t>업체구분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입찰참가신청서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bidPrgrsApfr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입찰참가신청서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입찰서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입찰서 제출 가능한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사전심사</a:t>
                      </a:r>
                      <a:r>
                        <a:rPr lang="en-US" altLang="ko-KR" sz="800" dirty="0">
                          <a:latin typeface="+mn-ea"/>
                          <a:ea typeface="+mn-ea"/>
                        </a:rPr>
                        <a:t>(PQ)</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사전심사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기술평가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기술평가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prdcpDcmntSbms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생산능력서류 제출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툴팁</a:t>
                      </a:r>
                      <a:r>
                        <a:rPr lang="ko-KR" altLang="en-US" sz="800" dirty="0">
                          <a:latin typeface="+mn-ea"/>
                          <a:ea typeface="+mn-ea"/>
                        </a:rPr>
                        <a:t> </a:t>
                      </a:r>
                      <a:r>
                        <a:rPr lang="en-US" altLang="ko-KR" sz="800" dirty="0">
                          <a:latin typeface="+mn-ea"/>
                          <a:ea typeface="+mn-ea"/>
                        </a:rPr>
                        <a:t>-</a:t>
                      </a:r>
                      <a:r>
                        <a:rPr lang="ko-KR" altLang="en-US" sz="800" dirty="0">
                          <a:latin typeface="+mn-ea"/>
                          <a:ea typeface="+mn-ea"/>
                        </a:rPr>
                        <a:t> </a:t>
                      </a:r>
                      <a:r>
                        <a:rPr lang="ko-KR" altLang="en-US" sz="800" dirty="0" err="1">
                          <a:latin typeface="+mn-ea"/>
                          <a:ea typeface="+mn-ea"/>
                        </a:rPr>
                        <a:t>생산능력서류제출마감일시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6B88C83A-DE60-8803-FED3-369A363CED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A2E38E8-E9B2-DCEC-7D42-0092B57EF2BD}"/>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endParaRPr lang="en-US" altLang="ko-KR" sz="1000" b="1" dirty="0">
              <a:solidFill>
                <a:prstClr val="black"/>
              </a:solidFill>
            </a:endParaRPr>
          </a:p>
        </p:txBody>
      </p:sp>
    </p:spTree>
    <p:extLst>
      <p:ext uri="{BB962C8B-B14F-4D97-AF65-F5344CB8AC3E}">
        <p14:creationId xmlns:p14="http://schemas.microsoft.com/office/powerpoint/2010/main" val="203367147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71</a:t>
            </a:fld>
            <a:endParaRPr lang="ko-KR" altLang="en-US" dirty="0"/>
          </a:p>
        </p:txBody>
      </p:sp>
      <p:sp>
        <p:nvSpPr>
          <p:cNvPr id="2" name="TextBox 1">
            <a:extLst>
              <a:ext uri="{FF2B5EF4-FFF2-40B4-BE49-F238E27FC236}">
                <a16:creationId xmlns:a16="http://schemas.microsoft.com/office/drawing/2014/main" id="{4C4E7A82-A9A4-FEAB-0A5B-333AFCB96112}"/>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F6FF23-2554-009C-F0B9-CBB7F0A8619F}"/>
              </a:ext>
            </a:extLst>
          </p:cNvPr>
          <p:cNvGraphicFramePr>
            <a:graphicFrameLocks noGrp="1"/>
          </p:cNvGraphicFramePr>
          <p:nvPr/>
        </p:nvGraphicFramePr>
        <p:xfrm>
          <a:off x="453000" y="1039042"/>
          <a:ext cx="8995591" cy="4377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개찰일자 초기화</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사전심사신청은 입찰공고상세화면에서 신청</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공개수의 견적서 제출은  입찰공고상세화면에서 제출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scwin.btn_srch_onclick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668250"/>
                  </a:ext>
                </a:extLst>
              </a:tr>
              <a:tr h="0">
                <a:tc>
                  <a:txBody>
                    <a:bodyPr/>
                    <a:lstStyle/>
                    <a:p>
                      <a:r>
                        <a:rPr lang="ko-KR" altLang="en-US" sz="800" dirty="0" err="1"/>
                        <a:t>입찰건명</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입찰공고상세</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(UI-BD-01-M03) </a:t>
                      </a:r>
                      <a:r>
                        <a:rPr lang="ko-KR" altLang="en-US" sz="800" b="0" i="0" kern="1200" dirty="0" err="1">
                          <a:solidFill>
                            <a:schemeClr val="tx1"/>
                          </a:solidFill>
                          <a:effectLst/>
                          <a:latin typeface="+mn-lt"/>
                          <a:ea typeface="+mn-ea"/>
                          <a:cs typeface="+mn-cs"/>
                        </a:rPr>
                        <a:t>입찰공고상세</a:t>
                      </a:r>
                      <a:endParaRPr lang="en-US" altLang="ko-KR" sz="800" b="0" i="0" kern="1200" dirty="0">
                        <a:solidFill>
                          <a:schemeClr val="tx1"/>
                        </a:solidFill>
                        <a:effectLst/>
                        <a:latin typeface="+mn-lt"/>
                        <a:ea typeface="+mn-ea"/>
                        <a:cs typeface="+mn-cs"/>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(UI-BD-01-M71)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0613206"/>
                  </a:ext>
                </a:extLst>
              </a:tr>
              <a:tr h="0">
                <a:tc>
                  <a:txBody>
                    <a:bodyPr/>
                    <a:lstStyle/>
                    <a:p>
                      <a:r>
                        <a:rPr lang="ko-KR" altLang="en-US" sz="800" dirty="0"/>
                        <a:t>입찰참가신청서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a:t>
                      </a:r>
                      <a:r>
                        <a:rPr lang="en-US" altLang="ko-KR" sz="800" dirty="0">
                          <a:latin typeface="+mn-ea"/>
                          <a:ea typeface="+mn-ea"/>
                        </a:rPr>
                        <a:t> </a:t>
                      </a:r>
                      <a:r>
                        <a:rPr lang="ko-KR" altLang="en-US" sz="800" dirty="0">
                          <a:latin typeface="+mn-ea"/>
                          <a:ea typeface="+mn-ea"/>
                        </a:rPr>
                        <a:t>동의 팝업 화면 호출</a:t>
                      </a:r>
                      <a:endParaRPr lang="en-US" altLang="ko-KR" sz="800" dirty="0">
                        <a:latin typeface="+mn-ea"/>
                        <a:ea typeface="+mn-ea"/>
                      </a:endParaRPr>
                    </a:p>
                    <a:p>
                      <a:r>
                        <a:rPr lang="ko-KR" altLang="en-US" sz="800" dirty="0">
                          <a:latin typeface="+mn-ea"/>
                          <a:ea typeface="+mn-ea"/>
                        </a:rPr>
                        <a:t>입찰참가신청서 작성</a:t>
                      </a:r>
                      <a:r>
                        <a:rPr lang="en-US" altLang="ko-KR" sz="800" dirty="0">
                          <a:latin typeface="+mn-ea"/>
                          <a:ea typeface="+mn-ea"/>
                        </a:rPr>
                        <a:t>/</a:t>
                      </a:r>
                      <a:r>
                        <a:rPr lang="ko-KR" altLang="en-US" sz="800" dirty="0">
                          <a:latin typeface="+mn-ea"/>
                          <a:ea typeface="+mn-ea"/>
                        </a:rPr>
                        <a:t>수정</a:t>
                      </a:r>
                      <a:r>
                        <a:rPr lang="en-US" altLang="ko-KR" sz="800" dirty="0">
                          <a:latin typeface="+mn-ea"/>
                          <a:ea typeface="+mn-ea"/>
                        </a:rPr>
                        <a:t>/</a:t>
                      </a:r>
                      <a:r>
                        <a:rPr lang="ko-KR" altLang="en-US" sz="800" dirty="0">
                          <a:latin typeface="+mn-ea"/>
                          <a:ea typeface="+mn-ea"/>
                        </a:rPr>
                        <a:t>조회 화면 호출</a:t>
                      </a:r>
                      <a:endParaRPr lang="en-US" altLang="ko-KR" sz="800" dirty="0">
                        <a:latin typeface="+mn-ea"/>
                        <a:ea typeface="+mn-ea"/>
                      </a:endParaRPr>
                    </a:p>
                    <a:p>
                      <a:r>
                        <a:rPr lang="ko-KR" altLang="en-US" sz="800" dirty="0">
                          <a:latin typeface="+mn-ea"/>
                          <a:ea typeface="+mn-ea"/>
                        </a:rPr>
                        <a:t>입찰등록결과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동일공고 동일</a:t>
                      </a:r>
                      <a:r>
                        <a:rPr lang="en-US" altLang="ko-KR" sz="800" dirty="0">
                          <a:latin typeface="+mn-ea"/>
                          <a:ea typeface="+mn-ea"/>
                        </a:rPr>
                        <a:t>IP </a:t>
                      </a:r>
                      <a:r>
                        <a:rPr lang="ko-KR" altLang="en-US" sz="800" dirty="0">
                          <a:latin typeface="+mn-ea"/>
                          <a:ea typeface="+mn-ea"/>
                        </a:rPr>
                        <a:t>중복</a:t>
                      </a:r>
                      <a:r>
                        <a:rPr lang="en-US" altLang="ko-KR" sz="800" dirty="0">
                          <a:latin typeface="+mn-ea"/>
                          <a:ea typeface="+mn-ea"/>
                        </a:rPr>
                        <a:t>, </a:t>
                      </a:r>
                      <a:r>
                        <a:rPr lang="ko-KR" altLang="en-US" sz="800" dirty="0">
                          <a:latin typeface="+mn-ea"/>
                          <a:ea typeface="+mn-ea"/>
                        </a:rPr>
                        <a:t>동일공고 동일업체 중복</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직접생산증명</a:t>
                      </a:r>
                      <a:r>
                        <a:rPr lang="en-US" altLang="ko-KR" sz="800" dirty="0">
                          <a:latin typeface="+mn-ea"/>
                          <a:ea typeface="+mn-ea"/>
                        </a:rPr>
                        <a:t>(</a:t>
                      </a:r>
                      <a:r>
                        <a:rPr lang="ko-KR" altLang="en-US" sz="800" dirty="0">
                          <a:latin typeface="+mn-ea"/>
                          <a:ea typeface="+mn-ea"/>
                        </a:rPr>
                        <a:t>신규</a:t>
                      </a:r>
                      <a:r>
                        <a:rPr lang="en-US" altLang="ko-KR" sz="800" dirty="0">
                          <a:latin typeface="+mn-ea"/>
                          <a:ea typeface="+mn-ea"/>
                        </a:rPr>
                        <a:t>) </a:t>
                      </a:r>
                      <a:r>
                        <a:rPr lang="ko-KR" altLang="en-US" sz="800" dirty="0">
                          <a:latin typeface="+mn-ea"/>
                          <a:ea typeface="+mn-ea"/>
                        </a:rPr>
                        <a:t>등</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(UI-BD-04-P01) </a:t>
                      </a:r>
                      <a:r>
                        <a:rPr lang="ko-KR" altLang="en-US" sz="800" b="0" i="0" kern="1200" dirty="0">
                          <a:solidFill>
                            <a:schemeClr val="tx1"/>
                          </a:solidFill>
                          <a:effectLst/>
                          <a:latin typeface="+mn-lt"/>
                          <a:ea typeface="+mn-ea"/>
                          <a:cs typeface="+mn-cs"/>
                        </a:rPr>
                        <a:t>서약서동의</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(UI-BD-04-M02) </a:t>
                      </a:r>
                      <a:r>
                        <a:rPr lang="ko-KR" altLang="en-US" sz="800" b="0" i="0" kern="1200" dirty="0">
                          <a:solidFill>
                            <a:schemeClr val="tx1"/>
                          </a:solidFill>
                          <a:effectLst/>
                          <a:latin typeface="+mn-lt"/>
                          <a:ea typeface="+mn-ea"/>
                          <a:cs typeface="+mn-cs"/>
                        </a:rPr>
                        <a:t>입찰참가신청서 </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(UI-BD-05-M02) </a:t>
                      </a:r>
                      <a:r>
                        <a:rPr lang="ko-KR" altLang="en-US" sz="800" b="0" i="0" kern="1200" dirty="0">
                          <a:solidFill>
                            <a:schemeClr val="tx1"/>
                          </a:solidFill>
                          <a:effectLst/>
                          <a:latin typeface="+mn-lt"/>
                          <a:ea typeface="+mn-ea"/>
                          <a:cs typeface="+mn-cs"/>
                        </a:rPr>
                        <a:t>입찰등록심사결과조회</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(UI-BD-04-M77)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입찰참가신청서상세</a:t>
                      </a:r>
                      <a:r>
                        <a:rPr lang="en-US" altLang="ko-KR" sz="800" b="0" i="0" kern="1200" dirty="0">
                          <a:solidFill>
                            <a:schemeClr val="tx1"/>
                          </a:solidFill>
                          <a:effectLst/>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(UI-BD-04-M79)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8684852"/>
                  </a:ext>
                </a:extLst>
              </a:tr>
              <a:tr h="0">
                <a:tc>
                  <a:txBody>
                    <a:bodyPr/>
                    <a:lstStyle/>
                    <a:p>
                      <a:r>
                        <a:rPr lang="ko-KR" altLang="en-US" sz="800" dirty="0"/>
                        <a:t>입찰서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투찰제한</a:t>
                      </a:r>
                      <a:r>
                        <a:rPr lang="ko-KR" altLang="en-US" sz="800" dirty="0">
                          <a:latin typeface="+mn-ea"/>
                          <a:ea typeface="+mn-ea"/>
                        </a:rPr>
                        <a:t> 및 </a:t>
                      </a:r>
                      <a:r>
                        <a:rPr lang="ko-KR" altLang="en-US" sz="800" dirty="0" err="1">
                          <a:latin typeface="+mn-ea"/>
                          <a:ea typeface="+mn-ea"/>
                        </a:rPr>
                        <a:t>중복투찰제한</a:t>
                      </a:r>
                      <a:r>
                        <a:rPr lang="ko-KR" altLang="en-US" sz="800" dirty="0">
                          <a:latin typeface="+mn-ea"/>
                          <a:ea typeface="+mn-ea"/>
                        </a:rPr>
                        <a:t> 후 입찰서제출 화면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상태가 등록확정 또는 입찰등록심사 시점이 사후심사인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(UI-BD-06-M01) </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(UI-BD-06-M72)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역경매입찰서제출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(UI-BD-06-M73)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입찰서상세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114332"/>
                  </a:ext>
                </a:extLst>
              </a:tr>
              <a:tr h="0">
                <a:tc>
                  <a:txBody>
                    <a:bodyPr/>
                    <a:lstStyle/>
                    <a:p>
                      <a:r>
                        <a:rPr lang="ko-KR" altLang="en-US" sz="800" dirty="0"/>
                        <a:t>사전심사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a:t>
                      </a:r>
                      <a:r>
                        <a:rPr lang="en-US" altLang="ko-KR" sz="800" dirty="0">
                          <a:latin typeface="+mn-ea"/>
                          <a:ea typeface="+mn-ea"/>
                        </a:rPr>
                        <a:t>(PQ)</a:t>
                      </a:r>
                      <a:r>
                        <a:rPr lang="ko-KR" altLang="en-US" sz="800" dirty="0">
                          <a:latin typeface="+mn-ea"/>
                          <a:ea typeface="+mn-ea"/>
                        </a:rPr>
                        <a:t>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사전심사 대상 입찰공고이고</a:t>
                      </a:r>
                      <a:r>
                        <a:rPr lang="en-US" altLang="ko-KR" sz="800" dirty="0">
                          <a:latin typeface="+mn-ea"/>
                          <a:ea typeface="+mn-ea"/>
                        </a:rPr>
                        <a:t>, </a:t>
                      </a:r>
                      <a:r>
                        <a:rPr lang="ko-KR" altLang="en-US" sz="800" dirty="0">
                          <a:latin typeface="+mn-ea"/>
                          <a:ea typeface="+mn-ea"/>
                        </a:rPr>
                        <a:t>사전심사결과가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(UI-BD-02-P04) </a:t>
                      </a:r>
                      <a:r>
                        <a:rPr lang="ko-KR" altLang="en-US" sz="800" b="0" i="0" kern="1200" dirty="0">
                          <a:solidFill>
                            <a:schemeClr val="tx1"/>
                          </a:solidFill>
                          <a:effectLst/>
                          <a:latin typeface="+mn-lt"/>
                          <a:ea typeface="+mn-ea"/>
                          <a:cs typeface="+mn-cs"/>
                        </a:rPr>
                        <a:t>사전심사결과상세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944359"/>
                  </a:ext>
                </a:extLst>
              </a:tr>
              <a:tr h="0">
                <a:tc>
                  <a:txBody>
                    <a:bodyPr/>
                    <a:lstStyle/>
                    <a:p>
                      <a:r>
                        <a:rPr lang="ko-KR" altLang="en-US" sz="800" dirty="0"/>
                        <a:t>기술평가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기술평가 대상 입찰공고이고</a:t>
                      </a:r>
                      <a:r>
                        <a:rPr lang="en-US" altLang="ko-KR" sz="800" dirty="0">
                          <a:latin typeface="+mn-ea"/>
                          <a:ea typeface="+mn-ea"/>
                        </a:rPr>
                        <a:t>, </a:t>
                      </a:r>
                      <a:r>
                        <a:rPr lang="ko-KR" altLang="en-US" sz="800" dirty="0">
                          <a:latin typeface="+mn-ea"/>
                          <a:ea typeface="+mn-ea"/>
                        </a:rPr>
                        <a:t>기술평가결과가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(UI-BD-07-P03) </a:t>
                      </a:r>
                      <a:r>
                        <a:rPr lang="ko-KR" altLang="en-US" sz="800" b="0" i="0" kern="1200" dirty="0">
                          <a:solidFill>
                            <a:schemeClr val="tx1"/>
                          </a:solidFill>
                          <a:effectLst/>
                          <a:latin typeface="+mn-lt"/>
                          <a:ea typeface="+mn-ea"/>
                          <a:cs typeface="+mn-cs"/>
                        </a:rPr>
                        <a:t>기술평가결과조회</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413864"/>
                  </a:ext>
                </a:extLst>
              </a:tr>
              <a:tr h="0">
                <a:tc>
                  <a:txBody>
                    <a:bodyPr/>
                    <a:lstStyle/>
                    <a:p>
                      <a:r>
                        <a:rPr lang="ko-KR" altLang="en-US" sz="800" dirty="0"/>
                        <a:t>생산능력서류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생산능력서류제출 대상 입찰공고인 경우 버튼 보이기</a:t>
                      </a:r>
                      <a:endParaRPr lang="en-US" altLang="ko-KR" sz="800" dirty="0">
                        <a:latin typeface="+mn-ea"/>
                        <a:ea typeface="+mn-ea"/>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(UI-BD-04-P07) </a:t>
                      </a:r>
                      <a:r>
                        <a:rPr lang="ko-KR" altLang="en-US" sz="800" b="0" i="0" kern="1200" dirty="0">
                          <a:solidFill>
                            <a:schemeClr val="tx1"/>
                          </a:solidFill>
                          <a:effectLst/>
                          <a:latin typeface="+mn-lt"/>
                          <a:ea typeface="+mn-ea"/>
                          <a:cs typeface="+mn-cs"/>
                        </a:rPr>
                        <a:t>생산능력서류제출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0">
                <a:tc>
                  <a:txBody>
                    <a:bodyPr/>
                    <a:lstStyle/>
                    <a:p>
                      <a:r>
                        <a:rPr lang="ko-KR" altLang="en-US" sz="800" dirty="0" err="1"/>
                        <a:t>모의투찰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scwin.btn_simtBdng_onclick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모의투찰</a:t>
                      </a:r>
                      <a:r>
                        <a:rPr lang="ko-KR" altLang="en-US" sz="800" dirty="0">
                          <a:latin typeface="+mn-ea"/>
                          <a:ea typeface="+mn-ea"/>
                        </a:rPr>
                        <a:t> 상태로 변경되며</a:t>
                      </a:r>
                      <a:r>
                        <a:rPr lang="en-US" altLang="ko-KR" sz="800" dirty="0">
                          <a:latin typeface="+mn-ea"/>
                          <a:ea typeface="+mn-ea"/>
                        </a:rPr>
                        <a:t>, </a:t>
                      </a:r>
                      <a:r>
                        <a:rPr lang="ko-KR" altLang="en-US" sz="800" dirty="0" err="1">
                          <a:latin typeface="+mn-ea"/>
                          <a:ea typeface="+mn-ea"/>
                        </a:rPr>
                        <a:t>모의투찰용</a:t>
                      </a:r>
                      <a:r>
                        <a:rPr lang="ko-KR" altLang="en-US" sz="800" dirty="0">
                          <a:latin typeface="+mn-ea"/>
                          <a:ea typeface="+mn-ea"/>
                        </a:rPr>
                        <a:t>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시 입찰등록심사결과를 바로 등록확정 처리</a:t>
                      </a:r>
                      <a:r>
                        <a:rPr lang="en-US" altLang="ko-KR" sz="800" dirty="0">
                          <a:latin typeface="+mn-ea"/>
                          <a:ea typeface="+mn-ea"/>
                        </a:rPr>
                        <a:t>.</a:t>
                      </a:r>
                    </a:p>
                    <a:p>
                      <a:pPr marL="0" indent="0" algn="l" latinLnBrk="1">
                        <a:buFont typeface="Arial" panose="020B0604020202020204" pitchFamily="34" charset="0"/>
                        <a:buNone/>
                      </a:pPr>
                      <a:r>
                        <a:rPr lang="ko-KR" altLang="en-US" sz="800" dirty="0">
                          <a:latin typeface="+mn-ea"/>
                          <a:ea typeface="+mn-ea"/>
                        </a:rPr>
                        <a:t>입찰서제출 후 입찰취소신청 가능</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다시 </a:t>
                      </a:r>
                      <a:r>
                        <a:rPr lang="ko-KR" altLang="en-US" sz="800" dirty="0" err="1">
                          <a:latin typeface="+mn-ea"/>
                          <a:ea typeface="+mn-ea"/>
                        </a:rPr>
                        <a:t>모의투찰</a:t>
                      </a:r>
                      <a:r>
                        <a:rPr lang="ko-KR" altLang="en-US" sz="800" dirty="0">
                          <a:latin typeface="+mn-ea"/>
                          <a:ea typeface="+mn-ea"/>
                        </a:rPr>
                        <a:t> 상태 진입 시 기존 </a:t>
                      </a:r>
                      <a:r>
                        <a:rPr lang="ko-KR" altLang="en-US" sz="800" dirty="0" err="1">
                          <a:latin typeface="+mn-ea"/>
                          <a:ea typeface="+mn-ea"/>
                        </a:rPr>
                        <a:t>모의투찰</a:t>
                      </a:r>
                      <a:r>
                        <a:rPr lang="ko-KR" altLang="en-US" sz="800" dirty="0">
                          <a:latin typeface="+mn-ea"/>
                          <a:ea typeface="+mn-ea"/>
                        </a:rPr>
                        <a:t> </a:t>
                      </a:r>
                      <a:r>
                        <a:rPr lang="ko-KR" altLang="en-US" sz="800" dirty="0" err="1">
                          <a:latin typeface="+mn-ea"/>
                          <a:ea typeface="+mn-ea"/>
                        </a:rPr>
                        <a:t>진행건</a:t>
                      </a:r>
                      <a:r>
                        <a:rPr lang="ko-KR" altLang="en-US" sz="800" dirty="0">
                          <a:latin typeface="+mn-ea"/>
                          <a:ea typeface="+mn-ea"/>
                        </a:rPr>
                        <a:t>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317343"/>
                  </a:ext>
                </a:extLst>
              </a:tr>
            </a:tbl>
          </a:graphicData>
        </a:graphic>
      </p:graphicFrame>
      <p:sp>
        <p:nvSpPr>
          <p:cNvPr id="5" name="Text Box 73">
            <a:extLst>
              <a:ext uri="{FF2B5EF4-FFF2-40B4-BE49-F238E27FC236}">
                <a16:creationId xmlns:a16="http://schemas.microsoft.com/office/drawing/2014/main" id="{EE08407E-3A29-07B8-92E2-A37609B553A0}"/>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718959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입찰서</a:t>
            </a:r>
            <a:r>
              <a:rPr lang="en-US" altLang="ko-KR" dirty="0" smtClean="0"/>
              <a:t>(</a:t>
            </a:r>
            <a:r>
              <a:rPr lang="ko-KR" altLang="en-US" dirty="0" smtClean="0"/>
              <a:t>견적서</a:t>
            </a:r>
            <a:r>
              <a:rPr lang="en-US" altLang="ko-KR" dirty="0" smtClean="0"/>
              <a:t>) </a:t>
            </a:r>
            <a:r>
              <a:rPr lang="ko-KR" altLang="en-US" dirty="0" smtClean="0"/>
              <a:t>작성 이후 포기하는 화면</a:t>
            </a:r>
            <a:r>
              <a:rPr lang="en-US" altLang="ko-KR" dirty="0" smtClean="0"/>
              <a:t/>
            </a:r>
            <a:br>
              <a:rPr lang="en-US" altLang="ko-KR" dirty="0" smtClean="0"/>
            </a:br>
            <a:r>
              <a:rPr lang="en-US" altLang="ko-KR" dirty="0" smtClean="0"/>
              <a:t>- </a:t>
            </a:r>
            <a:r>
              <a:rPr lang="ko-KR" altLang="en-US" dirty="0" smtClean="0"/>
              <a:t>제출하면 되돌릴 수 없음</a:t>
            </a:r>
            <a:r>
              <a:rPr lang="en-US" altLang="ko-KR" dirty="0" smtClean="0"/>
              <a:t>.</a:t>
            </a:r>
          </a:p>
          <a:p>
            <a:pPr marL="228600" indent="-228600">
              <a:buFont typeface="+mj-lt"/>
              <a:buAutoNum type="arabicPeriod"/>
            </a:pPr>
            <a:r>
              <a:rPr lang="ko-KR" altLang="en-US" dirty="0" smtClean="0"/>
              <a:t>제출하는 날짜 정보 표시</a:t>
            </a:r>
            <a:r>
              <a:rPr lang="en-US" altLang="ko-KR" dirty="0" smtClean="0"/>
              <a:t/>
            </a:r>
            <a:br>
              <a:rPr lang="en-US" altLang="ko-KR" dirty="0" smtClean="0"/>
            </a:br>
            <a:r>
              <a:rPr lang="ko-KR" altLang="en-US" dirty="0" err="1" smtClean="0"/>
              <a:t>공고주체</a:t>
            </a:r>
            <a:r>
              <a:rPr lang="ko-KR" altLang="en-US" dirty="0" smtClean="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입찰포기신청서작성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입찰포기신청서작성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a:latin typeface="+mn-ea"/>
              </a:rPr>
              <a:t>MUI-BD-03-P03</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022293"/>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437819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465811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83185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80" name="타원 79">
            <a:extLst>
              <a:ext uri="{FF2B5EF4-FFF2-40B4-BE49-F238E27FC236}">
                <a16:creationId xmlns:a16="http://schemas.microsoft.com/office/drawing/2014/main" id="{37A7FF4F-0EAA-1463-560A-D5EC24416103}"/>
              </a:ext>
            </a:extLst>
          </p:cNvPr>
          <p:cNvSpPr/>
          <p:nvPr/>
        </p:nvSpPr>
        <p:spPr>
          <a:xfrm>
            <a:off x="3701232" y="50654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81698148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5118062"/>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5352172"/>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4563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sp>
        <p:nvSpPr>
          <p:cNvPr id="8" name="Text Box 73">
            <a:extLst>
              <a:ext uri="{FF2B5EF4-FFF2-40B4-BE49-F238E27FC236}">
                <a16:creationId xmlns:a16="http://schemas.microsoft.com/office/drawing/2014/main" id="{CF2BB7F5-E2DF-3D20-92BA-884705E8C6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49F10F53-A8AD-9ADD-420D-F397D72AC277}"/>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200391417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a:t>
            </a:r>
            <a:r>
              <a:rPr lang="en-US" altLang="ko-KR" dirty="0"/>
              <a:t>(</a:t>
            </a:r>
            <a:r>
              <a:rPr lang="ko-KR" altLang="en-US" dirty="0"/>
              <a:t>견적서</a:t>
            </a:r>
            <a:r>
              <a:rPr lang="en-US" altLang="ko-KR" dirty="0"/>
              <a:t>) </a:t>
            </a:r>
            <a:r>
              <a:rPr lang="ko-KR" altLang="en-US" dirty="0"/>
              <a:t>작성 이후 </a:t>
            </a:r>
            <a:r>
              <a:rPr lang="ko-KR" altLang="en-US" dirty="0" smtClean="0"/>
              <a:t>취소하는 </a:t>
            </a:r>
            <a:r>
              <a:rPr lang="ko-KR" altLang="en-US" dirty="0"/>
              <a:t>화면</a:t>
            </a:r>
            <a:r>
              <a:rPr lang="en-US" altLang="ko-KR" dirty="0"/>
              <a:t/>
            </a:r>
            <a:br>
              <a:rPr lang="en-US" altLang="ko-KR" dirty="0"/>
            </a:br>
            <a:r>
              <a:rPr lang="en-US" altLang="ko-KR" dirty="0"/>
              <a:t>- </a:t>
            </a:r>
            <a:r>
              <a:rPr lang="ko-KR" altLang="en-US" dirty="0"/>
              <a:t>제출하면 되돌릴 수 없음</a:t>
            </a:r>
            <a:r>
              <a:rPr lang="en-US" altLang="ko-KR" dirty="0" smtClean="0"/>
              <a:t>.</a:t>
            </a:r>
          </a:p>
          <a:p>
            <a:pPr marL="228600" indent="-228600">
              <a:buFont typeface="+mj-lt"/>
              <a:buAutoNum type="arabicPeriod"/>
            </a:pPr>
            <a:r>
              <a:rPr lang="ko-KR" altLang="en-US" dirty="0" smtClean="0"/>
              <a:t>입력 영역</a:t>
            </a:r>
            <a:endParaRPr lang="en-US" altLang="ko-KR" dirty="0"/>
          </a:p>
          <a:p>
            <a:pPr marL="228600" indent="-228600">
              <a:buFont typeface="+mj-lt"/>
              <a:buAutoNum type="arabicPeriod"/>
            </a:pPr>
            <a:r>
              <a:rPr lang="ko-KR" altLang="en-US" dirty="0"/>
              <a:t>제출하는 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450391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67469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553280"/>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66" name="타원 65">
            <a:extLst>
              <a:ext uri="{FF2B5EF4-FFF2-40B4-BE49-F238E27FC236}">
                <a16:creationId xmlns:a16="http://schemas.microsoft.com/office/drawing/2014/main" id="{37A7FF4F-0EAA-1463-560A-D5EC24416103}"/>
              </a:ext>
            </a:extLst>
          </p:cNvPr>
          <p:cNvSpPr/>
          <p:nvPr/>
        </p:nvSpPr>
        <p:spPr>
          <a:xfrm>
            <a:off x="3689671" y="49468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7" name="타원 66">
            <a:extLst>
              <a:ext uri="{FF2B5EF4-FFF2-40B4-BE49-F238E27FC236}">
                <a16:creationId xmlns:a16="http://schemas.microsoft.com/office/drawing/2014/main" id="{37A7FF4F-0EAA-1463-560A-D5EC24416103}"/>
              </a:ext>
            </a:extLst>
          </p:cNvPr>
          <p:cNvSpPr/>
          <p:nvPr/>
        </p:nvSpPr>
        <p:spPr>
          <a:xfrm>
            <a:off x="3689671" y="324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48449783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3827144"/>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4061254"/>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73849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dmt_bidRtrcnAplyRsn</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bidRtrcnAplyRsn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입찰취소신청 취소사유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8" name="Text Box 73">
            <a:extLst>
              <a:ext uri="{FF2B5EF4-FFF2-40B4-BE49-F238E27FC236}">
                <a16:creationId xmlns:a16="http://schemas.microsoft.com/office/drawing/2014/main" id="{3BC7F79D-55A4-3267-AD34-4BB9D76D0A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849D03C3-295D-A535-628D-D64D33CAFED4}"/>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1905945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입찰보증금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입찰등록심사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8" name="직사각형 15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3844632" y="1542194"/>
            <a:ext cx="2630093" cy="1607125"/>
            <a:chOff x="3844632" y="3774686"/>
            <a:chExt cx="2630093" cy="1607125"/>
          </a:xfrm>
        </p:grpSpPr>
        <p:sp>
          <p:nvSpPr>
            <p:cNvPr id="196" name="TextBox 195">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97" name="직사각형 196"/>
            <p:cNvSpPr/>
            <p:nvPr/>
          </p:nvSpPr>
          <p:spPr>
            <a:xfrm>
              <a:off x="3846725" y="4082172"/>
              <a:ext cx="792000" cy="12996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08" name="직선 연결선 207">
            <a:extLst>
              <a:ext uri="{FF2B5EF4-FFF2-40B4-BE49-F238E27FC236}">
                <a16:creationId xmlns:a16="http://schemas.microsoft.com/office/drawing/2014/main" id="{E9293055-D5CD-4B9E-7F64-64B2D2CA7A52}"/>
              </a:ext>
            </a:extLst>
          </p:cNvPr>
          <p:cNvCxnSpPr/>
          <p:nvPr/>
        </p:nvCxnSpPr>
        <p:spPr>
          <a:xfrm>
            <a:off x="3795734" y="34414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타원 208">
            <a:extLst>
              <a:ext uri="{FF2B5EF4-FFF2-40B4-BE49-F238E27FC236}">
                <a16:creationId xmlns:a16="http://schemas.microsoft.com/office/drawing/2014/main" id="{37A7FF4F-0EAA-1463-560A-D5EC24416103}"/>
              </a:ext>
            </a:extLst>
          </p:cNvPr>
          <p:cNvSpPr/>
          <p:nvPr/>
        </p:nvSpPr>
        <p:spPr>
          <a:xfrm>
            <a:off x="3711091" y="15708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3" name="그룹 212"/>
          <p:cNvGrpSpPr/>
          <p:nvPr/>
        </p:nvGrpSpPr>
        <p:grpSpPr>
          <a:xfrm>
            <a:off x="3844632" y="3513742"/>
            <a:ext cx="2630093" cy="1182047"/>
            <a:chOff x="3844632" y="3774686"/>
            <a:chExt cx="2630093" cy="1182047"/>
          </a:xfrm>
        </p:grpSpPr>
        <p:sp>
          <p:nvSpPr>
            <p:cNvPr id="214" name="TextBox 213">
              <a:extLst>
                <a:ext uri="{FF2B5EF4-FFF2-40B4-BE49-F238E27FC236}">
                  <a16:creationId xmlns:a16="http://schemas.microsoft.com/office/drawing/2014/main" id="{FFC49AEA-2A8F-250C-A86A-A7751D9706C3}"/>
                </a:ext>
              </a:extLst>
            </p:cNvPr>
            <p:cNvSpPr txBox="1"/>
            <p:nvPr/>
          </p:nvSpPr>
          <p:spPr>
            <a:xfrm>
              <a:off x="3905603" y="3774686"/>
              <a:ext cx="1586887"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215" name="직사각형 214"/>
            <p:cNvSpPr/>
            <p:nvPr/>
          </p:nvSpPr>
          <p:spPr>
            <a:xfrm>
              <a:off x="3846725" y="4082171"/>
              <a:ext cx="792000" cy="874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933789" y="4082171"/>
              <a:ext cx="756848" cy="861774"/>
            </a:xfrm>
            <a:prstGeom prst="rect">
              <a:avLst/>
            </a:prstGeom>
            <a:noFill/>
          </p:spPr>
          <p:txBody>
            <a:bodyPr wrap="square" lIns="0" tIns="0" rIns="0" bIns="0" rtlCol="0">
              <a:spAutoFit/>
            </a:bodyPr>
            <a:lstStyle/>
            <a:p>
              <a:pPr>
                <a:lnSpc>
                  <a:spcPct val="200000"/>
                </a:lnSpc>
              </a:pPr>
              <a:r>
                <a:rPr lang="ko-KR" altLang="en-US" sz="700" dirty="0">
                  <a:latin typeface="+mn-ea"/>
                </a:rPr>
                <a:t>보증금납부방법</a:t>
              </a:r>
              <a:endParaRPr lang="en-US" altLang="ko-KR" sz="700" dirty="0">
                <a:latin typeface="+mn-ea"/>
              </a:endParaRPr>
            </a:p>
            <a:p>
              <a:pPr>
                <a:lnSpc>
                  <a:spcPct val="200000"/>
                </a:lnSpc>
              </a:pPr>
              <a:r>
                <a:rPr lang="ko-KR" altLang="en-US" sz="700" dirty="0">
                  <a:latin typeface="+mn-ea"/>
                </a:rPr>
                <a:t>보증금면제사유</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4690637" y="4082171"/>
              <a:ext cx="1784088" cy="861774"/>
            </a:xfrm>
            <a:prstGeom prst="rect">
              <a:avLst/>
            </a:prstGeom>
            <a:noFill/>
          </p:spPr>
          <p:txBody>
            <a:bodyPr wrap="square" lIns="0" tIns="0" rIns="0" bIns="0" rtlCol="0">
              <a:spAutoFit/>
            </a:bodyPr>
            <a:lstStyle/>
            <a:p>
              <a:pPr>
                <a:lnSpc>
                  <a:spcPct val="200000"/>
                </a:lnSpc>
              </a:pPr>
              <a:r>
                <a:rPr lang="ko-KR" altLang="en-US" sz="700" dirty="0">
                  <a:latin typeface="+mn-ea"/>
                </a:rPr>
                <a:t>납부방법 표시</a:t>
              </a:r>
              <a:endParaRPr lang="en-US" altLang="ko-KR" sz="700" dirty="0">
                <a:latin typeface="+mn-ea"/>
              </a:endParaRPr>
            </a:p>
            <a:p>
              <a:pPr>
                <a:lnSpc>
                  <a:spcPct val="200000"/>
                </a:lnSpc>
              </a:pPr>
              <a:r>
                <a:rPr lang="ko-KR" altLang="en-US" sz="700" dirty="0">
                  <a:latin typeface="+mn-ea"/>
                </a:rPr>
                <a:t>면제사유 표시</a:t>
              </a:r>
              <a:endParaRPr lang="en-US" altLang="ko-KR" sz="700" dirty="0">
                <a:latin typeface="+mn-ea"/>
              </a:endParaRPr>
            </a:p>
            <a:p>
              <a:pPr algn="r">
                <a:lnSpc>
                  <a:spcPct val="200000"/>
                </a:lnSpc>
              </a:pPr>
              <a:r>
                <a:rPr lang="en-US" altLang="ko-KR" sz="700" dirty="0">
                  <a:latin typeface="+mn-ea"/>
                </a:rPr>
                <a:t>000,000,000,000</a:t>
              </a:r>
              <a:r>
                <a:rPr lang="ko-KR" altLang="en-US" sz="700" dirty="0">
                  <a:latin typeface="+mn-ea"/>
                </a:rPr>
                <a:t> 원</a:t>
              </a:r>
              <a:endParaRPr lang="en-US" altLang="ko-KR" sz="700" dirty="0">
                <a:latin typeface="+mn-ea"/>
              </a:endParaRPr>
            </a:p>
            <a:p>
              <a:pPr>
                <a:lnSpc>
                  <a:spcPct val="200000"/>
                </a:lnSpc>
              </a:pPr>
              <a:r>
                <a:rPr lang="en-US" altLang="ko-KR" sz="700" dirty="0">
                  <a:latin typeface="+mn-ea"/>
                </a:rPr>
                <a:t>0000 0000 0000</a:t>
              </a: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6725" y="4956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2" name="타원 221">
            <a:extLst>
              <a:ext uri="{FF2B5EF4-FFF2-40B4-BE49-F238E27FC236}">
                <a16:creationId xmlns:a16="http://schemas.microsoft.com/office/drawing/2014/main" id="{37A7FF4F-0EAA-1463-560A-D5EC24416103}"/>
              </a:ext>
            </a:extLst>
          </p:cNvPr>
          <p:cNvSpPr/>
          <p:nvPr/>
        </p:nvSpPr>
        <p:spPr>
          <a:xfrm>
            <a:off x="3711091" y="355197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23" name="모서리가 둥근 직사각형 222"/>
          <p:cNvSpPr/>
          <p:nvPr/>
        </p:nvSpPr>
        <p:spPr>
          <a:xfrm rot="5400000">
            <a:off x="5782577"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795734" y="48034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6" name="그룹 85"/>
          <p:cNvGrpSpPr/>
          <p:nvPr/>
        </p:nvGrpSpPr>
        <p:grpSpPr>
          <a:xfrm>
            <a:off x="8223250" y="569392"/>
            <a:ext cx="3365500" cy="634511"/>
            <a:chOff x="8223250" y="569392"/>
            <a:chExt cx="3365500" cy="634511"/>
          </a:xfrm>
        </p:grpSpPr>
        <p:sp>
          <p:nvSpPr>
            <p:cNvPr id="87" name="직사각형 8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8" name="직사각형 8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8730343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공동수급협정 </a:t>
            </a:r>
            <a:r>
              <a:rPr lang="ko-KR" altLang="en-US" dirty="0" err="1"/>
              <a:t>업체명</a:t>
            </a:r>
            <a:r>
              <a:rPr lang="en-US" altLang="ko-KR" dirty="0"/>
              <a:t>, </a:t>
            </a:r>
            <a:r>
              <a:rPr lang="ko-KR" altLang="en-US" dirty="0"/>
              <a:t>출자비율 표시</a:t>
            </a:r>
            <a:endParaRPr lang="en-US" altLang="ko-KR" dirty="0"/>
          </a:p>
          <a:p>
            <a:pPr marL="228600" indent="-228600">
              <a:buFont typeface="+mj-lt"/>
              <a:buAutoNum type="arabicPeriod"/>
            </a:pPr>
            <a:r>
              <a:rPr lang="ko-KR" altLang="en-US" dirty="0" err="1"/>
              <a:t>등록결과</a:t>
            </a:r>
            <a:r>
              <a:rPr lang="ko-KR" altLang="en-US" dirty="0"/>
              <a:t>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MUI-BD-03-M05</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65784" y="156194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공동수급협정</a:t>
            </a:r>
          </a:p>
        </p:txBody>
      </p:sp>
      <p:sp>
        <p:nvSpPr>
          <p:cNvPr id="118" name="모서리가 둥근 직사각형 117"/>
          <p:cNvSpPr/>
          <p:nvPr/>
        </p:nvSpPr>
        <p:spPr>
          <a:xfrm>
            <a:off x="719254" y="196033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1219922" y="203485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97450" y="2088714"/>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대표</a:t>
            </a:r>
            <a:endParaRPr lang="en-US" altLang="ko-KR" sz="700" dirty="0">
              <a:solidFill>
                <a:schemeClr val="tx1">
                  <a:lumMod val="85000"/>
                  <a:lumOff val="15000"/>
                </a:schemeClr>
              </a:solidFill>
              <a:latin typeface="맑은 고딕" panose="020B0503020000020004" pitchFamily="50" charset="-127"/>
            </a:endParaRPr>
          </a:p>
        </p:txBody>
      </p:sp>
      <p:sp>
        <p:nvSpPr>
          <p:cNvPr id="132" name="모서리가 둥근 직사각형 131"/>
          <p:cNvSpPr/>
          <p:nvPr/>
        </p:nvSpPr>
        <p:spPr>
          <a:xfrm>
            <a:off x="719254" y="23670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1219922" y="24415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797450" y="2495400"/>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구성</a:t>
            </a:r>
            <a:endParaRPr lang="en-US" altLang="ko-KR" sz="7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1219922" y="182521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업체명</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2961180" y="182521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출자비율</a:t>
            </a:r>
            <a:endParaRPr lang="en-US" altLang="ko-KR" sz="6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726018" y="1825214"/>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구분</a:t>
            </a:r>
            <a:endParaRPr lang="en-US" altLang="ko-KR" sz="600" dirty="0">
              <a:solidFill>
                <a:schemeClr val="tx1">
                  <a:lumMod val="85000"/>
                  <a:lumOff val="15000"/>
                </a:schemeClr>
              </a:solidFill>
              <a:latin typeface="맑은 고딕" panose="020B0503020000020004" pitchFamily="50" charset="-127"/>
            </a:endParaRPr>
          </a:p>
        </p:txBody>
      </p:sp>
      <p:cxnSp>
        <p:nvCxnSpPr>
          <p:cNvPr id="195" name="직선 연결선 194">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7" name="타원 196">
            <a:extLst>
              <a:ext uri="{FF2B5EF4-FFF2-40B4-BE49-F238E27FC236}">
                <a16:creationId xmlns:a16="http://schemas.microsoft.com/office/drawing/2014/main" id="{37A7FF4F-0EAA-1463-560A-D5EC24416103}"/>
              </a:ext>
            </a:extLst>
          </p:cNvPr>
          <p:cNvSpPr/>
          <p:nvPr/>
        </p:nvSpPr>
        <p:spPr>
          <a:xfrm>
            <a:off x="598795" y="16074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99" name="그룹 198"/>
          <p:cNvGrpSpPr/>
          <p:nvPr/>
        </p:nvGrpSpPr>
        <p:grpSpPr>
          <a:xfrm>
            <a:off x="732336" y="2902235"/>
            <a:ext cx="2630093" cy="978170"/>
            <a:chOff x="3844632" y="3774686"/>
            <a:chExt cx="2630093" cy="978170"/>
          </a:xfrm>
        </p:grpSpPr>
        <p:sp>
          <p:nvSpPr>
            <p:cNvPr id="200" name="TextBox 199">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201" name="직사각형 200"/>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등록확정여부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4690637" y="4082171"/>
              <a:ext cx="1784088" cy="612027"/>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타원 207">
            <a:extLst>
              <a:ext uri="{FF2B5EF4-FFF2-40B4-BE49-F238E27FC236}">
                <a16:creationId xmlns:a16="http://schemas.microsoft.com/office/drawing/2014/main" id="{37A7FF4F-0EAA-1463-560A-D5EC24416103}"/>
              </a:ext>
            </a:extLst>
          </p:cNvPr>
          <p:cNvSpPr/>
          <p:nvPr/>
        </p:nvSpPr>
        <p:spPr>
          <a:xfrm>
            <a:off x="598795" y="29455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9" name="모서리가 둥근 직사각형 208"/>
          <p:cNvSpPr/>
          <p:nvPr/>
        </p:nvSpPr>
        <p:spPr>
          <a:xfrm rot="5400000">
            <a:off x="2670281"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984263" y="208871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60 %</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984263" y="249140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40 %</a:t>
            </a:r>
          </a:p>
        </p:txBody>
      </p:sp>
    </p:spTree>
    <p:extLst>
      <p:ext uri="{BB962C8B-B14F-4D97-AF65-F5344CB8AC3E}">
        <p14:creationId xmlns:p14="http://schemas.microsoft.com/office/powerpoint/2010/main" val="388062317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40292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61541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9BFB27AC-54AB-B3AC-0730-391BA5D8290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83949D16-7F33-F36B-A7EF-B897AB02630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4896768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03132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보증금면제사유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:ERGA</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243818"/>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공동수급업체설정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대표</a:t>
                      </a:r>
                      <a:r>
                        <a:rPr lang="en-US" altLang="ko-KR" sz="800" dirty="0">
                          <a:latin typeface="+mn-ea"/>
                          <a:ea typeface="+mn-ea"/>
                        </a:rPr>
                        <a:t>, </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:UB13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출자비율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3286393"/>
            <a:ext cx="2669568"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등록결과 데이터 영역 </a:t>
            </a:r>
            <a:r>
              <a:rPr lang="en-US" altLang="ko-KR" sz="900" b="1" dirty="0">
                <a:solidFill>
                  <a:prstClr val="black"/>
                </a:solidFill>
              </a:rPr>
              <a:t>(</a:t>
            </a:r>
            <a:r>
              <a:rPr lang="en-US" altLang="ko-KR" sz="900" b="1" dirty="0" err="1">
                <a:solidFill>
                  <a:prstClr val="black"/>
                </a:solidFill>
              </a:rPr>
              <a:t>dmt_bidRegSrngRslt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3498884"/>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등록확정여부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bidRegCfmtnYn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입찰등록확정여부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bidRegImpsRsn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등록불가인 경우 입찰등록불가사유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등록확정일시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등록확정인 경우 </a:t>
                      </a:r>
                      <a:r>
                        <a:rPr lang="ko-KR" altLang="en-US" sz="800" dirty="0" err="1">
                          <a:latin typeface="+mn-ea"/>
                          <a:ea typeface="+mn-ea"/>
                        </a:rPr>
                        <a:t>입찰등록확정일시</a:t>
                      </a:r>
                      <a:r>
                        <a:rPr lang="ko-KR" altLang="en-US" sz="800" dirty="0">
                          <a:latin typeface="+mn-ea"/>
                          <a:ea typeface="+mn-ea"/>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9" name="Text Box 73">
            <a:extLst>
              <a:ext uri="{FF2B5EF4-FFF2-40B4-BE49-F238E27FC236}">
                <a16:creationId xmlns:a16="http://schemas.microsoft.com/office/drawing/2014/main" id="{A80B7376-B3E4-03C3-D724-E776D8A21F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2F370640-7818-D7DD-8684-CAF5EEC34E9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376814834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80</a:t>
            </a:fld>
            <a:endParaRPr lang="ko-KR" altLang="en-US" dirty="0"/>
          </a:p>
        </p:txBody>
      </p:sp>
      <p:sp>
        <p:nvSpPr>
          <p:cNvPr id="2" name="TextBox 1">
            <a:extLst>
              <a:ext uri="{FF2B5EF4-FFF2-40B4-BE49-F238E27FC236}">
                <a16:creationId xmlns:a16="http://schemas.microsoft.com/office/drawing/2014/main" id="{769272C9-4DC2-7CDF-03D2-31A9053C5F88}"/>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6CC12831-F7E6-2592-CB01-850C9650B7E6}"/>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입찰참가신청서</a:t>
                      </a:r>
                      <a:r>
                        <a:rPr lang="en-US" altLang="ko-KR" sz="800" dirty="0">
                          <a:latin typeface="+mn-ea"/>
                          <a:ea typeface="+mn-ea"/>
                        </a:rPr>
                        <a:t>, </a:t>
                      </a:r>
                      <a:r>
                        <a:rPr lang="ko-KR" altLang="en-US" sz="800" dirty="0">
                          <a:latin typeface="+mn-ea"/>
                          <a:ea typeface="+mn-ea"/>
                        </a:rPr>
                        <a:t>입찰등록심사결과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입찰등록심사결과조회</a:t>
                      </a:r>
                      <a:r>
                        <a:rPr lang="ko-KR" altLang="en-US" sz="800" dirty="0">
                          <a:latin typeface="+mn-ea"/>
                          <a:ea typeface="+mn-ea"/>
                        </a:rPr>
                        <a:t>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0" name="Text Box 73">
            <a:extLst>
              <a:ext uri="{FF2B5EF4-FFF2-40B4-BE49-F238E27FC236}">
                <a16:creationId xmlns:a16="http://schemas.microsoft.com/office/drawing/2014/main" id="{885BC312-108F-5D55-F06B-B05A95D67BCE}"/>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956028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a:t>- </a:t>
            </a:r>
            <a:r>
              <a:rPr lang="ko-KR" altLang="en-US" dirty="0"/>
              <a:t>사전심사 결과가 나오기 전에는 내용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사전심사</a:t>
            </a:r>
            <a:r>
              <a:rPr lang="en-US" altLang="ko-KR" dirty="0" smtClean="0">
                <a:latin typeface="+mn-ea"/>
              </a:rPr>
              <a:t>(PQ)</a:t>
            </a:r>
            <a:r>
              <a:rPr lang="ko-KR" altLang="en-US" dirty="0" smtClean="0">
                <a:latin typeface="+mn-ea"/>
              </a:rPr>
              <a:t>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smtClean="0">
                <a:latin typeface="+mn-ea"/>
              </a:rPr>
              <a:t>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MUI-BD-02-M02</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54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101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5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30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3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37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414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62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62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62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58162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10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960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382798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390250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39563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6" name="타원 105"/>
          <p:cNvSpPr/>
          <p:nvPr/>
        </p:nvSpPr>
        <p:spPr>
          <a:xfrm>
            <a:off x="6163960" y="393823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3831550" y="423467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30919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36305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0" name="타원 109"/>
          <p:cNvSpPr/>
          <p:nvPr/>
        </p:nvSpPr>
        <p:spPr>
          <a:xfrm>
            <a:off x="6163960" y="434491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69287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3476" y="3692870"/>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69287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1534455"/>
            <a:ext cx="2630093" cy="1618316"/>
            <a:chOff x="3844632" y="3774686"/>
            <a:chExt cx="2630093" cy="1618316"/>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3108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7700" y="296415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331462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4697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타원 143">
            <a:extLst>
              <a:ext uri="{FF2B5EF4-FFF2-40B4-BE49-F238E27FC236}">
                <a16:creationId xmlns:a16="http://schemas.microsoft.com/office/drawing/2014/main" id="{37A7FF4F-0EAA-1463-560A-D5EC24416103}"/>
              </a:ext>
            </a:extLst>
          </p:cNvPr>
          <p:cNvSpPr/>
          <p:nvPr/>
        </p:nvSpPr>
        <p:spPr>
          <a:xfrm>
            <a:off x="3711091" y="15631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750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4114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4769891"/>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99</a:t>
              </a:r>
            </a:p>
            <a:p>
              <a:pPr>
                <a:lnSpc>
                  <a:spcPct val="200000"/>
                </a:lnSpc>
              </a:pPr>
              <a:r>
                <a:rPr lang="ko-KR" altLang="en-US" sz="700" dirty="0">
                  <a:latin typeface="+mn-ea"/>
                </a:rPr>
                <a:t>합격</a:t>
              </a:r>
              <a:endParaRPr lang="en-US" altLang="ko-KR" sz="700" dirty="0">
                <a:latin typeface="+mn-ea"/>
              </a:endParaRPr>
            </a:p>
            <a:p>
              <a:pPr>
                <a:lnSpc>
                  <a:spcPct val="200000"/>
                </a:lnSpc>
              </a:pPr>
              <a:r>
                <a:rPr lang="en-US" altLang="ko-KR" sz="700" dirty="0">
                  <a:latin typeface="+mn-ea"/>
                </a:rPr>
                <a:t>2025-12-24 10:30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타원 146">
            <a:extLst>
              <a:ext uri="{FF2B5EF4-FFF2-40B4-BE49-F238E27FC236}">
                <a16:creationId xmlns:a16="http://schemas.microsoft.com/office/drawing/2014/main" id="{37A7FF4F-0EAA-1463-560A-D5EC24416103}"/>
              </a:ext>
            </a:extLst>
          </p:cNvPr>
          <p:cNvSpPr/>
          <p:nvPr/>
        </p:nvSpPr>
        <p:spPr>
          <a:xfrm>
            <a:off x="3711091" y="50446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358" name="모서리가 둥근 직사각형 357"/>
          <p:cNvSpPr/>
          <p:nvPr/>
        </p:nvSpPr>
        <p:spPr>
          <a:xfrm rot="5400000">
            <a:off x="5782577" y="48944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0" name="그룹 129"/>
          <p:cNvGrpSpPr/>
          <p:nvPr/>
        </p:nvGrpSpPr>
        <p:grpSpPr>
          <a:xfrm>
            <a:off x="8223250" y="569392"/>
            <a:ext cx="3365500" cy="634511"/>
            <a:chOff x="8223250" y="569392"/>
            <a:chExt cx="3365500" cy="634511"/>
          </a:xfrm>
        </p:grpSpPr>
        <p:sp>
          <p:nvSpPr>
            <p:cNvPr id="132" name="직사각형 13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40" name="직사각형 13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94" name="그룹 93"/>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사전심사</a:t>
              </a:r>
              <a:r>
                <a:rPr lang="en-US" altLang="ko-KR" sz="800" dirty="0" smtClean="0">
                  <a:latin typeface="+mn-ea"/>
                </a:rPr>
                <a:t>(PQ)</a:t>
              </a:r>
              <a:r>
                <a:rPr lang="ko-KR" altLang="en-US" sz="800" dirty="0" smtClean="0">
                  <a:latin typeface="+mn-ea"/>
                </a:rPr>
                <a:t> 결과</a:t>
              </a:r>
              <a:endParaRPr lang="ko-KR" altLang="en-US" sz="8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8" name="그룹 127"/>
            <p:cNvGrpSpPr/>
            <p:nvPr/>
          </p:nvGrpSpPr>
          <p:grpSpPr>
            <a:xfrm rot="5400000">
              <a:off x="852159" y="2062596"/>
              <a:ext cx="94010" cy="47005"/>
              <a:chOff x="6812560" y="3297172"/>
              <a:chExt cx="94010" cy="47005"/>
            </a:xfrm>
          </p:grpSpPr>
          <p:cxnSp>
            <p:nvCxnSpPr>
              <p:cNvPr id="152" name="직선 연결선 1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9" name="그룹 128"/>
            <p:cNvGrpSpPr/>
            <p:nvPr/>
          </p:nvGrpSpPr>
          <p:grpSpPr>
            <a:xfrm>
              <a:off x="677960" y="1582647"/>
              <a:ext cx="2712027" cy="324286"/>
              <a:chOff x="677960" y="1582647"/>
              <a:chExt cx="2712027" cy="324286"/>
            </a:xfrm>
          </p:grpSpPr>
          <p:pic>
            <p:nvPicPr>
              <p:cNvPr id="13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타원 147"/>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타원 149"/>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06136542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40312482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83</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66161598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84</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사전심사신청상세</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35549156"/>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기술평가결과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smtClean="0">
                <a:latin typeface="+mn-ea"/>
              </a:rPr>
              <a:t>기술평가결과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smtClean="0">
                <a:latin typeface="+mn-ea"/>
              </a:rPr>
              <a:t>기술평가결과</a:t>
            </a:r>
            <a:endParaRPr lang="ko-KR" altLang="en-US" sz="9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66" name="그룹 165"/>
          <p:cNvGrpSpPr/>
          <p:nvPr/>
        </p:nvGrpSpPr>
        <p:grpSpPr>
          <a:xfrm>
            <a:off x="720139" y="3827499"/>
            <a:ext cx="2630093" cy="1923567"/>
            <a:chOff x="701175" y="1835481"/>
            <a:chExt cx="2630093" cy="1923567"/>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5734" y="5614711"/>
            <a:ext cx="2712027" cy="617588"/>
            <a:chOff x="675399" y="5614711"/>
            <a:chExt cx="2712027" cy="617588"/>
          </a:xfrm>
        </p:grpSpPr>
        <p:sp>
          <p:nvSpPr>
            <p:cNvPr id="102" name="직사각형 1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5745391"/>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sp>
        <p:nvSpPr>
          <p:cNvPr id="125" name="직사각형 12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7" name="그룹 126">
            <a:extLst>
              <a:ext uri="{FF2B5EF4-FFF2-40B4-BE49-F238E27FC236}">
                <a16:creationId xmlns:a16="http://schemas.microsoft.com/office/drawing/2014/main" id="{22BC05EE-C648-7CA2-4CCC-6E1C1A7E9BDA}"/>
              </a:ext>
            </a:extLst>
          </p:cNvPr>
          <p:cNvGrpSpPr/>
          <p:nvPr/>
        </p:nvGrpSpPr>
        <p:grpSpPr>
          <a:xfrm>
            <a:off x="5132807" y="4639202"/>
            <a:ext cx="76863" cy="292489"/>
            <a:chOff x="3750067" y="4683795"/>
            <a:chExt cx="76863" cy="292489"/>
          </a:xfrm>
        </p:grpSpPr>
        <p:sp>
          <p:nvSpPr>
            <p:cNvPr id="131" name="타원 13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3" name="타원 13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4" name="타원 13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38" name="사각형: 둥근 모서리 15">
            <a:extLst>
              <a:ext uri="{FF2B5EF4-FFF2-40B4-BE49-F238E27FC236}">
                <a16:creationId xmlns:a16="http://schemas.microsoft.com/office/drawing/2014/main" id="{E2B61CFB-AD16-68D0-8752-50D9C5E01971}"/>
              </a:ext>
            </a:extLst>
          </p:cNvPr>
          <p:cNvSpPr/>
          <p:nvPr/>
        </p:nvSpPr>
        <p:spPr>
          <a:xfrm>
            <a:off x="3843514" y="510353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39" name="직사각형 138"/>
          <p:cNvSpPr/>
          <p:nvPr/>
        </p:nvSpPr>
        <p:spPr>
          <a:xfrm>
            <a:off x="3842214" y="2567366"/>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9276" y="2567366"/>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4686126" y="2567366"/>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45" name="그룹 144"/>
          <p:cNvGrpSpPr/>
          <p:nvPr/>
        </p:nvGrpSpPr>
        <p:grpSpPr>
          <a:xfrm>
            <a:off x="3840121" y="2567366"/>
            <a:ext cx="2630093" cy="1923567"/>
            <a:chOff x="701175" y="1835481"/>
            <a:chExt cx="2630093" cy="1923567"/>
          </a:xfrm>
        </p:grpSpPr>
        <p:cxnSp>
          <p:nvCxnSpPr>
            <p:cNvPr id="147" name="직선 연결선 14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8" name="양쪽 모서리가 둥근 사각형 187"/>
          <p:cNvSpPr/>
          <p:nvPr/>
        </p:nvSpPr>
        <p:spPr>
          <a:xfrm>
            <a:off x="3804197"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9" name="모서리가 둥근 직사각형 188"/>
          <p:cNvSpPr/>
          <p:nvPr/>
        </p:nvSpPr>
        <p:spPr>
          <a:xfrm>
            <a:off x="4890210"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0" name="그룹 189"/>
          <p:cNvGrpSpPr/>
          <p:nvPr/>
        </p:nvGrpSpPr>
        <p:grpSpPr>
          <a:xfrm>
            <a:off x="6293136" y="2273335"/>
            <a:ext cx="94010" cy="94010"/>
            <a:chOff x="6812560" y="3297172"/>
            <a:chExt cx="94010" cy="94010"/>
          </a:xfrm>
        </p:grpSpPr>
        <p:cxnSp>
          <p:nvCxnSpPr>
            <p:cNvPr id="191" name="직선 연결선 19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2" name="직선 연결선 19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933274" y="2254014"/>
            <a:ext cx="1798758" cy="138499"/>
          </a:xfrm>
          <a:prstGeom prst="rect">
            <a:avLst/>
          </a:prstGeom>
          <a:noFill/>
        </p:spPr>
        <p:txBody>
          <a:bodyPr wrap="square" lIns="0" tIns="0" rIns="0" bIns="0" rtlCol="0">
            <a:spAutoFit/>
          </a:bodyPr>
          <a:lstStyle/>
          <a:p>
            <a:r>
              <a:rPr lang="ko-KR" altLang="en-US" sz="900" dirty="0" smtClean="0">
                <a:latin typeface="+mn-ea"/>
              </a:rPr>
              <a:t>기술평가결과</a:t>
            </a:r>
            <a:endParaRPr lang="ko-KR" altLang="en-US" sz="9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04197"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624695356"/>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7" name="TextBox 6">
            <a:extLst>
              <a:ext uri="{FF2B5EF4-FFF2-40B4-BE49-F238E27FC236}">
                <a16:creationId xmlns:a16="http://schemas.microsoft.com/office/drawing/2014/main" id="{670C8401-924A-5371-0F87-C9E2F69E0022}"/>
              </a:ext>
            </a:extLst>
          </p:cNvPr>
          <p:cNvSpPr txBox="1"/>
          <p:nvPr/>
        </p:nvSpPr>
        <p:spPr>
          <a:xfrm>
            <a:off x="453829" y="4433877"/>
            <a:ext cx="2700025" cy="211203"/>
          </a:xfrm>
          <a:prstGeom prst="rect">
            <a:avLst/>
          </a:prstGeom>
          <a:noFill/>
        </p:spPr>
        <p:txBody>
          <a:bodyPr wrap="none" lIns="36000" tIns="36000" rIns="36000" bIns="36000" rtlCol="0">
            <a:spAutoFit/>
          </a:bodyPr>
          <a:lstStyle/>
          <a:p>
            <a:r>
              <a:rPr lang="en-US" altLang="ko-KR" sz="900" b="1" dirty="0">
                <a:solidFill>
                  <a:prstClr val="black"/>
                </a:solidFill>
              </a:rPr>
              <a:t>1.</a:t>
            </a:r>
            <a:r>
              <a:rPr lang="ko-KR" altLang="en-US" sz="900" b="1" dirty="0">
                <a:solidFill>
                  <a:prstClr val="black"/>
                </a:solidFill>
              </a:rPr>
              <a:t>３</a:t>
            </a:r>
            <a:r>
              <a:rPr lang="en-US" altLang="ko-KR" sz="900" b="1" dirty="0">
                <a:solidFill>
                  <a:prstClr val="black"/>
                </a:solidFill>
              </a:rPr>
              <a:t>. </a:t>
            </a:r>
            <a:r>
              <a:rPr lang="ko-KR" altLang="en-US" sz="900" b="1" dirty="0">
                <a:solidFill>
                  <a:prstClr val="black"/>
                </a:solidFill>
              </a:rPr>
              <a:t>기술평가결과 데이터 영역 </a:t>
            </a:r>
            <a:r>
              <a:rPr lang="en-US" altLang="ko-KR" sz="900" b="1" dirty="0">
                <a:solidFill>
                  <a:prstClr val="black"/>
                </a:solidFill>
              </a:rPr>
              <a:t>(</a:t>
            </a:r>
            <a:r>
              <a:rPr lang="en-US" altLang="ko-KR" sz="900" b="1" dirty="0" err="1">
                <a:solidFill>
                  <a:prstClr val="black"/>
                </a:solidFill>
              </a:rPr>
              <a:t>dmt_techEvlRslt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F2A930D0-DA63-4992-CA95-E67E946F7E43}"/>
              </a:ext>
            </a:extLst>
          </p:cNvPr>
          <p:cNvGraphicFramePr>
            <a:graphicFrameLocks noGrp="1"/>
          </p:cNvGraphicFramePr>
          <p:nvPr/>
        </p:nvGraphicFramePr>
        <p:xfrm>
          <a:off x="452290" y="4646368"/>
          <a:ext cx="8995589" cy="58176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techEvlPasYn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기술평가통과여부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10" name="TextBox 9">
            <a:extLst>
              <a:ext uri="{FF2B5EF4-FFF2-40B4-BE49-F238E27FC236}">
                <a16:creationId xmlns:a16="http://schemas.microsoft.com/office/drawing/2014/main" id="{AFC191B0-9002-6F6F-0B28-C27403F5F797}"/>
              </a:ext>
            </a:extLst>
          </p:cNvPr>
          <p:cNvSpPr txBox="1"/>
          <p:nvPr/>
        </p:nvSpPr>
        <p:spPr>
          <a:xfrm>
            <a:off x="452291" y="5413897"/>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11" name="표 10">
            <a:extLst>
              <a:ext uri="{FF2B5EF4-FFF2-40B4-BE49-F238E27FC236}">
                <a16:creationId xmlns:a16="http://schemas.microsoft.com/office/drawing/2014/main" id="{20E495AB-10C0-2FDB-F956-51304922B582}"/>
              </a:ext>
            </a:extLst>
          </p:cNvPr>
          <p:cNvGraphicFramePr>
            <a:graphicFrameLocks noGrp="1"/>
          </p:cNvGraphicFramePr>
          <p:nvPr/>
        </p:nvGraphicFramePr>
        <p:xfrm>
          <a:off x="452292" y="5648009"/>
          <a:ext cx="8996300" cy="70368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990108"/>
                  </a:ext>
                </a:extLst>
              </a:tr>
            </a:tbl>
          </a:graphicData>
        </a:graphic>
      </p:graphicFrame>
      <p:sp>
        <p:nvSpPr>
          <p:cNvPr id="4" name="Text Box 73">
            <a:extLst>
              <a:ext uri="{FF2B5EF4-FFF2-40B4-BE49-F238E27FC236}">
                <a16:creationId xmlns:a16="http://schemas.microsoft.com/office/drawing/2014/main" id="{0AA3DA4A-54C6-CDA6-E109-EF5C503E6DE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9A9BF7-5C75-69E5-A015-1A27D1328042}"/>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35919496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생산능력서류 제출</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생산능력서류 제출</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생산능력서류 제출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MUI-BD-03-P06</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12043"/>
            <a:ext cx="2712027" cy="4629826"/>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4244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76857"/>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7536"/>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89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82749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68989"/>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69316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76768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82154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509985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517437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522823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4257533"/>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55804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5804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55804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520465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2030017"/>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74127" y="4787861"/>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88" name="그룹 87"/>
          <p:cNvGrpSpPr/>
          <p:nvPr/>
        </p:nvGrpSpPr>
        <p:grpSpPr>
          <a:xfrm>
            <a:off x="8223250" y="569392"/>
            <a:ext cx="3365500" cy="634511"/>
            <a:chOff x="8223250" y="569392"/>
            <a:chExt cx="3365500" cy="634511"/>
          </a:xfrm>
        </p:grpSpPr>
        <p:sp>
          <p:nvSpPr>
            <p:cNvPr id="90" name="직사각형 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5734" y="37011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7764969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123AF279-9584-E5FA-4D97-5D2B41ECDDC5}"/>
              </a:ext>
            </a:extLst>
          </p:cNvPr>
          <p:cNvSpPr txBox="1"/>
          <p:nvPr/>
        </p:nvSpPr>
        <p:spPr>
          <a:xfrm>
            <a:off x="453830" y="5205534"/>
            <a:ext cx="349351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생산능력서류 첨부파일 데이터 영역 </a:t>
            </a:r>
            <a:r>
              <a:rPr lang="en-US" altLang="ko-KR" sz="900" b="1" dirty="0">
                <a:solidFill>
                  <a:prstClr val="black"/>
                </a:solidFill>
              </a:rPr>
              <a:t>(</a:t>
            </a:r>
            <a:r>
              <a:rPr lang="en-US" altLang="ko-KR" sz="900" b="1" dirty="0" err="1">
                <a:solidFill>
                  <a:prstClr val="black"/>
                </a:solidFill>
              </a:rPr>
              <a:t>dlt_prdcpAtchFileList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A4ABA1CF-D2B3-505A-0E66-4350E82C73EC}"/>
              </a:ext>
            </a:extLst>
          </p:cNvPr>
          <p:cNvGraphicFramePr>
            <a:graphicFrameLocks noGrp="1"/>
          </p:cNvGraphicFramePr>
          <p:nvPr/>
        </p:nvGraphicFramePr>
        <p:xfrm>
          <a:off x="452291" y="5418025"/>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410107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F595C776-3D87-0A73-ADF3-0DC0B66A12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7F83E209-09E8-F9DE-57BF-7064471EEF05}"/>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9393862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89</a:t>
            </a:fld>
            <a:endParaRPr lang="ko-KR" altLang="en-US" dirty="0"/>
          </a:p>
        </p:txBody>
      </p:sp>
      <p:sp>
        <p:nvSpPr>
          <p:cNvPr id="2" name="TextBox 1">
            <a:extLst>
              <a:ext uri="{FF2B5EF4-FFF2-40B4-BE49-F238E27FC236}">
                <a16:creationId xmlns:a16="http://schemas.microsoft.com/office/drawing/2014/main" id="{DDA49C32-F6E2-9483-5ED4-B2B17A483DC0}"/>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7BD21460-3155-D6D5-A052-699C456EDC16}"/>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생산능력서류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2402367"/>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Text Box 73">
            <a:extLst>
              <a:ext uri="{FF2B5EF4-FFF2-40B4-BE49-F238E27FC236}">
                <a16:creationId xmlns:a16="http://schemas.microsoft.com/office/drawing/2014/main" id="{C7861A2A-97DA-F161-CE03-F5FD4A5804C1}"/>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623786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a:t>
            </a:r>
            <a:r>
              <a:rPr lang="en-US" altLang="ko-KR" dirty="0" smtClean="0"/>
              <a:t> </a:t>
            </a:r>
            <a:r>
              <a:rPr lang="ko-KR" altLang="en-US" dirty="0"/>
              <a:t>작성 이후 </a:t>
            </a:r>
            <a:r>
              <a:rPr lang="ko-KR" altLang="en-US" dirty="0" smtClean="0"/>
              <a:t>반려 요청하는 </a:t>
            </a:r>
            <a:r>
              <a:rPr lang="ko-KR" altLang="en-US" dirty="0"/>
              <a:t>화면</a:t>
            </a:r>
            <a:r>
              <a:rPr lang="en-US" altLang="ko-KR" dirty="0"/>
              <a:t/>
            </a:r>
            <a:br>
              <a:rPr lang="en-US" altLang="ko-KR" dirty="0"/>
            </a:br>
            <a:r>
              <a:rPr lang="en-US" altLang="ko-KR" dirty="0"/>
              <a:t>- </a:t>
            </a:r>
            <a:r>
              <a:rPr lang="ko-KR" altLang="en-US" dirty="0" smtClean="0"/>
              <a:t>신청하면 </a:t>
            </a:r>
            <a:r>
              <a:rPr lang="ko-KR" altLang="en-US" dirty="0"/>
              <a:t>되돌릴 수 없음</a:t>
            </a:r>
            <a:r>
              <a:rPr lang="en-US" altLang="ko-KR" dirty="0"/>
              <a:t>.</a:t>
            </a:r>
          </a:p>
          <a:p>
            <a:pPr marL="228600" indent="-228600">
              <a:buFont typeface="+mj-lt"/>
              <a:buAutoNum type="arabicPeriod"/>
            </a:pPr>
            <a:r>
              <a:rPr lang="ko-KR" altLang="en-US" dirty="0" smtClean="0"/>
              <a:t>신청하는 </a:t>
            </a:r>
            <a:r>
              <a:rPr lang="ko-KR" altLang="en-US" dirty="0"/>
              <a:t>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smtClean="0">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MUI-BD-03-P07</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262183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279261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61766805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2885851"/>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3119961"/>
          <a:ext cx="8996300" cy="157920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64993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scwin.btn_print_onclick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신청서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11517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532704"/>
                  </a:ext>
                </a:extLst>
              </a:tr>
            </a:tbl>
          </a:graphicData>
        </a:graphic>
      </p:graphicFrame>
      <p:sp>
        <p:nvSpPr>
          <p:cNvPr id="2" name="Text Box 73">
            <a:extLst>
              <a:ext uri="{FF2B5EF4-FFF2-40B4-BE49-F238E27FC236}">
                <a16:creationId xmlns:a16="http://schemas.microsoft.com/office/drawing/2014/main" id="{963B2929-6FCD-AD10-AECD-B565B16C47A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9F9F76A9-DCCB-1744-CF12-5F6A3CAE9DAC}"/>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5712522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동의서</a:t>
            </a:r>
            <a:r>
              <a:rPr lang="en-US" altLang="ko-KR" dirty="0"/>
              <a:t>, </a:t>
            </a:r>
            <a:r>
              <a:rPr lang="ko-KR" altLang="en-US" dirty="0"/>
              <a:t>확약서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대상인 공고에 사전심사를 신청하는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사전심사</a:t>
            </a:r>
            <a:r>
              <a:rPr lang="en-US" altLang="ko-KR" dirty="0">
                <a:latin typeface="+mn-ea"/>
              </a:rPr>
              <a:t> </a:t>
            </a:r>
            <a:r>
              <a:rPr lang="ko-KR" altLang="en-US" dirty="0">
                <a:latin typeface="+mn-ea"/>
              </a:rPr>
              <a:t>진행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MUI-BD-02-M01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1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0647"/>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16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267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02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009"/>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914953"/>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377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260"/>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260"/>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260"/>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581260"/>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071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008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11791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19244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2463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52460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59912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65298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368967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98280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0642" y="398280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98280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91063" y="46294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1537723"/>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07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91063" y="42126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6" name="타원 115">
            <a:extLst>
              <a:ext uri="{FF2B5EF4-FFF2-40B4-BE49-F238E27FC236}">
                <a16:creationId xmlns:a16="http://schemas.microsoft.com/office/drawing/2014/main" id="{37A7FF4F-0EAA-1463-560A-D5EC24416103}"/>
              </a:ext>
            </a:extLst>
          </p:cNvPr>
          <p:cNvSpPr/>
          <p:nvPr/>
        </p:nvSpPr>
        <p:spPr>
          <a:xfrm>
            <a:off x="577700" y="29637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33142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837207" y="50142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905672" y="5136703"/>
            <a:ext cx="2473940" cy="646331"/>
          </a:xfrm>
          <a:prstGeom prst="rect">
            <a:avLst/>
          </a:prstGeom>
          <a:noFill/>
        </p:spPr>
        <p:txBody>
          <a:bodyPr wrap="square" lIns="0" tIns="0" rIns="0" bIns="0" rtlCol="0">
            <a:spAutoFit/>
          </a:bodyPr>
          <a:lstStyle/>
          <a:p>
            <a:r>
              <a:rPr lang="ko-KR" altLang="en-US" sz="700" dirty="0">
                <a:latin typeface="맑은 고딕" panose="020B0503020000020004" pitchFamily="50" charset="-127"/>
              </a:rPr>
              <a:t>위 공사에 대한 </a:t>
            </a:r>
            <a:r>
              <a:rPr lang="ko-KR" altLang="en-US" sz="700" dirty="0" err="1">
                <a:latin typeface="맑은 고딕" panose="020B0503020000020004" pitchFamily="50" charset="-127"/>
              </a:rPr>
              <a:t>입찰참가자격심사서류를</a:t>
            </a:r>
            <a:r>
              <a:rPr lang="ko-KR" altLang="en-US" sz="700" dirty="0">
                <a:latin typeface="맑은 고딕" panose="020B0503020000020004" pitchFamily="50" charset="-127"/>
              </a:rPr>
              <a:t> 붙임과 같이 </a:t>
            </a:r>
            <a:r>
              <a:rPr lang="ko-KR" altLang="en-US" sz="700" dirty="0" err="1">
                <a:latin typeface="맑은 고딕" panose="020B0503020000020004" pitchFamily="50" charset="-127"/>
              </a:rPr>
              <a:t>제출하오니</a:t>
            </a:r>
            <a:r>
              <a:rPr lang="ko-KR" altLang="en-US" sz="700" dirty="0">
                <a:latin typeface="맑은 고딕" panose="020B0503020000020004" pitchFamily="50" charset="-127"/>
              </a:rPr>
              <a:t> 우리회사</a:t>
            </a:r>
            <a:r>
              <a:rPr lang="en-US" altLang="ko-KR" sz="700" dirty="0">
                <a:latin typeface="맑은 고딕" panose="020B0503020000020004" pitchFamily="50" charset="-127"/>
              </a:rPr>
              <a:t>(</a:t>
            </a:r>
            <a:r>
              <a:rPr lang="ko-KR" altLang="en-US" sz="700" dirty="0">
                <a:latin typeface="맑은 고딕" panose="020B0503020000020004" pitchFamily="50" charset="-127"/>
              </a:rPr>
              <a:t>공동수급체구성원 포함</a:t>
            </a:r>
            <a:r>
              <a:rPr lang="en-US" altLang="ko-KR" sz="700" dirty="0">
                <a:latin typeface="맑은 고딕" panose="020B0503020000020004" pitchFamily="50" charset="-127"/>
              </a:rPr>
              <a:t>)</a:t>
            </a:r>
            <a:r>
              <a:rPr lang="ko-KR" altLang="en-US" sz="700" dirty="0">
                <a:latin typeface="맑은 고딕" panose="020B0503020000020004" pitchFamily="50" charset="-127"/>
              </a:rPr>
              <a:t>에 대하여 붙임 자료에 의거 입찰참가자격을 심사</a:t>
            </a:r>
            <a:r>
              <a:rPr lang="en-US" altLang="ko-KR" sz="700" dirty="0">
                <a:latin typeface="맑은 고딕" panose="020B0503020000020004" pitchFamily="50" charset="-127"/>
              </a:rPr>
              <a:t>(</a:t>
            </a:r>
            <a:r>
              <a:rPr lang="ko-KR" altLang="en-US" sz="700" dirty="0">
                <a:latin typeface="맑은 고딕" panose="020B0503020000020004" pitchFamily="50" charset="-127"/>
              </a:rPr>
              <a:t>향후 적격심사 포함</a:t>
            </a:r>
            <a:r>
              <a:rPr lang="en-US" altLang="ko-KR" sz="700" dirty="0">
                <a:latin typeface="맑은 고딕" panose="020B0503020000020004" pitchFamily="50" charset="-127"/>
              </a:rPr>
              <a:t>)</a:t>
            </a:r>
            <a:r>
              <a:rPr lang="ko-KR" altLang="en-US" sz="700" dirty="0">
                <a:latin typeface="맑은 고딕" panose="020B0503020000020004" pitchFamily="50" charset="-127"/>
              </a:rPr>
              <a:t>하여 주시기 바라며</a:t>
            </a:r>
            <a:r>
              <a:rPr lang="en-US" altLang="ko-KR" sz="700" dirty="0">
                <a:latin typeface="맑은 고딕" panose="020B0503020000020004" pitchFamily="50" charset="-127"/>
              </a:rPr>
              <a:t>, </a:t>
            </a:r>
            <a:r>
              <a:rPr lang="ko-KR" altLang="en-US" sz="700" dirty="0">
                <a:latin typeface="맑은 고딕" panose="020B0503020000020004" pitchFamily="50" charset="-127"/>
              </a:rPr>
              <a:t>만일 제출 서류가 귀 부대 심사기준 제</a:t>
            </a:r>
            <a:r>
              <a:rPr lang="en-US" altLang="ko-KR" sz="700" dirty="0">
                <a:latin typeface="맑은 고딕" panose="020B0503020000020004" pitchFamily="50" charset="-127"/>
              </a:rPr>
              <a:t>10</a:t>
            </a:r>
            <a:r>
              <a:rPr lang="ko-KR" altLang="en-US" sz="700" dirty="0">
                <a:latin typeface="맑은 고딕" panose="020B0503020000020004" pitchFamily="50" charset="-127"/>
              </a:rPr>
              <a:t>조 제</a:t>
            </a:r>
            <a:r>
              <a:rPr lang="en-US" altLang="ko-KR" sz="700" dirty="0">
                <a:latin typeface="맑은 고딕" panose="020B0503020000020004" pitchFamily="50" charset="-127"/>
              </a:rPr>
              <a:t>2</a:t>
            </a:r>
            <a:r>
              <a:rPr lang="ko-KR" altLang="en-US" sz="700" dirty="0">
                <a:latin typeface="맑은 고딕" panose="020B0503020000020004" pitchFamily="50" charset="-127"/>
              </a:rPr>
              <a:t>항의 기준에 저촉되면 귀 부대 심사기준에 따라 조치하여도 아무런 이의를 제기하지 않겠음을 확약합니다</a:t>
            </a:r>
            <a:r>
              <a:rPr lang="en-US" altLang="ko-KR" sz="700" dirty="0">
                <a:latin typeface="맑은 고딕" panose="020B0503020000020004" pitchFamily="50" charset="-127"/>
              </a:rPr>
              <a:t>.</a:t>
            </a:r>
            <a:endParaRPr lang="ko-KR" altLang="en-US" sz="700" dirty="0">
              <a:latin typeface="+mn-ea"/>
            </a:endParaRPr>
          </a:p>
        </p:txBody>
      </p:sp>
      <p:sp>
        <p:nvSpPr>
          <p:cNvPr id="144" name="타원 143">
            <a:extLst>
              <a:ext uri="{FF2B5EF4-FFF2-40B4-BE49-F238E27FC236}">
                <a16:creationId xmlns:a16="http://schemas.microsoft.com/office/drawing/2014/main" id="{37A7FF4F-0EAA-1463-560A-D5EC24416103}"/>
              </a:ext>
            </a:extLst>
          </p:cNvPr>
          <p:cNvSpPr/>
          <p:nvPr/>
        </p:nvSpPr>
        <p:spPr>
          <a:xfrm>
            <a:off x="3711091" y="156639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655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47" name="타원 146">
            <a:extLst>
              <a:ext uri="{FF2B5EF4-FFF2-40B4-BE49-F238E27FC236}">
                <a16:creationId xmlns:a16="http://schemas.microsoft.com/office/drawing/2014/main" id="{37A7FF4F-0EAA-1463-560A-D5EC24416103}"/>
              </a:ext>
            </a:extLst>
          </p:cNvPr>
          <p:cNvSpPr/>
          <p:nvPr/>
        </p:nvSpPr>
        <p:spPr>
          <a:xfrm>
            <a:off x="3711091" y="50351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4" y="32463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en-US" altLang="ko-KR" sz="700" dirty="0" smtClean="0"/>
            </a:p>
          </p:txBody>
        </p:sp>
      </p:grpSp>
      <p:grpSp>
        <p:nvGrpSpPr>
          <p:cNvPr id="97" name="그룹 96"/>
          <p:cNvGrpSpPr/>
          <p:nvPr/>
        </p:nvGrpSpPr>
        <p:grpSpPr>
          <a:xfrm>
            <a:off x="677960" y="1582647"/>
            <a:ext cx="2714637" cy="686386"/>
            <a:chOff x="677960" y="1582647"/>
            <a:chExt cx="2714637" cy="686386"/>
          </a:xfrm>
        </p:grpSpPr>
        <p:sp>
          <p:nvSpPr>
            <p:cNvPr id="98" name="TextBox 97">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신청</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rot="5400000">
              <a:off x="852159" y="206259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8" name="직선 연결선 1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6" name="그룹 105"/>
            <p:cNvGrpSpPr/>
            <p:nvPr/>
          </p:nvGrpSpPr>
          <p:grpSpPr>
            <a:xfrm>
              <a:off x="677960" y="1582647"/>
              <a:ext cx="2712027" cy="324286"/>
              <a:chOff x="677960" y="1582647"/>
              <a:chExt cx="2712027" cy="324286"/>
            </a:xfrm>
          </p:grpSpPr>
          <p:pic>
            <p:nvPicPr>
              <p:cNvPr id="11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12" name="직선 연결선 11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타원 13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69698323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125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1D5B5A78-FE0E-8E59-A09D-B6F1C8A167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A228B1F2-BAB0-1838-0B64-9AD1B2EB135E}"/>
              </a:ext>
            </a:extLst>
          </p:cNvPr>
          <p:cNvSpPr txBox="1"/>
          <p:nvPr/>
        </p:nvSpPr>
        <p:spPr>
          <a:xfrm>
            <a:off x="453831" y="5375164"/>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1C379D2-0A15-975F-1540-33D05BFDB741}"/>
              </a:ext>
            </a:extLst>
          </p:cNvPr>
          <p:cNvGraphicFramePr>
            <a:graphicFrameLocks noGrp="1"/>
          </p:cNvGraphicFramePr>
          <p:nvPr/>
        </p:nvGraphicFramePr>
        <p:xfrm>
          <a:off x="453000" y="558765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7" name="TextBox 6">
            <a:extLst>
              <a:ext uri="{FF2B5EF4-FFF2-40B4-BE49-F238E27FC236}">
                <a16:creationId xmlns:a16="http://schemas.microsoft.com/office/drawing/2014/main" id="{6F4353C2-F64F-6E1C-0936-80B45A6E8C76}"/>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498812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94</a:t>
            </a:fld>
            <a:endParaRPr lang="ko-KR" altLang="en-US" dirty="0"/>
          </a:p>
        </p:txBody>
      </p:sp>
      <p:sp>
        <p:nvSpPr>
          <p:cNvPr id="6" name="TextBox 5">
            <a:extLst>
              <a:ext uri="{FF2B5EF4-FFF2-40B4-BE49-F238E27FC236}">
                <a16:creationId xmlns:a16="http://schemas.microsoft.com/office/drawing/2014/main" id="{5C58389F-61E2-5619-D9C6-D58513D49583}"/>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D7BFA1AA-8CA0-706E-80C6-61EAE92193D8}"/>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공사내역</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scwin.btn_bfhdSrngAply_onclick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84890"/>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8" name="Text Box 73">
            <a:extLst>
              <a:ext uri="{FF2B5EF4-FFF2-40B4-BE49-F238E27FC236}">
                <a16:creationId xmlns:a16="http://schemas.microsoft.com/office/drawing/2014/main" id="{9A2CE3B3-3D64-3D30-84A2-65970639BD3D}"/>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93668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67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1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30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43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68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781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018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6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335450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2873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385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776980"/>
            <a:ext cx="1631857" cy="24622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확약하는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서약서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384039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4162253"/>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42431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4243179"/>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43" name="모서리가 둥근 직사각형 142"/>
          <p:cNvSpPr/>
          <p:nvPr/>
        </p:nvSpPr>
        <p:spPr>
          <a:xfrm>
            <a:off x="2958909" y="42450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22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548833"/>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6582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596723"/>
            <a:ext cx="16318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6601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9811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5887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1677657"/>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1775941"/>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176629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1814788"/>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1562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167510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93" name="그룹 92"/>
          <p:cNvGrpSpPr/>
          <p:nvPr/>
        </p:nvGrpSpPr>
        <p:grpSpPr>
          <a:xfrm>
            <a:off x="677960" y="1582647"/>
            <a:ext cx="2714637" cy="686386"/>
            <a:chOff x="677960" y="1582647"/>
            <a:chExt cx="2714637" cy="686386"/>
          </a:xfrm>
        </p:grpSpPr>
        <p:sp>
          <p:nvSpPr>
            <p:cNvPr id="94" name="TextBox 93">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rot="5400000">
              <a:off x="852159" y="2062596"/>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677960" y="1582647"/>
              <a:ext cx="2712027" cy="324286"/>
              <a:chOff x="677960" y="1582647"/>
              <a:chExt cx="2712027" cy="324286"/>
            </a:xfrm>
          </p:grpSpPr>
          <p:pic>
            <p:nvPicPr>
              <p:cNvPr id="12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5" name="직선 연결선 13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타원 13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타원 13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타원 13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91229677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a:t>
            </a:r>
            <a:r>
              <a:rPr lang="en-US" altLang="ko-KR" dirty="0">
                <a:latin typeface="+mn-ea"/>
              </a:rPr>
              <a:t>‘</a:t>
            </a:r>
            <a:r>
              <a:rPr lang="ko-KR" altLang="en-US" dirty="0">
                <a:latin typeface="+mn-ea"/>
              </a:rPr>
              <a:t>조세포탈</a:t>
            </a:r>
            <a:r>
              <a:rPr lang="en-US" altLang="ko-KR" dirty="0">
                <a:latin typeface="+mn-ea"/>
              </a:rPr>
              <a:t>’ </a:t>
            </a:r>
            <a:r>
              <a:rPr lang="ko-KR" altLang="en-US" dirty="0">
                <a:latin typeface="+mn-ea"/>
              </a:rPr>
              <a:t>사실이 없음을 확약하는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949252" cy="123111"/>
          </a:xfrm>
          <a:prstGeom prst="rect">
            <a:avLst/>
          </a:prstGeom>
          <a:noFill/>
        </p:spPr>
        <p:txBody>
          <a:bodyPr wrap="none" lIns="0" tIns="0" rIns="0" bIns="0" rtlCol="0">
            <a:spAutoFit/>
          </a:bodyPr>
          <a:lstStyle/>
          <a:p>
            <a:r>
              <a:rPr lang="en-US" altLang="ko-KR" sz="800" b="1" dirty="0">
                <a:latin typeface="맑은 고딕" panose="020B0503020000020004" pitchFamily="50" charset="-127"/>
              </a:rPr>
              <a:t>‘</a:t>
            </a:r>
            <a:r>
              <a:rPr lang="ko-KR" altLang="en-US" sz="800" b="1" dirty="0">
                <a:latin typeface="맑은 고딕" panose="020B0503020000020004" pitchFamily="50" charset="-127"/>
              </a:rPr>
              <a:t>조세포탈</a:t>
            </a:r>
            <a:r>
              <a:rPr lang="en-US" altLang="ko-KR" sz="800" b="1" dirty="0">
                <a:latin typeface="맑은 고딕" panose="020B0503020000020004" pitchFamily="50" charset="-127"/>
              </a:rPr>
              <a:t>’ </a:t>
            </a:r>
            <a:r>
              <a:rPr lang="ko-KR" altLang="en-US" sz="800" b="1" dirty="0">
                <a:latin typeface="맑은 고딕" panose="020B0503020000020004" pitchFamily="50" charset="-127"/>
              </a:rPr>
              <a:t>사실이 없음을 확약하는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646331"/>
          </a:xfrm>
          <a:prstGeom prst="rect">
            <a:avLst/>
          </a:prstGeom>
          <a:noFill/>
        </p:spPr>
        <p:txBody>
          <a:bodyPr wrap="square" lIns="0" tIns="0" rIns="0" bIns="0" rtlCol="0">
            <a:spAutoFit/>
          </a:bodyPr>
          <a:lstStyle/>
          <a:p>
            <a:r>
              <a:rPr lang="ko-KR" altLang="en-US" sz="700" dirty="0"/>
              <a:t>당사는 </a:t>
            </a:r>
            <a:r>
              <a:rPr lang="en-US" altLang="ko-KR" sz="700" dirty="0"/>
              <a:t>[</a:t>
            </a:r>
            <a:r>
              <a:rPr lang="ko-KR" altLang="en-US" sz="700" dirty="0"/>
              <a:t>국가계약법</a:t>
            </a:r>
            <a:r>
              <a:rPr lang="en-US" altLang="ko-KR" sz="700" dirty="0"/>
              <a:t>] </a:t>
            </a:r>
            <a:r>
              <a:rPr lang="ko-KR" altLang="en-US" sz="700" dirty="0">
                <a:solidFill>
                  <a:srgbClr val="000000"/>
                </a:solidFill>
              </a:rPr>
              <a:t>제</a:t>
            </a:r>
            <a:r>
              <a:rPr lang="en-US" altLang="ko-KR" sz="700" dirty="0">
                <a:solidFill>
                  <a:srgbClr val="000000"/>
                </a:solidFill>
              </a:rPr>
              <a:t>27</a:t>
            </a:r>
            <a:r>
              <a:rPr lang="ko-KR" altLang="en-US" sz="700" dirty="0">
                <a:solidFill>
                  <a:srgbClr val="000000"/>
                </a:solidFill>
              </a:rPr>
              <a:t>조의</a:t>
            </a:r>
            <a:r>
              <a:rPr lang="en-US" altLang="ko-KR" sz="700" dirty="0">
                <a:solidFill>
                  <a:srgbClr val="000000"/>
                </a:solidFill>
              </a:rPr>
              <a:t>5</a:t>
            </a:r>
            <a:r>
              <a:rPr lang="ko-KR" altLang="en-US" sz="700" dirty="0">
                <a:solidFill>
                  <a:srgbClr val="000000"/>
                </a:solidFill>
              </a:rPr>
              <a:t>제</a:t>
            </a:r>
            <a:r>
              <a:rPr lang="en-US" altLang="ko-KR" sz="700" dirty="0">
                <a:solidFill>
                  <a:srgbClr val="000000"/>
                </a:solidFill>
              </a:rPr>
              <a:t>1</a:t>
            </a:r>
            <a:r>
              <a:rPr lang="ko-KR" altLang="en-US" sz="700" dirty="0">
                <a:solidFill>
                  <a:srgbClr val="000000"/>
                </a:solidFill>
              </a:rPr>
              <a:t>항에 따른 조세포탈 등을 한 자가 아님을 서약합니다</a:t>
            </a:r>
            <a:r>
              <a:rPr lang="en-US" altLang="ko-KR" sz="700" dirty="0">
                <a:solidFill>
                  <a:srgbClr val="000000"/>
                </a:solidFill>
              </a:rPr>
              <a:t>. </a:t>
            </a:r>
            <a:r>
              <a:rPr lang="ko-KR" altLang="en-US" sz="700" dirty="0">
                <a:solidFill>
                  <a:srgbClr val="000000"/>
                </a:solidFill>
              </a:rPr>
              <a:t>만일 다음 각 호의 사유에 해당되어 유죄판결이 확정된 날부터 </a:t>
            </a:r>
            <a:r>
              <a:rPr lang="en-US" altLang="ko-KR" sz="700" dirty="0">
                <a:solidFill>
                  <a:srgbClr val="000000"/>
                </a:solidFill>
              </a:rPr>
              <a:t>2</a:t>
            </a:r>
            <a:r>
              <a:rPr lang="ko-KR" altLang="en-US" sz="700" dirty="0">
                <a:solidFill>
                  <a:srgbClr val="000000"/>
                </a:solidFill>
              </a:rPr>
              <a:t>년이 지나지 않은 사실이 발견된 때에는 계약의 </a:t>
            </a:r>
            <a:r>
              <a:rPr lang="ko-KR" altLang="en-US" sz="700" dirty="0" err="1">
                <a:solidFill>
                  <a:srgbClr val="000000"/>
                </a:solidFill>
              </a:rPr>
              <a:t>해제ㆍ해지를</a:t>
            </a:r>
            <a:r>
              <a:rPr lang="ko-KR" altLang="en-US" sz="700" dirty="0">
                <a:solidFill>
                  <a:srgbClr val="000000"/>
                </a:solidFill>
              </a:rPr>
              <a:t> 당하는 등의 불이익을 감수하겠으며</a:t>
            </a:r>
            <a:r>
              <a:rPr lang="en-US" altLang="ko-KR" sz="700" dirty="0">
                <a:solidFill>
                  <a:srgbClr val="000000"/>
                </a:solidFill>
              </a:rPr>
              <a:t>, </a:t>
            </a:r>
            <a:r>
              <a:rPr lang="ko-KR" altLang="en-US" sz="700" dirty="0">
                <a:solidFill>
                  <a:srgbClr val="000000"/>
                </a:solidFill>
              </a:rPr>
              <a:t>「국가계약법 </a:t>
            </a:r>
            <a:r>
              <a:rPr lang="ko-KR" altLang="en-US" sz="700" dirty="0" err="1">
                <a:solidFill>
                  <a:srgbClr val="000000"/>
                </a:solidFill>
              </a:rPr>
              <a:t>시행령」제</a:t>
            </a:r>
            <a:r>
              <a:rPr lang="en-US" altLang="ko-KR" sz="700" dirty="0">
                <a:solidFill>
                  <a:srgbClr val="000000"/>
                </a:solidFill>
              </a:rPr>
              <a:t>76</a:t>
            </a:r>
            <a:r>
              <a:rPr lang="ko-KR" altLang="en-US" sz="700" dirty="0">
                <a:solidFill>
                  <a:srgbClr val="000000"/>
                </a:solidFill>
              </a:rPr>
              <a:t>조제</a:t>
            </a:r>
            <a:r>
              <a:rPr lang="en-US" altLang="ko-KR" sz="700" dirty="0">
                <a:solidFill>
                  <a:srgbClr val="000000"/>
                </a:solidFill>
              </a:rPr>
              <a:t>1</a:t>
            </a:r>
            <a:r>
              <a:rPr lang="ko-KR" altLang="en-US" sz="700" dirty="0" err="1">
                <a:solidFill>
                  <a:srgbClr val="000000"/>
                </a:solidFill>
              </a:rPr>
              <a:t>항제</a:t>
            </a:r>
            <a:r>
              <a:rPr lang="en-US" altLang="ko-KR" sz="700" dirty="0">
                <a:solidFill>
                  <a:srgbClr val="000000"/>
                </a:solidFill>
              </a:rPr>
              <a:t>1</a:t>
            </a:r>
            <a:r>
              <a:rPr lang="ko-KR" altLang="en-US" sz="700" dirty="0" err="1">
                <a:solidFill>
                  <a:srgbClr val="000000"/>
                </a:solidFill>
              </a:rPr>
              <a:t>호가목에</a:t>
            </a:r>
            <a:r>
              <a:rPr lang="ko-KR" altLang="en-US" sz="700" dirty="0">
                <a:solidFill>
                  <a:srgbClr val="000000"/>
                </a:solidFill>
              </a:rPr>
              <a:t> 따라 부정당업자의 입찰참가자격제한 처분을 받겠습니다</a:t>
            </a:r>
            <a:r>
              <a:rPr lang="en-US" altLang="ko-KR" sz="700" dirty="0">
                <a:solidFill>
                  <a:srgbClr val="000000"/>
                </a:solidFill>
              </a:rPr>
              <a:t>.</a:t>
            </a:r>
            <a:endParaRPr lang="en-US" altLang="ko-KR" sz="700" dirty="0"/>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138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17412" y="4646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17412" y="51029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17412" y="5343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56917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180219"/>
            <a:ext cx="2473940" cy="1400383"/>
          </a:xfrm>
          <a:prstGeom prst="rect">
            <a:avLst/>
          </a:prstGeom>
          <a:noFill/>
        </p:spPr>
        <p:txBody>
          <a:bodyPr wrap="square" lIns="0" tIns="0" rIns="0" bIns="0" rtlCol="0">
            <a:spAutoFit/>
          </a:bodyPr>
          <a:lstStyle/>
          <a:p>
            <a:pPr marL="228600" indent="-228600">
              <a:buAutoNum type="arabicPeriod"/>
            </a:pPr>
            <a:r>
              <a:rPr lang="en-US" altLang="ko-KR" sz="700" dirty="0">
                <a:latin typeface="맑은 고딕" panose="020B0503020000020004" pitchFamily="50" charset="-127"/>
              </a:rPr>
              <a:t>[</a:t>
            </a:r>
            <a:r>
              <a:rPr lang="ko-KR" altLang="en-US" sz="700" dirty="0">
                <a:latin typeface="맑은 고딕" panose="020B0503020000020004" pitchFamily="50" charset="-127"/>
              </a:rPr>
              <a:t>조세범처벌법</a:t>
            </a:r>
            <a:r>
              <a:rPr lang="en-US" altLang="ko-KR" sz="700" dirty="0">
                <a:latin typeface="맑은 고딕" panose="020B0503020000020004" pitchFamily="50" charset="-127"/>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조에 따른 조세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공제받은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맑은 고딕" panose="020B0503020000020004" pitchFamily="50" charset="-127"/>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관세법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270</a:t>
            </a:r>
            <a:r>
              <a:rPr lang="ko-KR" altLang="en-US" sz="700" dirty="0">
                <a:solidFill>
                  <a:srgbClr val="000000"/>
                </a:solidFill>
                <a:latin typeface="Consolas" panose="020B0609020204030204" pitchFamily="49" charset="0"/>
              </a:rPr>
              <a:t>조에 다른 부정한 방법으로 관세를 </a:t>
            </a:r>
            <a:r>
              <a:rPr lang="ko-KR" altLang="en-US" sz="700" dirty="0" err="1">
                <a:solidFill>
                  <a:srgbClr val="000000"/>
                </a:solidFill>
                <a:latin typeface="Consolas" panose="020B0609020204030204" pitchFamily="49" charset="0"/>
              </a:rPr>
              <a:t>감면받거나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면탈하거나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환급받은</a:t>
            </a:r>
            <a:r>
              <a:rPr lang="ko-KR" altLang="en-US" sz="700" dirty="0">
                <a:solidFill>
                  <a:srgbClr val="000000"/>
                </a:solidFill>
                <a:latin typeface="Consolas" panose="020B0609020204030204" pitchFamily="49" charset="0"/>
              </a:rPr>
              <a:t>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지방세기본법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102</a:t>
            </a:r>
            <a:r>
              <a:rPr lang="ko-KR" altLang="en-US" sz="700" dirty="0">
                <a:solidFill>
                  <a:srgbClr val="000000"/>
                </a:solidFill>
                <a:latin typeface="Consolas" panose="020B0609020204030204" pitchFamily="49" charset="0"/>
              </a:rPr>
              <a:t>조에 따른 지방세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국제조세조정에 관한 법률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53</a:t>
            </a:r>
            <a:r>
              <a:rPr lang="ko-KR" altLang="en-US" sz="700" dirty="0">
                <a:solidFill>
                  <a:srgbClr val="000000"/>
                </a:solidFill>
                <a:latin typeface="Consolas" panose="020B0609020204030204" pitchFamily="49" charset="0"/>
              </a:rPr>
              <a:t>조에 따른 해외금융계좌의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 </a:t>
            </a:r>
            <a:r>
              <a:rPr lang="en-US" altLang="ko-KR" sz="700" dirty="0">
                <a:solidFill>
                  <a:srgbClr val="000000"/>
                </a:solidFill>
                <a:latin typeface="Consolas" panose="020B0609020204030204" pitchFamily="49" charset="0"/>
              </a:rPr>
              <a:t>16</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금액을 초과하는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외국환거래법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18</a:t>
            </a:r>
            <a:r>
              <a:rPr lang="ko-KR" altLang="en-US" sz="700" dirty="0">
                <a:solidFill>
                  <a:srgbClr val="000000"/>
                </a:solidFill>
                <a:latin typeface="Consolas" panose="020B0609020204030204" pitchFamily="49" charset="0"/>
              </a:rPr>
              <a:t>조에 따른 자본거래의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a:t>
            </a:r>
            <a:r>
              <a:rPr lang="en-US" altLang="ko-KR" sz="700" dirty="0">
                <a:solidFill>
                  <a:srgbClr val="000000"/>
                </a:solidFill>
                <a:latin typeface="Consolas" panose="020B0609020204030204" pitchFamily="49" charset="0"/>
              </a:rPr>
              <a:t>29</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항제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호에 해당하는 자</a:t>
            </a:r>
            <a:endParaRPr lang="en-US" altLang="ko-KR" sz="700" dirty="0">
              <a:latin typeface="맑은 고딕" panose="020B0503020000020004" pitchFamily="50" charset="-127"/>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804476" y="4713394"/>
            <a:ext cx="2473940" cy="323165"/>
          </a:xfrm>
          <a:prstGeom prst="rect">
            <a:avLst/>
          </a:prstGeom>
          <a:noFill/>
        </p:spPr>
        <p:txBody>
          <a:bodyPr wrap="square" lIns="0" tIns="0" rIns="0" bIns="0" rtlCol="0">
            <a:spAutoFit/>
          </a:bodyPr>
          <a:lstStyle/>
          <a:p>
            <a:r>
              <a:rPr lang="ko-KR" altLang="en-US" sz="700" dirty="0">
                <a:latin typeface="맑은 고딕" panose="020B0503020000020004" pitchFamily="50" charset="-127"/>
              </a:rPr>
              <a:t>또한</a:t>
            </a:r>
            <a:r>
              <a:rPr lang="en-US" altLang="ko-KR" sz="700" dirty="0">
                <a:latin typeface="맑은 고딕" panose="020B0503020000020004" pitchFamily="50" charset="-127"/>
              </a:rPr>
              <a:t>, </a:t>
            </a:r>
            <a:r>
              <a:rPr lang="ko-KR" altLang="en-US" sz="700" dirty="0">
                <a:latin typeface="맑은 고딕" panose="020B0503020000020004" pitchFamily="50" charset="-127"/>
              </a:rPr>
              <a:t>당사는 계약담당공무원이 요구할 경우 </a:t>
            </a:r>
            <a:r>
              <a:rPr lang="en-US" altLang="ko-KR" sz="700" dirty="0">
                <a:latin typeface="맑은 고딕" panose="020B0503020000020004" pitchFamily="50" charset="-127"/>
              </a:rPr>
              <a:t>‘</a:t>
            </a:r>
            <a:r>
              <a:rPr lang="ko-KR" altLang="en-US" sz="700" dirty="0">
                <a:latin typeface="맑은 고딕" panose="020B0503020000020004" pitchFamily="50" charset="-127"/>
              </a:rPr>
              <a:t>조세포탈</a:t>
            </a:r>
            <a:r>
              <a:rPr lang="en-US" altLang="ko-KR" sz="700" dirty="0">
                <a:latin typeface="맑은 고딕" panose="020B0503020000020004" pitchFamily="50" charset="-127"/>
              </a:rPr>
              <a:t>’</a:t>
            </a:r>
            <a:r>
              <a:rPr lang="ko-KR" altLang="en-US" sz="700" dirty="0">
                <a:solidFill>
                  <a:srgbClr val="000000"/>
                </a:solidFill>
                <a:latin typeface="Consolas" panose="020B0609020204030204" pitchFamily="49" charset="0"/>
              </a:rPr>
              <a:t>을 한 사실이 없음을 입증하는 증빙서류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범죄경력자료 </a:t>
            </a:r>
            <a:r>
              <a:rPr lang="ko-KR" altLang="en-US" sz="700" dirty="0" err="1">
                <a:solidFill>
                  <a:srgbClr val="000000"/>
                </a:solidFill>
                <a:latin typeface="Consolas" panose="020B0609020204030204" pitchFamily="49" charset="0"/>
              </a:rPr>
              <a:t>회보서나</a:t>
            </a:r>
            <a:r>
              <a:rPr lang="ko-KR" altLang="en-US" sz="700" dirty="0">
                <a:solidFill>
                  <a:srgbClr val="000000"/>
                </a:solidFill>
                <a:latin typeface="Consolas" panose="020B0609020204030204" pitchFamily="49" charset="0"/>
              </a:rPr>
              <a:t> 판결문 등</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를 즉시 제출할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804476" y="5169351"/>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804476" y="5409865"/>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 [</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ko-KR" altLang="en-US" sz="700" dirty="0">
                <a:latin typeface="맑은 고딕" panose="020B0503020000020004" pitchFamily="50" charset="-127"/>
              </a:rPr>
              <a:t>방위사업청장 귀하 </a:t>
            </a:r>
            <a:r>
              <a:rPr lang="en-US" altLang="ko-KR" sz="700" dirty="0">
                <a:latin typeface="맑은 고딕" panose="020B0503020000020004" pitchFamily="50" charset="-127"/>
              </a:rPr>
              <a:t>OR ####</a:t>
            </a:r>
            <a:r>
              <a:rPr lang="ko-KR" altLang="en-US" sz="700" dirty="0">
                <a:latin typeface="맑은 고딕" panose="020B0503020000020004" pitchFamily="50" charset="-127"/>
              </a:rPr>
              <a:t>부대 귀하</a:t>
            </a:r>
            <a:endParaRPr lang="en-US" altLang="ko-KR" sz="700" dirty="0">
              <a:latin typeface="맑은 고딕" panose="020B0503020000020004" pitchFamily="50" charset="-127"/>
            </a:endParaRPr>
          </a:p>
        </p:txBody>
      </p:sp>
      <p:grpSp>
        <p:nvGrpSpPr>
          <p:cNvPr id="7" name="그룹 6"/>
          <p:cNvGrpSpPr/>
          <p:nvPr/>
        </p:nvGrpSpPr>
        <p:grpSpPr>
          <a:xfrm>
            <a:off x="1432789" y="5769652"/>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949967"/>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1127" y="51224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541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57374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70758237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23393069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선택한 내역은 입찰 마지막에 동일한 내용으로 재 안내 됨</a:t>
            </a:r>
            <a:r>
              <a:rPr lang="en-US" altLang="ko-KR" dirty="0"/>
              <a:t>.</a:t>
            </a:r>
          </a:p>
          <a:p>
            <a:pPr marL="0" indent="0">
              <a:buNone/>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하도급대금의 지급관련 확인 및 확약서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7412" y="39736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3" name="그룹 232"/>
          <p:cNvGrpSpPr/>
          <p:nvPr/>
        </p:nvGrpSpPr>
        <p:grpSpPr>
          <a:xfrm>
            <a:off x="1432789" y="4135294"/>
            <a:ext cx="1189232" cy="107722"/>
            <a:chOff x="4526323" y="5902014"/>
            <a:chExt cx="1189232" cy="107722"/>
          </a:xfrm>
        </p:grpSpPr>
        <p:sp>
          <p:nvSpPr>
            <p:cNvPr id="234" name="타원 233"/>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타원 234"/>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469475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1</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45426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2</a:t>
              </a:r>
              <a:endParaRPr lang="ko-KR" altLang="en-US" sz="700" dirty="0">
                <a:latin typeface="+mn-ea"/>
              </a:endParaRPr>
            </a:p>
          </p:txBody>
        </p:sp>
      </p:grpSp>
      <p:sp>
        <p:nvSpPr>
          <p:cNvPr id="34" name="타원 33">
            <a:extLst>
              <a:ext uri="{FF2B5EF4-FFF2-40B4-BE49-F238E27FC236}">
                <a16:creationId xmlns:a16="http://schemas.microsoft.com/office/drawing/2014/main" id="{37A7FF4F-0EAA-1463-560A-D5EC24416103}"/>
              </a:ext>
            </a:extLst>
          </p:cNvPr>
          <p:cNvSpPr/>
          <p:nvPr/>
        </p:nvSpPr>
        <p:spPr>
          <a:xfrm>
            <a:off x="571127" y="40915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9730250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99</a:t>
            </a:fld>
            <a:endParaRPr lang="ko-KR" altLang="en-US" dirty="0"/>
          </a:p>
        </p:txBody>
      </p:sp>
      <p:sp>
        <p:nvSpPr>
          <p:cNvPr id="2" name="TextBox 1">
            <a:extLst>
              <a:ext uri="{FF2B5EF4-FFF2-40B4-BE49-F238E27FC236}">
                <a16:creationId xmlns:a16="http://schemas.microsoft.com/office/drawing/2014/main" id="{07D6A41E-0D94-47F3-F9FC-FDE27FFC3AE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4BA5116-CE16-A86C-DFE1-E004134F9825}"/>
              </a:ext>
            </a:extLst>
          </p:cNvPr>
          <p:cNvGraphicFramePr>
            <a:graphicFrameLocks noGrp="1"/>
          </p:cNvGraphicFramePr>
          <p:nvPr/>
        </p:nvGraphicFramePr>
        <p:xfrm>
          <a:off x="453000" y="1039042"/>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 후 입찰참가신청서 팝업 화면 또는 견적서제출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8752916"/>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48E2A323-D605-C365-9B90-5C67461FBA1F}"/>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170692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공지사항이 있는 경우 표시</a:t>
            </a:r>
            <a:r>
              <a:rPr lang="en-US" altLang="ko-KR" dirty="0"/>
              <a:t/>
            </a:r>
            <a:br>
              <a:rPr lang="en-US" altLang="ko-KR" dirty="0"/>
            </a:br>
            <a:r>
              <a:rPr lang="en-US" altLang="ko-KR" dirty="0"/>
              <a:t>- </a:t>
            </a:r>
            <a:r>
              <a:rPr lang="ko-KR" altLang="en-US" dirty="0"/>
              <a:t>공지사항은 입찰참가신청서 조회</a:t>
            </a:r>
            <a:r>
              <a:rPr lang="en-US" altLang="ko-KR" dirty="0"/>
              <a:t>/</a:t>
            </a:r>
            <a:r>
              <a:rPr lang="ko-KR" altLang="en-US" dirty="0"/>
              <a:t>수정 시</a:t>
            </a:r>
            <a:r>
              <a:rPr lang="en-US" altLang="ko-KR" dirty="0"/>
              <a:t> </a:t>
            </a:r>
            <a:r>
              <a:rPr lang="ko-KR" altLang="en-US" dirty="0" err="1"/>
              <a:t>연기공고</a:t>
            </a:r>
            <a:r>
              <a:rPr lang="ko-KR" altLang="en-US" dirty="0"/>
              <a:t> 처리 된 경우 보이기</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공종</a:t>
            </a:r>
            <a:r>
              <a:rPr lang="ko-KR" altLang="en-US" dirty="0"/>
              <a:t> 및 면허 </a:t>
            </a:r>
            <a:r>
              <a:rPr lang="en-US" altLang="ko-KR" dirty="0"/>
              <a:t>(</a:t>
            </a:r>
            <a:r>
              <a:rPr lang="ko-KR" altLang="en-US" dirty="0" err="1"/>
              <a:t>업무구분</a:t>
            </a:r>
            <a:r>
              <a:rPr lang="ko-KR" altLang="en-US" dirty="0"/>
              <a:t> </a:t>
            </a:r>
            <a:r>
              <a:rPr lang="en-US" altLang="ko-KR" dirty="0"/>
              <a:t>– </a:t>
            </a:r>
            <a:r>
              <a:rPr lang="ko-KR" altLang="en-US" dirty="0"/>
              <a:t>공사</a:t>
            </a:r>
            <a:r>
              <a:rPr lang="en-US" altLang="ko-KR" dirty="0"/>
              <a:t>, </a:t>
            </a:r>
            <a:r>
              <a:rPr lang="ko-KR" altLang="en-US" dirty="0" err="1"/>
              <a:t>공종정보</a:t>
            </a:r>
            <a:r>
              <a:rPr lang="ko-KR" altLang="en-US" dirty="0"/>
              <a:t> 있는 경우 표시</a:t>
            </a:r>
            <a:r>
              <a:rPr lang="en-US" altLang="ko-KR" dirty="0"/>
              <a:t>)</a:t>
            </a:r>
            <a:br>
              <a:rPr lang="en-US" altLang="ko-KR" dirty="0"/>
            </a:br>
            <a:r>
              <a:rPr lang="en-US" altLang="ko-KR" dirty="0"/>
              <a:t>4- </a:t>
            </a:r>
            <a:r>
              <a:rPr lang="ko-KR" altLang="en-US" dirty="0"/>
              <a:t>입찰보증금 </a:t>
            </a:r>
            <a:r>
              <a:rPr lang="en-US" altLang="ko-KR" dirty="0"/>
              <a:t>(</a:t>
            </a:r>
            <a:r>
              <a:rPr lang="ko-KR" altLang="en-US" dirty="0" err="1"/>
              <a:t>분담이행</a:t>
            </a:r>
            <a:r>
              <a:rPr lang="ko-KR" altLang="en-US" dirty="0"/>
              <a:t> 방식인 경우 표시</a:t>
            </a:r>
            <a:r>
              <a:rPr lang="en-US" altLang="ko-KR" dirty="0"/>
              <a:t>)</a:t>
            </a:r>
            <a:br>
              <a:rPr lang="en-US" altLang="ko-KR" dirty="0"/>
            </a:br>
            <a:r>
              <a:rPr lang="en-US" altLang="ko-KR" dirty="0"/>
              <a:t>5- </a:t>
            </a:r>
            <a:r>
              <a:rPr lang="ko-KR" altLang="en-US" dirty="0"/>
              <a:t>공동수급업체 </a:t>
            </a:r>
            <a:r>
              <a:rPr lang="en-US" altLang="ko-KR" dirty="0"/>
              <a:t>(</a:t>
            </a:r>
            <a:r>
              <a:rPr lang="ko-KR" altLang="en-US" dirty="0"/>
              <a:t>단독인 경우 숨김</a:t>
            </a:r>
            <a:r>
              <a:rPr lang="en-US" altLang="ko-KR" dirty="0"/>
              <a:t>)</a:t>
            </a:r>
            <a:br>
              <a:rPr lang="en-US" altLang="ko-KR" dirty="0"/>
            </a:br>
            <a:r>
              <a:rPr lang="en-US" altLang="ko-KR" dirty="0"/>
              <a:t>6- </a:t>
            </a:r>
            <a:r>
              <a:rPr lang="ko-KR" altLang="en-US" dirty="0"/>
              <a:t>파일첨부</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2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172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07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060"/>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4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19387"/>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75573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5063219"/>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5063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5063219"/>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5063219"/>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52943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5080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7217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9354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61491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63628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708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49214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49214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49214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49214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70874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45401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1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406410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409544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417743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43715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5579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17010"/>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62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1742715"/>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42715"/>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2394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2607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2821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035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163904"/>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471390"/>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4713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471389"/>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471389"/>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024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39162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1299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34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557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7710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116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384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18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17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98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410868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44505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46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8117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70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046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046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046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0465"/>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707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234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22360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5" name="그룹 164"/>
          <p:cNvGrpSpPr/>
          <p:nvPr/>
        </p:nvGrpSpPr>
        <p:grpSpPr>
          <a:xfrm>
            <a:off x="8223250" y="569392"/>
            <a:ext cx="3365500" cy="634511"/>
            <a:chOff x="8223250" y="569392"/>
            <a:chExt cx="3365500" cy="634511"/>
          </a:xfrm>
        </p:grpSpPr>
        <p:sp>
          <p:nvSpPr>
            <p:cNvPr id="166" name="직사각형 16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67" name="직사각형 16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68" name="그룹 167"/>
          <p:cNvGrpSpPr/>
          <p:nvPr/>
        </p:nvGrpSpPr>
        <p:grpSpPr>
          <a:xfrm>
            <a:off x="677960" y="1582647"/>
            <a:ext cx="2714637" cy="686386"/>
            <a:chOff x="677960" y="1582647"/>
            <a:chExt cx="2714637" cy="686386"/>
          </a:xfrm>
        </p:grpSpPr>
        <p:sp>
          <p:nvSpPr>
            <p:cNvPr id="169" name="TextBox 168">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1" name="그룹 170"/>
            <p:cNvGrpSpPr/>
            <p:nvPr/>
          </p:nvGrpSpPr>
          <p:grpSpPr>
            <a:xfrm rot="5400000">
              <a:off x="852159" y="2062596"/>
              <a:ext cx="94010" cy="47005"/>
              <a:chOff x="6812560" y="3297172"/>
              <a:chExt cx="94010" cy="47005"/>
            </a:xfrm>
          </p:grpSpPr>
          <p:cxnSp>
            <p:nvCxnSpPr>
              <p:cNvPr id="178" name="직선 연결선 1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2" name="그룹 171"/>
            <p:cNvGrpSpPr/>
            <p:nvPr/>
          </p:nvGrpSpPr>
          <p:grpSpPr>
            <a:xfrm>
              <a:off x="677960" y="1582647"/>
              <a:ext cx="2712027" cy="324286"/>
              <a:chOff x="677960" y="1582647"/>
              <a:chExt cx="2712027" cy="324286"/>
            </a:xfrm>
          </p:grpSpPr>
          <p:pic>
            <p:nvPicPr>
              <p:cNvPr id="1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4" name="직선 연결선 1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타원 1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타원 1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04545761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2859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9" y="45689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8" name="타원 207"/>
          <p:cNvSpPr/>
          <p:nvPr/>
        </p:nvSpPr>
        <p:spPr>
          <a:xfrm>
            <a:off x="3078140" y="46046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9" y="49756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2" name="타원 211"/>
          <p:cNvSpPr/>
          <p:nvPr/>
        </p:nvSpPr>
        <p:spPr>
          <a:xfrm>
            <a:off x="3078140" y="5011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59" name="그룹 58"/>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8028970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19593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6138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19188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2263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2263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2263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2263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0412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0412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0412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0412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6027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6138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4193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4193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4193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4193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507733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50583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942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25857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1796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31741002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31343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8224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093860"/>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401346"/>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01345"/>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01345"/>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401345"/>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2068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62636"/>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1953534"/>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1818"/>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4216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0665"/>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38259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382590"/>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382590"/>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382590"/>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25541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4807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82248"/>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3444615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보증금납부방법 선택 후 입찰보증금을 입력하면 </a:t>
            </a:r>
            <a:r>
              <a:rPr lang="ko-KR" altLang="en-US" dirty="0" err="1"/>
              <a:t>투찰가능금액이</a:t>
            </a:r>
            <a:r>
              <a:rPr lang="ko-KR" altLang="en-US" dirty="0"/>
              <a:t> 계산 됨</a:t>
            </a:r>
            <a:r>
              <a:rPr lang="en-US" altLang="ko-KR" dirty="0"/>
              <a:t/>
            </a:r>
            <a:br>
              <a:rPr lang="en-US" altLang="ko-KR" dirty="0"/>
            </a:br>
            <a:r>
              <a:rPr lang="en-US" altLang="ko-KR" dirty="0"/>
              <a:t>- </a:t>
            </a:r>
            <a:r>
              <a:rPr lang="ko-KR" altLang="en-US" dirty="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가능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개인 경우 </a:t>
            </a:r>
            <a:r>
              <a:rPr lang="ko-KR" altLang="en-US" dirty="0" err="1"/>
              <a:t>증권번호</a:t>
            </a:r>
            <a:r>
              <a:rPr lang="ko-KR" altLang="en-US" dirty="0"/>
              <a:t> 자동 입력</a:t>
            </a:r>
            <a:r>
              <a:rPr lang="en-US" altLang="ko-KR" dirty="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선택</a:t>
            </a:r>
            <a:r>
              <a:rPr lang="en-US" altLang="ko-KR" dirty="0"/>
              <a:t>, </a:t>
            </a:r>
            <a:r>
              <a:rPr lang="ko-KR" altLang="en-US" dirty="0"/>
              <a:t>없는 경우 직접 입력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입찰보증금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40549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68325"/>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014504"/>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321990"/>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321989"/>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321989"/>
            <a:ext cx="1784088"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2025-11-25 13:00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p:txBody>
      </p:sp>
      <p:grpSp>
        <p:nvGrpSpPr>
          <p:cNvPr id="172" name="그룹 171"/>
          <p:cNvGrpSpPr/>
          <p:nvPr/>
        </p:nvGrpSpPr>
        <p:grpSpPr>
          <a:xfrm>
            <a:off x="720139" y="4321989"/>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39611"/>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37895"/>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2824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76742"/>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1889826"/>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1889825"/>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1889825"/>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1889825"/>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7" name="사각형: 둥근 모서리 15">
            <a:extLst>
              <a:ext uri="{FF2B5EF4-FFF2-40B4-BE49-F238E27FC236}">
                <a16:creationId xmlns:a16="http://schemas.microsoft.com/office/drawing/2014/main" id="{E2B61CFB-AD16-68D0-8752-50D9C5E01971}"/>
              </a:ext>
            </a:extLst>
          </p:cNvPr>
          <p:cNvSpPr/>
          <p:nvPr/>
        </p:nvSpPr>
        <p:spPr>
          <a:xfrm>
            <a:off x="1561065" y="435307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98" name="그룹 97"/>
          <p:cNvGrpSpPr/>
          <p:nvPr/>
        </p:nvGrpSpPr>
        <p:grpSpPr>
          <a:xfrm>
            <a:off x="3138674" y="4410572"/>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456521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2" name="그룹 101"/>
          <p:cNvGrpSpPr/>
          <p:nvPr/>
        </p:nvGrpSpPr>
        <p:grpSpPr>
          <a:xfrm>
            <a:off x="3138674" y="4622708"/>
            <a:ext cx="94010" cy="47005"/>
            <a:chOff x="6812560" y="3297172"/>
            <a:chExt cx="94010" cy="47005"/>
          </a:xfrm>
        </p:grpSpPr>
        <p:cxnSp>
          <p:nvCxnSpPr>
            <p:cNvPr id="103" name="직선 연결선 1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4" name="직선 연결선 1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192549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29" name="그룹 128"/>
          <p:cNvGrpSpPr/>
          <p:nvPr/>
        </p:nvGrpSpPr>
        <p:grpSpPr>
          <a:xfrm>
            <a:off x="6259009" y="1982990"/>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12945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30384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4" name="사각형: 둥근 모서리 15">
            <a:extLst>
              <a:ext uri="{FF2B5EF4-FFF2-40B4-BE49-F238E27FC236}">
                <a16:creationId xmlns:a16="http://schemas.microsoft.com/office/drawing/2014/main" id="{E2B61CFB-AD16-68D0-8752-50D9C5E01971}"/>
              </a:ext>
            </a:extLst>
          </p:cNvPr>
          <p:cNvSpPr/>
          <p:nvPr/>
        </p:nvSpPr>
        <p:spPr>
          <a:xfrm>
            <a:off x="4681400" y="233951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4681400" y="255425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6106160" y="2297902"/>
            <a:ext cx="298674" cy="430887"/>
          </a:xfrm>
          <a:prstGeom prst="rect">
            <a:avLst/>
          </a:prstGeom>
          <a:noFill/>
        </p:spPr>
        <p:txBody>
          <a:bodyPr wrap="square" lIns="0" tIns="0" rIns="0" bIns="0" rtlCol="0">
            <a:spAutoFit/>
          </a:bodyPr>
          <a:lstStyle/>
          <a:p>
            <a:pPr algn="r">
              <a:lnSpc>
                <a:spcPct val="200000"/>
              </a:lnSpc>
            </a:pPr>
            <a:r>
              <a:rPr lang="ko-KR" altLang="en-US" sz="700" dirty="0">
                <a:latin typeface="+mn-ea"/>
              </a:rPr>
              <a:t>원</a:t>
            </a: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p:txBody>
      </p:sp>
      <p:sp>
        <p:nvSpPr>
          <p:cNvPr id="140" name="모서리가 둥근 직사각형 139"/>
          <p:cNvSpPr/>
          <p:nvPr/>
        </p:nvSpPr>
        <p:spPr>
          <a:xfrm rot="5400000">
            <a:off x="2662242" y="25402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1341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1568325"/>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492728127"/>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보증금면제사유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보증금면제사유 상세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보증금면제사유 설명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275990"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보증금 면제 사유 상세 설명</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2401096"/>
            <a:ext cx="2473940" cy="4201150"/>
          </a:xfrm>
          <a:prstGeom prst="rect">
            <a:avLst/>
          </a:prstGeom>
          <a:noFill/>
        </p:spPr>
        <p:txBody>
          <a:bodyPr wrap="square" lIns="0" tIns="0" rIns="0" bIns="0" rtlCol="0">
            <a:spAutoFit/>
          </a:bodyPr>
          <a:lstStyle/>
          <a:p>
            <a:pPr marL="228600" indent="-228600">
              <a:buFontTx/>
              <a:buAutoNum type="arabicPeriod"/>
            </a:pPr>
            <a:r>
              <a:rPr lang="en-US" altLang="ko-KR" sz="700" b="1" dirty="0"/>
              <a:t>1</a:t>
            </a:r>
            <a:r>
              <a:rPr lang="ko-KR" altLang="en-US" sz="700" b="1" dirty="0"/>
              <a:t>호 </a:t>
            </a:r>
            <a:r>
              <a:rPr lang="en-US" altLang="ko-KR" sz="700" b="1" dirty="0"/>
              <a:t>: </a:t>
            </a:r>
            <a:r>
              <a:rPr lang="ko-KR" altLang="en-US" sz="700" b="1" dirty="0" err="1"/>
              <a:t>국가기관및지방자치단체</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1</a:t>
            </a:r>
            <a:r>
              <a:rPr lang="ko-KR" altLang="en-US" sz="700" dirty="0"/>
              <a:t>호 </a:t>
            </a:r>
            <a:r>
              <a:rPr lang="en-US" altLang="ko-KR" sz="700" dirty="0"/>
              <a:t>: </a:t>
            </a:r>
            <a:r>
              <a:rPr lang="ko-KR" altLang="en-US" sz="700" dirty="0"/>
              <a:t>국가기관 및 지방자치단체</a:t>
            </a:r>
          </a:p>
          <a:p>
            <a:pPr marL="228600" indent="-228600">
              <a:buAutoNum type="arabicPeriod"/>
            </a:pPr>
            <a:endParaRPr lang="en-US" altLang="ko-KR" sz="700" dirty="0">
              <a:solidFill>
                <a:srgbClr val="000000"/>
              </a:solidFill>
              <a:latin typeface="Consolas" panose="020B0609020204030204" pitchFamily="49" charset="0"/>
            </a:endParaRPr>
          </a:p>
          <a:p>
            <a:pPr marL="228600" indent="-228600">
              <a:buAutoNum type="arabicPeriod"/>
            </a:pPr>
            <a:r>
              <a:rPr lang="en-US" altLang="ko-KR" sz="700" b="1" dirty="0"/>
              <a:t>2</a:t>
            </a:r>
            <a:r>
              <a:rPr lang="ko-KR" altLang="en-US" sz="700" b="1" dirty="0"/>
              <a:t>호 </a:t>
            </a:r>
            <a:r>
              <a:rPr lang="en-US" altLang="ko-KR" sz="700" b="1" dirty="0"/>
              <a:t>: </a:t>
            </a:r>
            <a:r>
              <a:rPr lang="ko-KR" altLang="en-US" sz="700" b="1" dirty="0"/>
              <a:t>공공기관</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2</a:t>
            </a:r>
            <a:r>
              <a:rPr lang="ko-KR" altLang="en-US" sz="700" dirty="0"/>
              <a:t>호 </a:t>
            </a:r>
            <a:r>
              <a:rPr lang="en-US" altLang="ko-KR" sz="700" dirty="0"/>
              <a:t>: </a:t>
            </a:r>
            <a:r>
              <a:rPr lang="ko-KR" altLang="en-US" sz="700" dirty="0"/>
              <a:t>「공공기관의 운영에 관한 </a:t>
            </a:r>
            <a:r>
              <a:rPr lang="ko-KR" altLang="en-US" sz="700" dirty="0" err="1"/>
              <a:t>법률」에</a:t>
            </a:r>
            <a:r>
              <a:rPr lang="ko-KR" altLang="en-US" sz="700" dirty="0"/>
              <a:t> 따른 공공기관</a:t>
            </a:r>
            <a:endParaRPr lang="en-US" altLang="ko-KR" sz="700" dirty="0"/>
          </a:p>
          <a:p>
            <a:pPr marL="228600" indent="-228600">
              <a:buAutoNum type="arabicPeriod"/>
            </a:pPr>
            <a:endParaRPr lang="en-US" altLang="ko-KR" sz="700" dirty="0"/>
          </a:p>
          <a:p>
            <a:pPr marL="228600" indent="-228600">
              <a:buFontTx/>
              <a:buAutoNum type="arabicPeriod"/>
            </a:pPr>
            <a:r>
              <a:rPr lang="en-US" altLang="ko-KR" sz="700" b="1" dirty="0"/>
              <a:t>3</a:t>
            </a:r>
            <a:r>
              <a:rPr lang="ko-KR" altLang="en-US" sz="700" b="1" dirty="0"/>
              <a:t>호 </a:t>
            </a:r>
            <a:r>
              <a:rPr lang="en-US" altLang="ko-KR" sz="700" b="1" dirty="0"/>
              <a:t>: </a:t>
            </a:r>
            <a:r>
              <a:rPr lang="ko-KR" altLang="en-US" sz="700" b="1" dirty="0"/>
              <a:t>정부출연법인</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3</a:t>
            </a:r>
            <a:r>
              <a:rPr lang="ko-KR" altLang="en-US" sz="700" dirty="0"/>
              <a:t>호 </a:t>
            </a:r>
            <a:r>
              <a:rPr lang="en-US" altLang="ko-KR" sz="700" dirty="0"/>
              <a:t>: </a:t>
            </a:r>
            <a:r>
              <a:rPr lang="ko-KR" altLang="en-US" sz="700" dirty="0"/>
              <a:t>정부가 기본재산의 </a:t>
            </a:r>
            <a:r>
              <a:rPr lang="en-US" altLang="ko-KR" sz="700" dirty="0"/>
              <a:t>100</a:t>
            </a:r>
            <a:r>
              <a:rPr lang="ko-KR" altLang="en-US" sz="700" dirty="0"/>
              <a:t>분의 </a:t>
            </a:r>
            <a:r>
              <a:rPr lang="en-US" altLang="ko-KR" sz="700" dirty="0"/>
              <a:t>50</a:t>
            </a:r>
            <a:r>
              <a:rPr lang="ko-KR" altLang="en-US" sz="700" dirty="0"/>
              <a:t>이상을 출연</a:t>
            </a:r>
            <a:r>
              <a:rPr lang="en-US" altLang="ko-KR" sz="700" dirty="0"/>
              <a:t>(</a:t>
            </a:r>
            <a:r>
              <a:rPr lang="ko-KR" altLang="en-US" sz="700" dirty="0"/>
              <a:t>법률의 규정에 의하여 귀속시킨 경우를 포함한다</a:t>
            </a:r>
            <a:r>
              <a:rPr lang="en-US" altLang="ko-KR" sz="700" dirty="0"/>
              <a:t>. </a:t>
            </a:r>
            <a:r>
              <a:rPr lang="ko-KR" altLang="en-US" sz="700" dirty="0"/>
              <a:t>이하 같다</a:t>
            </a:r>
            <a:r>
              <a:rPr lang="en-US" altLang="ko-KR" sz="700" dirty="0"/>
              <a:t>)</a:t>
            </a:r>
            <a:r>
              <a:rPr lang="ko-KR" altLang="en-US" sz="700" dirty="0"/>
              <a:t>한 법인</a:t>
            </a:r>
            <a:endParaRPr lang="en-US" altLang="ko-KR" sz="700" dirty="0"/>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4</a:t>
            </a:r>
            <a:r>
              <a:rPr lang="ko-KR" altLang="en-US" sz="700" b="1" dirty="0"/>
              <a:t>호 </a:t>
            </a:r>
            <a:r>
              <a:rPr lang="en-US" altLang="ko-KR" sz="700" b="1" dirty="0"/>
              <a:t>: </a:t>
            </a:r>
            <a:r>
              <a:rPr lang="ko-KR" altLang="en-US" sz="700" b="1" dirty="0" err="1"/>
              <a:t>농협수협</a:t>
            </a:r>
            <a:r>
              <a:rPr lang="en-US" altLang="ko-KR" sz="700" b="1" dirty="0"/>
              <a:t>,</a:t>
            </a:r>
            <a:r>
              <a:rPr lang="ko-KR" altLang="en-US" sz="700" b="1" dirty="0"/>
              <a:t>산림조합</a:t>
            </a:r>
            <a:r>
              <a:rPr lang="en-US" altLang="ko-KR" sz="700" b="1" dirty="0"/>
              <a:t>,</a:t>
            </a:r>
            <a:r>
              <a:rPr lang="ko-KR" altLang="en-US" sz="700" b="1" dirty="0" err="1"/>
              <a:t>중소기업협동조합및중앙회</a:t>
            </a:r>
            <a:r>
              <a:rPr lang="en-US" altLang="ko-KR" sz="700" b="1" dirty="0"/>
              <a:t>,</a:t>
            </a:r>
            <a:r>
              <a:rPr lang="ko-KR" altLang="en-US" sz="700" b="1" dirty="0"/>
              <a:t>한국농어촌공사</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4</a:t>
            </a:r>
            <a:r>
              <a:rPr lang="ko-KR" altLang="en-US" sz="700" dirty="0"/>
              <a:t>호 </a:t>
            </a:r>
            <a:r>
              <a:rPr lang="en-US" altLang="ko-KR" sz="700" dirty="0"/>
              <a:t>: </a:t>
            </a:r>
            <a:r>
              <a:rPr lang="ko-KR" altLang="en-US" sz="700" dirty="0"/>
              <a:t>「</a:t>
            </a:r>
            <a:r>
              <a:rPr lang="ko-KR" altLang="en-US" sz="700" dirty="0" err="1"/>
              <a:t>농업협동조합법」에</a:t>
            </a:r>
            <a:r>
              <a:rPr lang="ko-KR" altLang="en-US" sz="700" dirty="0"/>
              <a:t> 의한 조합</a:t>
            </a:r>
            <a:r>
              <a:rPr lang="en-US" altLang="ko-KR" sz="700" dirty="0"/>
              <a:t>·</a:t>
            </a:r>
            <a:r>
              <a:rPr lang="ko-KR" altLang="en-US" sz="700" dirty="0"/>
              <a:t>조합공동사업법인 및 그 중앙회</a:t>
            </a:r>
            <a:r>
              <a:rPr lang="en-US" altLang="ko-KR" sz="700" dirty="0"/>
              <a:t>, </a:t>
            </a:r>
            <a:r>
              <a:rPr lang="ko-KR" altLang="en-US" sz="700" dirty="0"/>
              <a:t>「</a:t>
            </a:r>
            <a:r>
              <a:rPr lang="ko-KR" altLang="en-US" sz="700" dirty="0" err="1"/>
              <a:t>수산업협동조합법」에</a:t>
            </a:r>
            <a:r>
              <a:rPr lang="ko-KR" altLang="en-US" sz="700" dirty="0"/>
              <a:t> 의한 </a:t>
            </a:r>
            <a:r>
              <a:rPr lang="ko-KR" altLang="en-US" sz="700" dirty="0" err="1"/>
              <a:t>어촌계</a:t>
            </a:r>
            <a:r>
              <a:rPr lang="en-US" altLang="ko-KR" sz="700" dirty="0"/>
              <a:t>·</a:t>
            </a:r>
            <a:r>
              <a:rPr lang="ko-KR" altLang="en-US" sz="700" dirty="0"/>
              <a:t>수산업협동조합 및 그 중앙회</a:t>
            </a:r>
            <a:r>
              <a:rPr lang="en-US" altLang="ko-KR" sz="700" dirty="0"/>
              <a:t>, </a:t>
            </a:r>
            <a:r>
              <a:rPr lang="ko-KR" altLang="en-US" sz="700" dirty="0"/>
              <a:t>「</a:t>
            </a:r>
            <a:r>
              <a:rPr lang="ko-KR" altLang="en-US" sz="700" dirty="0" err="1"/>
              <a:t>산림조합법」에</a:t>
            </a:r>
            <a:r>
              <a:rPr lang="ko-KR" altLang="en-US" sz="700" dirty="0"/>
              <a:t> 의한 산림조합 및 그 중앙회</a:t>
            </a:r>
            <a:r>
              <a:rPr lang="en-US" altLang="ko-KR" sz="700" dirty="0"/>
              <a:t>, </a:t>
            </a:r>
            <a:r>
              <a:rPr lang="ko-KR" altLang="en-US" sz="700" dirty="0"/>
              <a:t>「</a:t>
            </a:r>
            <a:r>
              <a:rPr lang="ko-KR" altLang="en-US" sz="700" dirty="0" err="1"/>
              <a:t>중소기업협동조합법」에</a:t>
            </a:r>
            <a:r>
              <a:rPr lang="ko-KR" altLang="en-US" sz="700" dirty="0"/>
              <a:t> 의한 중소기업협동조합 및 그 중앙회와 「한국농어촌공사 및 </a:t>
            </a:r>
            <a:r>
              <a:rPr lang="ko-KR" altLang="en-US" sz="700" dirty="0" err="1"/>
              <a:t>농지관리기금법」에</a:t>
            </a:r>
            <a:r>
              <a:rPr lang="ko-KR" altLang="en-US" sz="700" dirty="0"/>
              <a:t> 따른 한국농어촌공사</a:t>
            </a:r>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5</a:t>
            </a:r>
            <a:r>
              <a:rPr lang="ko-KR" altLang="en-US" sz="700" b="1" dirty="0"/>
              <a:t>호 </a:t>
            </a:r>
            <a:r>
              <a:rPr lang="en-US" altLang="ko-KR" sz="700" b="1" dirty="0"/>
              <a:t>: </a:t>
            </a:r>
            <a:r>
              <a:rPr lang="ko-KR" altLang="en-US" sz="700" b="1" dirty="0"/>
              <a:t>건설산업기본법 등에 따른 등록법인</a:t>
            </a:r>
            <a:r>
              <a:rPr lang="en-US" altLang="ko-KR" sz="700" b="1" dirty="0"/>
              <a:t>,</a:t>
            </a:r>
            <a:r>
              <a:rPr lang="ko-KR" altLang="en-US" sz="700" b="1" dirty="0"/>
              <a:t>저탄소녹색성장기본법 해당</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5</a:t>
            </a:r>
            <a:r>
              <a:rPr lang="ko-KR" altLang="en-US" sz="700" dirty="0"/>
              <a:t>호 </a:t>
            </a:r>
            <a:r>
              <a:rPr lang="en-US" altLang="ko-KR" sz="700" dirty="0"/>
              <a:t>: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a:t>
            </a:r>
            <a:r>
              <a:rPr lang="en-US" altLang="ko-KR" sz="700" dirty="0"/>
              <a:t>·</a:t>
            </a:r>
            <a:r>
              <a:rPr lang="ko-KR" altLang="en-US" sz="700" dirty="0"/>
              <a:t>「건설폐기물의 재활용촉진에 관한 법률」</a:t>
            </a:r>
            <a:r>
              <a:rPr lang="en-US" altLang="ko-KR" sz="700" dirty="0"/>
              <a:t>·</a:t>
            </a:r>
            <a:r>
              <a:rPr lang="ko-KR" altLang="en-US" sz="700" dirty="0"/>
              <a:t>「</a:t>
            </a:r>
            <a:r>
              <a:rPr lang="ko-KR" altLang="en-US" sz="700" dirty="0" err="1"/>
              <a:t>골재채취법</a:t>
            </a:r>
            <a:r>
              <a:rPr lang="ko-KR" altLang="en-US" sz="700" dirty="0"/>
              <a:t>」 또는 「문화재수리 등에 관한 법률」 등의 법령에 의하여 </a:t>
            </a:r>
            <a:r>
              <a:rPr lang="ko-KR" altLang="en-US" sz="700" dirty="0" err="1"/>
              <a:t>등록등을</a:t>
            </a:r>
            <a:r>
              <a:rPr lang="ko-KR" altLang="en-US" sz="700" dirty="0"/>
              <a:t> 한 법인으로서 기획재정부장관이 정하는 기준에 해당되는 자</a:t>
            </a:r>
            <a:r>
              <a:rPr lang="en-US" altLang="ko-KR" sz="700" dirty="0"/>
              <a:t/>
            </a:r>
            <a:br>
              <a:rPr lang="en-US" altLang="ko-KR" sz="700" dirty="0"/>
            </a:br>
            <a:r>
              <a:rPr lang="en-US" altLang="ko-KR" sz="700" dirty="0"/>
              <a:t>5</a:t>
            </a:r>
            <a:r>
              <a:rPr lang="ko-KR" altLang="en-US" sz="700" dirty="0"/>
              <a:t>의</a:t>
            </a:r>
            <a:r>
              <a:rPr lang="en-US" altLang="ko-KR" sz="700" dirty="0"/>
              <a:t>2. </a:t>
            </a:r>
            <a:r>
              <a:rPr lang="ko-KR" altLang="en-US" sz="700" dirty="0"/>
              <a:t>「</a:t>
            </a:r>
            <a:r>
              <a:rPr lang="ko-KR" altLang="en-US" sz="700" dirty="0" err="1"/>
              <a:t>저탄소</a:t>
            </a:r>
            <a:r>
              <a:rPr lang="ko-KR" altLang="en-US" sz="700" dirty="0"/>
              <a:t> 녹색성장 기본법」 제</a:t>
            </a:r>
            <a:r>
              <a:rPr lang="en-US" altLang="ko-KR" sz="700" dirty="0"/>
              <a:t>32</a:t>
            </a:r>
            <a:r>
              <a:rPr lang="ko-KR" altLang="en-US" sz="700" dirty="0"/>
              <a:t>조제</a:t>
            </a:r>
            <a:r>
              <a:rPr lang="en-US" altLang="ko-KR" sz="700" dirty="0"/>
              <a:t>2</a:t>
            </a:r>
            <a:r>
              <a:rPr lang="ko-KR" altLang="en-US" sz="700" dirty="0"/>
              <a:t>항에 따라 녹색기술</a:t>
            </a:r>
            <a:r>
              <a:rPr lang="en-US" altLang="ko-KR" sz="700" dirty="0"/>
              <a:t>·</a:t>
            </a:r>
            <a:r>
              <a:rPr lang="ko-KR" altLang="en-US" sz="700" dirty="0" err="1"/>
              <a:t>녹색사업에</a:t>
            </a:r>
            <a:r>
              <a:rPr lang="ko-KR" altLang="en-US" sz="700" dirty="0"/>
              <a:t> 대한 적합성 인증을 받거나 녹색전문기업으로 확인을 받은 자 중 기획재정부장관이 정하는 기준에 해당하는 자</a:t>
            </a:r>
          </a:p>
          <a:p>
            <a:pPr marL="228600" indent="-228600">
              <a:buAutoNum type="arabicPeriod"/>
            </a:pPr>
            <a:endParaRPr lang="en-US" altLang="ko-KR" sz="700" dirty="0">
              <a:latin typeface="맑은 고딕" panose="020B0503020000020004" pitchFamily="50" charset="-127"/>
            </a:endParaRPr>
          </a:p>
        </p:txBody>
      </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4201150"/>
          </a:xfrm>
          <a:prstGeom prst="rect">
            <a:avLst/>
          </a:prstGeom>
          <a:noFill/>
        </p:spPr>
        <p:txBody>
          <a:bodyPr wrap="square" lIns="0" tIns="0" rIns="0" bIns="0" rtlCol="0">
            <a:spAutoFit/>
          </a:bodyPr>
          <a:lstStyle/>
          <a:p>
            <a:pPr marL="228600" indent="-228600">
              <a:buFont typeface="+mj-lt"/>
              <a:buAutoNum type="arabicPeriod" startAt="6"/>
            </a:pPr>
            <a:r>
              <a:rPr lang="en-US" altLang="ko-KR" sz="700" b="1" dirty="0"/>
              <a:t>6</a:t>
            </a:r>
            <a:r>
              <a:rPr lang="ko-KR" altLang="en-US" sz="700" b="1" dirty="0"/>
              <a:t>호 </a:t>
            </a:r>
            <a:r>
              <a:rPr lang="en-US" altLang="ko-KR" sz="700" b="1" dirty="0"/>
              <a:t>: </a:t>
            </a:r>
            <a:r>
              <a:rPr lang="ko-KR" altLang="en-US" sz="700" b="1" dirty="0"/>
              <a:t>낙찰자로 결정된 후 계약체결을 기피할 우려가 없다고 인정되는 자</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6</a:t>
            </a:r>
            <a:r>
              <a:rPr lang="ko-KR" altLang="en-US" sz="700" dirty="0"/>
              <a:t>호 </a:t>
            </a:r>
            <a:r>
              <a:rPr lang="en-US" altLang="ko-KR" sz="700" dirty="0"/>
              <a:t>: </a:t>
            </a:r>
            <a:r>
              <a:rPr lang="ko-KR" altLang="en-US" sz="700" dirty="0"/>
              <a:t>기타 경쟁입찰에서 낙찰자로 결정된 후 계약체결을 기피할 우려가 없다고 인정되는 자</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물품구매</a:t>
            </a:r>
            <a:r>
              <a:rPr lang="en-US" altLang="ko-KR" sz="700" b="1" dirty="0"/>
              <a:t>(</a:t>
            </a:r>
            <a:r>
              <a:rPr lang="ko-KR" altLang="en-US" sz="700" b="1" dirty="0"/>
              <a:t>제조</a:t>
            </a:r>
            <a:r>
              <a:rPr lang="en-US" altLang="ko-KR" sz="700" b="1" dirty="0"/>
              <a:t>)</a:t>
            </a:r>
            <a:r>
              <a:rPr lang="ko-KR" altLang="en-US" sz="700" b="1" dirty="0"/>
              <a:t>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물품구매</a:t>
            </a:r>
            <a:r>
              <a:rPr lang="en-US" altLang="ko-KR" sz="700" dirty="0"/>
              <a:t>(</a:t>
            </a:r>
            <a:r>
              <a:rPr lang="ko-KR" altLang="en-US" sz="700" dirty="0"/>
              <a:t>제조</a:t>
            </a:r>
            <a:r>
              <a:rPr lang="en-US" altLang="ko-KR" sz="700" dirty="0"/>
              <a:t>)</a:t>
            </a:r>
            <a:r>
              <a:rPr lang="ko-KR" altLang="en-US" sz="700" dirty="0"/>
              <a:t>입찰유의서 제</a:t>
            </a:r>
            <a:r>
              <a:rPr lang="en-US" altLang="ko-KR" sz="700" dirty="0"/>
              <a:t>6</a:t>
            </a:r>
            <a:r>
              <a:rPr lang="ko-KR" altLang="en-US" sz="700" dirty="0"/>
              <a:t>조 ④항 </a:t>
            </a:r>
            <a:r>
              <a:rPr lang="en-US" altLang="ko-KR" sz="700" dirty="0"/>
              <a:t>2. </a:t>
            </a:r>
            <a:r>
              <a:rPr lang="ko-KR" altLang="en-US" sz="700" dirty="0"/>
              <a:t>「식품위생법」 또는 「</a:t>
            </a:r>
            <a:r>
              <a:rPr lang="ko-KR" altLang="en-US" sz="700" dirty="0" err="1"/>
              <a:t>약사법」등</a:t>
            </a:r>
            <a:r>
              <a:rPr lang="ko-KR" altLang="en-US" sz="700" dirty="0"/>
              <a:t> </a:t>
            </a:r>
            <a:r>
              <a:rPr lang="ko-KR" altLang="en-US" sz="700" dirty="0" err="1"/>
              <a:t>제조업관련</a:t>
            </a:r>
            <a:r>
              <a:rPr lang="ko-KR" altLang="en-US" sz="700" dirty="0"/>
              <a:t> 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마친 자로서 입찰참가신청마감일 현재 해당 제조업을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공사입찰유의서 제</a:t>
            </a:r>
            <a:r>
              <a:rPr lang="en-US" altLang="ko-KR" sz="700" b="1" dirty="0"/>
              <a:t>7</a:t>
            </a:r>
            <a:r>
              <a:rPr lang="ko-KR" altLang="en-US" sz="700" b="1" dirty="0"/>
              <a:t>조 ⑤항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공사입찰유의서 제</a:t>
            </a:r>
            <a:r>
              <a:rPr lang="en-US" altLang="ko-KR" sz="700" dirty="0"/>
              <a:t>7</a:t>
            </a:r>
            <a:r>
              <a:rPr lang="ko-KR" altLang="en-US" sz="700" dirty="0"/>
              <a:t>조 ⑤항 </a:t>
            </a:r>
            <a:r>
              <a:rPr lang="en-US" altLang="ko-KR" sz="700" dirty="0"/>
              <a:t>2.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 또는 「</a:t>
            </a:r>
            <a:r>
              <a:rPr lang="ko-KR" altLang="en-US" sz="700" dirty="0" err="1"/>
              <a:t>소방시설공사업법」등에</a:t>
            </a:r>
            <a:r>
              <a:rPr lang="ko-KR" altLang="en-US" sz="700" dirty="0"/>
              <a:t> 의하여 국가 또는 지방자치단체</a:t>
            </a:r>
            <a:r>
              <a:rPr lang="en-US" altLang="ko-KR" sz="700" dirty="0"/>
              <a:t>(</a:t>
            </a:r>
            <a:r>
              <a:rPr lang="ko-KR" altLang="en-US" sz="700" dirty="0"/>
              <a:t>이하 </a:t>
            </a:r>
            <a:r>
              <a:rPr lang="en-US" altLang="ko-KR" sz="700" dirty="0"/>
              <a:t>"</a:t>
            </a:r>
            <a:r>
              <a:rPr lang="ko-KR" altLang="en-US" sz="700" dirty="0"/>
              <a:t>국가기관 등</a:t>
            </a:r>
            <a:r>
              <a:rPr lang="en-US" altLang="ko-KR" sz="700" dirty="0"/>
              <a:t>"</a:t>
            </a:r>
            <a:r>
              <a:rPr lang="ko-KR" altLang="en-US" sz="700" dirty="0"/>
              <a:t>이라 한다</a:t>
            </a:r>
            <a:r>
              <a:rPr lang="en-US" altLang="ko-KR" sz="700" dirty="0"/>
              <a:t>)</a:t>
            </a:r>
            <a:r>
              <a:rPr lang="ko-KR" altLang="en-US" sz="700" dirty="0"/>
              <a:t>로부터 등록 등을 받아 입찰신청마감일 현재 해당 공사관련법령에 의한 사업을 영위하고 있는 법인이 입찰에 참가하는 경우 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r>
              <a:rPr lang="en-US" altLang="ko-KR" sz="700" dirty="0"/>
              <a:t>.</a:t>
            </a: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용역입찰유의서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용역입찰유의서 제</a:t>
            </a:r>
            <a:r>
              <a:rPr lang="en-US" altLang="ko-KR" sz="700" dirty="0"/>
              <a:t>6</a:t>
            </a:r>
            <a:r>
              <a:rPr lang="ko-KR" altLang="en-US" sz="700" dirty="0"/>
              <a:t>조 ④항 </a:t>
            </a:r>
            <a:r>
              <a:rPr lang="en-US" altLang="ko-KR" sz="700" dirty="0"/>
              <a:t>2.</a:t>
            </a:r>
            <a:r>
              <a:rPr lang="ko-KR" altLang="en-US" sz="700" dirty="0"/>
              <a:t>「건설기술관리법」</a:t>
            </a:r>
            <a:r>
              <a:rPr lang="en-US" altLang="ko-KR" sz="700" dirty="0"/>
              <a:t>·</a:t>
            </a:r>
            <a:r>
              <a:rPr lang="ko-KR" altLang="en-US" sz="700" dirty="0"/>
              <a:t>「엔지니어링기술진흥법」 또는 「건설폐기물의 재활용촉진에 관한 법률」 등 해당 용역관련법령에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하고 해당 용역관련법령상의 사업</a:t>
            </a:r>
            <a:r>
              <a:rPr lang="en-US" altLang="ko-KR" sz="700" dirty="0"/>
              <a:t>(</a:t>
            </a:r>
            <a:r>
              <a:rPr lang="ko-KR" altLang="en-US" sz="700" dirty="0"/>
              <a:t>해당 용역과 관계없는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등도 해당 용역관련법령상의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등은 포함</a:t>
            </a:r>
            <a:r>
              <a:rPr lang="en-US" altLang="ko-KR" sz="700" dirty="0"/>
              <a:t>)</a:t>
            </a:r>
            <a:r>
              <a:rPr lang="ko-KR" altLang="en-US" sz="700" dirty="0"/>
              <a:t>을 입찰참가신청마감일 현재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p>
          <a:p>
            <a:pPr marL="228600" indent="-228600">
              <a:buFont typeface="+mj-lt"/>
              <a:buAutoNum type="arabicPeriod" startAt="6"/>
            </a:pP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4" name="타원 33">
            <a:extLst>
              <a:ext uri="{FF2B5EF4-FFF2-40B4-BE49-F238E27FC236}">
                <a16:creationId xmlns:a16="http://schemas.microsoft.com/office/drawing/2014/main" id="{37A7FF4F-0EAA-1463-560A-D5EC24416103}"/>
              </a:ext>
            </a:extLst>
          </p:cNvPr>
          <p:cNvSpPr/>
          <p:nvPr/>
        </p:nvSpPr>
        <p:spPr>
          <a:xfrm>
            <a:off x="589334" y="1730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30464770"/>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106</a:t>
            </a:fld>
            <a:endParaRPr lang="ko-KR" altLang="en-US" dirty="0"/>
          </a:p>
        </p:txBody>
      </p:sp>
      <p:sp>
        <p:nvSpPr>
          <p:cNvPr id="2" name="TextBox 1">
            <a:extLst>
              <a:ext uri="{FF2B5EF4-FFF2-40B4-BE49-F238E27FC236}">
                <a16:creationId xmlns:a16="http://schemas.microsoft.com/office/drawing/2014/main" id="{CD839BCC-0B82-C9C8-B72C-43CB65CE08C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A426CE47-88B3-C60D-B868-5ED3F63FB2D4}"/>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t>보증금면제사유상세설명</a:t>
                      </a:r>
                      <a:r>
                        <a:rPr lang="ko-KR" altLang="en-US" sz="800" dirty="0">
                          <a:latin typeface="+mn-ea"/>
                          <a:ea typeface="+mn-ea"/>
                        </a:rPr>
                        <a:t>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3D34012B-4E55-6917-169D-4D32D7A384FC}"/>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5583340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smtClean="0"/>
              <a:t>)</a:t>
            </a:r>
          </a:p>
          <a:p>
            <a:pPr marL="228600" indent="-228600">
              <a:buFont typeface="+mj-lt"/>
              <a:buAutoNum type="arabicPeriod"/>
            </a:pPr>
            <a:r>
              <a:rPr lang="ko-KR" altLang="en-US" dirty="0" smtClean="0"/>
              <a:t>공통수급업체가 있는 경우 검색하여 추가 </a:t>
            </a:r>
            <a:r>
              <a:rPr lang="en-US" altLang="ko-KR" dirty="0" smtClean="0"/>
              <a:t>(</a:t>
            </a:r>
            <a:r>
              <a:rPr lang="en-US" altLang="ko-KR" dirty="0" smtClean="0">
                <a:solidFill>
                  <a:srgbClr val="000000"/>
                </a:solidFill>
                <a:latin typeface="맑은 고딕" panose="020B0503020000020004" pitchFamily="50" charset="-127"/>
              </a:rPr>
              <a:t>MUI-BD-04-P11 </a:t>
            </a:r>
            <a:r>
              <a:rPr lang="ko-KR" altLang="en-US" dirty="0">
                <a:latin typeface="+mn-ea"/>
              </a:rPr>
              <a:t>업체 </a:t>
            </a:r>
            <a:r>
              <a:rPr lang="ko-KR" altLang="en-US" dirty="0" smtClean="0">
                <a:latin typeface="+mn-ea"/>
              </a:rPr>
              <a:t>검색</a:t>
            </a:r>
            <a:r>
              <a:rPr lang="en-US" altLang="ko-KR" dirty="0" smtClean="0"/>
              <a:t>)</a:t>
            </a:r>
          </a:p>
          <a:p>
            <a:pPr marL="228600" indent="-228600">
              <a:buFont typeface="+mj-lt"/>
              <a:buAutoNum type="arabicPeriod"/>
            </a:pPr>
            <a:r>
              <a:rPr lang="ko-KR" altLang="en-US" dirty="0" smtClean="0"/>
              <a:t>신청서 작성 이후 공동수급업체가 신청서에 진입하여 동의여부를 선택</a:t>
            </a:r>
            <a:endParaRPr lang="en-US" altLang="ko-KR" dirty="0" smtClean="0"/>
          </a:p>
          <a:p>
            <a:pPr marL="228600" indent="-228600">
              <a:buFont typeface="+mj-lt"/>
              <a:buAutoNum type="arabicPeriod"/>
            </a:pPr>
            <a:r>
              <a:rPr lang="ko-KR" altLang="en-US" dirty="0" smtClean="0"/>
              <a:t>입력 필드 추가</a:t>
            </a:r>
            <a:r>
              <a:rPr lang="en-US" altLang="ko-KR" dirty="0" smtClean="0"/>
              <a:t>, </a:t>
            </a:r>
            <a:r>
              <a:rPr lang="ko-KR" altLang="en-US" dirty="0" smtClean="0"/>
              <a:t>삭제</a:t>
            </a: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28858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9010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284534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152834"/>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152833"/>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152833"/>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152833"/>
            <a:ext cx="2630093" cy="2145714"/>
            <a:chOff x="701175" y="1835481"/>
            <a:chExt cx="2630093" cy="214571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61387"/>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9671"/>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05002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8518"/>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33960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511059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6202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p:cNvSpPr/>
          <p:nvPr/>
        </p:nvSpPr>
        <p:spPr>
          <a:xfrm>
            <a:off x="3124518" y="3405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3825376" y="4126164"/>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altLang="ko-KR" sz="800" kern="0" dirty="0">
                <a:latin typeface="맑은 고딕"/>
                <a:ea typeface="맑은 고딕" panose="020B0503020000020004" pitchFamily="50" charset="-127"/>
              </a:rPr>
              <a:t>+ </a:t>
            </a:r>
            <a:r>
              <a:rPr kumimoji="1" lang="ko-KR" altLang="en-US" sz="800" kern="0" dirty="0">
                <a:latin typeface="맑은 고딕"/>
                <a:ea typeface="맑은 고딕" panose="020B0503020000020004" pitchFamily="50" charset="-127"/>
              </a:rPr>
              <a:t>추가하기</a:t>
            </a:r>
            <a:endParaRPr kumimoji="1" lang="en-US" sz="8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561065" y="404268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51" name="사각형: 둥근 모서리 15">
            <a:extLst>
              <a:ext uri="{FF2B5EF4-FFF2-40B4-BE49-F238E27FC236}">
                <a16:creationId xmlns:a16="http://schemas.microsoft.com/office/drawing/2014/main" id="{E2B61CFB-AD16-68D0-8752-50D9C5E01971}"/>
              </a:ext>
            </a:extLst>
          </p:cNvPr>
          <p:cNvSpPr/>
          <p:nvPr/>
        </p:nvSpPr>
        <p:spPr>
          <a:xfrm>
            <a:off x="1561065" y="4901646"/>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5" name="직사각형 154"/>
          <p:cNvSpPr/>
          <p:nvPr/>
        </p:nvSpPr>
        <p:spPr>
          <a:xfrm>
            <a:off x="3837098" y="1915645"/>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1915644"/>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1915644"/>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구성</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1915644"/>
            <a:ext cx="2630093" cy="2145714"/>
            <a:chOff x="701175" y="1835481"/>
            <a:chExt cx="2630093" cy="2145714"/>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1588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4675931" y="387340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84" name="타원 183"/>
          <p:cNvSpPr/>
          <p:nvPr/>
        </p:nvSpPr>
        <p:spPr>
          <a:xfrm>
            <a:off x="6239384" y="21678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4675931" y="280549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3664457"/>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1559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1590101"/>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타원 106">
            <a:extLst>
              <a:ext uri="{FF2B5EF4-FFF2-40B4-BE49-F238E27FC236}">
                <a16:creationId xmlns:a16="http://schemas.microsoft.com/office/drawing/2014/main" id="{37A7FF4F-0EAA-1463-560A-D5EC24416103}"/>
              </a:ext>
            </a:extLst>
          </p:cNvPr>
          <p:cNvSpPr/>
          <p:nvPr/>
        </p:nvSpPr>
        <p:spPr>
          <a:xfrm>
            <a:off x="589334" y="34189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8" name="타원 107">
            <a:extLst>
              <a:ext uri="{FF2B5EF4-FFF2-40B4-BE49-F238E27FC236}">
                <a16:creationId xmlns:a16="http://schemas.microsoft.com/office/drawing/2014/main" id="{37A7FF4F-0EAA-1463-560A-D5EC24416103}"/>
              </a:ext>
            </a:extLst>
          </p:cNvPr>
          <p:cNvSpPr/>
          <p:nvPr/>
        </p:nvSpPr>
        <p:spPr>
          <a:xfrm>
            <a:off x="589334" y="49277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15" name="타원 114">
            <a:extLst>
              <a:ext uri="{FF2B5EF4-FFF2-40B4-BE49-F238E27FC236}">
                <a16:creationId xmlns:a16="http://schemas.microsoft.com/office/drawing/2014/main" id="{37A7FF4F-0EAA-1463-560A-D5EC24416103}"/>
              </a:ext>
            </a:extLst>
          </p:cNvPr>
          <p:cNvSpPr/>
          <p:nvPr/>
        </p:nvSpPr>
        <p:spPr>
          <a:xfrm>
            <a:off x="3687818" y="4014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60577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드롭다운</a:t>
            </a:r>
            <a:r>
              <a:rPr lang="ko-KR" altLang="en-US" dirty="0"/>
              <a:t> </a:t>
            </a:r>
            <a:r>
              <a:rPr lang="en-US" altLang="ko-KR" dirty="0"/>
              <a:t>2</a:t>
            </a:r>
            <a:r>
              <a:rPr lang="ko-KR" altLang="en-US" dirty="0"/>
              <a:t>가지 구성</a:t>
            </a:r>
            <a:r>
              <a:rPr lang="en-US" altLang="ko-KR" dirty="0"/>
              <a:t/>
            </a:r>
            <a:br>
              <a:rPr lang="en-US" altLang="ko-KR" dirty="0"/>
            </a:br>
            <a:r>
              <a:rPr lang="en-US" altLang="ko-KR" dirty="0"/>
              <a:t>- </a:t>
            </a:r>
            <a:r>
              <a:rPr lang="ko-KR" altLang="en-US" dirty="0" err="1"/>
              <a:t>업체명</a:t>
            </a:r>
            <a:r>
              <a:rPr lang="en-US" altLang="ko-KR" dirty="0"/>
              <a:t>, </a:t>
            </a:r>
            <a:r>
              <a:rPr lang="ko-KR" altLang="en-US" dirty="0" err="1"/>
              <a:t>사업자번호</a:t>
            </a:r>
            <a:r>
              <a:rPr lang="en-US" altLang="ko-KR" dirty="0"/>
              <a:t/>
            </a:r>
            <a:br>
              <a:rPr lang="en-US" altLang="ko-KR" dirty="0"/>
            </a:br>
            <a:r>
              <a:rPr lang="en-US" altLang="ko-KR" dirty="0"/>
              <a:t>- </a:t>
            </a:r>
            <a:r>
              <a:rPr lang="ko-KR" altLang="en-US" dirty="0"/>
              <a:t>기본값</a:t>
            </a:r>
            <a:r>
              <a:rPr lang="en-US" altLang="ko-KR" dirty="0"/>
              <a:t>: </a:t>
            </a:r>
            <a:r>
              <a:rPr lang="ko-KR" altLang="en-US" dirty="0" err="1"/>
              <a:t>업체명</a:t>
            </a:r>
            <a:endParaRPr lang="en-US" altLang="ko-KR" dirty="0"/>
          </a:p>
          <a:p>
            <a:pPr marL="228600" indent="-228600">
              <a:buFont typeface="+mj-lt"/>
              <a:buAutoNum type="arabicPeriod"/>
            </a:pPr>
            <a:r>
              <a:rPr lang="ko-KR" altLang="en-US" dirty="0" err="1"/>
              <a:t>업체명</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공동수급업체 입력화면에서 </a:t>
            </a:r>
            <a:r>
              <a:rPr lang="ko-KR" altLang="en-US" dirty="0"/>
              <a:t>업체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3011654"/>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304205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3176467"/>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3157146"/>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341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3557095"/>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업체</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3625408"/>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3890810"/>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타원 313"/>
          <p:cNvSpPr/>
          <p:nvPr/>
        </p:nvSpPr>
        <p:spPr>
          <a:xfrm>
            <a:off x="6240768" y="359991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3643820"/>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42742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4381244"/>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5669385" y="4670045"/>
            <a:ext cx="670770" cy="107722"/>
          </a:xfrm>
          <a:prstGeom prst="rect">
            <a:avLst/>
          </a:prstGeom>
          <a:noFill/>
        </p:spPr>
        <p:txBody>
          <a:bodyPr wrap="square" lIns="0" tIns="0" rIns="0" bIns="0" rtlCol="0">
            <a:spAutoFit/>
          </a:bodyPr>
          <a:lstStyle/>
          <a:p>
            <a:pPr algn="r"/>
            <a:r>
              <a:rPr lang="ko-KR" altLang="en-US" sz="700" b="1" dirty="0" err="1">
                <a:latin typeface="+mn-ea"/>
              </a:rPr>
              <a:t>사업자번호</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3924811" y="4670045"/>
            <a:ext cx="670770" cy="107722"/>
          </a:xfrm>
          <a:prstGeom prst="rect">
            <a:avLst/>
          </a:prstGeom>
          <a:noFill/>
        </p:spPr>
        <p:txBody>
          <a:bodyPr wrap="square" lIns="0" tIns="0" rIns="0" bIns="0" rtlCol="0">
            <a:spAutoFit/>
          </a:bodyPr>
          <a:lstStyle/>
          <a:p>
            <a:r>
              <a:rPr lang="ko-KR" altLang="en-US" sz="700" b="1" dirty="0" err="1">
                <a:latin typeface="+mn-ea"/>
              </a:rPr>
              <a:t>업체명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45567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4875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5669385" y="4886876"/>
            <a:ext cx="670770" cy="612027"/>
          </a:xfrm>
          <a:prstGeom prst="rect">
            <a:avLst/>
          </a:prstGeom>
          <a:noFill/>
        </p:spPr>
        <p:txBody>
          <a:bodyPr wrap="square" lIns="0" tIns="0" rIns="0" bIns="0" rtlCol="0">
            <a:spAutoFit/>
          </a:bodyPr>
          <a:lstStyle/>
          <a:p>
            <a:pPr algn="r">
              <a:lnSpc>
                <a:spcPct val="200000"/>
              </a:lnSpc>
            </a:pPr>
            <a:r>
              <a:rPr lang="en-US" altLang="ko-KR" sz="700" dirty="0">
                <a:latin typeface="+mn-ea"/>
              </a:rPr>
              <a:t>123-45-67890</a:t>
            </a:r>
          </a:p>
          <a:p>
            <a:pPr algn="r">
              <a:lnSpc>
                <a:spcPct val="200000"/>
              </a:lnSpc>
            </a:pPr>
            <a:r>
              <a:rPr lang="en-US" altLang="ko-KR" sz="700" dirty="0">
                <a:latin typeface="+mn-ea"/>
              </a:rPr>
              <a:t>234-56-78901</a:t>
            </a:r>
          </a:p>
          <a:p>
            <a:pPr algn="r">
              <a:lnSpc>
                <a:spcPct val="200000"/>
              </a:lnSpc>
            </a:pPr>
            <a:r>
              <a:rPr lang="en-US" altLang="ko-KR" sz="700" dirty="0">
                <a:latin typeface="+mn-ea"/>
              </a:rPr>
              <a:t>345-67-89012</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3924811" y="4886876"/>
            <a:ext cx="1814470" cy="646331"/>
          </a:xfrm>
          <a:prstGeom prst="rect">
            <a:avLst/>
          </a:prstGeom>
          <a:noFill/>
        </p:spPr>
        <p:txBody>
          <a:bodyPr wrap="square" lIns="0" tIns="0" rIns="0" bIns="0" rtlCol="0">
            <a:spAutoFit/>
          </a:bodyPr>
          <a:lstStyle/>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5117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5331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5545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414991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9107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235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434459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510695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84" name="모서리가 둥근 직사각형 83"/>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90" name="그룹 89"/>
          <p:cNvGrpSpPr/>
          <p:nvPr/>
        </p:nvGrpSpPr>
        <p:grpSpPr>
          <a:xfrm>
            <a:off x="3112794" y="3900610"/>
            <a:ext cx="145884" cy="145882"/>
            <a:chOff x="3112794" y="3984500"/>
            <a:chExt cx="145884" cy="145882"/>
          </a:xfrm>
        </p:grpSpPr>
        <p:sp>
          <p:nvSpPr>
            <p:cNvPr id="91" name="타원 90"/>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2" name="그룹 91"/>
            <p:cNvGrpSpPr/>
            <p:nvPr/>
          </p:nvGrpSpPr>
          <p:grpSpPr>
            <a:xfrm>
              <a:off x="3156699" y="4028404"/>
              <a:ext cx="58075" cy="58074"/>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95" name="모서리가 둥근 직사각형 94"/>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업체명</a:t>
            </a:r>
            <a:endParaRPr lang="ko-KR" altLang="en-US" sz="700" dirty="0">
              <a:solidFill>
                <a:schemeClr val="tx1"/>
              </a:solidFill>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97" name="그룹 96"/>
          <p:cNvGrpSpPr/>
          <p:nvPr/>
        </p:nvGrpSpPr>
        <p:grpSpPr>
          <a:xfrm>
            <a:off x="3112794" y="3666333"/>
            <a:ext cx="91438" cy="45719"/>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타원 99">
            <a:extLst>
              <a:ext uri="{FF2B5EF4-FFF2-40B4-BE49-F238E27FC236}">
                <a16:creationId xmlns:a16="http://schemas.microsoft.com/office/drawing/2014/main" id="{37A7FF4F-0EAA-1463-560A-D5EC24416103}"/>
              </a:ext>
            </a:extLst>
          </p:cNvPr>
          <p:cNvSpPr/>
          <p:nvPr/>
        </p:nvSpPr>
        <p:spPr>
          <a:xfrm>
            <a:off x="573754" y="35861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48927019"/>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83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11715"/>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1611715"/>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1611715"/>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1828322"/>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7359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1944878"/>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43162"/>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03351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82009"/>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254551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292713"/>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40175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40921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41459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44242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44987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45526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357509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8824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8824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323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6" name="TextBox 55">
            <a:extLst>
              <a:ext uri="{FF2B5EF4-FFF2-40B4-BE49-F238E27FC236}">
                <a16:creationId xmlns:a16="http://schemas.microsoft.com/office/drawing/2014/main" id="{FFC49AEA-2A8F-250C-A86A-A7751D9706C3}"/>
              </a:ext>
            </a:extLst>
          </p:cNvPr>
          <p:cNvSpPr txBox="1"/>
          <p:nvPr/>
        </p:nvSpPr>
        <p:spPr>
          <a:xfrm>
            <a:off x="2965403" y="388246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57" name="사각형: 둥근 모서리 15">
            <a:extLst>
              <a:ext uri="{FF2B5EF4-FFF2-40B4-BE49-F238E27FC236}">
                <a16:creationId xmlns:a16="http://schemas.microsoft.com/office/drawing/2014/main" id="{E2B61CFB-AD16-68D0-8752-50D9C5E01971}"/>
              </a:ext>
            </a:extLst>
          </p:cNvPr>
          <p:cNvSpPr/>
          <p:nvPr/>
        </p:nvSpPr>
        <p:spPr>
          <a:xfrm>
            <a:off x="2985824" y="452906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2985824" y="412238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19274435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캐비닛 연결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파일첨부 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76161"/>
            <a:ext cx="2712027" cy="155613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직업 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5157914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문의 및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33742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402359"/>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51216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3450605"/>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32" name="모서리가 둥근 직사각형 131"/>
          <p:cNvSpPr/>
          <p:nvPr/>
        </p:nvSpPr>
        <p:spPr>
          <a:xfrm>
            <a:off x="2958909" y="351401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3835878"/>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91680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3916804"/>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143" name="모서리가 둥근 직사각형 142"/>
          <p:cNvSpPr/>
          <p:nvPr/>
        </p:nvSpPr>
        <p:spPr>
          <a:xfrm>
            <a:off x="2958909" y="391865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51585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222458"/>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33190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270348"/>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333758"/>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022946"/>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121230"/>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1115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160077"/>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0203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1598398"/>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191213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300127"/>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0688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11637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767702" y="4651224"/>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1" name="TextBox 58">
            <a:extLst>
              <a:ext uri="{FF2B5EF4-FFF2-40B4-BE49-F238E27FC236}">
                <a16:creationId xmlns:a16="http://schemas.microsoft.com/office/drawing/2014/main" id="{02FC114B-B48B-345F-BD70-2B5A196F5B3E}"/>
              </a:ext>
            </a:extLst>
          </p:cNvPr>
          <p:cNvSpPr txBox="1"/>
          <p:nvPr/>
        </p:nvSpPr>
        <p:spPr>
          <a:xfrm>
            <a:off x="865539" y="473726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4737269"/>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184" name="모서리가 둥근 직사각형 183"/>
          <p:cNvSpPr/>
          <p:nvPr/>
        </p:nvSpPr>
        <p:spPr>
          <a:xfrm>
            <a:off x="2958909" y="473912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767702" y="5032469"/>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6" name="TextBox 58">
            <a:extLst>
              <a:ext uri="{FF2B5EF4-FFF2-40B4-BE49-F238E27FC236}">
                <a16:creationId xmlns:a16="http://schemas.microsoft.com/office/drawing/2014/main" id="{02FC114B-B48B-345F-BD70-2B5A196F5B3E}"/>
              </a:ext>
            </a:extLst>
          </p:cNvPr>
          <p:cNvSpPr txBox="1"/>
          <p:nvPr/>
        </p:nvSpPr>
        <p:spPr>
          <a:xfrm>
            <a:off x="865539" y="511851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511851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206" name="모서리가 둥근 직사각형 205"/>
          <p:cNvSpPr/>
          <p:nvPr/>
        </p:nvSpPr>
        <p:spPr>
          <a:xfrm>
            <a:off x="2958909" y="512036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767702" y="5414933"/>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8" name="TextBox 58">
            <a:extLst>
              <a:ext uri="{FF2B5EF4-FFF2-40B4-BE49-F238E27FC236}">
                <a16:creationId xmlns:a16="http://schemas.microsoft.com/office/drawing/2014/main" id="{02FC114B-B48B-345F-BD70-2B5A196F5B3E}"/>
              </a:ext>
            </a:extLst>
          </p:cNvPr>
          <p:cNvSpPr txBox="1"/>
          <p:nvPr/>
        </p:nvSpPr>
        <p:spPr>
          <a:xfrm>
            <a:off x="865539" y="55009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5500978"/>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213" name="모서리가 둥근 직사각형 212"/>
          <p:cNvSpPr/>
          <p:nvPr/>
        </p:nvSpPr>
        <p:spPr>
          <a:xfrm>
            <a:off x="2958909" y="55028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340005"/>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340005"/>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43358"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887036"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553413"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5130842"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5109177"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9" name="그룹 228"/>
          <p:cNvGrpSpPr/>
          <p:nvPr/>
        </p:nvGrpSpPr>
        <p:grpSpPr>
          <a:xfrm>
            <a:off x="6046954" y="1598398"/>
            <a:ext cx="422853" cy="187961"/>
            <a:chOff x="3641308" y="2234886"/>
            <a:chExt cx="422853" cy="187961"/>
          </a:xfrm>
        </p:grpSpPr>
        <p:sp>
          <p:nvSpPr>
            <p:cNvPr id="230" name="타원 22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1" name="그룹 230"/>
            <p:cNvGrpSpPr/>
            <p:nvPr/>
          </p:nvGrpSpPr>
          <p:grpSpPr>
            <a:xfrm rot="5400000" flipH="1">
              <a:off x="3679895" y="2305364"/>
              <a:ext cx="94010" cy="47005"/>
              <a:chOff x="6812560" y="3297172"/>
              <a:chExt cx="94010" cy="47005"/>
            </a:xfrm>
          </p:grpSpPr>
          <p:cxnSp>
            <p:nvCxnSpPr>
              <p:cNvPr id="236" name="직선 연결선 2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7" name="직선 연결선 2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2" name="타원 23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16200000">
              <a:off x="3931564" y="2305364"/>
              <a:ext cx="94010" cy="47005"/>
              <a:chOff x="6812560" y="3297172"/>
              <a:chExt cx="94010" cy="47005"/>
            </a:xfrm>
          </p:grpSpPr>
          <p:cxnSp>
            <p:nvCxnSpPr>
              <p:cNvPr id="234" name="직선 연결선 2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8" name="모서리가 둥근 직사각형 237"/>
          <p:cNvSpPr/>
          <p:nvPr/>
        </p:nvSpPr>
        <p:spPr>
          <a:xfrm rot="5400000">
            <a:off x="2662242" y="25703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9" name="모서리가 둥근 직사각형 238"/>
          <p:cNvSpPr/>
          <p:nvPr/>
        </p:nvSpPr>
        <p:spPr>
          <a:xfrm rot="5400000">
            <a:off x="5781678" y="41529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2904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2678426"/>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2718304"/>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2718304"/>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grpSp>
        <p:nvGrpSpPr>
          <p:cNvPr id="100" name="그룹 99"/>
          <p:cNvGrpSpPr/>
          <p:nvPr/>
        </p:nvGrpSpPr>
        <p:grpSpPr>
          <a:xfrm>
            <a:off x="8223250" y="569392"/>
            <a:ext cx="3365500" cy="634511"/>
            <a:chOff x="8223250" y="569392"/>
            <a:chExt cx="3365500" cy="634511"/>
          </a:xfrm>
        </p:grpSpPr>
        <p:sp>
          <p:nvSpPr>
            <p:cNvPr id="101" name="직사각형 10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399379259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a:t>
            </a:r>
            <a:r>
              <a:rPr lang="ko-KR" altLang="en-US" dirty="0" err="1">
                <a:latin typeface="+mn-ea"/>
              </a:rPr>
              <a:t>국방규격</a:t>
            </a:r>
            <a:r>
              <a:rPr lang="ko-KR" altLang="en-US" dirty="0">
                <a:latin typeface="+mn-ea"/>
              </a:rPr>
              <a:t> 및 계약이행 가능성 확인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825821"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국방규격</a:t>
            </a:r>
            <a:r>
              <a:rPr lang="ko-KR" altLang="en-US" sz="800" b="1" dirty="0">
                <a:latin typeface="맑은 고딕" panose="020B0503020000020004" pitchFamily="50" charset="-127"/>
              </a:rPr>
              <a:t> 및 계약이행 가능성 확인 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latin typeface="맑은 고딕" panose="020B0503020000020004" pitchFamily="50" charset="-127"/>
                <a:sym typeface="Wingdings 2" panose="05020102010507070707" pitchFamily="18" charset="2"/>
              </a:rPr>
              <a:t>본 입찰에 참여 시 계약목적물에 대한 규격</a:t>
            </a:r>
            <a:r>
              <a:rPr lang="en-US" altLang="ko-KR" sz="700" dirty="0">
                <a:latin typeface="맑은 고딕" panose="020B0503020000020004" pitchFamily="50" charset="-127"/>
                <a:sym typeface="Wingdings 2" panose="05020102010507070707" pitchFamily="18" charset="2"/>
              </a:rPr>
              <a:t>(</a:t>
            </a:r>
            <a:r>
              <a:rPr lang="ko-KR" altLang="en-US" sz="700" dirty="0" err="1">
                <a:latin typeface="맑은 고딕" panose="020B0503020000020004" pitchFamily="50" charset="-127"/>
                <a:sym typeface="Wingdings 2" panose="05020102010507070707" pitchFamily="18" charset="2"/>
              </a:rPr>
              <a:t>구매요구서</a:t>
            </a:r>
            <a:r>
              <a:rPr lang="ko-KR" altLang="en-US" sz="700" dirty="0">
                <a:latin typeface="맑은 고딕" panose="020B0503020000020004" pitchFamily="50" charset="-127"/>
                <a:sym typeface="Wingdings 2" panose="05020102010507070707" pitchFamily="18" charset="2"/>
              </a:rPr>
              <a:t> 포함</a:t>
            </a:r>
            <a:r>
              <a:rPr lang="en-US" altLang="ko-KR" sz="700" dirty="0">
                <a:latin typeface="맑은 고딕" panose="020B0503020000020004" pitchFamily="50" charset="-127"/>
                <a:sym typeface="Wingdings 2" panose="05020102010507070707" pitchFamily="18" charset="2"/>
              </a:rPr>
              <a:t>)</a:t>
            </a:r>
            <a:r>
              <a:rPr lang="ko-KR" altLang="en-US" sz="700" dirty="0">
                <a:latin typeface="맑은 고딕" panose="020B0503020000020004" pitchFamily="50" charset="-127"/>
                <a:sym typeface="Wingdings 2" panose="05020102010507070707" pitchFamily="18" charset="2"/>
              </a:rPr>
              <a:t>을 반드시 열람하여 </a:t>
            </a:r>
            <a:r>
              <a:rPr lang="ko-KR" altLang="en-US" sz="700" dirty="0" err="1">
                <a:latin typeface="맑은 고딕" panose="020B0503020000020004" pitchFamily="50" charset="-127"/>
                <a:sym typeface="Wingdings 2" panose="05020102010507070707" pitchFamily="18" charset="2"/>
              </a:rPr>
              <a:t>규격서상</a:t>
            </a:r>
            <a:r>
              <a:rPr lang="ko-KR" altLang="en-US" sz="700" dirty="0">
                <a:latin typeface="맑은 고딕" panose="020B0503020000020004" pitchFamily="50" charset="-127"/>
                <a:sym typeface="Wingdings 2" panose="05020102010507070707" pitchFamily="18" charset="2"/>
              </a:rPr>
              <a:t> 각종 성능시험 요건을 확인하고</a:t>
            </a:r>
            <a:r>
              <a:rPr lang="en-US" altLang="ko-KR" sz="700" dirty="0">
                <a:latin typeface="맑은 고딕" panose="020B0503020000020004" pitchFamily="50" charset="-127"/>
                <a:sym typeface="Wingdings 2" panose="05020102010507070707" pitchFamily="18" charset="2"/>
              </a:rPr>
              <a:t>, </a:t>
            </a:r>
          </a:p>
          <a:p>
            <a:r>
              <a:rPr lang="ko-KR" altLang="en-US" sz="700" dirty="0">
                <a:solidFill>
                  <a:srgbClr val="0070C0"/>
                </a:solidFill>
                <a:latin typeface="맑은 고딕" panose="020B0503020000020004" pitchFamily="50" charset="-127"/>
                <a:sym typeface="Wingdings 2" panose="05020102010507070707" pitchFamily="18" charset="2"/>
              </a:rPr>
              <a:t>납기 내 </a:t>
            </a:r>
            <a:r>
              <a:rPr lang="ko-KR" altLang="en-US" sz="700" dirty="0" err="1">
                <a:solidFill>
                  <a:srgbClr val="0070C0"/>
                </a:solidFill>
                <a:latin typeface="맑은 고딕" panose="020B0503020000020004" pitchFamily="50" charset="-127"/>
                <a:sym typeface="Wingdings 2" panose="05020102010507070707" pitchFamily="18" charset="2"/>
              </a:rPr>
              <a:t>납품가능</a:t>
            </a:r>
            <a:r>
              <a:rPr lang="ko-KR" altLang="en-US" sz="700" dirty="0">
                <a:solidFill>
                  <a:srgbClr val="0070C0"/>
                </a:solidFill>
                <a:latin typeface="맑은 고딕" panose="020B0503020000020004" pitchFamily="50" charset="-127"/>
                <a:sym typeface="Wingdings 2" panose="05020102010507070707" pitchFamily="18" charset="2"/>
              </a:rPr>
              <a:t> 여부 및 계약특수조건 등 확인하여 계약이행 가능성</a:t>
            </a:r>
            <a:r>
              <a:rPr lang="ko-KR" altLang="en-US" sz="700" dirty="0">
                <a:latin typeface="맑은 고딕" panose="020B0503020000020004" pitchFamily="50" charset="-127"/>
                <a:sym typeface="Wingdings 2" panose="05020102010507070707" pitchFamily="18" charset="2"/>
              </a:rPr>
              <a:t>을 사전에 주의 깊게 판단 후 입찰에 참가하시기 바랍니다</a:t>
            </a:r>
            <a:r>
              <a:rPr lang="en-US" altLang="ko-KR" sz="700" dirty="0">
                <a:latin typeface="맑은 고딕" panose="020B0503020000020004" pitchFamily="50" charset="-127"/>
                <a:sym typeface="Wingdings 2" panose="05020102010507070707" pitchFamily="18" charset="2"/>
              </a:rPr>
              <a:t>. </a:t>
            </a:r>
          </a:p>
          <a:p>
            <a:r>
              <a:rPr lang="ko-KR" altLang="en-US" sz="700" dirty="0">
                <a:latin typeface="맑은 고딕" panose="020B0503020000020004" pitchFamily="50" charset="-127"/>
                <a:sym typeface="Wingdings 2" panose="05020102010507070707" pitchFamily="18" charset="2"/>
              </a:rPr>
              <a:t>본 유의사항에도 불구하고 규격 </a:t>
            </a:r>
            <a:r>
              <a:rPr lang="ko-KR" altLang="en-US" sz="700" dirty="0" err="1">
                <a:latin typeface="맑은 고딕" panose="020B0503020000020004" pitchFamily="50" charset="-127"/>
                <a:sym typeface="Wingdings 2" panose="05020102010507070707" pitchFamily="18" charset="2"/>
              </a:rPr>
              <a:t>미열람</a:t>
            </a:r>
            <a:r>
              <a:rPr lang="ko-KR" altLang="en-US" sz="700" dirty="0">
                <a:latin typeface="맑은 고딕" panose="020B0503020000020004" pitchFamily="50" charset="-127"/>
                <a:sym typeface="Wingdings 2" panose="05020102010507070707" pitchFamily="18" charset="2"/>
              </a:rPr>
              <a:t> 등에 따라 발생하는 모든 책임은 입찰자에게 있습니다</a:t>
            </a:r>
            <a:r>
              <a:rPr lang="en-US" altLang="ko-KR" sz="700" dirty="0">
                <a:latin typeface="맑은 고딕" panose="020B0503020000020004" pitchFamily="50" charset="-127"/>
                <a:sym typeface="Wingdings 2" panose="05020102010507070707" pitchFamily="18" charset="2"/>
              </a:rPr>
              <a:t>.</a:t>
            </a:r>
            <a:endParaRPr lang="ko-KR" altLang="en-US" sz="700" dirty="0">
              <a:latin typeface="맑은 고딕" panose="020B0503020000020004" pitchFamily="50" charset="-127"/>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69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7" name="그룹 6"/>
          <p:cNvGrpSpPr/>
          <p:nvPr/>
        </p:nvGrpSpPr>
        <p:grpSpPr>
          <a:xfrm>
            <a:off x="1432789" y="3777379"/>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7451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10315" y="3306967"/>
            <a:ext cx="2652742" cy="20777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국방표준종합정보시스템</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8139785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약관 동의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410369"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약관동의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323165"/>
          </a:xfrm>
          <a:prstGeom prst="rect">
            <a:avLst/>
          </a:prstGeom>
          <a:noFill/>
        </p:spPr>
        <p:txBody>
          <a:bodyPr wrap="square" lIns="0" tIns="0" rIns="0" bIns="0" rtlCol="0">
            <a:spAutoFit/>
          </a:bodyPr>
          <a:lstStyle/>
          <a:p>
            <a:r>
              <a:rPr lang="ko-KR" altLang="en-US" sz="700" b="1" dirty="0">
                <a:solidFill>
                  <a:schemeClr val="accent5"/>
                </a:solidFill>
                <a:latin typeface="맑은 고딕" panose="020B0503020000020004" pitchFamily="50" charset="-127"/>
              </a:rPr>
              <a:t>국방전자조달시스템 이용에 관한 약관</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국방전자조달시스템 전자입찰 </a:t>
            </a:r>
            <a:r>
              <a:rPr lang="ko-KR" altLang="en-US" sz="700" b="1" dirty="0" err="1">
                <a:solidFill>
                  <a:schemeClr val="accent5"/>
                </a:solidFill>
                <a:latin typeface="맑은 고딕" panose="020B0503020000020004" pitchFamily="50" charset="-127"/>
              </a:rPr>
              <a:t>특별유의서</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행정정보 공동이용 사전동의서</a:t>
            </a:r>
            <a:r>
              <a:rPr lang="ko-KR" altLang="en-US" sz="700" dirty="0">
                <a:latin typeface="맑은 고딕" panose="020B0503020000020004" pitchFamily="50" charset="-127"/>
              </a:rPr>
              <a:t>에 동의함</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44674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4545370"/>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45131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 name="모서리가 둥근 직사각형 33"/>
          <p:cNvSpPr/>
          <p:nvPr/>
        </p:nvSpPr>
        <p:spPr>
          <a:xfrm>
            <a:off x="703688" y="2894960"/>
            <a:ext cx="2652743" cy="1392050"/>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FFC49AEA-2A8F-250C-A86A-A7751D9706C3}"/>
              </a:ext>
            </a:extLst>
          </p:cNvPr>
          <p:cNvSpPr txBox="1"/>
          <p:nvPr/>
        </p:nvSpPr>
        <p:spPr>
          <a:xfrm>
            <a:off x="792458" y="2993244"/>
            <a:ext cx="2475203" cy="1184940"/>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0070C0"/>
                </a:solidFill>
                <a:latin typeface="맑은 고딕" panose="020B0503020000020004" pitchFamily="50" charset="-127"/>
              </a:rPr>
              <a:t>인증확인은</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법인인증서</a:t>
            </a:r>
            <a:r>
              <a:rPr lang="ko-KR" altLang="en-US" sz="700" dirty="0">
                <a:solidFill>
                  <a:srgbClr val="0070C0"/>
                </a:solidFill>
                <a:latin typeface="맑은 고딕" panose="020B0503020000020004" pitchFamily="50" charset="-127"/>
              </a:rPr>
              <a:t>만 사용 가능합니다</a:t>
            </a:r>
            <a:r>
              <a:rPr lang="en-US" altLang="ko-KR" sz="700" dirty="0">
                <a:solidFill>
                  <a:srgbClr val="0070C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로그인 시 사용</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인증서</a:t>
            </a:r>
            <a:r>
              <a:rPr lang="en-US" altLang="ko-KR" sz="700" dirty="0">
                <a:solidFill>
                  <a:srgbClr val="FF0000"/>
                </a:solidFill>
                <a:latin typeface="맑은 고딕" panose="020B0503020000020004" pitchFamily="50" charset="-127"/>
              </a:rPr>
              <a:t>(</a:t>
            </a:r>
            <a:r>
              <a:rPr lang="ko-KR" altLang="en-US" sz="700" dirty="0" err="1">
                <a:solidFill>
                  <a:srgbClr val="FF0000"/>
                </a:solidFill>
                <a:latin typeface="맑은 고딕" panose="020B0503020000020004" pitchFamily="50" charset="-127"/>
              </a:rPr>
              <a:t>법인인증서</a:t>
            </a:r>
            <a:r>
              <a:rPr lang="en-US" altLang="ko-KR" sz="700" dirty="0">
                <a:solidFill>
                  <a:srgbClr val="FF000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 모든 인증을 하셔야 합니다</a:t>
            </a:r>
            <a:r>
              <a:rPr lang="en-US" altLang="ko-KR" sz="700" dirty="0">
                <a:solidFill>
                  <a:srgbClr val="0070C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0070C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입찰참가신청이 되지 않거나 문의 사항은 도움말버튼을 클릭하세요</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FF000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신청 후 입찰진행화면에서 입찰참가신청서 조회를 누르셔서 신청하신 입찰보증금</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첨부서류가 정상적으로 신청되었는지 확인하시기 바랍니다</a:t>
            </a:r>
            <a:r>
              <a:rPr lang="en-US" altLang="ko-KR" sz="700" dirty="0">
                <a:solidFill>
                  <a:srgbClr val="FF0000"/>
                </a:solidFill>
                <a:latin typeface="맑은 고딕" panose="020B0503020000020004" pitchFamily="50" charset="-127"/>
              </a:rPr>
              <a:t>.</a:t>
            </a:r>
            <a:endParaRPr lang="en-US" altLang="ko-KR" sz="700" dirty="0">
              <a:latin typeface="+mn-ea"/>
            </a:endParaRPr>
          </a:p>
        </p:txBody>
      </p:sp>
      <p:sp>
        <p:nvSpPr>
          <p:cNvPr id="36" name="타원 35"/>
          <p:cNvSpPr/>
          <p:nvPr/>
        </p:nvSpPr>
        <p:spPr>
          <a:xfrm>
            <a:off x="788500" y="29835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26213436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r>
              <a:rPr lang="en-US" altLang="ko-KR" dirty="0"/>
              <a:t/>
            </a:r>
            <a:br>
              <a:rPr lang="en-US" altLang="ko-KR" dirty="0"/>
            </a:br>
            <a:r>
              <a:rPr lang="en-US" altLang="ko-KR" dirty="0"/>
              <a:t>- </a:t>
            </a:r>
            <a:r>
              <a:rPr lang="ko-KR" altLang="en-US" dirty="0"/>
              <a:t>공동수급협정 대상 업체는 동의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하도급 대금의 지급관련 확인 및 확약서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MUI-BD-04-P17</a:t>
            </a:r>
            <a:endParaRPr lang="ko-KR" altLang="en-US" dirty="0">
              <a:solidFill>
                <a:srgbClr val="000000"/>
              </a:solidFill>
              <a:latin typeface="맑은 고딕" panose="020B0503020000020004" pitchFamily="50" charset="-127"/>
            </a:endParaRPr>
          </a:p>
          <a:p>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7" name="TextBox 36">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38" name="직선 연결선 37">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9" name="TextBox 38">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40" name="모서리가 둥근 직사각형 39"/>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2" name="TextBox 41">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717412" y="3979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a:off x="1432789" y="4057160"/>
            <a:ext cx="1197246" cy="107722"/>
            <a:chOff x="4526323" y="5902014"/>
            <a:chExt cx="1197246" cy="107722"/>
          </a:xfrm>
        </p:grpSpPr>
        <p:sp>
          <p:nvSpPr>
            <p:cNvPr id="46" name="타원 45"/>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타원 46"/>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50" name="타원 49">
            <a:extLst>
              <a:ext uri="{FF2B5EF4-FFF2-40B4-BE49-F238E27FC236}">
                <a16:creationId xmlns:a16="http://schemas.microsoft.com/office/drawing/2014/main" id="{37A7FF4F-0EAA-1463-560A-D5EC24416103}"/>
              </a:ext>
            </a:extLst>
          </p:cNvPr>
          <p:cNvSpPr/>
          <p:nvPr/>
        </p:nvSpPr>
        <p:spPr>
          <a:xfrm>
            <a:off x="571127" y="40249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1" name="그룹 50"/>
          <p:cNvGrpSpPr/>
          <p:nvPr/>
        </p:nvGrpSpPr>
        <p:grpSpPr>
          <a:xfrm>
            <a:off x="675399" y="5613954"/>
            <a:ext cx="2712027" cy="617588"/>
            <a:chOff x="675399" y="5614711"/>
            <a:chExt cx="2712027" cy="617588"/>
          </a:xfrm>
        </p:grpSpPr>
        <p:sp>
          <p:nvSpPr>
            <p:cNvPr id="52" name="직사각형 5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8808471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4</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a:t>
            </a:r>
            <a:r>
              <a:rPr lang="en-US" altLang="ko-KR" dirty="0">
                <a:latin typeface="+mn-ea"/>
              </a:rPr>
              <a:t>(1/3)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627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상기 입찰에 참여함에 있어 낙찰된 이후 정당한 의무를 이행하지 못하여 입찰보증금을 국고에 귀속하여야 할 사유가 발생하였을 경우에는 국가를 당사자로 하는 계약에 관한 법률 시행령 제</a:t>
            </a:r>
            <a:r>
              <a:rPr lang="en-US" altLang="ko-KR" sz="700" dirty="0">
                <a:solidFill>
                  <a:srgbClr val="000000"/>
                </a:solidFill>
                <a:latin typeface="+mn-ea"/>
              </a:rPr>
              <a:t>38</a:t>
            </a:r>
            <a:r>
              <a:rPr lang="ko-KR" altLang="en-US" sz="700" dirty="0">
                <a:solidFill>
                  <a:srgbClr val="000000"/>
                </a:solidFill>
                <a:latin typeface="+mn-ea"/>
              </a:rPr>
              <a:t>조제</a:t>
            </a:r>
            <a:r>
              <a:rPr lang="en-US" altLang="ko-KR" sz="700" dirty="0">
                <a:solidFill>
                  <a:srgbClr val="000000"/>
                </a:solidFill>
                <a:latin typeface="+mn-ea"/>
              </a:rPr>
              <a:t>2</a:t>
            </a:r>
            <a:r>
              <a:rPr lang="ko-KR" altLang="en-US" sz="700" dirty="0">
                <a:solidFill>
                  <a:srgbClr val="000000"/>
                </a:solidFill>
                <a:latin typeface="+mn-ea"/>
              </a:rPr>
              <a:t>항에 의거 입찰보증금을 지체없이 현금으로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 납부할 것을 확약합니다</a:t>
            </a:r>
            <a:r>
              <a:rPr lang="en-US" altLang="ko-KR" sz="700" dirty="0">
                <a:solidFill>
                  <a:srgbClr val="000000"/>
                </a:solidFill>
                <a:latin typeface="+mn-ea"/>
              </a:rPr>
              <a:t>.</a:t>
            </a:r>
          </a:p>
          <a:p>
            <a:pPr marL="88900" indent="-88900">
              <a:buFont typeface="Arial" panose="020B0604020202020204" pitchFamily="34" charset="0"/>
              <a:buChar char="•"/>
            </a:pPr>
            <a:r>
              <a:rPr lang="ko-KR" altLang="en-US" sz="700" dirty="0">
                <a:solidFill>
                  <a:srgbClr val="000000"/>
                </a:solidFill>
                <a:latin typeface="+mn-ea"/>
              </a:rPr>
              <a:t>만일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에서 지정하는 기일까지 입찰보증금을 납부하지 아니할 경우에는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의 일방적인 </a:t>
            </a:r>
            <a:r>
              <a:rPr lang="ko-KR" altLang="en-US" sz="700" dirty="0" err="1">
                <a:solidFill>
                  <a:srgbClr val="000000"/>
                </a:solidFill>
                <a:latin typeface="+mn-ea"/>
              </a:rPr>
              <a:t>공제조치는</a:t>
            </a:r>
            <a:r>
              <a:rPr lang="ko-KR" altLang="en-US" sz="700" dirty="0">
                <a:solidFill>
                  <a:srgbClr val="000000"/>
                </a:solidFill>
                <a:latin typeface="+mn-ea"/>
              </a:rPr>
              <a:t> 물론 어떠한 법적 구상 및 제재 조치에도 하등의 이의가 없음을 확약합니다</a:t>
            </a:r>
            <a:r>
              <a:rPr lang="en-US" altLang="ko-KR" sz="700" dirty="0">
                <a:solidFill>
                  <a:srgbClr val="000000"/>
                </a:solidFill>
                <a:latin typeface="+mn-ea"/>
              </a:rPr>
              <a:t>.</a:t>
            </a:r>
            <a:endParaRPr lang="en-US" altLang="ko-KR" sz="700" dirty="0">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10833884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5</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경고 </a:t>
            </a:r>
            <a:r>
              <a:rPr lang="en-US" altLang="ko-KR" dirty="0">
                <a:latin typeface="+mn-ea"/>
              </a:rPr>
              <a:t>(2/3)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6494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r>
              <a:rPr lang="ko-KR" altLang="en-US" sz="800" b="1" dirty="0">
                <a:latin typeface="맑은 고딕" panose="020B0503020000020004" pitchFamily="50" charset="-127"/>
              </a:rPr>
              <a:t> 관련 경고문</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입찰보증금 면제 등록 시 「국가계약법 </a:t>
            </a:r>
            <a:r>
              <a:rPr lang="ko-KR" altLang="en-US" sz="700" dirty="0" err="1">
                <a:solidFill>
                  <a:srgbClr val="000000"/>
                </a:solidFill>
                <a:latin typeface="+mn-ea"/>
              </a:rPr>
              <a:t>시행령」등에</a:t>
            </a:r>
            <a:r>
              <a:rPr lang="ko-KR" altLang="en-US" sz="700" dirty="0">
                <a:solidFill>
                  <a:srgbClr val="000000"/>
                </a:solidFill>
                <a:latin typeface="+mn-ea"/>
              </a:rPr>
              <a:t> 따른 면제사유 해당여부를 반드시 확인하여 주시기 바라며</a:t>
            </a:r>
            <a:r>
              <a:rPr lang="en-US" altLang="ko-KR" sz="700" dirty="0">
                <a:solidFill>
                  <a:srgbClr val="000000"/>
                </a:solidFill>
                <a:latin typeface="+mn-ea"/>
              </a:rPr>
              <a:t>, </a:t>
            </a:r>
            <a:r>
              <a:rPr lang="ko-KR" altLang="en-US" sz="700" dirty="0">
                <a:solidFill>
                  <a:srgbClr val="000000"/>
                </a:solidFill>
                <a:latin typeface="+mn-ea"/>
              </a:rPr>
              <a:t>방위사업관리규정 제</a:t>
            </a:r>
            <a:r>
              <a:rPr lang="en-US" altLang="ko-KR" sz="700" dirty="0">
                <a:solidFill>
                  <a:srgbClr val="000000"/>
                </a:solidFill>
                <a:latin typeface="+mn-ea"/>
              </a:rPr>
              <a:t>397</a:t>
            </a:r>
            <a:r>
              <a:rPr lang="ko-KR" altLang="en-US" sz="700" dirty="0" err="1">
                <a:solidFill>
                  <a:srgbClr val="000000"/>
                </a:solidFill>
                <a:latin typeface="+mn-ea"/>
              </a:rPr>
              <a:t>조②항에</a:t>
            </a:r>
            <a:r>
              <a:rPr lang="ko-KR" altLang="en-US" sz="700" dirty="0">
                <a:solidFill>
                  <a:srgbClr val="000000"/>
                </a:solidFill>
                <a:latin typeface="+mn-ea"/>
              </a:rPr>
              <a:t> 따라 아래 각 호의 입찰보증금 면제 </a:t>
            </a:r>
            <a:r>
              <a:rPr lang="ko-KR" altLang="en-US" sz="700" dirty="0" err="1">
                <a:solidFill>
                  <a:srgbClr val="000000"/>
                </a:solidFill>
                <a:latin typeface="+mn-ea"/>
              </a:rPr>
              <a:t>예외사유에</a:t>
            </a:r>
            <a:r>
              <a:rPr lang="ko-KR" altLang="en-US" sz="700" dirty="0">
                <a:solidFill>
                  <a:srgbClr val="000000"/>
                </a:solidFill>
                <a:latin typeface="+mn-ea"/>
              </a:rPr>
              <a:t> 해당함에도 면제 등록 시</a:t>
            </a:r>
            <a:r>
              <a:rPr lang="en-US" altLang="ko-KR" sz="700" dirty="0">
                <a:solidFill>
                  <a:srgbClr val="000000"/>
                </a:solidFill>
                <a:latin typeface="+mn-ea"/>
              </a:rPr>
              <a:t>, </a:t>
            </a:r>
            <a:r>
              <a:rPr lang="ko-KR" altLang="en-US" sz="700" dirty="0">
                <a:solidFill>
                  <a:srgbClr val="000000"/>
                </a:solidFill>
                <a:latin typeface="+mn-ea"/>
              </a:rPr>
              <a:t>입찰등록불가</a:t>
            </a:r>
            <a:r>
              <a:rPr lang="en-US" altLang="ko-KR" sz="700" dirty="0">
                <a:solidFill>
                  <a:srgbClr val="000000"/>
                </a:solidFill>
                <a:latin typeface="+mn-ea"/>
              </a:rPr>
              <a:t>(</a:t>
            </a:r>
            <a:r>
              <a:rPr lang="ko-KR" altLang="en-US" sz="700" dirty="0">
                <a:solidFill>
                  <a:srgbClr val="000000"/>
                </a:solidFill>
                <a:latin typeface="+mn-ea"/>
              </a:rPr>
              <a:t>부적격</a:t>
            </a:r>
            <a:r>
              <a:rPr lang="en-US" altLang="ko-KR" sz="700" dirty="0">
                <a:solidFill>
                  <a:srgbClr val="000000"/>
                </a:solidFill>
                <a:latin typeface="+mn-ea"/>
              </a:rPr>
              <a:t>) </a:t>
            </a:r>
            <a:r>
              <a:rPr lang="ko-KR" altLang="en-US" sz="700" dirty="0">
                <a:solidFill>
                  <a:srgbClr val="000000"/>
                </a:solidFill>
                <a:latin typeface="+mn-ea"/>
              </a:rPr>
              <a:t>처리 예정이니 입찰보증금 납부를 권장합니다</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1. </a:t>
            </a:r>
            <a:r>
              <a:rPr lang="ko-KR" altLang="en-US" sz="700" dirty="0">
                <a:solidFill>
                  <a:srgbClr val="000000"/>
                </a:solidFill>
                <a:latin typeface="+mn-ea"/>
              </a:rPr>
              <a:t>방위사업청에 입찰보증금 등 국고귀속조치에 응하지 않고 있는 자</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2. </a:t>
            </a:r>
            <a:r>
              <a:rPr lang="ko-KR" altLang="en-US" sz="700" dirty="0">
                <a:solidFill>
                  <a:srgbClr val="000000"/>
                </a:solidFill>
                <a:latin typeface="+mn-ea"/>
              </a:rPr>
              <a:t>부정당업자 </a:t>
            </a:r>
            <a:r>
              <a:rPr lang="ko-KR" altLang="en-US" sz="700" dirty="0" err="1">
                <a:solidFill>
                  <a:srgbClr val="000000"/>
                </a:solidFill>
                <a:latin typeface="+mn-ea"/>
              </a:rPr>
              <a:t>제재기간이</a:t>
            </a:r>
            <a:r>
              <a:rPr lang="ko-KR" altLang="en-US" sz="700" dirty="0">
                <a:solidFill>
                  <a:srgbClr val="000000"/>
                </a:solidFill>
                <a:latin typeface="+mn-ea"/>
              </a:rPr>
              <a:t> 만료된 날로부터 다시 그 제한처분기간에 해당하는 기간 중에 있는 자</a:t>
            </a:r>
            <a:endParaRPr lang="en-US" altLang="ko-KR" sz="700" dirty="0">
              <a:solidFill>
                <a:srgbClr val="000000"/>
              </a:solidFill>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8903665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6</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입찰 보증금 면제사유 확약서 </a:t>
            </a:r>
            <a:r>
              <a:rPr lang="en-US" altLang="ko-KR" dirty="0">
                <a:latin typeface="+mn-ea"/>
              </a:rPr>
              <a:t>(3/3)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MUI-BD-04-P20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2866714"/>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3222050"/>
            <a:ext cx="1304844"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면제사유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3493885"/>
            <a:ext cx="2473940" cy="2477601"/>
          </a:xfrm>
          <a:prstGeom prst="rect">
            <a:avLst/>
          </a:prstGeom>
          <a:noFill/>
        </p:spPr>
        <p:txBody>
          <a:bodyPr wrap="square" lIns="0" tIns="0" rIns="0" bIns="0" rtlCol="0">
            <a:spAutoFit/>
          </a:bodyPr>
          <a:lstStyle/>
          <a:p>
            <a:r>
              <a:rPr lang="ko-KR" altLang="en-US" sz="700" dirty="0">
                <a:latin typeface="+mn-ea"/>
              </a:rPr>
              <a:t>시행령 </a:t>
            </a:r>
            <a:r>
              <a:rPr lang="en-US" altLang="ko-KR" sz="700" dirty="0">
                <a:latin typeface="+mn-ea"/>
              </a:rPr>
              <a:t>37</a:t>
            </a:r>
            <a:r>
              <a:rPr lang="ko-KR" altLang="en-US" sz="700" dirty="0">
                <a:latin typeface="+mn-ea"/>
              </a:rPr>
              <a:t>조 </a:t>
            </a:r>
            <a:r>
              <a:rPr lang="en-US" altLang="ko-KR" sz="700" dirty="0">
                <a:latin typeface="+mn-ea"/>
              </a:rPr>
              <a:t>3</a:t>
            </a:r>
            <a:r>
              <a:rPr lang="ko-KR" altLang="en-US" sz="700" dirty="0">
                <a:latin typeface="+mn-ea"/>
              </a:rPr>
              <a:t>항</a:t>
            </a:r>
            <a:endParaRPr lang="en-US" altLang="ko-KR" sz="700" dirty="0">
              <a:latin typeface="+mn-ea"/>
            </a:endParaRP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국가기관 및 지방자치단체</a:t>
            </a:r>
            <a:endParaRPr lang="en-US" altLang="ko-KR" sz="700" dirty="0">
              <a:latin typeface="+mn-ea"/>
            </a:endParaRPr>
          </a:p>
          <a:p>
            <a:pPr marL="88900" indent="-88900">
              <a:buFont typeface="+mj-lt"/>
              <a:buAutoNum type="arabicPeriod"/>
            </a:pPr>
            <a:r>
              <a:rPr lang="ko-KR" altLang="en-US" sz="700" dirty="0">
                <a:latin typeface="+mn-ea"/>
              </a:rPr>
              <a:t>「공공기관의 운영에 관한 </a:t>
            </a:r>
            <a:r>
              <a:rPr lang="ko-KR" altLang="en-US" sz="700" dirty="0" err="1">
                <a:latin typeface="+mn-ea"/>
              </a:rPr>
              <a:t>법률」에</a:t>
            </a:r>
            <a:r>
              <a:rPr lang="ko-KR" altLang="en-US" sz="700" dirty="0">
                <a:latin typeface="+mn-ea"/>
              </a:rPr>
              <a:t> 따른 공공기관</a:t>
            </a:r>
            <a:endParaRPr lang="en-US" altLang="ko-KR" sz="700" dirty="0">
              <a:latin typeface="+mn-ea"/>
            </a:endParaRPr>
          </a:p>
          <a:p>
            <a:pPr marL="88900" indent="-88900">
              <a:buFont typeface="+mj-lt"/>
              <a:buAutoNum type="arabicPeriod"/>
            </a:pPr>
            <a:r>
              <a:rPr lang="ko-KR" altLang="en-US" sz="700" dirty="0">
                <a:latin typeface="+mn-ea"/>
              </a:rPr>
              <a:t>국가 또는 지방자치단체가 기본재산의 </a:t>
            </a:r>
            <a:r>
              <a:rPr lang="en-US" altLang="ko-KR" sz="700" dirty="0">
                <a:latin typeface="+mn-ea"/>
              </a:rPr>
              <a:t>100</a:t>
            </a:r>
            <a:r>
              <a:rPr lang="ko-KR" altLang="en-US" sz="700" dirty="0">
                <a:latin typeface="+mn-ea"/>
              </a:rPr>
              <a:t>분의 </a:t>
            </a:r>
            <a:r>
              <a:rPr lang="en-US" altLang="ko-KR" sz="700" dirty="0">
                <a:latin typeface="+mn-ea"/>
              </a:rPr>
              <a:t>50</a:t>
            </a:r>
            <a:r>
              <a:rPr lang="ko-KR" altLang="en-US" sz="700" dirty="0">
                <a:latin typeface="+mn-ea"/>
              </a:rPr>
              <a:t>이상을 출연 또는 출자</a:t>
            </a:r>
            <a:r>
              <a:rPr lang="en-US" altLang="ko-KR" sz="700" dirty="0">
                <a:latin typeface="+mn-ea"/>
              </a:rPr>
              <a:t>(</a:t>
            </a:r>
            <a:r>
              <a:rPr lang="ko-KR" altLang="en-US" sz="700" dirty="0">
                <a:latin typeface="+mn-ea"/>
              </a:rPr>
              <a:t>법률의 규정에 의하여 귀속시킨 경우를 포함한다</a:t>
            </a:r>
            <a:r>
              <a:rPr lang="en-US" altLang="ko-KR" sz="700" dirty="0">
                <a:latin typeface="+mn-ea"/>
              </a:rPr>
              <a:t>. </a:t>
            </a:r>
            <a:r>
              <a:rPr lang="ko-KR" altLang="en-US" sz="700" dirty="0">
                <a:latin typeface="+mn-ea"/>
              </a:rPr>
              <a:t>이하 같다</a:t>
            </a:r>
            <a:r>
              <a:rPr lang="en-US" altLang="ko-KR" sz="700" dirty="0">
                <a:latin typeface="+mn-ea"/>
              </a:rPr>
              <a:t>)</a:t>
            </a:r>
            <a:r>
              <a:rPr lang="ko-KR" altLang="en-US" sz="700" dirty="0">
                <a:latin typeface="+mn-ea"/>
              </a:rPr>
              <a:t>한 법인</a:t>
            </a:r>
            <a:endParaRPr lang="en-US" altLang="ko-KR" sz="700" dirty="0">
              <a:latin typeface="+mn-ea"/>
            </a:endParaRPr>
          </a:p>
          <a:p>
            <a:pPr marL="88900" indent="-88900">
              <a:buFont typeface="+mj-lt"/>
              <a:buAutoNum type="arabicPeriod"/>
            </a:pPr>
            <a:r>
              <a:rPr lang="ko-KR" altLang="en-US" sz="700" dirty="0">
                <a:latin typeface="+mn-ea"/>
              </a:rPr>
              <a:t>「</a:t>
            </a:r>
            <a:r>
              <a:rPr lang="ko-KR" altLang="en-US" sz="700" dirty="0" err="1">
                <a:latin typeface="+mn-ea"/>
              </a:rPr>
              <a:t>농업협동조합법」에</a:t>
            </a:r>
            <a:r>
              <a:rPr lang="ko-KR" altLang="en-US" sz="700" dirty="0">
                <a:latin typeface="+mn-ea"/>
              </a:rPr>
              <a:t> 의한 조합 </a:t>
            </a:r>
            <a:r>
              <a:rPr lang="en-US" altLang="ko-KR" sz="700" dirty="0">
                <a:latin typeface="+mn-ea"/>
              </a:rPr>
              <a:t>· </a:t>
            </a:r>
            <a:r>
              <a:rPr lang="ko-KR" altLang="en-US" sz="700" dirty="0">
                <a:latin typeface="+mn-ea"/>
              </a:rPr>
              <a:t>조합공동사업법인 및 그 중앙회</a:t>
            </a:r>
            <a:r>
              <a:rPr lang="en-US" altLang="ko-KR" sz="700" dirty="0">
                <a:latin typeface="+mn-ea"/>
              </a:rPr>
              <a:t>(</a:t>
            </a:r>
            <a:r>
              <a:rPr lang="ko-KR" altLang="en-US" sz="700" dirty="0">
                <a:latin typeface="+mn-ea"/>
              </a:rPr>
              <a:t>농협경제지주회사 및 그 자회사를 포함한다</a:t>
            </a:r>
            <a:r>
              <a:rPr lang="en-US" altLang="ko-KR" sz="700" dirty="0">
                <a:latin typeface="+mn-ea"/>
              </a:rPr>
              <a:t>), </a:t>
            </a:r>
            <a:r>
              <a:rPr lang="ko-KR" altLang="en-US" sz="700" dirty="0">
                <a:latin typeface="+mn-ea"/>
              </a:rPr>
              <a:t>「</a:t>
            </a:r>
            <a:r>
              <a:rPr lang="ko-KR" altLang="en-US" sz="700" dirty="0" err="1">
                <a:latin typeface="+mn-ea"/>
              </a:rPr>
              <a:t>수산업협동조합법」에</a:t>
            </a:r>
            <a:r>
              <a:rPr lang="ko-KR" altLang="en-US" sz="700" dirty="0">
                <a:latin typeface="+mn-ea"/>
              </a:rPr>
              <a:t> 따른 </a:t>
            </a:r>
            <a:r>
              <a:rPr lang="ko-KR" altLang="en-US" sz="700" dirty="0" err="1">
                <a:latin typeface="+mn-ea"/>
              </a:rPr>
              <a:t>어촌계</a:t>
            </a:r>
            <a:r>
              <a:rPr lang="ko-KR" altLang="en-US" sz="700" dirty="0">
                <a:latin typeface="+mn-ea"/>
              </a:rPr>
              <a:t> </a:t>
            </a:r>
            <a:r>
              <a:rPr lang="en-US" altLang="ko-KR" sz="700" dirty="0">
                <a:latin typeface="+mn-ea"/>
              </a:rPr>
              <a:t>· </a:t>
            </a:r>
            <a:r>
              <a:rPr lang="ko-KR" altLang="en-US" sz="700" dirty="0">
                <a:latin typeface="+mn-ea"/>
              </a:rPr>
              <a:t>수산업협동조합 및 그 중앙회</a:t>
            </a:r>
            <a:r>
              <a:rPr lang="en-US" altLang="ko-KR" sz="700" dirty="0">
                <a:latin typeface="+mn-ea"/>
              </a:rPr>
              <a:t>, </a:t>
            </a:r>
            <a:r>
              <a:rPr lang="ko-KR" altLang="en-US" sz="700" dirty="0">
                <a:latin typeface="+mn-ea"/>
              </a:rPr>
              <a:t>「</a:t>
            </a:r>
            <a:r>
              <a:rPr lang="ko-KR" altLang="en-US" sz="700" dirty="0" err="1">
                <a:latin typeface="+mn-ea"/>
              </a:rPr>
              <a:t>산림조합법」에</a:t>
            </a:r>
            <a:r>
              <a:rPr lang="ko-KR" altLang="en-US" sz="700" dirty="0">
                <a:latin typeface="+mn-ea"/>
              </a:rPr>
              <a:t> 따른 산림조합 및 그 중앙회</a:t>
            </a:r>
            <a:r>
              <a:rPr lang="en-US" altLang="ko-KR" sz="700" dirty="0">
                <a:latin typeface="+mn-ea"/>
              </a:rPr>
              <a:t>, </a:t>
            </a:r>
            <a:r>
              <a:rPr lang="ko-KR" altLang="en-US" sz="700" dirty="0">
                <a:latin typeface="+mn-ea"/>
              </a:rPr>
              <a:t>「</a:t>
            </a:r>
            <a:r>
              <a:rPr lang="ko-KR" altLang="en-US" sz="700" dirty="0" err="1">
                <a:latin typeface="+mn-ea"/>
              </a:rPr>
              <a:t>중소기업협동조합법」에</a:t>
            </a:r>
            <a:r>
              <a:rPr lang="ko-KR" altLang="en-US" sz="700" dirty="0">
                <a:latin typeface="+mn-ea"/>
              </a:rPr>
              <a:t> 따른 중소기업협동조합 및 그 중앙회</a:t>
            </a:r>
            <a:endParaRPr lang="en-US" altLang="ko-KR" sz="700" dirty="0">
              <a:latin typeface="+mn-ea"/>
            </a:endParaRPr>
          </a:p>
          <a:p>
            <a:pPr marL="88900" indent="-88900">
              <a:buFont typeface="+mj-lt"/>
              <a:buAutoNum type="arabicPeriod"/>
            </a:pPr>
            <a:r>
              <a:rPr lang="ko-KR" altLang="en-US" sz="700" dirty="0">
                <a:latin typeface="+mn-ea"/>
              </a:rPr>
              <a:t>「건설산업기본법」 </a:t>
            </a:r>
            <a:r>
              <a:rPr lang="en-US" altLang="ko-KR" sz="700" dirty="0">
                <a:latin typeface="+mn-ea"/>
              </a:rPr>
              <a:t>· </a:t>
            </a:r>
            <a:r>
              <a:rPr lang="ko-KR" altLang="en-US" sz="700" dirty="0">
                <a:latin typeface="+mn-ea"/>
              </a:rPr>
              <a:t>「전기공사업법」 </a:t>
            </a:r>
            <a:r>
              <a:rPr lang="en-US" altLang="ko-KR" sz="700" dirty="0">
                <a:latin typeface="+mn-ea"/>
              </a:rPr>
              <a:t>· </a:t>
            </a:r>
            <a:r>
              <a:rPr lang="ko-KR" altLang="en-US" sz="700" dirty="0">
                <a:latin typeface="+mn-ea"/>
              </a:rPr>
              <a:t>「정보통신공사업법」 </a:t>
            </a:r>
            <a:r>
              <a:rPr lang="en-US" altLang="ko-KR" sz="700" dirty="0">
                <a:latin typeface="+mn-ea"/>
              </a:rPr>
              <a:t>· </a:t>
            </a:r>
            <a:r>
              <a:rPr lang="ko-KR" altLang="en-US" sz="700" dirty="0">
                <a:latin typeface="+mn-ea"/>
              </a:rPr>
              <a:t>「건설폐기물의 재활용촉진에 관한 법률」 </a:t>
            </a:r>
            <a:r>
              <a:rPr lang="en-US" altLang="ko-KR" sz="700" dirty="0">
                <a:latin typeface="+mn-ea"/>
              </a:rPr>
              <a:t>· </a:t>
            </a:r>
            <a:r>
              <a:rPr lang="ko-KR" altLang="en-US" sz="700" dirty="0">
                <a:latin typeface="+mn-ea"/>
              </a:rPr>
              <a:t>「</a:t>
            </a:r>
            <a:r>
              <a:rPr lang="ko-KR" altLang="en-US" sz="700" dirty="0" err="1">
                <a:latin typeface="+mn-ea"/>
              </a:rPr>
              <a:t>골재채취법</a:t>
            </a:r>
            <a:r>
              <a:rPr lang="ko-KR" altLang="en-US" sz="700" dirty="0">
                <a:latin typeface="+mn-ea"/>
              </a:rPr>
              <a:t>」 또는 「문화재수리 등에 관한 법률」 등의 법령에 의하여 </a:t>
            </a:r>
            <a:r>
              <a:rPr lang="ko-KR" altLang="en-US" sz="700" dirty="0" err="1">
                <a:latin typeface="+mn-ea"/>
              </a:rPr>
              <a:t>등록등을</a:t>
            </a:r>
            <a:r>
              <a:rPr lang="ko-KR" altLang="en-US" sz="700" dirty="0">
                <a:latin typeface="+mn-ea"/>
              </a:rPr>
              <a:t> 한 자로서 기획재정부장관이 정하는 기준에 해당되는 자</a:t>
            </a:r>
            <a:r>
              <a:rPr lang="en-US" altLang="ko-KR" sz="700" dirty="0">
                <a:latin typeface="+mn-ea"/>
              </a:rPr>
              <a:t/>
            </a:r>
            <a:br>
              <a:rPr lang="en-US" altLang="ko-KR" sz="700" dirty="0">
                <a:latin typeface="+mn-ea"/>
              </a:rPr>
            </a:br>
            <a:r>
              <a:rPr lang="en-US" altLang="ko-KR" sz="700" dirty="0">
                <a:latin typeface="+mn-ea"/>
              </a:rPr>
              <a:t>5</a:t>
            </a:r>
            <a:r>
              <a:rPr lang="ko-KR" altLang="en-US" sz="700" dirty="0">
                <a:latin typeface="+mn-ea"/>
              </a:rPr>
              <a:t>의</a:t>
            </a:r>
            <a:r>
              <a:rPr lang="en-US" altLang="ko-KR" sz="700" dirty="0">
                <a:latin typeface="+mn-ea"/>
              </a:rPr>
              <a:t>2. </a:t>
            </a:r>
            <a:r>
              <a:rPr lang="ko-KR" altLang="en-US" sz="700" dirty="0">
                <a:latin typeface="+mn-ea"/>
              </a:rPr>
              <a:t>「</a:t>
            </a:r>
            <a:r>
              <a:rPr lang="ko-KR" altLang="en-US" sz="700" dirty="0" err="1">
                <a:latin typeface="+mn-ea"/>
              </a:rPr>
              <a:t>저탄소</a:t>
            </a:r>
            <a:r>
              <a:rPr lang="ko-KR" altLang="en-US" sz="700" dirty="0">
                <a:latin typeface="+mn-ea"/>
              </a:rPr>
              <a:t> 녹색성장 기본법」 제</a:t>
            </a:r>
            <a:r>
              <a:rPr lang="en-US" altLang="ko-KR" sz="700" dirty="0">
                <a:latin typeface="+mn-ea"/>
              </a:rPr>
              <a:t>32</a:t>
            </a:r>
            <a:r>
              <a:rPr lang="ko-KR" altLang="en-US" sz="700" dirty="0">
                <a:latin typeface="+mn-ea"/>
              </a:rPr>
              <a:t>조제</a:t>
            </a:r>
            <a:r>
              <a:rPr lang="en-US" altLang="ko-KR" sz="700" dirty="0">
                <a:latin typeface="+mn-ea"/>
              </a:rPr>
              <a:t>2</a:t>
            </a:r>
            <a:r>
              <a:rPr lang="ko-KR" altLang="en-US" sz="700" dirty="0">
                <a:latin typeface="+mn-ea"/>
              </a:rPr>
              <a:t>항에 따라 녹색기술 </a:t>
            </a:r>
            <a:r>
              <a:rPr lang="en-US" altLang="ko-KR" sz="700" dirty="0">
                <a:latin typeface="+mn-ea"/>
              </a:rPr>
              <a:t>· </a:t>
            </a:r>
            <a:r>
              <a:rPr lang="ko-KR" altLang="en-US" sz="700" dirty="0" err="1">
                <a:latin typeface="+mn-ea"/>
              </a:rPr>
              <a:t>녹색사업에</a:t>
            </a:r>
            <a:r>
              <a:rPr lang="ko-KR" altLang="en-US" sz="700" dirty="0">
                <a:latin typeface="+mn-ea"/>
              </a:rPr>
              <a:t> 대한 적합성 인증을 받거나 녹색전문업으로 확인을 받은 자 중 기획재정부장관이 정하는 기준에 해당하는 자</a:t>
            </a:r>
            <a:endParaRPr lang="en-US" altLang="ko-KR" sz="700" dirty="0">
              <a:latin typeface="+mn-ea"/>
            </a:endParaRPr>
          </a:p>
          <a:p>
            <a:pPr marL="88900" indent="-88900">
              <a:buFont typeface="+mj-lt"/>
              <a:buAutoNum type="arabicPeriod"/>
            </a:pPr>
            <a:r>
              <a:rPr lang="ko-KR" altLang="en-US" sz="700" dirty="0">
                <a:latin typeface="+mn-ea"/>
              </a:rPr>
              <a:t>기타 경쟁입찰에서 낙찰자로 결정된 후 계약체결을 기피할 우려가 없다고 인정되는 자</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7207" y="5173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4552584" y="5251058"/>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3795194"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31925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36744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3840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3" name="직사각형 3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양쪽 모서리가 둥근 사각형 33"/>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5" name="모서리가 둥근 직사각형 34"/>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6" name="그룹 35"/>
          <p:cNvGrpSpPr/>
          <p:nvPr/>
        </p:nvGrpSpPr>
        <p:grpSpPr>
          <a:xfrm>
            <a:off x="6284403" y="2866714"/>
            <a:ext cx="94010" cy="94010"/>
            <a:chOff x="6812560" y="3297172"/>
            <a:chExt cx="94010" cy="94010"/>
          </a:xfrm>
        </p:grpSpPr>
        <p:cxnSp>
          <p:nvCxnSpPr>
            <p:cNvPr id="37" name="직선 연결선 3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8" name="직선 연결선 3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9" name="TextBox 38">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타원 203">
            <a:extLst>
              <a:ext uri="{FF2B5EF4-FFF2-40B4-BE49-F238E27FC236}">
                <a16:creationId xmlns:a16="http://schemas.microsoft.com/office/drawing/2014/main" id="{37A7FF4F-0EAA-1463-560A-D5EC24416103}"/>
              </a:ext>
            </a:extLst>
          </p:cNvPr>
          <p:cNvSpPr/>
          <p:nvPr/>
        </p:nvSpPr>
        <p:spPr>
          <a:xfrm>
            <a:off x="3690922" y="52188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60669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직선 연결선 41">
            <a:extLst>
              <a:ext uri="{FF2B5EF4-FFF2-40B4-BE49-F238E27FC236}">
                <a16:creationId xmlns:a16="http://schemas.microsoft.com/office/drawing/2014/main" id="{E9293055-D5CD-4B9E-7F64-64B2D2CA7A52}"/>
              </a:ext>
            </a:extLst>
          </p:cNvPr>
          <p:cNvCxnSpPr/>
          <p:nvPr/>
        </p:nvCxnSpPr>
        <p:spPr>
          <a:xfrm>
            <a:off x="3837207" y="47127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3" name="TextBox 42">
            <a:extLst>
              <a:ext uri="{FF2B5EF4-FFF2-40B4-BE49-F238E27FC236}">
                <a16:creationId xmlns:a16="http://schemas.microsoft.com/office/drawing/2014/main" id="{FFC49AEA-2A8F-250C-A86A-A7751D9706C3}"/>
              </a:ext>
            </a:extLst>
          </p:cNvPr>
          <p:cNvSpPr txBox="1"/>
          <p:nvPr/>
        </p:nvSpPr>
        <p:spPr>
          <a:xfrm>
            <a:off x="3905672" y="4835193"/>
            <a:ext cx="2473940" cy="215444"/>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본사</a:t>
            </a:r>
            <a:r>
              <a:rPr lang="en-US" altLang="ko-KR" sz="700" dirty="0">
                <a:latin typeface="맑은 고딕" panose="020B0503020000020004" pitchFamily="50" charset="-127"/>
              </a:rPr>
              <a:t>(</a:t>
            </a:r>
            <a:r>
              <a:rPr lang="ko-KR" altLang="en-US" sz="700" dirty="0">
                <a:latin typeface="맑은 고딕" panose="020B0503020000020004" pitchFamily="50" charset="-127"/>
              </a:rPr>
              <a:t>인</a:t>
            </a:r>
            <a:r>
              <a:rPr lang="en-US" altLang="ko-KR" sz="700" dirty="0">
                <a:latin typeface="맑은 고딕" panose="020B0503020000020004" pitchFamily="50" charset="-127"/>
              </a:rPr>
              <a:t>)</a:t>
            </a:r>
            <a:r>
              <a:rPr lang="ko-KR" altLang="en-US" sz="700" dirty="0">
                <a:latin typeface="맑은 고딕" panose="020B0503020000020004" pitchFamily="50" charset="-127"/>
              </a:rPr>
              <a:t>은 위의 입찰보증금 면제 사유에 해당됨을</a:t>
            </a: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확인 및 서약합니다</a:t>
            </a:r>
            <a:r>
              <a:rPr lang="en-US" altLang="ko-KR" sz="700" dirty="0">
                <a:latin typeface="맑은 고딕" panose="020B0503020000020004" pitchFamily="50" charset="-127"/>
              </a:rPr>
              <a:t>.</a:t>
            </a:r>
            <a:endParaRPr lang="ko-KR" altLang="en-US" sz="700" dirty="0">
              <a:latin typeface="+mn-ea"/>
            </a:endParaRPr>
          </a:p>
        </p:txBody>
      </p:sp>
      <p:sp>
        <p:nvSpPr>
          <p:cNvPr id="44" name="모서리가 둥근 직사각형 43"/>
          <p:cNvSpPr/>
          <p:nvPr/>
        </p:nvSpPr>
        <p:spPr>
          <a:xfrm rot="5400000">
            <a:off x="5771019" y="476028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5" name="TextBox 44">
            <a:extLst>
              <a:ext uri="{FF2B5EF4-FFF2-40B4-BE49-F238E27FC236}">
                <a16:creationId xmlns:a16="http://schemas.microsoft.com/office/drawing/2014/main" id="{FFC49AEA-2A8F-250C-A86A-A7751D9706C3}"/>
              </a:ext>
            </a:extLst>
          </p:cNvPr>
          <p:cNvSpPr txBox="1"/>
          <p:nvPr/>
        </p:nvSpPr>
        <p:spPr>
          <a:xfrm>
            <a:off x="3914777" y="3439560"/>
            <a:ext cx="2473940" cy="1184940"/>
          </a:xfrm>
          <a:prstGeom prst="rect">
            <a:avLst/>
          </a:prstGeom>
          <a:noFill/>
        </p:spPr>
        <p:txBody>
          <a:bodyPr wrap="square" lIns="0" tIns="0" rIns="0" bIns="0" rtlCol="0">
            <a:spAutoFit/>
          </a:bodyPr>
          <a:lstStyle/>
          <a:p>
            <a:r>
              <a:rPr lang="ko-KR" altLang="en-US" sz="700" dirty="0" err="1">
                <a:latin typeface="+mn-ea"/>
              </a:rPr>
              <a:t>계약예규</a:t>
            </a:r>
            <a:r>
              <a:rPr lang="ko-KR" altLang="en-US" sz="700" dirty="0">
                <a:latin typeface="+mn-ea"/>
              </a:rPr>
              <a:t> </a:t>
            </a:r>
            <a:r>
              <a:rPr lang="en-US" altLang="ko-KR" sz="700" dirty="0">
                <a:latin typeface="+mn-ea"/>
              </a:rPr>
              <a:t>(</a:t>
            </a:r>
            <a:r>
              <a:rPr lang="ko-KR" altLang="en-US" sz="700" dirty="0">
                <a:latin typeface="+mn-ea"/>
              </a:rPr>
              <a:t>공사입찰유의서</a:t>
            </a:r>
            <a:r>
              <a:rPr lang="en-US" altLang="ko-KR" sz="700" dirty="0">
                <a:latin typeface="+mn-ea"/>
              </a:rPr>
              <a:t>)</a:t>
            </a: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시행령 제</a:t>
            </a:r>
            <a:r>
              <a:rPr lang="en-US" altLang="ko-KR" sz="700" dirty="0">
                <a:latin typeface="+mn-ea"/>
              </a:rPr>
              <a:t>37</a:t>
            </a:r>
            <a:r>
              <a:rPr lang="ko-KR" altLang="en-US" sz="700" dirty="0">
                <a:latin typeface="+mn-ea"/>
              </a:rPr>
              <a:t>조제</a:t>
            </a:r>
            <a:r>
              <a:rPr lang="en-US" altLang="ko-KR" sz="700" dirty="0">
                <a:latin typeface="+mn-ea"/>
              </a:rPr>
              <a:t>3</a:t>
            </a:r>
            <a:r>
              <a:rPr lang="ko-KR" altLang="en-US" sz="700" dirty="0" err="1">
                <a:latin typeface="+mn-ea"/>
              </a:rPr>
              <a:t>항제</a:t>
            </a:r>
            <a:r>
              <a:rPr lang="en-US" altLang="ko-KR" sz="700" dirty="0">
                <a:latin typeface="+mn-ea"/>
              </a:rPr>
              <a:t>1</a:t>
            </a:r>
            <a:r>
              <a:rPr lang="ko-KR" altLang="en-US" sz="700" dirty="0">
                <a:latin typeface="+mn-ea"/>
              </a:rPr>
              <a:t>호 내지 제</a:t>
            </a:r>
            <a:r>
              <a:rPr lang="en-US" altLang="ko-KR" sz="700" dirty="0">
                <a:latin typeface="+mn-ea"/>
              </a:rPr>
              <a:t>4</a:t>
            </a:r>
            <a:r>
              <a:rPr lang="ko-KR" altLang="en-US" sz="700" dirty="0">
                <a:latin typeface="+mn-ea"/>
              </a:rPr>
              <a:t>호 및 제</a:t>
            </a:r>
            <a:r>
              <a:rPr lang="en-US" altLang="ko-KR" sz="700" dirty="0">
                <a:latin typeface="+mn-ea"/>
              </a:rPr>
              <a:t>6</a:t>
            </a:r>
            <a:r>
              <a:rPr lang="ko-KR" altLang="en-US" sz="700" dirty="0">
                <a:latin typeface="+mn-ea"/>
              </a:rPr>
              <a:t>호에 정한 자가 입찰에 참가하는 경우</a:t>
            </a:r>
          </a:p>
          <a:p>
            <a:pPr marL="88900" indent="-88900">
              <a:buFont typeface="+mj-lt"/>
              <a:buAutoNum type="arabicPeriod"/>
            </a:pPr>
            <a:r>
              <a:rPr lang="ko-KR" altLang="en-US" sz="700" dirty="0">
                <a:latin typeface="+mn-ea"/>
              </a:rPr>
              <a:t>「건설산업기본법」</a:t>
            </a:r>
            <a:r>
              <a:rPr lang="en-US" altLang="ko-KR" sz="700" dirty="0">
                <a:latin typeface="+mn-ea"/>
              </a:rPr>
              <a:t>·</a:t>
            </a:r>
            <a:r>
              <a:rPr lang="ko-KR" altLang="en-US" sz="700" dirty="0">
                <a:latin typeface="+mn-ea"/>
              </a:rPr>
              <a:t>「전기공사업법」</a:t>
            </a:r>
            <a:r>
              <a:rPr lang="en-US" altLang="ko-KR" sz="700" dirty="0">
                <a:latin typeface="+mn-ea"/>
              </a:rPr>
              <a:t>·</a:t>
            </a:r>
            <a:r>
              <a:rPr lang="ko-KR" altLang="en-US" sz="700" dirty="0">
                <a:latin typeface="+mn-ea"/>
              </a:rPr>
              <a:t>「정보통신공사업법」 또는 「</a:t>
            </a:r>
            <a:r>
              <a:rPr lang="ko-KR" altLang="en-US" sz="700" dirty="0" err="1">
                <a:latin typeface="+mn-ea"/>
              </a:rPr>
              <a:t>소방시설공사업법」등에</a:t>
            </a:r>
            <a:r>
              <a:rPr lang="ko-KR" altLang="en-US" sz="700" dirty="0">
                <a:latin typeface="+mn-ea"/>
              </a:rPr>
              <a:t> 의하여 국가 또는 지방자치단체</a:t>
            </a:r>
            <a:r>
              <a:rPr lang="en-US" altLang="ko-KR" sz="700" dirty="0">
                <a:latin typeface="+mn-ea"/>
              </a:rPr>
              <a:t>(</a:t>
            </a:r>
            <a:r>
              <a:rPr lang="ko-KR" altLang="en-US" sz="700" dirty="0">
                <a:latin typeface="+mn-ea"/>
              </a:rPr>
              <a:t>이하 </a:t>
            </a:r>
            <a:r>
              <a:rPr lang="en-US" altLang="ko-KR" sz="700" dirty="0">
                <a:latin typeface="+mn-ea"/>
              </a:rPr>
              <a:t>"</a:t>
            </a:r>
            <a:r>
              <a:rPr lang="ko-KR" altLang="en-US" sz="700" dirty="0">
                <a:latin typeface="+mn-ea"/>
              </a:rPr>
              <a:t>국가기관 등</a:t>
            </a:r>
            <a:r>
              <a:rPr lang="en-US" altLang="ko-KR" sz="700" dirty="0">
                <a:latin typeface="+mn-ea"/>
              </a:rPr>
              <a:t>"</a:t>
            </a:r>
            <a:r>
              <a:rPr lang="ko-KR" altLang="en-US" sz="700" dirty="0">
                <a:latin typeface="+mn-ea"/>
              </a:rPr>
              <a:t>이라 한다</a:t>
            </a:r>
            <a:r>
              <a:rPr lang="en-US" altLang="ko-KR" sz="700" dirty="0">
                <a:latin typeface="+mn-ea"/>
              </a:rPr>
              <a:t>)</a:t>
            </a:r>
            <a:r>
              <a:rPr lang="ko-KR" altLang="en-US" sz="700" dirty="0">
                <a:latin typeface="+mn-ea"/>
              </a:rPr>
              <a:t>로부터 등록 등을 받아 입찰신청마감일 현재 해당 공사관련법령에 의한 사업을 영위하고 있는 법인이 입찰에 참가하는 경우 단</a:t>
            </a:r>
            <a:r>
              <a:rPr lang="en-US" altLang="ko-KR" sz="700" dirty="0">
                <a:latin typeface="+mn-ea"/>
              </a:rPr>
              <a:t>, </a:t>
            </a:r>
            <a:r>
              <a:rPr lang="ko-KR" altLang="en-US" sz="700" dirty="0">
                <a:latin typeface="+mn-ea"/>
              </a:rPr>
              <a:t>입찰신청마감일 현재 사업영위기간이 </a:t>
            </a:r>
            <a:r>
              <a:rPr lang="en-US" altLang="ko-KR" sz="700" dirty="0">
                <a:latin typeface="+mn-ea"/>
              </a:rPr>
              <a:t>1</a:t>
            </a:r>
            <a:r>
              <a:rPr lang="ko-KR" altLang="en-US" sz="700" dirty="0">
                <a:latin typeface="+mn-ea"/>
              </a:rPr>
              <a:t>년 미만인 법인은 입찰참가자격제한 조치를 받은 사실이 없어야 함</a:t>
            </a:r>
            <a:r>
              <a:rPr lang="en-US" altLang="ko-KR" sz="700" dirty="0">
                <a:latin typeface="+mn-ea"/>
              </a:rPr>
              <a:t>.</a:t>
            </a:r>
            <a:endParaRPr lang="ko-KR" altLang="en-US" sz="700" dirty="0">
              <a:latin typeface="+mn-ea"/>
            </a:endParaRPr>
          </a:p>
        </p:txBody>
      </p:sp>
      <p:sp>
        <p:nvSpPr>
          <p:cNvPr id="46" name="TextBox 4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02061952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01420"/>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747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공고구분</a:t>
                      </a:r>
                      <a:r>
                        <a:rPr lang="en-US" altLang="ko-KR" sz="700" dirty="0">
                          <a:latin typeface="+mn-ea"/>
                          <a:ea typeface="+mn-ea"/>
                        </a:rPr>
                        <a:t>(ANTC(</a:t>
                      </a:r>
                      <a:r>
                        <a:rPr lang="ko-KR" altLang="en-US" sz="700" dirty="0">
                          <a:latin typeface="+mn-ea"/>
                          <a:ea typeface="+mn-ea"/>
                        </a:rPr>
                        <a:t>공고유형부호</a:t>
                      </a:r>
                      <a:r>
                        <a:rPr lang="en-US" altLang="ko-KR" sz="700" dirty="0">
                          <a:latin typeface="+mn-ea"/>
                          <a:ea typeface="+mn-ea"/>
                        </a:rPr>
                        <a:t>))+</a:t>
                      </a:r>
                      <a:r>
                        <a:rPr lang="ko-KR" altLang="en-US" sz="700" dirty="0">
                          <a:latin typeface="+mn-ea"/>
                          <a:ea typeface="+mn-ea"/>
                        </a:rPr>
                        <a:t>공고번호</a:t>
                      </a:r>
                      <a:r>
                        <a:rPr lang="en-US" altLang="ko-KR" sz="700" dirty="0">
                          <a:latin typeface="+mn-ea"/>
                          <a:ea typeface="+mn-ea"/>
                        </a:rPr>
                        <a:t>+</a:t>
                      </a:r>
                      <a:r>
                        <a:rPr lang="ko-KR" altLang="en-US" sz="700" dirty="0" err="1">
                          <a:latin typeface="+mn-ea"/>
                          <a:ea typeface="+mn-ea"/>
                        </a:rPr>
                        <a:t>공고차수</a:t>
                      </a:r>
                      <a:endParaRPr lang="en-US" altLang="ko-KR" sz="700" dirty="0">
                        <a:latin typeface="+mn-ea"/>
                        <a:ea typeface="+mn-ea"/>
                      </a:endParaRPr>
                    </a:p>
                    <a:p>
                      <a:pPr algn="l" latinLnBrk="1"/>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a:t>
                      </a:r>
                      <a:r>
                        <a:rPr lang="en-US" altLang="ko-KR" sz="800" dirty="0">
                          <a:latin typeface="+mn-ea"/>
                          <a:ea typeface="+mn-ea"/>
                        </a:rPr>
                        <a:t>/ </a:t>
                      </a:r>
                      <a:r>
                        <a:rPr lang="ko-KR" altLang="en-US" sz="800" dirty="0">
                          <a:latin typeface="+mn-ea"/>
                          <a:ea typeface="+mn-ea"/>
                        </a:rPr>
                        <a:t>입찰일시</a:t>
                      </a:r>
                      <a:r>
                        <a:rPr lang="en-US" altLang="ko-KR" sz="800" dirty="0">
                          <a:latin typeface="+mn-ea"/>
                          <a:ea typeface="+mn-ea"/>
                        </a:rPr>
                        <a:t>, </a:t>
                      </a: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입찰방법이 </a:t>
                      </a:r>
                      <a:r>
                        <a:rPr lang="en-US" altLang="ko-KR" sz="800" dirty="0">
                          <a:latin typeface="+mn-ea"/>
                          <a:ea typeface="+mn-ea"/>
                        </a:rPr>
                        <a:t>‘B(</a:t>
                      </a:r>
                      <a:r>
                        <a:rPr lang="ko-KR" altLang="en-US" sz="800" dirty="0" err="1">
                          <a:latin typeface="+mn-ea"/>
                          <a:ea typeface="+mn-ea"/>
                        </a:rPr>
                        <a:t>단가제</a:t>
                      </a:r>
                      <a:r>
                        <a:rPr lang="en-US" altLang="ko-KR" sz="800" dirty="0">
                          <a:latin typeface="+mn-ea"/>
                          <a:ea typeface="+mn-ea"/>
                        </a:rPr>
                        <a:t>)’</a:t>
                      </a:r>
                      <a:r>
                        <a:rPr lang="ko-KR" altLang="en-US" sz="800" dirty="0">
                          <a:latin typeface="+mn-ea"/>
                          <a:ea typeface="+mn-ea"/>
                        </a:rPr>
                        <a:t>인 경우 단가제유형</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사전심사 대상 공고인 경우 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r>
                        <a:rPr lang="en-US" altLang="ko-KR" sz="800" dirty="0">
                          <a:latin typeface="+mn-ea"/>
                          <a:ea typeface="+mn-ea"/>
                        </a:rPr>
                        <a:t>/</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가격입찰 후</a:t>
                      </a:r>
                      <a:r>
                        <a:rPr lang="en-US" altLang="ko-KR" sz="800" dirty="0">
                          <a:latin typeface="+mn-ea"/>
                          <a:ea typeface="+mn-ea"/>
                        </a:rPr>
                        <a:t>)</a:t>
                      </a:r>
                      <a:endParaRPr lang="ko-KR" altLang="en-US"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그 외 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낙찰자기준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입찰방법</a:t>
                      </a:r>
                      <a:r>
                        <a:rPr lang="en-US" altLang="ko-KR" sz="800" dirty="0"/>
                        <a:t>(BDTC)</a:t>
                      </a:r>
                      <a:r>
                        <a:rPr lang="ko-KR" altLang="en-US" sz="800" dirty="0"/>
                        <a:t>이 </a:t>
                      </a:r>
                      <a:r>
                        <a:rPr lang="en-US" altLang="ko-KR" sz="800" dirty="0"/>
                        <a:t>‘H(</a:t>
                      </a:r>
                      <a:r>
                        <a:rPr lang="ko-KR" altLang="en-US" sz="800" dirty="0"/>
                        <a:t>내역입찰</a:t>
                      </a:r>
                      <a:r>
                        <a:rPr lang="en-US" altLang="ko-KR" sz="800" dirty="0"/>
                        <a:t>(</a:t>
                      </a:r>
                      <a:r>
                        <a:rPr lang="ko-KR" altLang="en-US" sz="800" dirty="0" err="1"/>
                        <a:t>설계시공일괄입찰</a:t>
                      </a:r>
                      <a:r>
                        <a:rPr lang="en-US" altLang="ko-KR" sz="800" dirty="0"/>
                        <a:t>))’</a:t>
                      </a:r>
                      <a:r>
                        <a:rPr lang="ko-KR" altLang="en-US" sz="800" dirty="0"/>
                        <a:t>인 경우 </a:t>
                      </a:r>
                      <a:r>
                        <a:rPr lang="en-US" altLang="ko-KR" sz="800" dirty="0"/>
                        <a:t>‘</a:t>
                      </a:r>
                      <a:r>
                        <a:rPr lang="ko-KR" altLang="en-US" sz="800" dirty="0"/>
                        <a:t>낙찰자기준</a:t>
                      </a:r>
                      <a:r>
                        <a:rPr lang="en-US" altLang="ko-KR" sz="800" dirty="0"/>
                        <a:t>(CMCT)’ </a:t>
                      </a:r>
                      <a:r>
                        <a:rPr lang="ko-KR" altLang="en-US" sz="800" dirty="0"/>
                        <a:t>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13911"/>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EFB9A8D6-6B6D-6ADF-2FF7-0A9EB13C66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76E74D0B-76EB-6E56-C46D-EB0E2B06E0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Tree>
    <p:extLst>
      <p:ext uri="{BB962C8B-B14F-4D97-AF65-F5344CB8AC3E}">
        <p14:creationId xmlns:p14="http://schemas.microsoft.com/office/powerpoint/2010/main" val="159269405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957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999516"/>
            <a:ext cx="318733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공종</a:t>
            </a:r>
            <a:r>
              <a:rPr lang="ko-KR" altLang="en-US" sz="900" b="1" dirty="0">
                <a:solidFill>
                  <a:prstClr val="black"/>
                </a:solidFill>
              </a:rPr>
              <a:t> 및 면허정보 목록 데이터 영역 </a:t>
            </a:r>
            <a:r>
              <a:rPr lang="en-US" altLang="ko-KR" sz="900" b="1" dirty="0">
                <a:solidFill>
                  <a:prstClr val="black"/>
                </a:solidFill>
              </a:rPr>
              <a:t>(</a:t>
            </a:r>
            <a:r>
              <a:rPr lang="en-US" altLang="ko-KR" sz="900" b="1" dirty="0" err="1">
                <a:solidFill>
                  <a:prstClr val="black"/>
                </a:solidFill>
              </a:rPr>
              <a:t>dlt_gongJongList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12007"/>
          <a:ext cx="8995589" cy="17452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 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업무구분이 공사이고</a:t>
                      </a:r>
                      <a:r>
                        <a:rPr lang="en-US" altLang="ko-KR" sz="700" dirty="0">
                          <a:latin typeface="+mn-ea"/>
                          <a:ea typeface="+mn-ea"/>
                        </a:rPr>
                        <a:t>, </a:t>
                      </a:r>
                      <a:r>
                        <a:rPr lang="ko-KR" altLang="en-US" sz="700" dirty="0">
                          <a:latin typeface="+mn-ea"/>
                          <a:ea typeface="+mn-ea"/>
                        </a:rPr>
                        <a:t>공종정보가 있는 경우 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공종명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업종코드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공종코드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면허정보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행정처분기관구분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업체상태명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:J11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lcnsAcqsYmd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면허취득일자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기준년도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evlAmtCrtrYr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평가금액기준년도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5016580"/>
            <a:ext cx="34534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입찰공고 첨부파일 데이터 영역 </a:t>
            </a:r>
            <a:r>
              <a:rPr lang="en-US" altLang="ko-KR" sz="900" b="1" dirty="0">
                <a:solidFill>
                  <a:prstClr val="black"/>
                </a:solidFill>
              </a:rPr>
              <a:t>(</a:t>
            </a:r>
            <a:r>
              <a:rPr lang="en-US" altLang="ko-KR" sz="900" b="1" dirty="0" err="1">
                <a:solidFill>
                  <a:prstClr val="black"/>
                </a:solidFill>
              </a:rPr>
              <a:t>dlt_bidPbancAtchFileList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5229071"/>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7" name="Text Box 73">
            <a:extLst>
              <a:ext uri="{FF2B5EF4-FFF2-40B4-BE49-F238E27FC236}">
                <a16:creationId xmlns:a16="http://schemas.microsoft.com/office/drawing/2014/main" id="{53B56817-5B68-77AB-0BCE-E7C56C84D49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3C68C4AD-A85D-BB9C-6B07-373B1D2B5C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Tree>
    <p:extLst>
      <p:ext uri="{BB962C8B-B14F-4D97-AF65-F5344CB8AC3E}">
        <p14:creationId xmlns:p14="http://schemas.microsoft.com/office/powerpoint/2010/main" val="33000754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9119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640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보증금납부방법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개인 경우 증권번호 자동 입력</a:t>
                      </a:r>
                      <a:r>
                        <a:rPr lang="en-US" altLang="ko-KR" sz="800" dirty="0">
                          <a:latin typeface="+mn-ea"/>
                          <a:ea typeface="+mn-ea"/>
                        </a:rPr>
                        <a:t>, 2</a:t>
                      </a:r>
                      <a:r>
                        <a:rPr lang="ko-KR" altLang="en-US" sz="800" dirty="0">
                          <a:latin typeface="+mn-ea"/>
                          <a:ea typeface="+mn-ea"/>
                        </a:rPr>
                        <a:t>개 이상인 경우 </a:t>
                      </a:r>
                      <a:r>
                        <a:rPr lang="ko-KR" altLang="en-US" sz="800" dirty="0" err="1">
                          <a:latin typeface="+mn-ea"/>
                          <a:ea typeface="+mn-ea"/>
                        </a:rPr>
                        <a:t>셀렉트박스로</a:t>
                      </a:r>
                      <a:r>
                        <a:rPr lang="ko-KR" altLang="en-US" sz="800" dirty="0">
                          <a:latin typeface="+mn-ea"/>
                          <a:ea typeface="+mn-ea"/>
                        </a:rPr>
                        <a:t> 증권번호 선택</a:t>
                      </a:r>
                      <a:r>
                        <a:rPr lang="en-US" altLang="ko-KR" sz="800" dirty="0">
                          <a:latin typeface="+mn-ea"/>
                          <a:ea typeface="+mn-ea"/>
                        </a:rPr>
                        <a:t>, </a:t>
                      </a:r>
                      <a:r>
                        <a:rPr lang="ko-KR" altLang="en-US" sz="800" dirty="0">
                          <a:latin typeface="+mn-ea"/>
                          <a:ea typeface="+mn-ea"/>
                        </a:rPr>
                        <a:t>없는 경우 직접 입력</a:t>
                      </a:r>
                      <a:r>
                        <a:rPr lang="en-US" altLang="ko-KR" sz="800" dirty="0">
                          <a:latin typeface="+mn-ea"/>
                          <a:ea typeface="+mn-ea"/>
                        </a:rPr>
                        <a:t>.</a:t>
                      </a:r>
                    </a:p>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 이상인 경우 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r>
                        <a:rPr lang="ko-KR" altLang="en-US" sz="800" dirty="0">
                          <a:latin typeface="+mn-ea"/>
                          <a:ea typeface="+mn-ea"/>
                        </a:rPr>
                        <a:t>보증금액</a:t>
                      </a:r>
                      <a:r>
                        <a:rPr lang="en-US" altLang="ko-KR" sz="800" dirty="0">
                          <a:latin typeface="+mn-ea"/>
                          <a:ea typeface="+mn-ea"/>
                        </a:rPr>
                        <a:t>, </a:t>
                      </a:r>
                      <a:r>
                        <a:rPr lang="ko-KR" altLang="en-US" sz="800" dirty="0">
                          <a:latin typeface="+mn-ea"/>
                          <a:ea typeface="+mn-ea"/>
                        </a:rPr>
                        <a:t>계약자</a:t>
                      </a:r>
                      <a:r>
                        <a:rPr lang="en-US" altLang="ko-KR" sz="800" dirty="0">
                          <a:latin typeface="+mn-ea"/>
                          <a:ea typeface="+mn-ea"/>
                        </a:rPr>
                        <a:t>, </a:t>
                      </a:r>
                      <a:r>
                        <a:rPr lang="ko-KR" altLang="en-US" sz="800" dirty="0">
                          <a:latin typeface="+mn-ea"/>
                          <a:ea typeface="+mn-ea"/>
                        </a:rPr>
                        <a:t>발행자 보이기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p>
                    <a:p>
                      <a:pPr algn="l" latinLnBrk="1"/>
                      <a:r>
                        <a:rPr lang="ko-KR" altLang="en-US" sz="800" dirty="0">
                          <a:latin typeface="+mn-ea"/>
                          <a:ea typeface="+mn-ea"/>
                        </a:rPr>
                        <a:t>같은 컬럼</a:t>
                      </a:r>
                      <a:r>
                        <a:rPr lang="en-US" altLang="ko-KR" sz="800" dirty="0">
                          <a:latin typeface="+mn-ea"/>
                          <a:ea typeface="+mn-ea"/>
                        </a:rPr>
                        <a:t>, </a:t>
                      </a:r>
                      <a:r>
                        <a:rPr lang="ko-KR" altLang="en-US" sz="800" dirty="0">
                          <a:latin typeface="+mn-ea"/>
                          <a:ea typeface="+mn-ea"/>
                        </a:rPr>
                        <a:t>업무구분별 표기 다름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isrBzentyNm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발행자업체명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보증금면제사유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상위코드</a:t>
                      </a:r>
                      <a:r>
                        <a:rPr lang="en-US" altLang="ko-KR" sz="700" dirty="0">
                          <a:latin typeface="+mn-ea"/>
                          <a:ea typeface="+mn-ea"/>
                        </a:rPr>
                        <a:t>:ERGA</a:t>
                      </a:r>
                    </a:p>
                    <a:p>
                      <a:pPr algn="l" latinLnBrk="1"/>
                      <a:r>
                        <a:rPr lang="ko-KR" altLang="en-US" sz="700" dirty="0">
                          <a:latin typeface="+mn-ea"/>
                          <a:ea typeface="+mn-ea"/>
                        </a:rPr>
                        <a:t>보증금납부방법이 보증금면제인 경우 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err="1">
                          <a:latin typeface="+mn-ea"/>
                          <a:ea typeface="+mn-ea"/>
                        </a:rPr>
                        <a:t>투찰가능금액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bdngPsbltyAmt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기준으로 계산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입찰보증금 입력 시 계산 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803688"/>
          <a:ext cx="8995589" cy="27427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이행방식이 단독인 경우 해당 영역 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검색하여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:UB13</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분담</a:t>
                      </a:r>
                      <a:r>
                        <a:rPr lang="en-US" altLang="ko-KR" sz="800" dirty="0">
                          <a:latin typeface="+mn-ea"/>
                          <a:ea typeface="+mn-ea"/>
                        </a:rPr>
                        <a:t>), B(</a:t>
                      </a:r>
                      <a:r>
                        <a:rPr lang="ko-KR" altLang="en-US" sz="800" dirty="0">
                          <a:latin typeface="+mn-ea"/>
                          <a:ea typeface="+mn-ea"/>
                        </a:rPr>
                        <a:t>공동</a:t>
                      </a:r>
                      <a:r>
                        <a:rPr lang="en-US" altLang="ko-KR" sz="800" dirty="0">
                          <a:latin typeface="+mn-ea"/>
                          <a:ea typeface="+mn-ea"/>
                        </a:rPr>
                        <a:t>), C(</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공동</a:t>
                      </a:r>
                      <a:r>
                        <a:rPr lang="en-US" altLang="ko-KR" sz="800" dirty="0">
                          <a:latin typeface="+mn-ea"/>
                          <a:ea typeface="+mn-ea"/>
                        </a:rPr>
                        <a:t>), D(</a:t>
                      </a:r>
                      <a:r>
                        <a:rPr lang="ko-KR" altLang="en-US" sz="800" dirty="0">
                          <a:latin typeface="+mn-ea"/>
                          <a:ea typeface="+mn-ea"/>
                        </a:rPr>
                        <a:t>주계약자관리</a:t>
                      </a:r>
                      <a:r>
                        <a:rPr lang="en-US" altLang="ko-KR" sz="800" dirty="0">
                          <a:latin typeface="+mn-ea"/>
                          <a:ea typeface="+mn-ea"/>
                        </a:rPr>
                        <a:t>), N(</a:t>
                      </a:r>
                      <a:r>
                        <a:rPr lang="ko-KR" altLang="en-US" sz="800" dirty="0">
                          <a:latin typeface="+mn-ea"/>
                          <a:ea typeface="+mn-ea"/>
                        </a:rPr>
                        <a:t>단독</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공동분담업종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A, C, D | </a:t>
                      </a: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공동수급협정 출자비율</a:t>
                      </a:r>
                      <a:r>
                        <a:rPr lang="en-US" altLang="ko-KR" sz="800" dirty="0">
                          <a:latin typeface="+mn-ea"/>
                          <a:ea typeface="+mn-ea"/>
                        </a:rPr>
                        <a:t>/</a:t>
                      </a:r>
                      <a:r>
                        <a:rPr lang="ko-KR" altLang="en-US" sz="800" dirty="0">
                          <a:latin typeface="+mn-ea"/>
                          <a:ea typeface="+mn-ea"/>
                        </a:rPr>
                        <a:t>분담비율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B, C, D</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B-</a:t>
                      </a:r>
                      <a:r>
                        <a:rPr lang="ko-KR" altLang="en-US" sz="800" dirty="0">
                          <a:latin typeface="+mn-ea"/>
                          <a:ea typeface="+mn-ea"/>
                        </a:rPr>
                        <a:t>출자비율</a:t>
                      </a:r>
                      <a:r>
                        <a:rPr lang="en-US" altLang="ko-KR" sz="800" dirty="0">
                          <a:latin typeface="+mn-ea"/>
                          <a:ea typeface="+mn-ea"/>
                        </a:rPr>
                        <a:t> / A-</a:t>
                      </a:r>
                      <a:r>
                        <a:rPr lang="ko-KR" altLang="en-US" sz="800" dirty="0">
                          <a:latin typeface="+mn-ea"/>
                          <a:ea typeface="+mn-ea"/>
                        </a:rPr>
                        <a:t>분담비율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0505831"/>
                  </a:ext>
                </a:extLst>
              </a:tr>
              <a:tr h="0">
                <a:tc>
                  <a:txBody>
                    <a:bodyPr/>
                    <a:lstStyle/>
                    <a:p>
                      <a:pPr latinLnBrk="1"/>
                      <a:r>
                        <a:rPr lang="ko-KR" altLang="en-US" sz="800" dirty="0">
                          <a:latin typeface="+mn-ea"/>
                          <a:ea typeface="+mn-ea"/>
                        </a:rPr>
                        <a:t>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1408958"/>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동의여부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argeYn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동의여부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017933"/>
                  </a:ext>
                </a:extLst>
              </a:tr>
            </a:tbl>
          </a:graphicData>
        </a:graphic>
      </p:graphicFrame>
      <p:sp>
        <p:nvSpPr>
          <p:cNvPr id="4" name="Text Box 73">
            <a:extLst>
              <a:ext uri="{FF2B5EF4-FFF2-40B4-BE49-F238E27FC236}">
                <a16:creationId xmlns:a16="http://schemas.microsoft.com/office/drawing/2014/main" id="{1F9F1A68-05C9-37BF-F460-624EF6674B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28F00CCC-08F7-4A4E-DDEB-BD864956DB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Tree>
    <p:extLst>
      <p:ext uri="{BB962C8B-B14F-4D97-AF65-F5344CB8AC3E}">
        <p14:creationId xmlns:p14="http://schemas.microsoft.com/office/powerpoint/2010/main" val="222877911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3347639"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입찰참가 첨부파일 데이터 영역 </a:t>
            </a:r>
            <a:r>
              <a:rPr lang="en-US" altLang="ko-KR" sz="900" b="1" dirty="0">
                <a:solidFill>
                  <a:prstClr val="black"/>
                </a:solidFill>
              </a:rPr>
              <a:t>(</a:t>
            </a:r>
            <a:r>
              <a:rPr lang="en-US" altLang="ko-KR" sz="900" b="1" dirty="0" err="1">
                <a:solidFill>
                  <a:prstClr val="black"/>
                </a:solidFill>
              </a:rPr>
              <a:t>dlt_bidPrtcpAtchFileList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64413"/>
            <a:ext cx="2246375" cy="211203"/>
          </a:xfrm>
          <a:prstGeom prst="rect">
            <a:avLst/>
          </a:prstGeom>
          <a:noFill/>
        </p:spPr>
        <p:txBody>
          <a:bodyPr wrap="none" lIns="36000" tIns="36000" rIns="36000" bIns="36000" rtlCol="0">
            <a:spAutoFit/>
          </a:bodyPr>
          <a:lstStyle/>
          <a:p>
            <a:r>
              <a:rPr lang="en-US" altLang="ko-KR" sz="900" b="1" dirty="0">
                <a:solidFill>
                  <a:prstClr val="black"/>
                </a:solidFill>
              </a:rPr>
              <a:t>1.9. </a:t>
            </a:r>
            <a:r>
              <a:rPr lang="ko-KR" altLang="en-US" sz="900" b="1" dirty="0">
                <a:solidFill>
                  <a:prstClr val="black"/>
                </a:solidFill>
              </a:rPr>
              <a:t>문의처 데이터 영역 </a:t>
            </a:r>
            <a:r>
              <a:rPr lang="en-US" altLang="ko-KR" sz="900" b="1" dirty="0">
                <a:solidFill>
                  <a:prstClr val="black"/>
                </a:solidFill>
              </a:rPr>
              <a:t>(</a:t>
            </a:r>
            <a:r>
              <a:rPr lang="en-US" altLang="ko-KR" sz="900" b="1" dirty="0" err="1">
                <a:solidFill>
                  <a:prstClr val="black"/>
                </a:solidFill>
              </a:rPr>
              <a:t>dmt_ofcctrInfo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endParaRPr lang="en-US" altLang="ko-KR" sz="800" dirty="0">
                        <a:latin typeface="+mn-ea"/>
                        <a:ea typeface="+mn-ea"/>
                      </a:endParaRPr>
                    </a:p>
                    <a:p>
                      <a:pPr algn="l" latinLnBrk="1"/>
                      <a:r>
                        <a:rPr lang="en-US" altLang="ko-KR" sz="800" dirty="0">
                          <a:latin typeface="+mn-ea"/>
                          <a:ea typeface="+mn-ea"/>
                        </a:rPr>
                        <a:t>  - </a:t>
                      </a:r>
                      <a:r>
                        <a:rPr lang="ko-KR" altLang="en-US" sz="800" dirty="0">
                          <a:latin typeface="+mn-ea"/>
                          <a:ea typeface="+mn-ea"/>
                        </a:rPr>
                        <a:t>청렴서약서</a:t>
                      </a:r>
                      <a:r>
                        <a:rPr lang="en-US" altLang="ko-KR" sz="800" dirty="0">
                          <a:latin typeface="+mn-ea"/>
                          <a:ea typeface="+mn-ea"/>
                        </a:rPr>
                        <a:t>, </a:t>
                      </a:r>
                      <a:r>
                        <a:rPr lang="ko-KR" altLang="en-US" sz="800" dirty="0">
                          <a:latin typeface="+mn-ea"/>
                          <a:ea typeface="+mn-ea"/>
                        </a:rPr>
                        <a:t>법인등기부등본</a:t>
                      </a:r>
                      <a:r>
                        <a:rPr lang="en-US" altLang="ko-KR" sz="800" dirty="0">
                          <a:latin typeface="+mn-ea"/>
                          <a:ea typeface="+mn-ea"/>
                        </a:rPr>
                        <a:t>(</a:t>
                      </a:r>
                      <a:r>
                        <a:rPr lang="ko-KR" altLang="en-US" sz="800" dirty="0">
                          <a:latin typeface="+mn-ea"/>
                          <a:ea typeface="+mn-ea"/>
                        </a:rPr>
                        <a:t>등기사항 전부</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증명서</a:t>
                      </a:r>
                      <a:r>
                        <a:rPr lang="en-US" altLang="ko-KR" sz="800" dirty="0">
                          <a:latin typeface="+mn-ea"/>
                          <a:ea typeface="+mn-ea"/>
                        </a:rPr>
                        <a:t>) </a:t>
                      </a:r>
                      <a:r>
                        <a:rPr lang="ko-KR" altLang="en-US" sz="800" dirty="0">
                          <a:latin typeface="+mn-ea"/>
                          <a:ea typeface="+mn-ea"/>
                        </a:rPr>
                        <a:t>필수 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10MB</a:t>
                      </a:r>
                      <a:r>
                        <a:rPr lang="ko-KR" altLang="en-US" sz="800" dirty="0">
                          <a:latin typeface="+mn-ea"/>
                          <a:ea typeface="+mn-ea"/>
                        </a:rPr>
                        <a:t> 제한</a:t>
                      </a:r>
                      <a:r>
                        <a:rPr lang="en-US" altLang="ko-KR" sz="800" dirty="0">
                          <a:latin typeface="+mn-ea"/>
                          <a:ea typeface="+mn-ea"/>
                        </a:rPr>
                        <a:t>, TOBE </a:t>
                      </a:r>
                      <a:r>
                        <a:rPr lang="ko-KR" altLang="en-US" sz="800" dirty="0">
                          <a:latin typeface="+mn-ea"/>
                          <a:ea typeface="+mn-ea"/>
                        </a:rPr>
                        <a:t>제한 해제 또는 </a:t>
                      </a:r>
                      <a:r>
                        <a:rPr lang="en-US" altLang="ko-KR" sz="800" dirty="0">
                          <a:latin typeface="+mn-ea"/>
                          <a:ea typeface="+mn-ea"/>
                        </a:rPr>
                        <a:t>200MB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76904"/>
          <a:ext cx="8995589" cy="703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사용자구분이 </a:t>
                      </a:r>
                      <a:r>
                        <a:rPr lang="en-US" altLang="ko-KR" sz="800" dirty="0">
                          <a:latin typeface="+mn-ea"/>
                          <a:ea typeface="+mn-ea"/>
                        </a:rPr>
                        <a:t>21</a:t>
                      </a:r>
                      <a:r>
                        <a:rPr lang="ko-KR" altLang="en-US" sz="800" dirty="0">
                          <a:latin typeface="+mn-ea"/>
                          <a:ea typeface="+mn-ea"/>
                        </a:rPr>
                        <a:t>인 경우 </a:t>
                      </a:r>
                      <a:r>
                        <a:rPr lang="en-US" altLang="ko-KR" sz="800" dirty="0">
                          <a:latin typeface="+mn-ea"/>
                          <a:ea typeface="+mn-ea"/>
                        </a:rPr>
                        <a:t>02-2079-####, </a:t>
                      </a:r>
                      <a:r>
                        <a:rPr lang="ko-KR" altLang="en-US" sz="800" dirty="0">
                          <a:latin typeface="+mn-ea"/>
                          <a:ea typeface="+mn-ea"/>
                        </a:rPr>
                        <a:t>그 외는 형식 없음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4" name="Text Box 73">
            <a:extLst>
              <a:ext uri="{FF2B5EF4-FFF2-40B4-BE49-F238E27FC236}">
                <a16:creationId xmlns:a16="http://schemas.microsoft.com/office/drawing/2014/main" id="{410652AA-2885-80E3-1C2D-798295E11A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52B1109-BD50-A274-B42D-8BDE00FC33F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Tree>
    <p:extLst>
      <p:ext uri="{BB962C8B-B14F-4D97-AF65-F5344CB8AC3E}">
        <p14:creationId xmlns:p14="http://schemas.microsoft.com/office/powerpoint/2010/main" val="195241269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122</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07629"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(1/2)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extLst>
              <p:ext uri="{D42A27DB-BD31-4B8C-83A1-F6EECF244321}">
                <p14:modId xmlns:p14="http://schemas.microsoft.com/office/powerpoint/2010/main" val="575514492"/>
              </p:ext>
            </p:extLst>
          </p:nvPr>
        </p:nvGraphicFramePr>
        <p:xfrm>
          <a:off x="453000" y="967324"/>
          <a:ext cx="8995591" cy="49296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err="1">
                          <a:latin typeface="+mn-ea"/>
                          <a:ea typeface="+mn-ea"/>
                        </a:rPr>
                        <a:t>입찰공고첨부서류</a:t>
                      </a:r>
                      <a:r>
                        <a:rPr lang="en-US" altLang="ko-KR" sz="800" dirty="0">
                          <a:latin typeface="+mn-ea"/>
                          <a:ea typeface="+mn-ea"/>
                        </a:rPr>
                        <a:t>, </a:t>
                      </a:r>
                      <a:r>
                        <a:rPr lang="ko-KR" altLang="en-US" sz="800" dirty="0">
                          <a:latin typeface="+mn-ea"/>
                          <a:ea typeface="+mn-ea"/>
                        </a:rPr>
                        <a:t>문의처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연기공고 여부</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TBEPBP34(</a:t>
                      </a:r>
                      <a:r>
                        <a:rPr lang="ko-KR" altLang="en-US" sz="800" dirty="0">
                          <a:latin typeface="+mn-ea"/>
                          <a:ea typeface="+mn-ea"/>
                        </a:rPr>
                        <a:t>연기정정처리이력</a:t>
                      </a:r>
                      <a:r>
                        <a:rPr lang="en-US" altLang="ko-KR" sz="800" dirty="0">
                          <a:latin typeface="+mn-ea"/>
                          <a:ea typeface="+mn-ea"/>
                        </a:rPr>
                        <a:t>).</a:t>
                      </a:r>
                      <a:r>
                        <a:rPr lang="en-US" altLang="ko-KR" sz="800" kern="1200" dirty="0">
                          <a:solidFill>
                            <a:schemeClr val="tx1"/>
                          </a:solidFill>
                          <a:latin typeface="+mn-ea"/>
                          <a:ea typeface="+mn-ea"/>
                          <a:cs typeface="+mn-cs"/>
                        </a:rPr>
                        <a:t>PTCP_POPN_SEQN(</a:t>
                      </a:r>
                      <a:r>
                        <a:rPr lang="ko-KR" altLang="en-US" sz="800" kern="1200" dirty="0">
                          <a:solidFill>
                            <a:schemeClr val="tx1"/>
                          </a:solidFill>
                          <a:latin typeface="+mn-ea"/>
                          <a:ea typeface="+mn-ea"/>
                          <a:cs typeface="+mn-cs"/>
                        </a:rPr>
                        <a:t>입찰참가신청연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기정정이력순번</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‘N’</a:t>
                      </a:r>
                      <a:r>
                        <a:rPr lang="ko-KR" altLang="en-US" sz="800" kern="1200" dirty="0">
                          <a:solidFill>
                            <a:schemeClr val="tx1"/>
                          </a:solidFill>
                          <a:latin typeface="+mn-ea"/>
                          <a:ea typeface="+mn-ea"/>
                          <a:cs typeface="+mn-cs"/>
                        </a:rPr>
                        <a:t>이 아니고</a:t>
                      </a:r>
                      <a:r>
                        <a:rPr lang="en-US" altLang="ko-KR" sz="800" kern="1200" dirty="0">
                          <a:solidFill>
                            <a:schemeClr val="tx1"/>
                          </a:solidFill>
                          <a:latin typeface="+mn-ea"/>
                          <a:ea typeface="+mn-ea"/>
                          <a:cs typeface="+mn-cs"/>
                        </a:rPr>
                        <a:t>, </a:t>
                      </a:r>
                      <a:r>
                        <a:rPr lang="en-US" altLang="ko-KR" sz="800" dirty="0">
                          <a:latin typeface="+mn-ea"/>
                          <a:ea typeface="+mn-ea"/>
                        </a:rPr>
                        <a:t>TBEPBP34(</a:t>
                      </a:r>
                      <a:r>
                        <a:rPr lang="ko-KR" altLang="en-US" sz="800" dirty="0" err="1">
                          <a:latin typeface="+mn-ea"/>
                          <a:ea typeface="+mn-ea"/>
                        </a:rPr>
                        <a:t>연기정정처이</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력</a:t>
                      </a:r>
                      <a:r>
                        <a:rPr lang="en-US" altLang="ko-KR" sz="800" dirty="0">
                          <a:latin typeface="+mn-ea"/>
                          <a:ea typeface="+mn-ea"/>
                        </a:rPr>
                        <a:t>).</a:t>
                      </a:r>
                      <a:r>
                        <a:rPr lang="en-US" altLang="ko-KR" sz="800" kern="1200" dirty="0">
                          <a:solidFill>
                            <a:schemeClr val="tx1"/>
                          </a:solidFill>
                          <a:latin typeface="+mn-ea"/>
                          <a:ea typeface="+mn-ea"/>
                          <a:cs typeface="+mn-cs"/>
                        </a:rPr>
                        <a:t>PTCP_BIDX_DATE(</a:t>
                      </a:r>
                      <a:r>
                        <a:rPr lang="ko-KR" altLang="en-US" sz="800" kern="1200" dirty="0" err="1">
                          <a:solidFill>
                            <a:schemeClr val="tx1"/>
                          </a:solidFill>
                          <a:latin typeface="+mn-ea"/>
                          <a:ea typeface="+mn-ea"/>
                          <a:cs typeface="+mn-cs"/>
                        </a:rPr>
                        <a:t>이전입찰참가신청입찰일자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TBEPBA11 (</a:t>
                      </a:r>
                      <a:r>
                        <a:rPr lang="ko-KR" altLang="en-US" sz="800" kern="1200" dirty="0">
                          <a:solidFill>
                            <a:schemeClr val="tx1"/>
                          </a:solidFill>
                          <a:latin typeface="+mn-ea"/>
                          <a:ea typeface="+mn-ea"/>
                          <a:cs typeface="+mn-cs"/>
                        </a:rPr>
                        <a:t>공</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고의뢰철</a:t>
                      </a:r>
                      <a:r>
                        <a:rPr lang="en-US" altLang="ko-KR" sz="800" kern="1200" dirty="0">
                          <a:solidFill>
                            <a:schemeClr val="tx1"/>
                          </a:solidFill>
                          <a:latin typeface="+mn-ea"/>
                          <a:ea typeface="+mn-ea"/>
                          <a:cs typeface="+mn-cs"/>
                        </a:rPr>
                        <a:t>).BIDX_DATE(</a:t>
                      </a:r>
                      <a:r>
                        <a:rPr lang="ko-KR" altLang="en-US" sz="800" kern="1200" dirty="0">
                          <a:solidFill>
                            <a:schemeClr val="tx1"/>
                          </a:solidFill>
                          <a:latin typeface="+mn-ea"/>
                          <a:ea typeface="+mn-ea"/>
                          <a:cs typeface="+mn-cs"/>
                        </a:rPr>
                        <a:t>개찰일자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와 다른 경우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ko-KR" altLang="en-US" sz="800" kern="1200" dirty="0">
                          <a:solidFill>
                            <a:schemeClr val="tx1"/>
                          </a:solidFill>
                          <a:latin typeface="+mn-ea"/>
                          <a:ea typeface="+mn-ea"/>
                          <a:cs typeface="+mn-cs"/>
                        </a:rPr>
                        <a:t>공지사항 보이기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 </a:t>
                      </a:r>
                      <a:r>
                        <a:rPr lang="ko-KR" altLang="en-US" sz="800" kern="1200" dirty="0">
                          <a:solidFill>
                            <a:schemeClr val="tx1"/>
                          </a:solidFill>
                          <a:latin typeface="+mn-ea"/>
                          <a:ea typeface="+mn-ea"/>
                          <a:cs typeface="+mn-cs"/>
                        </a:rPr>
                        <a:t>입찰참가신청서 조회</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수정 시 연기공고 처리 된 경우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ko-KR" altLang="en-US" sz="800" dirty="0">
                        <a:latin typeface="+mn-ea"/>
                        <a:ea typeface="+mn-ea"/>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보증금납부방법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scwin.sbx_</a:t>
                      </a:r>
                      <a:r>
                        <a:rPr lang="en-US" altLang="ko-KR" sz="800" dirty="0" err="1">
                          <a:latin typeface="+mn-ea"/>
                          <a:ea typeface="+mn-ea"/>
                        </a:rPr>
                        <a:t>depsPayMthd</a:t>
                      </a:r>
                      <a:r>
                        <a:rPr lang="en-US" altLang="ko-KR" sz="800" dirty="0" err="1"/>
                        <a:t>_onchange</a:t>
                      </a:r>
                      <a:endParaRPr lang="en-US" altLang="ko-KR" sz="800" dirty="0"/>
                    </a:p>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면제 선택 시 보증금 지급확약서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알림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r>
                        <a:rPr lang="en-US" altLang="ko-KR" sz="800" dirty="0">
                          <a:latin typeface="+mn-ea"/>
                          <a:ea typeface="+mn-ea"/>
                        </a:rPr>
                        <a:t>‘</a:t>
                      </a:r>
                      <a:r>
                        <a:rPr lang="ko-KR" altLang="en-US" sz="800" dirty="0">
                          <a:latin typeface="+mn-ea"/>
                          <a:ea typeface="+mn-ea"/>
                        </a:rPr>
                        <a:t>보증금 지급확약서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그 외의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r h="0">
                <a:tc>
                  <a:txBody>
                    <a:bodyPr/>
                    <a:lstStyle/>
                    <a:p>
                      <a:r>
                        <a:rPr lang="ko-KR" altLang="en-US" sz="800" dirty="0">
                          <a:latin typeface="+mn-ea"/>
                          <a:ea typeface="+mn-ea"/>
                        </a:rPr>
                        <a:t>면제여부상세설명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scwin.btn_depsExmptnRsnDtlExpls_onclick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kern="1200" dirty="0" err="1">
                          <a:solidFill>
                            <a:schemeClr val="tx1"/>
                          </a:solidFill>
                          <a:latin typeface="+mn-ea"/>
                          <a:ea typeface="+mn-ea"/>
                          <a:cs typeface="+mn-cs"/>
                        </a:rPr>
                        <a:t>보증금면제사유상세설명</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(UI-BD-04-P03) </a:t>
                      </a:r>
                      <a:r>
                        <a:rPr lang="ko-KR" altLang="en-US" sz="800" b="0" i="0" kern="1200" dirty="0">
                          <a:solidFill>
                            <a:schemeClr val="tx1"/>
                          </a:solidFill>
                          <a:effectLst/>
                          <a:latin typeface="+mn-ea"/>
                          <a:ea typeface="+mn-ea"/>
                          <a:cs typeface="+mn-cs"/>
                        </a:rPr>
                        <a:t>보증금면제사유상세설명</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782484"/>
                  </a:ext>
                </a:extLst>
              </a:tr>
              <a:tr h="0">
                <a:tc>
                  <a:txBody>
                    <a:bodyPr/>
                    <a:lstStyle/>
                    <a:p>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입찰참가신청서 저장 또는 수정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중복 신청 확인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입찰참가신청 완료 후 입찰등록심사 시점이 사후등록심사인 경우 알림</a:t>
                      </a:r>
                      <a:r>
                        <a:rPr lang="en-US" altLang="ko-KR" sz="750" dirty="0">
                          <a:latin typeface="+mn-ea"/>
                          <a:ea typeface="+mn-ea"/>
                        </a:rPr>
                        <a:t>(alert)</a:t>
                      </a: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입찰서제출 시점</a:t>
                      </a:r>
                      <a:r>
                        <a:rPr lang="en-US" altLang="ko-KR" sz="800" dirty="0">
                          <a:latin typeface="+mn-ea"/>
                          <a:ea typeface="+mn-ea"/>
                        </a:rPr>
                        <a:t>(TBEPBA11.APPL_INSP)</a:t>
                      </a:r>
                    </a:p>
                    <a:p>
                      <a:pPr marL="0" indent="0" algn="l" latinLnBrk="1">
                        <a:buFont typeface="Arial" panose="020B0604020202020204" pitchFamily="34" charset="0"/>
                        <a:buNone/>
                      </a:pPr>
                      <a:r>
                        <a:rPr lang="en-US" altLang="ko-KR" sz="800" dirty="0">
                          <a:latin typeface="+mn-ea"/>
                          <a:ea typeface="+mn-ea"/>
                        </a:rPr>
                        <a:t>    - Y : </a:t>
                      </a: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입찰서제출</a:t>
                      </a:r>
                      <a:r>
                        <a:rPr lang="en-US" altLang="ko-KR" sz="800" dirty="0">
                          <a:latin typeface="+mn-ea"/>
                          <a:ea typeface="+mn-ea"/>
                        </a:rPr>
                        <a:t> </a:t>
                      </a:r>
                      <a:r>
                        <a:rPr lang="ko-KR" altLang="en-US" sz="800" dirty="0">
                          <a:latin typeface="+mn-ea"/>
                          <a:ea typeface="+mn-ea"/>
                        </a:rPr>
                        <a:t>후</a:t>
                      </a:r>
                      <a:r>
                        <a:rPr lang="en-US" altLang="ko-KR" sz="800" dirty="0">
                          <a:latin typeface="+mn-ea"/>
                          <a:ea typeface="+mn-ea"/>
                        </a:rPr>
                        <a:t> </a:t>
                      </a:r>
                      <a:r>
                        <a:rPr lang="ko-KR" altLang="en-US" sz="800" dirty="0">
                          <a:latin typeface="+mn-ea"/>
                          <a:ea typeface="+mn-ea"/>
                        </a:rPr>
                        <a:t>입찰등록심사</a:t>
                      </a:r>
                      <a:r>
                        <a:rPr lang="en-US" altLang="ko-KR" sz="800" dirty="0">
                          <a:latin typeface="+mn-ea"/>
                          <a:ea typeface="+mn-ea"/>
                        </a:rPr>
                        <a:t>(</a:t>
                      </a:r>
                      <a:r>
                        <a:rPr lang="ko-KR" altLang="en-US" sz="800" dirty="0">
                          <a:latin typeface="+mn-ea"/>
                          <a:ea typeface="+mn-ea"/>
                        </a:rPr>
                        <a:t>사후등록심사</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    - </a:t>
                      </a:r>
                      <a:r>
                        <a:rPr lang="en-US" altLang="ko-KR" sz="750" dirty="0">
                          <a:latin typeface="+mn-ea"/>
                          <a:ea typeface="+mn-ea"/>
                        </a:rPr>
                        <a:t>N : </a:t>
                      </a:r>
                      <a:r>
                        <a:rPr lang="ko-KR" altLang="en-US" sz="750" dirty="0">
                          <a:latin typeface="+mn-ea"/>
                          <a:ea typeface="+mn-ea"/>
                        </a:rPr>
                        <a:t>입찰참가신청</a:t>
                      </a:r>
                      <a:r>
                        <a:rPr lang="en-US" altLang="ko-KR" sz="750" dirty="0">
                          <a:latin typeface="+mn-ea"/>
                          <a:ea typeface="+mn-ea"/>
                        </a:rPr>
                        <a:t>, </a:t>
                      </a:r>
                      <a:r>
                        <a:rPr lang="ko-KR" altLang="en-US" sz="750" dirty="0">
                          <a:latin typeface="+mn-ea"/>
                          <a:ea typeface="+mn-ea"/>
                        </a:rPr>
                        <a:t>입찰등록심사 등록확정 후 입찰서 제출</a:t>
                      </a:r>
                      <a:r>
                        <a:rPr lang="en-US" altLang="ko-KR" sz="750" dirty="0">
                          <a:latin typeface="+mn-ea"/>
                          <a:ea typeface="+mn-ea"/>
                        </a:rPr>
                        <a:t>(</a:t>
                      </a:r>
                      <a:r>
                        <a:rPr lang="ko-KR" altLang="en-US" sz="750" dirty="0">
                          <a:latin typeface="+mn-ea"/>
                          <a:ea typeface="+mn-ea"/>
                        </a:rPr>
                        <a:t>사전등록심사</a:t>
                      </a:r>
                      <a:r>
                        <a:rPr lang="en-US" altLang="ko-KR" sz="75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8272934"/>
                  </a:ext>
                </a:extLst>
              </a:tr>
              <a:tr h="0">
                <a:tc>
                  <a:txBody>
                    <a:bodyPr/>
                    <a:lstStyle/>
                    <a:p>
                      <a:r>
                        <a:rPr lang="ko-KR" altLang="en-US" sz="800" dirty="0">
                          <a:latin typeface="+mn-ea"/>
                          <a:ea typeface="+mn-ea"/>
                        </a:rPr>
                        <a:t>협정서제출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모든 구성업체 동의 후 대표업체가 협정서제출</a:t>
                      </a:r>
                      <a:r>
                        <a:rPr lang="en-US" altLang="ko-KR" sz="800" dirty="0">
                          <a:latin typeface="+mn-ea"/>
                          <a:ea typeface="+mn-ea"/>
                        </a:rPr>
                        <a:t>(</a:t>
                      </a:r>
                      <a:r>
                        <a:rPr lang="ko-KR" altLang="en-US" sz="800" dirty="0">
                          <a:latin typeface="+mn-ea"/>
                          <a:ea typeface="+mn-ea"/>
                        </a:rPr>
                        <a:t>입찰참가신청 완료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1187369"/>
                  </a:ext>
                </a:extLst>
              </a:tr>
              <a:tr h="0">
                <a:tc>
                  <a:txBody>
                    <a:bodyPr/>
                    <a:lstStyle/>
                    <a:p>
                      <a:r>
                        <a:rPr lang="ko-KR" altLang="en-US" sz="800" dirty="0" err="1">
                          <a:latin typeface="+mn-ea"/>
                          <a:ea typeface="+mn-ea"/>
                        </a:rPr>
                        <a:t>등록반려</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입찰등록심사 전 가능</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1084790"/>
                  </a:ext>
                </a:extLst>
              </a:tr>
              <a:tr h="0">
                <a:tc>
                  <a:txBody>
                    <a:bodyPr/>
                    <a:lstStyle/>
                    <a:p>
                      <a:r>
                        <a:rPr lang="ko-KR" altLang="en-US" sz="800" dirty="0">
                          <a:latin typeface="+mn-ea"/>
                          <a:ea typeface="+mn-ea"/>
                        </a:rPr>
                        <a:t>반려신청조회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scwin.btn_bidPrtcpRegRjctInc_onclick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입찰참가등록반려 신청 후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015457"/>
                  </a:ext>
                </a:extLst>
              </a:tr>
              <a:tr h="0">
                <a:tc>
                  <a:txBody>
                    <a:bodyPr/>
                    <a:lstStyle/>
                    <a:p>
                      <a:r>
                        <a:rPr lang="ko-KR" altLang="en-US" sz="800" dirty="0">
                          <a:latin typeface="+mn-ea"/>
                          <a:ea typeface="+mn-ea"/>
                        </a:rPr>
                        <a:t>공동수급동의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scwin.btn_jtngpAgre_onclick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협정에 동의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67603420"/>
                  </a:ext>
                </a:extLst>
              </a:tr>
              <a:tr h="0">
                <a:tc>
                  <a:txBody>
                    <a:bodyPr/>
                    <a:lstStyle/>
                    <a:p>
                      <a:r>
                        <a:rPr lang="ko-KR" altLang="en-US" sz="800" dirty="0">
                          <a:latin typeface="+mn-ea"/>
                          <a:ea typeface="+mn-ea"/>
                        </a:rPr>
                        <a:t>동의거부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scwin.btn_jtngpDsag_onclick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 거부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9702224"/>
                  </a:ext>
                </a:extLst>
              </a:tr>
              <a:tr h="0">
                <a:tc>
                  <a:txBody>
                    <a:bodyPr/>
                    <a:lstStyle/>
                    <a:p>
                      <a:r>
                        <a:rPr lang="ko-KR" altLang="en-US" sz="800" dirty="0" err="1">
                          <a:latin typeface="+mn-ea"/>
                          <a:ea typeface="+mn-ea"/>
                        </a:rPr>
                        <a:t>공동수급협정서출력</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scwin.btn_jtngpReport_onclick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공동수급협정서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81134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490466"/>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123</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 (2/2)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nvGraphicFramePr>
        <p:xfrm>
          <a:off x="453000" y="967324"/>
          <a:ext cx="8995591" cy="14275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r>
                        <a:rPr lang="ko-KR" altLang="en-US" sz="800" dirty="0">
                          <a:latin typeface="+mn-ea"/>
                          <a:ea typeface="+mn-ea"/>
                        </a:rPr>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지급 확약서 </a:t>
                      </a:r>
                      <a:r>
                        <a:rPr lang="ko-KR" altLang="en-US" sz="800" dirty="0" err="1">
                          <a:latin typeface="+mn-ea"/>
                          <a:ea typeface="+mn-ea"/>
                        </a:rPr>
                        <a:t>동의문</a:t>
                      </a:r>
                      <a:r>
                        <a:rPr lang="ko-KR" altLang="en-US" sz="800" dirty="0">
                          <a:latin typeface="+mn-ea"/>
                          <a:ea typeface="+mn-ea"/>
                        </a:rPr>
                        <a:t>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공통 </a:t>
                      </a:r>
                      <a:r>
                        <a:rPr lang="en-US" altLang="ko-KR" sz="800" dirty="0">
                          <a:latin typeface="+mn-ea"/>
                          <a:ea typeface="+mn-ea"/>
                        </a:rPr>
                        <a:t>- </a:t>
                      </a:r>
                      <a:r>
                        <a:rPr lang="ko-KR" altLang="en-US" sz="800" dirty="0">
                          <a:latin typeface="+mn-ea"/>
                          <a:ea typeface="+mn-ea"/>
                        </a:rPr>
                        <a:t>입찰보증금 지급확약서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물품이고 부서부호가 </a:t>
                      </a:r>
                      <a:r>
                        <a:rPr lang="en-US" altLang="ko-KR" sz="800" dirty="0">
                          <a:latin typeface="+mn-ea"/>
                          <a:ea typeface="+mn-ea"/>
                        </a:rPr>
                        <a:t>‘E’</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경고 영역</a:t>
                      </a:r>
                      <a:r>
                        <a:rPr lang="en-US" altLang="ko-KR" sz="800" dirty="0">
                          <a:latin typeface="+mn-ea"/>
                          <a:ea typeface="+mn-ea"/>
                        </a:rPr>
                        <a:t> </a:t>
                      </a:r>
                      <a:r>
                        <a:rPr lang="ko-KR" altLang="en-US" sz="800" dirty="0">
                          <a:latin typeface="+mn-ea"/>
                          <a:ea typeface="+mn-ea"/>
                        </a:rPr>
                        <a:t>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지급확약서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물품이고 부서부호가 그 외인 경우 입찰보증금 면제사유 확약서 영역 보이기</a:t>
                      </a:r>
                      <a:endParaRPr lang="en-US" altLang="ko-KR" sz="75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입찰보증금 면제사유 확약서 영역 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보증금 지급 확약서 동의문 닫기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384081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25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타원 194">
            <a:extLst>
              <a:ext uri="{FF2B5EF4-FFF2-40B4-BE49-F238E27FC236}">
                <a16:creationId xmlns:a16="http://schemas.microsoft.com/office/drawing/2014/main" id="{37A7FF4F-0EAA-1463-560A-D5EC24416103}"/>
              </a:ext>
            </a:extLst>
          </p:cNvPr>
          <p:cNvSpPr/>
          <p:nvPr/>
        </p:nvSpPr>
        <p:spPr>
          <a:xfrm>
            <a:off x="571127" y="29364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99180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99292"/>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99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99292"/>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99292"/>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30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44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57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171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38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598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448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2821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72821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728214"/>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728214"/>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4482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9009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179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30017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33152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41350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076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220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7939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4254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884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176824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6824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24793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55541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5554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55541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55541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865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00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2139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4276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641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855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2009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050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0991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4125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2324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3" name="타원 322">
            <a:extLst>
              <a:ext uri="{FF2B5EF4-FFF2-40B4-BE49-F238E27FC236}">
                <a16:creationId xmlns:a16="http://schemas.microsoft.com/office/drawing/2014/main" id="{37A7FF4F-0EAA-1463-560A-D5EC24416103}"/>
              </a:ext>
            </a:extLst>
          </p:cNvPr>
          <p:cNvSpPr/>
          <p:nvPr/>
        </p:nvSpPr>
        <p:spPr>
          <a:xfrm>
            <a:off x="571127" y="33447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866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725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0478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317295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2683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60069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62206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434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6293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2634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24189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057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18392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162266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162266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162266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162266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183927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158454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16" name="그룹 115"/>
          <p:cNvGrpSpPr/>
          <p:nvPr/>
        </p:nvGrpSpPr>
        <p:grpSpPr>
          <a:xfrm>
            <a:off x="8223250" y="569392"/>
            <a:ext cx="3365500" cy="634511"/>
            <a:chOff x="8223250" y="569392"/>
            <a:chExt cx="3365500" cy="634511"/>
          </a:xfrm>
        </p:grpSpPr>
        <p:sp>
          <p:nvSpPr>
            <p:cNvPr id="117" name="직사각형 11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18" name="직사각형 11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19" name="그룹 118"/>
          <p:cNvGrpSpPr/>
          <p:nvPr/>
        </p:nvGrpSpPr>
        <p:grpSpPr>
          <a:xfrm>
            <a:off x="677960" y="1582647"/>
            <a:ext cx="2714637" cy="686386"/>
            <a:chOff x="677960" y="1582647"/>
            <a:chExt cx="2714637" cy="686386"/>
          </a:xfrm>
        </p:grpSpPr>
        <p:sp>
          <p:nvSpPr>
            <p:cNvPr id="120" name="TextBox 11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작성</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2" name="그룹 121"/>
            <p:cNvGrpSpPr/>
            <p:nvPr/>
          </p:nvGrpSpPr>
          <p:grpSpPr>
            <a:xfrm rot="5400000">
              <a:off x="852159" y="2062596"/>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3" name="그룹 122"/>
            <p:cNvGrpSpPr/>
            <p:nvPr/>
          </p:nvGrpSpPr>
          <p:grpSpPr>
            <a:xfrm>
              <a:off x="677960" y="1582647"/>
              <a:ext cx="2712027" cy="324286"/>
              <a:chOff x="677960" y="1582647"/>
              <a:chExt cx="2712027" cy="324286"/>
            </a:xfrm>
          </p:grpSpPr>
          <p:pic>
            <p:nvPicPr>
              <p:cNvPr id="12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5" name="직선 연결선 12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타원 12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3006586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표시</a:t>
            </a:r>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55159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46" name="직사각형 345"/>
          <p:cNvSpPr/>
          <p:nvPr/>
        </p:nvSpPr>
        <p:spPr>
          <a:xfrm>
            <a:off x="3834318" y="236823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36823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36823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368232"/>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19057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17159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43074"/>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18240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160747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1607478"/>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160747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160747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182408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1569355"/>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2182058214"/>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투찰내역</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a:t>입찰금액 입력 시 한글금액으로 변환되어 입력됨</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소수점 둘째자리까지 입력 가능</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2" name="사각형: 둥근 모서리 15">
            <a:extLst>
              <a:ext uri="{FF2B5EF4-FFF2-40B4-BE49-F238E27FC236}">
                <a16:creationId xmlns:a16="http://schemas.microsoft.com/office/drawing/2014/main" id="{E2B61CFB-AD16-68D0-8752-50D9C5E01971}"/>
              </a:ext>
            </a:extLst>
          </p:cNvPr>
          <p:cNvSpPr/>
          <p:nvPr/>
        </p:nvSpPr>
        <p:spPr>
          <a:xfrm>
            <a:off x="1561065" y="28068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1561065" y="32347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861774"/>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1561065" y="36626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786075064"/>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endParaRPr lang="en-US" altLang="ko-KR" dirty="0"/>
          </a:p>
          <a:p>
            <a:pPr marL="228600" indent="-228600">
              <a:buFont typeface="+mj-lt"/>
              <a:buAutoNum type="arabicPeriod"/>
            </a:pPr>
            <a:r>
              <a:rPr lang="en-US" altLang="ko-KR" dirty="0"/>
              <a:t>1</a:t>
            </a:r>
            <a:r>
              <a:rPr lang="ko-KR" altLang="en-US" dirty="0" err="1"/>
              <a:t>회차</a:t>
            </a:r>
            <a:r>
              <a:rPr lang="ko-KR" altLang="en-US" dirty="0"/>
              <a:t> 선택은 기본값 열림으로 표시</a:t>
            </a:r>
            <a:r>
              <a:rPr lang="en-US" altLang="ko-KR" dirty="0"/>
              <a:t/>
            </a:r>
            <a:br>
              <a:rPr lang="en-US" altLang="ko-KR" dirty="0"/>
            </a:br>
            <a:r>
              <a:rPr lang="en-US" altLang="ko-KR" dirty="0"/>
              <a:t>- </a:t>
            </a:r>
            <a:r>
              <a:rPr lang="ko-KR" altLang="en-US" dirty="0"/>
              <a:t>사용자 선택 버튼을 통해 아코디언 처리</a:t>
            </a:r>
            <a:r>
              <a:rPr lang="en-US" altLang="ko-KR" dirty="0"/>
              <a:t/>
            </a:r>
            <a:br>
              <a:rPr lang="en-US" altLang="ko-KR" dirty="0"/>
            </a:br>
            <a:r>
              <a:rPr lang="en-US" altLang="ko-KR" dirty="0"/>
              <a:t>- </a:t>
            </a:r>
            <a:r>
              <a:rPr lang="ko-KR" altLang="en-US" dirty="0"/>
              <a:t>선택 버튼으로 </a:t>
            </a:r>
            <a:r>
              <a:rPr lang="en-US" altLang="ko-KR" dirty="0"/>
              <a:t>1</a:t>
            </a:r>
            <a:r>
              <a:rPr lang="ko-KR" altLang="en-US" dirty="0"/>
              <a:t>회</a:t>
            </a:r>
            <a:r>
              <a:rPr lang="en-US" altLang="ko-KR" dirty="0"/>
              <a:t>, 2</a:t>
            </a:r>
            <a:r>
              <a:rPr lang="ko-KR" altLang="en-US" dirty="0"/>
              <a:t>회 각각 아코디언 동작</a:t>
            </a:r>
            <a:endParaRPr lang="en-US" altLang="ko-KR" dirty="0"/>
          </a:p>
          <a:p>
            <a:pPr marL="228600" indent="-228600">
              <a:buFont typeface="+mj-lt"/>
              <a:buAutoNum type="arabicPeriod"/>
            </a:pPr>
            <a:r>
              <a:rPr lang="ko-KR" altLang="en-US" dirty="0"/>
              <a:t>항목 선택 시 상단에 선택 번호 표시</a:t>
            </a:r>
            <a:r>
              <a:rPr lang="en-US" altLang="ko-KR" dirty="0"/>
              <a:t/>
            </a:r>
            <a:br>
              <a:rPr lang="en-US" altLang="ko-KR" dirty="0"/>
            </a:br>
            <a:r>
              <a:rPr lang="en-US" altLang="ko-KR" dirty="0"/>
              <a:t>- </a:t>
            </a:r>
            <a:r>
              <a:rPr lang="ko-KR" altLang="en-US" dirty="0"/>
              <a:t>선택 시 닫힘으로 변경</a:t>
            </a:r>
            <a:r>
              <a:rPr lang="en-US" altLang="ko-KR" dirty="0"/>
              <a:t/>
            </a:r>
            <a:br>
              <a:rPr lang="en-US" altLang="ko-KR" dirty="0"/>
            </a:br>
            <a:r>
              <a:rPr lang="en-US" altLang="ko-KR" dirty="0"/>
              <a:t>- 1</a:t>
            </a:r>
            <a:r>
              <a:rPr lang="ko-KR" altLang="en-US" dirty="0" err="1"/>
              <a:t>회차</a:t>
            </a:r>
            <a:r>
              <a:rPr lang="ko-KR" altLang="en-US" dirty="0"/>
              <a:t> 선택 후 </a:t>
            </a:r>
            <a:r>
              <a:rPr lang="en-US" altLang="ko-KR" dirty="0"/>
              <a:t>2</a:t>
            </a:r>
            <a:r>
              <a:rPr lang="ko-KR" altLang="en-US" dirty="0" err="1"/>
              <a:t>회차가</a:t>
            </a:r>
            <a:r>
              <a:rPr lang="ko-KR" altLang="en-US" dirty="0"/>
              <a:t> 선택되지 않은 경우 </a:t>
            </a:r>
            <a:r>
              <a:rPr lang="en-US" altLang="ko-KR" dirty="0"/>
              <a:t>2</a:t>
            </a:r>
            <a:r>
              <a:rPr lang="ko-KR" altLang="en-US" dirty="0" err="1"/>
              <a:t>회차</a:t>
            </a:r>
            <a:r>
              <a:rPr lang="ko-KR" altLang="en-US" dirty="0"/>
              <a:t> 선택 자동 열림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복수예비가격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1652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a:latin typeface="+mn-ea"/>
              </a:rPr>
              <a:t>번</a:t>
            </a:r>
            <a:endParaRPr lang="en-US" altLang="ko-KR" sz="700" dirty="0">
              <a:latin typeface="+mn-ea"/>
            </a:endParaRPr>
          </a:p>
        </p:txBody>
      </p:sp>
      <p:grpSp>
        <p:nvGrpSpPr>
          <p:cNvPr id="172" name="그룹 171"/>
          <p:cNvGrpSpPr/>
          <p:nvPr/>
        </p:nvGrpSpPr>
        <p:grpSpPr>
          <a:xfrm>
            <a:off x="720139" y="3422269"/>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696437"/>
            <a:ext cx="2621844" cy="1440000"/>
            <a:chOff x="715534" y="3647256"/>
            <a:chExt cx="2621844" cy="1633032"/>
          </a:xfrm>
        </p:grpSpPr>
        <p:sp>
          <p:nvSpPr>
            <p:cNvPr id="109" name="모서리가 둥근 직사각형 108"/>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a:t>
              </a:r>
              <a:r>
                <a:rPr lang="ko-KR" altLang="en-US" sz="800" dirty="0">
                  <a:solidFill>
                    <a:schemeClr val="tx1"/>
                  </a:solidFill>
                </a:rPr>
                <a:t>번</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2</a:t>
              </a:r>
              <a:r>
                <a:rPr lang="ko-KR" altLang="en-US" sz="800" dirty="0">
                  <a:solidFill>
                    <a:prstClr val="black"/>
                  </a:solidFill>
                </a:rPr>
                <a:t>번</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3</a:t>
              </a:r>
              <a:r>
                <a:rPr lang="ko-KR" altLang="en-US" sz="800" dirty="0">
                  <a:solidFill>
                    <a:prstClr val="black"/>
                  </a:solidFill>
                </a:rPr>
                <a:t>번</a:t>
              </a:r>
            </a:p>
          </p:txBody>
        </p:sp>
        <p:sp>
          <p:nvSpPr>
            <p:cNvPr id="190" name="모서리가 둥근 직사각형 189"/>
            <p:cNvSpPr/>
            <p:nvPr/>
          </p:nvSpPr>
          <p:spPr>
            <a:xfrm>
              <a:off x="715534"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4</a:t>
              </a:r>
              <a:r>
                <a:rPr lang="ko-KR" altLang="en-US" sz="800" dirty="0">
                  <a:solidFill>
                    <a:schemeClr val="tx1"/>
                  </a:solidFill>
                </a:rPr>
                <a:t>번</a:t>
              </a:r>
            </a:p>
          </p:txBody>
        </p:sp>
        <p:sp>
          <p:nvSpPr>
            <p:cNvPr id="191" name="모서리가 둥근 직사각형 190"/>
            <p:cNvSpPr/>
            <p:nvPr/>
          </p:nvSpPr>
          <p:spPr>
            <a:xfrm>
              <a:off x="1611553"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5</a:t>
              </a:r>
              <a:r>
                <a:rPr lang="ko-KR" altLang="en-US" sz="800" dirty="0">
                  <a:solidFill>
                    <a:prstClr val="black"/>
                  </a:solidFill>
                </a:rPr>
                <a:t>번</a:t>
              </a:r>
            </a:p>
          </p:txBody>
        </p:sp>
        <p:sp>
          <p:nvSpPr>
            <p:cNvPr id="192" name="모서리가 둥근 직사각형 191"/>
            <p:cNvSpPr/>
            <p:nvPr/>
          </p:nvSpPr>
          <p:spPr>
            <a:xfrm>
              <a:off x="2507572"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6</a:t>
              </a:r>
              <a:r>
                <a:rPr lang="ko-KR" altLang="en-US" sz="800" dirty="0">
                  <a:solidFill>
                    <a:prstClr val="black"/>
                  </a:solidFill>
                </a:rPr>
                <a:t>번</a:t>
              </a:r>
            </a:p>
          </p:txBody>
        </p:sp>
        <p:sp>
          <p:nvSpPr>
            <p:cNvPr id="193" name="모서리가 둥근 직사각형 192"/>
            <p:cNvSpPr/>
            <p:nvPr/>
          </p:nvSpPr>
          <p:spPr>
            <a:xfrm>
              <a:off x="715534"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7</a:t>
              </a:r>
              <a:r>
                <a:rPr lang="ko-KR" altLang="en-US" sz="800" dirty="0">
                  <a:solidFill>
                    <a:schemeClr val="tx1"/>
                  </a:solidFill>
                </a:rPr>
                <a:t>번</a:t>
              </a:r>
            </a:p>
          </p:txBody>
        </p:sp>
        <p:sp>
          <p:nvSpPr>
            <p:cNvPr id="194" name="모서리가 둥근 직사각형 193"/>
            <p:cNvSpPr/>
            <p:nvPr/>
          </p:nvSpPr>
          <p:spPr>
            <a:xfrm>
              <a:off x="1611553"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8</a:t>
              </a:r>
              <a:r>
                <a:rPr lang="ko-KR" altLang="en-US" sz="800" dirty="0">
                  <a:solidFill>
                    <a:prstClr val="black"/>
                  </a:solidFill>
                </a:rPr>
                <a:t>번</a:t>
              </a:r>
            </a:p>
          </p:txBody>
        </p:sp>
        <p:sp>
          <p:nvSpPr>
            <p:cNvPr id="195" name="모서리가 둥근 직사각형 194"/>
            <p:cNvSpPr/>
            <p:nvPr/>
          </p:nvSpPr>
          <p:spPr>
            <a:xfrm>
              <a:off x="2507572"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9</a:t>
              </a:r>
              <a:r>
                <a:rPr lang="ko-KR" altLang="en-US" sz="800" dirty="0">
                  <a:solidFill>
                    <a:prstClr val="black"/>
                  </a:solidFill>
                </a:rPr>
                <a:t>번</a:t>
              </a:r>
            </a:p>
          </p:txBody>
        </p:sp>
        <p:sp>
          <p:nvSpPr>
            <p:cNvPr id="196" name="모서리가 둥근 직사각형 195"/>
            <p:cNvSpPr/>
            <p:nvPr/>
          </p:nvSpPr>
          <p:spPr>
            <a:xfrm>
              <a:off x="715534"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10</a:t>
              </a:r>
              <a:r>
                <a:rPr lang="ko-KR" altLang="en-US" sz="800" dirty="0">
                  <a:solidFill>
                    <a:schemeClr val="tx1"/>
                  </a:solidFill>
                </a:rPr>
                <a:t>번</a:t>
              </a:r>
            </a:p>
          </p:txBody>
        </p:sp>
        <p:sp>
          <p:nvSpPr>
            <p:cNvPr id="197" name="모서리가 둥근 직사각형 196"/>
            <p:cNvSpPr/>
            <p:nvPr/>
          </p:nvSpPr>
          <p:spPr>
            <a:xfrm>
              <a:off x="1611553"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11</a:t>
              </a:r>
              <a:r>
                <a:rPr lang="ko-KR" altLang="en-US" sz="800" dirty="0">
                  <a:solidFill>
                    <a:prstClr val="black"/>
                  </a:solidFill>
                </a:rPr>
                <a:t>번</a:t>
              </a:r>
            </a:p>
          </p:txBody>
        </p:sp>
        <p:sp>
          <p:nvSpPr>
            <p:cNvPr id="198" name="모서리가 둥근 직사각형 197"/>
            <p:cNvSpPr/>
            <p:nvPr/>
          </p:nvSpPr>
          <p:spPr>
            <a:xfrm>
              <a:off x="2507572"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12</a:t>
              </a:r>
              <a:r>
                <a:rPr lang="ko-KR" altLang="en-US" sz="800" dirty="0">
                  <a:solidFill>
                    <a:prstClr val="black"/>
                  </a:solidFill>
                </a:rPr>
                <a:t>번</a:t>
              </a:r>
            </a:p>
          </p:txBody>
        </p:sp>
        <p:sp>
          <p:nvSpPr>
            <p:cNvPr id="199" name="모서리가 둥근 직사각형 198"/>
            <p:cNvSpPr/>
            <p:nvPr/>
          </p:nvSpPr>
          <p:spPr>
            <a:xfrm>
              <a:off x="715534"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13</a:t>
              </a:r>
              <a:r>
                <a:rPr lang="ko-KR" altLang="en-US" sz="800" dirty="0">
                  <a:solidFill>
                    <a:schemeClr val="tx1"/>
                  </a:solidFill>
                </a:rPr>
                <a:t>번</a:t>
              </a:r>
            </a:p>
          </p:txBody>
        </p:sp>
        <p:sp>
          <p:nvSpPr>
            <p:cNvPr id="200" name="모서리가 둥근 직사각형 199"/>
            <p:cNvSpPr/>
            <p:nvPr/>
          </p:nvSpPr>
          <p:spPr>
            <a:xfrm>
              <a:off x="1611553"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14</a:t>
              </a:r>
              <a:r>
                <a:rPr lang="ko-KR" altLang="en-US" sz="800" dirty="0">
                  <a:solidFill>
                    <a:prstClr val="black"/>
                  </a:solidFill>
                </a:rPr>
                <a:t>번</a:t>
              </a:r>
            </a:p>
          </p:txBody>
        </p:sp>
        <p:sp>
          <p:nvSpPr>
            <p:cNvPr id="201" name="모서리가 둥근 직사각형 200"/>
            <p:cNvSpPr/>
            <p:nvPr/>
          </p:nvSpPr>
          <p:spPr>
            <a:xfrm>
              <a:off x="2507572" y="4992288"/>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srgbClr val="0070C0"/>
                  </a:solidFill>
                </a:rPr>
                <a:t>15</a:t>
              </a:r>
              <a:r>
                <a:rPr lang="ko-KR" altLang="en-US" sz="800" dirty="0">
                  <a:solidFill>
                    <a:srgbClr val="0070C0"/>
                  </a:solidFill>
                </a:rPr>
                <a:t>번</a:t>
              </a:r>
            </a:p>
          </p:txBody>
        </p:sp>
      </p:grpSp>
      <p:sp>
        <p:nvSpPr>
          <p:cNvPr id="203" name="직사각형 202"/>
          <p:cNvSpPr/>
          <p:nvPr/>
        </p:nvSpPr>
        <p:spPr>
          <a:xfrm>
            <a:off x="722232" y="5193811"/>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809295" y="5193810"/>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회</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1566144" y="5193810"/>
            <a:ext cx="1784088" cy="215444"/>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206" name="그룹 205"/>
          <p:cNvGrpSpPr/>
          <p:nvPr/>
        </p:nvGrpSpPr>
        <p:grpSpPr>
          <a:xfrm>
            <a:off x="720139" y="5193810"/>
            <a:ext cx="2630093" cy="214740"/>
            <a:chOff x="701175" y="1835481"/>
            <a:chExt cx="2630093" cy="214740"/>
          </a:xfrm>
        </p:grpSpPr>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9" name="그룹 128"/>
          <p:cNvGrpSpPr/>
          <p:nvPr/>
        </p:nvGrpSpPr>
        <p:grpSpPr>
          <a:xfrm>
            <a:off x="3190451" y="5278356"/>
            <a:ext cx="94010" cy="47005"/>
            <a:chOff x="6812560" y="3297172"/>
            <a:chExt cx="94010" cy="47005"/>
          </a:xfrm>
        </p:grpSpPr>
        <p:cxnSp>
          <p:nvCxnSpPr>
            <p:cNvPr id="130" name="직선 연결선 129"/>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02" name="사각형: 둥근 모서리 15">
            <a:extLst>
              <a:ext uri="{FF2B5EF4-FFF2-40B4-BE49-F238E27FC236}">
                <a16:creationId xmlns:a16="http://schemas.microsoft.com/office/drawing/2014/main" id="{E2B61CFB-AD16-68D0-8752-50D9C5E01971}"/>
              </a:ext>
            </a:extLst>
          </p:cNvPr>
          <p:cNvSpPr/>
          <p:nvPr/>
        </p:nvSpPr>
        <p:spPr>
          <a:xfrm>
            <a:off x="2507572" y="3449317"/>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9" name="사각형: 둥근 모서리 15">
            <a:extLst>
              <a:ext uri="{FF2B5EF4-FFF2-40B4-BE49-F238E27FC236}">
                <a16:creationId xmlns:a16="http://schemas.microsoft.com/office/drawing/2014/main" id="{E2B61CFB-AD16-68D0-8752-50D9C5E01971}"/>
              </a:ext>
            </a:extLst>
          </p:cNvPr>
          <p:cNvSpPr/>
          <p:nvPr/>
        </p:nvSpPr>
        <p:spPr>
          <a:xfrm>
            <a:off x="2507572" y="5220858"/>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grpSp>
        <p:nvGrpSpPr>
          <p:cNvPr id="210" name="그룹 209"/>
          <p:cNvGrpSpPr/>
          <p:nvPr/>
        </p:nvGrpSpPr>
        <p:grpSpPr>
          <a:xfrm flipV="1">
            <a:off x="3190451" y="3506815"/>
            <a:ext cx="94010" cy="47005"/>
            <a:chOff x="6812560" y="3297172"/>
            <a:chExt cx="94010" cy="47005"/>
          </a:xfrm>
        </p:grpSpPr>
        <p:cxnSp>
          <p:nvCxnSpPr>
            <p:cNvPr id="211" name="직선 연결선 210"/>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435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32" name="타원 231">
            <a:extLst>
              <a:ext uri="{FF2B5EF4-FFF2-40B4-BE49-F238E27FC236}">
                <a16:creationId xmlns:a16="http://schemas.microsoft.com/office/drawing/2014/main" id="{37A7FF4F-0EAA-1463-560A-D5EC24416103}"/>
              </a:ext>
            </a:extLst>
          </p:cNvPr>
          <p:cNvSpPr/>
          <p:nvPr/>
        </p:nvSpPr>
        <p:spPr>
          <a:xfrm>
            <a:off x="589334" y="43170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57607203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latin typeface="+mn-ea"/>
              </a:rPr>
              <a:t>입찰참가신청서작성 </a:t>
            </a:r>
            <a:r>
              <a:rPr lang="en-US" altLang="ko-KR" dirty="0">
                <a:latin typeface="+mn-ea"/>
              </a:rPr>
              <a:t>– </a:t>
            </a:r>
            <a:r>
              <a:rPr lang="ko-KR" altLang="en-US" dirty="0" err="1">
                <a:latin typeface="+mn-ea"/>
              </a:rPr>
              <a:t>파일첨부와</a:t>
            </a:r>
            <a:r>
              <a:rPr lang="ko-KR" altLang="en-US" dirty="0">
                <a:latin typeface="+mn-ea"/>
              </a:rPr>
              <a:t> 같은 </a:t>
            </a:r>
            <a:r>
              <a:rPr lang="ko-KR" altLang="en-US" dirty="0" err="1">
                <a:latin typeface="+mn-ea"/>
              </a:rPr>
              <a:t>구성임</a:t>
            </a:r>
            <a:r>
              <a:rPr lang="ko-KR" altLang="en-US" dirty="0">
                <a:latin typeface="+mn-ea"/>
              </a:rPr>
              <a:t> </a:t>
            </a:r>
            <a:r>
              <a:rPr lang="en-US" altLang="ko-KR" dirty="0">
                <a:latin typeface="+mn-ea"/>
              </a:rPr>
              <a:t>(</a:t>
            </a:r>
            <a:r>
              <a:rPr lang="ko-KR" altLang="en-US" dirty="0" err="1">
                <a:latin typeface="+mn-ea"/>
              </a:rPr>
              <a:t>서류항목이</a:t>
            </a:r>
            <a:r>
              <a:rPr lang="ko-KR" altLang="en-US" dirty="0">
                <a:latin typeface="+mn-ea"/>
              </a:rPr>
              <a:t> 다름</a:t>
            </a:r>
            <a:r>
              <a:rPr lang="en-US" altLang="ko-KR" dirty="0">
                <a:latin typeface="+mn-ea"/>
              </a:rPr>
              <a:t>)</a:t>
            </a:r>
            <a:br>
              <a:rPr lang="en-US" altLang="ko-KR" dirty="0">
                <a:latin typeface="+mn-ea"/>
              </a:rPr>
            </a:br>
            <a:r>
              <a:rPr lang="en-US" altLang="ko-KR" dirty="0">
                <a:latin typeface="+mn-ea"/>
              </a:rPr>
              <a:t>- </a:t>
            </a:r>
            <a:r>
              <a:rPr lang="ko-KR" altLang="en-US" dirty="0"/>
              <a:t>입찰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231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1976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2514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2979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0431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65818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0224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98799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9559" y="298799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98799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69980" y="363459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69980" y="32178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931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3" y="4006330"/>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자기평가기술서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4060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338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413016"/>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466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2969980" y="444329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2969980" y="402650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1696380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r>
              <a:rPr lang="en-US" altLang="ko-KR" dirty="0"/>
              <a:t/>
            </a:r>
            <a:br>
              <a:rPr lang="en-US" altLang="ko-KR" dirty="0"/>
            </a:br>
            <a:r>
              <a:rPr lang="en-US" altLang="ko-KR" dirty="0"/>
              <a:t>- </a:t>
            </a:r>
            <a:r>
              <a:rPr lang="ko-KR" altLang="en-US" dirty="0" err="1"/>
              <a:t>적격심사가</a:t>
            </a:r>
            <a:r>
              <a:rPr lang="ko-KR" altLang="en-US" dirty="0"/>
              <a:t> ‘</a:t>
            </a:r>
            <a:r>
              <a:rPr lang="en-US" altLang="ko-KR" dirty="0"/>
              <a:t>Y’ </a:t>
            </a:r>
            <a:r>
              <a:rPr lang="ko-KR" altLang="en-US" dirty="0"/>
              <a:t>또는 </a:t>
            </a:r>
            <a:r>
              <a:rPr lang="ko-KR" altLang="en-US" dirty="0" err="1"/>
              <a:t>계약방법이</a:t>
            </a:r>
            <a:r>
              <a:rPr lang="ko-KR" altLang="en-US" dirty="0"/>
              <a:t> ‘</a:t>
            </a:r>
            <a:r>
              <a:rPr lang="en-US" altLang="ko-KR" dirty="0"/>
              <a:t>F(</a:t>
            </a:r>
            <a:r>
              <a:rPr lang="ko-KR" altLang="en-US" dirty="0" err="1"/>
              <a:t>협상에의한계약</a:t>
            </a:r>
            <a:r>
              <a:rPr lang="en-US" altLang="ko-KR" dirty="0"/>
              <a:t>(</a:t>
            </a:r>
            <a:r>
              <a:rPr lang="ko-KR" altLang="en-US" dirty="0"/>
              <a:t>서류</a:t>
            </a:r>
            <a:r>
              <a:rPr lang="en-US" altLang="ko-KR" dirty="0"/>
              <a:t>))’</a:t>
            </a:r>
            <a:r>
              <a:rPr lang="ko-KR" altLang="en-US" dirty="0"/>
              <a:t>또는’</a:t>
            </a:r>
            <a:r>
              <a:rPr lang="en-US" altLang="ko-KR" dirty="0"/>
              <a:t>J(</a:t>
            </a:r>
            <a:r>
              <a:rPr lang="ko-KR" altLang="en-US" dirty="0" err="1"/>
              <a:t>종합낙찰제</a:t>
            </a:r>
            <a:r>
              <a:rPr lang="en-US" altLang="ko-KR" dirty="0"/>
              <a:t>)’</a:t>
            </a:r>
            <a:r>
              <a:rPr lang="ko-KR" altLang="en-US" dirty="0"/>
              <a:t>또는’</a:t>
            </a:r>
            <a:r>
              <a:rPr lang="en-US" altLang="ko-KR" dirty="0"/>
              <a:t>P(</a:t>
            </a:r>
            <a:r>
              <a:rPr lang="ko-KR" altLang="en-US" dirty="0" err="1"/>
              <a:t>협상에의한계약</a:t>
            </a:r>
            <a:r>
              <a:rPr lang="en-US" altLang="ko-KR" dirty="0"/>
              <a:t>(</a:t>
            </a:r>
            <a:r>
              <a:rPr lang="ko-KR" altLang="en-US" dirty="0"/>
              <a:t>전자</a:t>
            </a:r>
            <a:r>
              <a:rPr lang="en-US" altLang="ko-KR" dirty="0"/>
              <a:t>))’</a:t>
            </a:r>
            <a:r>
              <a:rPr lang="ko-KR" altLang="en-US" dirty="0"/>
              <a:t>이지 않고</a:t>
            </a:r>
            <a:r>
              <a:rPr lang="en-US" altLang="ko-KR" dirty="0"/>
              <a:t>, </a:t>
            </a:r>
            <a:r>
              <a:rPr lang="ko-KR" altLang="en-US" dirty="0" err="1"/>
              <a:t>공고일자가</a:t>
            </a:r>
            <a:r>
              <a:rPr lang="ko-KR" altLang="en-US" dirty="0"/>
              <a:t> </a:t>
            </a:r>
            <a:r>
              <a:rPr lang="en-US" altLang="ko-KR" dirty="0"/>
              <a:t>20210415 </a:t>
            </a:r>
            <a:r>
              <a:rPr lang="ko-KR" altLang="en-US" dirty="0"/>
              <a:t>이전인 경우</a:t>
            </a:r>
            <a:r>
              <a:rPr lang="en-US" altLang="ko-KR" dirty="0"/>
              <a:t>, </a:t>
            </a:r>
            <a:r>
              <a:rPr lang="ko-KR" altLang="en-US" dirty="0"/>
              <a:t>경우에 따라 </a:t>
            </a:r>
            <a:r>
              <a:rPr lang="ko-KR" altLang="en-US" dirty="0" err="1"/>
              <a:t>동가낙찰</a:t>
            </a:r>
            <a:r>
              <a:rPr lang="ko-KR" altLang="en-US" dirty="0"/>
              <a:t> </a:t>
            </a:r>
            <a:r>
              <a:rPr lang="ko-KR" altLang="en-US" dirty="0" err="1"/>
              <a:t>선추첨</a:t>
            </a:r>
            <a:r>
              <a:rPr lang="ko-KR" altLang="en-US" dirty="0"/>
              <a:t> 보이기</a:t>
            </a:r>
            <a:r>
              <a:rPr lang="en-US" altLang="ko-KR" dirty="0"/>
              <a:t/>
            </a:r>
            <a:br>
              <a:rPr lang="en-US" altLang="ko-KR" dirty="0"/>
            </a:br>
            <a:r>
              <a:rPr lang="en-US" altLang="ko-KR" dirty="0"/>
              <a:t>- </a:t>
            </a:r>
            <a:r>
              <a:rPr lang="ko-KR" altLang="en-US" dirty="0" err="1"/>
              <a:t>계약방법이</a:t>
            </a:r>
            <a:r>
              <a:rPr lang="ko-KR" altLang="en-US" dirty="0"/>
              <a:t> ‘</a:t>
            </a:r>
            <a:r>
              <a:rPr lang="en-US" altLang="ko-KR" dirty="0"/>
              <a:t>G’</a:t>
            </a:r>
            <a:r>
              <a:rPr lang="ko-KR" altLang="en-US" dirty="0"/>
              <a:t>또는‘</a:t>
            </a:r>
            <a:r>
              <a:rPr lang="en-US" altLang="ko-KR" dirty="0"/>
              <a:t>H’</a:t>
            </a:r>
            <a:r>
              <a:rPr lang="ko-KR" altLang="en-US" dirty="0"/>
              <a:t>이고 </a:t>
            </a:r>
            <a:r>
              <a:rPr lang="ko-KR" altLang="en-US" dirty="0" err="1"/>
              <a:t>공고일자가</a:t>
            </a:r>
            <a:r>
              <a:rPr lang="ko-KR" altLang="en-US" dirty="0"/>
              <a:t> </a:t>
            </a:r>
            <a:r>
              <a:rPr lang="en-US" altLang="ko-KR" dirty="0"/>
              <a:t>2020111 </a:t>
            </a:r>
            <a:r>
              <a:rPr lang="ko-KR" altLang="en-US" dirty="0"/>
              <a:t>이전인 경우 </a:t>
            </a:r>
            <a:r>
              <a:rPr lang="ko-KR" altLang="en-US" dirty="0" err="1"/>
              <a:t>동가낙찰</a:t>
            </a:r>
            <a:r>
              <a:rPr lang="ko-KR" altLang="en-US" dirty="0"/>
              <a:t> </a:t>
            </a:r>
            <a:r>
              <a:rPr lang="ko-KR" altLang="en-US" dirty="0" err="1"/>
              <a:t>선추첨</a:t>
            </a:r>
            <a:r>
              <a:rPr lang="ko-KR" altLang="en-US" dirty="0"/>
              <a:t> 숨기기</a:t>
            </a:r>
            <a:endParaRPr lang="en-US" altLang="ko-KR" dirty="0"/>
          </a:p>
          <a:p>
            <a:pPr marL="228600" indent="-228600">
              <a:buFont typeface="+mj-lt"/>
              <a:buAutoNum type="arabicPeriod"/>
            </a:pPr>
            <a:r>
              <a:rPr lang="ko-KR" altLang="en-US" dirty="0" err="1"/>
              <a:t>회차</a:t>
            </a:r>
            <a:r>
              <a:rPr lang="ko-KR" altLang="en-US" dirty="0"/>
              <a:t> 선택 값 표시</a:t>
            </a:r>
            <a:r>
              <a:rPr lang="en-US" altLang="ko-KR" dirty="0"/>
              <a:t/>
            </a:r>
            <a:br>
              <a:rPr lang="en-US" altLang="ko-KR" dirty="0"/>
            </a:br>
            <a:r>
              <a:rPr lang="en-US" altLang="ko-KR" dirty="0"/>
              <a:t>- </a:t>
            </a:r>
            <a:r>
              <a:rPr lang="ko-KR" altLang="en-US" dirty="0"/>
              <a:t>기본값 </a:t>
            </a:r>
            <a:r>
              <a:rPr lang="en-US" altLang="ko-KR" dirty="0"/>
              <a:t>: </a:t>
            </a:r>
            <a:r>
              <a:rPr lang="ko-KR" altLang="en-US" dirty="0" err="1"/>
              <a:t>미선택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latin typeface="+mn-ea"/>
              </a:rPr>
              <a:t>동가낙찰</a:t>
            </a:r>
            <a:r>
              <a:rPr lang="ko-KR" altLang="en-US" dirty="0">
                <a:latin typeface="+mn-ea"/>
              </a:rPr>
              <a:t> </a:t>
            </a:r>
            <a:r>
              <a:rPr lang="ko-KR" altLang="en-US" dirty="0" err="1">
                <a:latin typeface="+mn-ea"/>
              </a:rPr>
              <a:t>선추첨</a:t>
            </a:r>
            <a:r>
              <a:rPr lang="ko-KR" altLang="en-US" dirty="0">
                <a:latin typeface="+mn-ea"/>
              </a:rPr>
              <a:t>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2379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차</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172" name="그룹 171"/>
          <p:cNvGrpSpPr/>
          <p:nvPr/>
        </p:nvGrpSpPr>
        <p:grpSpPr>
          <a:xfrm>
            <a:off x="720139" y="3494912"/>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769079"/>
            <a:ext cx="2621844" cy="253957"/>
            <a:chOff x="715534" y="3647256"/>
            <a:chExt cx="2621844" cy="288000"/>
          </a:xfrm>
        </p:grpSpPr>
        <p:sp>
          <p:nvSpPr>
            <p:cNvPr id="109" name="모서리가 둥근 직사각형 108"/>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5076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9" name="직사각형 78"/>
          <p:cNvSpPr/>
          <p:nvPr/>
        </p:nvSpPr>
        <p:spPr>
          <a:xfrm>
            <a:off x="722232" y="407965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809295" y="407965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차</a:t>
            </a:r>
            <a:endParaRPr lang="en-US" altLang="ko-KR" sz="700" dirty="0">
              <a:latin typeface="+mn-ea"/>
            </a:endParaRPr>
          </a:p>
        </p:txBody>
      </p:sp>
      <p:sp>
        <p:nvSpPr>
          <p:cNvPr id="81" name="TextBox 80">
            <a:extLst>
              <a:ext uri="{FF2B5EF4-FFF2-40B4-BE49-F238E27FC236}">
                <a16:creationId xmlns:a16="http://schemas.microsoft.com/office/drawing/2014/main" id="{FFC49AEA-2A8F-250C-A86A-A7751D9706C3}"/>
              </a:ext>
            </a:extLst>
          </p:cNvPr>
          <p:cNvSpPr txBox="1"/>
          <p:nvPr/>
        </p:nvSpPr>
        <p:spPr>
          <a:xfrm>
            <a:off x="1566144" y="407965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바위</a:t>
            </a:r>
            <a:endParaRPr lang="en-US" altLang="ko-KR" sz="700" dirty="0">
              <a:latin typeface="+mn-ea"/>
            </a:endParaRPr>
          </a:p>
        </p:txBody>
      </p:sp>
      <p:grpSp>
        <p:nvGrpSpPr>
          <p:cNvPr id="82" name="그룹 81"/>
          <p:cNvGrpSpPr/>
          <p:nvPr/>
        </p:nvGrpSpPr>
        <p:grpSpPr>
          <a:xfrm>
            <a:off x="720139" y="4079652"/>
            <a:ext cx="2630093" cy="214740"/>
            <a:chOff x="701175" y="1835481"/>
            <a:chExt cx="2630093" cy="2147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85" name="그룹 84"/>
          <p:cNvGrpSpPr/>
          <p:nvPr/>
        </p:nvGrpSpPr>
        <p:grpSpPr>
          <a:xfrm>
            <a:off x="715534" y="4353819"/>
            <a:ext cx="2621844" cy="253957"/>
            <a:chOff x="715534" y="3647256"/>
            <a:chExt cx="2621844" cy="288000"/>
          </a:xfrm>
        </p:grpSpPr>
        <p:sp>
          <p:nvSpPr>
            <p:cNvPr id="86" name="모서리가 둥근 직사각형 8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87" name="모서리가 둥근 직사각형 86"/>
            <p:cNvSpPr/>
            <p:nvPr/>
          </p:nvSpPr>
          <p:spPr>
            <a:xfrm>
              <a:off x="1611553"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바위</a:t>
              </a:r>
            </a:p>
          </p:txBody>
        </p:sp>
        <p:sp>
          <p:nvSpPr>
            <p:cNvPr id="88" name="모서리가 둥근 직사각형 8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89" name="직사각형 88"/>
          <p:cNvSpPr/>
          <p:nvPr/>
        </p:nvSpPr>
        <p:spPr>
          <a:xfrm>
            <a:off x="722232" y="464476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809295" y="464475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차</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566144" y="4644759"/>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92" name="그룹 91"/>
          <p:cNvGrpSpPr/>
          <p:nvPr/>
        </p:nvGrpSpPr>
        <p:grpSpPr>
          <a:xfrm>
            <a:off x="720139" y="4644759"/>
            <a:ext cx="2630093" cy="214740"/>
            <a:chOff x="701175" y="1835481"/>
            <a:chExt cx="2630093" cy="214740"/>
          </a:xfrm>
        </p:grpSpPr>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5" name="그룹 94"/>
          <p:cNvGrpSpPr/>
          <p:nvPr/>
        </p:nvGrpSpPr>
        <p:grpSpPr>
          <a:xfrm>
            <a:off x="715534" y="4918926"/>
            <a:ext cx="2621844" cy="253957"/>
            <a:chOff x="715534" y="3647256"/>
            <a:chExt cx="2621844" cy="288000"/>
          </a:xfrm>
        </p:grpSpPr>
        <p:sp>
          <p:nvSpPr>
            <p:cNvPr id="96" name="모서리가 둥근 직사각형 95"/>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97" name="모서리가 둥근 직사각형 9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98" name="모서리가 둥근 직사각형 9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99" name="직사각형 98"/>
          <p:cNvSpPr/>
          <p:nvPr/>
        </p:nvSpPr>
        <p:spPr>
          <a:xfrm>
            <a:off x="722232" y="522950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809295" y="522949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차</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566144" y="522949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a:t>
            </a:r>
          </a:p>
        </p:txBody>
      </p:sp>
      <p:grpSp>
        <p:nvGrpSpPr>
          <p:cNvPr id="102" name="그룹 101"/>
          <p:cNvGrpSpPr/>
          <p:nvPr/>
        </p:nvGrpSpPr>
        <p:grpSpPr>
          <a:xfrm>
            <a:off x="720139" y="5229499"/>
            <a:ext cx="2630093" cy="214740"/>
            <a:chOff x="701175" y="1835481"/>
            <a:chExt cx="2630093" cy="21474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5" name="그룹 104"/>
          <p:cNvGrpSpPr/>
          <p:nvPr/>
        </p:nvGrpSpPr>
        <p:grpSpPr>
          <a:xfrm>
            <a:off x="715534" y="5503666"/>
            <a:ext cx="2621844" cy="253957"/>
            <a:chOff x="715534" y="3647256"/>
            <a:chExt cx="2621844" cy="288000"/>
          </a:xfrm>
        </p:grpSpPr>
        <p:sp>
          <p:nvSpPr>
            <p:cNvPr id="106" name="모서리가 둥근 직사각형 10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107" name="모서리가 둥근 직사각형 10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바위</a:t>
              </a:r>
            </a:p>
          </p:txBody>
        </p:sp>
        <p:sp>
          <p:nvSpPr>
            <p:cNvPr id="108" name="모서리가 둥근 직사각형 10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보</a:t>
              </a:r>
            </a:p>
          </p:txBody>
        </p:sp>
      </p:gr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1352980056"/>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a:t>
            </a:r>
            <a:r>
              <a:rPr lang="ko-KR" altLang="en-US" dirty="0" smtClean="0"/>
              <a:t>동일</a:t>
            </a:r>
            <a:endParaRPr lang="en-US" altLang="ko-KR" dirty="0" smtClean="0"/>
          </a:p>
          <a:p>
            <a:pPr marL="228600" indent="-228600">
              <a:buFont typeface="+mj-lt"/>
              <a:buAutoNum type="arabicPeriod"/>
            </a:pPr>
            <a:r>
              <a:rPr lang="ko-KR" altLang="en-US" dirty="0" smtClean="0"/>
              <a:t>제출하기 클릭 시 전자서명 호출</a:t>
            </a:r>
            <a:r>
              <a:rPr lang="en-US" altLang="ko-KR" dirty="0" smtClean="0"/>
              <a:t/>
            </a:r>
            <a:br>
              <a:rPr lang="en-US" altLang="ko-KR" dirty="0" smtClean="0"/>
            </a:br>
            <a:r>
              <a:rPr lang="en-US" altLang="ko-KR" dirty="0" smtClean="0"/>
              <a:t>- (</a:t>
            </a:r>
            <a:r>
              <a:rPr lang="en-US" altLang="ko-KR" dirty="0">
                <a:solidFill>
                  <a:srgbClr val="000000"/>
                </a:solidFill>
                <a:latin typeface="맑은 고딕" panose="020B0503020000020004" pitchFamily="50" charset="-127"/>
              </a:rPr>
              <a:t>MUI-BD-04-M21</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59439"/>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4548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4548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284733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2849182"/>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698357" y="3332260"/>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87127" y="343054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3169" y="34208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1990" y="346939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7345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7207" y="41938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4552584" y="4271810"/>
            <a:ext cx="1197246" cy="107722"/>
            <a:chOff x="4526323" y="5902014"/>
            <a:chExt cx="1197246" cy="107722"/>
          </a:xfrm>
        </p:grpSpPr>
        <p:sp>
          <p:nvSpPr>
            <p:cNvPr id="102" name="타원 101"/>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106" name="그룹 105"/>
          <p:cNvGrpSpPr/>
          <p:nvPr/>
        </p:nvGrpSpPr>
        <p:grpSpPr>
          <a:xfrm>
            <a:off x="3795194" y="5614711"/>
            <a:ext cx="2712027" cy="617588"/>
            <a:chOff x="675399" y="5614711"/>
            <a:chExt cx="2712027" cy="617588"/>
          </a:xfrm>
        </p:grpSpPr>
        <p:sp>
          <p:nvSpPr>
            <p:cNvPr id="107" name="직사각형 10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10" name="직사각형 10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403" y="2866714"/>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4777" y="3564893"/>
            <a:ext cx="2473940" cy="430887"/>
          </a:xfrm>
          <a:prstGeom prst="rect">
            <a:avLst/>
          </a:prstGeom>
          <a:noFill/>
        </p:spPr>
        <p:txBody>
          <a:bodyPr wrap="square" lIns="0" tIns="0" rIns="0" bIns="0" rtlCol="0">
            <a:spAutoFit/>
          </a:bodyPr>
          <a:lstStyle/>
          <a:p>
            <a:r>
              <a:rPr lang="ko-KR" altLang="en-US" sz="700" dirty="0">
                <a:latin typeface="+mn-ea"/>
              </a:rPr>
              <a:t>입찰보증금 </a:t>
            </a:r>
            <a:r>
              <a:rPr lang="en-US" altLang="ko-KR" sz="700" dirty="0">
                <a:latin typeface="+mn-ea"/>
              </a:rPr>
              <a:t>\ 000,000,000 (</a:t>
            </a:r>
            <a:r>
              <a:rPr lang="ko-KR" altLang="en-US" sz="700" dirty="0">
                <a:latin typeface="+mn-ea"/>
              </a:rPr>
              <a:t>금 </a:t>
            </a:r>
            <a:r>
              <a:rPr lang="ko-KR" altLang="en-US" sz="700" dirty="0" err="1">
                <a:latin typeface="+mn-ea"/>
              </a:rPr>
              <a:t>일억구천구백구십만</a:t>
            </a:r>
            <a:r>
              <a:rPr lang="ko-KR" altLang="en-US" sz="700" dirty="0">
                <a:latin typeface="+mn-ea"/>
              </a:rPr>
              <a:t> 원</a:t>
            </a:r>
            <a:r>
              <a:rPr lang="en-US" altLang="ko-KR" sz="700" dirty="0">
                <a:latin typeface="+mn-ea"/>
              </a:rPr>
              <a:t>)</a:t>
            </a:r>
          </a:p>
          <a:p>
            <a:endParaRPr lang="en-US" altLang="ko-KR" sz="700" dirty="0">
              <a:latin typeface="+mn-ea"/>
            </a:endParaRPr>
          </a:p>
          <a:p>
            <a:r>
              <a:rPr lang="ko-KR" altLang="en-US" sz="700" dirty="0">
                <a:latin typeface="+mn-ea"/>
              </a:rPr>
              <a:t>본인은 낙찰 후 계약 </a:t>
            </a:r>
            <a:r>
              <a:rPr lang="ko-KR" altLang="en-US" sz="700" dirty="0" err="1">
                <a:latin typeface="+mn-ea"/>
              </a:rPr>
              <a:t>미체결시</a:t>
            </a:r>
            <a:r>
              <a:rPr lang="ko-KR" altLang="en-US" sz="700" dirty="0">
                <a:latin typeface="+mn-ea"/>
              </a:rPr>
              <a:t> </a:t>
            </a:r>
            <a:r>
              <a:rPr lang="ko-KR" altLang="en-US" sz="700" dirty="0" err="1">
                <a:latin typeface="+mn-ea"/>
              </a:rPr>
              <a:t>귀부대</a:t>
            </a:r>
            <a:r>
              <a:rPr lang="en-US" altLang="ko-KR" sz="700" dirty="0">
                <a:latin typeface="+mn-ea"/>
              </a:rPr>
              <a:t>(</a:t>
            </a:r>
            <a:r>
              <a:rPr lang="ko-KR" altLang="en-US" sz="700" dirty="0">
                <a:latin typeface="+mn-ea"/>
              </a:rPr>
              <a:t>기관</a:t>
            </a:r>
            <a:r>
              <a:rPr lang="en-US" altLang="ko-KR" sz="700" dirty="0">
                <a:latin typeface="+mn-ea"/>
              </a:rPr>
              <a:t>)</a:t>
            </a:r>
            <a:r>
              <a:rPr lang="ko-KR" altLang="en-US" sz="700" dirty="0">
                <a:latin typeface="+mn-ea"/>
              </a:rPr>
              <a:t>에 상기의 입찰보증금을 현금으로 납부할 것을 확약합니다</a:t>
            </a:r>
            <a:r>
              <a:rPr lang="en-US" altLang="ko-KR" sz="700" dirty="0">
                <a:latin typeface="+mn-ea"/>
              </a:rPr>
              <a:t>.</a:t>
            </a:r>
          </a:p>
        </p:txBody>
      </p:sp>
      <p:grpSp>
        <p:nvGrpSpPr>
          <p:cNvPr id="3" name="그룹 2"/>
          <p:cNvGrpSpPr/>
          <p:nvPr/>
        </p:nvGrpSpPr>
        <p:grpSpPr>
          <a:xfrm>
            <a:off x="3837207" y="3222050"/>
            <a:ext cx="2603018" cy="205439"/>
            <a:chOff x="3911972" y="3222050"/>
            <a:chExt cx="2603018" cy="205439"/>
          </a:xfrm>
        </p:grpSpPr>
        <p:sp>
          <p:nvSpPr>
            <p:cNvPr id="122" name="TextBox 121">
              <a:extLst>
                <a:ext uri="{FF2B5EF4-FFF2-40B4-BE49-F238E27FC236}">
                  <a16:creationId xmlns:a16="http://schemas.microsoft.com/office/drawing/2014/main" id="{FFC49AEA-2A8F-250C-A86A-A7751D9706C3}"/>
                </a:ext>
              </a:extLst>
            </p:cNvPr>
            <p:cNvSpPr txBox="1"/>
            <p:nvPr/>
          </p:nvSpPr>
          <p:spPr>
            <a:xfrm>
              <a:off x="3999036" y="3222050"/>
              <a:ext cx="997068"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입찰보증</a:t>
              </a:r>
              <a:r>
                <a:rPr lang="ko-KR" altLang="en-US" sz="800" b="1" dirty="0">
                  <a:latin typeface="맑은 고딕" panose="020B0503020000020004" pitchFamily="50" charset="-127"/>
                </a:rPr>
                <a:t> 지급 확약서</a:t>
              </a:r>
              <a:endParaRPr lang="en-US" altLang="ko-KR" sz="800" b="1" dirty="0">
                <a:latin typeface="맑은 고딕" panose="020B0503020000020004" pitchFamily="50" charset="-127"/>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91197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grpSp>
        <p:nvGrpSpPr>
          <p:cNvPr id="68" name="그룹 67"/>
          <p:cNvGrpSpPr/>
          <p:nvPr/>
        </p:nvGrpSpPr>
        <p:grpSpPr>
          <a:xfrm>
            <a:off x="8223250" y="569392"/>
            <a:ext cx="3365500" cy="634511"/>
            <a:chOff x="8223250" y="569392"/>
            <a:chExt cx="3365500" cy="634511"/>
          </a:xfrm>
        </p:grpSpPr>
        <p:sp>
          <p:nvSpPr>
            <p:cNvPr id="69" name="직사각형 6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70" name="직사각형 6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제출하기 버튼 변경</a:t>
              </a:r>
              <a:endParaRPr lang="ko-KR" altLang="en-US" sz="700" dirty="0"/>
            </a:p>
          </p:txBody>
        </p:sp>
      </p:grpSp>
      <p:sp>
        <p:nvSpPr>
          <p:cNvPr id="71" name="타원 70">
            <a:extLst>
              <a:ext uri="{FF2B5EF4-FFF2-40B4-BE49-F238E27FC236}">
                <a16:creationId xmlns:a16="http://schemas.microsoft.com/office/drawing/2014/main" id="{37A7FF4F-0EAA-1463-560A-D5EC24416103}"/>
              </a:ext>
            </a:extLst>
          </p:cNvPr>
          <p:cNvSpPr/>
          <p:nvPr/>
        </p:nvSpPr>
        <p:spPr>
          <a:xfrm>
            <a:off x="571127" y="57852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297172387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10391"/>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807552"/>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사정하한비율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업체입찰보증금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en-US" altLang="ko-KR" sz="800" dirty="0">
                          <a:latin typeface="+mn-ea"/>
                          <a:ea typeface="+mn-ea"/>
                        </a:rPr>
                        <a:t>2</a:t>
                      </a:r>
                      <a:r>
                        <a:rPr lang="ko-KR" altLang="en-US" sz="800" dirty="0">
                          <a:latin typeface="+mn-ea"/>
                          <a:ea typeface="+mn-ea"/>
                        </a:rPr>
                        <a:t>단계경쟁 전자파일 제출 가능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stp2CmptFileSbmsnYn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a:t>
                      </a:r>
                      <a:r>
                        <a:rPr lang="ko-KR" altLang="en-US" sz="800" dirty="0" err="1">
                          <a:latin typeface="+mn-ea"/>
                          <a:ea typeface="+mn-ea"/>
                        </a:rPr>
                        <a:t>단계경쟁파일제출여부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2</a:t>
                      </a:r>
                      <a:r>
                        <a:rPr lang="ko-KR" altLang="en-US" sz="720" dirty="0">
                          <a:latin typeface="+mn-ea"/>
                          <a:ea typeface="+mn-ea"/>
                        </a:rPr>
                        <a:t>단계경쟁 전자파일 제출 가능</a:t>
                      </a:r>
                      <a:r>
                        <a:rPr lang="en-US" altLang="ko-KR" sz="720" dirty="0">
                          <a:latin typeface="+mn-ea"/>
                          <a:ea typeface="+mn-ea"/>
                        </a:rPr>
                        <a:t>/</a:t>
                      </a:r>
                      <a:r>
                        <a:rPr lang="ko-KR" altLang="en-US" sz="720" dirty="0">
                          <a:latin typeface="+mn-ea"/>
                          <a:ea typeface="+mn-ea"/>
                        </a:rPr>
                        <a:t>낙찰자기준</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- 2</a:t>
                      </a:r>
                      <a:r>
                        <a:rPr lang="ko-KR" altLang="en-US" sz="720" dirty="0">
                          <a:latin typeface="+mn-ea"/>
                          <a:ea typeface="+mn-ea"/>
                        </a:rPr>
                        <a:t>단계 </a:t>
                      </a:r>
                      <a:r>
                        <a:rPr lang="en-US" altLang="ko-KR" sz="720" dirty="0">
                          <a:latin typeface="+mn-ea"/>
                          <a:ea typeface="+mn-ea"/>
                        </a:rPr>
                        <a:t>: </a:t>
                      </a:r>
                      <a:r>
                        <a:rPr lang="ko-KR" altLang="en-US" sz="720" dirty="0">
                          <a:latin typeface="+mn-ea"/>
                          <a:ea typeface="+mn-ea"/>
                        </a:rPr>
                        <a:t>물품이고</a:t>
                      </a:r>
                      <a:r>
                        <a:rPr lang="en-US" altLang="ko-KR" sz="720" dirty="0">
                          <a:latin typeface="+mn-ea"/>
                          <a:ea typeface="+mn-ea"/>
                        </a:rPr>
                        <a:t>, 2</a:t>
                      </a:r>
                      <a:r>
                        <a:rPr lang="ko-KR" altLang="en-US" sz="720" dirty="0">
                          <a:latin typeface="+mn-ea"/>
                          <a:ea typeface="+mn-ea"/>
                        </a:rPr>
                        <a:t>단계경쟁</a:t>
                      </a:r>
                      <a:r>
                        <a:rPr lang="en-US" altLang="ko-KR" sz="720" dirty="0"/>
                        <a:t>(</a:t>
                      </a:r>
                      <a:r>
                        <a:rPr lang="ko-KR" altLang="en-US" sz="720" dirty="0"/>
                        <a:t>분리</a:t>
                      </a:r>
                      <a:r>
                        <a:rPr lang="en-US" altLang="ko-KR" sz="720" dirty="0"/>
                        <a:t>/</a:t>
                      </a:r>
                      <a:r>
                        <a:rPr lang="ko-KR" altLang="en-US" sz="720" dirty="0"/>
                        <a:t>동시</a:t>
                      </a:r>
                      <a:r>
                        <a:rPr lang="en-US" altLang="ko-KR" sz="720" dirty="0"/>
                        <a:t>)</a:t>
                      </a:r>
                      <a:r>
                        <a:rPr lang="ko-KR" altLang="en-US" sz="720" dirty="0">
                          <a:latin typeface="+mn-ea"/>
                          <a:ea typeface="+mn-ea"/>
                        </a:rPr>
                        <a:t>인</a:t>
                      </a:r>
                      <a:r>
                        <a:rPr lang="en-US" altLang="ko-KR" sz="720" dirty="0">
                          <a:latin typeface="+mn-ea"/>
                          <a:ea typeface="+mn-ea"/>
                        </a:rPr>
                        <a:t> </a:t>
                      </a:r>
                      <a:r>
                        <a:rPr lang="ko-KR" altLang="en-US" sz="720" dirty="0">
                          <a:latin typeface="+mn-ea"/>
                          <a:ea typeface="+mn-ea"/>
                        </a:rPr>
                        <a:t>경우</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a:t>
                      </a:r>
                      <a:r>
                        <a:rPr lang="ko-KR" altLang="en-US" sz="720" dirty="0">
                          <a:latin typeface="+mn-ea"/>
                          <a:ea typeface="+mn-ea"/>
                        </a:rPr>
                        <a:t>낙찰자 </a:t>
                      </a:r>
                      <a:r>
                        <a:rPr lang="en-US" altLang="ko-KR" sz="720" dirty="0">
                          <a:latin typeface="+mn-ea"/>
                          <a:ea typeface="+mn-ea"/>
                        </a:rPr>
                        <a:t>: </a:t>
                      </a:r>
                      <a:r>
                        <a:rPr lang="ko-KR" altLang="en-US" sz="720" dirty="0">
                          <a:latin typeface="+mn-ea"/>
                          <a:ea typeface="+mn-ea"/>
                        </a:rPr>
                        <a:t>공사이고</a:t>
                      </a:r>
                      <a:r>
                        <a:rPr lang="en-US" altLang="ko-KR" sz="720" dirty="0">
                          <a:latin typeface="+mn-ea"/>
                          <a:ea typeface="+mn-ea"/>
                        </a:rPr>
                        <a:t>, </a:t>
                      </a:r>
                      <a:r>
                        <a:rPr lang="ko-KR" altLang="en-US" sz="720" dirty="0">
                          <a:latin typeface="+mn-ea"/>
                          <a:ea typeface="+mn-ea"/>
                        </a:rPr>
                        <a:t>내역입찰</a:t>
                      </a:r>
                      <a:r>
                        <a:rPr lang="en-US" altLang="ko-KR" sz="720" dirty="0">
                          <a:latin typeface="+mn-ea"/>
                          <a:ea typeface="+mn-ea"/>
                        </a:rPr>
                        <a:t>(</a:t>
                      </a:r>
                      <a:r>
                        <a:rPr lang="ko-KR" altLang="en-US" sz="720" dirty="0" err="1">
                          <a:latin typeface="+mn-ea"/>
                          <a:ea typeface="+mn-ea"/>
                        </a:rPr>
                        <a:t>설계시공일괄입찰</a:t>
                      </a:r>
                      <a:r>
                        <a:rPr lang="en-US" altLang="ko-KR" sz="720" dirty="0">
                          <a:latin typeface="+mn-ea"/>
                          <a:ea typeface="+mn-ea"/>
                        </a:rPr>
                        <a:t>)</a:t>
                      </a:r>
                      <a:r>
                        <a:rPr lang="ko-KR" altLang="en-US" sz="720" dirty="0">
                          <a:latin typeface="+mn-ea"/>
                          <a:ea typeface="+mn-ea"/>
                        </a:rPr>
                        <a:t>인 </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a:t>
                      </a:r>
                      <a:r>
                        <a:rPr lang="ko-KR" altLang="en-US" sz="720" dirty="0">
                          <a:latin typeface="+mn-ea"/>
                          <a:ea typeface="+mn-ea"/>
                        </a:rPr>
                        <a:t>경우</a:t>
                      </a:r>
                      <a:r>
                        <a:rPr lang="en-US" altLang="ko-KR" sz="720" dirty="0">
                          <a:latin typeface="+mn-ea"/>
                          <a:ea typeface="+mn-ea"/>
                        </a:rPr>
                        <a:t> </a:t>
                      </a:r>
                      <a:endParaRPr lang="ko-KR" altLang="en-US" sz="72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2319563"/>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08727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22882"/>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BB24F8B0-C6FE-F96C-8103-04B4B6A9CC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181BC9A-F38E-0760-F39F-9876EBA171F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Tree>
    <p:extLst>
      <p:ext uri="{BB962C8B-B14F-4D97-AF65-F5344CB8AC3E}">
        <p14:creationId xmlns:p14="http://schemas.microsoft.com/office/powerpoint/2010/main" val="269192689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636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008481"/>
            <a:ext cx="234255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투찰내역</a:t>
            </a:r>
            <a:r>
              <a:rPr lang="ko-KR" altLang="en-US" sz="900" b="1" dirty="0">
                <a:solidFill>
                  <a:prstClr val="black"/>
                </a:solidFill>
              </a:rPr>
              <a:t> 데이터 영역 </a:t>
            </a:r>
            <a:r>
              <a:rPr lang="en-US" altLang="ko-KR" sz="900" b="1" dirty="0">
                <a:solidFill>
                  <a:prstClr val="black"/>
                </a:solidFill>
              </a:rPr>
              <a:t>(</a:t>
            </a:r>
            <a:r>
              <a:rPr lang="en-US" altLang="ko-KR" sz="900" b="1" dirty="0" err="1">
                <a:solidFill>
                  <a:prstClr val="black"/>
                </a:solidFill>
              </a:rPr>
              <a:t>dmt_bdngAmt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20972"/>
          <a:ext cx="8995589" cy="11635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bdngAmtKor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투락금액을</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입찰수량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단가제인 경우 </a:t>
                      </a:r>
                      <a:r>
                        <a:rPr lang="ko-KR" altLang="en-US" sz="800" dirty="0" err="1">
                          <a:latin typeface="+mn-ea"/>
                          <a:ea typeface="+mn-ea"/>
                        </a:rPr>
                        <a:t>투찰수량을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투찰단가를</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4610569"/>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투찰단가를</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4051878"/>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4693594"/>
            <a:ext cx="286834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복수예비가격선택 데이터 영역 </a:t>
            </a:r>
            <a:r>
              <a:rPr lang="en-US" altLang="ko-KR" sz="900" b="1" dirty="0">
                <a:solidFill>
                  <a:prstClr val="black"/>
                </a:solidFill>
              </a:rPr>
              <a:t>(</a:t>
            </a:r>
            <a:r>
              <a:rPr lang="en-US" altLang="ko-KR" sz="900" b="1" dirty="0" err="1">
                <a:solidFill>
                  <a:prstClr val="black"/>
                </a:solidFill>
              </a:rPr>
              <a:t>dmt_rsrbPrcChc</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4906085"/>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복수예비가격선택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개의 추첨번호를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en-US" altLang="ko-KR" sz="800" dirty="0">
                          <a:latin typeface="+mn-ea"/>
                          <a:ea typeface="+mn-ea"/>
                        </a:rPr>
                        <a:t>1</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rsrvPrcChcNo1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첫번째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rsrvPrcChcNo2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두번째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DEDBDEAA-0101-5D22-5B6B-0B88D173F3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B5E792CA-774B-3F68-CA58-BB0078F984A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Tree>
    <p:extLst>
      <p:ext uri="{BB962C8B-B14F-4D97-AF65-F5344CB8AC3E}">
        <p14:creationId xmlns:p14="http://schemas.microsoft.com/office/powerpoint/2010/main" val="90955363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999786"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입찰서 첨부파일 데이터 영역 </a:t>
            </a:r>
            <a:r>
              <a:rPr lang="en-US" altLang="ko-KR" sz="900" b="1" dirty="0">
                <a:solidFill>
                  <a:prstClr val="black"/>
                </a:solidFill>
              </a:rPr>
              <a:t>(</a:t>
            </a:r>
            <a:r>
              <a:rPr lang="en-US" altLang="ko-KR" sz="900" b="1" dirty="0" err="1">
                <a:solidFill>
                  <a:prstClr val="black"/>
                </a:solidFill>
              </a:rPr>
              <a:t>dlt_tndrAtchFileList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042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규격제안서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t>부서부호가 </a:t>
                      </a:r>
                      <a:r>
                        <a:rPr lang="en-US" altLang="ko-KR" sz="800" dirty="0"/>
                        <a:t>‘E’</a:t>
                      </a:r>
                      <a:r>
                        <a:rPr lang="ko-KR" altLang="en-US" sz="800" dirty="0"/>
                        <a:t>로 시작하고</a:t>
                      </a:r>
                      <a:r>
                        <a:rPr lang="en-US" altLang="ko-KR" sz="800" dirty="0"/>
                        <a:t>, </a:t>
                      </a:r>
                      <a:r>
                        <a:rPr lang="ko-KR" altLang="en-US" sz="800" dirty="0"/>
                        <a:t>계약방법이 </a:t>
                      </a:r>
                      <a:r>
                        <a:rPr lang="en-US" altLang="ko-KR" sz="800" dirty="0"/>
                        <a:t>‘G’</a:t>
                      </a:r>
                    </a:p>
                    <a:p>
                      <a:pPr marL="0" indent="0" algn="l" latinLnBrk="1">
                        <a:buFont typeface="Arial" panose="020B0604020202020204" pitchFamily="34" charset="0"/>
                        <a:buNone/>
                      </a:pPr>
                      <a:r>
                        <a:rPr lang="en-US" altLang="ko-KR" sz="800" dirty="0"/>
                        <a:t>    </a:t>
                      </a:r>
                      <a:r>
                        <a:rPr lang="ko-KR" altLang="en-US" sz="800" dirty="0"/>
                        <a:t>또는</a:t>
                      </a:r>
                      <a:r>
                        <a:rPr lang="en-US" altLang="ko-KR" sz="800" dirty="0"/>
                        <a:t>‘H’</a:t>
                      </a:r>
                      <a:r>
                        <a:rPr lang="ko-KR" altLang="en-US" sz="800" dirty="0"/>
                        <a:t>이고</a:t>
                      </a:r>
                      <a:r>
                        <a:rPr lang="en-US" altLang="ko-KR" sz="800" dirty="0"/>
                        <a:t>, 2</a:t>
                      </a:r>
                      <a:r>
                        <a:rPr lang="ko-KR" altLang="en-US" sz="800" dirty="0"/>
                        <a:t>단계경쟁</a:t>
                      </a:r>
                      <a:r>
                        <a:rPr lang="en-US" altLang="ko-KR" sz="800" dirty="0"/>
                        <a:t>(</a:t>
                      </a:r>
                      <a:r>
                        <a:rPr lang="ko-KR" altLang="en-US" sz="800" dirty="0"/>
                        <a:t>분리</a:t>
                      </a:r>
                      <a:r>
                        <a:rPr lang="en-US" altLang="ko-KR" sz="800" dirty="0"/>
                        <a:t>/</a:t>
                      </a:r>
                      <a:r>
                        <a:rPr lang="ko-KR" altLang="en-US" sz="800" dirty="0"/>
                        <a:t>동시</a:t>
                      </a:r>
                      <a:r>
                        <a:rPr lang="en-US" altLang="ko-KR" sz="800" dirty="0"/>
                        <a:t>)</a:t>
                      </a:r>
                      <a:r>
                        <a:rPr lang="ko-KR" altLang="en-US" sz="800" dirty="0"/>
                        <a:t>첨부파일</a:t>
                      </a:r>
                      <a:endParaRPr lang="en-US" altLang="ko-KR" sz="800" dirty="0"/>
                    </a:p>
                    <a:p>
                      <a:pPr marL="0" indent="0" algn="l" latinLnBrk="1">
                        <a:buFont typeface="Arial" panose="020B0604020202020204" pitchFamily="34" charset="0"/>
                        <a:buNone/>
                      </a:pPr>
                      <a:r>
                        <a:rPr lang="en-US" altLang="ko-KR" sz="800" dirty="0"/>
                        <a:t>    </a:t>
                      </a:r>
                      <a:r>
                        <a:rPr lang="ko-KR" altLang="en-US" sz="800" dirty="0"/>
                        <a:t>제출여부가 </a:t>
                      </a:r>
                      <a:r>
                        <a:rPr lang="en-US" altLang="ko-KR" sz="800" dirty="0"/>
                        <a:t>‘Y’</a:t>
                      </a:r>
                      <a:r>
                        <a:rPr lang="ko-KR" altLang="en-US" sz="800" dirty="0"/>
                        <a:t>인 경우</a:t>
                      </a:r>
                      <a:endParaRPr lang="en-US" altLang="ko-KR" sz="800" dirty="0"/>
                    </a:p>
                    <a:p>
                      <a:pPr marL="0" indent="0" algn="l" latinLnBrk="1">
                        <a:buFont typeface="Arial" panose="020B0604020202020204" pitchFamily="34" charset="0"/>
                        <a:buNone/>
                      </a:pPr>
                      <a:r>
                        <a:rPr lang="ko-KR" altLang="en-US" sz="800" dirty="0" err="1"/>
                        <a:t>공종별</a:t>
                      </a:r>
                      <a:r>
                        <a:rPr lang="ko-KR" altLang="en-US" sz="800" dirty="0"/>
                        <a:t> 산출내역서</a:t>
                      </a:r>
                      <a:r>
                        <a:rPr lang="en-US" altLang="ko-KR" sz="800" dirty="0"/>
                        <a:t>, </a:t>
                      </a:r>
                      <a:r>
                        <a:rPr lang="ko-KR" altLang="en-US" sz="800" dirty="0"/>
                        <a:t>자기평가기술서</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최저가</a:t>
                      </a:r>
                      <a:r>
                        <a:rPr lang="en-US" altLang="ko-KR" sz="800" dirty="0"/>
                        <a:t>) </a:t>
                      </a:r>
                      <a:r>
                        <a:rPr lang="ko-KR" altLang="en-US" sz="800" dirty="0"/>
                        <a:t>또는</a:t>
                      </a:r>
                      <a:r>
                        <a:rPr lang="en-US" altLang="ko-KR" sz="800" dirty="0"/>
                        <a:t> </a:t>
                      </a:r>
                      <a:r>
                        <a:rPr lang="ko-KR" altLang="en-US" sz="800" dirty="0"/>
                        <a:t>내역입찰</a:t>
                      </a:r>
                      <a:endParaRPr lang="en-US" altLang="ko-KR" sz="800" dirty="0"/>
                    </a:p>
                    <a:p>
                      <a:pPr marL="0" indent="0" algn="l" latinLnBrk="1">
                        <a:buFont typeface="Arial" panose="020B0604020202020204" pitchFamily="34" charset="0"/>
                        <a:buNone/>
                      </a:pPr>
                      <a:r>
                        <a:rPr lang="en-US" altLang="ko-KR" sz="800" dirty="0"/>
                        <a:t>    (</a:t>
                      </a:r>
                      <a:r>
                        <a:rPr lang="ko-KR" altLang="en-US" sz="800" dirty="0"/>
                        <a:t>적격심사</a:t>
                      </a:r>
                      <a:r>
                        <a:rPr lang="en-US" altLang="ko-KR" sz="800" dirty="0"/>
                        <a:t>)</a:t>
                      </a:r>
                      <a:r>
                        <a:rPr lang="ko-KR" altLang="en-US" sz="800" dirty="0"/>
                        <a:t>이고</a:t>
                      </a:r>
                      <a:r>
                        <a:rPr lang="en-US" altLang="ko-KR" sz="800" dirty="0"/>
                        <a:t>, TBEPPP30.CALC_YSNO</a:t>
                      </a:r>
                    </a:p>
                    <a:p>
                      <a:pPr marL="0" indent="0" algn="l" latinLnBrk="1">
                        <a:buFont typeface="Arial" panose="020B0604020202020204" pitchFamily="34" charset="0"/>
                        <a:buNone/>
                      </a:pPr>
                      <a:r>
                        <a:rPr lang="en-US" altLang="ko-KR" sz="800" dirty="0"/>
                        <a:t>    (</a:t>
                      </a:r>
                      <a:r>
                        <a:rPr lang="ko-KR" altLang="en-US" sz="800" dirty="0"/>
                        <a:t>산출내역서적용여부</a:t>
                      </a:r>
                      <a:r>
                        <a:rPr lang="en-US" altLang="ko-KR" sz="800" dirty="0"/>
                        <a:t>)</a:t>
                      </a:r>
                      <a:r>
                        <a:rPr lang="ko-KR" altLang="en-US" sz="800" dirty="0"/>
                        <a:t>인 경우</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indent="0" algn="l" latinLnBrk="1">
                        <a:buFont typeface="Arial" panose="020B0604020202020204" pitchFamily="34" charset="0"/>
                        <a:buNone/>
                      </a:pPr>
                      <a:r>
                        <a:rPr lang="en-US" altLang="ko-KR" sz="800" dirty="0"/>
                        <a:t>    </a:t>
                      </a:r>
                      <a:r>
                        <a:rPr lang="ko-KR" altLang="en-US" sz="800" dirty="0"/>
                        <a:t>구분이 감리용역이 아닌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err="1"/>
                        <a:t>공종별</a:t>
                      </a:r>
                      <a:r>
                        <a:rPr lang="ko-KR" altLang="en-US" sz="800" dirty="0"/>
                        <a:t> 산출내역서</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기타 참조서류</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비적용인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300MB,</a:t>
                      </a:r>
                      <a:r>
                        <a:rPr lang="ko-KR" altLang="en-US" sz="800" dirty="0">
                          <a:latin typeface="+mn-ea"/>
                          <a:ea typeface="+mn-ea"/>
                        </a:rPr>
                        <a:t> </a:t>
                      </a:r>
                      <a:r>
                        <a:rPr lang="en-US" altLang="ko-KR" sz="800" dirty="0">
                          <a:latin typeface="+mn-ea"/>
                          <a:ea typeface="+mn-ea"/>
                        </a:rPr>
                        <a:t>TOBE </a:t>
                      </a:r>
                      <a:r>
                        <a:rPr lang="ko-KR" altLang="en-US" sz="800" dirty="0">
                          <a:latin typeface="+mn-ea"/>
                          <a:ea typeface="+mn-ea"/>
                        </a:rPr>
                        <a:t>현행 유지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sp>
        <p:nvSpPr>
          <p:cNvPr id="2" name="Text Box 73">
            <a:extLst>
              <a:ext uri="{FF2B5EF4-FFF2-40B4-BE49-F238E27FC236}">
                <a16:creationId xmlns:a16="http://schemas.microsoft.com/office/drawing/2014/main" id="{BD264276-4D60-CD16-4DCB-41E6AD75E4F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69356F7-984F-4573-5E63-1763C014F4F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Box 6">
            <a:extLst>
              <a:ext uri="{FF2B5EF4-FFF2-40B4-BE49-F238E27FC236}">
                <a16:creationId xmlns:a16="http://schemas.microsoft.com/office/drawing/2014/main" id="{B2656C1E-8F73-A3F2-DAAE-17ED7B6CF23C}"/>
              </a:ext>
            </a:extLst>
          </p:cNvPr>
          <p:cNvSpPr txBox="1"/>
          <p:nvPr/>
        </p:nvSpPr>
        <p:spPr>
          <a:xfrm>
            <a:off x="458117" y="4093161"/>
            <a:ext cx="3057495"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동가낙찰 </a:t>
            </a:r>
            <a:r>
              <a:rPr lang="ko-KR" altLang="en-US" sz="900" b="1" dirty="0" err="1">
                <a:solidFill>
                  <a:prstClr val="black"/>
                </a:solidFill>
              </a:rPr>
              <a:t>선추첨</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dmt_smprcScsbdChc</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33D4CD51-6869-553B-FA32-D6F27916ED31}"/>
              </a:ext>
            </a:extLst>
          </p:cNvPr>
          <p:cNvGraphicFramePr>
            <a:graphicFrameLocks noGrp="1"/>
          </p:cNvGraphicFramePr>
          <p:nvPr/>
        </p:nvGraphicFramePr>
        <p:xfrm>
          <a:off x="452999" y="4306979"/>
          <a:ext cx="8994883" cy="2260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en-US" altLang="ko-KR" sz="800" dirty="0">
                          <a:latin typeface="+mn-ea"/>
                          <a:ea typeface="+mn-ea"/>
                        </a:rPr>
                        <a:t>1</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보이기</a:t>
                      </a:r>
                      <a:endParaRPr lang="en-US" altLang="ko-KR" sz="800" dirty="0">
                        <a:latin typeface="+mn-ea"/>
                        <a:ea typeface="+mn-ea"/>
                      </a:endParaRPr>
                    </a:p>
                    <a:p>
                      <a:pPr algn="l" latinLnBrk="1"/>
                      <a:r>
                        <a:rPr lang="en-US" altLang="ko-KR" sz="800" dirty="0">
                          <a:latin typeface="+mn-ea"/>
                          <a:ea typeface="+mn-ea"/>
                        </a:rPr>
                        <a:t>  - 20210415 </a:t>
                      </a:r>
                      <a:r>
                        <a:rPr lang="ko-KR" altLang="en-US" sz="800" dirty="0">
                          <a:latin typeface="+mn-ea"/>
                          <a:ea typeface="+mn-ea"/>
                        </a:rPr>
                        <a:t>이전 공고이고</a:t>
                      </a:r>
                      <a:r>
                        <a:rPr lang="en-US" altLang="ko-KR" sz="800" dirty="0">
                          <a:latin typeface="+mn-ea"/>
                          <a:ea typeface="+mn-ea"/>
                        </a:rPr>
                        <a:t>, </a:t>
                      </a:r>
                      <a:r>
                        <a:rPr lang="ko-KR" altLang="en-US" sz="800" dirty="0"/>
                        <a:t>적격심사가 </a:t>
                      </a:r>
                      <a:r>
                        <a:rPr lang="en-US" altLang="ko-KR" sz="800" dirty="0"/>
                        <a:t>‘Y’ </a:t>
                      </a:r>
                    </a:p>
                    <a:p>
                      <a:pPr algn="l" latinLnBrk="1"/>
                      <a:r>
                        <a:rPr lang="en-US" altLang="ko-KR" sz="800" dirty="0"/>
                        <a:t>    </a:t>
                      </a:r>
                      <a:r>
                        <a:rPr lang="ko-KR" altLang="en-US" sz="800" dirty="0"/>
                        <a:t>또는</a:t>
                      </a:r>
                      <a:r>
                        <a:rPr lang="en-US" altLang="ko-KR" sz="800" dirty="0"/>
                        <a:t> </a:t>
                      </a:r>
                      <a:r>
                        <a:rPr lang="ko-KR" altLang="en-US" sz="800" dirty="0"/>
                        <a:t>계약방법이 </a:t>
                      </a:r>
                      <a:r>
                        <a:rPr lang="en-US" altLang="ko-KR" sz="800" dirty="0"/>
                        <a:t>‘F(</a:t>
                      </a:r>
                      <a:r>
                        <a:rPr lang="ko-KR" altLang="en-US" sz="800" dirty="0" err="1"/>
                        <a:t>협상에의한계약</a:t>
                      </a:r>
                      <a:r>
                        <a:rPr lang="en-US" altLang="ko-KR" sz="800" dirty="0"/>
                        <a:t>(</a:t>
                      </a:r>
                      <a:r>
                        <a:rPr lang="ko-KR" altLang="en-US" sz="800" dirty="0"/>
                        <a:t>서류</a:t>
                      </a:r>
                      <a:r>
                        <a:rPr lang="en-US" altLang="ko-KR" sz="800" dirty="0"/>
                        <a:t>))’</a:t>
                      </a:r>
                    </a:p>
                    <a:p>
                      <a:pPr algn="l" latinLnBrk="1"/>
                      <a:r>
                        <a:rPr lang="en-US" altLang="ko-KR" sz="800" dirty="0"/>
                        <a:t>    </a:t>
                      </a:r>
                      <a:r>
                        <a:rPr lang="ko-KR" altLang="en-US" sz="800" dirty="0"/>
                        <a:t>또는 </a:t>
                      </a:r>
                      <a:r>
                        <a:rPr lang="en-US" altLang="ko-KR" sz="800" dirty="0"/>
                        <a:t>’J(</a:t>
                      </a:r>
                      <a:r>
                        <a:rPr lang="ko-KR" altLang="en-US" sz="800" dirty="0"/>
                        <a:t>종합낙찰제</a:t>
                      </a:r>
                      <a:r>
                        <a:rPr lang="en-US" altLang="ko-KR" sz="800" dirty="0"/>
                        <a:t>)’ </a:t>
                      </a:r>
                      <a:r>
                        <a:rPr lang="ko-KR" altLang="en-US" sz="800" dirty="0"/>
                        <a:t>또는 </a:t>
                      </a:r>
                      <a:endParaRPr lang="en-US" altLang="ko-KR" sz="800" dirty="0"/>
                    </a:p>
                    <a:p>
                      <a:pPr algn="l" latinLnBrk="1"/>
                      <a:r>
                        <a:rPr lang="en-US" altLang="ko-KR" sz="800" dirty="0"/>
                        <a:t>    ’P(</a:t>
                      </a:r>
                      <a:r>
                        <a:rPr lang="ko-KR" altLang="en-US" sz="800" dirty="0" err="1"/>
                        <a:t>협상에의한계약</a:t>
                      </a:r>
                      <a:r>
                        <a:rPr lang="en-US" altLang="ko-KR" sz="800" dirty="0"/>
                        <a:t>(</a:t>
                      </a:r>
                      <a:r>
                        <a:rPr lang="ko-KR" altLang="en-US" sz="800" dirty="0"/>
                        <a:t>전자</a:t>
                      </a:r>
                      <a:r>
                        <a:rPr lang="en-US" altLang="ko-KR" sz="800" dirty="0"/>
                        <a:t>))’</a:t>
                      </a:r>
                      <a:r>
                        <a:rPr lang="ko-KR" altLang="en-US" sz="800" dirty="0"/>
                        <a:t>이지 않은 경우 </a:t>
                      </a:r>
                      <a:endParaRPr lang="en-US" altLang="ko-KR" sz="800" dirty="0"/>
                    </a:p>
                    <a:p>
                      <a:pPr algn="l" latinLnBrk="1"/>
                      <a:endParaRPr lang="en-US" altLang="ko-KR" sz="800" dirty="0">
                        <a:latin typeface="+mn-ea"/>
                        <a:ea typeface="+mn-ea"/>
                      </a:endParaRPr>
                    </a:p>
                    <a:p>
                      <a:pPr algn="l" latinLnBrk="1"/>
                      <a:r>
                        <a:rPr lang="ko-KR" altLang="en-US" sz="800" dirty="0">
                          <a:latin typeface="+mn-ea"/>
                          <a:ea typeface="+mn-ea"/>
                        </a:rPr>
                        <a:t>숨기기</a:t>
                      </a:r>
                      <a:endParaRPr lang="en-US" altLang="ko-KR" sz="800" dirty="0">
                        <a:latin typeface="+mn-ea"/>
                        <a:ea typeface="+mn-ea"/>
                      </a:endParaRPr>
                    </a:p>
                    <a:p>
                      <a:pPr algn="l" latinLnBrk="1"/>
                      <a:r>
                        <a:rPr lang="ko-KR" altLang="en-US" sz="800" dirty="0"/>
                        <a:t>  </a:t>
                      </a:r>
                      <a:r>
                        <a:rPr lang="en-US" altLang="ko-KR" sz="800" dirty="0"/>
                        <a:t>- </a:t>
                      </a:r>
                      <a:r>
                        <a:rPr lang="ko-KR" altLang="en-US" sz="800" dirty="0"/>
                        <a:t>계약방법이 </a:t>
                      </a:r>
                      <a:r>
                        <a:rPr lang="en-US" altLang="ko-KR" sz="800" dirty="0"/>
                        <a:t>‘G’</a:t>
                      </a:r>
                      <a:r>
                        <a:rPr lang="ko-KR" altLang="en-US" sz="800" dirty="0"/>
                        <a:t>또는</a:t>
                      </a:r>
                      <a:r>
                        <a:rPr lang="en-US" altLang="ko-KR" sz="800" dirty="0"/>
                        <a:t>‘H’</a:t>
                      </a:r>
                      <a:r>
                        <a:rPr lang="ko-KR" altLang="en-US" sz="800" dirty="0"/>
                        <a:t>이고</a:t>
                      </a:r>
                      <a:r>
                        <a:rPr lang="en-US" altLang="ko-KR" sz="800" dirty="0"/>
                        <a:t> </a:t>
                      </a:r>
                      <a:r>
                        <a:rPr lang="ko-KR" altLang="en-US" sz="800" dirty="0"/>
                        <a:t>공고일자가 </a:t>
                      </a:r>
                      <a:endParaRPr lang="en-US" altLang="ko-KR" sz="800" dirty="0"/>
                    </a:p>
                    <a:p>
                      <a:pPr algn="l" latinLnBrk="1"/>
                      <a:r>
                        <a:rPr lang="en-US" altLang="ko-KR" sz="800" dirty="0"/>
                        <a:t>    2020111 </a:t>
                      </a:r>
                      <a:r>
                        <a:rPr lang="ko-KR" altLang="en-US" sz="800" dirty="0"/>
                        <a:t>이전인 경우 </a:t>
                      </a:r>
                      <a:endParaRPr lang="en-US" altLang="ko-KR" sz="800" dirty="0"/>
                    </a:p>
                    <a:p>
                      <a:pPr algn="l" latinLnBrk="1"/>
                      <a:r>
                        <a:rPr lang="en-US" altLang="ko-KR" sz="800" dirty="0">
                          <a:latin typeface="+mn-ea"/>
                          <a:ea typeface="+mn-ea"/>
                        </a:rPr>
                        <a:t>  - </a:t>
                      </a:r>
                      <a:r>
                        <a:rPr lang="ko-KR" altLang="en-US" sz="800" dirty="0">
                          <a:latin typeface="+mn-ea"/>
                          <a:ea typeface="+mn-ea"/>
                        </a:rPr>
                        <a:t>그 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smprcScsbdChcCd2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en-US" altLang="ko-KR" sz="800" dirty="0">
                          <a:latin typeface="+mn-ea"/>
                          <a:ea typeface="+mn-ea"/>
                        </a:rPr>
                        <a:t>3</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en-US" altLang="ko-KR" sz="800" dirty="0">
                          <a:latin typeface="+mn-ea"/>
                          <a:ea typeface="+mn-ea"/>
                        </a:rPr>
                        <a:t>4</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4</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en-US" altLang="ko-KR" sz="800" dirty="0">
                          <a:latin typeface="+mn-ea"/>
                          <a:ea typeface="+mn-ea"/>
                        </a:rPr>
                        <a:t>5</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5</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bl>
          </a:graphicData>
        </a:graphic>
      </p:graphicFrame>
    </p:spTree>
    <p:extLst>
      <p:ext uri="{BB962C8B-B14F-4D97-AF65-F5344CB8AC3E}">
        <p14:creationId xmlns:p14="http://schemas.microsoft.com/office/powerpoint/2010/main" val="234020649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134</a:t>
            </a:fld>
            <a:endParaRPr lang="ko-KR" altLang="en-US" dirty="0"/>
          </a:p>
        </p:txBody>
      </p:sp>
      <p:sp>
        <p:nvSpPr>
          <p:cNvPr id="8" name="TextBox 7">
            <a:extLst>
              <a:ext uri="{FF2B5EF4-FFF2-40B4-BE49-F238E27FC236}">
                <a16:creationId xmlns:a16="http://schemas.microsoft.com/office/drawing/2014/main" id="{BE64A40E-36E5-D82E-982F-57A33FB9CD0D}"/>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15AC88EF-EABE-8FA0-2ABC-A28F9B4F62F2}"/>
              </a:ext>
            </a:extLst>
          </p:cNvPr>
          <p:cNvGraphicFramePr>
            <a:graphicFrameLocks noGrp="1"/>
          </p:cNvGraphicFramePr>
          <p:nvPr>
            <p:extLst>
              <p:ext uri="{D42A27DB-BD31-4B8C-83A1-F6EECF244321}">
                <p14:modId xmlns:p14="http://schemas.microsoft.com/office/powerpoint/2010/main" val="1522633931"/>
              </p:ext>
            </p:extLst>
          </p:nvPr>
        </p:nvGraphicFramePr>
        <p:xfrm>
          <a:off x="453000" y="1039042"/>
          <a:ext cx="8995591" cy="27705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bidInfoRebidRegi.jsp</a:t>
                      </a:r>
                      <a:r>
                        <a:rPr lang="en-US" altLang="ko-KR" sz="800" dirty="0">
                          <a:latin typeface="+mn-ea"/>
                          <a:ea typeface="+mn-ea"/>
                        </a:rPr>
                        <a:t>, </a:t>
                      </a:r>
                      <a:r>
                        <a:rPr lang="en-US" altLang="ko-KR" sz="800" dirty="0" err="1">
                          <a:latin typeface="+mn-ea"/>
                          <a:ea typeface="+mn-ea"/>
                        </a:rPr>
                        <a:t>bidInfoRebidView.jsp</a:t>
                      </a:r>
                      <a:endParaRPr lang="en-US" altLang="ko-KR" sz="800" dirty="0">
                        <a:latin typeface="+mn-ea"/>
                        <a:ea typeface="+mn-ea"/>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bidInfoUnitRebidView.jsp</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kern="1200" dirty="0" err="1">
                          <a:solidFill>
                            <a:schemeClr val="tx1"/>
                          </a:solidFill>
                          <a:latin typeface="+mn-ea"/>
                          <a:ea typeface="+mn-ea"/>
                          <a:cs typeface="+mn-cs"/>
                        </a:rPr>
                        <a:t>bidInfoRebidRegi.jsp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bidInfoView.jsp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scwin.btn_tndrSbmsn_onclick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검증</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암호화</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입찰차수별 키 생성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1905917"/>
                  </a:ext>
                </a:extLst>
              </a:tr>
              <a:tr h="0">
                <a:tc>
                  <a:txBody>
                    <a:bodyPr/>
                    <a:lstStyle/>
                    <a:p>
                      <a:r>
                        <a:rPr lang="ko-KR" altLang="en-US" sz="800" dirty="0"/>
                        <a:t>입찰포기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입찰서 제출 전</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70911127"/>
                  </a:ext>
                </a:extLst>
              </a:tr>
              <a:tr h="0">
                <a:tc>
                  <a:txBody>
                    <a:bodyPr/>
                    <a:lstStyle/>
                    <a:p>
                      <a:r>
                        <a:rPr lang="ko-KR" altLang="en-US" sz="800" dirty="0" err="1"/>
                        <a:t>입찰포기신청서조회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854654"/>
                  </a:ext>
                </a:extLst>
              </a:tr>
              <a:tr h="0">
                <a:tc>
                  <a:txBody>
                    <a:bodyPr/>
                    <a:lstStyle/>
                    <a:p>
                      <a:r>
                        <a:rPr lang="ko-KR" altLang="en-US" sz="800" dirty="0"/>
                        <a:t>입찰취소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입찰서 제출 후</a:t>
                      </a:r>
                      <a:r>
                        <a:rPr lang="en-US" altLang="ko-KR" sz="800" dirty="0"/>
                        <a:t>, </a:t>
                      </a:r>
                      <a:r>
                        <a:rPr lang="ko-KR" altLang="en-US" sz="800" dirty="0"/>
                        <a:t>개찰예정일시 전</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2868905"/>
                  </a:ext>
                </a:extLst>
              </a:tr>
              <a:tr h="0">
                <a:tc>
                  <a:txBody>
                    <a:bodyPr/>
                    <a:lstStyle/>
                    <a:p>
                      <a:r>
                        <a:rPr lang="ko-KR" altLang="en-US" sz="800" dirty="0" err="1"/>
                        <a:t>입찰취소신청서조회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19856"/>
                  </a:ext>
                </a:extLst>
              </a:tr>
              <a:tr h="0">
                <a:tc>
                  <a:txBody>
                    <a:bodyPr/>
                    <a:lstStyle/>
                    <a:p>
                      <a:r>
                        <a:rPr lang="ko-KR" altLang="en-US" sz="800" dirty="0" err="1"/>
                        <a:t>다시쓰기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scwin.btn_reset_onclick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입찰금액</a:t>
                      </a:r>
                      <a:r>
                        <a:rPr lang="en-US" altLang="ko-KR" sz="800" dirty="0">
                          <a:latin typeface="+mn-ea"/>
                          <a:ea typeface="+mn-ea"/>
                        </a:rPr>
                        <a:t>, </a:t>
                      </a:r>
                      <a:r>
                        <a:rPr lang="ko-KR" altLang="en-US" sz="800" dirty="0">
                          <a:latin typeface="+mn-ea"/>
                          <a:ea typeface="+mn-ea"/>
                        </a:rPr>
                        <a:t>복수예비가격 선택 초기화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3052272"/>
                  </a:ext>
                </a:extLst>
              </a:tr>
            </a:tbl>
          </a:graphicData>
        </a:graphic>
      </p:graphicFrame>
      <p:sp>
        <p:nvSpPr>
          <p:cNvPr id="10" name="Text Box 73">
            <a:extLst>
              <a:ext uri="{FF2B5EF4-FFF2-40B4-BE49-F238E27FC236}">
                <a16:creationId xmlns:a16="http://schemas.microsoft.com/office/drawing/2014/main" id="{DC7AE4E9-B4EB-D6F6-15F8-76DA74F8CD94}"/>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44380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전자서명 진행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전자서명 처리 화면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전자서명</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신청 </a:t>
            </a:r>
            <a:r>
              <a:rPr lang="ko-KR" altLang="en-US" dirty="0"/>
              <a:t>프로세스 중 </a:t>
            </a:r>
            <a:r>
              <a:rPr lang="ko-KR" altLang="en-US" dirty="0">
                <a:latin typeface="+mn-ea"/>
              </a:rPr>
              <a:t>전자서명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전자서명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127233"/>
            <a:ext cx="2497672" cy="396583"/>
          </a:xfrm>
          <a:prstGeom prst="rect">
            <a:avLst/>
          </a:prstGeom>
          <a:noFill/>
        </p:spPr>
        <p:txBody>
          <a:bodyPr wrap="square" lIns="0" tIns="0" rIns="0" bIns="0" rtlCol="0">
            <a:spAutoFit/>
          </a:bodyPr>
          <a:lstStyle/>
          <a:p>
            <a:pPr algn="ctr">
              <a:lnSpc>
                <a:spcPct val="200000"/>
              </a:lnSpc>
            </a:pPr>
            <a:r>
              <a:rPr lang="ko-KR" altLang="en-US" sz="700" dirty="0">
                <a:latin typeface="+mn-ea"/>
              </a:rPr>
              <a:t>전자서명 창이 닫혔을 경우 아래 버튼을 통해</a:t>
            </a:r>
            <a:endParaRPr lang="en-US" altLang="ko-KR" sz="700" dirty="0">
              <a:latin typeface="+mn-ea"/>
            </a:endParaRPr>
          </a:p>
          <a:p>
            <a:pPr algn="ctr">
              <a:lnSpc>
                <a:spcPct val="200000"/>
              </a:lnSpc>
            </a:pPr>
            <a:r>
              <a:rPr lang="ko-KR" altLang="en-US" sz="700" dirty="0">
                <a:latin typeface="+mn-ea"/>
              </a:rPr>
              <a:t>전자 서명을 다시 띄울 수 있습니다</a:t>
            </a:r>
            <a:r>
              <a:rPr lang="en-US" altLang="ko-KR" sz="700" dirty="0">
                <a:latin typeface="+mn-ea"/>
              </a:rPr>
              <a:t>.</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690414"/>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전자서명을 진행합니다</a:t>
            </a:r>
            <a:r>
              <a:rPr lang="en-US" altLang="ko-KR" sz="1000" b="1" dirty="0">
                <a:latin typeface="+mn-ea"/>
              </a:rPr>
              <a:t>.</a:t>
            </a:r>
            <a:endParaRPr lang="ko-KR" altLang="en-US" sz="1000" b="1" dirty="0">
              <a:latin typeface="+mn-ea"/>
            </a:endParaRPr>
          </a:p>
        </p:txBody>
      </p:sp>
      <p:sp>
        <p:nvSpPr>
          <p:cNvPr id="75" name="사각형: 둥근 모서리 15">
            <a:extLst>
              <a:ext uri="{FF2B5EF4-FFF2-40B4-BE49-F238E27FC236}">
                <a16:creationId xmlns:a16="http://schemas.microsoft.com/office/drawing/2014/main" id="{E2B61CFB-AD16-68D0-8752-50D9C5E01971}"/>
              </a:ext>
            </a:extLst>
          </p:cNvPr>
          <p:cNvSpPr/>
          <p:nvPr/>
        </p:nvSpPr>
        <p:spPr>
          <a:xfrm>
            <a:off x="1072005" y="4794205"/>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 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76" name="직사각형 7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8" name="그룹 77"/>
          <p:cNvGrpSpPr/>
          <p:nvPr/>
        </p:nvGrpSpPr>
        <p:grpSpPr>
          <a:xfrm>
            <a:off x="6258712" y="1650089"/>
            <a:ext cx="94010" cy="94010"/>
            <a:chOff x="6812560" y="3297172"/>
            <a:chExt cx="94010" cy="94010"/>
          </a:xfrm>
        </p:grpSpPr>
        <p:cxnSp>
          <p:nvCxnSpPr>
            <p:cNvPr id="79" name="직선 연결선 7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1" name="TextBox 80">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a:latin typeface="+mn-ea"/>
              </a:rPr>
              <a:t>전자서명</a:t>
            </a:r>
          </a:p>
        </p:txBody>
      </p:sp>
      <p:sp>
        <p:nvSpPr>
          <p:cNvPr id="82" name="TextBox 81">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인증서 목록</a:t>
            </a:r>
          </a:p>
        </p:txBody>
      </p:sp>
      <p:sp>
        <p:nvSpPr>
          <p:cNvPr id="83" name="TextBox 82">
            <a:extLst>
              <a:ext uri="{FF2B5EF4-FFF2-40B4-BE49-F238E27FC236}">
                <a16:creationId xmlns:a16="http://schemas.microsoft.com/office/drawing/2014/main" id="{FFC49AEA-2A8F-250C-A86A-A7751D9706C3}"/>
              </a:ext>
            </a:extLst>
          </p:cNvPr>
          <p:cNvSpPr txBox="1"/>
          <p:nvPr/>
        </p:nvSpPr>
        <p:spPr>
          <a:xfrm>
            <a:off x="3898850" y="2185197"/>
            <a:ext cx="670770" cy="678647"/>
          </a:xfrm>
          <a:prstGeom prst="rect">
            <a:avLst/>
          </a:prstGeom>
          <a:noFill/>
        </p:spPr>
        <p:txBody>
          <a:bodyPr wrap="square" lIns="0" tIns="0" rIns="0" bIns="0" rtlCol="0">
            <a:spAutoFit/>
          </a:bodyPr>
          <a:lstStyle/>
          <a:p>
            <a:pPr>
              <a:lnSpc>
                <a:spcPct val="210000"/>
              </a:lnSpc>
            </a:pPr>
            <a:r>
              <a:rPr lang="ko-KR" altLang="en-US" sz="700" dirty="0">
                <a:latin typeface="+mn-ea"/>
              </a:rPr>
              <a:t>인증서 </a:t>
            </a:r>
            <a:r>
              <a:rPr lang="en-US" altLang="ko-KR" sz="700" dirty="0">
                <a:latin typeface="+mn-ea"/>
              </a:rPr>
              <a:t>1</a:t>
            </a:r>
          </a:p>
          <a:p>
            <a:pPr>
              <a:lnSpc>
                <a:spcPct val="210000"/>
              </a:lnSpc>
            </a:pPr>
            <a:r>
              <a:rPr lang="ko-KR" altLang="en-US" sz="700" dirty="0">
                <a:latin typeface="+mn-ea"/>
              </a:rPr>
              <a:t>인증서 </a:t>
            </a:r>
            <a:r>
              <a:rPr lang="en-US" altLang="ko-KR" sz="700" dirty="0">
                <a:latin typeface="+mn-ea"/>
              </a:rPr>
              <a:t>2</a:t>
            </a:r>
          </a:p>
          <a:p>
            <a:pPr>
              <a:lnSpc>
                <a:spcPct val="210000"/>
              </a:lnSpc>
            </a:pPr>
            <a:r>
              <a:rPr lang="ko-KR" altLang="en-US" sz="700" dirty="0">
                <a:latin typeface="+mn-ea"/>
              </a:rPr>
              <a:t>인증서 </a:t>
            </a:r>
            <a:r>
              <a:rPr lang="en-US" altLang="ko-KR" sz="700" dirty="0">
                <a:latin typeface="+mn-ea"/>
              </a:rPr>
              <a:t>3</a:t>
            </a:r>
          </a:p>
        </p:txBody>
      </p:sp>
      <p:sp>
        <p:nvSpPr>
          <p:cNvPr id="84" name="TextBox 83">
            <a:extLst>
              <a:ext uri="{FF2B5EF4-FFF2-40B4-BE49-F238E27FC236}">
                <a16:creationId xmlns:a16="http://schemas.microsoft.com/office/drawing/2014/main" id="{FFC49AEA-2A8F-250C-A86A-A7751D9706C3}"/>
              </a:ext>
            </a:extLst>
          </p:cNvPr>
          <p:cNvSpPr txBox="1"/>
          <p:nvPr/>
        </p:nvSpPr>
        <p:spPr>
          <a:xfrm>
            <a:off x="5114610" y="2185197"/>
            <a:ext cx="1238112" cy="678647"/>
          </a:xfrm>
          <a:prstGeom prst="rect">
            <a:avLst/>
          </a:prstGeom>
          <a:noFill/>
        </p:spPr>
        <p:txBody>
          <a:bodyPr wrap="square" lIns="0" tIns="0" rIns="0" bIns="0" rtlCol="0">
            <a:spAutoFit/>
          </a:bodyPr>
          <a:lstStyle/>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4567958" y="4020146"/>
            <a:ext cx="1845838" cy="24435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chemeClr val="bg1"/>
                </a:solidFill>
                <a:latin typeface="맑은 고딕"/>
                <a:ea typeface="맑은 고딕" panose="020B0503020000020004" pitchFamily="50" charset="-127"/>
              </a:rPr>
              <a:t>전자서명</a:t>
            </a:r>
            <a:endParaRPr kumimoji="1" lang="en-US" sz="800" b="0" i="0" u="none" strike="noStrike" kern="0" cap="none" spc="0" normalizeH="0" baseline="0" noProof="0" dirty="0">
              <a:ln>
                <a:noFill/>
              </a:ln>
              <a:solidFill>
                <a:schemeClr val="bg1"/>
              </a:solidFill>
              <a:effectLst/>
              <a:uLnTx/>
              <a:uFillTx/>
              <a:latin typeface="맑은 고딕"/>
            </a:endParaRPr>
          </a:p>
        </p:txBody>
      </p:sp>
      <p:sp>
        <p:nvSpPr>
          <p:cNvPr id="86" name="직사각형 85">
            <a:extLst>
              <a:ext uri="{FF2B5EF4-FFF2-40B4-BE49-F238E27FC236}">
                <a16:creationId xmlns:a16="http://schemas.microsoft.com/office/drawing/2014/main" id="{F56F1743-11A0-EA94-9184-4E42C0A37F9C}"/>
              </a:ext>
            </a:extLst>
          </p:cNvPr>
          <p:cNvSpPr/>
          <p:nvPr/>
        </p:nvSpPr>
        <p:spPr>
          <a:xfrm>
            <a:off x="380204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3928556" y="4020146"/>
            <a:ext cx="586688" cy="24435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취소</a:t>
            </a:r>
            <a:endParaRPr kumimoji="1" lang="en-US" sz="800" b="0" i="0" u="none" strike="noStrike" kern="0" cap="none" spc="0" normalizeH="0" baseline="0" noProof="0" dirty="0">
              <a:ln>
                <a:noFill/>
              </a:ln>
              <a:effectLst/>
              <a:uLnTx/>
              <a:uFillTx/>
              <a:latin typeface="맑은 고딕"/>
            </a:endParaRPr>
          </a:p>
        </p:txBody>
      </p:sp>
      <p:sp>
        <p:nvSpPr>
          <p:cNvPr id="88" name="사각형: 둥근 모서리 15">
            <a:extLst>
              <a:ext uri="{FF2B5EF4-FFF2-40B4-BE49-F238E27FC236}">
                <a16:creationId xmlns:a16="http://schemas.microsoft.com/office/drawing/2014/main" id="{E2B61CFB-AD16-68D0-8752-50D9C5E01971}"/>
              </a:ext>
            </a:extLst>
          </p:cNvPr>
          <p:cNvSpPr/>
          <p:nvPr/>
        </p:nvSpPr>
        <p:spPr>
          <a:xfrm>
            <a:off x="3868242" y="2207142"/>
            <a:ext cx="2567010"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98850" y="305517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비밀번호 입력</a:t>
            </a: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3868242" y="3305483"/>
            <a:ext cx="2567010" cy="244350"/>
          </a:xfrm>
          <a:prstGeom prst="roundRect">
            <a:avLst/>
          </a:prstGeom>
          <a:noFill/>
          <a:ln w="12700" cap="flat" cmpd="sng" algn="ctr">
            <a:solidFill>
              <a:schemeClr val="bg1">
                <a:lumMod val="75000"/>
              </a:schemeClr>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5" name="직사각형 34"/>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410684400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err="1"/>
              <a:t>신청완료</a:t>
            </a:r>
            <a:r>
              <a:rPr lang="ko-KR" altLang="en-US" dirty="0"/>
              <a:t> 정보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따라 표시 텍스트 변경</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신청완료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작성 내용 확인</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목록</a:t>
              </a:r>
              <a:endParaRPr kumimoji="1" lang="en-US" sz="1000" b="0" i="0" u="none" strike="noStrike" kern="0" cap="none" spc="0" normalizeH="0" baseline="0" noProof="0" dirty="0">
                <a:ln>
                  <a:noFill/>
                </a:ln>
                <a:effectLst/>
                <a:uLnTx/>
                <a:uFillTx/>
                <a:latin typeface="맑은 고딕"/>
              </a:endParaRPr>
            </a:p>
          </p:txBody>
        </p: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304378"/>
            <a:ext cx="2497672" cy="430887"/>
          </a:xfrm>
          <a:prstGeom prst="rect">
            <a:avLst/>
          </a:prstGeom>
          <a:noFill/>
        </p:spPr>
        <p:txBody>
          <a:bodyPr wrap="square" lIns="0" tIns="0" rIns="0" bIns="0" rtlCol="0">
            <a:spAutoFit/>
          </a:bodyPr>
          <a:lstStyle/>
          <a:p>
            <a:pPr algn="ctr">
              <a:lnSpc>
                <a:spcPct val="200000"/>
              </a:lnSpc>
            </a:pPr>
            <a:r>
              <a:rPr lang="ko-KR" altLang="en-US" sz="700" dirty="0">
                <a:latin typeface="+mn-ea"/>
              </a:rPr>
              <a:t>신청 번호 </a:t>
            </a:r>
            <a:r>
              <a:rPr lang="en-US" altLang="ko-KR" sz="700" dirty="0">
                <a:latin typeface="+mn-ea"/>
              </a:rPr>
              <a:t>0000 000 0000</a:t>
            </a:r>
          </a:p>
          <a:p>
            <a:pPr algn="ctr">
              <a:lnSpc>
                <a:spcPct val="200000"/>
              </a:lnSpc>
            </a:pPr>
            <a:r>
              <a:rPr lang="ko-KR" altLang="en-US" sz="700" dirty="0">
                <a:latin typeface="+mn-ea"/>
              </a:rPr>
              <a:t>신청 완료 일시 </a:t>
            </a:r>
            <a:r>
              <a:rPr lang="en-US" altLang="ko-KR" sz="700" dirty="0">
                <a:latin typeface="+mn-ea"/>
              </a:rPr>
              <a:t>2025-10-31 12:30</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867559"/>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입찰서</a:t>
            </a:r>
            <a:r>
              <a:rPr lang="en-US" altLang="ko-KR" sz="1000" b="1" dirty="0">
                <a:latin typeface="+mn-ea"/>
              </a:rPr>
              <a:t>(</a:t>
            </a:r>
            <a:r>
              <a:rPr lang="ko-KR" altLang="en-US" sz="1000" b="1" dirty="0">
                <a:latin typeface="+mn-ea"/>
              </a:rPr>
              <a:t>견적서</a:t>
            </a:r>
            <a:r>
              <a:rPr lang="en-US" altLang="ko-KR" sz="1000" b="1" dirty="0">
                <a:latin typeface="+mn-ea"/>
              </a:rPr>
              <a:t>) </a:t>
            </a:r>
            <a:r>
              <a:rPr lang="ko-KR" altLang="en-US" sz="1000" b="1" dirty="0">
                <a:latin typeface="+mn-ea"/>
              </a:rPr>
              <a:t>신청 완료</a:t>
            </a:r>
          </a:p>
        </p:txBody>
      </p:sp>
      <p:sp>
        <p:nvSpPr>
          <p:cNvPr id="69" name="모서리가 둥근 직사각형 68"/>
          <p:cNvSpPr/>
          <p:nvPr/>
        </p:nvSpPr>
        <p:spPr>
          <a:xfrm>
            <a:off x="698357" y="4218736"/>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87127" y="4317020"/>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71" name="타원 70"/>
          <p:cNvSpPr/>
          <p:nvPr/>
        </p:nvSpPr>
        <p:spPr>
          <a:xfrm>
            <a:off x="783169" y="430736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2" name="그룹 71"/>
          <p:cNvGrpSpPr/>
          <p:nvPr/>
        </p:nvGrpSpPr>
        <p:grpSpPr>
          <a:xfrm flipV="1">
            <a:off x="3131990" y="4355867"/>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 name="직사각형 29"/>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
        <p:nvSpPr>
          <p:cNvPr id="29" name="타원 28"/>
          <p:cNvSpPr/>
          <p:nvPr/>
        </p:nvSpPr>
        <p:spPr>
          <a:xfrm>
            <a:off x="1821809" y="2349399"/>
            <a:ext cx="419206" cy="419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28377754"/>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(1/3)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855249220"/>
              </p:ext>
            </p:extLst>
          </p:nvPr>
        </p:nvGraphicFramePr>
        <p:xfrm>
          <a:off x="635474" y="1420619"/>
          <a:ext cx="8701200" cy="48614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80526">
                  <a:extLst>
                    <a:ext uri="{9D8B030D-6E8A-4147-A177-3AD203B41FA5}">
                      <a16:colId xmlns:a16="http://schemas.microsoft.com/office/drawing/2014/main" val="20004"/>
                    </a:ext>
                  </a:extLst>
                </a:gridCol>
                <a:gridCol w="729074">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50" kern="1200" dirty="0">
                          <a:solidFill>
                            <a:schemeClr val="tx1"/>
                          </a:solidFill>
                          <a:latin typeface="+mn-lt"/>
                          <a:ea typeface="+mn-ea"/>
                          <a:cs typeface="+mn-cs"/>
                        </a:rPr>
                        <a:t>MUI-BD-08-M01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lt"/>
                          <a:ea typeface="+mn-ea"/>
                          <a:cs typeface="+mn-cs"/>
                        </a:rPr>
                        <a:t>개찰목록</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BdopnListPage</a:t>
                      </a:r>
                      <a:endParaRPr lang="en-US" sz="800" b="0" i="0" u="none" strike="noStrike" dirty="0">
                        <a:solidFill>
                          <a:schemeClr val="tx1"/>
                        </a:solidFill>
                        <a:effectLst/>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lt"/>
                          <a:ea typeface="+mn-ea"/>
                          <a:cs typeface="+mn-cs"/>
                        </a:rPr>
                        <a:t>업체 신청 </a:t>
                      </a:r>
                      <a:r>
                        <a:rPr lang="ko-KR" altLang="en-US" sz="800" kern="1200" dirty="0" err="1">
                          <a:solidFill>
                            <a:schemeClr val="tx1"/>
                          </a:solidFill>
                          <a:latin typeface="+mn-lt"/>
                          <a:ea typeface="+mn-ea"/>
                          <a:cs typeface="+mn-cs"/>
                        </a:rPr>
                        <a:t>공고건</a:t>
                      </a:r>
                      <a:r>
                        <a:rPr lang="ko-KR" altLang="en-US" sz="800" kern="1200" dirty="0">
                          <a:solidFill>
                            <a:schemeClr val="tx1"/>
                          </a:solidFill>
                          <a:latin typeface="+mn-lt"/>
                          <a:ea typeface="+mn-ea"/>
                          <a:cs typeface="+mn-cs"/>
                        </a:rPr>
                        <a:t> 중에서 개찰 결과가 있는 건을 개찰 목록에서 표시</a:t>
                      </a:r>
                      <a:br>
                        <a:rPr lang="ko-KR" altLang="en-US" sz="800" kern="1200" dirty="0">
                          <a:solidFill>
                            <a:schemeClr val="tx1"/>
                          </a:solidFill>
                          <a:latin typeface="+mn-lt"/>
                          <a:ea typeface="+mn-ea"/>
                          <a:cs typeface="+mn-cs"/>
                        </a:rPr>
                      </a:br>
                      <a:r>
                        <a:rPr lang="ko-KR" altLang="en-US" sz="800" kern="1200" dirty="0">
                          <a:solidFill>
                            <a:schemeClr val="tx1"/>
                          </a:solidFill>
                          <a:latin typeface="+mn-lt"/>
                          <a:ea typeface="+mn-ea"/>
                          <a:cs typeface="+mn-cs"/>
                        </a:rPr>
                        <a:t>이행</a:t>
                      </a:r>
                      <a:r>
                        <a:rPr lang="en-US" altLang="ko-KR" sz="800" kern="1200" dirty="0">
                          <a:solidFill>
                            <a:schemeClr val="tx1"/>
                          </a:solidFill>
                          <a:latin typeface="+mn-lt"/>
                          <a:ea typeface="+mn-ea"/>
                          <a:cs typeface="+mn-cs"/>
                        </a:rPr>
                        <a:t>, </a:t>
                      </a:r>
                      <a:r>
                        <a:rPr lang="ko-KR" altLang="en-US" sz="800" kern="1200" dirty="0">
                          <a:solidFill>
                            <a:schemeClr val="tx1"/>
                          </a:solidFill>
                          <a:latin typeface="+mn-lt"/>
                          <a:ea typeface="+mn-ea"/>
                          <a:cs typeface="+mn-cs"/>
                        </a:rPr>
                        <a:t>적격심사 내용 확인을 위한 개찰 목록 필요</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rPr>
                        <a:t>bdopnList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BdopnListPage</a:t>
                      </a:r>
                      <a:r>
                        <a:rPr lang="en-US" altLang="ko-KR" sz="800" dirty="0" err="1">
                          <a:solidFill>
                            <a:schemeClr val="tx1"/>
                          </a:solidFill>
                          <a:latin typeface="+mn-lt"/>
                          <a:ea typeface="+mn-ea"/>
                        </a:rPr>
                        <a:t>.tsx</a:t>
                      </a:r>
                      <a:endParaRPr lang="en-US" altLang="ko-KR" sz="800" b="1"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lt"/>
                          <a:ea typeface="+mn-ea"/>
                        </a:rPr>
                        <a:t>UC-BD-13-01</a:t>
                      </a:r>
                    </a:p>
                    <a:p>
                      <a:pPr algn="l" latinLnBrk="1">
                        <a:defRPr/>
                      </a:pPr>
                      <a:r>
                        <a:rPr lang="en-US" altLang="ko-KR" sz="800" dirty="0">
                          <a:latin typeface="+mn-lt"/>
                          <a:ea typeface="+mn-ea"/>
                        </a:rPr>
                        <a:t>UC-BD-14-01</a:t>
                      </a:r>
                    </a:p>
                    <a:p>
                      <a:pPr algn="l" latinLnBrk="1">
                        <a:defRPr/>
                      </a:pPr>
                      <a:r>
                        <a:rPr lang="en-US" altLang="ko-KR" sz="800" dirty="0">
                          <a:latin typeface="+mn-lt"/>
                          <a:ea typeface="+mn-ea"/>
                        </a:rPr>
                        <a:t>UC-BD-14-02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750" kern="1200" dirty="0" smtClean="0">
                          <a:solidFill>
                            <a:schemeClr val="tx1"/>
                          </a:solidFill>
                          <a:latin typeface="+mn-lt"/>
                          <a:ea typeface="+mn-ea"/>
                          <a:cs typeface="+mn-cs"/>
                        </a:rPr>
                        <a:t>MUI-BD-08-P01</a:t>
                      </a:r>
                      <a:endParaRPr lang="en-US" sz="75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smtClean="0">
                          <a:solidFill>
                            <a:schemeClr val="tx1"/>
                          </a:solidFill>
                          <a:latin typeface="+mn-lt"/>
                          <a:ea typeface="+mn-ea"/>
                          <a:cs typeface="+mn-cs"/>
                        </a:rPr>
                        <a:t>검색필터</a:t>
                      </a: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개찰</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BdopnRsltList_SrchFilter</a:t>
                      </a:r>
                      <a:endParaRPr lang="en-US" sz="800" b="0" i="0" u="none" strike="noStrike" dirty="0">
                        <a:solidFill>
                          <a:schemeClr val="tx1"/>
                        </a:solidFill>
                        <a:effectLst/>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smtClean="0">
                          <a:solidFill>
                            <a:schemeClr val="tx1"/>
                          </a:solidFill>
                          <a:latin typeface="+mn-lt"/>
                          <a:ea typeface="+mn-ea"/>
                          <a:cs typeface="+mn-cs"/>
                        </a:rPr>
                        <a:t>개찰목록의</a:t>
                      </a:r>
                      <a:r>
                        <a:rPr lang="ko-KR" altLang="en-US" sz="800" kern="1200" dirty="0" smtClean="0">
                          <a:solidFill>
                            <a:schemeClr val="tx1"/>
                          </a:solidFill>
                          <a:latin typeface="+mn-lt"/>
                          <a:ea typeface="+mn-ea"/>
                          <a:cs typeface="+mn-cs"/>
                        </a:rPr>
                        <a:t> </a:t>
                      </a:r>
                      <a:r>
                        <a:rPr lang="ko-KR" altLang="en-US" sz="800" kern="1200" dirty="0" err="1" smtClean="0">
                          <a:solidFill>
                            <a:schemeClr val="tx1"/>
                          </a:solidFill>
                          <a:latin typeface="+mn-lt"/>
                          <a:ea typeface="+mn-ea"/>
                          <a:cs typeface="+mn-cs"/>
                        </a:rPr>
                        <a:t>검색필터</a:t>
                      </a:r>
                      <a:r>
                        <a:rPr lang="ko-KR" altLang="en-US" sz="800" kern="1200" dirty="0" smtClean="0">
                          <a:solidFill>
                            <a:schemeClr val="tx1"/>
                          </a:solidFill>
                          <a:latin typeface="+mn-lt"/>
                          <a:ea typeface="+mn-ea"/>
                          <a:cs typeface="+mn-cs"/>
                        </a:rPr>
                        <a:t> 화면</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rPr>
                        <a:t>bdopnList</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BdopnRsltList_SrchFilter</a:t>
                      </a:r>
                      <a:r>
                        <a:rPr lang="en-US" altLang="ko-KR" sz="800" dirty="0" err="1" smtClean="0">
                          <a:solidFill>
                            <a:schemeClr val="tx1"/>
                          </a:solidFill>
                          <a:latin typeface="+mn-lt"/>
                          <a:ea typeface="+mn-ea"/>
                        </a:rPr>
                        <a:t>.tsx</a:t>
                      </a:r>
                      <a:endParaRPr lang="en-US" altLang="ko-KR" sz="800" b="1"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smtClean="0">
                          <a:latin typeface="+mn-lt"/>
                          <a:ea typeface="+mn-ea"/>
                        </a:rPr>
                        <a:t>UC-BD-13-01</a:t>
                      </a:r>
                    </a:p>
                    <a:p>
                      <a:pPr algn="l" latinLnBrk="1">
                        <a:defRPr/>
                      </a:pPr>
                      <a:r>
                        <a:rPr lang="en-US" altLang="ko-KR" sz="800" dirty="0" smtClean="0">
                          <a:latin typeface="+mn-lt"/>
                          <a:ea typeface="+mn-ea"/>
                        </a:rPr>
                        <a:t>UC-BD-14-01</a:t>
                      </a:r>
                    </a:p>
                    <a:p>
                      <a:pPr algn="l" latinLnBrk="1">
                        <a:defRPr/>
                      </a:pPr>
                      <a:r>
                        <a:rPr lang="en-US" altLang="ko-KR" sz="800" dirty="0" smtClean="0">
                          <a:latin typeface="+mn-lt"/>
                          <a:ea typeface="+mn-ea"/>
                        </a:rPr>
                        <a:t>UC-BD-14-02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834538444"/>
                  </a:ext>
                </a:extLst>
              </a:tr>
              <a:tr h="180000">
                <a:tc>
                  <a:txBody>
                    <a:bodyPr/>
                    <a:lstStyle/>
                    <a:p>
                      <a:pPr algn="l" fontAlgn="ctr"/>
                      <a:r>
                        <a:rPr lang="en-US" sz="750" kern="1200" dirty="0" smtClean="0">
                          <a:solidFill>
                            <a:schemeClr val="tx1"/>
                          </a:solidFill>
                          <a:latin typeface="+mn-lt"/>
                          <a:ea typeface="+mn-ea"/>
                          <a:cs typeface="+mn-cs"/>
                        </a:rPr>
                        <a:t>MUI-BD-09-M01</a:t>
                      </a:r>
                      <a:endParaRPr lang="en-US" sz="75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lt"/>
                          <a:ea typeface="+mn-ea"/>
                          <a:cs typeface="+mn-cs"/>
                        </a:rPr>
                        <a:t>입찰결과상세</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smtClean="0">
                          <a:solidFill>
                            <a:schemeClr val="tx1"/>
                          </a:solidFill>
                          <a:effectLst/>
                          <a:latin typeface="+mn-lt"/>
                        </a:rPr>
                        <a:t>BidRsltDtlPage</a:t>
                      </a:r>
                      <a:endParaRPr lang="en-US" sz="800" b="0" i="0" u="none" strike="noStrike" dirty="0">
                        <a:solidFill>
                          <a:schemeClr val="tx1"/>
                        </a:solidFill>
                        <a:effectLst/>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lt"/>
                          <a:ea typeface="+mn-ea"/>
                          <a:cs typeface="+mn-cs"/>
                        </a:rPr>
                        <a:t>경쟁입찰</a:t>
                      </a:r>
                      <a:r>
                        <a:rPr lang="en-US" altLang="ko-KR" sz="800" kern="1200" dirty="0" smtClean="0">
                          <a:solidFill>
                            <a:schemeClr val="tx1"/>
                          </a:solidFill>
                          <a:latin typeface="+mn-lt"/>
                          <a:ea typeface="+mn-ea"/>
                          <a:cs typeface="+mn-cs"/>
                        </a:rPr>
                        <a:t>, </a:t>
                      </a:r>
                      <a:r>
                        <a:rPr lang="ko-KR" altLang="en-US" sz="800" kern="1200" dirty="0" smtClean="0">
                          <a:solidFill>
                            <a:schemeClr val="tx1"/>
                          </a:solidFill>
                          <a:latin typeface="+mn-lt"/>
                          <a:ea typeface="+mn-ea"/>
                          <a:cs typeface="+mn-cs"/>
                        </a:rPr>
                        <a:t>수의계약 건에 대해 개찰 및 낙찰 처리 후 입찰결과를 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rPr>
                        <a:t>BidRsltDtl</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BidRsltDtlPage</a:t>
                      </a:r>
                      <a:r>
                        <a:rPr lang="en-US" altLang="ko-KR" sz="800" dirty="0" err="1" smtClean="0">
                          <a:solidFill>
                            <a:schemeClr val="tx1"/>
                          </a:solidFill>
                          <a:latin typeface="+mn-lt"/>
                          <a:ea typeface="+mn-ea"/>
                        </a:rPr>
                        <a:t>.tsx</a:t>
                      </a:r>
                      <a:endParaRPr lang="ko-KR" altLang="en-US" sz="800" kern="1200" dirty="0" smtClean="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smtClean="0">
                          <a:latin typeface="+mn-lt"/>
                          <a:ea typeface="+mn-ea"/>
                        </a:rPr>
                        <a:t>UC-BD-13-01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817466156"/>
                  </a:ext>
                </a:extLst>
              </a:tr>
              <a:tr h="180000">
                <a:tc>
                  <a:txBody>
                    <a:bodyPr/>
                    <a:lstStyle/>
                    <a:p>
                      <a:pPr algn="l" fontAlgn="ctr"/>
                      <a:r>
                        <a:rPr lang="en-US" sz="750" kern="1200" dirty="0">
                          <a:solidFill>
                            <a:schemeClr val="tx1"/>
                          </a:solidFill>
                          <a:latin typeface="+mn-lt"/>
                          <a:ea typeface="+mn-ea"/>
                          <a:cs typeface="+mn-cs"/>
                        </a:rPr>
                        <a:t>MUI-BD-09-T01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lt"/>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smtClean="0">
                          <a:solidFill>
                            <a:schemeClr val="tx1"/>
                          </a:solidFill>
                          <a:latin typeface="+mn-lt"/>
                          <a:ea typeface="+mn-ea"/>
                        </a:rPr>
                        <a:t>BidRsltDtlPage_Info</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smtClean="0">
                          <a:solidFill>
                            <a:schemeClr val="tx1"/>
                          </a:solidFill>
                          <a:latin typeface="+mn-lt"/>
                          <a:ea typeface="+mn-ea"/>
                          <a:cs typeface="+mn-cs"/>
                        </a:rPr>
                        <a:t>입찰결과 상세 일반정보 탭 조회</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BidRsltDtl</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Page_Info.tsx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lt"/>
                          <a:ea typeface="+mn-ea"/>
                        </a:rPr>
                        <a:t>UC-BD-13-01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3440042"/>
                  </a:ext>
                </a:extLst>
              </a:tr>
              <a:tr h="180000">
                <a:tc>
                  <a:txBody>
                    <a:bodyPr/>
                    <a:lstStyle/>
                    <a:p>
                      <a:pPr algn="l" fontAlgn="ctr"/>
                      <a:r>
                        <a:rPr lang="en-US" sz="750" kern="1200">
                          <a:solidFill>
                            <a:schemeClr val="tx1"/>
                          </a:solidFill>
                          <a:latin typeface="+mn-lt"/>
                          <a:ea typeface="+mn-ea"/>
                          <a:cs typeface="+mn-cs"/>
                        </a:rPr>
                        <a:t>MUI-BD-09-T02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lt"/>
                          <a:ea typeface="+mn-ea"/>
                          <a:cs typeface="+mn-cs"/>
                        </a:rPr>
                        <a:t>품목정보</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BidRsltDtlList</a:t>
                      </a:r>
                      <a:r>
                        <a:rPr lang="en-US" altLang="ko-KR" sz="800" b="0" i="0" u="none" strike="noStrike" dirty="0" err="1">
                          <a:solidFill>
                            <a:schemeClr val="tx1"/>
                          </a:solidFill>
                          <a:effectLst/>
                          <a:latin typeface="+mn-lt"/>
                        </a:rPr>
                        <a:t>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smtClean="0">
                          <a:solidFill>
                            <a:schemeClr val="tx1"/>
                          </a:solidFill>
                          <a:latin typeface="+mn-lt"/>
                          <a:ea typeface="+mn-ea"/>
                          <a:cs typeface="+mn-cs"/>
                        </a:rPr>
                        <a:t>입찰결과 상세 </a:t>
                      </a:r>
                      <a:r>
                        <a:rPr lang="ko-KR" altLang="en-US" sz="800" kern="1200" dirty="0" err="1" smtClean="0">
                          <a:solidFill>
                            <a:schemeClr val="tx1"/>
                          </a:solidFill>
                          <a:latin typeface="+mn-lt"/>
                          <a:ea typeface="+mn-ea"/>
                          <a:cs typeface="+mn-cs"/>
                        </a:rPr>
                        <a:t>품목정보</a:t>
                      </a:r>
                      <a:r>
                        <a:rPr lang="ko-KR" altLang="en-US" sz="800" kern="1200" dirty="0" smtClean="0">
                          <a:solidFill>
                            <a:schemeClr val="tx1"/>
                          </a:solidFill>
                          <a:latin typeface="+mn-lt"/>
                          <a:ea typeface="+mn-ea"/>
                          <a:cs typeface="+mn-cs"/>
                        </a:rPr>
                        <a:t> 탭 조회</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BidRsltDtl</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BidRsltDtlList</a:t>
                      </a:r>
                      <a:r>
                        <a:rPr lang="en-US" altLang="ko-KR" sz="800" b="0" i="0" u="none" strike="noStrike" dirty="0" err="1" smtClean="0">
                          <a:solidFill>
                            <a:schemeClr val="tx1"/>
                          </a:solidFill>
                          <a:effectLst/>
                          <a:latin typeface="+mn-lt"/>
                        </a:rPr>
                        <a:t>Page</a:t>
                      </a:r>
                      <a:r>
                        <a:rPr lang="en-US" altLang="ko-KR" sz="800" dirty="0" err="1" smtClean="0">
                          <a:solidFill>
                            <a:schemeClr val="tx1"/>
                          </a:solidFill>
                          <a:latin typeface="+mn-lt"/>
                          <a:ea typeface="+mn-ea"/>
                        </a:rPr>
                        <a:t>.tsx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lt"/>
                          <a:ea typeface="+mn-ea"/>
                        </a:rPr>
                        <a:t>UC-BD-13-01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9506035"/>
                  </a:ext>
                </a:extLst>
              </a:tr>
              <a:tr h="180000">
                <a:tc>
                  <a:txBody>
                    <a:bodyPr/>
                    <a:lstStyle/>
                    <a:p>
                      <a:pPr algn="l" fontAlgn="ctr"/>
                      <a:r>
                        <a:rPr lang="en-US" sz="750" kern="1200" dirty="0">
                          <a:solidFill>
                            <a:schemeClr val="tx1"/>
                          </a:solidFill>
                          <a:latin typeface="+mn-lt"/>
                          <a:ea typeface="+mn-ea"/>
                          <a:cs typeface="+mn-cs"/>
                        </a:rPr>
                        <a:t>MUI-BD-09-T03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lt"/>
                          <a:ea typeface="+mn-ea"/>
                          <a:cs typeface="+mn-cs"/>
                        </a:rPr>
                        <a:t>입찰결과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BidRsltDtl</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smtClean="0">
                          <a:solidFill>
                            <a:schemeClr val="tx1"/>
                          </a:solidFill>
                          <a:latin typeface="+mn-lt"/>
                          <a:ea typeface="+mn-ea"/>
                          <a:cs typeface="+mn-cs"/>
                        </a:rPr>
                        <a:t>입찰결과 상세 입찰결과 탭 조회</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BidRsltDtl</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lang="en-US" altLang="ko-KR" sz="800" dirty="0" err="1" smtClean="0">
                          <a:solidFill>
                            <a:schemeClr val="tx1"/>
                          </a:solidFill>
                          <a:latin typeface="+mn-lt"/>
                          <a:ea typeface="+mn-ea"/>
                        </a:rPr>
                        <a:t>BidRsltDtl.tsx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lt"/>
                          <a:ea typeface="+mn-ea"/>
                        </a:rPr>
                        <a:t>UC-BD-13-01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5748861"/>
                  </a:ext>
                </a:extLst>
              </a:tr>
              <a:tr h="180000">
                <a:tc>
                  <a:txBody>
                    <a:bodyPr/>
                    <a:lstStyle/>
                    <a:p>
                      <a:pPr algn="l" fontAlgn="ctr"/>
                      <a:r>
                        <a:rPr lang="en-US" sz="750" kern="1200" dirty="0">
                          <a:solidFill>
                            <a:schemeClr val="tx1"/>
                          </a:solidFill>
                          <a:latin typeface="+mn-lt"/>
                          <a:ea typeface="+mn-ea"/>
                          <a:cs typeface="+mn-cs"/>
                        </a:rPr>
                        <a:t>MUI-BD-09-T04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lt"/>
                          <a:ea typeface="+mn-ea"/>
                          <a:cs typeface="+mn-cs"/>
                        </a:rPr>
                        <a:t>협상결과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BidRsltDtl2</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lt"/>
                          <a:ea typeface="+mn-ea"/>
                          <a:cs typeface="+mn-cs"/>
                        </a:rPr>
                        <a:t>입찰결과 상세 협상결과 탭 조회</a:t>
                      </a:r>
                      <a:r>
                        <a:rPr lang="en-US" altLang="ko-KR" sz="800" kern="1200" dirty="0" smtClean="0">
                          <a:solidFill>
                            <a:schemeClr val="tx1"/>
                          </a:solidFill>
                          <a:latin typeface="+mn-lt"/>
                          <a:ea typeface="+mn-ea"/>
                          <a:cs typeface="+mn-cs"/>
                        </a:rPr>
                        <a:t/>
                      </a:r>
                      <a:br>
                        <a:rPr lang="en-US" altLang="ko-KR" sz="800" kern="1200" dirty="0" smtClean="0">
                          <a:solidFill>
                            <a:schemeClr val="tx1"/>
                          </a:solidFill>
                          <a:latin typeface="+mn-lt"/>
                          <a:ea typeface="+mn-ea"/>
                          <a:cs typeface="+mn-cs"/>
                        </a:rPr>
                      </a:br>
                      <a:r>
                        <a:rPr lang="ko-KR" altLang="en-US" sz="800" kern="1200" dirty="0" smtClean="0">
                          <a:solidFill>
                            <a:schemeClr val="tx1"/>
                          </a:solidFill>
                          <a:latin typeface="+mn-lt"/>
                          <a:ea typeface="+mn-ea"/>
                          <a:cs typeface="+mn-cs"/>
                        </a:rPr>
                        <a:t>협상 결과가 있는 경우 표시</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BidRsltDtl</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lang="en-US" altLang="ko-KR" sz="800" dirty="0" smtClean="0">
                          <a:solidFill>
                            <a:schemeClr val="tx1"/>
                          </a:solidFill>
                          <a:latin typeface="+mn-lt"/>
                          <a:ea typeface="+mn-ea"/>
                        </a:rPr>
                        <a:t>BidRsltDtl2.tsx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lt"/>
                          <a:ea typeface="+mn-ea"/>
                        </a:rPr>
                        <a:t>UC-BD-13-01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2940625"/>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MUI-BD-10-M01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맑은 고딕" panose="020B0503020000020004" pitchFamily="50" charset="-127"/>
                        </a:rPr>
                        <a:t>이행</a:t>
                      </a:r>
                      <a:r>
                        <a:rPr lang="en-US" altLang="ko-KR" sz="800" b="0" i="0" u="none" strike="noStrike" dirty="0">
                          <a:solidFill>
                            <a:srgbClr val="000000"/>
                          </a:solidFill>
                          <a:effectLst/>
                          <a:latin typeface="+mn-lt"/>
                          <a:ea typeface="맑은 고딕" panose="020B0503020000020004" pitchFamily="50" charset="-127"/>
                        </a:rPr>
                        <a:t>/</a:t>
                      </a:r>
                      <a:r>
                        <a:rPr lang="ko-KR" altLang="en-US" sz="800" b="0" i="0" u="none" strike="noStrike" dirty="0">
                          <a:solidFill>
                            <a:srgbClr val="000000"/>
                          </a:solidFill>
                          <a:effectLst/>
                          <a:latin typeface="+mn-lt"/>
                          <a:ea typeface="맑은 고딕" panose="020B0503020000020004" pitchFamily="50" charset="-127"/>
                        </a:rPr>
                        <a:t>적격심사신청</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Implt</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dirty="0" smtClean="0">
                          <a:latin typeface="+mn-lt"/>
                          <a:ea typeface="+mn-ea"/>
                        </a:rPr>
                        <a:t>이행</a:t>
                      </a:r>
                      <a:r>
                        <a:rPr lang="en-US" altLang="ko-KR" sz="800" dirty="0" smtClean="0">
                          <a:latin typeface="+mn-lt"/>
                          <a:ea typeface="+mn-ea"/>
                        </a:rPr>
                        <a:t>/</a:t>
                      </a:r>
                      <a:r>
                        <a:rPr lang="ko-KR" altLang="en-US" sz="800" kern="1200" dirty="0" smtClean="0">
                          <a:solidFill>
                            <a:schemeClr val="tx1"/>
                          </a:solidFill>
                          <a:latin typeface="+mn-lt"/>
                          <a:ea typeface="+mn-ea"/>
                          <a:cs typeface="+mn-cs"/>
                        </a:rPr>
                        <a:t>적격심사 대상 공고에 심사 신청 화면</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ImpltElgbSrngAply</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Implt.tsx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smtClean="0">
                          <a:solidFill>
                            <a:schemeClr val="tx1"/>
                          </a:solidFill>
                          <a:latin typeface="+mn-lt"/>
                          <a:ea typeface="+mn-ea"/>
                          <a:cs typeface="+mn-cs"/>
                        </a:rPr>
                        <a:t>UC-BD-14-01</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58044046"/>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1.</a:t>
                      </a:r>
                      <a:r>
                        <a:rPr lang="ko-KR" altLang="en-US" sz="800" kern="1200" dirty="0" smtClean="0">
                          <a:solidFill>
                            <a:schemeClr val="tx1"/>
                          </a:solidFill>
                          <a:latin typeface="+mn-lt"/>
                          <a:ea typeface="+mn-ea"/>
                          <a:cs typeface="+mn-cs"/>
                        </a:rPr>
                        <a:t>일반정보</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Implt1</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dirty="0" smtClean="0">
                          <a:latin typeface="+mn-lt"/>
                          <a:ea typeface="+mn-ea"/>
                        </a:rPr>
                        <a:t>이행</a:t>
                      </a:r>
                      <a:r>
                        <a:rPr lang="en-US" altLang="ko-KR" sz="800" dirty="0" smtClean="0">
                          <a:latin typeface="+mn-lt"/>
                          <a:ea typeface="+mn-ea"/>
                        </a:rPr>
                        <a:t>/</a:t>
                      </a:r>
                      <a:r>
                        <a:rPr lang="ko-KR" altLang="en-US" sz="800" kern="1200" dirty="0" smtClean="0">
                          <a:solidFill>
                            <a:schemeClr val="tx1"/>
                          </a:solidFill>
                          <a:latin typeface="+mn-lt"/>
                          <a:ea typeface="+mn-ea"/>
                          <a:cs typeface="+mn-cs"/>
                        </a:rPr>
                        <a:t>적격심사 </a:t>
                      </a:r>
                      <a:r>
                        <a:rPr lang="ko-KR" altLang="en-US" sz="800" kern="1200" dirty="0">
                          <a:solidFill>
                            <a:schemeClr val="tx1"/>
                          </a:solidFill>
                          <a:latin typeface="+mn-lt"/>
                          <a:ea typeface="+mn-ea"/>
                          <a:cs typeface="+mn-cs"/>
                        </a:rPr>
                        <a:t>대상 공고에 심사 신청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ImpltElgbSrngAply</a:t>
                      </a:r>
                      <a:r>
                        <a:rPr lang="en-US" altLang="ko-KR" sz="800" dirty="0" smtClean="0">
                          <a:solidFill>
                            <a:schemeClr val="tx1"/>
                          </a:solidFill>
                          <a:latin typeface="+mn-lt"/>
                          <a:ea typeface="+mn-ea"/>
                        </a:rPr>
                        <a:t>/Implt1.tsx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kern="1200" dirty="0">
                          <a:solidFill>
                            <a:schemeClr val="tx1"/>
                          </a:solidFill>
                          <a:latin typeface="+mn-lt"/>
                          <a:ea typeface="+mn-ea"/>
                          <a:cs typeface="+mn-cs"/>
                        </a:rPr>
                        <a:t>UC-BD-14-01</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8435498"/>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smtClean="0">
                          <a:solidFill>
                            <a:schemeClr val="tx1"/>
                          </a:solidFill>
                          <a:latin typeface="+mn-lt"/>
                          <a:ea typeface="+mn-ea"/>
                          <a:cs typeface="+mn-cs"/>
                        </a:rPr>
                        <a:t>2.</a:t>
                      </a:r>
                      <a:r>
                        <a:rPr lang="ko-KR" altLang="en-US" sz="800" kern="1200" dirty="0" smtClean="0">
                          <a:solidFill>
                            <a:schemeClr val="tx1"/>
                          </a:solidFill>
                          <a:latin typeface="+mn-lt"/>
                          <a:ea typeface="+mn-ea"/>
                          <a:cs typeface="+mn-cs"/>
                        </a:rPr>
                        <a:t>입찰</a:t>
                      </a:r>
                      <a:r>
                        <a:rPr lang="en-US" altLang="ko-KR" sz="800" kern="1200" dirty="0">
                          <a:solidFill>
                            <a:schemeClr val="tx1"/>
                          </a:solidFill>
                          <a:latin typeface="+mn-lt"/>
                          <a:ea typeface="+mn-ea"/>
                          <a:cs typeface="+mn-cs"/>
                        </a:rPr>
                        <a:t>/</a:t>
                      </a:r>
                      <a:r>
                        <a:rPr lang="ko-KR" altLang="en-US" sz="800" kern="1200" dirty="0">
                          <a:solidFill>
                            <a:schemeClr val="tx1"/>
                          </a:solidFill>
                          <a:latin typeface="+mn-lt"/>
                          <a:ea typeface="+mn-ea"/>
                          <a:cs typeface="+mn-cs"/>
                        </a:rPr>
                        <a:t>반려 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Implt2</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dirty="0" smtClean="0">
                          <a:latin typeface="+mn-lt"/>
                          <a:ea typeface="+mn-ea"/>
                        </a:rPr>
                        <a:t>이행</a:t>
                      </a:r>
                      <a:r>
                        <a:rPr lang="en-US" altLang="ko-KR" sz="800" dirty="0" smtClean="0">
                          <a:latin typeface="+mn-lt"/>
                          <a:ea typeface="+mn-ea"/>
                        </a:rPr>
                        <a:t>/</a:t>
                      </a:r>
                      <a:r>
                        <a:rPr lang="ko-KR" altLang="en-US" sz="800" kern="1200" dirty="0" smtClean="0">
                          <a:solidFill>
                            <a:schemeClr val="tx1"/>
                          </a:solidFill>
                          <a:latin typeface="+mn-lt"/>
                          <a:ea typeface="+mn-ea"/>
                          <a:cs typeface="+mn-cs"/>
                        </a:rPr>
                        <a:t>적격심사 </a:t>
                      </a:r>
                      <a:r>
                        <a:rPr lang="ko-KR" altLang="en-US" sz="800" kern="1200" dirty="0">
                          <a:solidFill>
                            <a:schemeClr val="tx1"/>
                          </a:solidFill>
                          <a:latin typeface="+mn-lt"/>
                          <a:ea typeface="+mn-ea"/>
                          <a:cs typeface="+mn-cs"/>
                        </a:rPr>
                        <a:t>대상 공고에 심사 신청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ImpltElgbSrngAply</a:t>
                      </a:r>
                      <a:r>
                        <a:rPr lang="en-US" altLang="ko-KR" sz="800" dirty="0" smtClean="0">
                          <a:solidFill>
                            <a:schemeClr val="tx1"/>
                          </a:solidFill>
                          <a:latin typeface="+mn-lt"/>
                          <a:ea typeface="+mn-ea"/>
                        </a:rPr>
                        <a:t>/Implt2.tsx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kern="1200" dirty="0">
                          <a:solidFill>
                            <a:schemeClr val="tx1"/>
                          </a:solidFill>
                          <a:latin typeface="+mn-lt"/>
                          <a:ea typeface="+mn-ea"/>
                          <a:cs typeface="+mn-cs"/>
                        </a:rPr>
                        <a:t>UC-BD-14-01</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48609446"/>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MUI-BD-10-T03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3.</a:t>
                      </a:r>
                      <a:r>
                        <a:rPr lang="ko-KR" altLang="en-US" sz="800" kern="1200" dirty="0" smtClean="0">
                          <a:solidFill>
                            <a:schemeClr val="tx1"/>
                          </a:solidFill>
                          <a:latin typeface="+mn-lt"/>
                          <a:ea typeface="+mn-ea"/>
                          <a:cs typeface="+mn-cs"/>
                        </a:rPr>
                        <a:t>파일첨부</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Implt3</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dirty="0" smtClean="0">
                          <a:latin typeface="+mn-lt"/>
                          <a:ea typeface="+mn-ea"/>
                        </a:rPr>
                        <a:t>이행</a:t>
                      </a:r>
                      <a:r>
                        <a:rPr lang="en-US" altLang="ko-KR" sz="800" dirty="0" smtClean="0">
                          <a:latin typeface="+mn-lt"/>
                          <a:ea typeface="+mn-ea"/>
                        </a:rPr>
                        <a:t>/</a:t>
                      </a:r>
                      <a:r>
                        <a:rPr lang="ko-KR" altLang="en-US" sz="800" kern="1200" dirty="0" smtClean="0">
                          <a:solidFill>
                            <a:schemeClr val="tx1"/>
                          </a:solidFill>
                          <a:latin typeface="+mn-lt"/>
                          <a:ea typeface="+mn-ea"/>
                          <a:cs typeface="+mn-cs"/>
                        </a:rPr>
                        <a:t>적격심사 </a:t>
                      </a:r>
                      <a:r>
                        <a:rPr lang="ko-KR" altLang="en-US" sz="800" kern="1200" dirty="0">
                          <a:solidFill>
                            <a:schemeClr val="tx1"/>
                          </a:solidFill>
                          <a:latin typeface="+mn-lt"/>
                          <a:ea typeface="+mn-ea"/>
                          <a:cs typeface="+mn-cs"/>
                        </a:rPr>
                        <a:t>대상 공고에 심사 신청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ImpltElgbSrngAply</a:t>
                      </a:r>
                      <a:r>
                        <a:rPr lang="en-US" altLang="ko-KR" sz="800" dirty="0" smtClean="0">
                          <a:solidFill>
                            <a:schemeClr val="tx1"/>
                          </a:solidFill>
                          <a:latin typeface="+mn-lt"/>
                          <a:ea typeface="+mn-ea"/>
                        </a:rPr>
                        <a:t>/Implt3.tsx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kern="1200" dirty="0">
                          <a:solidFill>
                            <a:schemeClr val="tx1"/>
                          </a:solidFill>
                          <a:latin typeface="+mn-lt"/>
                          <a:ea typeface="+mn-ea"/>
                          <a:cs typeface="+mn-cs"/>
                        </a:rPr>
                        <a:t>UC-BD-14-01</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425698238"/>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통사</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solidFill>
                            <a:schemeClr val="tx1"/>
                          </a:solidFill>
                          <a:latin typeface="+mn-lt"/>
                          <a:ea typeface="+mn-ea"/>
                        </a:rPr>
                        <a:t>ImpltElgblRslt_g2b</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latin typeface="+mn-lt"/>
                          <a:ea typeface="+mn-ea"/>
                        </a:rPr>
                        <a:t>입찰결과 상세에서 이행</a:t>
                      </a:r>
                      <a:r>
                        <a:rPr lang="en-US" altLang="ko-KR" sz="800" dirty="0" smtClean="0">
                          <a:latin typeface="+mn-lt"/>
                          <a:ea typeface="+mn-ea"/>
                        </a:rPr>
                        <a:t>/</a:t>
                      </a:r>
                      <a:r>
                        <a:rPr lang="ko-KR" altLang="en-US" sz="800" dirty="0" smtClean="0">
                          <a:latin typeface="+mn-lt"/>
                          <a:ea typeface="+mn-ea"/>
                        </a:rPr>
                        <a:t>적격심사결과가 있는 경우 노출되는 탭 화면</a:t>
                      </a:r>
                      <a:endParaRPr lang="en-US" altLang="ko-KR" sz="800" dirty="0" smtClean="0">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latin typeface="+mn-lt"/>
                          <a:ea typeface="+mn-ea"/>
                        </a:rPr>
                        <a:t>이행 </a:t>
                      </a:r>
                      <a:r>
                        <a:rPr lang="ko-KR" altLang="en-US" sz="800" dirty="0">
                          <a:latin typeface="+mn-lt"/>
                          <a:ea typeface="+mn-ea"/>
                        </a:rPr>
                        <a:t>적격심사 </a:t>
                      </a:r>
                      <a:r>
                        <a:rPr lang="ko-KR" altLang="en-US" sz="800" dirty="0" err="1">
                          <a:latin typeface="+mn-lt"/>
                          <a:ea typeface="+mn-ea"/>
                        </a:rPr>
                        <a:t>조건별</a:t>
                      </a:r>
                      <a:r>
                        <a:rPr lang="ko-KR" altLang="en-US" sz="800" dirty="0">
                          <a:latin typeface="+mn-lt"/>
                          <a:ea typeface="+mn-ea"/>
                        </a:rPr>
                        <a:t> </a:t>
                      </a:r>
                      <a:r>
                        <a:rPr lang="ko-KR" altLang="en-US" sz="800" dirty="0" smtClean="0">
                          <a:latin typeface="+mn-lt"/>
                          <a:ea typeface="+mn-ea"/>
                        </a:rPr>
                        <a:t>결과 표시</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/ImpltElgblRslt_g2b.tsx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kern="1200" dirty="0">
                          <a:solidFill>
                            <a:schemeClr val="tx1"/>
                          </a:solidFill>
                          <a:latin typeface="+mn-lt"/>
                          <a:ea typeface="+mn-ea"/>
                          <a:cs typeface="+mn-cs"/>
                        </a:rPr>
                        <a:t>UC-BD-14-02</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434230572"/>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물품</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ImpltElgblRslt_Cmdty</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/ImpltElgblRslt_g2b.tsx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kern="1200" dirty="0">
                          <a:solidFill>
                            <a:schemeClr val="tx1"/>
                          </a:solidFill>
                          <a:latin typeface="+mn-lt"/>
                          <a:ea typeface="+mn-ea"/>
                          <a:cs typeface="+mn-cs"/>
                        </a:rPr>
                        <a:t>UC-BD-14-02</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6537186"/>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MUI-BD-10-T06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용역</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ImpltElgblRslt_Lbsvc</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/ImpltElgblRslt_g2b.tsx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8715850"/>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074780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(2/3)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874027709"/>
              </p:ext>
            </p:extLst>
          </p:nvPr>
        </p:nvGraphicFramePr>
        <p:xfrm>
          <a:off x="635474" y="1413419"/>
          <a:ext cx="8701200" cy="44515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MUI-BD-10-T07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중기청</a:t>
                      </a:r>
                      <a:r>
                        <a:rPr lang="en-US" altLang="ko-KR" sz="800" kern="1200" dirty="0">
                          <a:solidFill>
                            <a:schemeClr val="tx1"/>
                          </a:solidFill>
                          <a:latin typeface="+mn-lt"/>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ImpltElgblRslt_ItemsUnderKrw1B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ImpltElgblRslt_ItemsUnderKrw1B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1195051"/>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MUI-BD-10-T08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억원미만물품제조</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ImpltElgblRslt_ManufacturingofItemsUnderKrw1B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이행 적격심사 </a:t>
                      </a:r>
                      <a:r>
                        <a:rPr kumimoji="0" lang="ko-KR" altLang="en-US"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조건별</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ImpltElgblRslt_ManufacturingofItemsUnderKrw1B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7078"/>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MUI-BD-10-T09</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smtClean="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억원미만물품제조</a:t>
                      </a:r>
                      <a:r>
                        <a:rPr lang="en-US" altLang="ko-KR" sz="800" kern="1200" dirty="0">
                          <a:solidFill>
                            <a:schemeClr val="tx1"/>
                          </a:solidFill>
                          <a:latin typeface="+mn-lt"/>
                          <a:ea typeface="+mn-ea"/>
                          <a:cs typeface="+mn-cs"/>
                        </a:rPr>
                        <a:t>2015</a:t>
                      </a:r>
                      <a:r>
                        <a:rPr lang="ko-KR" altLang="en-US" sz="800" kern="1200" dirty="0">
                          <a:solidFill>
                            <a:schemeClr val="tx1"/>
                          </a:solidFill>
                          <a:latin typeface="+mn-lt"/>
                          <a:ea typeface="+mn-ea"/>
                          <a:cs typeface="+mn-cs"/>
                        </a:rPr>
                        <a:t>년</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ImpltElgblRslt_ManufacturingofItemsUnderKrw1B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이행 적격심사 </a:t>
                      </a:r>
                      <a:r>
                        <a:rPr kumimoji="0" lang="ko-KR" altLang="en-US"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조건별</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ImpltElgblRslt_ManufacturingofItemsUnderKrw1B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288485399"/>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MUI-BD-10-T10</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억원미만물품구매</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ImpltElgblRslt_PurchaseofItemsUnderKrw1B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이행 적격심사 </a:t>
                      </a:r>
                      <a:r>
                        <a:rPr kumimoji="0" lang="ko-KR" altLang="en-US"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조건별</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ImpltElgblRslt_PurchaseofItemsUnderKrw1B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5522575"/>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MUI-BD-10-T11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억원미만물품구매</a:t>
                      </a:r>
                      <a:r>
                        <a:rPr lang="en-US" altLang="ko-KR" sz="800" kern="1200" dirty="0">
                          <a:solidFill>
                            <a:schemeClr val="tx1"/>
                          </a:solidFill>
                          <a:latin typeface="+mn-lt"/>
                          <a:ea typeface="+mn-ea"/>
                          <a:cs typeface="+mn-cs"/>
                        </a:rPr>
                        <a:t>2015</a:t>
                      </a:r>
                      <a:r>
                        <a:rPr lang="ko-KR" altLang="en-US" sz="800" kern="1200" dirty="0">
                          <a:solidFill>
                            <a:schemeClr val="tx1"/>
                          </a:solidFill>
                          <a:latin typeface="+mn-lt"/>
                          <a:ea typeface="+mn-ea"/>
                          <a:cs typeface="+mn-cs"/>
                        </a:rPr>
                        <a:t>년</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ImpltElgblRslt_PurchaseofItemsUnderKrw1B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이행 적격심사 </a:t>
                      </a:r>
                      <a:r>
                        <a:rPr kumimoji="0" lang="ko-KR" altLang="en-US"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조건별</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ImpltElgblRslt_PurchaseofItemsUnderKrw1B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0849787"/>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MUI-BD-10-T12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억원미만물품제조</a:t>
                      </a:r>
                      <a:r>
                        <a:rPr lang="en-US" altLang="ko-KR" sz="800" kern="1200" dirty="0">
                          <a:solidFill>
                            <a:schemeClr val="tx1"/>
                          </a:solidFill>
                          <a:latin typeface="+mn-lt"/>
                          <a:ea typeface="+mn-ea"/>
                          <a:cs typeface="+mn-cs"/>
                        </a:rPr>
                        <a:t>2018</a:t>
                      </a:r>
                      <a:r>
                        <a:rPr lang="ko-KR" altLang="en-US" sz="800" kern="1200" dirty="0">
                          <a:solidFill>
                            <a:schemeClr val="tx1"/>
                          </a:solidFill>
                          <a:latin typeface="+mn-lt"/>
                          <a:ea typeface="+mn-ea"/>
                          <a:cs typeface="+mn-cs"/>
                        </a:rPr>
                        <a:t>년</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ImpltElgblRslt_ManufacturingofItemsUnderKrw1B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이행 적격심사 </a:t>
                      </a:r>
                      <a:r>
                        <a:rPr kumimoji="0" lang="ko-KR" altLang="en-US"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조건별</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ImpltElgblRslt_ManufacturingofItemsUnderKrw1B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0356552"/>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MUI-BD-10-T13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-10</a:t>
                      </a:r>
                      <a:r>
                        <a:rPr lang="ko-KR" altLang="en-US" sz="800" kern="1200" dirty="0">
                          <a:solidFill>
                            <a:schemeClr val="tx1"/>
                          </a:solidFill>
                          <a:latin typeface="+mn-lt"/>
                          <a:ea typeface="+mn-ea"/>
                          <a:cs typeface="+mn-cs"/>
                        </a:rPr>
                        <a:t>억원미만물품구매</a:t>
                      </a:r>
                      <a:r>
                        <a:rPr lang="en-US" altLang="ko-KR" sz="800" kern="1200" dirty="0">
                          <a:solidFill>
                            <a:schemeClr val="tx1"/>
                          </a:solidFill>
                          <a:latin typeface="+mn-lt"/>
                          <a:ea typeface="+mn-ea"/>
                          <a:cs typeface="+mn-cs"/>
                        </a:rPr>
                        <a:t>2018</a:t>
                      </a:r>
                      <a:r>
                        <a:rPr lang="ko-KR" altLang="en-US" sz="800" kern="1200" dirty="0">
                          <a:solidFill>
                            <a:schemeClr val="tx1"/>
                          </a:solidFill>
                          <a:latin typeface="+mn-lt"/>
                          <a:ea typeface="+mn-ea"/>
                          <a:cs typeface="+mn-cs"/>
                        </a:rPr>
                        <a:t>년</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ImpltElgblRslt_PurchaseofItemsUnderkrw1B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이행 적격심사 </a:t>
                      </a:r>
                      <a:r>
                        <a:rPr kumimoji="0" lang="ko-KR" altLang="en-US" sz="800" b="0" i="0" u="none" strike="noStrike" kern="1200" cap="none" spc="0" normalizeH="0" baseline="0" noProof="0" dirty="0" err="1" smtClean="0">
                          <a:ln>
                            <a:noFill/>
                          </a:ln>
                          <a:solidFill>
                            <a:prstClr val="black"/>
                          </a:solidFill>
                          <a:effectLst/>
                          <a:uLnTx/>
                          <a:uFillTx/>
                          <a:latin typeface="+mn-lt"/>
                          <a:ea typeface="맑은 고딕" panose="020B0503020000020004" pitchFamily="50" charset="-127"/>
                          <a:cs typeface="+mn-cs"/>
                        </a:rPr>
                        <a:t>조건별</a:t>
                      </a:r>
                      <a:r>
                        <a:rPr kumimoji="0" lang="ko-KR" altLang="en-US" sz="800" b="0" i="0" u="none" strike="noStrike" kern="1200" cap="none" spc="0" normalizeH="0" baseline="0" noProof="0" dirty="0" smtClean="0">
                          <a:ln>
                            <a:noFill/>
                          </a:ln>
                          <a:solidFill>
                            <a:prstClr val="black"/>
                          </a:solidFill>
                          <a:effectLst/>
                          <a:uLnTx/>
                          <a:uFillTx/>
                          <a:latin typeface="+mn-lt"/>
                          <a:ea typeface="맑은 고딕" panose="020B0503020000020004" pitchFamily="50" charset="-127"/>
                          <a:cs typeface="+mn-cs"/>
                        </a:rPr>
                        <a:t>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ImpltElgblRslt_PurchaseofItemsUnderkrw1B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0486078"/>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MUI-BD-10-T14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고시금액미만</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중기청</a:t>
                      </a:r>
                      <a:r>
                        <a:rPr lang="en-US" altLang="ko-KR" sz="800" kern="1200" dirty="0">
                          <a:solidFill>
                            <a:schemeClr val="tx1"/>
                          </a:solidFill>
                          <a:latin typeface="+mn-lt"/>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ImpltElgblRslt_BelowThreshold</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err="1" smtClean="0">
                          <a:solidFill>
                            <a:srgbClr val="000000"/>
                          </a:solidFill>
                          <a:effectLst/>
                          <a:latin typeface="+mn-lt"/>
                          <a:ea typeface="+mn-ea"/>
                        </a:rPr>
                        <a:t>ImpltElgblRslt_BelowThreshold</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873586"/>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MUI-BD-10-T15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고시금액이상</a:t>
                      </a:r>
                      <a:r>
                        <a:rPr lang="en-US" altLang="ko-KR" sz="800" kern="1200" dirty="0">
                          <a:solidFill>
                            <a:schemeClr val="tx1"/>
                          </a:solidFill>
                          <a:latin typeface="+mn-lt"/>
                          <a:ea typeface="+mn-ea"/>
                          <a:cs typeface="+mn-cs"/>
                        </a:rPr>
                        <a:t>10</a:t>
                      </a:r>
                      <a:r>
                        <a:rPr lang="ko-KR" altLang="en-US" sz="800" kern="1200" dirty="0" err="1">
                          <a:solidFill>
                            <a:schemeClr val="tx1"/>
                          </a:solidFill>
                          <a:latin typeface="+mn-lt"/>
                          <a:ea typeface="+mn-ea"/>
                          <a:cs typeface="+mn-cs"/>
                        </a:rPr>
                        <a:t>억원미만</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중기청</a:t>
                      </a:r>
                      <a:r>
                        <a:rPr lang="en-US" altLang="ko-KR" sz="800" kern="1200" dirty="0">
                          <a:solidFill>
                            <a:schemeClr val="tx1"/>
                          </a:solidFill>
                          <a:latin typeface="+mn-lt"/>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ImpltElgblRslt_ThresholdKrw1B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ImpltElgblRslt_ThresholdKrw1B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7836275"/>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MUI-BD-10-T16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smtClean="0">
                          <a:solidFill>
                            <a:schemeClr val="tx1"/>
                          </a:solidFill>
                          <a:latin typeface="+mn-lt"/>
                          <a:ea typeface="+mn-ea"/>
                          <a:cs typeface="+mn-cs"/>
                        </a:rPr>
                        <a:t>-10</a:t>
                      </a:r>
                      <a:r>
                        <a:rPr lang="ko-KR" altLang="en-US" sz="800" kern="1200" dirty="0" err="1">
                          <a:solidFill>
                            <a:schemeClr val="tx1"/>
                          </a:solidFill>
                          <a:latin typeface="+mn-lt"/>
                          <a:ea typeface="+mn-ea"/>
                          <a:cs typeface="+mn-cs"/>
                        </a:rPr>
                        <a:t>억원이상</a:t>
                      </a:r>
                      <a:r>
                        <a:rPr lang="en-US" altLang="ko-KR" sz="800" kern="1200" dirty="0">
                          <a:solidFill>
                            <a:schemeClr val="tx1"/>
                          </a:solidFill>
                          <a:latin typeface="+mn-lt"/>
                          <a:ea typeface="+mn-ea"/>
                          <a:cs typeface="+mn-cs"/>
                        </a:rPr>
                        <a:t>(</a:t>
                      </a:r>
                      <a:r>
                        <a:rPr lang="ko-KR" altLang="en-US" sz="800" kern="1200" dirty="0" err="1">
                          <a:solidFill>
                            <a:schemeClr val="tx1"/>
                          </a:solidFill>
                          <a:latin typeface="+mn-lt"/>
                          <a:ea typeface="+mn-ea"/>
                          <a:cs typeface="+mn-cs"/>
                        </a:rPr>
                        <a:t>중기청</a:t>
                      </a:r>
                      <a:r>
                        <a:rPr lang="en-US" altLang="ko-KR" sz="800" kern="1200" dirty="0">
                          <a:solidFill>
                            <a:schemeClr val="tx1"/>
                          </a:solidFill>
                          <a:latin typeface="+mn-lt"/>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ImpltElgblRslt_OverKrw1B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mn-lt"/>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bidRsltDtl</a:t>
                      </a:r>
                      <a:r>
                        <a:rPr lang="en-US" altLang="ko-KR" sz="800" dirty="0" smtClean="0">
                          <a:solidFill>
                            <a:schemeClr val="tx1"/>
                          </a:solidFill>
                          <a:latin typeface="+mn-lt"/>
                          <a:ea typeface="+mn-ea"/>
                        </a:rPr>
                        <a:t>/</a:t>
                      </a:r>
                      <a:r>
                        <a:rPr lang="en-US" altLang="ko-KR" sz="800" b="0" i="0" u="none" strike="noStrike" dirty="0" smtClean="0">
                          <a:solidFill>
                            <a:srgbClr val="000000"/>
                          </a:solidFill>
                          <a:effectLst/>
                          <a:latin typeface="+mn-lt"/>
                          <a:ea typeface="+mn-ea"/>
                        </a:rPr>
                        <a:t>ImpltElgblRslt_OverKrw1B</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lt"/>
                          <a:ea typeface="+mn-ea"/>
                        </a:rPr>
                        <a:t>UC-BD-14-02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03387012"/>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483457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837478510"/>
              </p:ext>
            </p:extLst>
          </p:nvPr>
        </p:nvGraphicFramePr>
        <p:xfrm>
          <a:off x="635474" y="1413419"/>
          <a:ext cx="8701200" cy="25785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50" b="0" i="0" u="none" strike="noStrike" dirty="0">
                          <a:solidFill>
                            <a:srgbClr val="000000"/>
                          </a:solidFill>
                          <a:effectLst/>
                          <a:latin typeface="맑은 고딕" panose="020B0503020000020004" pitchFamily="50" charset="-127"/>
                          <a:ea typeface="맑은 고딕" panose="020B0503020000020004" pitchFamily="50" charset="-127"/>
                        </a:rPr>
                        <a:t>MUI-BD-10-T17</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ea"/>
                          <a:ea typeface="+mn-ea"/>
                          <a:cs typeface="+mn-cs"/>
                        </a:rPr>
                        <a:t>-</a:t>
                      </a:r>
                      <a:r>
                        <a:rPr lang="ko-KR" altLang="en-US" sz="800" kern="1200" dirty="0" smtClean="0">
                          <a:solidFill>
                            <a:schemeClr val="tx1"/>
                          </a:solidFill>
                          <a:latin typeface="+mn-ea"/>
                          <a:ea typeface="+mn-ea"/>
                          <a:cs typeface="+mn-cs"/>
                        </a:rPr>
                        <a:t>공사</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ImpltElgblRslt_Cstrn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ImpltElgblRslt_Cstrn</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1602020"/>
                  </a:ext>
                </a:extLst>
              </a:tr>
              <a:tr h="180000">
                <a:tc>
                  <a:txBody>
                    <a:bodyPr/>
                    <a:lstStyle/>
                    <a:p>
                      <a:pPr algn="ctr" fontAlgn="ctr"/>
                      <a:r>
                        <a:rPr lang="en-US" sz="750" b="0" i="0" u="none" strike="noStrike">
                          <a:solidFill>
                            <a:srgbClr val="000000"/>
                          </a:solidFill>
                          <a:effectLst/>
                          <a:latin typeface="맑은 고딕" panose="020B0503020000020004" pitchFamily="50" charset="-127"/>
                          <a:ea typeface="맑은 고딕" panose="020B0503020000020004" pitchFamily="50" charset="-127"/>
                        </a:rPr>
                        <a:t>MUI-BD-10-T18</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ea"/>
                          <a:ea typeface="+mn-ea"/>
                          <a:cs typeface="+mn-cs"/>
                        </a:rPr>
                        <a:t>-</a:t>
                      </a:r>
                      <a:r>
                        <a:rPr lang="ko-KR" altLang="en-US" sz="800" kern="1200" dirty="0" smtClean="0">
                          <a:solidFill>
                            <a:schemeClr val="tx1"/>
                          </a:solidFill>
                          <a:latin typeface="+mn-ea"/>
                          <a:ea typeface="+mn-ea"/>
                          <a:cs typeface="+mn-cs"/>
                        </a:rPr>
                        <a:t>기술용역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ImpltElgblRslt_TechLbsvc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ImpltElgblRslt_TechLbsvc</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4595924"/>
                  </a:ext>
                </a:extLst>
              </a:tr>
              <a:tr h="180000">
                <a:tc>
                  <a:txBody>
                    <a:bodyPr/>
                    <a:lstStyle/>
                    <a:p>
                      <a:pPr algn="ctr" fontAlgn="ctr"/>
                      <a:r>
                        <a:rPr lang="en-US" sz="750" b="0" i="0" u="none" strike="noStrike">
                          <a:solidFill>
                            <a:srgbClr val="000000"/>
                          </a:solidFill>
                          <a:effectLst/>
                          <a:latin typeface="맑은 고딕" panose="020B0503020000020004" pitchFamily="50" charset="-127"/>
                          <a:ea typeface="맑은 고딕" panose="020B0503020000020004" pitchFamily="50" charset="-127"/>
                        </a:rPr>
                        <a:t>MUI-BD-10-T19</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ea"/>
                          <a:ea typeface="+mn-ea"/>
                          <a:cs typeface="+mn-cs"/>
                        </a:rPr>
                        <a:t>-3</a:t>
                      </a:r>
                      <a:r>
                        <a:rPr lang="ko-KR" altLang="en-US" sz="800" kern="1200" dirty="0">
                          <a:solidFill>
                            <a:schemeClr val="tx1"/>
                          </a:solidFill>
                          <a:latin typeface="+mn-ea"/>
                          <a:ea typeface="+mn-ea"/>
                          <a:cs typeface="+mn-cs"/>
                        </a:rPr>
                        <a:t>억원미만공사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ImpltElgblRslt_Krw300MCstrn</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r>
                        <a:rPr lang="en-US" altLang="ko-KR" sz="800" dirty="0" smtClean="0">
                          <a:solidFill>
                            <a:schemeClr val="tx1"/>
                          </a:solidFill>
                          <a:latin typeface="+mn-ea"/>
                          <a:ea typeface="+mn-ea"/>
                        </a:rPr>
                        <a:t>/</a:t>
                      </a:r>
                      <a:r>
                        <a:rPr lang="en-US" altLang="ko-KR" sz="800" b="0" i="0" u="none" strike="noStrike" dirty="0" smtClean="0">
                          <a:solidFill>
                            <a:srgbClr val="000000"/>
                          </a:solidFill>
                          <a:effectLst/>
                          <a:latin typeface="맑은 고딕" panose="020B0503020000020004" pitchFamily="50" charset="-127"/>
                          <a:ea typeface="+mn-ea"/>
                        </a:rPr>
                        <a:t>ImpltElgblRslt_Krw300MCstrn</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0006648"/>
                  </a:ext>
                </a:extLst>
              </a:tr>
              <a:tr h="180000">
                <a:tc>
                  <a:txBody>
                    <a:bodyPr/>
                    <a:lstStyle/>
                    <a:p>
                      <a:pPr algn="ctr" fontAlgn="ctr"/>
                      <a:r>
                        <a:rPr lang="en-US" sz="750" b="0" i="0" u="none" strike="noStrike">
                          <a:solidFill>
                            <a:srgbClr val="000000"/>
                          </a:solidFill>
                          <a:effectLst/>
                          <a:latin typeface="맑은 고딕" panose="020B0503020000020004" pitchFamily="50" charset="-127"/>
                          <a:ea typeface="맑은 고딕" panose="020B0503020000020004" pitchFamily="50" charset="-127"/>
                        </a:rPr>
                        <a:t>MUI-BD-10-T20</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ea"/>
                          <a:ea typeface="+mn-ea"/>
                          <a:cs typeface="+mn-cs"/>
                        </a:rPr>
                        <a:t>-</a:t>
                      </a:r>
                      <a:r>
                        <a:rPr lang="ko-KR" altLang="en-US" sz="800" kern="1200" dirty="0" smtClean="0">
                          <a:solidFill>
                            <a:schemeClr val="tx1"/>
                          </a:solidFill>
                          <a:latin typeface="+mn-ea"/>
                          <a:ea typeface="+mn-ea"/>
                          <a:cs typeface="+mn-cs"/>
                        </a:rPr>
                        <a:t>고시금액미만용역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ImpltElgblRslt_BelowThresholdLbsvc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입찰결과 상세에서 이행</a:t>
                      </a:r>
                      <a:r>
                        <a:rPr kumimoji="0" lang="en-US" altLang="ko-KR"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이행 적격심사 조건별 결과 표시</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ImpltElgblRslt_BelowThresholdLbsvc</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2534185"/>
                  </a:ext>
                </a:extLst>
              </a:tr>
              <a:tr h="180000">
                <a:tc>
                  <a:txBody>
                    <a:bodyPr/>
                    <a:lstStyle/>
                    <a:p>
                      <a:pPr algn="ctr" fontAlgn="ctr"/>
                      <a:r>
                        <a:rPr lang="en-US" sz="750" b="0" i="0" u="none" strike="noStrike" dirty="0">
                          <a:solidFill>
                            <a:srgbClr val="000000"/>
                          </a:solidFill>
                          <a:effectLst/>
                          <a:latin typeface="맑은 고딕" panose="020B0503020000020004" pitchFamily="50" charset="-127"/>
                          <a:ea typeface="맑은 고딕" panose="020B0503020000020004" pitchFamily="50" charset="-127"/>
                        </a:rPr>
                        <a:t>MUI-BD-10-T21</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고시금액미만폐기물용역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ImpltElgblRslt_BelowThresholdDspLbsvc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입찰결과 상세에서 이행</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적격심사결과가 있는 경우 노출되는 탭 화면</a:t>
                      </a:r>
                      <a:endPar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이행 적격심사 </a:t>
                      </a:r>
                      <a:r>
                        <a:rPr kumimoji="0" lang="ko-KR" altLang="en-US"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조건별</a:t>
                      </a:r>
                      <a:r>
                        <a:rPr kumimoji="0" lang="ko-KR" altLang="en-US"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 결과 표시</a:t>
                      </a:r>
                      <a:endParaRPr kumimoji="0" lang="ko-KR" altLang="en-US" sz="8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ImpltElgblRslt_BelowThresholdDspLbsvc</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r h="180000">
                <a:tc>
                  <a:txBody>
                    <a:bodyPr/>
                    <a:lstStyle/>
                    <a:p>
                      <a:pPr algn="ctr" fontAlgn="ctr"/>
                      <a:r>
                        <a:rPr lang="en-US" sz="700" kern="1200" dirty="0" smtClean="0">
                          <a:solidFill>
                            <a:schemeClr val="tx1"/>
                          </a:solidFill>
                          <a:latin typeface="+mn-ea"/>
                          <a:ea typeface="+mn-ea"/>
                          <a:cs typeface="+mn-cs"/>
                        </a:rPr>
                        <a:t>MUI-BD-10-P02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ImpltElgbSrngAbndAply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적격심사제 공고 건에 대해 업체담당자가 이행</a:t>
                      </a:r>
                      <a:r>
                        <a:rPr lang="en-US" altLang="ko-KR" sz="800" dirty="0"/>
                        <a:t>/</a:t>
                      </a:r>
                      <a:r>
                        <a:rPr lang="ko-KR" altLang="en-US" sz="800" dirty="0"/>
                        <a:t>적격심사 포기 신청하는 팝업화면이다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bidRsltDtl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ImpltElgblRslt_BelowThresholdDspLbsvc</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79532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724451"/>
            <a:ext cx="8640000" cy="860611"/>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err="1">
                <a:solidFill>
                  <a:srgbClr val="0000FF"/>
                </a:solidFill>
                <a:latin typeface="+mn-ea"/>
              </a:rPr>
              <a:t>개찰일시가</a:t>
            </a:r>
            <a:r>
              <a:rPr lang="ko-KR" altLang="en-US" sz="800" kern="0" dirty="0">
                <a:solidFill>
                  <a:srgbClr val="0000FF"/>
                </a:solidFill>
                <a:latin typeface="+mn-ea"/>
              </a:rPr>
              <a:t> 지난 항목</a:t>
            </a:r>
            <a:r>
              <a:rPr lang="en-US" altLang="ko-KR" sz="800" kern="0" dirty="0">
                <a:solidFill>
                  <a:srgbClr val="0000FF"/>
                </a:solidFill>
                <a:latin typeface="+mn-ea"/>
              </a:rPr>
              <a:t>, </a:t>
            </a:r>
            <a:r>
              <a:rPr lang="ko-KR" altLang="en-US" sz="800" kern="0" dirty="0" err="1">
                <a:solidFill>
                  <a:srgbClr val="0000FF"/>
                </a:solidFill>
                <a:latin typeface="+mn-ea"/>
              </a:rPr>
              <a:t>개찰된</a:t>
            </a:r>
            <a:r>
              <a:rPr lang="ko-KR" altLang="en-US" sz="800" kern="0" dirty="0">
                <a:solidFill>
                  <a:srgbClr val="0000FF"/>
                </a:solidFill>
                <a:latin typeface="+mn-ea"/>
              </a:rPr>
              <a:t> 항목이 개찰 목록에 표시됩니다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strike="sngStrike" kern="0" dirty="0">
                <a:solidFill>
                  <a:srgbClr val="0000FF"/>
                </a:solidFill>
                <a:latin typeface="+mn-ea"/>
              </a:rPr>
              <a:t>앱에서는 업체가 신청한 대상 공고의 개찰 항목만 표시합니다</a:t>
            </a:r>
            <a:r>
              <a:rPr lang="en-US" altLang="ko-KR" sz="800" strike="sngStrike" kern="0" dirty="0">
                <a:solidFill>
                  <a:srgbClr val="0000FF"/>
                </a:solidFill>
                <a:latin typeface="+mn-ea"/>
              </a:rPr>
              <a:t>. (</a:t>
            </a:r>
            <a:r>
              <a:rPr lang="ko-KR" altLang="en-US" sz="800" strike="sngStrike" kern="0" dirty="0" err="1">
                <a:solidFill>
                  <a:srgbClr val="0000FF"/>
                </a:solidFill>
                <a:latin typeface="+mn-ea"/>
              </a:rPr>
              <a:t>계약관이</a:t>
            </a:r>
            <a:r>
              <a:rPr lang="ko-KR" altLang="en-US" sz="800" strike="sngStrike" kern="0" dirty="0">
                <a:solidFill>
                  <a:srgbClr val="0000FF"/>
                </a:solidFill>
                <a:latin typeface="+mn-ea"/>
              </a:rPr>
              <a:t> 앱에 로그인하더라도 조회 정보가 없으며</a:t>
            </a:r>
            <a:r>
              <a:rPr lang="en-US" altLang="ko-KR" sz="800" strike="sngStrike" kern="0" dirty="0">
                <a:solidFill>
                  <a:srgbClr val="0000FF"/>
                </a:solidFill>
                <a:latin typeface="+mn-ea"/>
              </a:rPr>
              <a:t>,</a:t>
            </a:r>
            <a:r>
              <a:rPr lang="ko-KR" altLang="en-US" sz="800" strike="sngStrike" kern="0" dirty="0">
                <a:solidFill>
                  <a:srgbClr val="0000FF"/>
                </a:solidFill>
                <a:latin typeface="+mn-ea"/>
              </a:rPr>
              <a:t> </a:t>
            </a:r>
            <a:r>
              <a:rPr lang="en-US" altLang="ko-KR" sz="800" strike="sngStrike" kern="0" dirty="0">
                <a:solidFill>
                  <a:srgbClr val="0000FF"/>
                </a:solidFill>
                <a:latin typeface="+mn-ea"/>
              </a:rPr>
              <a:t>PC</a:t>
            </a:r>
            <a:r>
              <a:rPr lang="ko-KR" altLang="en-US" sz="800" strike="sngStrike" kern="0" dirty="0">
                <a:solidFill>
                  <a:srgbClr val="0000FF"/>
                </a:solidFill>
                <a:latin typeface="+mn-ea"/>
              </a:rPr>
              <a:t>에서 업무를 처리해야 합니다</a:t>
            </a:r>
            <a:r>
              <a:rPr lang="en-US" altLang="ko-KR" sz="800" strike="sngStrike"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FF0000"/>
                </a:solidFill>
                <a:latin typeface="+mn-ea"/>
              </a:rPr>
              <a:t>모든 사용자가 </a:t>
            </a:r>
            <a:r>
              <a:rPr lang="ko-KR" altLang="en-US" sz="800" kern="0" dirty="0" err="1" smtClean="0">
                <a:solidFill>
                  <a:srgbClr val="FF0000"/>
                </a:solidFill>
                <a:latin typeface="+mn-ea"/>
              </a:rPr>
              <a:t>개찰항목을</a:t>
            </a:r>
            <a:r>
              <a:rPr lang="ko-KR" altLang="en-US" sz="800" kern="0" dirty="0" smtClean="0">
                <a:solidFill>
                  <a:srgbClr val="FF0000"/>
                </a:solidFill>
                <a:latin typeface="+mn-ea"/>
              </a:rPr>
              <a:t> 볼 수 있습니다</a:t>
            </a:r>
            <a:r>
              <a:rPr lang="en-US" altLang="ko-KR" sz="800" kern="0" dirty="0" smtClean="0">
                <a:solidFill>
                  <a:srgbClr val="FF0000"/>
                </a:solidFill>
                <a:latin typeface="+mn-ea"/>
              </a:rPr>
              <a:t>. (</a:t>
            </a:r>
            <a:r>
              <a:rPr lang="ko-KR" altLang="en-US" sz="800" kern="0" dirty="0" smtClean="0">
                <a:solidFill>
                  <a:srgbClr val="FF0000"/>
                </a:solidFill>
                <a:latin typeface="+mn-ea"/>
              </a:rPr>
              <a:t>암호화 항목에 따라 </a:t>
            </a:r>
            <a:r>
              <a:rPr lang="ko-KR" altLang="en-US" sz="800" kern="0" dirty="0" err="1" smtClean="0">
                <a:solidFill>
                  <a:srgbClr val="FF0000"/>
                </a:solidFill>
                <a:latin typeface="+mn-ea"/>
              </a:rPr>
              <a:t>특정정보는</a:t>
            </a:r>
            <a:r>
              <a:rPr lang="ko-KR" altLang="en-US" sz="800" kern="0" dirty="0" smtClean="0">
                <a:solidFill>
                  <a:srgbClr val="FF0000"/>
                </a:solidFill>
                <a:latin typeface="+mn-ea"/>
              </a:rPr>
              <a:t> </a:t>
            </a:r>
            <a:r>
              <a:rPr lang="ko-KR" altLang="en-US" sz="800" kern="0" dirty="0" err="1" smtClean="0">
                <a:solidFill>
                  <a:srgbClr val="FF0000"/>
                </a:solidFill>
                <a:latin typeface="+mn-ea"/>
              </a:rPr>
              <a:t>마스킹</a:t>
            </a:r>
            <a:r>
              <a:rPr lang="ko-KR" altLang="en-US" sz="800" kern="0" dirty="0" smtClean="0">
                <a:solidFill>
                  <a:srgbClr val="FF0000"/>
                </a:solidFill>
                <a:latin typeface="+mn-ea"/>
              </a:rPr>
              <a:t> 됩니다</a:t>
            </a:r>
            <a:r>
              <a:rPr lang="en-US" altLang="ko-KR" sz="800" kern="0" dirty="0" smtClean="0">
                <a:solidFill>
                  <a:srgbClr val="FF0000"/>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입찰결과상세와 </a:t>
            </a:r>
            <a:r>
              <a:rPr lang="ko-KR" altLang="en-US" sz="800" kern="0" dirty="0">
                <a:solidFill>
                  <a:srgbClr val="0000FF"/>
                </a:solidFill>
                <a:latin typeface="+mn-ea"/>
              </a:rPr>
              <a:t>이행</a:t>
            </a:r>
            <a:r>
              <a:rPr lang="en-US" altLang="ko-KR" sz="800" kern="0" dirty="0">
                <a:solidFill>
                  <a:srgbClr val="0000FF"/>
                </a:solidFill>
                <a:latin typeface="+mn-ea"/>
              </a:rPr>
              <a:t>/</a:t>
            </a:r>
            <a:r>
              <a:rPr lang="ko-KR" altLang="en-US" sz="800" kern="0" dirty="0">
                <a:solidFill>
                  <a:srgbClr val="0000FF"/>
                </a:solidFill>
                <a:latin typeface="+mn-ea"/>
              </a:rPr>
              <a:t>적격심사상세에서는 로그인한 사용자가 신청한 조건에 맞는 결과가 표시됩니다</a:t>
            </a:r>
            <a:r>
              <a:rPr lang="en-US" altLang="ko-KR" sz="800" kern="0" dirty="0">
                <a:solidFill>
                  <a:srgbClr val="0000FF"/>
                </a:solidFill>
                <a:latin typeface="+mn-ea"/>
              </a:rPr>
              <a:t>. (</a:t>
            </a:r>
            <a:r>
              <a:rPr lang="ko-KR" altLang="en-US" sz="800" kern="0" dirty="0">
                <a:solidFill>
                  <a:srgbClr val="0000FF"/>
                </a:solidFill>
                <a:latin typeface="+mn-ea"/>
              </a:rPr>
              <a:t>물품</a:t>
            </a:r>
            <a:r>
              <a:rPr lang="en-US" altLang="ko-KR" sz="800" kern="0" dirty="0">
                <a:solidFill>
                  <a:srgbClr val="0000FF"/>
                </a:solidFill>
                <a:latin typeface="+mn-ea"/>
              </a:rPr>
              <a:t>, </a:t>
            </a:r>
            <a:r>
              <a:rPr lang="ko-KR" altLang="en-US" sz="800" kern="0" dirty="0">
                <a:solidFill>
                  <a:srgbClr val="0000FF"/>
                </a:solidFill>
                <a:latin typeface="+mn-ea"/>
              </a:rPr>
              <a:t>제조</a:t>
            </a:r>
            <a:r>
              <a:rPr lang="en-US" altLang="ko-KR" sz="800" kern="0" dirty="0">
                <a:solidFill>
                  <a:srgbClr val="0000FF"/>
                </a:solidFill>
                <a:latin typeface="+mn-ea"/>
              </a:rPr>
              <a:t>, </a:t>
            </a:r>
            <a:r>
              <a:rPr lang="ko-KR" altLang="en-US" sz="800" kern="0" dirty="0">
                <a:solidFill>
                  <a:srgbClr val="0000FF"/>
                </a:solidFill>
                <a:latin typeface="+mn-ea"/>
              </a:rPr>
              <a:t>용역 등</a:t>
            </a:r>
            <a:r>
              <a:rPr lang="en-US" altLang="ko-KR" sz="800" kern="0" dirty="0">
                <a:solidFill>
                  <a:srgbClr val="0000FF"/>
                </a:solidFill>
                <a:latin typeface="+mn-ea"/>
              </a:rPr>
              <a:t>…)</a:t>
            </a:r>
            <a:endParaRPr lang="ko-KR" altLang="en-US" sz="800" kern="0" dirty="0">
              <a:solidFill>
                <a:srgbClr val="0000FF"/>
              </a:solidFill>
              <a:latin typeface="+mn-ea"/>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019263" y="151485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p>
        </p:txBody>
      </p: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적격심사포기신청</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60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적격심사상세</a:t>
            </a: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적격심사결과상세</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flipV="1">
            <a:off x="5097742" y="1770026"/>
            <a:ext cx="931134" cy="293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318C69C-3BF9-3FF8-F913-DA1CC0300DED}"/>
              </a:ext>
            </a:extLst>
          </p:cNvPr>
          <p:cNvSpPr/>
          <p:nvPr/>
        </p:nvSpPr>
        <p:spPr>
          <a:xfrm>
            <a:off x="6028876" y="1514853"/>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심사신청</a:t>
            </a:r>
          </a:p>
        </p:txBody>
      </p:sp>
      <p:sp>
        <p:nvSpPr>
          <p:cNvPr id="54" name="직사각형 53">
            <a:extLst>
              <a:ext uri="{FF2B5EF4-FFF2-40B4-BE49-F238E27FC236}">
                <a16:creationId xmlns:a16="http://schemas.microsoft.com/office/drawing/2014/main" id="{258BB724-EC35-A0BF-4D6C-38BE241B5750}"/>
              </a:ext>
            </a:extLst>
          </p:cNvPr>
          <p:cNvSpPr/>
          <p:nvPr/>
        </p:nvSpPr>
        <p:spPr>
          <a:xfrm>
            <a:off x="6028876" y="2183646"/>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심사결과</a:t>
            </a:r>
          </a:p>
        </p:txBody>
      </p:sp>
      <p:sp>
        <p:nvSpPr>
          <p:cNvPr id="56" name="직사각형 55">
            <a:extLst>
              <a:ext uri="{FF2B5EF4-FFF2-40B4-BE49-F238E27FC236}">
                <a16:creationId xmlns:a16="http://schemas.microsoft.com/office/drawing/2014/main" id="{692BD357-31A7-FEC9-C94B-D5945BF4CD86}"/>
              </a:ext>
            </a:extLst>
          </p:cNvPr>
          <p:cNvSpPr/>
          <p:nvPr/>
        </p:nvSpPr>
        <p:spPr>
          <a:xfrm>
            <a:off x="6028875" y="2880457"/>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심사포기</a:t>
            </a:r>
          </a:p>
        </p:txBody>
      </p:sp>
      <p:sp>
        <p:nvSpPr>
          <p:cNvPr id="57" name="직사각형 56">
            <a:extLst>
              <a:ext uri="{FF2B5EF4-FFF2-40B4-BE49-F238E27FC236}">
                <a16:creationId xmlns:a16="http://schemas.microsoft.com/office/drawing/2014/main" id="{7FFBDDBA-B26E-A1E6-4903-3B865873F886}"/>
              </a:ext>
            </a:extLst>
          </p:cNvPr>
          <p:cNvSpPr/>
          <p:nvPr/>
        </p:nvSpPr>
        <p:spPr>
          <a:xfrm>
            <a:off x="7860010" y="188634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58" name="그룹 57">
            <a:extLst>
              <a:ext uri="{FF2B5EF4-FFF2-40B4-BE49-F238E27FC236}">
                <a16:creationId xmlns:a16="http://schemas.microsoft.com/office/drawing/2014/main" id="{3B14FB42-9EA6-D6BE-9D79-80F84E59F0B5}"/>
              </a:ext>
            </a:extLst>
          </p:cNvPr>
          <p:cNvGrpSpPr/>
          <p:nvPr/>
        </p:nvGrpSpPr>
        <p:grpSpPr>
          <a:xfrm>
            <a:off x="7889007" y="1680026"/>
            <a:ext cx="180000" cy="180000"/>
            <a:chOff x="5058274" y="2498299"/>
            <a:chExt cx="180000" cy="180000"/>
          </a:xfrm>
        </p:grpSpPr>
        <p:sp>
          <p:nvSpPr>
            <p:cNvPr id="59" name="타원 58">
              <a:extLst>
                <a:ext uri="{FF2B5EF4-FFF2-40B4-BE49-F238E27FC236}">
                  <a16:creationId xmlns:a16="http://schemas.microsoft.com/office/drawing/2014/main" id="{C2B12807-6CAB-89AA-5B30-B0CAC9DEC5B4}"/>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타원 59">
              <a:extLst>
                <a:ext uri="{FF2B5EF4-FFF2-40B4-BE49-F238E27FC236}">
                  <a16:creationId xmlns:a16="http://schemas.microsoft.com/office/drawing/2014/main" id="{A2BFCECD-769F-358A-F7D7-332DE7E1B466}"/>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2" name="직선 화살표 연결선 61">
            <a:extLst>
              <a:ext uri="{FF2B5EF4-FFF2-40B4-BE49-F238E27FC236}">
                <a16:creationId xmlns:a16="http://schemas.microsoft.com/office/drawing/2014/main" id="{9A519F08-B829-E35F-09D8-DFCD1F68B911}"/>
              </a:ext>
            </a:extLst>
          </p:cNvPr>
          <p:cNvCxnSpPr>
            <a:cxnSpLocks/>
            <a:stCxn id="24" idx="3"/>
            <a:endCxn id="59" idx="2"/>
          </p:cNvCxnSpPr>
          <p:nvPr/>
        </p:nvCxnSpPr>
        <p:spPr>
          <a:xfrm>
            <a:off x="6928876" y="1770026"/>
            <a:ext cx="96013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5" name="연결선: 꺾임 7">
            <a:extLst>
              <a:ext uri="{FF2B5EF4-FFF2-40B4-BE49-F238E27FC236}">
                <a16:creationId xmlns:a16="http://schemas.microsoft.com/office/drawing/2014/main" id="{89A2D828-4C18-4F90-6B31-722E89773AA8}"/>
              </a:ext>
            </a:extLst>
          </p:cNvPr>
          <p:cNvCxnSpPr>
            <a:cxnSpLocks/>
            <a:stCxn id="25" idx="3"/>
            <a:endCxn id="59" idx="2"/>
          </p:cNvCxnSpPr>
          <p:nvPr/>
        </p:nvCxnSpPr>
        <p:spPr>
          <a:xfrm flipV="1">
            <a:off x="6928876" y="1770026"/>
            <a:ext cx="960131" cy="68220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연결선: 꺾임 7">
            <a:extLst>
              <a:ext uri="{FF2B5EF4-FFF2-40B4-BE49-F238E27FC236}">
                <a16:creationId xmlns:a16="http://schemas.microsoft.com/office/drawing/2014/main" id="{89A2D828-4C18-4F90-6B31-722E89773AA8}"/>
              </a:ext>
            </a:extLst>
          </p:cNvPr>
          <p:cNvCxnSpPr>
            <a:cxnSpLocks/>
            <a:stCxn id="23" idx="3"/>
            <a:endCxn id="59" idx="2"/>
          </p:cNvCxnSpPr>
          <p:nvPr/>
        </p:nvCxnSpPr>
        <p:spPr>
          <a:xfrm flipV="1">
            <a:off x="6928876" y="1770026"/>
            <a:ext cx="960131" cy="13609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9355831"/>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15" name="직사각형 1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(1/5)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006967" y="2671789"/>
            <a:ext cx="1801635"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1100" dirty="0">
                <a:solidFill>
                  <a:schemeClr val="tx1"/>
                </a:solidFill>
              </a:rPr>
              <a:t>&lt;&lt;App Page&gt;&gt;</a:t>
            </a:r>
          </a:p>
          <a:p>
            <a:pPr algn="ctr"/>
            <a:r>
              <a:rPr lang="ko-KR" altLang="en-US" sz="1100" dirty="0" err="1">
                <a:solidFill>
                  <a:schemeClr val="tx1"/>
                </a:solidFill>
              </a:rPr>
              <a:t>개찰목록</a:t>
            </a:r>
            <a:endParaRPr lang="en-US" altLang="ko-KR" sz="1100" dirty="0">
              <a:solidFill>
                <a:schemeClr val="tx1"/>
              </a:solidFill>
            </a:endParaRPr>
          </a:p>
          <a:p>
            <a:pPr algn="ctr"/>
            <a:r>
              <a:rPr lang="en-US" altLang="ko-KR" sz="1100" dirty="0">
                <a:solidFill>
                  <a:schemeClr val="tx1"/>
                </a:solidFill>
                <a:latin typeface="Calibri" panose="020F0502020204030204" pitchFamily="34" charset="0"/>
              </a:rPr>
              <a:t>BdopnListPage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808602" y="2990173"/>
            <a:ext cx="1151488"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780075" y="2990174"/>
            <a:ext cx="1133343"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1.3.1 </a:t>
            </a:r>
            <a:r>
              <a:rPr lang="ko-KR" altLang="en-US" sz="1200" dirty="0" err="1">
                <a:solidFill>
                  <a:schemeClr val="tx1"/>
                </a:solidFill>
              </a:rPr>
              <a:t>개찰목록</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FD7B626-4B5C-AE29-EFB9-628750B32B78}"/>
              </a:ext>
            </a:extLst>
          </p:cNvPr>
          <p:cNvSpPr/>
          <p:nvPr/>
        </p:nvSpPr>
        <p:spPr>
          <a:xfrm>
            <a:off x="1006967" y="3626941"/>
            <a:ext cx="1801635"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solidFill>
                  <a:schemeClr val="tx1"/>
                </a:solidFill>
              </a:rPr>
              <a:t>&lt;&lt;App Page&gt;&gt;</a:t>
            </a:r>
          </a:p>
          <a:p>
            <a:pPr algn="ctr"/>
            <a:r>
              <a:rPr lang="ko-KR" altLang="en-US" sz="1100" dirty="0" err="1">
                <a:solidFill>
                  <a:schemeClr val="tx1"/>
                </a:solidFill>
              </a:rPr>
              <a:t>검색필터</a:t>
            </a:r>
            <a:r>
              <a:rPr lang="en-US" altLang="ko-KR" sz="1100" dirty="0">
                <a:solidFill>
                  <a:schemeClr val="tx1"/>
                </a:solidFill>
              </a:rPr>
              <a:t>-</a:t>
            </a:r>
            <a:r>
              <a:rPr lang="ko-KR" altLang="en-US" sz="1100" dirty="0">
                <a:solidFill>
                  <a:schemeClr val="tx1"/>
                </a:solidFill>
              </a:rPr>
              <a:t>개찰</a:t>
            </a:r>
            <a:endParaRPr lang="en-US" altLang="ko-KR" sz="1100" dirty="0">
              <a:solidFill>
                <a:schemeClr val="tx1"/>
              </a:solidFill>
            </a:endParaRPr>
          </a:p>
          <a:p>
            <a:pPr algn="ctr"/>
            <a:r>
              <a:rPr lang="en-US" altLang="ko-KR" sz="1100" dirty="0">
                <a:solidFill>
                  <a:schemeClr val="tx1"/>
                </a:solidFill>
                <a:latin typeface="Calibri" panose="020F0502020204030204" pitchFamily="34" charset="0"/>
              </a:rPr>
              <a:t>BdopnRsltList_SrchFilter</a:t>
            </a:r>
            <a:r>
              <a:rPr lang="en-US" altLang="ko-KR" sz="1100" dirty="0" smtClean="0">
                <a:solidFill>
                  <a:schemeClr val="tx1"/>
                </a:solidFill>
              </a:rPr>
              <a:t>.tsx</a:t>
            </a:r>
            <a:r>
              <a:rPr lang="en-US" altLang="ko-KR" sz="1100" b="1" baseline="30000" dirty="0" smtClean="0">
                <a:solidFill>
                  <a:schemeClr val="tx1"/>
                </a:solidFill>
                <a:latin typeface="+mn-ea"/>
              </a:rPr>
              <a:t>1</a:t>
            </a:r>
            <a:r>
              <a:rPr lang="en-US" altLang="ko-KR" sz="1100" b="1" baseline="30000" dirty="0">
                <a:solidFill>
                  <a:schemeClr val="tx1"/>
                </a:solidFill>
                <a:latin typeface="+mn-ea"/>
              </a:rPr>
              <a:t>)</a:t>
            </a:r>
            <a:endParaRPr lang="en-US" altLang="ko-KR" sz="1100" dirty="0">
              <a:solidFill>
                <a:schemeClr val="tx1"/>
              </a:solidFill>
            </a:endParaRPr>
          </a:p>
        </p:txBody>
      </p:sp>
      <p:cxnSp>
        <p:nvCxnSpPr>
          <p:cNvPr id="19" name="직선 화살표 연결선 18">
            <a:extLst>
              <a:ext uri="{FF2B5EF4-FFF2-40B4-BE49-F238E27FC236}">
                <a16:creationId xmlns:a16="http://schemas.microsoft.com/office/drawing/2014/main" id="{8DD2481F-89D8-25C0-6E6F-7535C857EB4B}"/>
              </a:ext>
            </a:extLst>
          </p:cNvPr>
          <p:cNvCxnSpPr>
            <a:stCxn id="18" idx="3"/>
            <a:endCxn id="9" idx="1"/>
          </p:cNvCxnSpPr>
          <p:nvPr/>
        </p:nvCxnSpPr>
        <p:spPr>
          <a:xfrm flipV="1">
            <a:off x="2808602" y="2990174"/>
            <a:ext cx="1151488" cy="9551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443786109"/>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15" name="직사각형 1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16" name="직사각형 15">
            <a:extLst>
              <a:ext uri="{FF2B5EF4-FFF2-40B4-BE49-F238E27FC236}">
                <a16:creationId xmlns:a16="http://schemas.microsoft.com/office/drawing/2014/main" id="{3FD7B626-4B5C-AE29-EFB9-628750B32B78}"/>
              </a:ext>
            </a:extLst>
          </p:cNvPr>
          <p:cNvSpPr/>
          <p:nvPr/>
        </p:nvSpPr>
        <p:spPr>
          <a:xfrm>
            <a:off x="1006967" y="172934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입찰결과상세</a:t>
            </a:r>
            <a:endParaRPr lang="en-US" altLang="ko-KR" sz="1050" dirty="0">
              <a:solidFill>
                <a:schemeClr val="tx1"/>
              </a:solidFill>
            </a:endParaRPr>
          </a:p>
          <a:p>
            <a:pPr algn="ctr"/>
            <a:r>
              <a:rPr lang="en-US" altLang="ko-KR" sz="1050" dirty="0">
                <a:solidFill>
                  <a:schemeClr val="tx1"/>
                </a:solidFill>
                <a:latin typeface="+mn-ea"/>
              </a:rPr>
              <a:t>BidRsltDtl</a:t>
            </a:r>
            <a:r>
              <a:rPr lang="en-US" altLang="ko-KR" sz="1050" dirty="0">
                <a:solidFill>
                  <a:schemeClr val="tx1"/>
                </a:solidFill>
                <a:latin typeface="Calibri" panose="020F0502020204030204" pitchFamily="34" charset="0"/>
              </a:rPr>
              <a: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18" name="직사각형 17">
            <a:extLst>
              <a:ext uri="{FF2B5EF4-FFF2-40B4-BE49-F238E27FC236}">
                <a16:creationId xmlns:a16="http://schemas.microsoft.com/office/drawing/2014/main" id="{04F2CFBC-290B-2E89-63C0-62C22747051D}"/>
              </a:ext>
            </a:extLst>
          </p:cNvPr>
          <p:cNvSpPr/>
          <p:nvPr/>
        </p:nvSpPr>
        <p:spPr>
          <a:xfrm>
            <a:off x="1006967" y="22526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일반정보</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BidRsltDtlPage_Info</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19" name="직사각형 18">
            <a:extLst>
              <a:ext uri="{FF2B5EF4-FFF2-40B4-BE49-F238E27FC236}">
                <a16:creationId xmlns:a16="http://schemas.microsoft.com/office/drawing/2014/main" id="{326CB017-8967-4DC4-0EAD-ADB3B9EAB841}"/>
              </a:ext>
            </a:extLst>
          </p:cNvPr>
          <p:cNvSpPr/>
          <p:nvPr/>
        </p:nvSpPr>
        <p:spPr>
          <a:xfrm>
            <a:off x="1006967" y="277586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품목정보</a:t>
            </a:r>
            <a:endParaRPr lang="en-US" altLang="ko-KR" sz="1050" dirty="0">
              <a:solidFill>
                <a:schemeClr val="tx1"/>
              </a:solidFill>
            </a:endParaRPr>
          </a:p>
          <a:p>
            <a:pPr algn="ctr"/>
            <a:r>
              <a:rPr lang="en-US" altLang="ko-KR" sz="1050" dirty="0">
                <a:solidFill>
                  <a:schemeClr val="tx1"/>
                </a:solidFill>
                <a:latin typeface="+mn-ea"/>
              </a:rPr>
              <a:t>BidRsltDtlListPage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006967" y="330511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입찰결과</a:t>
            </a:r>
            <a:endParaRPr lang="en-US" altLang="ko-KR" sz="1050" dirty="0">
              <a:solidFill>
                <a:schemeClr val="tx1"/>
              </a:solidFill>
            </a:endParaRPr>
          </a:p>
          <a:p>
            <a:pPr algn="ctr"/>
            <a:r>
              <a:rPr lang="en-US" altLang="ko-KR" sz="1050" dirty="0">
                <a:solidFill>
                  <a:schemeClr val="tx1"/>
                </a:solidFill>
                <a:latin typeface="+mn-ea"/>
              </a:rPr>
              <a:t>BidRsltDtl</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006967" y="3834358"/>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smtClean="0">
                <a:solidFill>
                  <a:schemeClr val="tx1"/>
                </a:solidFill>
              </a:rPr>
              <a:t>&lt;&lt;App Page&gt;&gt;</a:t>
            </a:r>
          </a:p>
          <a:p>
            <a:pPr algn="ctr"/>
            <a:r>
              <a:rPr lang="ko-KR" altLang="en-US" sz="1050" dirty="0" smtClean="0">
                <a:solidFill>
                  <a:schemeClr val="tx1"/>
                </a:solidFill>
              </a:rPr>
              <a:t>협상결과</a:t>
            </a:r>
            <a:endParaRPr lang="en-US" altLang="ko-KR" sz="1050" dirty="0" smtClean="0">
              <a:solidFill>
                <a:schemeClr val="tx1"/>
              </a:solidFill>
            </a:endParaRPr>
          </a:p>
          <a:p>
            <a:pPr algn="ctr"/>
            <a:r>
              <a:rPr lang="en-US" altLang="ko-KR" sz="1050" dirty="0" smtClean="0">
                <a:solidFill>
                  <a:schemeClr val="tx1"/>
                </a:solidFill>
                <a:latin typeface="+mn-ea"/>
              </a:rPr>
              <a:t>BidRsltDtl2</a:t>
            </a:r>
            <a:r>
              <a:rPr lang="en-US" altLang="ko-KR" sz="1050" dirty="0" smtClean="0">
                <a:solidFill>
                  <a:schemeClr val="tx1"/>
                </a:solidFill>
              </a:rPr>
              <a:t>.tsx</a:t>
            </a:r>
            <a:r>
              <a:rPr lang="en-US" altLang="ko-KR" sz="1050" b="1" baseline="30000" dirty="0" smtClean="0">
                <a:solidFill>
                  <a:schemeClr val="tx1"/>
                </a:solidFill>
                <a:latin typeface="+mn-ea"/>
              </a:rPr>
              <a:t>1)</a:t>
            </a:r>
            <a:endParaRPr lang="en-US" altLang="ko-KR" sz="1050" dirty="0">
              <a:solidFill>
                <a:schemeClr val="tx1"/>
              </a:solidFill>
            </a:endParaRP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smtClean="0"/>
              <a:t>(2/5</a:t>
            </a:r>
            <a:r>
              <a:rPr lang="en-US" altLang="ko-KR" dirty="0"/>
              <a:t>)</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a:t>BidRsltController</a:t>
            </a:r>
            <a:endParaRPr lang="en-US" altLang="ko-KR" sz="1100" dirty="0"/>
          </a:p>
        </p:txBody>
      </p: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780075" y="2990174"/>
            <a:ext cx="1133343"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1.3.1 </a:t>
            </a:r>
            <a:r>
              <a:rPr lang="ko-KR" altLang="en-US" sz="1200" dirty="0" smtClean="0">
                <a:solidFill>
                  <a:schemeClr val="tx1"/>
                </a:solidFill>
              </a:rPr>
              <a:t>입찰결과</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16" idx="3"/>
            <a:endCxn id="9" idx="1"/>
          </p:cNvCxnSpPr>
          <p:nvPr/>
        </p:nvCxnSpPr>
        <p:spPr>
          <a:xfrm>
            <a:off x="2808602" y="1949750"/>
            <a:ext cx="1151488"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8DD2481F-89D8-25C0-6E6F-7535C857EB4B}"/>
              </a:ext>
            </a:extLst>
          </p:cNvPr>
          <p:cNvCxnSpPr>
            <a:stCxn id="18" idx="3"/>
          </p:cNvCxnSpPr>
          <p:nvPr/>
        </p:nvCxnSpPr>
        <p:spPr>
          <a:xfrm>
            <a:off x="2808602" y="2473010"/>
            <a:ext cx="1151488"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19" idx="3"/>
            <a:endCxn id="9" idx="1"/>
          </p:cNvCxnSpPr>
          <p:nvPr/>
        </p:nvCxnSpPr>
        <p:spPr>
          <a:xfrm flipV="1">
            <a:off x="2808602" y="2990174"/>
            <a:ext cx="1151488"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8DD2481F-89D8-25C0-6E6F-7535C857EB4B}"/>
              </a:ext>
            </a:extLst>
          </p:cNvPr>
          <p:cNvCxnSpPr>
            <a:stCxn id="20" idx="3"/>
            <a:endCxn id="9" idx="1"/>
          </p:cNvCxnSpPr>
          <p:nvPr/>
        </p:nvCxnSpPr>
        <p:spPr>
          <a:xfrm flipV="1">
            <a:off x="2808602" y="2990174"/>
            <a:ext cx="1151488"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0" name="직선 화살표 연결선 39">
            <a:extLst>
              <a:ext uri="{FF2B5EF4-FFF2-40B4-BE49-F238E27FC236}">
                <a16:creationId xmlns:a16="http://schemas.microsoft.com/office/drawing/2014/main" id="{8DD2481F-89D8-25C0-6E6F-7535C857EB4B}"/>
              </a:ext>
            </a:extLst>
          </p:cNvPr>
          <p:cNvCxnSpPr>
            <a:stCxn id="22" idx="3"/>
            <a:endCxn id="9" idx="1"/>
          </p:cNvCxnSpPr>
          <p:nvPr/>
        </p:nvCxnSpPr>
        <p:spPr>
          <a:xfrm flipV="1">
            <a:off x="2808602" y="2990174"/>
            <a:ext cx="1151488"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2504601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15" name="직사각형 1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16" name="직사각형 15">
            <a:extLst>
              <a:ext uri="{FF2B5EF4-FFF2-40B4-BE49-F238E27FC236}">
                <a16:creationId xmlns:a16="http://schemas.microsoft.com/office/drawing/2014/main" id="{3FD7B626-4B5C-AE29-EFB9-628750B32B78}"/>
              </a:ext>
            </a:extLst>
          </p:cNvPr>
          <p:cNvSpPr/>
          <p:nvPr/>
        </p:nvSpPr>
        <p:spPr>
          <a:xfrm>
            <a:off x="1006967" y="172934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a:solidFill>
                  <a:schemeClr val="tx1"/>
                </a:solidFill>
                <a:latin typeface="+mn-ea"/>
              </a:rPr>
              <a:t>1.</a:t>
            </a:r>
            <a:r>
              <a:rPr lang="ko-KR" altLang="en-US" sz="1050" dirty="0">
                <a:solidFill>
                  <a:schemeClr val="tx1"/>
                </a:solidFill>
                <a:latin typeface="+mn-ea"/>
              </a:rPr>
              <a:t>일반정보</a:t>
            </a:r>
            <a:endParaRPr lang="en-US" altLang="ko-KR" sz="1050" dirty="0">
              <a:solidFill>
                <a:schemeClr val="tx1"/>
              </a:solidFill>
            </a:endParaRPr>
          </a:p>
          <a:p>
            <a:pPr algn="ctr"/>
            <a:r>
              <a:rPr lang="en-US" altLang="ko-KR" sz="1050" dirty="0" smtClean="0">
                <a:solidFill>
                  <a:schemeClr val="tx1"/>
                </a:solidFill>
                <a:latin typeface="+mn-ea"/>
              </a:rPr>
              <a:t>Implt1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18" name="직사각형 17">
            <a:extLst>
              <a:ext uri="{FF2B5EF4-FFF2-40B4-BE49-F238E27FC236}">
                <a16:creationId xmlns:a16="http://schemas.microsoft.com/office/drawing/2014/main" id="{04F2CFBC-290B-2E89-63C0-62C22747051D}"/>
              </a:ext>
            </a:extLst>
          </p:cNvPr>
          <p:cNvSpPr/>
          <p:nvPr/>
        </p:nvSpPr>
        <p:spPr>
          <a:xfrm>
            <a:off x="1006967" y="22526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a:solidFill>
                  <a:schemeClr val="tx1"/>
                </a:solidFill>
              </a:rPr>
              <a:t>2.</a:t>
            </a:r>
            <a:r>
              <a:rPr lang="ko-KR" altLang="en-US" sz="1050" dirty="0">
                <a:solidFill>
                  <a:schemeClr val="tx1"/>
                </a:solidFill>
              </a:rPr>
              <a:t>입찰</a:t>
            </a:r>
            <a:r>
              <a:rPr lang="en-US" altLang="ko-KR" sz="1050" dirty="0">
                <a:solidFill>
                  <a:schemeClr val="tx1"/>
                </a:solidFill>
              </a:rPr>
              <a:t>/</a:t>
            </a:r>
            <a:r>
              <a:rPr lang="ko-KR" altLang="en-US" sz="1050" dirty="0" err="1">
                <a:solidFill>
                  <a:schemeClr val="tx1"/>
                </a:solidFill>
              </a:rPr>
              <a:t>반려정보</a:t>
            </a:r>
            <a:endParaRPr lang="en-US" altLang="ko-KR" sz="1050" dirty="0">
              <a:solidFill>
                <a:schemeClr val="tx1"/>
              </a:solidFill>
            </a:endParaRPr>
          </a:p>
          <a:p>
            <a:pPr algn="ctr"/>
            <a:r>
              <a:rPr lang="en-US" altLang="ko-KR" sz="1050" dirty="0" smtClean="0">
                <a:solidFill>
                  <a:schemeClr val="tx1"/>
                </a:solidFill>
                <a:latin typeface="+mn-ea"/>
              </a:rPr>
              <a:t>Implt2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19" name="직사각형 18">
            <a:extLst>
              <a:ext uri="{FF2B5EF4-FFF2-40B4-BE49-F238E27FC236}">
                <a16:creationId xmlns:a16="http://schemas.microsoft.com/office/drawing/2014/main" id="{326CB017-8967-4DC4-0EAD-ADB3B9EAB841}"/>
              </a:ext>
            </a:extLst>
          </p:cNvPr>
          <p:cNvSpPr/>
          <p:nvPr/>
        </p:nvSpPr>
        <p:spPr>
          <a:xfrm>
            <a:off x="1006967" y="277586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a:solidFill>
                  <a:schemeClr val="tx1"/>
                </a:solidFill>
              </a:rPr>
              <a:t>3.</a:t>
            </a:r>
            <a:r>
              <a:rPr lang="ko-KR" altLang="en-US" sz="1050" dirty="0">
                <a:solidFill>
                  <a:schemeClr val="tx1"/>
                </a:solidFill>
              </a:rPr>
              <a:t>파일첨부</a:t>
            </a:r>
            <a:endParaRPr lang="en-US" altLang="ko-KR" sz="1050" dirty="0">
              <a:solidFill>
                <a:schemeClr val="tx1"/>
              </a:solidFill>
            </a:endParaRPr>
          </a:p>
          <a:p>
            <a:pPr algn="ctr"/>
            <a:r>
              <a:rPr lang="en-US" altLang="ko-KR" sz="1050" dirty="0" smtClean="0">
                <a:solidFill>
                  <a:schemeClr val="tx1"/>
                </a:solidFill>
                <a:latin typeface="+mn-ea"/>
              </a:rPr>
              <a:t>Implt3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smtClean="0"/>
              <a:t>(3/5</a:t>
            </a:r>
            <a:r>
              <a:rPr lang="en-US" altLang="ko-KR" dirty="0"/>
              <a:t>)</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a:t>ImpltElgbSrngController</a:t>
            </a:r>
            <a:endParaRPr lang="en-US" altLang="ko-KR" sz="800" dirty="0"/>
          </a:p>
        </p:txBody>
      </p: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780075" y="2990174"/>
            <a:ext cx="1133343"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smtClean="0">
                <a:solidFill>
                  <a:schemeClr val="tx1"/>
                </a:solidFill>
              </a:rPr>
              <a:t>적격심사 신청</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16" idx="3"/>
            <a:endCxn id="9" idx="1"/>
          </p:cNvCxnSpPr>
          <p:nvPr/>
        </p:nvCxnSpPr>
        <p:spPr>
          <a:xfrm>
            <a:off x="2808602" y="1949750"/>
            <a:ext cx="1151488"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8DD2481F-89D8-25C0-6E6F-7535C857EB4B}"/>
              </a:ext>
            </a:extLst>
          </p:cNvPr>
          <p:cNvCxnSpPr>
            <a:stCxn id="18" idx="3"/>
          </p:cNvCxnSpPr>
          <p:nvPr/>
        </p:nvCxnSpPr>
        <p:spPr>
          <a:xfrm>
            <a:off x="2808602" y="2473010"/>
            <a:ext cx="1151488"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19" idx="3"/>
            <a:endCxn id="9" idx="1"/>
          </p:cNvCxnSpPr>
          <p:nvPr/>
        </p:nvCxnSpPr>
        <p:spPr>
          <a:xfrm flipV="1">
            <a:off x="2808602" y="2990174"/>
            <a:ext cx="1151488"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326CB017-8967-4DC4-0EAD-ADB3B9EAB841}"/>
              </a:ext>
            </a:extLst>
          </p:cNvPr>
          <p:cNvSpPr/>
          <p:nvPr/>
        </p:nvSpPr>
        <p:spPr>
          <a:xfrm>
            <a:off x="1006967" y="330511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이행</a:t>
            </a:r>
            <a:r>
              <a:rPr lang="en-US" altLang="ko-KR" sz="1050" dirty="0">
                <a:solidFill>
                  <a:schemeClr val="tx1"/>
                </a:solidFill>
              </a:rPr>
              <a:t>/</a:t>
            </a:r>
            <a:r>
              <a:rPr lang="ko-KR" altLang="en-US" sz="1050" dirty="0">
                <a:solidFill>
                  <a:schemeClr val="tx1"/>
                </a:solidFill>
              </a:rPr>
              <a:t>적격심사포기신청</a:t>
            </a:r>
            <a:endParaRPr lang="en-US" altLang="ko-KR" sz="1050" dirty="0">
              <a:solidFill>
                <a:schemeClr val="tx1"/>
              </a:solidFill>
            </a:endParaRPr>
          </a:p>
          <a:p>
            <a:pPr algn="ctr"/>
            <a:r>
              <a:rPr lang="en-US" altLang="ko-KR" sz="1050" dirty="0">
                <a:solidFill>
                  <a:schemeClr val="tx1"/>
                </a:solidFill>
                <a:latin typeface="+mn-ea"/>
              </a:rPr>
              <a:t>ImpltElgbSrngAbndAply</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8" name="직선 화살표 연결선 37">
            <a:extLst>
              <a:ext uri="{FF2B5EF4-FFF2-40B4-BE49-F238E27FC236}">
                <a16:creationId xmlns:a16="http://schemas.microsoft.com/office/drawing/2014/main" id="{8DD2481F-89D8-25C0-6E6F-7535C857EB4B}"/>
              </a:ext>
            </a:extLst>
          </p:cNvPr>
          <p:cNvCxnSpPr>
            <a:stCxn id="36" idx="3"/>
            <a:endCxn id="9" idx="1"/>
          </p:cNvCxnSpPr>
          <p:nvPr/>
        </p:nvCxnSpPr>
        <p:spPr>
          <a:xfrm flipV="1">
            <a:off x="2808602" y="2990174"/>
            <a:ext cx="1151488"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074641110"/>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15" name="직사각형 1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16" name="직사각형 15">
            <a:extLst>
              <a:ext uri="{FF2B5EF4-FFF2-40B4-BE49-F238E27FC236}">
                <a16:creationId xmlns:a16="http://schemas.microsoft.com/office/drawing/2014/main" id="{3FD7B626-4B5C-AE29-EFB9-628750B32B78}"/>
              </a:ext>
            </a:extLst>
          </p:cNvPr>
          <p:cNvSpPr/>
          <p:nvPr/>
        </p:nvSpPr>
        <p:spPr>
          <a:xfrm>
            <a:off x="1006967" y="172934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a:solidFill>
                  <a:schemeClr val="tx1"/>
                </a:solidFill>
              </a:rPr>
              <a:t>-</a:t>
            </a:r>
            <a:r>
              <a:rPr lang="ko-KR" altLang="en-US" sz="1050" dirty="0">
                <a:solidFill>
                  <a:schemeClr val="tx1"/>
                </a:solidFill>
              </a:rPr>
              <a:t>통사</a:t>
            </a:r>
            <a:endParaRPr lang="en-US" altLang="ko-KR" sz="1050" dirty="0">
              <a:solidFill>
                <a:schemeClr val="tx1"/>
              </a:solidFill>
            </a:endParaRPr>
          </a:p>
          <a:p>
            <a:pPr algn="ctr"/>
            <a:r>
              <a:rPr lang="en-US" altLang="ko-KR" sz="1050" dirty="0">
                <a:solidFill>
                  <a:schemeClr val="tx1"/>
                </a:solidFill>
                <a:latin typeface="+mn-ea"/>
              </a:rPr>
              <a:t>ImpltElgblRslt_g2b</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18" name="직사각형 17">
            <a:extLst>
              <a:ext uri="{FF2B5EF4-FFF2-40B4-BE49-F238E27FC236}">
                <a16:creationId xmlns:a16="http://schemas.microsoft.com/office/drawing/2014/main" id="{04F2CFBC-290B-2E89-63C0-62C22747051D}"/>
              </a:ext>
            </a:extLst>
          </p:cNvPr>
          <p:cNvSpPr/>
          <p:nvPr/>
        </p:nvSpPr>
        <p:spPr>
          <a:xfrm>
            <a:off x="1006967" y="22526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smtClean="0">
                <a:solidFill>
                  <a:schemeClr val="tx1"/>
                </a:solidFill>
              </a:rPr>
              <a:t>-</a:t>
            </a:r>
            <a:r>
              <a:rPr lang="ko-KR" altLang="en-US" sz="1050" dirty="0">
                <a:solidFill>
                  <a:schemeClr val="tx1"/>
                </a:solidFill>
              </a:rPr>
              <a:t>물품</a:t>
            </a:r>
            <a:endParaRPr lang="en-US" altLang="ko-KR" sz="1050" dirty="0">
              <a:solidFill>
                <a:schemeClr val="tx1"/>
              </a:solidFill>
            </a:endParaRPr>
          </a:p>
          <a:p>
            <a:pPr algn="ctr"/>
            <a:r>
              <a:rPr lang="en-US" altLang="ko-KR" sz="1050" dirty="0">
                <a:solidFill>
                  <a:schemeClr val="tx1"/>
                </a:solidFill>
                <a:latin typeface="+mn-ea"/>
              </a:rPr>
              <a:t>ImpltElgblRslt_Cmdty</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19" name="직사각형 18">
            <a:extLst>
              <a:ext uri="{FF2B5EF4-FFF2-40B4-BE49-F238E27FC236}">
                <a16:creationId xmlns:a16="http://schemas.microsoft.com/office/drawing/2014/main" id="{326CB017-8967-4DC4-0EAD-ADB3B9EAB841}"/>
              </a:ext>
            </a:extLst>
          </p:cNvPr>
          <p:cNvSpPr/>
          <p:nvPr/>
        </p:nvSpPr>
        <p:spPr>
          <a:xfrm>
            <a:off x="1006967" y="277586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smtClean="0">
                <a:solidFill>
                  <a:schemeClr val="tx1"/>
                </a:solidFill>
              </a:rPr>
              <a:t>-</a:t>
            </a:r>
            <a:r>
              <a:rPr lang="ko-KR" altLang="en-US" sz="1050" dirty="0">
                <a:solidFill>
                  <a:schemeClr val="tx1"/>
                </a:solidFill>
              </a:rPr>
              <a:t>용역</a:t>
            </a:r>
            <a:endParaRPr lang="en-US" altLang="ko-KR" sz="1050" dirty="0">
              <a:solidFill>
                <a:schemeClr val="tx1"/>
              </a:solidFill>
            </a:endParaRPr>
          </a:p>
          <a:p>
            <a:pPr algn="ctr"/>
            <a:r>
              <a:rPr lang="en-US" altLang="ko-KR" sz="1050" dirty="0">
                <a:solidFill>
                  <a:schemeClr val="tx1"/>
                </a:solidFill>
                <a:latin typeface="+mn-ea"/>
              </a:rPr>
              <a:t>ImpltElgblRslt_Lbsvc</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006967" y="330511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solidFill>
                  <a:schemeClr val="tx1"/>
                </a:solidFill>
              </a:rPr>
              <a:t>&lt;&lt;App Page&gt;&gt;</a:t>
            </a:r>
          </a:p>
          <a:p>
            <a:pPr algn="ctr"/>
            <a:r>
              <a:rPr lang="en-US" altLang="ko-KR" sz="800" dirty="0">
                <a:solidFill>
                  <a:schemeClr val="tx1"/>
                </a:solidFill>
              </a:rPr>
              <a:t>-10</a:t>
            </a:r>
            <a:r>
              <a:rPr lang="ko-KR" altLang="en-US" sz="800" dirty="0">
                <a:solidFill>
                  <a:schemeClr val="tx1"/>
                </a:solidFill>
              </a:rPr>
              <a:t>억원미만물품</a:t>
            </a:r>
            <a:r>
              <a:rPr lang="en-US" altLang="ko-KR" sz="800" dirty="0">
                <a:solidFill>
                  <a:schemeClr val="tx1"/>
                </a:solidFill>
              </a:rPr>
              <a:t>(</a:t>
            </a:r>
            <a:r>
              <a:rPr lang="ko-KR" altLang="en-US" sz="800" dirty="0" err="1">
                <a:solidFill>
                  <a:schemeClr val="tx1"/>
                </a:solidFill>
              </a:rPr>
              <a:t>중기청</a:t>
            </a:r>
            <a:r>
              <a:rPr lang="en-US" altLang="ko-KR" sz="800" dirty="0">
                <a:solidFill>
                  <a:schemeClr val="tx1"/>
                </a:solidFill>
              </a:rPr>
              <a:t>)</a:t>
            </a:r>
          </a:p>
          <a:p>
            <a:pPr algn="ctr"/>
            <a:r>
              <a:rPr lang="en-US" altLang="ko-KR" sz="800" dirty="0">
                <a:solidFill>
                  <a:schemeClr val="tx1"/>
                </a:solidFill>
                <a:latin typeface="+mn-ea"/>
              </a:rPr>
              <a:t>ImpltElgblRslt_ItemsUnderKrw1B</a:t>
            </a:r>
            <a:r>
              <a:rPr lang="en-US" altLang="ko-KR" sz="800" dirty="0" smtClean="0">
                <a:solidFill>
                  <a:schemeClr val="tx1"/>
                </a:solidFill>
              </a:rPr>
              <a:t>.tsx</a:t>
            </a:r>
            <a:r>
              <a:rPr lang="en-US" altLang="ko-KR" sz="800" b="1" baseline="30000" dirty="0" smtClean="0">
                <a:solidFill>
                  <a:schemeClr val="tx1"/>
                </a:solidFill>
                <a:latin typeface="+mn-ea"/>
              </a:rPr>
              <a:t>1</a:t>
            </a:r>
            <a:r>
              <a:rPr lang="en-US" altLang="ko-KR" sz="800" b="1" baseline="30000" dirty="0">
                <a:solidFill>
                  <a:schemeClr val="tx1"/>
                </a:solidFill>
                <a:latin typeface="+mn-ea"/>
              </a:rPr>
              <a:t>)</a:t>
            </a:r>
            <a:endParaRPr lang="en-US" altLang="ko-KR" sz="80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006967" y="3834358"/>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solidFill>
                  <a:schemeClr val="tx1"/>
                </a:solidFill>
              </a:rPr>
              <a:t>&lt;&lt;App Page&gt;&gt;</a:t>
            </a:r>
          </a:p>
          <a:p>
            <a:pPr algn="ctr"/>
            <a:r>
              <a:rPr lang="en-US" altLang="ko-KR" sz="800" dirty="0">
                <a:solidFill>
                  <a:schemeClr val="tx1"/>
                </a:solidFill>
              </a:rPr>
              <a:t>-10</a:t>
            </a:r>
            <a:r>
              <a:rPr lang="ko-KR" altLang="en-US" sz="800" dirty="0">
                <a:solidFill>
                  <a:schemeClr val="tx1"/>
                </a:solidFill>
              </a:rPr>
              <a:t>억원미만물품제조</a:t>
            </a:r>
            <a:endParaRPr lang="en-US" altLang="ko-KR" sz="800" dirty="0">
              <a:solidFill>
                <a:schemeClr val="tx1"/>
              </a:solidFill>
            </a:endParaRPr>
          </a:p>
          <a:p>
            <a:pPr algn="ctr"/>
            <a:r>
              <a:rPr lang="en-US" altLang="ko-KR" sz="800" dirty="0">
                <a:solidFill>
                  <a:schemeClr val="tx1"/>
                </a:solidFill>
                <a:latin typeface="+mn-ea"/>
              </a:rPr>
              <a:t>ImpltElgblRslt_ManufacturingofItemsUnderKrw1B</a:t>
            </a:r>
            <a:r>
              <a:rPr lang="en-US" altLang="ko-KR" sz="800" dirty="0" smtClean="0">
                <a:solidFill>
                  <a:schemeClr val="tx1"/>
                </a:solidFill>
              </a:rPr>
              <a:t>.tsx</a:t>
            </a:r>
            <a:r>
              <a:rPr lang="en-US" altLang="ko-KR" sz="800" b="1" baseline="30000" dirty="0" smtClean="0">
                <a:solidFill>
                  <a:schemeClr val="tx1"/>
                </a:solidFill>
                <a:latin typeface="+mn-ea"/>
              </a:rPr>
              <a:t>1</a:t>
            </a:r>
            <a:r>
              <a:rPr lang="en-US" altLang="ko-KR" sz="800" b="1" baseline="30000" dirty="0">
                <a:solidFill>
                  <a:schemeClr val="tx1"/>
                </a:solidFill>
                <a:latin typeface="+mn-ea"/>
              </a:rPr>
              <a:t>)</a:t>
            </a:r>
            <a:endParaRPr lang="en-US" altLang="ko-KR" sz="80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06967" y="4360394"/>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en-US" altLang="ko-KR" sz="1050" dirty="0">
                <a:solidFill>
                  <a:schemeClr val="tx1"/>
                </a:solidFill>
              </a:rPr>
              <a:t>-10</a:t>
            </a:r>
            <a:r>
              <a:rPr lang="ko-KR" altLang="en-US" sz="1050" dirty="0">
                <a:solidFill>
                  <a:schemeClr val="tx1"/>
                </a:solidFill>
              </a:rPr>
              <a:t>억원미만물품제조</a:t>
            </a:r>
            <a:r>
              <a:rPr lang="en-US" altLang="ko-KR" sz="1050" dirty="0">
                <a:solidFill>
                  <a:schemeClr val="tx1"/>
                </a:solidFill>
              </a:rPr>
              <a:t>2015</a:t>
            </a:r>
            <a:r>
              <a:rPr lang="ko-KR" altLang="en-US" sz="1050" dirty="0">
                <a:solidFill>
                  <a:schemeClr val="tx1"/>
                </a:solidFill>
              </a:rPr>
              <a:t>년</a:t>
            </a:r>
            <a:endParaRPr lang="en-US" altLang="ko-KR" sz="1050" dirty="0">
              <a:solidFill>
                <a:schemeClr val="tx1"/>
              </a:solidFill>
            </a:endParaRPr>
          </a:p>
          <a:p>
            <a:pPr algn="ctr"/>
            <a:r>
              <a:rPr lang="en-US" altLang="ko-KR" sz="1050" dirty="0">
                <a:solidFill>
                  <a:schemeClr val="tx1"/>
                </a:solidFill>
                <a:latin typeface="+mn-ea"/>
              </a:rPr>
              <a:t>ImpltElgblRslt_ManufacturingofItemsUnderKrw1B_2015</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06967" y="488643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en-US" altLang="ko-KR" sz="1050" dirty="0">
                <a:solidFill>
                  <a:schemeClr val="tx1"/>
                </a:solidFill>
              </a:rPr>
              <a:t>-10</a:t>
            </a:r>
            <a:r>
              <a:rPr lang="ko-KR" altLang="en-US" sz="1050" dirty="0">
                <a:solidFill>
                  <a:schemeClr val="tx1"/>
                </a:solidFill>
              </a:rPr>
              <a:t>억원미만물품구매</a:t>
            </a:r>
            <a:endParaRPr lang="en-US" altLang="ko-KR" sz="1050" dirty="0">
              <a:solidFill>
                <a:schemeClr val="tx1"/>
              </a:solidFill>
            </a:endParaRPr>
          </a:p>
          <a:p>
            <a:pPr algn="ctr"/>
            <a:r>
              <a:rPr lang="en-US" altLang="ko-KR" sz="1050" dirty="0">
                <a:solidFill>
                  <a:schemeClr val="tx1"/>
                </a:solidFill>
                <a:latin typeface="+mn-ea"/>
              </a:rPr>
              <a:t>ImpltElgblRslt_PurchaseofItemsUnderKrw1B</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06967" y="5412466"/>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en-US" altLang="ko-KR" sz="1050" dirty="0">
                <a:solidFill>
                  <a:schemeClr val="tx1"/>
                </a:solidFill>
              </a:rPr>
              <a:t>-10</a:t>
            </a:r>
            <a:r>
              <a:rPr lang="ko-KR" altLang="en-US" sz="1050" dirty="0">
                <a:solidFill>
                  <a:schemeClr val="tx1"/>
                </a:solidFill>
              </a:rPr>
              <a:t>억원미만물품구매</a:t>
            </a:r>
            <a:r>
              <a:rPr lang="en-US" altLang="ko-KR" sz="1050" dirty="0">
                <a:solidFill>
                  <a:schemeClr val="tx1"/>
                </a:solidFill>
              </a:rPr>
              <a:t>2015</a:t>
            </a:r>
            <a:r>
              <a:rPr lang="ko-KR" altLang="en-US" sz="1050" dirty="0">
                <a:solidFill>
                  <a:schemeClr val="tx1"/>
                </a:solidFill>
              </a:rPr>
              <a:t>년</a:t>
            </a:r>
            <a:endParaRPr lang="en-US" altLang="ko-KR" sz="1050" dirty="0">
              <a:solidFill>
                <a:schemeClr val="tx1"/>
              </a:solidFill>
            </a:endParaRPr>
          </a:p>
          <a:p>
            <a:pPr algn="ctr"/>
            <a:r>
              <a:rPr lang="en-US" altLang="ko-KR" sz="1050" dirty="0">
                <a:solidFill>
                  <a:schemeClr val="tx1"/>
                </a:solidFill>
                <a:latin typeface="+mn-ea"/>
              </a:rPr>
              <a:t>ImpltElgblRslt_PurchaseofItemsUnderKrw1B_2015</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06967"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en-US" altLang="ko-KR" sz="1050" dirty="0">
                <a:solidFill>
                  <a:schemeClr val="tx1"/>
                </a:solidFill>
              </a:rPr>
              <a:t>-10</a:t>
            </a:r>
            <a:r>
              <a:rPr lang="ko-KR" altLang="en-US" sz="1050" dirty="0">
                <a:solidFill>
                  <a:schemeClr val="tx1"/>
                </a:solidFill>
              </a:rPr>
              <a:t>억원미만물품제조</a:t>
            </a:r>
            <a:r>
              <a:rPr lang="en-US" altLang="ko-KR" sz="1050" dirty="0">
                <a:solidFill>
                  <a:schemeClr val="tx1"/>
                </a:solidFill>
              </a:rPr>
              <a:t>2018</a:t>
            </a:r>
            <a:r>
              <a:rPr lang="ko-KR" altLang="en-US" sz="1050" dirty="0">
                <a:solidFill>
                  <a:schemeClr val="tx1"/>
                </a:solidFill>
              </a:rPr>
              <a:t>년</a:t>
            </a:r>
            <a:endParaRPr lang="en-US" altLang="ko-KR" sz="1050" dirty="0">
              <a:solidFill>
                <a:schemeClr val="tx1"/>
              </a:solidFill>
            </a:endParaRPr>
          </a:p>
          <a:p>
            <a:pPr algn="ctr"/>
            <a:r>
              <a:rPr lang="en-US" altLang="ko-KR" sz="1050" dirty="0">
                <a:solidFill>
                  <a:schemeClr val="tx1"/>
                </a:solidFill>
                <a:latin typeface="+mn-ea"/>
              </a:rPr>
              <a:t>ImpltElgblRslt_ManufacturingofItemsUnderKrw1B_2018</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smtClean="0"/>
              <a:t>(4/5</a:t>
            </a:r>
            <a:r>
              <a:rPr lang="en-US" altLang="ko-KR" dirty="0"/>
              <a:t>)</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a:t>ImpltElgbSrngController</a:t>
            </a:r>
            <a:endParaRPr lang="en-US" altLang="ko-KR" sz="800" dirty="0"/>
          </a:p>
        </p:txBody>
      </p: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780075" y="2990174"/>
            <a:ext cx="1133343"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23505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1.3.4 </a:t>
            </a:r>
            <a:r>
              <a:rPr lang="ko-KR" altLang="en-US" sz="1200" dirty="0">
                <a:solidFill>
                  <a:schemeClr val="tx1"/>
                </a:solidFill>
              </a:rPr>
              <a:t>이행</a:t>
            </a:r>
            <a:r>
              <a:rPr lang="en-US" altLang="ko-KR" sz="1200" dirty="0">
                <a:solidFill>
                  <a:schemeClr val="tx1"/>
                </a:solidFill>
              </a:rPr>
              <a:t>/</a:t>
            </a:r>
            <a:r>
              <a:rPr lang="ko-KR" altLang="en-US" sz="1200" dirty="0" smtClean="0">
                <a:solidFill>
                  <a:schemeClr val="tx1"/>
                </a:solidFill>
              </a:rPr>
              <a:t>적격심사 결과 </a:t>
            </a:r>
            <a:r>
              <a:rPr lang="en-US" altLang="ko-KR" sz="1200" dirty="0">
                <a:solidFill>
                  <a:schemeClr val="tx1"/>
                </a:solidFill>
              </a:rPr>
              <a:t>(</a:t>
            </a:r>
            <a:r>
              <a:rPr lang="en-US" altLang="ko-KR" sz="1200" dirty="0" smtClean="0">
                <a:solidFill>
                  <a:schemeClr val="tx1"/>
                </a:solidFill>
              </a:rPr>
              <a:t>1/2)</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16" idx="3"/>
            <a:endCxn id="9" idx="1"/>
          </p:cNvCxnSpPr>
          <p:nvPr/>
        </p:nvCxnSpPr>
        <p:spPr>
          <a:xfrm>
            <a:off x="2808602" y="1949750"/>
            <a:ext cx="1151488"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8DD2481F-89D8-25C0-6E6F-7535C857EB4B}"/>
              </a:ext>
            </a:extLst>
          </p:cNvPr>
          <p:cNvCxnSpPr>
            <a:stCxn id="18" idx="3"/>
          </p:cNvCxnSpPr>
          <p:nvPr/>
        </p:nvCxnSpPr>
        <p:spPr>
          <a:xfrm>
            <a:off x="2808602" y="2473010"/>
            <a:ext cx="1151488"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19" idx="3"/>
            <a:endCxn id="9" idx="1"/>
          </p:cNvCxnSpPr>
          <p:nvPr/>
        </p:nvCxnSpPr>
        <p:spPr>
          <a:xfrm flipV="1">
            <a:off x="2808602" y="2990174"/>
            <a:ext cx="1151488"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8DD2481F-89D8-25C0-6E6F-7535C857EB4B}"/>
              </a:ext>
            </a:extLst>
          </p:cNvPr>
          <p:cNvCxnSpPr>
            <a:stCxn id="20" idx="3"/>
            <a:endCxn id="9" idx="1"/>
          </p:cNvCxnSpPr>
          <p:nvPr/>
        </p:nvCxnSpPr>
        <p:spPr>
          <a:xfrm flipV="1">
            <a:off x="2808602" y="2990174"/>
            <a:ext cx="1151488"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0" name="직선 화살표 연결선 39">
            <a:extLst>
              <a:ext uri="{FF2B5EF4-FFF2-40B4-BE49-F238E27FC236}">
                <a16:creationId xmlns:a16="http://schemas.microsoft.com/office/drawing/2014/main" id="{8DD2481F-89D8-25C0-6E6F-7535C857EB4B}"/>
              </a:ext>
            </a:extLst>
          </p:cNvPr>
          <p:cNvCxnSpPr>
            <a:stCxn id="22" idx="3"/>
            <a:endCxn id="9" idx="1"/>
          </p:cNvCxnSpPr>
          <p:nvPr/>
        </p:nvCxnSpPr>
        <p:spPr>
          <a:xfrm flipV="1">
            <a:off x="2808602" y="2990174"/>
            <a:ext cx="1151488"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8DD2481F-89D8-25C0-6E6F-7535C857EB4B}"/>
              </a:ext>
            </a:extLst>
          </p:cNvPr>
          <p:cNvCxnSpPr>
            <a:stCxn id="24" idx="3"/>
            <a:endCxn id="9" idx="1"/>
          </p:cNvCxnSpPr>
          <p:nvPr/>
        </p:nvCxnSpPr>
        <p:spPr>
          <a:xfrm flipV="1">
            <a:off x="2808602" y="2990174"/>
            <a:ext cx="1151488"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직선 화살표 연결선 45">
            <a:extLst>
              <a:ext uri="{FF2B5EF4-FFF2-40B4-BE49-F238E27FC236}">
                <a16:creationId xmlns:a16="http://schemas.microsoft.com/office/drawing/2014/main" id="{8DD2481F-89D8-25C0-6E6F-7535C857EB4B}"/>
              </a:ext>
            </a:extLst>
          </p:cNvPr>
          <p:cNvCxnSpPr>
            <a:stCxn id="27" idx="3"/>
            <a:endCxn id="9" idx="1"/>
          </p:cNvCxnSpPr>
          <p:nvPr/>
        </p:nvCxnSpPr>
        <p:spPr>
          <a:xfrm flipV="1">
            <a:off x="2808602" y="2990174"/>
            <a:ext cx="1151488"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9" name="직선 화살표 연결선 48">
            <a:extLst>
              <a:ext uri="{FF2B5EF4-FFF2-40B4-BE49-F238E27FC236}">
                <a16:creationId xmlns:a16="http://schemas.microsoft.com/office/drawing/2014/main" id="{8DD2481F-89D8-25C0-6E6F-7535C857EB4B}"/>
              </a:ext>
            </a:extLst>
          </p:cNvPr>
          <p:cNvCxnSpPr>
            <a:stCxn id="28" idx="3"/>
            <a:endCxn id="9" idx="1"/>
          </p:cNvCxnSpPr>
          <p:nvPr/>
        </p:nvCxnSpPr>
        <p:spPr>
          <a:xfrm flipV="1">
            <a:off x="2808602" y="2990174"/>
            <a:ext cx="1151488"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2" name="직선 화살표 연결선 51">
            <a:extLst>
              <a:ext uri="{FF2B5EF4-FFF2-40B4-BE49-F238E27FC236}">
                <a16:creationId xmlns:a16="http://schemas.microsoft.com/office/drawing/2014/main" id="{8DD2481F-89D8-25C0-6E6F-7535C857EB4B}"/>
              </a:ext>
            </a:extLst>
          </p:cNvPr>
          <p:cNvCxnSpPr>
            <a:stCxn id="29" idx="3"/>
            <a:endCxn id="9" idx="1"/>
          </p:cNvCxnSpPr>
          <p:nvPr/>
        </p:nvCxnSpPr>
        <p:spPr>
          <a:xfrm flipV="1">
            <a:off x="2808602" y="2990174"/>
            <a:ext cx="1151488" cy="316873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24906433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15" name="직사각형 1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16" name="직사각형 15">
            <a:extLst>
              <a:ext uri="{FF2B5EF4-FFF2-40B4-BE49-F238E27FC236}">
                <a16:creationId xmlns:a16="http://schemas.microsoft.com/office/drawing/2014/main" id="{3FD7B626-4B5C-AE29-EFB9-628750B32B78}"/>
              </a:ext>
            </a:extLst>
          </p:cNvPr>
          <p:cNvSpPr/>
          <p:nvPr/>
        </p:nvSpPr>
        <p:spPr>
          <a:xfrm>
            <a:off x="1006967" y="172934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en-US" altLang="ko-KR" sz="1050" dirty="0">
                <a:solidFill>
                  <a:schemeClr val="tx1"/>
                </a:solidFill>
              </a:rPr>
              <a:t>-10</a:t>
            </a:r>
            <a:r>
              <a:rPr lang="ko-KR" altLang="en-US" sz="1050" dirty="0">
                <a:solidFill>
                  <a:schemeClr val="tx1"/>
                </a:solidFill>
              </a:rPr>
              <a:t>억원미만물품구매</a:t>
            </a:r>
            <a:r>
              <a:rPr lang="en-US" altLang="ko-KR" sz="1050" dirty="0">
                <a:solidFill>
                  <a:schemeClr val="tx1"/>
                </a:solidFill>
              </a:rPr>
              <a:t>2018</a:t>
            </a:r>
            <a:r>
              <a:rPr lang="ko-KR" altLang="en-US" sz="1050" dirty="0">
                <a:solidFill>
                  <a:schemeClr val="tx1"/>
                </a:solidFill>
              </a:rPr>
              <a:t>년</a:t>
            </a:r>
            <a:endParaRPr lang="en-US" altLang="ko-KR" sz="1050" dirty="0">
              <a:solidFill>
                <a:schemeClr val="tx1"/>
              </a:solidFill>
            </a:endParaRPr>
          </a:p>
          <a:p>
            <a:pPr algn="ctr"/>
            <a:r>
              <a:rPr lang="en-US" altLang="ko-KR" sz="1050" dirty="0">
                <a:solidFill>
                  <a:schemeClr val="tx1"/>
                </a:solidFill>
                <a:latin typeface="+mn-ea"/>
              </a:rPr>
              <a:t>ImpltElgblRslt_PurchaseofItemsUnderkrw1B_2018</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18" name="직사각형 17">
            <a:extLst>
              <a:ext uri="{FF2B5EF4-FFF2-40B4-BE49-F238E27FC236}">
                <a16:creationId xmlns:a16="http://schemas.microsoft.com/office/drawing/2014/main" id="{04F2CFBC-290B-2E89-63C0-62C22747051D}"/>
              </a:ext>
            </a:extLst>
          </p:cNvPr>
          <p:cNvSpPr/>
          <p:nvPr/>
        </p:nvSpPr>
        <p:spPr>
          <a:xfrm>
            <a:off x="1006967" y="22526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7500" lnSpcReduction="20000"/>
          </a:bodyPr>
          <a:lstStyle/>
          <a:p>
            <a:pPr algn="ctr"/>
            <a:r>
              <a:rPr lang="en-US" altLang="ko-KR" sz="1050" dirty="0">
                <a:solidFill>
                  <a:schemeClr val="tx1"/>
                </a:solidFill>
              </a:rPr>
              <a:t>&lt;&lt;App Page&gt;&gt;</a:t>
            </a:r>
          </a:p>
          <a:p>
            <a:pPr algn="ctr"/>
            <a:r>
              <a:rPr lang="en-US" altLang="ko-KR" sz="1050" dirty="0" smtClean="0">
                <a:solidFill>
                  <a:schemeClr val="tx1"/>
                </a:solidFill>
              </a:rPr>
              <a:t>-</a:t>
            </a:r>
            <a:r>
              <a:rPr lang="ko-KR" altLang="en-US" sz="1050" dirty="0">
                <a:solidFill>
                  <a:schemeClr val="tx1"/>
                </a:solidFill>
              </a:rPr>
              <a:t>고시금액미만</a:t>
            </a:r>
            <a:r>
              <a:rPr lang="en-US" altLang="ko-KR" sz="1050" dirty="0">
                <a:solidFill>
                  <a:schemeClr val="tx1"/>
                </a:solidFill>
              </a:rPr>
              <a:t>(</a:t>
            </a:r>
            <a:r>
              <a:rPr lang="ko-KR" altLang="en-US" sz="1050" dirty="0" err="1">
                <a:solidFill>
                  <a:schemeClr val="tx1"/>
                </a:solidFill>
              </a:rPr>
              <a:t>중기청</a:t>
            </a:r>
            <a:r>
              <a:rPr lang="en-US" altLang="ko-KR" sz="1050" dirty="0">
                <a:solidFill>
                  <a:schemeClr val="tx1"/>
                </a:solidFill>
              </a:rPr>
              <a:t>)</a:t>
            </a:r>
          </a:p>
          <a:p>
            <a:pPr algn="ctr"/>
            <a:r>
              <a:rPr lang="en-US" altLang="ko-KR" sz="1050" dirty="0">
                <a:solidFill>
                  <a:schemeClr val="tx1"/>
                </a:solidFill>
                <a:latin typeface="+mn-ea"/>
              </a:rPr>
              <a:t>ImpltElgblRslt_BelowThreshold</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19" name="직사각형 18">
            <a:extLst>
              <a:ext uri="{FF2B5EF4-FFF2-40B4-BE49-F238E27FC236}">
                <a16:creationId xmlns:a16="http://schemas.microsoft.com/office/drawing/2014/main" id="{326CB017-8967-4DC4-0EAD-ADB3B9EAB841}"/>
              </a:ext>
            </a:extLst>
          </p:cNvPr>
          <p:cNvSpPr/>
          <p:nvPr/>
        </p:nvSpPr>
        <p:spPr>
          <a:xfrm>
            <a:off x="1006967" y="277586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7500" lnSpcReduction="20000"/>
          </a:bodyPr>
          <a:lstStyle/>
          <a:p>
            <a:pPr algn="ctr"/>
            <a:r>
              <a:rPr lang="en-US" altLang="ko-KR" sz="1050" dirty="0">
                <a:solidFill>
                  <a:schemeClr val="tx1"/>
                </a:solidFill>
              </a:rPr>
              <a:t>&lt;&lt;App Page&gt;&gt;</a:t>
            </a:r>
          </a:p>
          <a:p>
            <a:pPr algn="ctr"/>
            <a:r>
              <a:rPr lang="en-US" altLang="ko-KR" sz="1050" dirty="0" smtClean="0">
                <a:solidFill>
                  <a:schemeClr val="tx1"/>
                </a:solidFill>
              </a:rPr>
              <a:t>-</a:t>
            </a:r>
            <a:r>
              <a:rPr lang="ko-KR" altLang="en-US" sz="1050" dirty="0">
                <a:solidFill>
                  <a:schemeClr val="tx1"/>
                </a:solidFill>
              </a:rPr>
              <a:t>고시금액이상</a:t>
            </a:r>
            <a:r>
              <a:rPr lang="en-US" altLang="ko-KR" sz="1050" dirty="0">
                <a:solidFill>
                  <a:schemeClr val="tx1"/>
                </a:solidFill>
              </a:rPr>
              <a:t>10</a:t>
            </a:r>
            <a:r>
              <a:rPr lang="ko-KR" altLang="en-US" sz="1050" dirty="0" err="1">
                <a:solidFill>
                  <a:schemeClr val="tx1"/>
                </a:solidFill>
              </a:rPr>
              <a:t>억원미만</a:t>
            </a:r>
            <a:r>
              <a:rPr lang="en-US" altLang="ko-KR" sz="1050" dirty="0">
                <a:solidFill>
                  <a:schemeClr val="tx1"/>
                </a:solidFill>
              </a:rPr>
              <a:t>(</a:t>
            </a:r>
            <a:r>
              <a:rPr lang="ko-KR" altLang="en-US" sz="1050" dirty="0" err="1">
                <a:solidFill>
                  <a:schemeClr val="tx1"/>
                </a:solidFill>
              </a:rPr>
              <a:t>중기청</a:t>
            </a:r>
            <a:r>
              <a:rPr lang="en-US" altLang="ko-KR" sz="1050" dirty="0">
                <a:solidFill>
                  <a:schemeClr val="tx1"/>
                </a:solidFill>
              </a:rPr>
              <a:t>)</a:t>
            </a:r>
          </a:p>
          <a:p>
            <a:pPr algn="ctr"/>
            <a:r>
              <a:rPr lang="en-US" altLang="ko-KR" sz="1050" dirty="0">
                <a:solidFill>
                  <a:schemeClr val="tx1"/>
                </a:solidFill>
                <a:latin typeface="+mn-ea"/>
              </a:rPr>
              <a:t>ImpltElgblRslt_ThresholdKrw1B</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006967" y="330511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a:solidFill>
                  <a:schemeClr val="tx1"/>
                </a:solidFill>
              </a:rPr>
              <a:t>-10</a:t>
            </a:r>
            <a:r>
              <a:rPr lang="ko-KR" altLang="en-US" sz="1050" dirty="0" err="1">
                <a:solidFill>
                  <a:schemeClr val="tx1"/>
                </a:solidFill>
              </a:rPr>
              <a:t>억원이상</a:t>
            </a:r>
            <a:r>
              <a:rPr lang="en-US" altLang="ko-KR" sz="1050" dirty="0">
                <a:solidFill>
                  <a:schemeClr val="tx1"/>
                </a:solidFill>
              </a:rPr>
              <a:t>(</a:t>
            </a:r>
            <a:r>
              <a:rPr lang="ko-KR" altLang="en-US" sz="1050" dirty="0" err="1">
                <a:solidFill>
                  <a:schemeClr val="tx1"/>
                </a:solidFill>
              </a:rPr>
              <a:t>중기청</a:t>
            </a:r>
            <a:r>
              <a:rPr lang="en-US" altLang="ko-KR" sz="1050" dirty="0">
                <a:solidFill>
                  <a:schemeClr val="tx1"/>
                </a:solidFill>
              </a:rPr>
              <a:t>)</a:t>
            </a:r>
          </a:p>
          <a:p>
            <a:pPr algn="ctr"/>
            <a:r>
              <a:rPr lang="en-US" altLang="ko-KR" sz="1050" dirty="0">
                <a:solidFill>
                  <a:schemeClr val="tx1"/>
                </a:solidFill>
                <a:latin typeface="+mn-ea"/>
              </a:rPr>
              <a:t>ImpltElgblRslt_OverKrw1B</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006967" y="3834358"/>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smtClean="0">
                <a:solidFill>
                  <a:schemeClr val="tx1"/>
                </a:solidFill>
              </a:rPr>
              <a:t>-</a:t>
            </a:r>
            <a:r>
              <a:rPr lang="ko-KR" altLang="en-US" sz="1050" dirty="0">
                <a:solidFill>
                  <a:schemeClr val="tx1"/>
                </a:solidFill>
              </a:rPr>
              <a:t>공사</a:t>
            </a:r>
            <a:endParaRPr lang="en-US" altLang="ko-KR" sz="1050" dirty="0">
              <a:solidFill>
                <a:schemeClr val="tx1"/>
              </a:solidFill>
            </a:endParaRPr>
          </a:p>
          <a:p>
            <a:pPr algn="ctr"/>
            <a:r>
              <a:rPr lang="en-US" altLang="ko-KR" sz="1050" dirty="0">
                <a:solidFill>
                  <a:schemeClr val="tx1"/>
                </a:solidFill>
                <a:latin typeface="+mn-ea"/>
              </a:rPr>
              <a:t>ImpltElgblRslt_Cstrn</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06967" y="4360394"/>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en-US" altLang="ko-KR" sz="1050" dirty="0" smtClean="0">
                <a:solidFill>
                  <a:schemeClr val="tx1"/>
                </a:solidFill>
              </a:rPr>
              <a:t>-</a:t>
            </a:r>
            <a:r>
              <a:rPr lang="ko-KR" altLang="en-US" sz="1050" dirty="0">
                <a:solidFill>
                  <a:schemeClr val="tx1"/>
                </a:solidFill>
              </a:rPr>
              <a:t>기술용역</a:t>
            </a:r>
            <a:endParaRPr lang="en-US" altLang="ko-KR" sz="1050" dirty="0">
              <a:solidFill>
                <a:schemeClr val="tx1"/>
              </a:solidFill>
            </a:endParaRPr>
          </a:p>
          <a:p>
            <a:pPr algn="ctr"/>
            <a:r>
              <a:rPr lang="en-US" altLang="ko-KR" sz="1050" dirty="0">
                <a:solidFill>
                  <a:schemeClr val="tx1"/>
                </a:solidFill>
                <a:latin typeface="+mn-ea"/>
              </a:rPr>
              <a:t>ImpltElgblRslt_TechLbsvc</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06967" y="4886430"/>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7500" lnSpcReduction="20000"/>
          </a:bodyPr>
          <a:lstStyle/>
          <a:p>
            <a:pPr algn="ctr"/>
            <a:r>
              <a:rPr lang="en-US" altLang="ko-KR" sz="1050" dirty="0">
                <a:solidFill>
                  <a:schemeClr val="tx1"/>
                </a:solidFill>
              </a:rPr>
              <a:t>&lt;&lt;App Page&gt;&gt;</a:t>
            </a:r>
          </a:p>
          <a:p>
            <a:pPr algn="ctr"/>
            <a:r>
              <a:rPr lang="en-US" altLang="ko-KR" sz="1050" dirty="0">
                <a:solidFill>
                  <a:schemeClr val="tx1"/>
                </a:solidFill>
              </a:rPr>
              <a:t>-3</a:t>
            </a:r>
            <a:r>
              <a:rPr lang="ko-KR" altLang="en-US" sz="1050" dirty="0">
                <a:solidFill>
                  <a:schemeClr val="tx1"/>
                </a:solidFill>
              </a:rPr>
              <a:t>억원미만공사</a:t>
            </a:r>
            <a:endParaRPr lang="en-US" altLang="ko-KR" sz="1050" dirty="0">
              <a:solidFill>
                <a:schemeClr val="tx1"/>
              </a:solidFill>
            </a:endParaRPr>
          </a:p>
          <a:p>
            <a:pPr algn="ctr"/>
            <a:r>
              <a:rPr lang="en-US" altLang="ko-KR" sz="1050" dirty="0">
                <a:solidFill>
                  <a:schemeClr val="tx1"/>
                </a:solidFill>
                <a:latin typeface="+mn-ea"/>
              </a:rPr>
              <a:t>ImpltElgblRslt_Krw300MCstrn</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06967" y="5412466"/>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en-US" altLang="ko-KR" sz="1050" dirty="0" smtClean="0">
                <a:solidFill>
                  <a:schemeClr val="tx1"/>
                </a:solidFill>
              </a:rPr>
              <a:t>-</a:t>
            </a:r>
            <a:r>
              <a:rPr lang="ko-KR" altLang="en-US" sz="1050" dirty="0">
                <a:solidFill>
                  <a:schemeClr val="tx1"/>
                </a:solidFill>
              </a:rPr>
              <a:t>고시금액미만용역</a:t>
            </a:r>
            <a:endParaRPr lang="en-US" altLang="ko-KR" sz="1050" dirty="0">
              <a:solidFill>
                <a:schemeClr val="tx1"/>
              </a:solidFill>
            </a:endParaRPr>
          </a:p>
          <a:p>
            <a:pPr algn="ctr"/>
            <a:r>
              <a:rPr lang="en-US" altLang="ko-KR" sz="1050" dirty="0">
                <a:solidFill>
                  <a:schemeClr val="tx1"/>
                </a:solidFill>
                <a:latin typeface="+mn-ea"/>
              </a:rPr>
              <a:t>ImpltElgblRslt_BelowThresholdLbsvc</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06967" y="5938502"/>
            <a:ext cx="1801635"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r>
              <a:rPr lang="en-US" altLang="ko-KR" sz="1050" dirty="0">
                <a:solidFill>
                  <a:schemeClr val="tx1"/>
                </a:solidFill>
              </a:rPr>
              <a:t>&lt;&lt;App Page&gt;&gt;</a:t>
            </a:r>
          </a:p>
          <a:p>
            <a:pPr algn="ctr"/>
            <a:r>
              <a:rPr lang="en-US" altLang="ko-KR" sz="1050" dirty="0" smtClean="0">
                <a:solidFill>
                  <a:schemeClr val="tx1"/>
                </a:solidFill>
              </a:rPr>
              <a:t>-</a:t>
            </a:r>
            <a:r>
              <a:rPr lang="ko-KR" altLang="en-US" sz="1050" dirty="0" err="1">
                <a:solidFill>
                  <a:schemeClr val="tx1"/>
                </a:solidFill>
              </a:rPr>
              <a:t>고시금액미만폐기물용역</a:t>
            </a:r>
            <a:endParaRPr lang="en-US" altLang="ko-KR" sz="1050" dirty="0">
              <a:solidFill>
                <a:schemeClr val="tx1"/>
              </a:solidFill>
            </a:endParaRPr>
          </a:p>
          <a:p>
            <a:pPr algn="ctr"/>
            <a:r>
              <a:rPr lang="en-US" altLang="ko-KR" sz="1050" dirty="0">
                <a:solidFill>
                  <a:schemeClr val="tx1"/>
                </a:solidFill>
                <a:latin typeface="+mn-ea"/>
              </a:rPr>
              <a:t>ImpltElgblRslt_BelowThresholdDspLbsvc</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smtClean="0"/>
              <a:t>(5/5</a:t>
            </a:r>
            <a:r>
              <a:rPr lang="en-US" altLang="ko-KR" dirty="0"/>
              <a:t>)</a:t>
            </a:r>
            <a:endParaRPr lang="ko-KR" altLang="en-US" dirty="0"/>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a:t>ImpltElgbSrngController</a:t>
            </a:r>
            <a:endParaRPr lang="en-US" altLang="ko-KR" sz="800" dirty="0"/>
          </a:p>
        </p:txBody>
      </p: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780075" y="2990174"/>
            <a:ext cx="1133343"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23505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1.3.4 </a:t>
            </a:r>
            <a:r>
              <a:rPr lang="ko-KR" altLang="en-US" sz="1200" dirty="0">
                <a:solidFill>
                  <a:schemeClr val="tx1"/>
                </a:solidFill>
              </a:rPr>
              <a:t>이행</a:t>
            </a:r>
            <a:r>
              <a:rPr lang="en-US" altLang="ko-KR" sz="1200" dirty="0">
                <a:solidFill>
                  <a:schemeClr val="tx1"/>
                </a:solidFill>
              </a:rPr>
              <a:t>/</a:t>
            </a:r>
            <a:r>
              <a:rPr lang="ko-KR" altLang="en-US" sz="1200" dirty="0" smtClean="0">
                <a:solidFill>
                  <a:schemeClr val="tx1"/>
                </a:solidFill>
              </a:rPr>
              <a:t>적격심사 결과 </a:t>
            </a:r>
            <a:r>
              <a:rPr lang="en-US" altLang="ko-KR" sz="1200" dirty="0" smtClean="0">
                <a:solidFill>
                  <a:schemeClr val="tx1"/>
                </a:solidFill>
              </a:rPr>
              <a:t>(2/2)</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16" idx="3"/>
            <a:endCxn id="9" idx="1"/>
          </p:cNvCxnSpPr>
          <p:nvPr/>
        </p:nvCxnSpPr>
        <p:spPr>
          <a:xfrm>
            <a:off x="2808602" y="1949750"/>
            <a:ext cx="1151488"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8DD2481F-89D8-25C0-6E6F-7535C857EB4B}"/>
              </a:ext>
            </a:extLst>
          </p:cNvPr>
          <p:cNvCxnSpPr>
            <a:stCxn id="18" idx="3"/>
          </p:cNvCxnSpPr>
          <p:nvPr/>
        </p:nvCxnSpPr>
        <p:spPr>
          <a:xfrm>
            <a:off x="2808602" y="2473010"/>
            <a:ext cx="1151488"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19" idx="3"/>
            <a:endCxn id="9" idx="1"/>
          </p:cNvCxnSpPr>
          <p:nvPr/>
        </p:nvCxnSpPr>
        <p:spPr>
          <a:xfrm flipV="1">
            <a:off x="2808602" y="2990174"/>
            <a:ext cx="1151488"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8DD2481F-89D8-25C0-6E6F-7535C857EB4B}"/>
              </a:ext>
            </a:extLst>
          </p:cNvPr>
          <p:cNvCxnSpPr>
            <a:stCxn id="20" idx="3"/>
            <a:endCxn id="9" idx="1"/>
          </p:cNvCxnSpPr>
          <p:nvPr/>
        </p:nvCxnSpPr>
        <p:spPr>
          <a:xfrm flipV="1">
            <a:off x="2808602" y="2990174"/>
            <a:ext cx="1151488"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0" name="직선 화살표 연결선 39">
            <a:extLst>
              <a:ext uri="{FF2B5EF4-FFF2-40B4-BE49-F238E27FC236}">
                <a16:creationId xmlns:a16="http://schemas.microsoft.com/office/drawing/2014/main" id="{8DD2481F-89D8-25C0-6E6F-7535C857EB4B}"/>
              </a:ext>
            </a:extLst>
          </p:cNvPr>
          <p:cNvCxnSpPr>
            <a:stCxn id="22" idx="3"/>
            <a:endCxn id="9" idx="1"/>
          </p:cNvCxnSpPr>
          <p:nvPr/>
        </p:nvCxnSpPr>
        <p:spPr>
          <a:xfrm flipV="1">
            <a:off x="2808602" y="2990174"/>
            <a:ext cx="1151488"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8DD2481F-89D8-25C0-6E6F-7535C857EB4B}"/>
              </a:ext>
            </a:extLst>
          </p:cNvPr>
          <p:cNvCxnSpPr>
            <a:stCxn id="24" idx="3"/>
            <a:endCxn id="9" idx="1"/>
          </p:cNvCxnSpPr>
          <p:nvPr/>
        </p:nvCxnSpPr>
        <p:spPr>
          <a:xfrm flipV="1">
            <a:off x="2808602" y="2990174"/>
            <a:ext cx="1151488"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직선 화살표 연결선 45">
            <a:extLst>
              <a:ext uri="{FF2B5EF4-FFF2-40B4-BE49-F238E27FC236}">
                <a16:creationId xmlns:a16="http://schemas.microsoft.com/office/drawing/2014/main" id="{8DD2481F-89D8-25C0-6E6F-7535C857EB4B}"/>
              </a:ext>
            </a:extLst>
          </p:cNvPr>
          <p:cNvCxnSpPr>
            <a:stCxn id="27" idx="3"/>
            <a:endCxn id="9" idx="1"/>
          </p:cNvCxnSpPr>
          <p:nvPr/>
        </p:nvCxnSpPr>
        <p:spPr>
          <a:xfrm flipV="1">
            <a:off x="2808602" y="2990174"/>
            <a:ext cx="1151488"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9" name="직선 화살표 연결선 48">
            <a:extLst>
              <a:ext uri="{FF2B5EF4-FFF2-40B4-BE49-F238E27FC236}">
                <a16:creationId xmlns:a16="http://schemas.microsoft.com/office/drawing/2014/main" id="{8DD2481F-89D8-25C0-6E6F-7535C857EB4B}"/>
              </a:ext>
            </a:extLst>
          </p:cNvPr>
          <p:cNvCxnSpPr>
            <a:stCxn id="28" idx="3"/>
            <a:endCxn id="9" idx="1"/>
          </p:cNvCxnSpPr>
          <p:nvPr/>
        </p:nvCxnSpPr>
        <p:spPr>
          <a:xfrm flipV="1">
            <a:off x="2808602" y="2990174"/>
            <a:ext cx="1151488"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2" name="직선 화살표 연결선 51">
            <a:extLst>
              <a:ext uri="{FF2B5EF4-FFF2-40B4-BE49-F238E27FC236}">
                <a16:creationId xmlns:a16="http://schemas.microsoft.com/office/drawing/2014/main" id="{8DD2481F-89D8-25C0-6E6F-7535C857EB4B}"/>
              </a:ext>
            </a:extLst>
          </p:cNvPr>
          <p:cNvCxnSpPr>
            <a:stCxn id="29" idx="3"/>
            <a:endCxn id="9" idx="1"/>
          </p:cNvCxnSpPr>
          <p:nvPr/>
        </p:nvCxnSpPr>
        <p:spPr>
          <a:xfrm flipV="1">
            <a:off x="2808602" y="2990174"/>
            <a:ext cx="1151488" cy="316873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20751876"/>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공고 상단 공지사항은 기본 값으로 접힘 상태로 정보 제공</a:t>
            </a:r>
            <a:r>
              <a:rPr lang="en-US" altLang="ko-KR" dirty="0"/>
              <a:t/>
            </a:r>
            <a:br>
              <a:rPr lang="en-US" altLang="ko-KR" dirty="0"/>
            </a:br>
            <a:r>
              <a:rPr lang="en-US" altLang="ko-KR" dirty="0"/>
              <a:t>- </a:t>
            </a:r>
            <a:r>
              <a:rPr lang="ko-KR" altLang="en-US" dirty="0"/>
              <a:t>기본값 </a:t>
            </a:r>
            <a:r>
              <a:rPr lang="en-US" altLang="ko-KR" dirty="0"/>
              <a:t>: </a:t>
            </a:r>
            <a:r>
              <a:rPr lang="ko-KR" altLang="en-US" dirty="0"/>
              <a:t>접힘</a:t>
            </a:r>
            <a:r>
              <a:rPr lang="en-US" altLang="ko-KR" dirty="0"/>
              <a:t/>
            </a:r>
            <a:br>
              <a:rPr lang="en-US" altLang="ko-KR" dirty="0"/>
            </a:br>
            <a:r>
              <a:rPr lang="en-US" altLang="ko-KR" dirty="0"/>
              <a:t>- </a:t>
            </a:r>
            <a:r>
              <a:rPr lang="ko-KR" altLang="en-US" dirty="0"/>
              <a:t>사용자 </a:t>
            </a:r>
            <a:r>
              <a:rPr lang="ko-KR" altLang="en-US" dirty="0" err="1"/>
              <a:t>클릭시</a:t>
            </a:r>
            <a:r>
              <a:rPr lang="ko-KR" altLang="en-US" dirty="0"/>
              <a:t> 확장하여 정보 표시</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목록 표시</a:t>
            </a:r>
            <a:r>
              <a:rPr lang="en-US" altLang="ko-KR" dirty="0"/>
              <a:t/>
            </a:r>
            <a:br>
              <a:rPr lang="en-US" altLang="ko-KR" dirty="0"/>
            </a:br>
            <a:r>
              <a:rPr lang="en-US" altLang="ko-KR" dirty="0"/>
              <a:t>- </a:t>
            </a:r>
            <a:r>
              <a:rPr lang="ko-KR" altLang="en-US" dirty="0"/>
              <a:t>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카드 클릭으로 상세 이동</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a:t>
            </a:r>
            <a:r>
              <a:rPr lang="ko-KR" altLang="en-US" dirty="0"/>
              <a:t>입찰 공고 목록과 동일하게 사용</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개찰목록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t>개찰일시가</a:t>
            </a:r>
            <a:r>
              <a:rPr lang="ko-KR" altLang="en-US" dirty="0"/>
              <a:t> 도래한 이후 개찰 처리 및 결과를 확인하기 위한 통합 </a:t>
            </a:r>
            <a:r>
              <a:rPr lang="ko-KR" altLang="en-US" dirty="0" err="1"/>
              <a:t>목록조회</a:t>
            </a:r>
            <a:r>
              <a:rPr lang="ko-KR" altLang="en-US" dirty="0"/>
              <a:t>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62964"/>
            <a:ext cx="1404000" cy="193878"/>
          </a:xfrm>
        </p:spPr>
        <p:txBody>
          <a:bodyPr/>
          <a:lstStyle/>
          <a:p>
            <a:r>
              <a:rPr lang="en-US" altLang="ko-KR" dirty="0">
                <a:solidFill>
                  <a:srgbClr val="000000"/>
                </a:solidFill>
                <a:latin typeface="맑은 고딕" panose="020B0503020000020004" pitchFamily="50" charset="-127"/>
              </a:rPr>
              <a:t>MUI-BD-08-M01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3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1266"/>
            <a:ext cx="172130" cy="172130"/>
          </a:xfrm>
          <a:prstGeom prst="ellipse">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76067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grpSp>
        <p:nvGrpSpPr>
          <p:cNvPr id="6" name="그룹 5"/>
          <p:cNvGrpSpPr/>
          <p:nvPr/>
        </p:nvGrpSpPr>
        <p:grpSpPr>
          <a:xfrm>
            <a:off x="781461" y="3775952"/>
            <a:ext cx="2473257" cy="803737"/>
            <a:chOff x="781461" y="2610063"/>
            <a:chExt cx="2473257" cy="803737"/>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t>2026LGM000604191-01</a:t>
              </a:r>
              <a:endParaRPr lang="en-US" altLang="ko-KR" sz="700" dirty="0"/>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429326"/>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938545"/>
            <a:ext cx="2476203" cy="803737"/>
            <a:chOff x="778515" y="2610063"/>
            <a:chExt cx="2476203" cy="803737"/>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latin typeface="+mn-ea"/>
                </a:rPr>
                <a:t>통합참조번호</a:t>
              </a:r>
              <a:r>
                <a:rPr lang="ko-KR" altLang="en-US" sz="700" dirty="0" smtClean="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74311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5991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6325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325095"/>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3564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438426"/>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414183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920508"/>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80" name="모서리가 둥근 직사각형 79"/>
          <p:cNvSpPr/>
          <p:nvPr/>
        </p:nvSpPr>
        <p:spPr>
          <a:xfrm>
            <a:off x="4614060"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43186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318635"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4914986"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521597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5519047"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431863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47776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2367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431863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4777608"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523675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5701530"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6160677"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431863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4777608"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523675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5701530" y="339324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6242203" y="339324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7" y="255046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7" y="288299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3840447" y="321842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4318635" y="373602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7" y="374186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4318635" y="407296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3840447" y="407880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477997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509854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541711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5735683" y="407296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6310662"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662923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4318635"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4632613"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4946591"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5260569"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5574547"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5888525" y="424936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4318635" y="442159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4770377"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5084355"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5398333"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5712311" y="442159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4318635" y="47728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3840447" y="477864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4774588"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5235244"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5698510" y="477280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6203789" y="477280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6589589"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431863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3840447" y="514137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477609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523276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569022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6147576"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4318635" y="530791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5199541"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5885028"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4318635" y="547588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4876890" y="547588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5767485" y="547588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4304035" y="175916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61" name="모서리가 둥근 직사각형 160"/>
          <p:cNvSpPr/>
          <p:nvPr/>
        </p:nvSpPr>
        <p:spPr>
          <a:xfrm>
            <a:off x="4318635" y="5847205"/>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3840447" y="5853044"/>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4946591" y="5847205"/>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5462635" y="584720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590936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6282921"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665814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4321449"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4639917"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5025544"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5413995"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5727123"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6198542"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6669961"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4321056" y="220367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4905451"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5364598"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5818070"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6277293"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7" y="220951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59018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675399" y="32281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778515" y="3297144"/>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278206" y="3293090"/>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727990" y="3293090"/>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184" name="그룹 183"/>
          <p:cNvGrpSpPr/>
          <p:nvPr/>
        </p:nvGrpSpPr>
        <p:grpSpPr>
          <a:xfrm>
            <a:off x="3143548" y="3394913"/>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6" name="직선 연결선 18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7" name="그룹 186"/>
          <p:cNvGrpSpPr/>
          <p:nvPr/>
        </p:nvGrpSpPr>
        <p:grpSpPr>
          <a:xfrm>
            <a:off x="767702" y="2692701"/>
            <a:ext cx="2527420" cy="477995"/>
            <a:chOff x="786326" y="2270279"/>
            <a:chExt cx="2527420" cy="477995"/>
          </a:xfrm>
        </p:grpSpPr>
        <p:sp>
          <p:nvSpPr>
            <p:cNvPr id="188" name="모서리가 둥근 직사각형 187"/>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91" name="그룹 190"/>
            <p:cNvGrpSpPr/>
            <p:nvPr/>
          </p:nvGrpSpPr>
          <p:grpSpPr>
            <a:xfrm>
              <a:off x="795624" y="2274581"/>
              <a:ext cx="1299303" cy="155984"/>
              <a:chOff x="808107" y="2288229"/>
              <a:chExt cx="1189739" cy="168318"/>
            </a:xfrm>
          </p:grpSpPr>
          <p:sp>
            <p:nvSpPr>
              <p:cNvPr id="198"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9"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92" name="타원 191"/>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93"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94" name="타원 193"/>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2901631" y="2585953"/>
              <a:ext cx="58075" cy="58074"/>
              <a:chOff x="6812560" y="3297172"/>
              <a:chExt cx="94010" cy="94010"/>
            </a:xfrm>
          </p:grpSpPr>
          <p:cxnSp>
            <p:nvCxnSpPr>
              <p:cNvPr id="196" name="직선 연결선 19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78" name="그룹 177"/>
          <p:cNvGrpSpPr/>
          <p:nvPr/>
        </p:nvGrpSpPr>
        <p:grpSpPr>
          <a:xfrm>
            <a:off x="677960" y="1582647"/>
            <a:ext cx="2714637" cy="686386"/>
            <a:chOff x="677960" y="1582647"/>
            <a:chExt cx="2714637" cy="686386"/>
          </a:xfrm>
        </p:grpSpPr>
        <p:sp>
          <p:nvSpPr>
            <p:cNvPr id="200" name="TextBox 19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개찰목록</a:t>
              </a:r>
              <a:endParaRPr lang="ko-KR" altLang="en-US" sz="8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2" name="그룹 201"/>
            <p:cNvGrpSpPr/>
            <p:nvPr/>
          </p:nvGrpSpPr>
          <p:grpSpPr>
            <a:xfrm rot="5400000">
              <a:off x="852159" y="2062596"/>
              <a:ext cx="94010" cy="47005"/>
              <a:chOff x="6812560" y="3297172"/>
              <a:chExt cx="94010" cy="47005"/>
            </a:xfrm>
          </p:grpSpPr>
          <p:cxnSp>
            <p:nvCxnSpPr>
              <p:cNvPr id="209" name="직선 연결선 2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0" name="직선 연결선 2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5" name="직선 연결선 20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타원 20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타원 20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421891478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협상일자</a:t>
            </a:r>
            <a:r>
              <a:rPr lang="ko-KR" altLang="en-US" dirty="0">
                <a:solidFill>
                  <a:srgbClr val="FF0000"/>
                </a:solidFill>
              </a:rPr>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공고와 동일한 검색 필터로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MUI-BD-08-M02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236955"/>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6</a:t>
            </a:r>
            <a:endParaRPr lang="ko-KR" altLang="en-US" sz="1200"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499345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7</a:t>
            </a:r>
            <a:endParaRPr lang="ko-KR" altLang="en-US" sz="1200"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협상</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21462"/>
            <a:ext cx="388806"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809726"/>
          </a:xfrm>
          <a:prstGeom prst="rect">
            <a:avLst/>
          </a:prstGeom>
          <a:noFill/>
        </p:spPr>
        <p:txBody>
          <a:bodyPr wrap="square" lIns="0" tIns="0" rIns="0" bIns="0" rtlCol="0">
            <a:spAutoFit/>
          </a:bodyPr>
          <a:lstStyle/>
          <a:p>
            <a:pPr>
              <a:lnSpc>
                <a:spcPct val="210000"/>
              </a:lnSpc>
            </a:pPr>
            <a:r>
              <a:rPr lang="ko-KR" altLang="en-US" sz="700" dirty="0" err="1">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a:latin typeface="+mn-ea"/>
              </a:rPr>
              <a:t>낙찰방법</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1732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20605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42859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30374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47616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49198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4935824"/>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033514"/>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179649"/>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253063"/>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473623"/>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81786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8</a:t>
            </a:r>
            <a:endParaRPr lang="ko-KR" altLang="en-US" sz="1200" dirty="0"/>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59706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041407"/>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77766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77766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550345206"/>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71171"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개찰목록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dmt_bdopnListSrchCnd</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1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from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bdopnYmdFrom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from</a:t>
                      </a:r>
                      <a:r>
                        <a:rPr lang="ko-KR" altLang="en-US" sz="800" dirty="0">
                          <a:latin typeface="+mn-ea"/>
                          <a:ea typeface="+mn-ea"/>
                        </a:rPr>
                        <a:t>을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to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bdopnYmdTo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to</a:t>
                      </a:r>
                      <a:r>
                        <a:rPr lang="ko-KR" altLang="en-US" sz="800" dirty="0">
                          <a:latin typeface="+mn-ea"/>
                          <a:ea typeface="+mn-ea"/>
                        </a:rPr>
                        <a:t>를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bizSecd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rfrncNo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4849820"/>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prcmNo</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0791306"/>
                  </a:ext>
                </a:extLst>
              </a:tr>
              <a:tr h="0">
                <a:tc>
                  <a:txBody>
                    <a:bodyPr/>
                    <a:lstStyle/>
                    <a:p>
                      <a:pPr latinLnBrk="1"/>
                      <a:r>
                        <a:rPr lang="en-US" altLang="ko-KR" sz="800" dirty="0">
                          <a:latin typeface="+mn-ea"/>
                          <a:ea typeface="+mn-ea"/>
                        </a:rPr>
                        <a:t>G2B </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lt"/>
                          <a:ea typeface="+mn-ea"/>
                          <a:cs typeface="+mn-cs"/>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 </a:t>
                      </a:r>
                      <a:r>
                        <a:rPr lang="ko-KR" altLang="en-US" sz="800" dirty="0">
                          <a:latin typeface="+mn-ea"/>
                          <a:ea typeface="+mn-ea"/>
                        </a:rPr>
                        <a:t>공고번호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6284370"/>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3300958"/>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경쟁입찰</a:t>
                      </a:r>
                      <a:r>
                        <a:rPr lang="en-US" altLang="ko-KR" sz="800" dirty="0">
                          <a:latin typeface="+mn-ea"/>
                          <a:ea typeface="+mn-ea"/>
                        </a:rPr>
                        <a:t>, </a:t>
                      </a:r>
                      <a:r>
                        <a:rPr lang="ko-KR" altLang="en-US" sz="800" dirty="0">
                          <a:latin typeface="+mn-ea"/>
                          <a:ea typeface="+mn-ea"/>
                        </a:rPr>
                        <a:t>공개수의</a:t>
                      </a:r>
                      <a:r>
                        <a:rPr lang="en-US" altLang="ko-KR" sz="800" dirty="0">
                          <a:latin typeface="+mn-ea"/>
                          <a:ea typeface="+mn-ea"/>
                        </a:rPr>
                        <a:t>, </a:t>
                      </a:r>
                      <a:r>
                        <a:rPr lang="ko-KR" altLang="en-US" sz="800" dirty="0">
                          <a:latin typeface="+mn-ea"/>
                          <a:ea typeface="+mn-ea"/>
                        </a:rPr>
                        <a:t>비공개수의</a:t>
                      </a:r>
                      <a:r>
                        <a:rPr lang="en-US" altLang="ko-KR" sz="800" dirty="0">
                          <a:latin typeface="+mn-ea"/>
                          <a:ea typeface="+mn-ea"/>
                        </a:rPr>
                        <a:t> </a:t>
                      </a:r>
                      <a:r>
                        <a:rPr lang="ko-KR" altLang="en-US" sz="800" dirty="0">
                          <a:latin typeface="+mn-ea"/>
                          <a:ea typeface="+mn-ea"/>
                        </a:rPr>
                        <a:t>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0715507"/>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ctrtMthdCd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일반경쟁</a:t>
                      </a:r>
                      <a:r>
                        <a:rPr lang="en-US" altLang="ko-KR" sz="800" dirty="0">
                          <a:latin typeface="+mn-ea"/>
                          <a:ea typeface="+mn-ea"/>
                        </a:rPr>
                        <a:t>, </a:t>
                      </a:r>
                      <a:r>
                        <a:rPr lang="ko-KR" altLang="en-US" sz="800" dirty="0">
                          <a:latin typeface="+mn-ea"/>
                          <a:ea typeface="+mn-ea"/>
                        </a:rPr>
                        <a:t>지명경쟁</a:t>
                      </a:r>
                      <a:r>
                        <a:rPr lang="en-US" altLang="ko-KR" sz="800" dirty="0">
                          <a:latin typeface="+mn-ea"/>
                          <a:ea typeface="+mn-ea"/>
                        </a:rPr>
                        <a:t>, </a:t>
                      </a:r>
                      <a:r>
                        <a:rPr lang="ko-KR" altLang="en-US" sz="800" dirty="0">
                          <a:latin typeface="+mn-ea"/>
                          <a:ea typeface="+mn-ea"/>
                        </a:rPr>
                        <a:t>제한경쟁</a:t>
                      </a:r>
                      <a:r>
                        <a:rPr lang="en-US" altLang="ko-KR" sz="800" dirty="0">
                          <a:latin typeface="+mn-ea"/>
                          <a:ea typeface="+mn-ea"/>
                        </a:rPr>
                        <a:t>, </a:t>
                      </a:r>
                      <a:r>
                        <a:rPr lang="ko-KR" altLang="en-US" sz="800" dirty="0">
                          <a:latin typeface="+mn-ea"/>
                          <a:ea typeface="+mn-ea"/>
                        </a:rPr>
                        <a:t>복수경쟁</a:t>
                      </a:r>
                    </a:p>
                    <a:p>
                      <a:pPr algn="l" latinLnBrk="1"/>
                      <a:r>
                        <a:rPr lang="ko-KR" altLang="en-US" sz="800" dirty="0">
                          <a:latin typeface="+mn-ea"/>
                          <a:ea typeface="+mn-ea"/>
                        </a:rPr>
                        <a:t>수의계약</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전자</a:t>
                      </a:r>
                      <a:r>
                        <a:rPr lang="en-US" altLang="ko-KR" sz="800" dirty="0">
                          <a:latin typeface="+mn-ea"/>
                          <a:ea typeface="+mn-ea"/>
                        </a:rPr>
                        <a:t>), </a:t>
                      </a:r>
                      <a:r>
                        <a:rPr lang="ko-KR" altLang="en-US" sz="800" dirty="0">
                          <a:latin typeface="+mn-ea"/>
                          <a:ea typeface="+mn-ea"/>
                        </a:rPr>
                        <a:t>종합낙찰제</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동시</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분리</a:t>
                      </a:r>
                      <a:r>
                        <a:rPr lang="en-US" altLang="ko-KR" sz="800" dirty="0">
                          <a:latin typeface="+mn-ea"/>
                          <a:ea typeface="+mn-ea"/>
                        </a:rPr>
                        <a:t>), </a:t>
                      </a:r>
                      <a:r>
                        <a:rPr lang="ko-KR" altLang="en-US" sz="800" dirty="0" err="1">
                          <a:latin typeface="+mn-ea"/>
                          <a:ea typeface="+mn-ea"/>
                        </a:rPr>
                        <a:t>역경매</a:t>
                      </a:r>
                      <a:r>
                        <a:rPr lang="ko-KR" altLang="en-US" sz="800" dirty="0">
                          <a:latin typeface="+mn-ea"/>
                          <a:ea typeface="+mn-ea"/>
                        </a:rPr>
                        <a:t>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965197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scsbdMthdCd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협상</a:t>
                      </a:r>
                      <a:r>
                        <a:rPr lang="en-US" altLang="ko-KR" sz="800" dirty="0">
                          <a:latin typeface="+mn-ea"/>
                          <a:ea typeface="+mn-ea"/>
                        </a:rPr>
                        <a:t>, </a:t>
                      </a:r>
                      <a:r>
                        <a:rPr lang="ko-KR" altLang="en-US" sz="800" dirty="0">
                          <a:latin typeface="+mn-ea"/>
                          <a:ea typeface="+mn-ea"/>
                        </a:rPr>
                        <a:t>최저가격제</a:t>
                      </a:r>
                      <a:r>
                        <a:rPr lang="en-US" altLang="ko-KR" sz="800" dirty="0">
                          <a:latin typeface="+mn-ea"/>
                          <a:ea typeface="+mn-ea"/>
                        </a:rPr>
                        <a:t>, </a:t>
                      </a:r>
                      <a:r>
                        <a:rPr lang="ko-KR" altLang="en-US" sz="800" dirty="0">
                          <a:latin typeface="+mn-ea"/>
                          <a:ea typeface="+mn-ea"/>
                        </a:rPr>
                        <a:t>제한적최저가격제</a:t>
                      </a:r>
                      <a:r>
                        <a:rPr lang="en-US" altLang="ko-KR" sz="800" dirty="0">
                          <a:latin typeface="+mn-ea"/>
                          <a:ea typeface="+mn-ea"/>
                        </a:rPr>
                        <a:t>, </a:t>
                      </a:r>
                      <a:r>
                        <a:rPr lang="ko-KR" altLang="en-US" sz="800" dirty="0">
                          <a:latin typeface="+mn-ea"/>
                          <a:ea typeface="+mn-ea"/>
                        </a:rPr>
                        <a:t>적격심사제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650719"/>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bidRsltCd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낙찰</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공고취소</a:t>
                      </a:r>
                      <a:r>
                        <a:rPr lang="en-US" altLang="ko-KR" sz="800" dirty="0">
                          <a:latin typeface="+mn-ea"/>
                          <a:ea typeface="+mn-ea"/>
                        </a:rPr>
                        <a:t>, </a:t>
                      </a:r>
                      <a:r>
                        <a:rPr lang="ko-KR" altLang="en-US" sz="800" dirty="0">
                          <a:latin typeface="+mn-ea"/>
                          <a:ea typeface="+mn-ea"/>
                        </a:rPr>
                        <a:t>낙찰취소</a:t>
                      </a:r>
                      <a:r>
                        <a:rPr lang="en-US" altLang="ko-KR" sz="800" dirty="0">
                          <a:latin typeface="+mn-ea"/>
                          <a:ea typeface="+mn-ea"/>
                        </a:rPr>
                        <a:t>, </a:t>
                      </a:r>
                      <a:r>
                        <a:rPr lang="ko-KR" altLang="en-US" sz="800" dirty="0" err="1">
                          <a:latin typeface="+mn-ea"/>
                          <a:ea typeface="+mn-ea"/>
                        </a:rPr>
                        <a:t>심사중</a:t>
                      </a:r>
                      <a:r>
                        <a:rPr lang="en-US" altLang="ko-KR" sz="800" dirty="0">
                          <a:latin typeface="+mn-ea"/>
                          <a:ea typeface="+mn-ea"/>
                        </a:rPr>
                        <a:t>, </a:t>
                      </a:r>
                      <a:r>
                        <a:rPr lang="ko-KR" altLang="en-US" sz="800" dirty="0">
                          <a:latin typeface="+mn-ea"/>
                          <a:ea typeface="+mn-ea"/>
                        </a:rPr>
                        <a:t>유찰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012989"/>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prgrsStcd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계획등록</a:t>
                      </a:r>
                      <a:r>
                        <a:rPr lang="en-US" altLang="ko-KR" sz="800" dirty="0">
                          <a:latin typeface="+mn-ea"/>
                          <a:ea typeface="+mn-ea"/>
                        </a:rPr>
                        <a:t>, </a:t>
                      </a:r>
                      <a:r>
                        <a:rPr lang="ko-KR" altLang="en-US" sz="800" dirty="0">
                          <a:latin typeface="+mn-ea"/>
                          <a:ea typeface="+mn-ea"/>
                        </a:rPr>
                        <a:t>협상완료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5880653"/>
                  </a:ext>
                </a:extLst>
              </a:tr>
              <a:tr h="0">
                <a:tc>
                  <a:txBody>
                    <a:bodyPr/>
                    <a:lstStyle/>
                    <a:p>
                      <a:pPr latinLnBrk="1"/>
                      <a:r>
                        <a:rPr lang="ko-KR" altLang="en-US" sz="800" dirty="0">
                          <a:latin typeface="+mn-ea"/>
                          <a:ea typeface="+mn-ea"/>
                        </a:rPr>
                        <a:t>협상진행상태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ngtnStcd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계획확정</a:t>
                      </a:r>
                      <a:r>
                        <a:rPr lang="en-US" altLang="ko-KR" sz="800" dirty="0">
                          <a:latin typeface="+mn-ea"/>
                          <a:ea typeface="+mn-ea"/>
                        </a:rPr>
                        <a:t>, </a:t>
                      </a:r>
                      <a:r>
                        <a:rPr lang="ko-KR" altLang="en-US" sz="800" dirty="0">
                          <a:latin typeface="+mn-ea"/>
                          <a:ea typeface="+mn-ea"/>
                        </a:rPr>
                        <a:t>협상연기</a:t>
                      </a:r>
                      <a:r>
                        <a:rPr lang="en-US" altLang="ko-KR" sz="800" dirty="0">
                          <a:latin typeface="+mn-ea"/>
                          <a:ea typeface="+mn-ea"/>
                        </a:rPr>
                        <a:t>, </a:t>
                      </a:r>
                      <a:r>
                        <a:rPr lang="ko-KR" altLang="en-US" sz="800" dirty="0">
                          <a:latin typeface="+mn-ea"/>
                          <a:ea typeface="+mn-ea"/>
                        </a:rPr>
                        <a:t>협상취소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2693080"/>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orderInstNm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품목명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itemNm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6" name="TextBox 5">
            <a:extLst>
              <a:ext uri="{FF2B5EF4-FFF2-40B4-BE49-F238E27FC236}">
                <a16:creationId xmlns:a16="http://schemas.microsoft.com/office/drawing/2014/main" id="{517A0773-3C90-4900-FD26-1D4BE696EB5A}"/>
              </a:ext>
            </a:extLst>
          </p:cNvPr>
          <p:cNvSpPr txBox="1"/>
          <p:nvPr/>
        </p:nvSpPr>
        <p:spPr>
          <a:xfrm>
            <a:off x="458117" y="4873811"/>
            <a:ext cx="387502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dlt_prcmTaskPicBdopnList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49C690CC-6FCC-972B-2863-B2CCE89A50E8}"/>
              </a:ext>
            </a:extLst>
          </p:cNvPr>
          <p:cNvGraphicFramePr>
            <a:graphicFrameLocks noGrp="1"/>
          </p:cNvGraphicFramePr>
          <p:nvPr/>
        </p:nvGraphicFramePr>
        <p:xfrm>
          <a:off x="452999" y="5157565"/>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467518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0384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bidCycl</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0208478"/>
                  </a:ext>
                </a:extLst>
              </a:tr>
            </a:tbl>
          </a:graphicData>
        </a:graphic>
      </p:graphicFrame>
      <p:sp>
        <p:nvSpPr>
          <p:cNvPr id="2" name="Text Box 73">
            <a:extLst>
              <a:ext uri="{FF2B5EF4-FFF2-40B4-BE49-F238E27FC236}">
                <a16:creationId xmlns:a16="http://schemas.microsoft.com/office/drawing/2014/main" id="{BC0A6F9B-FBD4-D832-8BA6-F2C855422D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87006335"/>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149</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560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rfrncNo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543318"/>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8730929"/>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orderInstNm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156502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elgbSrngYn</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249138"/>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맑은 고딕" panose="020B0503020000020004" pitchFamily="50" charset="-127"/>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440566"/>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416585"/>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bdopnYmd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0884651"/>
                  </a:ext>
                </a:extLst>
              </a:tr>
              <a:tr h="0">
                <a:tc>
                  <a:txBody>
                    <a:bodyPr/>
                    <a:lstStyle/>
                    <a:p>
                      <a:pPr latinLnBrk="1"/>
                      <a:r>
                        <a:rPr lang="ko-KR" altLang="en-US" sz="800" dirty="0" err="1">
                          <a:latin typeface="+mn-ea"/>
                          <a:ea typeface="+mn-ea"/>
                        </a:rPr>
                        <a:t>투찰업체수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bidPrtcpBzentyCnt</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투찰업체수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6047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9173542"/>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201529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168429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554367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983534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처리 및 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입찰실시</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66474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공개협상심사결과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rlsNgtnSrngRslt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개찰완료 후 낙찰</a:t>
                      </a:r>
                      <a:r>
                        <a:rPr lang="en-US" altLang="ko-KR" sz="800" dirty="0">
                          <a:latin typeface="+mn-ea"/>
                          <a:ea typeface="+mn-ea"/>
                        </a:rPr>
                        <a:t>(</a:t>
                      </a:r>
                      <a:r>
                        <a:rPr lang="ko-KR" altLang="en-US" sz="800" dirty="0">
                          <a:latin typeface="+mn-ea"/>
                          <a:ea typeface="+mn-ea"/>
                        </a:rPr>
                        <a:t>심사결과</a:t>
                      </a:r>
                      <a:r>
                        <a:rPr lang="en-US" altLang="ko-KR" sz="800" dirty="0">
                          <a:latin typeface="+mn-ea"/>
                          <a:ea typeface="+mn-ea"/>
                        </a:rPr>
                        <a:t>)</a:t>
                      </a:r>
                      <a:r>
                        <a:rPr lang="ko-KR" altLang="en-US" sz="800" dirty="0">
                          <a:latin typeface="+mn-ea"/>
                          <a:ea typeface="+mn-ea"/>
                        </a:rPr>
                        <a:t>처리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협상심사</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0464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9310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vltrnsCtrtExclBzenty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 대상을 관리하기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부대조달정보체계 시스템인 경우 </a:t>
                      </a:r>
                      <a:r>
                        <a:rPr lang="en-US" altLang="ko-KR" sz="800" dirty="0">
                          <a:latin typeface="+mn-ea"/>
                          <a:ea typeface="+mn-ea"/>
                        </a:rPr>
                        <a:t>[</a:t>
                      </a:r>
                      <a:r>
                        <a:rPr lang="ko-KR" altLang="en-US" sz="800" dirty="0">
                          <a:latin typeface="+mn-ea"/>
                          <a:ea typeface="+mn-ea"/>
                        </a:rPr>
                        <a:t>상세조회</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1916311"/>
                  </a:ext>
                </a:extLst>
              </a:tr>
            </a:tbl>
          </a:graphicData>
        </a:graphic>
      </p:graphicFrame>
      <p:sp>
        <p:nvSpPr>
          <p:cNvPr id="2" name="TextBox 1">
            <a:extLst>
              <a:ext uri="{FF2B5EF4-FFF2-40B4-BE49-F238E27FC236}">
                <a16:creationId xmlns:a16="http://schemas.microsoft.com/office/drawing/2014/main" id="{5677BC4E-D32C-4D4B-E9BF-1AA274225B8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9E0FB53-C3E2-1404-BB2C-B1241E8127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89617730"/>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150</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163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9745003"/>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4296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2462476"/>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bidCycl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71950"/>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562520"/>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8813947"/>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254548"/>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0416942"/>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4662128"/>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orderInstNm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8200667"/>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elgbSrngYn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733713"/>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055691"/>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5466342"/>
                  </a:ext>
                </a:extLst>
              </a:tr>
              <a:tr h="0">
                <a:tc>
                  <a:txBody>
                    <a:bodyPr/>
                    <a:lstStyle/>
                    <a:p>
                      <a:pPr latinLnBrk="1"/>
                      <a:r>
                        <a:rPr lang="ko-KR" altLang="en-US" sz="800">
                          <a:latin typeface="+mn-ea"/>
                          <a:ea typeface="+mn-ea"/>
                        </a:rPr>
                        <a:t>개찰</a:t>
                      </a:r>
                      <a:r>
                        <a:rPr lang="en-US" altLang="ko-KR" sz="800">
                          <a:latin typeface="+mn-ea"/>
                          <a:ea typeface="+mn-ea"/>
                        </a:rPr>
                        <a:t>/</a:t>
                      </a:r>
                      <a:r>
                        <a:rPr lang="ko-KR" altLang="en-US" sz="800">
                          <a:latin typeface="+mn-ea"/>
                          <a:ea typeface="+mn-ea"/>
                        </a:rPr>
                        <a:t>협상일자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48100"/>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05551686"/>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194872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drctnYr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31131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투찰단가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bdngAmt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a:t>
                      </a:r>
                      <a:r>
                        <a:rPr lang="ko-KR" altLang="en-US" sz="800" dirty="0" err="1">
                          <a:latin typeface="+mn-ea"/>
                          <a:ea typeface="+mn-ea"/>
                        </a:rPr>
                        <a:t>투찰단가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922230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42275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scsbdRnk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03765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총점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tscr</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이행</a:t>
                      </a:r>
                      <a:r>
                        <a:rPr lang="en-US" altLang="ko-KR" sz="800" dirty="0">
                          <a:latin typeface="+mn-ea"/>
                          <a:ea typeface="+mn-ea"/>
                        </a:rPr>
                        <a:t>/</a:t>
                      </a:r>
                      <a:r>
                        <a:rPr lang="ko-KR" altLang="en-US" sz="800" dirty="0">
                          <a:latin typeface="+mn-ea"/>
                          <a:ea typeface="+mn-ea"/>
                        </a:rPr>
                        <a:t>적격심사 총점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9976529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7888309"/>
                  </a:ext>
                </a:extLst>
              </a:tr>
            </a:tbl>
          </a:graphicData>
        </a:graphic>
      </p:graphicFrame>
      <p:sp>
        <p:nvSpPr>
          <p:cNvPr id="2" name="TextBox 1">
            <a:extLst>
              <a:ext uri="{FF2B5EF4-FFF2-40B4-BE49-F238E27FC236}">
                <a16:creationId xmlns:a16="http://schemas.microsoft.com/office/drawing/2014/main" id="{895CA6CF-76CA-B609-4652-5BED7035BE89}"/>
              </a:ext>
            </a:extLst>
          </p:cNvPr>
          <p:cNvSpPr txBox="1"/>
          <p:nvPr/>
        </p:nvSpPr>
        <p:spPr>
          <a:xfrm>
            <a:off x="458117" y="803113"/>
            <a:ext cx="34822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업체담당자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dlt_bzentyPicBdopnList</a:t>
            </a:r>
            <a:r>
              <a:rPr lang="en-US" altLang="ko-KR" sz="900" b="1" dirty="0">
                <a:solidFill>
                  <a:prstClr val="black"/>
                </a:solidFill>
              </a:rPr>
              <a:t>)</a:t>
            </a:r>
            <a:endParaRPr lang="ko-KR" altLang="en-US" sz="900" b="1" dirty="0">
              <a:solidFill>
                <a:prstClr val="black"/>
              </a:solidFill>
            </a:endParaRPr>
          </a:p>
        </p:txBody>
      </p:sp>
      <p:sp>
        <p:nvSpPr>
          <p:cNvPr id="4" name="TextBox 3">
            <a:extLst>
              <a:ext uri="{FF2B5EF4-FFF2-40B4-BE49-F238E27FC236}">
                <a16:creationId xmlns:a16="http://schemas.microsoft.com/office/drawing/2014/main" id="{0B492A64-237C-FA85-C801-7DDAA9C0FE1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
        <p:nvSpPr>
          <p:cNvPr id="5" name="Text Box 73">
            <a:extLst>
              <a:ext uri="{FF2B5EF4-FFF2-40B4-BE49-F238E27FC236}">
                <a16:creationId xmlns:a16="http://schemas.microsoft.com/office/drawing/2014/main" id="{E05BE4AC-F306-16A2-182B-6A592E8C3D6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0922748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151</a:t>
            </a:fld>
            <a:endParaRPr lang="ko-KR" altLang="en-US" dirty="0"/>
          </a:p>
        </p:txBody>
      </p:sp>
      <p:graphicFrame>
        <p:nvGraphicFramePr>
          <p:cNvPr id="7" name="표 6">
            <a:extLst>
              <a:ext uri="{FF2B5EF4-FFF2-40B4-BE49-F238E27FC236}">
                <a16:creationId xmlns:a16="http://schemas.microsoft.com/office/drawing/2014/main" id="{24EA1FAA-2BCB-9B11-BA6C-5D4B50E48178}"/>
              </a:ext>
            </a:extLst>
          </p:cNvPr>
          <p:cNvGraphicFramePr>
            <a:graphicFrameLocks noGrp="1"/>
          </p:cNvGraphicFramePr>
          <p:nvPr>
            <p:extLst>
              <p:ext uri="{D42A27DB-BD31-4B8C-83A1-F6EECF244321}">
                <p14:modId xmlns:p14="http://schemas.microsoft.com/office/powerpoint/2010/main" val="2635192454"/>
              </p:ext>
            </p:extLst>
          </p:nvPr>
        </p:nvGraphicFramePr>
        <p:xfrm>
          <a:off x="452999" y="1014316"/>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562740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impltElgbSrngAply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심사신청</a:t>
                      </a:r>
                      <a:r>
                        <a:rPr lang="en-US" altLang="ko-KR" sz="800" dirty="0">
                          <a:latin typeface="+mn-ea"/>
                          <a:ea typeface="+mn-ea"/>
                        </a:rPr>
                        <a:t>], [</a:t>
                      </a:r>
                      <a:r>
                        <a:rPr lang="ko-KR" altLang="en-US" sz="800" dirty="0">
                          <a:latin typeface="+mn-ea"/>
                          <a:ea typeface="+mn-ea"/>
                        </a:rPr>
                        <a:t>심사결과</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3630144"/>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impltElgbSrngAbnd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적격심사포기하기 위한 버튼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심사포기</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7054663"/>
                  </a:ext>
                </a:extLst>
              </a:tr>
            </a:tbl>
          </a:graphicData>
        </a:graphic>
      </p:graphicFrame>
      <p:sp>
        <p:nvSpPr>
          <p:cNvPr id="2" name="TextBox 1">
            <a:extLst>
              <a:ext uri="{FF2B5EF4-FFF2-40B4-BE49-F238E27FC236}">
                <a16:creationId xmlns:a16="http://schemas.microsoft.com/office/drawing/2014/main" id="{367502D6-3923-9242-6222-571062EB83A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C617114-1DFD-1415-B519-F597022670B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9277518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152</a:t>
            </a:fld>
            <a:endParaRPr lang="ko-KR" altLang="en-US" dirty="0"/>
          </a:p>
        </p:txBody>
      </p:sp>
      <p:sp>
        <p:nvSpPr>
          <p:cNvPr id="10" name="TextBox 9">
            <a:extLst>
              <a:ext uri="{FF2B5EF4-FFF2-40B4-BE49-F238E27FC236}">
                <a16:creationId xmlns:a16="http://schemas.microsoft.com/office/drawing/2014/main" id="{B4E9886C-0490-14E5-5E1F-FF41A474EDD3}"/>
              </a:ext>
            </a:extLst>
          </p:cNvPr>
          <p:cNvSpPr txBox="1"/>
          <p:nvPr/>
        </p:nvSpPr>
        <p:spPr>
          <a:xfrm>
            <a:off x="460321"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7CA2CB13-9C7B-4E11-AAF6-25DDEBB58548}"/>
              </a:ext>
            </a:extLst>
          </p:cNvPr>
          <p:cNvGraphicFramePr>
            <a:graphicFrameLocks noGrp="1"/>
          </p:cNvGraphicFramePr>
          <p:nvPr>
            <p:extLst>
              <p:ext uri="{D42A27DB-BD31-4B8C-83A1-F6EECF244321}">
                <p14:modId xmlns:p14="http://schemas.microsoft.com/office/powerpoint/2010/main" val="3215158284"/>
              </p:ext>
            </p:extLst>
          </p:nvPr>
        </p:nvGraphicFramePr>
        <p:xfrm>
          <a:off x="455204" y="1014316"/>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페이지 오픈 시 실행되는 이벤트로 조회조건의 업무구분</a:t>
                      </a:r>
                      <a:r>
                        <a:rPr lang="en-US" altLang="ko-KR" sz="800" dirty="0">
                          <a:latin typeface="+mn-ea"/>
                          <a:ea typeface="+mn-ea"/>
                        </a:rPr>
                        <a:t>, </a:t>
                      </a:r>
                      <a:r>
                        <a:rPr lang="ko-KR" altLang="en-US" sz="800" dirty="0">
                          <a:latin typeface="+mn-ea"/>
                          <a:ea typeface="+mn-ea"/>
                        </a:rPr>
                        <a:t>입찰구분</a:t>
                      </a:r>
                      <a:r>
                        <a:rPr lang="en-US" altLang="ko-KR" sz="800" dirty="0">
                          <a:latin typeface="+mn-ea"/>
                          <a:ea typeface="+mn-ea"/>
                        </a:rPr>
                        <a:t>, </a:t>
                      </a:r>
                      <a:r>
                        <a:rPr lang="ko-KR" altLang="en-US" sz="800" dirty="0">
                          <a:latin typeface="+mn-ea"/>
                          <a:ea typeface="+mn-ea"/>
                        </a:rPr>
                        <a:t>계약방법</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낙찰방법</a:t>
                      </a:r>
                      <a:r>
                        <a:rPr lang="en-US" altLang="ko-KR" sz="800" dirty="0">
                          <a:latin typeface="+mn-ea"/>
                          <a:ea typeface="+mn-ea"/>
                        </a:rPr>
                        <a:t>, </a:t>
                      </a:r>
                      <a:r>
                        <a:rPr lang="ko-KR" altLang="en-US" sz="800" dirty="0">
                          <a:latin typeface="+mn-ea"/>
                          <a:ea typeface="+mn-ea"/>
                        </a:rPr>
                        <a:t>진행상태의 공통코드를 조회하여 해당 값을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조회조건에 해당하는 개찰목록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r h="0">
                <a:tc>
                  <a:txBody>
                    <a:bodyPr/>
                    <a:lstStyle/>
                    <a:p>
                      <a:r>
                        <a:rPr lang="ko-KR" altLang="en-US" sz="800" dirty="0"/>
                        <a:t>입찰결과 </a:t>
                      </a:r>
                      <a:r>
                        <a:rPr lang="ko-KR" altLang="en-US" sz="800" dirty="0">
                          <a:latin typeface="+mn-ea"/>
                          <a:ea typeface="+mn-ea"/>
                        </a:rPr>
                        <a:t>버튼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경쟁입찰 건에 대해 </a:t>
                      </a:r>
                      <a:r>
                        <a:rPr lang="en-US" altLang="ko-KR" sz="800" dirty="0">
                          <a:latin typeface="+mn-ea"/>
                          <a:ea typeface="+mn-ea"/>
                        </a:rPr>
                        <a:t>ROW</a:t>
                      </a:r>
                      <a:r>
                        <a:rPr lang="ko-KR" altLang="en-US" sz="800" dirty="0">
                          <a:latin typeface="+mn-ea"/>
                          <a:ea typeface="+mn-ea"/>
                        </a:rPr>
                        <a:t>에 해당하는 입찰결과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(UI-BD-09-M71)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계약관</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(UI-BD-09-M72)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4468946"/>
                  </a:ext>
                </a:extLst>
              </a:tr>
              <a:tr h="0">
                <a:tc>
                  <a:txBody>
                    <a:bodyPr/>
                    <a:lstStyle/>
                    <a:p>
                      <a:pPr latinLnBrk="1"/>
                      <a:r>
                        <a:rPr lang="ko-KR" altLang="en-US" sz="800" dirty="0">
                          <a:latin typeface="+mn-ea"/>
                          <a:ea typeface="+mn-ea"/>
                        </a:rPr>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latin typeface="+mn-ea"/>
                          <a:ea typeface="+mn-ea"/>
                        </a:rPr>
                        <a:t>scwin.btn_srngAbnd_onclick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포기 신청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(UI-BD-10-P19) </a:t>
                      </a: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9839002"/>
                  </a:ext>
                </a:extLst>
              </a:tr>
            </a:tbl>
          </a:graphicData>
        </a:graphic>
      </p:graphicFrame>
      <p:sp>
        <p:nvSpPr>
          <p:cNvPr id="5" name="Text Box 73">
            <a:extLst>
              <a:ext uri="{FF2B5EF4-FFF2-40B4-BE49-F238E27FC236}">
                <a16:creationId xmlns:a16="http://schemas.microsoft.com/office/drawing/2014/main" id="{9887C528-0210-8DD1-9ED5-E224C4396F5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9605050"/>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763570"/>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7635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763570"/>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763570"/>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9946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208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422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635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8495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0632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2769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463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입찰공고 </a:t>
            </a:r>
            <a:r>
              <a:rPr lang="ko-KR" altLang="en-US" dirty="0"/>
              <a:t>상세 화면 상단에 입찰 공고 정보 </a:t>
            </a:r>
            <a:r>
              <a:rPr lang="ko-KR" altLang="en-US" dirty="0" smtClean="0"/>
              <a:t>표시</a:t>
            </a:r>
            <a:endParaRPr lang="en-US" altLang="ko-KR" dirty="0"/>
          </a:p>
          <a:p>
            <a:pPr marL="228600" indent="-228600">
              <a:buFont typeface="+mj-lt"/>
              <a:buAutoNum type="arabicPeriod"/>
            </a:pPr>
            <a:r>
              <a:rPr lang="ko-KR" altLang="en-US" dirty="0" smtClean="0"/>
              <a:t>공고의 </a:t>
            </a:r>
            <a:r>
              <a:rPr lang="ko-KR" altLang="en-US" dirty="0"/>
              <a:t>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협상결과</a:t>
            </a:r>
            <a:r>
              <a:rPr lang="en-US" altLang="ko-KR" dirty="0">
                <a:solidFill>
                  <a:srgbClr val="FF0000"/>
                </a:solidFill>
              </a:rPr>
              <a:t>: MUI-BD-09-T04]</a:t>
            </a:r>
            <a:r>
              <a:rPr lang="ko-KR" altLang="en-US" dirty="0" smtClean="0">
                <a:solidFill>
                  <a:srgbClr val="FF0000"/>
                </a:solidFill>
              </a:rPr>
              <a:t> 및 </a:t>
            </a:r>
            <a:r>
              <a:rPr lang="en-US" altLang="ko-KR" dirty="0" smtClean="0">
                <a:solidFill>
                  <a:srgbClr val="FF0000"/>
                </a:solidFill>
              </a:rPr>
              <a:t>[</a:t>
            </a:r>
            <a:r>
              <a:rPr lang="ko-KR" altLang="en-US" dirty="0" smtClean="0">
                <a:solidFill>
                  <a:srgbClr val="FF0000"/>
                </a:solidFill>
              </a:rPr>
              <a:t>이행</a:t>
            </a:r>
            <a:r>
              <a:rPr lang="en-US" altLang="ko-KR" dirty="0" smtClean="0">
                <a:solidFill>
                  <a:srgbClr val="FF0000"/>
                </a:solidFill>
              </a:rPr>
              <a:t>/</a:t>
            </a:r>
            <a:r>
              <a:rPr lang="ko-KR" altLang="en-US" dirty="0" smtClean="0">
                <a:solidFill>
                  <a:srgbClr val="FF0000"/>
                </a:solidFill>
              </a:rPr>
              <a:t>적격심사결과</a:t>
            </a:r>
            <a:r>
              <a:rPr lang="en-US" altLang="ko-KR" dirty="0" smtClean="0">
                <a:solidFill>
                  <a:srgbClr val="FF0000"/>
                </a:solidFill>
              </a:rPr>
              <a:t>]</a:t>
            </a:r>
            <a:r>
              <a:rPr lang="ko-KR" altLang="en-US" dirty="0" smtClean="0">
                <a:solidFill>
                  <a:srgbClr val="FF0000"/>
                </a:solidFill>
              </a:rPr>
              <a:t>는 정보가 있으면 추가되는 </a:t>
            </a:r>
            <a:r>
              <a:rPr lang="ko-KR" altLang="en-US" dirty="0" err="1" smtClean="0">
                <a:solidFill>
                  <a:srgbClr val="FF0000"/>
                </a:solidFill>
              </a:rPr>
              <a:t>탭임</a:t>
            </a:r>
            <a:r>
              <a:rPr lang="en-US" altLang="ko-KR" dirty="0" smtClean="0">
                <a:solidFill>
                  <a:srgbClr val="FF0000"/>
                </a:solidFill>
              </a:rPr>
              <a:t>.</a:t>
            </a:r>
            <a:r>
              <a:rPr lang="ko-KR" altLang="en-US" dirty="0" smtClean="0">
                <a:solidFill>
                  <a:srgbClr val="FF0000"/>
                </a:solidFill>
              </a:rPr>
              <a:t> 유동적으로 추가됨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이행적격심사결과는 조건에 따라 노출 정보가 상이함</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r>
              <a:rPr lang="ko-KR" altLang="en-US" dirty="0" smtClean="0"/>
              <a:t>공고 </a:t>
            </a:r>
            <a:r>
              <a:rPr lang="ko-KR" altLang="en-US" dirty="0"/>
              <a:t>내용</a:t>
            </a:r>
            <a:r>
              <a:rPr lang="en-US" altLang="ko-KR" dirty="0"/>
              <a:t/>
            </a:r>
            <a:br>
              <a:rPr lang="en-US" altLang="ko-KR" dirty="0"/>
            </a:br>
            <a:r>
              <a:rPr lang="en-US" altLang="ko-KR" dirty="0"/>
              <a:t>- </a:t>
            </a:r>
            <a:r>
              <a:rPr lang="ko-KR" altLang="en-US" dirty="0" smtClean="0"/>
              <a:t>다음 페이지 참조</a:t>
            </a:r>
            <a:endParaRPr lang="en-US" altLang="ko-KR" dirty="0" smtClean="0"/>
          </a:p>
          <a:p>
            <a:pPr marL="228600" indent="-228600">
              <a:buFont typeface="+mj-lt"/>
              <a:buAutoNum type="arabicPeriod"/>
            </a:pPr>
            <a:r>
              <a:rPr lang="ko-KR" altLang="en-US" dirty="0" smtClean="0"/>
              <a:t>이행적격심사 대상인 </a:t>
            </a:r>
            <a:r>
              <a:rPr lang="ko-KR" altLang="en-US" dirty="0" err="1" smtClean="0"/>
              <a:t>입찰건은</a:t>
            </a:r>
            <a:r>
              <a:rPr lang="ko-KR" altLang="en-US" dirty="0" smtClean="0"/>
              <a:t> 버튼 노출</a:t>
            </a:r>
            <a:r>
              <a:rPr lang="en-US" altLang="ko-KR" dirty="0" smtClean="0"/>
              <a:t/>
            </a:r>
            <a:br>
              <a:rPr lang="en-US" altLang="ko-KR" dirty="0" smtClean="0"/>
            </a:br>
            <a:r>
              <a:rPr lang="en-US" altLang="ko-KR" dirty="0" smtClean="0"/>
              <a:t>- </a:t>
            </a:r>
            <a:r>
              <a:rPr lang="ko-KR" altLang="en-US" dirty="0" smtClean="0"/>
              <a:t>신청 버튼 클릭 </a:t>
            </a:r>
            <a:r>
              <a:rPr lang="ko-KR" altLang="en-US" dirty="0"/>
              <a:t>시 </a:t>
            </a:r>
            <a:r>
              <a:rPr lang="en-US" altLang="ko-KR" dirty="0" smtClean="0"/>
              <a:t>(</a:t>
            </a:r>
            <a:r>
              <a:rPr lang="ko-KR" altLang="en-US" dirty="0" smtClean="0"/>
              <a:t>이행</a:t>
            </a:r>
            <a:r>
              <a:rPr lang="en-US" altLang="ko-KR" dirty="0"/>
              <a:t>/</a:t>
            </a:r>
            <a:r>
              <a:rPr lang="ko-KR" altLang="en-US" dirty="0" smtClean="0"/>
              <a:t>적격심사상세</a:t>
            </a:r>
            <a:r>
              <a:rPr lang="ko-KR" altLang="en-US" dirty="0" smtClean="0">
                <a:latin typeface="+mn-ea"/>
              </a:rPr>
              <a:t> </a:t>
            </a:r>
            <a:r>
              <a:rPr lang="en-US" altLang="ko-KR" dirty="0" smtClean="0">
                <a:latin typeface="+mn-ea"/>
              </a:rPr>
              <a:t>MUI-BD-10-M01) </a:t>
            </a:r>
            <a:r>
              <a:rPr lang="ko-KR" altLang="en-US" dirty="0" smtClean="0">
                <a:latin typeface="+mn-ea"/>
              </a:rPr>
              <a:t>이동</a:t>
            </a:r>
            <a:r>
              <a:rPr lang="en-US" altLang="ko-KR" dirty="0" smtClean="0">
                <a:latin typeface="+mn-ea"/>
              </a:rPr>
              <a:t/>
            </a:r>
            <a:br>
              <a:rPr lang="en-US" altLang="ko-KR" dirty="0" smtClean="0">
                <a:latin typeface="+mn-ea"/>
              </a:rPr>
            </a:br>
            <a:r>
              <a:rPr lang="en-US" altLang="ko-KR" dirty="0" smtClean="0">
                <a:latin typeface="+mn-ea"/>
              </a:rPr>
              <a:t>- </a:t>
            </a:r>
            <a:r>
              <a:rPr lang="ko-KR" altLang="en-US" dirty="0" smtClean="0">
                <a:latin typeface="+mn-ea"/>
              </a:rPr>
              <a:t>포기 버튼 클릭 시 </a:t>
            </a:r>
            <a:r>
              <a:rPr lang="en-US" altLang="ko-KR" dirty="0" smtClean="0">
                <a:latin typeface="+mn-ea"/>
              </a:rPr>
              <a:t>(</a:t>
            </a:r>
            <a:r>
              <a:rPr lang="ko-KR" altLang="en-US" dirty="0"/>
              <a:t>이행</a:t>
            </a:r>
            <a:r>
              <a:rPr lang="en-US" altLang="ko-KR" dirty="0"/>
              <a:t>/</a:t>
            </a:r>
            <a:r>
              <a:rPr lang="ko-KR" altLang="en-US" dirty="0" smtClean="0"/>
              <a:t>적격심사포기신청</a:t>
            </a:r>
            <a:r>
              <a:rPr lang="en-US" altLang="ko-KR" dirty="0"/>
              <a:t>MUI-BD-10-P02</a:t>
            </a:r>
            <a:r>
              <a:rPr lang="en-US" altLang="ko-KR" dirty="0" smtClean="0">
                <a:latin typeface="+mn-ea"/>
              </a:rPr>
              <a:t>) </a:t>
            </a:r>
            <a:r>
              <a:rPr lang="ko-KR" altLang="en-US" dirty="0" smtClean="0">
                <a:latin typeface="+mn-ea"/>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또는</a:t>
            </a:r>
            <a:r>
              <a:rPr lang="en-US" altLang="ko-KR" dirty="0" smtClean="0">
                <a:solidFill>
                  <a:srgbClr val="FF0000"/>
                </a:solidFill>
              </a:rPr>
              <a:t> </a:t>
            </a:r>
            <a:r>
              <a:rPr lang="ko-KR" altLang="en-US" dirty="0">
                <a:solidFill>
                  <a:srgbClr val="FF0000"/>
                </a:solidFill>
              </a:rPr>
              <a:t>포기가 발생한 </a:t>
            </a:r>
            <a:r>
              <a:rPr lang="ko-KR" altLang="en-US" dirty="0" smtClean="0">
                <a:solidFill>
                  <a:srgbClr val="FF0000"/>
                </a:solidFill>
              </a:rPr>
              <a:t>경우</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a:t>
            </a:r>
            <a:r>
              <a:rPr lang="ko-KR" altLang="en-US" dirty="0">
                <a:solidFill>
                  <a:srgbClr val="FF0000"/>
                </a:solidFill>
              </a:rPr>
              <a:t>신청한 이후 포기할 수 </a:t>
            </a:r>
            <a:r>
              <a:rPr lang="ko-KR" altLang="en-US" dirty="0" smtClean="0">
                <a:solidFill>
                  <a:srgbClr val="FF0000"/>
                </a:solidFill>
              </a:rPr>
              <a:t>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이후 신청할 수 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저장한 상태에서는 신청</a:t>
            </a:r>
            <a:r>
              <a:rPr lang="en-US" altLang="ko-KR" dirty="0" smtClean="0">
                <a:solidFill>
                  <a:srgbClr val="FF0000"/>
                </a:solidFill>
              </a:rPr>
              <a:t>, </a:t>
            </a:r>
            <a:r>
              <a:rPr lang="ko-KR" altLang="en-US" dirty="0" smtClean="0">
                <a:solidFill>
                  <a:srgbClr val="FF0000"/>
                </a:solidFill>
              </a:rPr>
              <a:t>포기 버튼 그대로 노출</a:t>
            </a:r>
            <a:endParaRPr lang="en-US" altLang="ko-KR" dirty="0"/>
          </a:p>
          <a:p>
            <a:pPr marL="228600" indent="-228600">
              <a:buFont typeface="+mj-lt"/>
              <a:buAutoNum type="arabicPeriod"/>
            </a:pPr>
            <a:r>
              <a:rPr lang="ko-KR" altLang="en-US" dirty="0" smtClean="0"/>
              <a:t>이행적격심사에 신청</a:t>
            </a:r>
            <a:r>
              <a:rPr lang="en-US" altLang="ko-KR" dirty="0" smtClean="0"/>
              <a:t>(</a:t>
            </a:r>
            <a:r>
              <a:rPr lang="ko-KR" altLang="en-US" dirty="0" smtClean="0"/>
              <a:t>저장</a:t>
            </a:r>
            <a:r>
              <a:rPr lang="en-US" altLang="ko-KR" dirty="0" smtClean="0"/>
              <a:t>)</a:t>
            </a:r>
            <a:r>
              <a:rPr lang="ko-KR" altLang="en-US" dirty="0" smtClean="0"/>
              <a:t> 또는 포기한 경우 버튼 표시 변경</a:t>
            </a:r>
            <a:r>
              <a:rPr lang="en-US" altLang="ko-KR" dirty="0" smtClean="0"/>
              <a:t/>
            </a:r>
            <a:br>
              <a:rPr lang="en-US" altLang="ko-KR" dirty="0" smtClean="0"/>
            </a:br>
            <a:r>
              <a:rPr lang="en-US" altLang="ko-KR" dirty="0" smtClean="0"/>
              <a:t>- </a:t>
            </a:r>
            <a:r>
              <a:rPr lang="ko-KR" altLang="en-US" dirty="0" smtClean="0"/>
              <a:t>신청 정보에 맞는 화면 또는 팝업 호출하여 정보 표시</a:t>
            </a:r>
            <a:r>
              <a:rPr lang="en-US" altLang="ko-KR" dirty="0" smtClean="0"/>
              <a:t/>
            </a:r>
            <a:br>
              <a:rPr lang="en-US" altLang="ko-KR" dirty="0" smtClean="0"/>
            </a:br>
            <a:r>
              <a:rPr lang="en-US" altLang="ko-KR" dirty="0" smtClean="0">
                <a:solidFill>
                  <a:srgbClr val="FF0000"/>
                </a:solidFill>
              </a:rPr>
              <a:t>  &gt; </a:t>
            </a:r>
            <a:r>
              <a:rPr lang="ko-KR" altLang="en-US" dirty="0" smtClean="0">
                <a:solidFill>
                  <a:srgbClr val="FF0000"/>
                </a:solidFill>
              </a:rPr>
              <a:t>신청</a:t>
            </a:r>
            <a:r>
              <a:rPr lang="en-US" altLang="ko-KR" dirty="0" smtClean="0">
                <a:solidFill>
                  <a:srgbClr val="FF0000"/>
                </a:solidFill>
              </a:rPr>
              <a:t>(</a:t>
            </a:r>
            <a:r>
              <a:rPr lang="ko-KR" altLang="en-US" dirty="0" smtClean="0">
                <a:solidFill>
                  <a:srgbClr val="FF0000"/>
                </a:solidFill>
              </a:rPr>
              <a:t>저장</a:t>
            </a:r>
            <a:r>
              <a:rPr lang="en-US" altLang="ko-KR" dirty="0" smtClean="0">
                <a:solidFill>
                  <a:srgbClr val="FF0000"/>
                </a:solidFill>
              </a:rPr>
              <a:t>)</a:t>
            </a:r>
            <a:r>
              <a:rPr lang="ko-KR" altLang="en-US" dirty="0" smtClean="0">
                <a:solidFill>
                  <a:srgbClr val="FF0000"/>
                </a:solidFill>
              </a:rPr>
              <a:t>한 경우 신청 페이지에 제출한 파일을 포함하여 조회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경우 토스트 메시지 </a:t>
            </a:r>
            <a:r>
              <a:rPr lang="en-US" altLang="ko-KR" dirty="0" smtClean="0">
                <a:solidFill>
                  <a:srgbClr val="FF0000"/>
                </a:solidFill>
              </a:rPr>
              <a:t>– </a:t>
            </a:r>
            <a:r>
              <a:rPr lang="ko-KR" altLang="en-US" dirty="0" smtClean="0">
                <a:solidFill>
                  <a:srgbClr val="FF0000"/>
                </a:solidFill>
              </a:rPr>
              <a:t>이행적격심사를 포기했습니다</a:t>
            </a:r>
            <a:r>
              <a:rPr lang="en-US" altLang="ko-KR" dirty="0" smtClean="0">
                <a:solidFill>
                  <a:srgbClr val="FF0000"/>
                </a:solidFill>
              </a:rPr>
              <a:t>.</a:t>
            </a:r>
            <a:r>
              <a:rPr lang="ko-KR" altLang="en-US" dirty="0" smtClean="0">
                <a:solidFill>
                  <a:srgbClr val="FF0000"/>
                </a:solidFill>
              </a:rPr>
              <a:t> </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8163"/>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415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654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9953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687856"/>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71920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801187"/>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3497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13314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4133147"/>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4133147"/>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4133147"/>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34975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45608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569416"/>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1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884993" y="196416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077494"/>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271648"/>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2716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271648"/>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271648"/>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25027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2716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2930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143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357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251741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34896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71920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40969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4867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2964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449248"/>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3378769"/>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449248"/>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449248"/>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3378769"/>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3378769"/>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355703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3670367"/>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39554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40299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40838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43621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443662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44904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38203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38203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40656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382391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44723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4133147"/>
            <a:ext cx="424394" cy="107722"/>
          </a:xfrm>
          <a:prstGeom prst="rect">
            <a:avLst/>
          </a:prstGeom>
          <a:noFill/>
        </p:spPr>
        <p:txBody>
          <a:bodyPr wrap="square" lIns="0" tIns="0" rIns="0" bIns="0" rtlCol="0">
            <a:spAutoFit/>
          </a:bodyPr>
          <a:lstStyle/>
          <a:p>
            <a:pPr algn="ctr"/>
            <a:r>
              <a:rPr lang="ko-KR" altLang="en-US" sz="700" dirty="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409502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3" name="직선 연결선 292">
            <a:extLst>
              <a:ext uri="{FF2B5EF4-FFF2-40B4-BE49-F238E27FC236}">
                <a16:creationId xmlns:a16="http://schemas.microsoft.com/office/drawing/2014/main" id="{E9293055-D5CD-4B9E-7F64-64B2D2CA7A52}"/>
              </a:ext>
            </a:extLst>
          </p:cNvPr>
          <p:cNvCxnSpPr/>
          <p:nvPr/>
        </p:nvCxnSpPr>
        <p:spPr>
          <a:xfrm>
            <a:off x="3830188" y="18504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TextBox 295">
            <a:extLst>
              <a:ext uri="{FF2B5EF4-FFF2-40B4-BE49-F238E27FC236}">
                <a16:creationId xmlns:a16="http://schemas.microsoft.com/office/drawing/2014/main" id="{FFC49AEA-2A8F-250C-A86A-A7751D9706C3}"/>
              </a:ext>
            </a:extLst>
          </p:cNvPr>
          <p:cNvSpPr txBox="1"/>
          <p:nvPr/>
        </p:nvSpPr>
        <p:spPr>
          <a:xfrm>
            <a:off x="3873867" y="163387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97" name="TextBox 296">
            <a:extLst>
              <a:ext uri="{FF2B5EF4-FFF2-40B4-BE49-F238E27FC236}">
                <a16:creationId xmlns:a16="http://schemas.microsoft.com/office/drawing/2014/main" id="{FFC49AEA-2A8F-250C-A86A-A7751D9706C3}"/>
              </a:ext>
            </a:extLst>
          </p:cNvPr>
          <p:cNvSpPr txBox="1"/>
          <p:nvPr/>
        </p:nvSpPr>
        <p:spPr>
          <a:xfrm>
            <a:off x="4337921" y="1633872"/>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4807568" y="1633872"/>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5291572" y="1633872"/>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0188" y="185047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5782193" y="1633872"/>
            <a:ext cx="424394" cy="107722"/>
          </a:xfrm>
          <a:prstGeom prst="rect">
            <a:avLst/>
          </a:prstGeom>
          <a:noFill/>
        </p:spPr>
        <p:txBody>
          <a:bodyPr wrap="square" lIns="0" tIns="0" rIns="0" bIns="0" rtlCol="0">
            <a:spAutoFit/>
          </a:bodyPr>
          <a:lstStyle/>
          <a:p>
            <a:pPr algn="ctr"/>
            <a:r>
              <a:rPr lang="ko-KR" altLang="en-US" sz="700">
                <a:latin typeface="+mn-ea"/>
              </a:rPr>
              <a:t>이행</a:t>
            </a:r>
            <a:r>
              <a:rPr lang="en-US" altLang="ko-KR" sz="700" dirty="0">
                <a:latin typeface="+mn-ea"/>
              </a:rPr>
              <a:t>/</a:t>
            </a:r>
            <a:r>
              <a:rPr lang="ko-KR" altLang="en-US" sz="700" dirty="0">
                <a:latin typeface="+mn-ea"/>
              </a:rPr>
              <a:t>적격</a:t>
            </a:r>
          </a:p>
        </p:txBody>
      </p:sp>
      <p:grpSp>
        <p:nvGrpSpPr>
          <p:cNvPr id="302" name="그룹 301"/>
          <p:cNvGrpSpPr/>
          <p:nvPr/>
        </p:nvGrpSpPr>
        <p:grpSpPr>
          <a:xfrm>
            <a:off x="6033784" y="1595749"/>
            <a:ext cx="422853" cy="187961"/>
            <a:chOff x="3641308" y="2234886"/>
            <a:chExt cx="422853" cy="187961"/>
          </a:xfrm>
        </p:grpSpPr>
        <p:sp>
          <p:nvSpPr>
            <p:cNvPr id="303" name="타원 30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4" name="그룹 303"/>
            <p:cNvGrpSpPr/>
            <p:nvPr/>
          </p:nvGrpSpPr>
          <p:grpSpPr>
            <a:xfrm rot="5400000" flipH="1">
              <a:off x="3679895" y="2305364"/>
              <a:ext cx="94010" cy="47005"/>
              <a:chOff x="6812560" y="3297172"/>
              <a:chExt cx="94010" cy="47005"/>
            </a:xfrm>
          </p:grpSpPr>
          <p:cxnSp>
            <p:nvCxnSpPr>
              <p:cNvPr id="309" name="직선 연결선 3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0" name="직선 연결선 3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5" name="타원 30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6" name="그룹 305"/>
            <p:cNvGrpSpPr/>
            <p:nvPr/>
          </p:nvGrpSpPr>
          <p:grpSpPr>
            <a:xfrm rot="16200000">
              <a:off x="3931564" y="2305364"/>
              <a:ext cx="94010" cy="47005"/>
              <a:chOff x="6812560" y="3297172"/>
              <a:chExt cx="94010" cy="47005"/>
            </a:xfrm>
          </p:grpSpPr>
          <p:cxnSp>
            <p:nvCxnSpPr>
              <p:cNvPr id="307" name="직선 연결선 3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8" name="직선 연결선 3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51621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3" name="TextBox 312">
            <a:extLst>
              <a:ext uri="{FF2B5EF4-FFF2-40B4-BE49-F238E27FC236}">
                <a16:creationId xmlns:a16="http://schemas.microsoft.com/office/drawing/2014/main" id="{FFC49AEA-2A8F-250C-A86A-A7751D9706C3}"/>
              </a:ext>
            </a:extLst>
          </p:cNvPr>
          <p:cNvSpPr txBox="1"/>
          <p:nvPr/>
        </p:nvSpPr>
        <p:spPr>
          <a:xfrm>
            <a:off x="3878080" y="5229519"/>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69" name="그룹 168"/>
          <p:cNvGrpSpPr/>
          <p:nvPr/>
        </p:nvGrpSpPr>
        <p:grpSpPr>
          <a:xfrm>
            <a:off x="2714860" y="3381333"/>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3376698"/>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8" name="그룹 167"/>
          <p:cNvGrpSpPr/>
          <p:nvPr/>
        </p:nvGrpSpPr>
        <p:grpSpPr>
          <a:xfrm>
            <a:off x="3795734" y="5614711"/>
            <a:ext cx="2712027" cy="617588"/>
            <a:chOff x="675399" y="5614711"/>
            <a:chExt cx="2712027" cy="617588"/>
          </a:xfrm>
        </p:grpSpPr>
        <p:sp>
          <p:nvSpPr>
            <p:cNvPr id="179" name="직사각형 17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201" name="그룹 200"/>
          <p:cNvGrpSpPr/>
          <p:nvPr/>
        </p:nvGrpSpPr>
        <p:grpSpPr>
          <a:xfrm>
            <a:off x="3795734" y="6223005"/>
            <a:ext cx="2712027" cy="617588"/>
            <a:chOff x="675399" y="5614711"/>
            <a:chExt cx="2712027" cy="617588"/>
          </a:xfrm>
        </p:grpSpPr>
        <p:sp>
          <p:nvSpPr>
            <p:cNvPr id="202" name="직사각형 2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sp>
        <p:nvSpPr>
          <p:cNvPr id="33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332" name="평행 사변형 331"/>
          <p:cNvSpPr/>
          <p:nvPr/>
        </p:nvSpPr>
        <p:spPr>
          <a:xfrm rot="16200000" flipH="1">
            <a:off x="2167633" y="2721650"/>
            <a:ext cx="2847900" cy="408308"/>
          </a:xfrm>
          <a:prstGeom prst="parallelogram">
            <a:avLst>
              <a:gd name="adj" fmla="val 58472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3" name="타원 332">
            <a:extLst>
              <a:ext uri="{FF2B5EF4-FFF2-40B4-BE49-F238E27FC236}">
                <a16:creationId xmlns:a16="http://schemas.microsoft.com/office/drawing/2014/main" id="{37A7FF4F-0EAA-1463-560A-D5EC24416103}"/>
              </a:ext>
            </a:extLst>
          </p:cNvPr>
          <p:cNvSpPr/>
          <p:nvPr/>
        </p:nvSpPr>
        <p:spPr>
          <a:xfrm>
            <a:off x="3677103" y="555181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334" name="타원 333">
            <a:extLst>
              <a:ext uri="{FF2B5EF4-FFF2-40B4-BE49-F238E27FC236}">
                <a16:creationId xmlns:a16="http://schemas.microsoft.com/office/drawing/2014/main" id="{37A7FF4F-0EAA-1463-560A-D5EC24416103}"/>
              </a:ext>
            </a:extLst>
          </p:cNvPr>
          <p:cNvSpPr/>
          <p:nvPr/>
        </p:nvSpPr>
        <p:spPr>
          <a:xfrm>
            <a:off x="3677103" y="64245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335" name="그룹 334"/>
          <p:cNvGrpSpPr/>
          <p:nvPr/>
        </p:nvGrpSpPr>
        <p:grpSpPr>
          <a:xfrm>
            <a:off x="8223250" y="569392"/>
            <a:ext cx="3365500" cy="634511"/>
            <a:chOff x="8223250" y="569392"/>
            <a:chExt cx="3365500" cy="634511"/>
          </a:xfrm>
        </p:grpSpPr>
        <p:sp>
          <p:nvSpPr>
            <p:cNvPr id="336" name="직사각형 3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37" name="직사각형 3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grpSp>
        <p:nvGrpSpPr>
          <p:cNvPr id="188" name="그룹 187"/>
          <p:cNvGrpSpPr/>
          <p:nvPr/>
        </p:nvGrpSpPr>
        <p:grpSpPr>
          <a:xfrm>
            <a:off x="677960" y="1582647"/>
            <a:ext cx="2714637" cy="686386"/>
            <a:chOff x="677960" y="1582647"/>
            <a:chExt cx="2714637" cy="686386"/>
          </a:xfrm>
        </p:grpSpPr>
        <p:sp>
          <p:nvSpPr>
            <p:cNvPr id="191" name="TextBox 19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입찰결과 상세</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0" name="그룹 199"/>
            <p:cNvGrpSpPr/>
            <p:nvPr/>
          </p:nvGrpSpPr>
          <p:grpSpPr>
            <a:xfrm rot="5400000">
              <a:off x="852159" y="2062596"/>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1" name="직선 연결선 2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6" name="직선 연결선 20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타원 20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타원 20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410345127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err="1"/>
              <a:t>공고일반</a:t>
            </a:r>
            <a:r>
              <a:rPr lang="ko-KR" altLang="en-US" dirty="0"/>
              <a:t> 정보</a:t>
            </a:r>
            <a:r>
              <a:rPr lang="en-US" altLang="ko-KR" dirty="0"/>
              <a:t>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4308872"/>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lvl="0">
                <a:lnSpc>
                  <a:spcPct val="200000"/>
                </a:lnSpc>
              </a:pPr>
              <a:r>
                <a:rPr lang="ko-KR" altLang="en-US" sz="700" dirty="0" err="1">
                  <a:latin typeface="+mn-ea"/>
                </a:rPr>
                <a:t>사정률</a:t>
              </a:r>
              <a:r>
                <a:rPr lang="en-US" altLang="ko-KR" sz="700" dirty="0">
                  <a:latin typeface="+mn-ea"/>
                </a:rPr>
                <a:t>(%)</a:t>
              </a:r>
              <a:endParaRPr lang="ko-KR" altLang="en-US" sz="700" dirty="0">
                <a:latin typeface="+mn-ea"/>
              </a:endParaRP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err="1">
                  <a:latin typeface="+mn-ea"/>
                </a:rPr>
                <a:t>공사개요</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4062651"/>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a:p>
              <a:pPr>
                <a:lnSpc>
                  <a:spcPct val="200000"/>
                </a:lnSpc>
              </a:pPr>
              <a:r>
                <a:rPr lang="ko-KR" altLang="en-US" sz="700" dirty="0" err="1">
                  <a:latin typeface="+mn-ea"/>
                </a:rPr>
                <a:t>최저가격제</a:t>
              </a:r>
              <a:endParaRPr lang="en-US" altLang="ko-KR" sz="700" dirty="0">
                <a:latin typeface="+mn-ea"/>
              </a:endParaRPr>
            </a:p>
            <a:p>
              <a:pPr lvl="0">
                <a:lnSpc>
                  <a:spcPct val="200000"/>
                </a:lnSpc>
              </a:pPr>
              <a:r>
                <a:rPr lang="en-US" altLang="ko-KR" sz="700" dirty="0">
                  <a:latin typeface="+mn-ea"/>
                </a:rPr>
                <a:t>100,000,000</a:t>
              </a:r>
              <a:r>
                <a:rPr lang="ko-KR" altLang="en-US" sz="700" dirty="0">
                  <a:latin typeface="+mn-ea"/>
                </a:rPr>
                <a:t>원</a:t>
              </a:r>
              <a:endParaRPr lang="en-US" altLang="ko-KR" sz="700" dirty="0">
                <a:latin typeface="+mn-ea"/>
              </a:endParaRPr>
            </a:p>
            <a:p>
              <a:pPr>
                <a:lnSpc>
                  <a:spcPct val="200000"/>
                </a:lnSpc>
              </a:pPr>
              <a:r>
                <a:rPr lang="ko-KR" altLang="en-US" sz="700" dirty="0">
                  <a:latin typeface="+mn-ea"/>
                </a:rPr>
                <a:t>적용</a:t>
              </a:r>
              <a:endParaRPr lang="en-US" altLang="ko-KR" sz="700" dirty="0">
                <a:latin typeface="+mn-ea"/>
              </a:endParaRPr>
            </a:p>
            <a:p>
              <a:pPr lvl="0">
                <a:lnSpc>
                  <a:spcPct val="200000"/>
                </a:lnSpc>
              </a:pPr>
              <a:r>
                <a:rPr lang="en-US" altLang="ko-KR" sz="700" dirty="0">
                  <a:latin typeface="+mn-ea"/>
                </a:rPr>
                <a:t>2025-12-01 10:00</a:t>
              </a:r>
            </a:p>
            <a:p>
              <a:pPr>
                <a:lnSpc>
                  <a:spcPct val="200000"/>
                </a:lnSpc>
              </a:pPr>
              <a:r>
                <a:rPr lang="ko-KR" altLang="en-US" sz="700" dirty="0">
                  <a:latin typeface="+mn-ea"/>
                </a:rPr>
                <a:t>비대상</a:t>
              </a:r>
              <a:endParaRPr lang="en-US" altLang="ko-KR" sz="700" dirty="0">
                <a:latin typeface="+mn-ea"/>
              </a:endParaRPr>
            </a:p>
            <a:p>
              <a:pPr lvl="0">
                <a:lnSpc>
                  <a:spcPct val="200000"/>
                </a:lnSpc>
              </a:pPr>
              <a:r>
                <a:rPr lang="en-US" altLang="ko-KR" sz="700" dirty="0">
                  <a:latin typeface="+mn-ea"/>
                </a:rPr>
                <a:t>2025-12-01 09:00</a:t>
              </a:r>
            </a:p>
            <a:p>
              <a:pPr>
                <a:lnSpc>
                  <a:spcPct val="200000"/>
                </a:lnSpc>
              </a:pPr>
              <a:endParaRPr lang="en-US" altLang="ko-KR" sz="700" dirty="0">
                <a:latin typeface="+mn-ea"/>
              </a:endParaRPr>
            </a:p>
            <a:p>
              <a:pPr lvl="0">
                <a:lnSpc>
                  <a:spcPct val="200000"/>
                </a:lnSpc>
              </a:pPr>
              <a:r>
                <a:rPr lang="en-US" altLang="ko-KR" sz="700" dirty="0">
                  <a:latin typeface="+mn-ea"/>
                </a:rPr>
                <a:t>98,000,000</a:t>
              </a:r>
              <a:r>
                <a:rPr lang="ko-KR" altLang="en-US" sz="700" dirty="0">
                  <a:latin typeface="+mn-ea"/>
                </a:rPr>
                <a:t>원</a:t>
              </a:r>
              <a:endParaRPr lang="en-US" altLang="ko-KR" sz="700" dirty="0">
                <a:latin typeface="+mn-ea"/>
              </a:endParaRPr>
            </a:p>
            <a:p>
              <a:pPr lvl="0">
                <a:lnSpc>
                  <a:spcPct val="200000"/>
                </a:lnSpc>
              </a:pPr>
              <a:r>
                <a:rPr lang="en-US" altLang="ko-KR" sz="700" dirty="0">
                  <a:latin typeface="+mn-ea"/>
                </a:rPr>
                <a:t>-3 ~ 3</a:t>
              </a: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2811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2800767"/>
          </a:xfrm>
          <a:prstGeom prst="rect">
            <a:avLst/>
          </a:prstGeom>
          <a:noFill/>
        </p:spPr>
        <p:txBody>
          <a:bodyPr wrap="square" lIns="0" tIns="0" rIns="0" bIns="0" rtlCol="0">
            <a:spAutoFit/>
          </a:bodyPr>
          <a:lstStyle/>
          <a:p>
            <a:pPr>
              <a:lnSpc>
                <a:spcPct val="200000"/>
              </a:lnSpc>
            </a:pPr>
            <a:r>
              <a:rPr lang="ko-KR" altLang="en-US" sz="700" dirty="0">
                <a:latin typeface="+mn-ea"/>
              </a:rPr>
              <a:t>위치</a:t>
            </a:r>
            <a:endParaRPr lang="en-US" altLang="ko-KR" sz="700" dirty="0">
              <a:latin typeface="+mn-ea"/>
            </a:endParaRPr>
          </a:p>
          <a:p>
            <a:pPr>
              <a:lnSpc>
                <a:spcPct val="200000"/>
              </a:lnSpc>
            </a:pPr>
            <a:r>
              <a:rPr lang="ko-KR" altLang="en-US" sz="700" dirty="0">
                <a:latin typeface="+mn-ea"/>
              </a:rPr>
              <a:t>공사기간</a:t>
            </a:r>
            <a:endParaRPr lang="en-US" altLang="ko-KR" sz="700" dirty="0">
              <a:latin typeface="+mn-ea"/>
            </a:endParaRPr>
          </a:p>
          <a:p>
            <a:pPr lvl="0">
              <a:lnSpc>
                <a:spcPct val="200000"/>
              </a:lnSpc>
            </a:pPr>
            <a:r>
              <a:rPr lang="ko-KR" altLang="en-US" sz="700" dirty="0">
                <a:latin typeface="+mn-ea"/>
              </a:rPr>
              <a:t>예정가격 순공사원가의 </a:t>
            </a:r>
            <a:r>
              <a:rPr lang="en-US" altLang="ko-KR" sz="700" dirty="0">
                <a:latin typeface="+mn-ea"/>
              </a:rPr>
              <a:t>100</a:t>
            </a:r>
            <a:r>
              <a:rPr lang="ko-KR" altLang="en-US" sz="700" dirty="0">
                <a:latin typeface="+mn-ea"/>
              </a:rPr>
              <a:t>분의 </a:t>
            </a:r>
            <a:r>
              <a:rPr lang="en-US" altLang="ko-KR" sz="700" dirty="0">
                <a:latin typeface="+mn-ea"/>
              </a:rPr>
              <a:t>98</a:t>
            </a:r>
          </a:p>
          <a:p>
            <a:pPr>
              <a:lnSpc>
                <a:spcPct val="200000"/>
              </a:lnSpc>
            </a:pPr>
            <a:r>
              <a:rPr lang="ko-KR" altLang="en-US" sz="700" dirty="0">
                <a:latin typeface="+mn-ea"/>
              </a:rPr>
              <a:t>예정가격</a:t>
            </a:r>
            <a:endParaRPr lang="en-US" altLang="ko-KR" sz="700" dirty="0">
              <a:latin typeface="+mn-ea"/>
            </a:endParaRPr>
          </a:p>
          <a:p>
            <a:pPr>
              <a:lnSpc>
                <a:spcPct val="200000"/>
              </a:lnSpc>
            </a:pPr>
            <a:r>
              <a:rPr lang="ko-KR" altLang="en-US" sz="700" dirty="0">
                <a:latin typeface="+mn-ea"/>
              </a:rPr>
              <a:t>가격평가비중</a:t>
            </a:r>
            <a:endParaRPr lang="en-US" altLang="ko-KR" sz="700" dirty="0">
              <a:latin typeface="+mn-ea"/>
            </a:endParaRPr>
          </a:p>
          <a:p>
            <a:pPr>
              <a:lnSpc>
                <a:spcPct val="200000"/>
              </a:lnSpc>
            </a:pPr>
            <a:r>
              <a:rPr lang="ko-KR" altLang="en-US" sz="700" dirty="0">
                <a:latin typeface="+mn-ea"/>
              </a:rPr>
              <a:t>입찰결과</a:t>
            </a:r>
            <a:endParaRPr lang="en-US" altLang="ko-KR" sz="700" dirty="0">
              <a:latin typeface="+mn-ea"/>
            </a:endParaRPr>
          </a:p>
          <a:p>
            <a:pPr>
              <a:lnSpc>
                <a:spcPct val="200000"/>
              </a:lnSpc>
            </a:pPr>
            <a:r>
              <a:rPr lang="ko-KR" altLang="en-US" sz="700" dirty="0" err="1">
                <a:latin typeface="+mn-ea"/>
              </a:rPr>
              <a:t>협상형태</a:t>
            </a:r>
            <a:endParaRPr lang="en-US" altLang="ko-KR" sz="700" dirty="0">
              <a:latin typeface="+mn-ea"/>
            </a:endParaRPr>
          </a:p>
          <a:p>
            <a:pPr>
              <a:lnSpc>
                <a:spcPct val="200000"/>
              </a:lnSpc>
            </a:pPr>
            <a:r>
              <a:rPr lang="ko-KR" altLang="en-US" sz="700" dirty="0" err="1">
                <a:latin typeface="+mn-ea"/>
              </a:rPr>
              <a:t>협상장소</a:t>
            </a:r>
            <a:endParaRPr lang="en-US" altLang="ko-KR" sz="700" dirty="0">
              <a:latin typeface="+mn-ea"/>
            </a:endParaRPr>
          </a:p>
          <a:p>
            <a:pPr>
              <a:lnSpc>
                <a:spcPct val="200000"/>
              </a:lnSpc>
            </a:pPr>
            <a:r>
              <a:rPr lang="ko-KR" altLang="en-US" sz="700" dirty="0">
                <a:latin typeface="+mn-ea"/>
              </a:rPr>
              <a:t>협상결과</a:t>
            </a:r>
            <a:endParaRPr lang="en-US" altLang="ko-KR" sz="700" dirty="0">
              <a:latin typeface="+mn-ea"/>
            </a:endParaRPr>
          </a:p>
          <a:p>
            <a:pPr>
              <a:lnSpc>
                <a:spcPct val="200000"/>
              </a:lnSpc>
            </a:pPr>
            <a:r>
              <a:rPr lang="ko-KR" altLang="en-US" sz="700" dirty="0">
                <a:latin typeface="+mn-ea"/>
              </a:rPr>
              <a:t>재입찰대상구분</a:t>
            </a:r>
            <a:endParaRPr lang="en-US" altLang="ko-KR" sz="700" dirty="0">
              <a:latin typeface="+mn-ea"/>
            </a:endParaRPr>
          </a:p>
          <a:p>
            <a:pPr>
              <a:lnSpc>
                <a:spcPct val="200000"/>
              </a:lnSpc>
            </a:pPr>
            <a:r>
              <a:rPr lang="ko-KR" altLang="en-US" sz="700" dirty="0">
                <a:latin typeface="+mn-ea"/>
              </a:rPr>
              <a:t>재입찰 차수</a:t>
            </a:r>
            <a:endParaRPr lang="en-US" altLang="ko-KR" sz="700" dirty="0">
              <a:latin typeface="+mn-ea"/>
            </a:endParaRPr>
          </a:p>
          <a:p>
            <a:pPr>
              <a:lnSpc>
                <a:spcPct val="200000"/>
              </a:lnSpc>
            </a:pPr>
            <a:r>
              <a:rPr lang="ko-KR" altLang="en-US" sz="700" dirty="0" err="1">
                <a:latin typeface="+mn-ea"/>
              </a:rPr>
              <a:t>유찰사유</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2800767"/>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서울 용산</a:t>
            </a:r>
            <a:endParaRPr lang="en-US" altLang="ko-KR" dirty="0"/>
          </a:p>
          <a:p>
            <a:endParaRPr lang="en-US" altLang="ko-KR" dirty="0"/>
          </a:p>
          <a:p>
            <a:endParaRPr lang="en-US" altLang="ko-KR" dirty="0"/>
          </a:p>
          <a:p>
            <a:endParaRPr lang="en-US" altLang="ko-KR" dirty="0"/>
          </a:p>
          <a:p>
            <a:r>
              <a:rPr lang="en-US" altLang="ko-KR" dirty="0"/>
              <a:t>98,000,000</a:t>
            </a:r>
            <a:r>
              <a:rPr lang="ko-KR" altLang="en-US" dirty="0"/>
              <a:t>원</a:t>
            </a:r>
            <a:endParaRPr lang="en-US" altLang="ko-KR" dirty="0"/>
          </a:p>
          <a:p>
            <a:endParaRPr lang="en-US" altLang="ko-KR" dirty="0"/>
          </a:p>
          <a:p>
            <a:endParaRPr lang="en-US" altLang="ko-KR" dirty="0"/>
          </a:p>
          <a:p>
            <a:r>
              <a:rPr lang="ko-KR" altLang="en-US" dirty="0" err="1"/>
              <a:t>전자협상</a:t>
            </a:r>
            <a:endParaRPr lang="en-US" altLang="ko-KR" dirty="0"/>
          </a:p>
          <a:p>
            <a:r>
              <a:rPr lang="ko-KR" altLang="en-US" dirty="0" err="1"/>
              <a:t>테스트장소</a:t>
            </a:r>
            <a:endParaRPr lang="en-US" altLang="ko-KR" dirty="0"/>
          </a:p>
          <a:p>
            <a:endParaRPr lang="en-US" altLang="ko-KR" dirty="0"/>
          </a:p>
          <a:p>
            <a:pPr lvl="0"/>
            <a:r>
              <a:rPr lang="ko-KR" altLang="en-US" dirty="0"/>
              <a:t>재입찰 대상</a:t>
            </a:r>
            <a:endParaRPr lang="en-US" altLang="ko-KR" dirty="0"/>
          </a:p>
          <a:p>
            <a:pPr lvl="0"/>
            <a:r>
              <a:rPr lang="en-US" altLang="ko-KR" dirty="0"/>
              <a:t>01 </a:t>
            </a:r>
            <a:r>
              <a:rPr lang="ko-KR" altLang="en-US" dirty="0"/>
              <a:t>차수</a:t>
            </a:r>
            <a:endParaRPr lang="en-US" altLang="ko-KR" dirty="0"/>
          </a:p>
          <a:p>
            <a:endParaRPr lang="en-US" altLang="ko-KR" dirty="0"/>
          </a:p>
        </p:txBody>
      </p:sp>
      <p:grpSp>
        <p:nvGrpSpPr>
          <p:cNvPr id="231" name="그룹 230"/>
          <p:cNvGrpSpPr/>
          <p:nvPr/>
        </p:nvGrpSpPr>
        <p:grpSpPr>
          <a:xfrm>
            <a:off x="3821509" y="1493784"/>
            <a:ext cx="2630093" cy="2811240"/>
            <a:chOff x="701175" y="1835481"/>
            <a:chExt cx="2630093" cy="281124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35766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7913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006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217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4431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46467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1" name="TextBox 70">
            <a:extLst>
              <a:ext uri="{FF2B5EF4-FFF2-40B4-BE49-F238E27FC236}">
                <a16:creationId xmlns:a16="http://schemas.microsoft.com/office/drawing/2014/main" id="{FFC49AEA-2A8F-250C-A86A-A7751D9706C3}"/>
              </a:ext>
            </a:extLst>
          </p:cNvPr>
          <p:cNvSpPr txBox="1"/>
          <p:nvPr/>
        </p:nvSpPr>
        <p:spPr>
          <a:xfrm>
            <a:off x="3878080" y="453709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72" name="그룹 71"/>
          <p:cNvGrpSpPr/>
          <p:nvPr/>
        </p:nvGrpSpPr>
        <p:grpSpPr>
          <a:xfrm flipV="1">
            <a:off x="6240167" y="4650426"/>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모서리가 둥근 직사각형 74"/>
          <p:cNvSpPr/>
          <p:nvPr/>
        </p:nvSpPr>
        <p:spPr>
          <a:xfrm>
            <a:off x="3831550" y="49354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4332218" y="50100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909746" y="50638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9" name="모서리가 둥근 직사각형 78"/>
          <p:cNvSpPr/>
          <p:nvPr/>
        </p:nvSpPr>
        <p:spPr>
          <a:xfrm>
            <a:off x="3831550" y="53421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4332218" y="54166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1" name="TextBox 80">
            <a:extLst>
              <a:ext uri="{FF2B5EF4-FFF2-40B4-BE49-F238E27FC236}">
                <a16:creationId xmlns:a16="http://schemas.microsoft.com/office/drawing/2014/main" id="{FFC49AEA-2A8F-250C-A86A-A7751D9706C3}"/>
              </a:ext>
            </a:extLst>
          </p:cNvPr>
          <p:cNvSpPr txBox="1"/>
          <p:nvPr/>
        </p:nvSpPr>
        <p:spPr>
          <a:xfrm>
            <a:off x="3909746" y="54705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5" y="441292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7" name="TextBox 86">
            <a:extLst>
              <a:ext uri="{FF2B5EF4-FFF2-40B4-BE49-F238E27FC236}">
                <a16:creationId xmlns:a16="http://schemas.microsoft.com/office/drawing/2014/main" id="{FFC49AEA-2A8F-250C-A86A-A7751D9706C3}"/>
              </a:ext>
            </a:extLst>
          </p:cNvPr>
          <p:cNvSpPr txBox="1"/>
          <p:nvPr/>
        </p:nvSpPr>
        <p:spPr>
          <a:xfrm>
            <a:off x="4332218" y="48003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38314" y="48003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90" name="타원 89"/>
          <p:cNvSpPr/>
          <p:nvPr/>
        </p:nvSpPr>
        <p:spPr>
          <a:xfrm>
            <a:off x="6206587" y="50457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FFC49AEA-2A8F-250C-A86A-A7751D9706C3}"/>
              </a:ext>
            </a:extLst>
          </p:cNvPr>
          <p:cNvSpPr txBox="1"/>
          <p:nvPr/>
        </p:nvSpPr>
        <p:spPr>
          <a:xfrm>
            <a:off x="6116103" y="4803976"/>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93" name="타원 92"/>
          <p:cNvSpPr/>
          <p:nvPr/>
        </p:nvSpPr>
        <p:spPr>
          <a:xfrm>
            <a:off x="6206587" y="54524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8" name="그룹 77"/>
          <p:cNvGrpSpPr/>
          <p:nvPr/>
        </p:nvGrpSpPr>
        <p:grpSpPr>
          <a:xfrm>
            <a:off x="3795734" y="5614711"/>
            <a:ext cx="2712027" cy="617588"/>
            <a:chOff x="675399" y="5614711"/>
            <a:chExt cx="2712027" cy="617588"/>
          </a:xfrm>
        </p:grpSpPr>
        <p:sp>
          <p:nvSpPr>
            <p:cNvPr id="82" name="직사각형 8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4"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85" name="그룹 84"/>
          <p:cNvGrpSpPr/>
          <p:nvPr/>
        </p:nvGrpSpPr>
        <p:grpSpPr>
          <a:xfrm>
            <a:off x="3795734" y="6223005"/>
            <a:ext cx="2712027" cy="617588"/>
            <a:chOff x="675399" y="5614711"/>
            <a:chExt cx="2712027" cy="617588"/>
          </a:xfrm>
        </p:grpSpPr>
        <p:sp>
          <p:nvSpPr>
            <p:cNvPr id="88" name="직사각형 8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3843278987"/>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담당자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25456"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2" name="TextBox 81">
            <a:extLst>
              <a:ext uri="{FF2B5EF4-FFF2-40B4-BE49-F238E27FC236}">
                <a16:creationId xmlns:a16="http://schemas.microsoft.com/office/drawing/2014/main" id="{FFC49AEA-2A8F-250C-A86A-A7751D9706C3}"/>
              </a:ext>
            </a:extLst>
          </p:cNvPr>
          <p:cNvSpPr txBox="1"/>
          <p:nvPr/>
        </p:nvSpPr>
        <p:spPr>
          <a:xfrm>
            <a:off x="83351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업무</a:t>
            </a:r>
            <a:endParaRPr lang="en-US" altLang="ko-KR" sz="600" dirty="0">
              <a:solidFill>
                <a:schemeClr val="tx1">
                  <a:lumMod val="85000"/>
                  <a:lumOff val="15000"/>
                </a:schemeClr>
              </a:solidFill>
              <a:latin typeface="맑은 고딕" panose="020B0503020000020004" pitchFamily="50" charset="-127"/>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1626518"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253908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92" name="모서리가 둥근 직사각형 91"/>
          <p:cNvSpPr/>
          <p:nvPr/>
        </p:nvSpPr>
        <p:spPr>
          <a:xfrm>
            <a:off x="701175" y="2003750"/>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833510" y="2122294"/>
            <a:ext cx="493904"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구매담당</a:t>
            </a:r>
            <a:endParaRPr lang="en-US" altLang="ko-KR" sz="700" dirty="0">
              <a:solidFill>
                <a:schemeClr val="tx1">
                  <a:lumMod val="85000"/>
                  <a:lumOff val="15000"/>
                </a:schemeClr>
              </a:solidFill>
              <a:latin typeface="맑은 고딕" panose="020B0503020000020004" pitchFamily="50" charset="-127"/>
            </a:endParaRPr>
          </a:p>
        </p:txBody>
      </p:sp>
      <p:sp>
        <p:nvSpPr>
          <p:cNvPr id="95" name="TextBox 94">
            <a:extLst>
              <a:ext uri="{FF2B5EF4-FFF2-40B4-BE49-F238E27FC236}">
                <a16:creationId xmlns:a16="http://schemas.microsoft.com/office/drawing/2014/main" id="{FFC49AEA-2A8F-250C-A86A-A7751D9706C3}"/>
              </a:ext>
            </a:extLst>
          </p:cNvPr>
          <p:cNvSpPr txBox="1"/>
          <p:nvPr/>
        </p:nvSpPr>
        <p:spPr>
          <a:xfrm>
            <a:off x="1626518" y="2122294"/>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대령</a:t>
            </a:r>
            <a:endParaRPr lang="en-US" altLang="ko-KR" sz="700" dirty="0">
              <a:solidFill>
                <a:schemeClr val="tx1">
                  <a:lumMod val="85000"/>
                  <a:lumOff val="15000"/>
                </a:schemeClr>
              </a:solidFill>
              <a:latin typeface="맑은 고딕" panose="020B0503020000020004" pitchFamily="50" charset="-127"/>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9080" y="2068433"/>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98" name="모서리가 둥근 직사각형 97"/>
          <p:cNvSpPr/>
          <p:nvPr/>
        </p:nvSpPr>
        <p:spPr>
          <a:xfrm>
            <a:off x="701175" y="2429491"/>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33510" y="2548035"/>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협상담당</a:t>
            </a:r>
            <a:endParaRPr lang="en-US" altLang="ko-KR" sz="700" dirty="0">
              <a:solidFill>
                <a:schemeClr val="tx1">
                  <a:lumMod val="85000"/>
                  <a:lumOff val="15000"/>
                </a:schemeClr>
              </a:solidFill>
              <a:latin typeface="맑은 고딕" panose="020B0503020000020004" pitchFamily="50" charset="-127"/>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1626517" y="2548035"/>
            <a:ext cx="734105"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홍길순 </a:t>
            </a:r>
            <a:r>
              <a:rPr lang="ko-KR" altLang="en-US" sz="700" dirty="0" err="1">
                <a:solidFill>
                  <a:schemeClr val="tx1">
                    <a:lumMod val="85000"/>
                    <a:lumOff val="15000"/>
                  </a:schemeClr>
                </a:solidFill>
                <a:latin typeface="맑은 고딕" panose="020B0503020000020004" pitchFamily="50" charset="-127"/>
              </a:rPr>
              <a:t>주무관</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급</a:t>
            </a:r>
            <a:r>
              <a:rPr lang="en-US" altLang="ko-KR" sz="700" dirty="0">
                <a:solidFill>
                  <a:schemeClr val="tx1">
                    <a:lumMod val="85000"/>
                    <a:lumOff val="15000"/>
                  </a:schemeClr>
                </a:solidFill>
                <a:latin typeface="맑은 고딕" panose="020B0503020000020004" pitchFamily="50" charset="-127"/>
              </a:rPr>
              <a:t>)</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2539080" y="2494174"/>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65360" y="328237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모서리가 둥근 직사각형 102"/>
          <p:cNvSpPr/>
          <p:nvPr/>
        </p:nvSpPr>
        <p:spPr>
          <a:xfrm>
            <a:off x="701175" y="285523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33510" y="2973776"/>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입회관</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1626517" y="2973776"/>
            <a:ext cx="734105"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2539080" y="2973776"/>
            <a:ext cx="647514"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grpSp>
        <p:nvGrpSpPr>
          <p:cNvPr id="30" name="그룹 29"/>
          <p:cNvGrpSpPr/>
          <p:nvPr/>
        </p:nvGrpSpPr>
        <p:grpSpPr>
          <a:xfrm>
            <a:off x="675399" y="5614711"/>
            <a:ext cx="2712027" cy="617588"/>
            <a:chOff x="675399" y="5614711"/>
            <a:chExt cx="2712027" cy="617588"/>
          </a:xfrm>
        </p:grpSpPr>
        <p:sp>
          <p:nvSpPr>
            <p:cNvPr id="31" name="직사각형 30">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33"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34" name="그룹 33"/>
          <p:cNvGrpSpPr/>
          <p:nvPr/>
        </p:nvGrpSpPr>
        <p:grpSpPr>
          <a:xfrm>
            <a:off x="675399" y="6223005"/>
            <a:ext cx="2712027" cy="617588"/>
            <a:chOff x="675399" y="5614711"/>
            <a:chExt cx="2712027" cy="617588"/>
          </a:xfrm>
        </p:grpSpPr>
        <p:sp>
          <p:nvSpPr>
            <p:cNvPr id="35" name="직사각형 3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37" name="그룹 36"/>
          <p:cNvGrpSpPr/>
          <p:nvPr/>
        </p:nvGrpSpPr>
        <p:grpSpPr>
          <a:xfrm>
            <a:off x="8223250" y="569392"/>
            <a:ext cx="3365500" cy="634511"/>
            <a:chOff x="8223250" y="569392"/>
            <a:chExt cx="3365500" cy="634511"/>
          </a:xfrm>
        </p:grpSpPr>
        <p:sp>
          <p:nvSpPr>
            <p:cNvPr id="38" name="직사각형 3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9" name="직사각형 3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87675686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en-US" altLang="ko-KR" dirty="0"/>
              <a:t>10</a:t>
            </a:r>
            <a:r>
              <a:rPr lang="ko-KR" altLang="en-US" dirty="0"/>
              <a:t>개씩 노출되며</a:t>
            </a:r>
            <a:r>
              <a:rPr lang="en-US" altLang="ko-KR" dirty="0"/>
              <a:t>, </a:t>
            </a:r>
            <a:r>
              <a:rPr lang="ko-KR" altLang="en-US" dirty="0" err="1"/>
              <a:t>더보기</a:t>
            </a:r>
            <a:r>
              <a:rPr lang="ko-KR" altLang="en-US" dirty="0"/>
              <a:t> 버튼을 클릭하여 추가 로드</a:t>
            </a:r>
            <a:r>
              <a:rPr lang="en-US" altLang="ko-KR" dirty="0"/>
              <a:t/>
            </a:r>
            <a:br>
              <a:rPr lang="en-US" altLang="ko-KR" dirty="0"/>
            </a:br>
            <a:r>
              <a:rPr lang="en-US" altLang="ko-KR" dirty="0"/>
              <a:t>- 10</a:t>
            </a:r>
            <a:r>
              <a:rPr lang="ko-KR" altLang="en-US" dirty="0"/>
              <a:t>개 미만인 경우 </a:t>
            </a:r>
            <a:r>
              <a:rPr lang="ko-KR" altLang="en-US" dirty="0" err="1"/>
              <a:t>더보기</a:t>
            </a:r>
            <a:r>
              <a:rPr lang="ko-KR" altLang="en-US" dirty="0"/>
              <a:t> 버튼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err="1"/>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err="1"/>
              <a:t>품목정보</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err="1"/>
              <a:t>품목정보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83" name="그룹 82"/>
          <p:cNvGrpSpPr/>
          <p:nvPr/>
        </p:nvGrpSpPr>
        <p:grpSpPr>
          <a:xfrm>
            <a:off x="701175" y="1527996"/>
            <a:ext cx="2630093" cy="2031034"/>
            <a:chOff x="701175" y="1527996"/>
            <a:chExt cx="2630093" cy="2031034"/>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품목정보</a:t>
              </a:r>
              <a:r>
                <a:rPr lang="ko-KR" altLang="en-US" sz="700" dirty="0">
                  <a:latin typeface="+mn-ea"/>
                </a:rPr>
                <a:t> </a:t>
              </a:r>
              <a:r>
                <a:rPr lang="en-US" altLang="ko-KR" sz="700" dirty="0">
                  <a:latin typeface="+mn-ea"/>
                </a:rPr>
                <a:t>– </a:t>
              </a:r>
              <a:r>
                <a:rPr lang="ko-KR" altLang="en-US" sz="700" dirty="0">
                  <a:latin typeface="+mn-ea"/>
                </a:rPr>
                <a:t>총</a:t>
              </a:r>
              <a:r>
                <a:rPr lang="en-US" altLang="ko-KR" sz="700" dirty="0">
                  <a:latin typeface="+mn-ea"/>
                </a:rPr>
                <a:t> 000</a:t>
              </a:r>
              <a:r>
                <a:rPr lang="ko-KR" altLang="en-US" sz="700" dirty="0">
                  <a:latin typeface="+mn-ea"/>
                </a:rPr>
                <a:t>건</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7179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723549"/>
            </a:xfrm>
            <a:prstGeom prst="rect">
              <a:avLst/>
            </a:prstGeom>
            <a:noFill/>
          </p:spPr>
          <p:txBody>
            <a:bodyPr wrap="square" lIns="0" tIns="0" rIns="0" bIns="0" rtlCol="0">
              <a:spAutoFit/>
            </a:bodyPr>
            <a:lstStyle/>
            <a:p>
              <a:pPr>
                <a:lnSpc>
                  <a:spcPct val="200000"/>
                </a:lnSpc>
              </a:pPr>
              <a:r>
                <a:rPr lang="en-US" altLang="ko-KR" sz="700" dirty="0">
                  <a:latin typeface="+mn-ea"/>
                </a:rPr>
                <a:t>001</a:t>
              </a:r>
            </a:p>
            <a:p>
              <a:pPr>
                <a:lnSpc>
                  <a:spcPct val="200000"/>
                </a:lnSpc>
              </a:pPr>
              <a:r>
                <a:rPr lang="en-US" altLang="ko-KR" sz="700" dirty="0">
                  <a:latin typeface="+mn-ea"/>
                </a:rPr>
                <a:t>123-123123</a:t>
              </a:r>
            </a:p>
            <a:p>
              <a:pPr>
                <a:lnSpc>
                  <a:spcPct val="200000"/>
                </a:lnSpc>
              </a:pPr>
              <a:r>
                <a:rPr lang="ko-KR" altLang="en-US" sz="700" dirty="0" err="1">
                  <a:latin typeface="+mn-ea"/>
                </a:rPr>
                <a:t>테스트품명</a:t>
              </a:r>
              <a:endParaRPr lang="en-US" altLang="ko-KR" sz="700" dirty="0">
                <a:latin typeface="+mn-ea"/>
              </a:endParaRPr>
            </a:p>
            <a:p>
              <a:pPr>
                <a:lnSpc>
                  <a:spcPct val="200000"/>
                </a:lnSpc>
              </a:pPr>
              <a:r>
                <a:rPr lang="en-US" altLang="ko-KR" sz="700" dirty="0">
                  <a:latin typeface="+mn-ea"/>
                </a:rPr>
                <a:t>111-1111</a:t>
              </a:r>
            </a:p>
            <a:p>
              <a:pPr>
                <a:lnSpc>
                  <a:spcPct val="200000"/>
                </a:lnSpc>
              </a:pPr>
              <a:r>
                <a:rPr lang="en-US" altLang="ko-KR" sz="700" dirty="0">
                  <a:latin typeface="+mn-ea"/>
                </a:rPr>
                <a:t>EA</a:t>
              </a:r>
            </a:p>
            <a:p>
              <a:pPr algn="r">
                <a:lnSpc>
                  <a:spcPct val="200000"/>
                </a:lnSpc>
              </a:pPr>
              <a:r>
                <a:rPr lang="en-US" altLang="ko-KR" sz="700" dirty="0">
                  <a:latin typeface="+mn-ea"/>
                </a:rPr>
                <a:t>10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p>
          </p:txBody>
        </p:sp>
        <p:grpSp>
          <p:nvGrpSpPr>
            <p:cNvPr id="95" name="그룹 94"/>
            <p:cNvGrpSpPr/>
            <p:nvPr/>
          </p:nvGrpSpPr>
          <p:grpSpPr>
            <a:xfrm>
              <a:off x="701175" y="1835481"/>
              <a:ext cx="2630093" cy="1717920"/>
              <a:chOff x="701175" y="1835481"/>
              <a:chExt cx="2630093" cy="171792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685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54588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808106" y="540520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5" name="그룹 34"/>
          <p:cNvGrpSpPr/>
          <p:nvPr/>
        </p:nvGrpSpPr>
        <p:grpSpPr>
          <a:xfrm>
            <a:off x="675399" y="5614711"/>
            <a:ext cx="2712027" cy="617588"/>
            <a:chOff x="675399" y="5614711"/>
            <a:chExt cx="2712027" cy="617588"/>
          </a:xfrm>
        </p:grpSpPr>
        <p:sp>
          <p:nvSpPr>
            <p:cNvPr id="36" name="직사각형 3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38"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39" name="그룹 38"/>
          <p:cNvGrpSpPr/>
          <p:nvPr/>
        </p:nvGrpSpPr>
        <p:grpSpPr>
          <a:xfrm>
            <a:off x="675399" y="6223005"/>
            <a:ext cx="2712027" cy="617588"/>
            <a:chOff x="675399" y="5614711"/>
            <a:chExt cx="2712027" cy="617588"/>
          </a:xfrm>
        </p:grpSpPr>
        <p:sp>
          <p:nvSpPr>
            <p:cNvPr id="40" name="직사각형 3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2" name="그룹 41"/>
          <p:cNvGrpSpPr/>
          <p:nvPr/>
        </p:nvGrpSpPr>
        <p:grpSpPr>
          <a:xfrm>
            <a:off x="8223250" y="569392"/>
            <a:ext cx="3365500" cy="634511"/>
            <a:chOff x="8223250" y="569392"/>
            <a:chExt cx="3365500" cy="634511"/>
          </a:xfrm>
        </p:grpSpPr>
        <p:sp>
          <p:nvSpPr>
            <p:cNvPr id="43" name="직사각형 4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4" name="직사각형 4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023324856"/>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입찰결과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입찰결과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입찰결과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2461921"/>
            <a:chOff x="701175" y="1527996"/>
            <a:chExt cx="2660475" cy="2461921"/>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21496"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21544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2154436"/>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en-US" altLang="ko-KR" sz="700" dirty="0">
                  <a:latin typeface="+mn-ea"/>
                </a:rPr>
                <a:t>⁞</a:t>
              </a: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첨부서류</a:t>
              </a:r>
              <a:endParaRPr lang="en-US" altLang="ko-KR" sz="700" dirty="0">
                <a:latin typeface="+mn-ea"/>
              </a:endParaRPr>
            </a:p>
            <a:p>
              <a:pPr>
                <a:lnSpc>
                  <a:spcPct val="200000"/>
                </a:lnSpc>
              </a:pPr>
              <a:r>
                <a:rPr lang="ko-KR" altLang="en-US" sz="700" dirty="0">
                  <a:latin typeface="+mn-ea"/>
                </a:rPr>
                <a:t>서약서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01</a:t>
              </a:r>
            </a:p>
            <a:p>
              <a:pPr>
                <a:lnSpc>
                  <a:spcPct val="200000"/>
                </a:lnSpc>
              </a:pPr>
              <a:r>
                <a:rPr lang="en-US" altLang="ko-KR" sz="700" dirty="0">
                  <a:latin typeface="+mn-ea"/>
                </a:rPr>
                <a:t>123</a:t>
              </a:r>
            </a:p>
            <a:p>
              <a:pPr>
                <a:lnSpc>
                  <a:spcPct val="200000"/>
                </a:lnSpc>
              </a:pPr>
              <a:r>
                <a:rPr lang="en-US" altLang="ko-KR" sz="700" dirty="0">
                  <a:latin typeface="+mn-ea"/>
                </a:rPr>
                <a:t>111-11-11111</a:t>
              </a:r>
            </a:p>
            <a:p>
              <a:pPr>
                <a:lnSpc>
                  <a:spcPct val="200000"/>
                </a:lnSpc>
              </a:pPr>
              <a:r>
                <a:rPr lang="ko-KR" altLang="en-US" sz="700" u="sng" dirty="0">
                  <a:solidFill>
                    <a:srgbClr val="0070C0"/>
                  </a:solidFill>
                  <a:latin typeface="+mn-ea"/>
                </a:rPr>
                <a:t>테스트</a:t>
              </a:r>
              <a:endParaRPr lang="en-US" altLang="ko-KR" sz="700" u="sng" dirty="0">
                <a:solidFill>
                  <a:srgbClr val="0070C0"/>
                </a:solidFill>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832796" y="272423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2832796" y="358882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2832796" y="379339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2" name="사각형: 둥근 모서리 31">
            <a:extLst>
              <a:ext uri="{FF2B5EF4-FFF2-40B4-BE49-F238E27FC236}">
                <a16:creationId xmlns:a16="http://schemas.microsoft.com/office/drawing/2014/main" id="{2AC143EE-93CF-3518-F0CB-8469E98507E0}"/>
              </a:ext>
            </a:extLst>
          </p:cNvPr>
          <p:cNvSpPr/>
          <p:nvPr/>
        </p:nvSpPr>
        <p:spPr>
          <a:xfrm>
            <a:off x="808106" y="539293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93" name="그룹 92">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94" name="타원 9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5" name="타원 9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6" name="타원 9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9" name="그룹 38"/>
          <p:cNvGrpSpPr/>
          <p:nvPr/>
        </p:nvGrpSpPr>
        <p:grpSpPr>
          <a:xfrm>
            <a:off x="675399" y="5614711"/>
            <a:ext cx="2712027" cy="617588"/>
            <a:chOff x="675399" y="5614711"/>
            <a:chExt cx="2712027" cy="617588"/>
          </a:xfrm>
        </p:grpSpPr>
        <p:sp>
          <p:nvSpPr>
            <p:cNvPr id="40" name="직사각형 3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2"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43" name="그룹 42"/>
          <p:cNvGrpSpPr/>
          <p:nvPr/>
        </p:nvGrpSpPr>
        <p:grpSpPr>
          <a:xfrm>
            <a:off x="675399" y="6223005"/>
            <a:ext cx="2712027" cy="617588"/>
            <a:chOff x="675399" y="5614711"/>
            <a:chExt cx="2712027" cy="617588"/>
          </a:xfrm>
        </p:grpSpPr>
        <p:sp>
          <p:nvSpPr>
            <p:cNvPr id="44" name="직사각형 4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6" name="그룹 45"/>
          <p:cNvGrpSpPr/>
          <p:nvPr/>
        </p:nvGrpSpPr>
        <p:grpSpPr>
          <a:xfrm>
            <a:off x="8223250" y="569392"/>
            <a:ext cx="3365500" cy="634511"/>
            <a:chOff x="8223250" y="569392"/>
            <a:chExt cx="3365500" cy="634511"/>
          </a:xfrm>
        </p:grpSpPr>
        <p:sp>
          <p:nvSpPr>
            <p:cNvPr id="47" name="직사각형 4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8" name="직사각형 4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124081381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 경과가 있는 경우에만 표시되는 탭</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협상결과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협상결과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협상결과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30093" cy="1815590"/>
            <a:chOff x="701175" y="1527996"/>
            <a:chExt cx="2630093" cy="1815590"/>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협상결과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견적단가</a:t>
              </a:r>
              <a:endParaRPr lang="en-US" altLang="ko-KR" sz="700" dirty="0">
                <a:latin typeface="+mn-ea"/>
              </a:endParaRPr>
            </a:p>
            <a:p>
              <a:pPr>
                <a:lnSpc>
                  <a:spcPct val="200000"/>
                </a:lnSpc>
              </a:pPr>
              <a:r>
                <a:rPr lang="ko-KR" altLang="en-US" sz="700" dirty="0" err="1">
                  <a:latin typeface="+mn-ea"/>
                </a:rPr>
                <a:t>낙찰률</a:t>
              </a:r>
              <a:endParaRPr lang="en-US" altLang="ko-KR" sz="700" dirty="0">
                <a:latin typeface="+mn-ea"/>
              </a:endParaRPr>
            </a:p>
            <a:p>
              <a:pPr>
                <a:lnSpc>
                  <a:spcPct val="200000"/>
                </a:lnSpc>
              </a:pPr>
              <a:r>
                <a:rPr lang="ko-KR" altLang="en-US" sz="700" dirty="0">
                  <a:latin typeface="+mn-ea"/>
                </a:rPr>
                <a:t>결과</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123</a:t>
              </a:r>
            </a:p>
            <a:p>
              <a:pPr>
                <a:lnSpc>
                  <a:spcPct val="200000"/>
                </a:lnSpc>
              </a:pPr>
              <a:r>
                <a:rPr lang="ko-KR" altLang="en-US" sz="700" dirty="0" err="1">
                  <a:latin typeface="+mn-ea"/>
                </a:rPr>
                <a:t>테스트업체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98.9796</a:t>
              </a:r>
            </a:p>
            <a:p>
              <a:pPr algn="r">
                <a:lnSpc>
                  <a:spcPct val="200000"/>
                </a:lnSpc>
              </a:pPr>
              <a:r>
                <a:rPr lang="ko-KR" altLang="en-US" sz="700" dirty="0">
                  <a:latin typeface="+mn-ea"/>
                </a:rPr>
                <a:t>낙찰</a:t>
              </a:r>
              <a:endParaRPr lang="en-US" altLang="ko-KR" sz="700" dirty="0">
                <a:latin typeface="+mn-ea"/>
              </a:endParaRPr>
            </a:p>
          </p:txBody>
        </p:sp>
        <p:grpSp>
          <p:nvGrpSpPr>
            <p:cNvPr id="95" name="그룹 94"/>
            <p:cNvGrpSpPr/>
            <p:nvPr/>
          </p:nvGrpSpPr>
          <p:grpSpPr>
            <a:xfrm>
              <a:off x="701175" y="1835481"/>
              <a:ext cx="2630093" cy="1503180"/>
              <a:chOff x="701175" y="1835481"/>
              <a:chExt cx="2630093" cy="150318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4334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6" name="사각형: 둥근 모서리 31">
            <a:extLst>
              <a:ext uri="{FF2B5EF4-FFF2-40B4-BE49-F238E27FC236}">
                <a16:creationId xmlns:a16="http://schemas.microsoft.com/office/drawing/2014/main" id="{2AC143EE-93CF-3518-F0CB-8469E98507E0}"/>
              </a:ext>
            </a:extLst>
          </p:cNvPr>
          <p:cNvSpPr/>
          <p:nvPr/>
        </p:nvSpPr>
        <p:spPr>
          <a:xfrm>
            <a:off x="808106" y="5429794"/>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37" name="그룹 36">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38" name="타원 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9" name="타원 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3" name="그룹 32"/>
          <p:cNvGrpSpPr/>
          <p:nvPr/>
        </p:nvGrpSpPr>
        <p:grpSpPr>
          <a:xfrm>
            <a:off x="675399" y="5614711"/>
            <a:ext cx="2712027" cy="617588"/>
            <a:chOff x="675399" y="5614711"/>
            <a:chExt cx="2712027" cy="617588"/>
          </a:xfrm>
        </p:grpSpPr>
        <p:sp>
          <p:nvSpPr>
            <p:cNvPr id="34" name="직사각형 3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42" name="그룹 41"/>
          <p:cNvGrpSpPr/>
          <p:nvPr/>
        </p:nvGrpSpPr>
        <p:grpSpPr>
          <a:xfrm>
            <a:off x="675399" y="6223005"/>
            <a:ext cx="2712027" cy="617588"/>
            <a:chOff x="675399" y="5614711"/>
            <a:chExt cx="2712027" cy="617588"/>
          </a:xfrm>
        </p:grpSpPr>
        <p:sp>
          <p:nvSpPr>
            <p:cNvPr id="43" name="직사각형 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5" name="그룹 44"/>
          <p:cNvGrpSpPr/>
          <p:nvPr/>
        </p:nvGrpSpPr>
        <p:grpSpPr>
          <a:xfrm>
            <a:off x="8223250" y="569392"/>
            <a:ext cx="3365500" cy="634511"/>
            <a:chOff x="8223250" y="569392"/>
            <a:chExt cx="3365500" cy="634511"/>
          </a:xfrm>
        </p:grpSpPr>
        <p:sp>
          <p:nvSpPr>
            <p:cNvPr id="46" name="직사각형 4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7" name="직사각형 4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155364644"/>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 수의협상인 경우 </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378503"/>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4742976"/>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0284220"/>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332567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4948226"/>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물품인 경우에는 단가제유형 항목 조회 결과</a:t>
                      </a:r>
                      <a:r>
                        <a:rPr lang="en-US" altLang="ko-KR" sz="800" dirty="0">
                          <a:latin typeface="+mn-ea"/>
                          <a:ea typeface="+mn-ea"/>
                        </a:rPr>
                        <a:t>, </a:t>
                      </a:r>
                      <a:r>
                        <a:rPr lang="ko-KR" altLang="en-US" sz="800" dirty="0">
                          <a:latin typeface="+mn-ea"/>
                          <a:ea typeface="+mn-ea"/>
                        </a:rPr>
                        <a:t>업무구분이 공사이고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낙찰자기준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666835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129065"/>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8568022"/>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195814"/>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696840"/>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bidPrtcpQlfcYn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기초예가적용여부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80170"/>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수의협상인 경우 협상일시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73934"/>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02242"/>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627943"/>
                  </a:ext>
                </a:extLst>
              </a:tr>
              <a:tr h="0">
                <a:tc>
                  <a:txBody>
                    <a:bodyPr/>
                    <a:lstStyle/>
                    <a:p>
                      <a:pPr latinLnBrk="1"/>
                      <a:r>
                        <a:rPr lang="ko-KR" altLang="en-US" sz="800" dirty="0">
                          <a:latin typeface="+mn-ea"/>
                          <a:ea typeface="+mn-ea"/>
                        </a:rPr>
                        <a:t>등록심사시점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tndrSbmsnPntmCd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등록심사시점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8532535"/>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1529287"/>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uplmtLlmtRt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사정률</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1603112"/>
                  </a:ext>
                </a:extLst>
              </a:tr>
              <a:tr h="0">
                <a:tc>
                  <a:txBody>
                    <a:bodyPr/>
                    <a:lstStyle/>
                    <a:p>
                      <a:pPr latinLnBrk="1"/>
                      <a:r>
                        <a:rPr lang="ko-KR" altLang="en-US" sz="800" dirty="0">
                          <a:latin typeface="+mn-ea"/>
                          <a:ea typeface="+mn-ea"/>
                        </a:rPr>
                        <a:t>낙찰하한율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공사개요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cstrnOtln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공사개요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6210795"/>
                  </a:ext>
                </a:extLst>
              </a:tr>
            </a:tbl>
          </a:graphicData>
        </a:graphic>
      </p:graphicFrame>
      <p:sp>
        <p:nvSpPr>
          <p:cNvPr id="2" name="TextBox 1">
            <a:extLst>
              <a:ext uri="{FF2B5EF4-FFF2-40B4-BE49-F238E27FC236}">
                <a16:creationId xmlns:a16="http://schemas.microsoft.com/office/drawing/2014/main" id="{358F9E66-1FEC-393F-6AF3-28A6DEC3916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22ACAC6-ADFA-65E6-4604-3C45665B6F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601324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160</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위치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cstrnPstnNm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위치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9466785"/>
                  </a:ext>
                </a:extLst>
              </a:tr>
              <a:tr h="0">
                <a:tc>
                  <a:txBody>
                    <a:bodyPr/>
                    <a:lstStyle/>
                    <a:p>
                      <a:pPr latinLnBrk="1"/>
                      <a:r>
                        <a:rPr lang="ko-KR" altLang="en-US" sz="800" dirty="0">
                          <a:latin typeface="+mn-ea"/>
                          <a:ea typeface="+mn-ea"/>
                        </a:rPr>
                        <a:t>공사기간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cstrnPrdCn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공사기간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964431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606004"/>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a:t>
                      </a:r>
                      <a:r>
                        <a:rPr lang="ko-KR" altLang="en-US" sz="800" dirty="0" err="1">
                          <a:latin typeface="+mn-ea"/>
                          <a:ea typeface="+mn-ea"/>
                        </a:rPr>
                        <a:t>기초예가적용대상이거나</a:t>
                      </a:r>
                      <a:r>
                        <a:rPr lang="ko-KR" altLang="en-US" sz="800" dirty="0">
                          <a:latin typeface="+mn-ea"/>
                          <a:ea typeface="+mn-ea"/>
                        </a:rPr>
                        <a:t> 낙찰까지 완료된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0925088"/>
                  </a:ext>
                </a:extLst>
              </a:tr>
              <a:tr h="0">
                <a:tc>
                  <a:txBody>
                    <a:bodyPr/>
                    <a:lstStyle/>
                    <a:p>
                      <a:pPr latinLnBrk="1"/>
                      <a:r>
                        <a:rPr lang="ko-KR" altLang="en-US" sz="800" dirty="0">
                          <a:latin typeface="+mn-ea"/>
                          <a:ea typeface="+mn-ea"/>
                        </a:rPr>
                        <a:t>가격평가비중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prcEvlRlimp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가격평가비중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2427121"/>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5575642"/>
                  </a:ext>
                </a:extLst>
              </a:tr>
              <a:tr h="0">
                <a:tc>
                  <a:txBody>
                    <a:bodyPr/>
                    <a:lstStyle/>
                    <a:p>
                      <a:pPr latinLnBrk="1"/>
                      <a:r>
                        <a:rPr lang="ko-KR" altLang="en-US" sz="800" dirty="0">
                          <a:latin typeface="+mn-ea"/>
                          <a:ea typeface="+mn-ea"/>
                        </a:rPr>
                        <a:t>협상형태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협상형태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1980886"/>
                  </a:ext>
                </a:extLst>
              </a:tr>
              <a:tr h="0">
                <a:tc>
                  <a:txBody>
                    <a:bodyPr/>
                    <a:lstStyle/>
                    <a:p>
                      <a:pPr latinLnBrk="1"/>
                      <a:r>
                        <a:rPr lang="ko-KR" altLang="en-US" sz="800" dirty="0">
                          <a:latin typeface="+mn-ea"/>
                          <a:ea typeface="+mn-ea"/>
                        </a:rPr>
                        <a:t>협상장소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ngtnPlcNm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협상장소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208843"/>
                  </a:ext>
                </a:extLst>
              </a:tr>
              <a:tr h="0">
                <a:tc>
                  <a:txBody>
                    <a:bodyPr/>
                    <a:lstStyle/>
                    <a:p>
                      <a:pPr latinLnBrk="1"/>
                      <a:r>
                        <a:rPr lang="ko-KR" altLang="en-US" sz="800" dirty="0">
                          <a:latin typeface="+mn-ea"/>
                          <a:ea typeface="+mn-ea"/>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0078463"/>
                  </a:ext>
                </a:extLst>
              </a:tr>
              <a:tr h="0">
                <a:tc>
                  <a:txBody>
                    <a:bodyPr/>
                    <a:lstStyle/>
                    <a:p>
                      <a:pPr latinLnBrk="1"/>
                      <a:r>
                        <a:rPr lang="ko-KR" altLang="en-US" sz="800" dirty="0">
                          <a:latin typeface="+mn-ea"/>
                          <a:ea typeface="+mn-ea"/>
                        </a:rPr>
                        <a:t>재입찰대상구분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b="0" dirty="0">
                          <a:solidFill>
                            <a:schemeClr val="tx1"/>
                          </a:solidFill>
                        </a:rPr>
                        <a:t>재입찰</a:t>
                      </a:r>
                      <a:r>
                        <a:rPr lang="en-US" altLang="ko-KR" sz="800" b="0" dirty="0">
                          <a:solidFill>
                            <a:schemeClr val="tx1"/>
                          </a:solidFill>
                        </a:rPr>
                        <a:t> </a:t>
                      </a:r>
                      <a:r>
                        <a:rPr lang="ko-KR" altLang="en-US" sz="800" b="0" dirty="0">
                          <a:solidFill>
                            <a:schemeClr val="tx1"/>
                          </a:solidFill>
                        </a:rPr>
                        <a:t>대상으로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189093"/>
                  </a:ext>
                </a:extLst>
              </a:tr>
              <a:tr h="0">
                <a:tc>
                  <a:txBody>
                    <a:bodyPr/>
                    <a:lstStyle/>
                    <a:p>
                      <a:pPr latinLnBrk="1"/>
                      <a:r>
                        <a:rPr lang="ko-KR" altLang="en-US" sz="800" dirty="0">
                          <a:latin typeface="+mn-ea"/>
                          <a:ea typeface="+mn-ea"/>
                        </a:rPr>
                        <a:t>재입찰 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 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1911956"/>
                  </a:ext>
                </a:extLst>
              </a:tr>
              <a:tr h="0">
                <a:tc>
                  <a:txBody>
                    <a:bodyPr/>
                    <a:lstStyle/>
                    <a:p>
                      <a:pPr latinLnBrk="1"/>
                      <a:r>
                        <a:rPr lang="ko-KR" altLang="en-US" sz="800" dirty="0">
                          <a:latin typeface="+mn-ea"/>
                          <a:ea typeface="+mn-ea"/>
                        </a:rPr>
                        <a:t>유찰사유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flbdRsn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유찰사유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유찰인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426943"/>
                  </a:ext>
                </a:extLst>
              </a:tr>
            </a:tbl>
          </a:graphicData>
        </a:graphic>
      </p:graphicFrame>
      <p:sp>
        <p:nvSpPr>
          <p:cNvPr id="2" name="TextBox 1">
            <a:extLst>
              <a:ext uri="{FF2B5EF4-FFF2-40B4-BE49-F238E27FC236}">
                <a16:creationId xmlns:a16="http://schemas.microsoft.com/office/drawing/2014/main" id="{5CCF0A13-2676-0A6F-4581-806ED00DD384}"/>
              </a:ext>
            </a:extLst>
          </p:cNvPr>
          <p:cNvSpPr txBox="1"/>
          <p:nvPr/>
        </p:nvSpPr>
        <p:spPr>
          <a:xfrm>
            <a:off x="460676" y="4166607"/>
            <a:ext cx="222072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163DA194-A824-E2D7-5460-745A54572D8A}"/>
              </a:ext>
            </a:extLst>
          </p:cNvPr>
          <p:cNvGraphicFramePr>
            <a:graphicFrameLocks noGrp="1"/>
          </p:cNvGraphicFramePr>
          <p:nvPr/>
        </p:nvGraphicFramePr>
        <p:xfrm>
          <a:off x="455558" y="4450361"/>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규격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bidItemCnt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bl>
          </a:graphicData>
        </a:graphic>
      </p:graphicFrame>
      <p:sp>
        <p:nvSpPr>
          <p:cNvPr id="6" name="TextBox 5">
            <a:extLst>
              <a:ext uri="{FF2B5EF4-FFF2-40B4-BE49-F238E27FC236}">
                <a16:creationId xmlns:a16="http://schemas.microsoft.com/office/drawing/2014/main" id="{9008A869-65B1-D766-6A4C-2B097D0B9C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FC662B0-0061-209B-21A5-5D4F432CA6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650150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53163"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입찰결과상세</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출력물구분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prnotSe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보고서 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입찰비교표</a:t>
                      </a:r>
                      <a:r>
                        <a:rPr lang="en-US" altLang="ko-KR" sz="800" dirty="0">
                          <a:latin typeface="+mn-ea"/>
                          <a:ea typeface="+mn-ea"/>
                        </a:rPr>
                        <a:t>, </a:t>
                      </a:r>
                      <a:r>
                        <a:rPr lang="ko-KR" altLang="en-US" sz="800" dirty="0">
                          <a:latin typeface="+mn-ea"/>
                          <a:ea typeface="+mn-ea"/>
                        </a:rPr>
                        <a:t>입찰결과보고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bl>
          </a:graphicData>
        </a:graphic>
      </p:graphicFrame>
      <p:sp>
        <p:nvSpPr>
          <p:cNvPr id="5" name="TextBox 4">
            <a:extLst>
              <a:ext uri="{FF2B5EF4-FFF2-40B4-BE49-F238E27FC236}">
                <a16:creationId xmlns:a16="http://schemas.microsoft.com/office/drawing/2014/main" id="{FB81A89C-B815-F9F2-666B-6B03ACC098A5}"/>
              </a:ext>
            </a:extLst>
          </p:cNvPr>
          <p:cNvSpPr txBox="1"/>
          <p:nvPr/>
        </p:nvSpPr>
        <p:spPr>
          <a:xfrm>
            <a:off x="460676" y="1747257"/>
            <a:ext cx="213095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DE613704-52D5-13E9-BC67-0B3AED1171AB}"/>
              </a:ext>
            </a:extLst>
          </p:cNvPr>
          <p:cNvGraphicFramePr>
            <a:graphicFrameLocks noGrp="1"/>
          </p:cNvGraphicFramePr>
          <p:nvPr/>
        </p:nvGraphicFramePr>
        <p:xfrm>
          <a:off x="455558" y="2031011"/>
          <a:ext cx="8994883" cy="422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협상에 의한 계약</a:t>
                      </a:r>
                      <a:r>
                        <a:rPr lang="en-US" altLang="ko-KR" sz="800" dirty="0">
                          <a:latin typeface="+mn-ea"/>
                          <a:ea typeface="+mn-ea"/>
                        </a:rPr>
                        <a:t>, 2</a:t>
                      </a:r>
                      <a:r>
                        <a:rPr lang="ko-KR" altLang="en-US" sz="800" dirty="0">
                          <a:latin typeface="+mn-ea"/>
                          <a:ea typeface="+mn-ea"/>
                        </a:rPr>
                        <a:t>단계경쟁입찰</a:t>
                      </a:r>
                      <a:r>
                        <a:rPr lang="en-US" altLang="ko-KR" sz="800" dirty="0">
                          <a:latin typeface="+mn-ea"/>
                          <a:ea typeface="+mn-ea"/>
                        </a:rPr>
                        <a:t>, </a:t>
                      </a:r>
                      <a:r>
                        <a:rPr lang="ko-KR" altLang="en-US" sz="800" dirty="0">
                          <a:latin typeface="+mn-ea"/>
                          <a:ea typeface="+mn-ea"/>
                        </a:rPr>
                        <a:t>종합낙찰제인 경우 항목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투찰금액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a:t>
                      </a:r>
                      <a:r>
                        <a:rPr lang="ko-KR" altLang="en-US" sz="800" dirty="0" err="1">
                          <a:latin typeface="+mn-ea"/>
                          <a:ea typeface="+mn-ea"/>
                        </a:rPr>
                        <a:t>투찰단가로</a:t>
                      </a:r>
                      <a:r>
                        <a:rPr lang="ko-KR" altLang="en-US" sz="800" dirty="0">
                          <a:latin typeface="+mn-ea"/>
                          <a:ea typeface="+mn-ea"/>
                        </a:rPr>
                        <a:t> 보여줌</a:t>
                      </a:r>
                      <a:endParaRPr lang="en-US" altLang="ko-KR" sz="800" dirty="0">
                        <a:latin typeface="+mn-ea"/>
                        <a:ea typeface="+mn-ea"/>
                      </a:endParaRPr>
                    </a:p>
                    <a:p>
                      <a:pPr algn="l" latinLnBrk="1"/>
                      <a:r>
                        <a:rPr lang="ko-KR" altLang="en-US" sz="800" dirty="0">
                          <a:latin typeface="+mn-ea"/>
                          <a:ea typeface="+mn-ea"/>
                        </a:rPr>
                        <a:t>수의계약인 경우 견적금액으로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err="1">
                          <a:latin typeface="+mn-ea"/>
                          <a:ea typeface="+mn-ea"/>
                        </a:rPr>
                        <a:t>투찰수량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투찰수량</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r>
                        <a:rPr lang="en-US" altLang="ko-KR" sz="800" dirty="0">
                          <a:latin typeface="+mn-ea"/>
                          <a:ea typeface="+mn-ea"/>
                        </a:rPr>
                        <a:t>, </a:t>
                      </a:r>
                      <a:r>
                        <a:rPr lang="ko-KR" altLang="en-US" sz="800" dirty="0">
                          <a:latin typeface="+mn-ea"/>
                          <a:ea typeface="+mn-ea"/>
                        </a:rPr>
                        <a:t>종합낙찰제가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r h="0">
                <a:tc>
                  <a:txBody>
                    <a:bodyPr/>
                    <a:lstStyle/>
                    <a:p>
                      <a:pPr latinLnBrk="1"/>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a:t>
                      </a:r>
                      <a:r>
                        <a:rPr lang="ko-KR" altLang="en-US" sz="800" dirty="0">
                          <a:latin typeface="+mn-ea"/>
                          <a:ea typeface="+mn-ea"/>
                        </a:rPr>
                        <a:t>예정가격</a:t>
                      </a:r>
                      <a:r>
                        <a:rPr lang="en-US" altLang="ko-KR" sz="800" dirty="0">
                          <a:latin typeface="+mn-ea"/>
                          <a:ea typeface="+mn-ea"/>
                        </a:rPr>
                        <a:t>-A)*100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33819588"/>
                  </a:ext>
                </a:extLst>
              </a:tr>
              <a:tr h="0">
                <a:tc>
                  <a:txBody>
                    <a:bodyPr/>
                    <a:lstStyle/>
                    <a:p>
                      <a:pPr latinLnBrk="1"/>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종합낙찰제인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1163029"/>
                  </a:ext>
                </a:extLst>
              </a:tr>
              <a:tr h="0">
                <a:tc>
                  <a:txBody>
                    <a:bodyPr/>
                    <a:lstStyle/>
                    <a:p>
                      <a:pPr latinLnBrk="1"/>
                      <a:r>
                        <a:rPr lang="ko-KR" altLang="en-US" sz="800" dirty="0">
                          <a:latin typeface="+mn-ea"/>
                          <a:ea typeface="+mn-ea"/>
                        </a:rPr>
                        <a:t>가격점수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4111726"/>
                  </a:ext>
                </a:extLst>
              </a:tr>
              <a:tr h="0">
                <a:tc>
                  <a:txBody>
                    <a:bodyPr/>
                    <a:lstStyle/>
                    <a:p>
                      <a:pPr latinLnBrk="1"/>
                      <a:r>
                        <a:rPr lang="ko-KR" altLang="en-US" sz="800" dirty="0">
                          <a:latin typeface="+mn-ea"/>
                          <a:ea typeface="+mn-ea"/>
                        </a:rPr>
                        <a:t>중소기업가점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mdEvlScr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중소기업가점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26850944"/>
                  </a:ext>
                </a:extLst>
              </a:tr>
              <a:tr h="0">
                <a:tc>
                  <a:txBody>
                    <a:bodyPr/>
                    <a:lstStyle/>
                    <a:p>
                      <a:pPr latinLnBrk="1"/>
                      <a:r>
                        <a:rPr lang="ko-KR" altLang="en-US" sz="800" dirty="0">
                          <a:latin typeface="+mn-ea"/>
                          <a:ea typeface="+mn-ea"/>
                        </a:rPr>
                        <a:t>합계점수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9671561"/>
                  </a:ext>
                </a:extLst>
              </a:tr>
              <a:tr h="0">
                <a:tc>
                  <a:txBody>
                    <a:bodyPr/>
                    <a:lstStyle/>
                    <a:p>
                      <a:pPr latinLnBrk="1"/>
                      <a:r>
                        <a:rPr lang="ko-KR" altLang="en-US" sz="800" dirty="0">
                          <a:latin typeface="+mn-ea"/>
                          <a:ea typeface="+mn-ea"/>
                        </a:rPr>
                        <a:t>입찰금액평가점수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입찰금액평가점수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9739686"/>
                  </a:ext>
                </a:extLst>
              </a:tr>
            </a:tbl>
          </a:graphicData>
        </a:graphic>
      </p:graphicFrame>
      <p:sp>
        <p:nvSpPr>
          <p:cNvPr id="2" name="TextBox 1">
            <a:extLst>
              <a:ext uri="{FF2B5EF4-FFF2-40B4-BE49-F238E27FC236}">
                <a16:creationId xmlns:a16="http://schemas.microsoft.com/office/drawing/2014/main" id="{E218C239-E57A-461A-7BE6-C4D7F219E543}"/>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7C983D9-0E6B-71D6-FEBF-20FB25E6ED7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94998348"/>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162</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859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공사수행평가점수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공사수행평가점수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설계점수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837303"/>
                  </a:ext>
                </a:extLst>
              </a:tr>
              <a:tr h="0">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wgvlRfltPrcScr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1080628"/>
                  </a:ext>
                </a:extLst>
              </a:tr>
              <a:tr h="0">
                <a:tc>
                  <a:txBody>
                    <a:bodyPr/>
                    <a:lstStyle/>
                    <a:p>
                      <a:pPr latinLnBrk="1"/>
                      <a:r>
                        <a:rPr lang="ko-KR" altLang="en-US" sz="800" dirty="0">
                          <a:latin typeface="+mn-ea"/>
                          <a:ea typeface="+mn-ea"/>
                        </a:rPr>
                        <a:t>종합평점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종합평점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9218280"/>
                  </a:ext>
                </a:extLst>
              </a:tr>
              <a:tr h="0">
                <a:tc>
                  <a:txBody>
                    <a:bodyPr/>
                    <a:lstStyle/>
                    <a:p>
                      <a:pPr latinLnBrk="1"/>
                      <a:r>
                        <a:rPr lang="ko-KR" altLang="en-US" sz="800" dirty="0">
                          <a:latin typeface="+mn-ea"/>
                          <a:ea typeface="+mn-ea"/>
                        </a:rPr>
                        <a:t>실시설계 적격자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enfrcDesignElgbPicYn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실시설계 적격자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입찰서제출일시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537252"/>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0135163"/>
                  </a:ext>
                </a:extLst>
              </a:tr>
              <a:tr h="0">
                <a:tc>
                  <a:txBody>
                    <a:bodyPr/>
                    <a:lstStyle/>
                    <a:p>
                      <a:pPr latinLnBrk="1"/>
                      <a:r>
                        <a:rPr lang="ko-KR" altLang="en-US" sz="800" dirty="0">
                          <a:latin typeface="+mn-ea"/>
                          <a:ea typeface="+mn-ea"/>
                        </a:rPr>
                        <a:t>첨부서류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공개 수의협상 건이고 해당건의 담당부서인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4244"/>
                  </a:ext>
                </a:extLst>
              </a:tr>
              <a:tr h="0">
                <a:tc>
                  <a:txBody>
                    <a:bodyPr/>
                    <a:lstStyle/>
                    <a:p>
                      <a:pPr latinLnBrk="1"/>
                      <a:r>
                        <a:rPr lang="ko-KR" altLang="en-US" sz="800" dirty="0">
                          <a:latin typeface="+mn-ea"/>
                          <a:ea typeface="+mn-ea"/>
                        </a:rPr>
                        <a:t>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wrot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서약서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물품인 경우 해당건의 담당자인 경우에만 보여주고 나머지는 해당건의 담당부서인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4863763"/>
                  </a:ext>
                </a:extLst>
              </a:tr>
              <a:tr h="0">
                <a:tc>
                  <a:txBody>
                    <a:bodyPr/>
                    <a:lstStyle/>
                    <a:p>
                      <a:pPr latinLnBrk="1"/>
                      <a:r>
                        <a:rPr lang="ko-KR" altLang="en-US" sz="800" dirty="0">
                          <a:latin typeface="+mn-ea"/>
                          <a:ea typeface="+mn-ea"/>
                        </a:rPr>
                        <a:t>내역서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dtsm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내역입찰</a:t>
                      </a:r>
                      <a:r>
                        <a:rPr lang="en-US" altLang="ko-KR" sz="800" dirty="0">
                          <a:latin typeface="+mn-ea"/>
                          <a:ea typeface="+mn-ea"/>
                        </a:rPr>
                        <a:t>(</a:t>
                      </a:r>
                      <a:r>
                        <a:rPr lang="ko-KR" altLang="en-US" sz="800" dirty="0">
                          <a:latin typeface="+mn-ea"/>
                          <a:ea typeface="+mn-ea"/>
                        </a:rPr>
                        <a:t>최저가</a:t>
                      </a:r>
                      <a:r>
                        <a:rPr lang="en-US" altLang="ko-KR" sz="800" dirty="0">
                          <a:latin typeface="+mn-ea"/>
                          <a:ea typeface="+mn-ea"/>
                        </a:rPr>
                        <a:t>)</a:t>
                      </a:r>
                      <a:r>
                        <a:rPr lang="ko-KR" altLang="en-US" sz="800" dirty="0">
                          <a:latin typeface="+mn-ea"/>
                          <a:ea typeface="+mn-ea"/>
                        </a:rPr>
                        <a:t>이거나 내역입찰</a:t>
                      </a:r>
                      <a:r>
                        <a:rPr lang="en-US" altLang="ko-KR" sz="800" dirty="0">
                          <a:latin typeface="+mn-ea"/>
                          <a:ea typeface="+mn-ea"/>
                        </a:rPr>
                        <a:t>(</a:t>
                      </a:r>
                      <a:r>
                        <a:rPr lang="ko-KR" altLang="en-US" sz="800" dirty="0">
                          <a:latin typeface="+mn-ea"/>
                          <a:ea typeface="+mn-ea"/>
                        </a:rPr>
                        <a:t>적격심사</a:t>
                      </a:r>
                      <a:r>
                        <a:rPr lang="en-US" altLang="ko-KR" sz="800" dirty="0">
                          <a:latin typeface="+mn-ea"/>
                          <a:ea typeface="+mn-ea"/>
                        </a:rPr>
                        <a:t>)</a:t>
                      </a:r>
                      <a:r>
                        <a:rPr lang="ko-KR" altLang="en-US" sz="800" dirty="0">
                          <a:latin typeface="+mn-ea"/>
                          <a:ea typeface="+mn-ea"/>
                        </a:rPr>
                        <a:t>인 경우 해당 건의 담당자인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4006387"/>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물품이고 </a:t>
                      </a:r>
                      <a:r>
                        <a:rPr lang="ko-KR" altLang="en-US" sz="800" dirty="0" err="1">
                          <a:latin typeface="+mn-ea"/>
                          <a:ea typeface="+mn-ea"/>
                        </a:rPr>
                        <a:t>적격심사제이고</a:t>
                      </a:r>
                      <a:r>
                        <a:rPr lang="ko-KR" altLang="en-US" sz="800" dirty="0">
                          <a:latin typeface="+mn-ea"/>
                          <a:ea typeface="+mn-ea"/>
                        </a:rPr>
                        <a:t> 방위사업청에서 작성한 건인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64849"/>
                  </a:ext>
                </a:extLst>
              </a:tr>
              <a:tr h="0">
                <a:tc>
                  <a:txBody>
                    <a:bodyPr/>
                    <a:lstStyle/>
                    <a:p>
                      <a:pPr latinLnBrk="1"/>
                      <a:r>
                        <a:rPr lang="ko-KR" altLang="en-US" sz="800" dirty="0">
                          <a:latin typeface="+mn-ea"/>
                          <a:ea typeface="+mn-ea"/>
                        </a:rPr>
                        <a:t>복수예가 선택번호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복수예가 선택번호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750194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예정가격이 </a:t>
                      </a:r>
                      <a:r>
                        <a:rPr lang="en-US" altLang="ko-KR" sz="800" dirty="0">
                          <a:latin typeface="+mn-ea"/>
                          <a:ea typeface="+mn-ea"/>
                        </a:rPr>
                        <a:t>100</a:t>
                      </a:r>
                      <a:r>
                        <a:rPr lang="ko-KR" altLang="en-US" sz="800" dirty="0">
                          <a:latin typeface="+mn-ea"/>
                          <a:ea typeface="+mn-ea"/>
                        </a:rPr>
                        <a:t>억원 미만인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334774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5721198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163</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구매담당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prchsPicNm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구매담당 계급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협상담당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협상담당 성명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148970"/>
                  </a:ext>
                </a:extLst>
              </a:tr>
              <a:tr h="0">
                <a:tc>
                  <a:txBody>
                    <a:bodyPr/>
                    <a:lstStyle/>
                    <a:p>
                      <a:pPr latinLnBrk="1"/>
                      <a:r>
                        <a:rPr lang="ko-KR" altLang="en-US" sz="800" dirty="0">
                          <a:latin typeface="+mn-ea"/>
                          <a:ea typeface="+mn-ea"/>
                        </a:rPr>
                        <a:t>협상담당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8178023"/>
                  </a:ext>
                </a:extLst>
              </a:tr>
              <a:tr h="0">
                <a:tc>
                  <a:txBody>
                    <a:bodyPr/>
                    <a:lstStyle/>
                    <a:p>
                      <a:pPr latinLnBrk="1"/>
                      <a:r>
                        <a:rPr lang="ko-KR" altLang="en-US" sz="800" dirty="0">
                          <a:latin typeface="+mn-ea"/>
                          <a:ea typeface="+mn-ea"/>
                        </a:rPr>
                        <a:t>입회관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0044967"/>
                  </a:ext>
                </a:extLst>
              </a:tr>
              <a:tr h="0">
                <a:tc>
                  <a:txBody>
                    <a:bodyPr/>
                    <a:lstStyle/>
                    <a:p>
                      <a:pPr latinLnBrk="1"/>
                      <a:r>
                        <a:rPr lang="ko-KR" altLang="en-US" sz="800" dirty="0">
                          <a:latin typeface="+mn-ea"/>
                          <a:ea typeface="+mn-ea"/>
                        </a:rPr>
                        <a:t>입회관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195700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(5/5)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C5F35594-4603-E3F1-E6DB-45D5EBE5CD31}"/>
              </a:ext>
            </a:extLst>
          </p:cNvPr>
          <p:cNvSpPr txBox="1"/>
          <p:nvPr/>
        </p:nvSpPr>
        <p:spPr>
          <a:xfrm>
            <a:off x="458117" y="803113"/>
            <a:ext cx="272407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sp>
        <p:nvSpPr>
          <p:cNvPr id="8" name="TextBox 7">
            <a:extLst>
              <a:ext uri="{FF2B5EF4-FFF2-40B4-BE49-F238E27FC236}">
                <a16:creationId xmlns:a16="http://schemas.microsoft.com/office/drawing/2014/main" id="{587A009A-249C-569B-B487-A792B020FE7D}"/>
              </a:ext>
            </a:extLst>
          </p:cNvPr>
          <p:cNvSpPr txBox="1"/>
          <p:nvPr/>
        </p:nvSpPr>
        <p:spPr>
          <a:xfrm>
            <a:off x="460676" y="2653212"/>
            <a:ext cx="3355653"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비공개수의협상결과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dlt_prvtVltrnsNgtnRslt</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34B3211-0C23-2674-413C-CC46191E2A15}"/>
              </a:ext>
            </a:extLst>
          </p:cNvPr>
          <p:cNvGraphicFramePr>
            <a:graphicFrameLocks noGrp="1"/>
          </p:cNvGraphicFramePr>
          <p:nvPr/>
        </p:nvGraphicFramePr>
        <p:xfrm>
          <a:off x="455558" y="293696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6783406"/>
                  </a:ext>
                </a:extLst>
              </a:tr>
              <a:tr h="0">
                <a:tc>
                  <a:txBody>
                    <a:bodyPr/>
                    <a:lstStyle/>
                    <a:p>
                      <a:pPr latinLnBrk="1"/>
                      <a:r>
                        <a:rPr lang="ko-KR" altLang="en-US" sz="800" dirty="0">
                          <a:latin typeface="+mn-ea"/>
                          <a:ea typeface="+mn-ea"/>
                        </a:rPr>
                        <a:t>견적단가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estmtUntprc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견적단가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err="1">
                          <a:latin typeface="+mn-ea"/>
                          <a:ea typeface="+mn-ea"/>
                        </a:rPr>
                        <a:t>낙찰률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낙찰률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bl>
          </a:graphicData>
        </a:graphic>
      </p:graphicFrame>
      <p:sp>
        <p:nvSpPr>
          <p:cNvPr id="10" name="TextBox 9">
            <a:extLst>
              <a:ext uri="{FF2B5EF4-FFF2-40B4-BE49-F238E27FC236}">
                <a16:creationId xmlns:a16="http://schemas.microsoft.com/office/drawing/2014/main" id="{F39B00BA-8A51-2138-5DE8-37F6691FD3F2}"/>
              </a:ext>
            </a:extLst>
          </p:cNvPr>
          <p:cNvSpPr txBox="1"/>
          <p:nvPr/>
        </p:nvSpPr>
        <p:spPr>
          <a:xfrm>
            <a:off x="465794" y="4747702"/>
            <a:ext cx="2026764"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4242899C-6D54-696D-CC5F-8B2A573878D7}"/>
              </a:ext>
            </a:extLst>
          </p:cNvPr>
          <p:cNvGraphicFramePr>
            <a:graphicFrameLocks noGrp="1"/>
          </p:cNvGraphicFramePr>
          <p:nvPr/>
        </p:nvGraphicFramePr>
        <p:xfrm>
          <a:off x="460676" y="503145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bl>
          </a:graphicData>
        </a:graphic>
      </p:graphicFrame>
    </p:spTree>
    <p:extLst>
      <p:ext uri="{BB962C8B-B14F-4D97-AF65-F5344CB8AC3E}">
        <p14:creationId xmlns:p14="http://schemas.microsoft.com/office/powerpoint/2010/main" val="233274830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A3DD87FA-555D-941B-A77D-B922C9BF6D2C}"/>
              </a:ext>
            </a:extLst>
          </p:cNvPr>
          <p:cNvGraphicFramePr>
            <a:graphicFrameLocks noGrp="1"/>
          </p:cNvGraphicFramePr>
          <p:nvPr>
            <p:extLst>
              <p:ext uri="{D42A27DB-BD31-4B8C-83A1-F6EECF244321}">
                <p14:modId xmlns:p14="http://schemas.microsoft.com/office/powerpoint/2010/main" val="62110546"/>
              </p:ext>
            </p:extLst>
          </p:nvPr>
        </p:nvGraphicFramePr>
        <p:xfrm>
          <a:off x="452291" y="1014316"/>
          <a:ext cx="8995591" cy="21888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0959132"/>
                  </a:ext>
                </a:extLst>
              </a:tr>
              <a:tr h="0">
                <a:tc>
                  <a:txBody>
                    <a:bodyPr/>
                    <a:lstStyle/>
                    <a:p>
                      <a:pPr latinLnBrk="1"/>
                      <a:r>
                        <a:rPr lang="ko-KR" altLang="en-US" sz="800" dirty="0">
                          <a:latin typeface="+mn-ea"/>
                          <a:ea typeface="+mn-ea"/>
                        </a:rPr>
                        <a:t>입찰결과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scwin.getBidRsltInfo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품목정보</a:t>
                      </a:r>
                      <a:r>
                        <a:rPr lang="en-US" altLang="ko-KR" sz="800" dirty="0">
                          <a:latin typeface="+mn-ea"/>
                          <a:ea typeface="+mn-ea"/>
                        </a:rPr>
                        <a:t>, </a:t>
                      </a:r>
                      <a:r>
                        <a:rPr lang="ko-KR" altLang="en-US" sz="800" dirty="0">
                          <a:latin typeface="+mn-ea"/>
                          <a:ea typeface="+mn-ea"/>
                        </a:rPr>
                        <a:t>입찰결과목록</a:t>
                      </a:r>
                      <a:r>
                        <a:rPr lang="en-US" altLang="ko-KR" sz="800" dirty="0">
                          <a:latin typeface="+mn-ea"/>
                          <a:ea typeface="+mn-ea"/>
                        </a:rPr>
                        <a:t>, </a:t>
                      </a:r>
                      <a:r>
                        <a:rPr lang="ko-KR" altLang="en-US" sz="800" dirty="0">
                          <a:latin typeface="+mn-ea"/>
                          <a:ea typeface="+mn-ea"/>
                        </a:rPr>
                        <a:t>조달업무담당자</a:t>
                      </a:r>
                      <a:r>
                        <a:rPr lang="en-US" altLang="ko-KR" sz="800" dirty="0">
                          <a:latin typeface="+mn-ea"/>
                          <a:ea typeface="+mn-ea"/>
                        </a:rPr>
                        <a:t>, </a:t>
                      </a:r>
                      <a:r>
                        <a:rPr lang="ko-KR" altLang="en-US" sz="800" dirty="0">
                          <a:latin typeface="+mn-ea"/>
                          <a:ea typeface="+mn-ea"/>
                        </a:rPr>
                        <a:t>비공개수의협상결과를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190186"/>
                  </a:ext>
                </a:extLst>
              </a:tr>
              <a:tr h="0">
                <a:tc>
                  <a:txBody>
                    <a:bodyPr/>
                    <a:lstStyle/>
                    <a:p>
                      <a:pPr latinLnBrk="1"/>
                      <a:r>
                        <a:rPr lang="ko-KR" altLang="en-US" sz="800" dirty="0">
                          <a:latin typeface="+mn-ea"/>
                          <a:ea typeface="+mn-ea"/>
                        </a:rPr>
                        <a:t>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선택된 출력물구분에 해당하는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(UI-BD-09-R02)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UI-BD-09-R03)</a:t>
                      </a:r>
                      <a:r>
                        <a:rPr lang="ko-KR" altLang="en-US" sz="800" dirty="0">
                          <a:latin typeface="+mn-ea"/>
                          <a:ea typeface="+mn-ea"/>
                        </a:rPr>
                        <a:t>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리스입찰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UI-BD-09-R04)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(UI-BD-09-R05) </a:t>
                      </a:r>
                      <a:r>
                        <a:rPr lang="ko-KR" altLang="en-US" sz="800" dirty="0" err="1"/>
                        <a:t>입찰결과보고출력물</a:t>
                      </a:r>
                      <a:r>
                        <a:rPr lang="en-US" altLang="ko-KR" sz="800" dirty="0"/>
                        <a:t>-</a:t>
                      </a:r>
                      <a:r>
                        <a:rPr lang="ko-KR" altLang="en-US" sz="800" dirty="0"/>
                        <a:t>물품</a:t>
                      </a:r>
                      <a:r>
                        <a:rPr lang="en-US" altLang="ko-KR" sz="800" dirty="0"/>
                        <a:t> </a:t>
                      </a:r>
                    </a:p>
                    <a:p>
                      <a:pPr marL="0" indent="0" algn="l" latinLnBrk="1">
                        <a:buFont typeface="Arial" panose="020B0604020202020204" pitchFamily="34" charset="0"/>
                        <a:buNone/>
                      </a:pPr>
                      <a:r>
                        <a:rPr lang="en-US" altLang="ko-KR" sz="800" dirty="0"/>
                        <a:t>(UI-BD-09-R06) </a:t>
                      </a:r>
                      <a:r>
                        <a:rPr lang="ko-KR" altLang="en-US" sz="800" dirty="0" err="1"/>
                        <a:t>입찰결과보고출력물</a:t>
                      </a:r>
                      <a:r>
                        <a:rPr lang="en-US" altLang="ko-KR" sz="800" dirty="0"/>
                        <a:t>-</a:t>
                      </a:r>
                      <a:r>
                        <a:rPr lang="ko-KR" altLang="en-US" sz="800" dirty="0"/>
                        <a:t>공사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4543272"/>
                  </a:ext>
                </a:extLst>
              </a:tr>
              <a:tr h="0">
                <a:tc>
                  <a:txBody>
                    <a:bodyPr/>
                    <a:lstStyle/>
                    <a:p>
                      <a:r>
                        <a:rPr lang="ko-KR" altLang="en-US" sz="800" dirty="0"/>
                        <a:t>서약서 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scwin.btn_wrotOtpt_onclick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그리드의 </a:t>
                      </a:r>
                      <a:r>
                        <a:rPr lang="en-US" altLang="ko-KR" sz="800" dirty="0">
                          <a:latin typeface="+mn-ea"/>
                          <a:ea typeface="+mn-ea"/>
                        </a:rPr>
                        <a:t>ROW</a:t>
                      </a:r>
                      <a:r>
                        <a:rPr lang="ko-KR" altLang="en-US" sz="800" dirty="0">
                          <a:latin typeface="+mn-ea"/>
                          <a:ea typeface="+mn-ea"/>
                        </a:rPr>
                        <a:t>에 해당하는 업체가 동의한 서약서 또는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(UI-BD-09-R07) </a:t>
                      </a:r>
                      <a:r>
                        <a:rPr lang="ko-KR" altLang="en-US" sz="800" dirty="0"/>
                        <a:t>서약서출력물</a:t>
                      </a:r>
                      <a:r>
                        <a:rPr lang="en-US" altLang="ko-KR" sz="800" dirty="0"/>
                        <a:t>-</a:t>
                      </a:r>
                      <a:r>
                        <a:rPr lang="ko-KR" altLang="en-US" sz="800" dirty="0" err="1"/>
                        <a:t>경쟁입찰물품통합사업관리시스템</a:t>
                      </a:r>
                      <a:endParaRPr lang="en-US" altLang="ko-KR" sz="800" dirty="0"/>
                    </a:p>
                    <a:p>
                      <a:pPr marL="0" indent="0" algn="l" latinLnBrk="1">
                        <a:buFont typeface="Arial" panose="020B0604020202020204" pitchFamily="34" charset="0"/>
                        <a:buNone/>
                      </a:pPr>
                      <a:r>
                        <a:rPr lang="en-US" altLang="ko-KR" sz="800" dirty="0"/>
                        <a:t>(UI-BD-09-R08) </a:t>
                      </a:r>
                      <a:r>
                        <a:rPr lang="ko-KR" altLang="en-US" sz="800" dirty="0"/>
                        <a:t>서약서출력물</a:t>
                      </a:r>
                      <a:r>
                        <a:rPr lang="en-US" altLang="ko-KR" sz="800" dirty="0"/>
                        <a:t>-</a:t>
                      </a:r>
                      <a:r>
                        <a:rPr lang="ko-KR" altLang="en-US" sz="800" dirty="0" err="1"/>
                        <a:t>경쟁입찰물품부대조달정보체계</a:t>
                      </a:r>
                      <a:endParaRPr lang="en-US" altLang="ko-KR" sz="800" dirty="0"/>
                    </a:p>
                    <a:p>
                      <a:pPr marL="0" indent="0" algn="l" latinLnBrk="1">
                        <a:buFont typeface="Arial" panose="020B0604020202020204" pitchFamily="34" charset="0"/>
                        <a:buNone/>
                      </a:pPr>
                      <a:r>
                        <a:rPr lang="en-US" altLang="ko-KR" sz="800" dirty="0"/>
                        <a:t>(UI-BD-09-R09) </a:t>
                      </a:r>
                      <a:r>
                        <a:rPr lang="ko-KR" altLang="en-US" sz="800" dirty="0"/>
                        <a:t>서약서출력물</a:t>
                      </a:r>
                      <a:r>
                        <a:rPr lang="en-US" altLang="ko-KR" sz="800" dirty="0"/>
                        <a:t>-</a:t>
                      </a:r>
                      <a:r>
                        <a:rPr lang="ko-KR" altLang="en-US" sz="800" dirty="0"/>
                        <a:t>경쟁입찰공사</a:t>
                      </a:r>
                      <a:endParaRPr lang="en-US" altLang="ko-KR" sz="800" dirty="0"/>
                    </a:p>
                    <a:p>
                      <a:pPr marL="0" indent="0" algn="l" latinLnBrk="1">
                        <a:buFont typeface="Arial" panose="020B0604020202020204" pitchFamily="34" charset="0"/>
                        <a:buNone/>
                      </a:pPr>
                      <a:r>
                        <a:rPr lang="en-US" altLang="ko-KR" sz="800" dirty="0"/>
                        <a:t>(UI-BD-09-R10) </a:t>
                      </a:r>
                      <a:r>
                        <a:rPr lang="ko-KR" altLang="en-US" sz="800" dirty="0"/>
                        <a:t>서약서출력물</a:t>
                      </a:r>
                      <a:r>
                        <a:rPr lang="en-US" altLang="ko-KR" sz="800" dirty="0"/>
                        <a:t>-</a:t>
                      </a:r>
                      <a:r>
                        <a:rPr lang="ko-KR" altLang="en-US" sz="800" dirty="0" err="1"/>
                        <a:t>공개수의협상물품통합사업관리시스템</a:t>
                      </a:r>
                      <a:endParaRPr lang="en-US" altLang="ko-KR" sz="800" dirty="0"/>
                    </a:p>
                    <a:p>
                      <a:pPr marL="0" indent="0" algn="l" latinLnBrk="1">
                        <a:buFont typeface="Arial" panose="020B0604020202020204" pitchFamily="34" charset="0"/>
                        <a:buNone/>
                      </a:pPr>
                      <a:r>
                        <a:rPr lang="en-US" altLang="ko-KR" sz="800" dirty="0"/>
                        <a:t>(UI-BD-09-R11) </a:t>
                      </a:r>
                      <a:r>
                        <a:rPr lang="ko-KR" altLang="en-US" sz="800" dirty="0">
                          <a:latin typeface="+mn-ea"/>
                          <a:ea typeface="+mn-ea"/>
                        </a:rPr>
                        <a:t>서약서출력물</a:t>
                      </a:r>
                      <a:r>
                        <a:rPr lang="en-US" altLang="ko-KR" sz="800" dirty="0">
                          <a:latin typeface="+mn-ea"/>
                          <a:ea typeface="+mn-ea"/>
                        </a:rPr>
                        <a:t>-</a:t>
                      </a:r>
                      <a:r>
                        <a:rPr lang="ko-KR" altLang="en-US" sz="800" dirty="0" err="1">
                          <a:latin typeface="+mn-ea"/>
                          <a:ea typeface="+mn-ea"/>
                        </a:rPr>
                        <a:t>공개수의협상물품부대조달정보체계</a:t>
                      </a:r>
                      <a:endParaRPr lang="en-US" altLang="ko-KR" sz="800" dirty="0"/>
                    </a:p>
                    <a:p>
                      <a:pPr marL="0" indent="0" algn="l" latinLnBrk="1">
                        <a:buFont typeface="Arial" panose="020B0604020202020204" pitchFamily="34" charset="0"/>
                        <a:buNone/>
                      </a:pPr>
                      <a:r>
                        <a:rPr lang="en-US" altLang="ko-KR" sz="800" dirty="0"/>
                        <a:t>(UI-BD-09-R12) </a:t>
                      </a:r>
                      <a:r>
                        <a:rPr lang="ko-KR" altLang="en-US" sz="800" dirty="0">
                          <a:latin typeface="+mn-ea"/>
                          <a:ea typeface="+mn-ea"/>
                        </a:rPr>
                        <a:t>서약서출력물</a:t>
                      </a:r>
                      <a:r>
                        <a:rPr lang="en-US" altLang="ko-KR" sz="800" dirty="0">
                          <a:latin typeface="+mn-ea"/>
                          <a:ea typeface="+mn-ea"/>
                        </a:rPr>
                        <a:t>-</a:t>
                      </a:r>
                      <a:r>
                        <a:rPr lang="ko-KR" altLang="en-US" sz="800" dirty="0">
                          <a:latin typeface="+mn-ea"/>
                          <a:ea typeface="+mn-ea"/>
                        </a:rPr>
                        <a:t>공개수의협상공사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705806"/>
                  </a:ext>
                </a:extLst>
              </a:tr>
            </a:tbl>
          </a:graphicData>
        </a:graphic>
      </p:graphicFrame>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164</a:t>
            </a:fld>
            <a:endParaRPr lang="ko-KR" altLang="en-US" dirty="0"/>
          </a:p>
        </p:txBody>
      </p:sp>
      <p:sp>
        <p:nvSpPr>
          <p:cNvPr id="9" name="TextBox 8">
            <a:extLst>
              <a:ext uri="{FF2B5EF4-FFF2-40B4-BE49-F238E27FC236}">
                <a16:creationId xmlns:a16="http://schemas.microsoft.com/office/drawing/2014/main" id="{BC2B7D68-6A34-FC31-A073-EC144B851D3E}"/>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 name="Text Box 73">
            <a:extLst>
              <a:ext uri="{FF2B5EF4-FFF2-40B4-BE49-F238E27FC236}">
                <a16:creationId xmlns:a16="http://schemas.microsoft.com/office/drawing/2014/main" id="{680F6E90-61A8-83D6-9628-CBF568C2D5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9239792"/>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399536"/>
            <a:ext cx="792000" cy="22563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3995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399536"/>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399536"/>
            <a:ext cx="1814470" cy="2154436"/>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6306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844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058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2717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485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6991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9128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099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a:t>
            </a:r>
            <a:r>
              <a:rPr lang="ko-KR" altLang="en-US" dirty="0" smtClean="0"/>
              <a:t>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적격심사를 신청하는 화면</a:t>
            </a:r>
            <a:endParaRPr lang="en-US" altLang="ko-KR"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05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2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204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7108"/>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1719"/>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397712"/>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771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2900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6313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32382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355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43715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857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769113"/>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368330" y="3769113"/>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203749" y="3769113"/>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85720"/>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09205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20538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090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195307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3551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7329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122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654966"/>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2020457"/>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2133788"/>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241884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249336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254722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28255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29000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29539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228372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228372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252908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228733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29357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2924086" y="37309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36990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3209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65076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5" y="18553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4" y="1638706"/>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88665" y="1638706"/>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5324084" y="1638706"/>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825" y="1855313"/>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4421" y="1600583"/>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3" name="그룹 202"/>
            <p:cNvGrpSpPr/>
            <p:nvPr/>
          </p:nvGrpSpPr>
          <p:grpSpPr>
            <a:xfrm rot="5400000" flipH="1">
              <a:off x="3679895" y="2305364"/>
              <a:ext cx="94010" cy="47005"/>
              <a:chOff x="6812560" y="3297172"/>
              <a:chExt cx="94010" cy="47005"/>
            </a:xfrm>
          </p:grpSpPr>
          <p:cxnSp>
            <p:nvCxnSpPr>
              <p:cNvPr id="208" name="직선 연결선 2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타원 20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rot="16200000">
              <a:off x="3931564" y="2305364"/>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6" name="모서리가 둥근 직사각형 235"/>
          <p:cNvSpPr/>
          <p:nvPr/>
        </p:nvSpPr>
        <p:spPr>
          <a:xfrm>
            <a:off x="3831550" y="323632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4332218" y="3364705"/>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3909746" y="336470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239" name="타원 238"/>
          <p:cNvSpPr/>
          <p:nvPr/>
        </p:nvSpPr>
        <p:spPr>
          <a:xfrm>
            <a:off x="6206587" y="334656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a:off x="3795734" y="5614711"/>
            <a:ext cx="2712027" cy="617588"/>
            <a:chOff x="675399" y="5614711"/>
            <a:chExt cx="2712027" cy="617588"/>
          </a:xfrm>
        </p:grpSpPr>
        <p:sp>
          <p:nvSpPr>
            <p:cNvPr id="125" name="직사각형 12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34"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35" name="평행 사변형 134"/>
          <p:cNvSpPr/>
          <p:nvPr/>
        </p:nvSpPr>
        <p:spPr>
          <a:xfrm rot="16200000" flipH="1">
            <a:off x="2349649" y="2539635"/>
            <a:ext cx="2483867"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이행</a:t>
              </a:r>
              <a:r>
                <a:rPr lang="en-US" altLang="ko-KR" sz="800" dirty="0">
                  <a:latin typeface="+mn-ea"/>
                </a:rPr>
                <a:t>/</a:t>
              </a:r>
              <a:r>
                <a:rPr lang="ko-KR" altLang="en-US" sz="800" dirty="0" smtClean="0">
                  <a:latin typeface="+mn-ea"/>
                </a:rPr>
                <a:t>적격심사 상세</a:t>
              </a:r>
              <a:endParaRPr lang="ko-KR" altLang="en-US" sz="8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7" name="그룹 136"/>
            <p:cNvGrpSpPr/>
            <p:nvPr/>
          </p:nvGrpSpPr>
          <p:grpSpPr>
            <a:xfrm rot="5400000">
              <a:off x="852159" y="2062596"/>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8" name="그룹 137"/>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타원 14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545438013"/>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세부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 </a:t>
            </a:r>
            <a:r>
              <a:rPr lang="en-US" altLang="ko-KR" dirty="0"/>
              <a:t>- </a:t>
            </a:r>
            <a:r>
              <a:rPr lang="ko-KR" altLang="en-US" dirty="0"/>
              <a:t>일반정보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323695"/>
            <a:chOff x="701175" y="1527996"/>
            <a:chExt cx="2660475" cy="332369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0032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3016210"/>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신청마감일시</a:t>
              </a:r>
              <a:endParaRPr lang="en-US" altLang="ko-KR" sz="700" dirty="0">
                <a:latin typeface="+mn-ea"/>
              </a:endParaRPr>
            </a:p>
            <a:p>
              <a:pPr>
                <a:lnSpc>
                  <a:spcPct val="200000"/>
                </a:lnSpc>
              </a:pPr>
              <a:r>
                <a:rPr lang="ko-KR" altLang="en-US" sz="700" dirty="0" err="1">
                  <a:latin typeface="+mn-ea"/>
                </a:rPr>
                <a:t>적용양식</a:t>
              </a:r>
              <a:endParaRPr lang="en-US" altLang="ko-KR" sz="700" dirty="0">
                <a:latin typeface="+mn-ea"/>
              </a:endParaRPr>
            </a:p>
            <a:p>
              <a:pPr>
                <a:lnSpc>
                  <a:spcPct val="200000"/>
                </a:lnSpc>
              </a:pPr>
              <a:r>
                <a:rPr lang="ko-KR" altLang="en-US" sz="700" dirty="0">
                  <a:latin typeface="+mn-ea"/>
                </a:rPr>
                <a:t>비고</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2585323"/>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2025-12-01 10:00</a:t>
              </a:r>
            </a:p>
            <a:p>
              <a:pPr lvl="0">
                <a:lnSpc>
                  <a:spcPct val="200000"/>
                </a:lnSpc>
              </a:pPr>
              <a:endParaRPr lang="en-US" altLang="ko-KR" sz="700" dirty="0">
                <a:latin typeface="+mn-ea"/>
              </a:endParaRPr>
            </a:p>
          </p:txBody>
        </p:sp>
        <p:grpSp>
          <p:nvGrpSpPr>
            <p:cNvPr id="17" name="그룹 16"/>
            <p:cNvGrpSpPr/>
            <p:nvPr/>
          </p:nvGrpSpPr>
          <p:grpSpPr>
            <a:xfrm>
              <a:off x="701175" y="1835481"/>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82" name="직선 연결선 81">
            <a:extLst>
              <a:ext uri="{FF2B5EF4-FFF2-40B4-BE49-F238E27FC236}">
                <a16:creationId xmlns:a16="http://schemas.microsoft.com/office/drawing/2014/main" id="{E9293055-D5CD-4B9E-7F64-64B2D2CA7A52}"/>
              </a:ext>
            </a:extLst>
          </p:cNvPr>
          <p:cNvCxnSpPr/>
          <p:nvPr/>
        </p:nvCxnSpPr>
        <p:spPr>
          <a:xfrm>
            <a:off x="3795734" y="1568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TextBox 82">
            <a:extLst>
              <a:ext uri="{FF2B5EF4-FFF2-40B4-BE49-F238E27FC236}">
                <a16:creationId xmlns:a16="http://schemas.microsoft.com/office/drawing/2014/main" id="{FFC49AEA-2A8F-250C-A86A-A7751D9706C3}"/>
              </a:ext>
            </a:extLst>
          </p:cNvPr>
          <p:cNvSpPr txBox="1"/>
          <p:nvPr/>
        </p:nvSpPr>
        <p:spPr>
          <a:xfrm>
            <a:off x="3878080" y="1635710"/>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5" name="그룹 84"/>
          <p:cNvGrpSpPr/>
          <p:nvPr/>
        </p:nvGrpSpPr>
        <p:grpSpPr>
          <a:xfrm flipV="1">
            <a:off x="6240167" y="174904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2" name="직선 연결선 9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4" name="모서리가 둥근 직사각형 93"/>
          <p:cNvSpPr/>
          <p:nvPr/>
        </p:nvSpPr>
        <p:spPr>
          <a:xfrm>
            <a:off x="3831550" y="20340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4332218" y="210861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09746" y="21624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8" name="모서리가 둥근 직사각형 97"/>
          <p:cNvSpPr/>
          <p:nvPr/>
        </p:nvSpPr>
        <p:spPr>
          <a:xfrm>
            <a:off x="3831550" y="24407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4332218" y="25153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909746" y="25691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4332218" y="189897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838314" y="189897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04" name="타원 103"/>
          <p:cNvSpPr/>
          <p:nvPr/>
        </p:nvSpPr>
        <p:spPr>
          <a:xfrm>
            <a:off x="6206587"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6116103"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06" name="타원 105"/>
          <p:cNvSpPr/>
          <p:nvPr/>
        </p:nvSpPr>
        <p:spPr>
          <a:xfrm>
            <a:off x="6206587"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3795734" y="3308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모서리가 둥근 직사각형 107"/>
          <p:cNvSpPr/>
          <p:nvPr/>
        </p:nvSpPr>
        <p:spPr>
          <a:xfrm>
            <a:off x="3831550" y="285157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4332218" y="2979958"/>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909746" y="297995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111" name="타원 110"/>
          <p:cNvSpPr/>
          <p:nvPr/>
        </p:nvSpPr>
        <p:spPr>
          <a:xfrm>
            <a:off x="6206587" y="296181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5" name="그룹 64"/>
          <p:cNvGrpSpPr/>
          <p:nvPr/>
        </p:nvGrpSpPr>
        <p:grpSpPr>
          <a:xfrm>
            <a:off x="3795734" y="5614711"/>
            <a:ext cx="2712027" cy="617588"/>
            <a:chOff x="675399" y="5614711"/>
            <a:chExt cx="2712027" cy="617588"/>
          </a:xfrm>
        </p:grpSpPr>
        <p:sp>
          <p:nvSpPr>
            <p:cNvPr id="66" name="직사각형 6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414159437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항목 </a:t>
            </a:r>
            <a:r>
              <a:rPr lang="ko-KR" altLang="en-US" dirty="0" smtClean="0"/>
              <a:t>정보</a:t>
            </a:r>
            <a:endParaRPr lang="en-US" altLang="ko-KR" dirty="0" smtClean="0"/>
          </a:p>
          <a:p>
            <a:pPr marL="228600" indent="-228600">
              <a:buFont typeface="+mj-ea"/>
              <a:buAutoNum type="arabicPeriod"/>
            </a:pPr>
            <a:r>
              <a:rPr lang="ko-KR" altLang="en-US" dirty="0" smtClean="0"/>
              <a:t>반려 사유</a:t>
            </a:r>
            <a:r>
              <a:rPr lang="en-US" altLang="ko-KR" dirty="0" smtClean="0"/>
              <a:t/>
            </a:r>
            <a:br>
              <a:rPr lang="en-US" altLang="ko-KR" dirty="0" smtClean="0"/>
            </a:br>
            <a:r>
              <a:rPr lang="en-US" altLang="ko-KR" dirty="0" smtClean="0"/>
              <a:t>- </a:t>
            </a:r>
            <a:r>
              <a:rPr lang="ko-KR" altLang="en-US" dirty="0" smtClean="0"/>
              <a:t>사용자가 신청한 이후 관리자에 의해 반려 내용이 작성된 경우 표시되는 </a:t>
            </a:r>
            <a:r>
              <a:rPr lang="ko-KR" altLang="en-US" dirty="0" err="1" smtClean="0"/>
              <a:t>항목임</a:t>
            </a:r>
            <a:r>
              <a:rPr lang="en-US" altLang="ko-KR" dirty="0" smtClean="0"/>
              <a:t>.</a:t>
            </a:r>
            <a:br>
              <a:rPr lang="en-US" altLang="ko-KR" dirty="0" smtClean="0"/>
            </a:br>
            <a:r>
              <a:rPr lang="en-US" altLang="ko-KR" dirty="0" smtClean="0"/>
              <a:t>- </a:t>
            </a:r>
            <a:r>
              <a:rPr lang="ko-KR" altLang="en-US" dirty="0" smtClean="0"/>
              <a:t>최초 신청시점에는 표시되지 않는 항목</a:t>
            </a:r>
            <a:r>
              <a:rPr lang="en-US" altLang="ko-KR" dirty="0" smtClean="0"/>
              <a:t>.</a:t>
            </a:r>
            <a:br>
              <a:rPr lang="en-US" altLang="ko-KR" dirty="0" smtClean="0"/>
            </a:br>
            <a:r>
              <a:rPr lang="en-US" altLang="ko-KR" dirty="0" smtClean="0"/>
              <a:t>- </a:t>
            </a:r>
            <a:r>
              <a:rPr lang="ko-KR" altLang="en-US" dirty="0" smtClean="0"/>
              <a:t>내용 확인을 위한 재진입 시에도 반려 사유가 없는 경우 </a:t>
            </a:r>
            <a:r>
              <a:rPr lang="ko-KR" altLang="en-US" dirty="0" err="1" smtClean="0"/>
              <a:t>미표시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600147"/>
            <a:chOff x="701175" y="1527996"/>
            <a:chExt cx="2630093" cy="160014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1292662"/>
            </a:xfrm>
            <a:prstGeom prst="rect">
              <a:avLst/>
            </a:prstGeom>
            <a:noFill/>
          </p:spPr>
          <p:txBody>
            <a:bodyPr wrap="square" lIns="0" tIns="0" rIns="0" bIns="0" rtlCol="0">
              <a:spAutoFit/>
            </a:bodyPr>
            <a:lstStyle/>
            <a:p>
              <a:pPr>
                <a:lnSpc>
                  <a:spcPct val="200000"/>
                </a:lnSpc>
              </a:pPr>
              <a:r>
                <a:rPr lang="ko-KR" altLang="en-US" sz="700" dirty="0" err="1">
                  <a:latin typeface="+mn-ea"/>
                </a:rPr>
                <a:t>낙찰순위</a:t>
              </a:r>
              <a:endParaRPr lang="en-US" altLang="ko-KR" sz="700" dirty="0">
                <a:latin typeface="+mn-ea"/>
              </a:endParaRPr>
            </a:p>
            <a:p>
              <a:pPr>
                <a:lnSpc>
                  <a:spcPct val="200000"/>
                </a:lnSpc>
              </a:pPr>
              <a:r>
                <a:rPr lang="ko-KR" altLang="en-US" sz="700" dirty="0" err="1">
                  <a:latin typeface="+mn-ea"/>
                </a:rPr>
                <a:t>투찰금액</a:t>
              </a:r>
              <a:endParaRPr lang="en-US" altLang="ko-KR" sz="700" dirty="0">
                <a:latin typeface="+mn-ea"/>
              </a:endParaRPr>
            </a:p>
            <a:p>
              <a:pPr>
                <a:lnSpc>
                  <a:spcPct val="200000"/>
                </a:lnSpc>
              </a:pPr>
              <a:r>
                <a:rPr lang="ko-KR" altLang="en-US" sz="700" dirty="0" err="1">
                  <a:latin typeface="+mn-ea"/>
                </a:rPr>
                <a:t>투찰률</a:t>
              </a:r>
              <a:endParaRPr lang="en-US" altLang="ko-KR" sz="700" dirty="0">
                <a:latin typeface="+mn-ea"/>
              </a:endParaRPr>
            </a:p>
            <a:p>
              <a:pPr>
                <a:lnSpc>
                  <a:spcPct val="200000"/>
                </a:lnSpc>
              </a:pPr>
              <a:r>
                <a:rPr lang="en-US" altLang="ko-KR" sz="700" dirty="0">
                  <a:latin typeface="+mn-ea"/>
                </a:rPr>
                <a:t>(</a:t>
              </a:r>
              <a:r>
                <a:rPr lang="ko-KR" altLang="en-US" sz="700" dirty="0">
                  <a:latin typeface="+mn-ea"/>
                </a:rPr>
                <a:t>입찰가격</a:t>
              </a:r>
              <a:r>
                <a:rPr lang="en-US" altLang="ko-KR" sz="700" dirty="0">
                  <a:latin typeface="+mn-ea"/>
                </a:rPr>
                <a:t>-A)/(</a:t>
              </a:r>
              <a:r>
                <a:rPr lang="ko-KR" altLang="en-US" sz="700" dirty="0">
                  <a:latin typeface="+mn-ea"/>
                </a:rPr>
                <a:t>예정가격</a:t>
              </a:r>
              <a:r>
                <a:rPr lang="en-US" altLang="ko-KR" sz="700" dirty="0">
                  <a:latin typeface="+mn-ea"/>
                </a:rPr>
                <a:t>-A)*100</a:t>
              </a:r>
            </a:p>
            <a:p>
              <a:pPr>
                <a:lnSpc>
                  <a:spcPct val="200000"/>
                </a:lnSpc>
              </a:pPr>
              <a:r>
                <a:rPr lang="ko-KR" altLang="en-US" sz="700" dirty="0">
                  <a:latin typeface="+mn-ea"/>
                </a:rPr>
                <a:t>상태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31728" cy="1292662"/>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a:p>
              <a:pPr algn="r">
                <a:lnSpc>
                  <a:spcPct val="200000"/>
                </a:lnSpc>
              </a:pPr>
              <a:r>
                <a:rPr lang="en-US" altLang="ko-KR" sz="700" dirty="0">
                  <a:latin typeface="+mn-ea"/>
                </a:rPr>
                <a:t>89,000,000</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89.8 %</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대상통보</a:t>
              </a:r>
              <a:endParaRPr lang="en-US" altLang="ko-KR" sz="700" dirty="0">
                <a:latin typeface="+mn-ea"/>
              </a:endParaRP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1" name="TextBox 60">
            <a:extLst>
              <a:ext uri="{FF2B5EF4-FFF2-40B4-BE49-F238E27FC236}">
                <a16:creationId xmlns:a16="http://schemas.microsoft.com/office/drawing/2014/main" id="{FFC49AEA-2A8F-250C-A86A-A7751D9706C3}"/>
              </a:ext>
            </a:extLst>
          </p:cNvPr>
          <p:cNvSpPr txBox="1"/>
          <p:nvPr/>
        </p:nvSpPr>
        <p:spPr>
          <a:xfrm>
            <a:off x="762146" y="3343148"/>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a:t>
            </a:r>
          </a:p>
        </p:txBody>
      </p:sp>
      <p:grpSp>
        <p:nvGrpSpPr>
          <p:cNvPr id="62" name="그룹 61"/>
          <p:cNvGrpSpPr/>
          <p:nvPr/>
        </p:nvGrpSpPr>
        <p:grpSpPr>
          <a:xfrm flipV="1">
            <a:off x="3124233" y="3456479"/>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5" name="직선 연결선 74">
            <a:extLst>
              <a:ext uri="{FF2B5EF4-FFF2-40B4-BE49-F238E27FC236}">
                <a16:creationId xmlns:a16="http://schemas.microsoft.com/office/drawing/2014/main" id="{E9293055-D5CD-4B9E-7F64-64B2D2CA7A52}"/>
              </a:ext>
            </a:extLst>
          </p:cNvPr>
          <p:cNvCxnSpPr/>
          <p:nvPr/>
        </p:nvCxnSpPr>
        <p:spPr>
          <a:xfrm>
            <a:off x="675399" y="32606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직사각형 75"/>
          <p:cNvSpPr/>
          <p:nvPr/>
        </p:nvSpPr>
        <p:spPr>
          <a:xfrm>
            <a:off x="715155" y="3649760"/>
            <a:ext cx="2621844" cy="1048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804311" y="3650633"/>
            <a:ext cx="2454126"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 표시</a:t>
            </a:r>
            <a:endParaRPr lang="en-US" altLang="ko-KR" sz="700" dirty="0">
              <a:latin typeface="+mn-ea"/>
            </a:endParaRPr>
          </a:p>
        </p:txBody>
      </p:sp>
      <p:grpSp>
        <p:nvGrpSpPr>
          <p:cNvPr id="78" name="그룹 77"/>
          <p:cNvGrpSpPr/>
          <p:nvPr/>
        </p:nvGrpSpPr>
        <p:grpSpPr>
          <a:xfrm>
            <a:off x="715155" y="3649759"/>
            <a:ext cx="2630093" cy="1048572"/>
            <a:chOff x="701175" y="1835481"/>
            <a:chExt cx="2630093" cy="1048572"/>
          </a:xfrm>
        </p:grpSpPr>
        <p:cxnSp>
          <p:nvCxnSpPr>
            <p:cNvPr id="79" name="직선 연결선 7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81" name="직선 연결선 80">
            <a:extLst>
              <a:ext uri="{FF2B5EF4-FFF2-40B4-BE49-F238E27FC236}">
                <a16:creationId xmlns:a16="http://schemas.microsoft.com/office/drawing/2014/main" id="{E9293055-D5CD-4B9E-7F64-64B2D2CA7A52}"/>
              </a:ext>
            </a:extLst>
          </p:cNvPr>
          <p:cNvCxnSpPr/>
          <p:nvPr/>
        </p:nvCxnSpPr>
        <p:spPr>
          <a:xfrm>
            <a:off x="675488" y="47867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0" name="타원 3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45" name="그룹 44"/>
          <p:cNvGrpSpPr/>
          <p:nvPr/>
        </p:nvGrpSpPr>
        <p:grpSpPr>
          <a:xfrm>
            <a:off x="675399" y="5614711"/>
            <a:ext cx="2712027" cy="617588"/>
            <a:chOff x="675399" y="5614711"/>
            <a:chExt cx="2712027" cy="617588"/>
          </a:xfrm>
        </p:grpSpPr>
        <p:sp>
          <p:nvSpPr>
            <p:cNvPr id="46" name="직사각형 4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49" name="그룹 48"/>
          <p:cNvGrpSpPr/>
          <p:nvPr/>
        </p:nvGrpSpPr>
        <p:grpSpPr>
          <a:xfrm>
            <a:off x="8223250" y="569392"/>
            <a:ext cx="3365500" cy="634511"/>
            <a:chOff x="8223250" y="569392"/>
            <a:chExt cx="3365500" cy="634511"/>
          </a:xfrm>
        </p:grpSpPr>
        <p:sp>
          <p:nvSpPr>
            <p:cNvPr id="50" name="직사각형 4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51" name="직사각형 5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반려 사유 정보 설명 추가</a:t>
              </a:r>
              <a:endParaRPr lang="ko-KR" altLang="en-US" sz="700" dirty="0"/>
            </a:p>
          </p:txBody>
        </p:sp>
      </p:grpSp>
      <p:sp>
        <p:nvSpPr>
          <p:cNvPr id="52" name="타원 51">
            <a:extLst>
              <a:ext uri="{FF2B5EF4-FFF2-40B4-BE49-F238E27FC236}">
                <a16:creationId xmlns:a16="http://schemas.microsoft.com/office/drawing/2014/main" id="{37A7FF4F-0EAA-1463-560A-D5EC24416103}"/>
              </a:ext>
            </a:extLst>
          </p:cNvPr>
          <p:cNvSpPr/>
          <p:nvPr/>
        </p:nvSpPr>
        <p:spPr>
          <a:xfrm>
            <a:off x="571127" y="33794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20769974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파일첨부</a:t>
            </a:r>
            <a:r>
              <a:rPr lang="en-US" altLang="ko-KR" dirty="0"/>
              <a:t>, </a:t>
            </a:r>
            <a:r>
              <a:rPr lang="ko-KR" altLang="en-US" dirty="0"/>
              <a:t>추가첨부서류 </a:t>
            </a:r>
            <a:r>
              <a:rPr lang="ko-KR" altLang="en-US" dirty="0" smtClean="0"/>
              <a:t>등록</a:t>
            </a:r>
            <a:r>
              <a:rPr lang="en-US" altLang="ko-KR" dirty="0" smtClean="0"/>
              <a:t/>
            </a:r>
            <a:br>
              <a:rPr lang="en-US" altLang="ko-KR" dirty="0" smtClean="0"/>
            </a:br>
            <a:r>
              <a:rPr lang="en-US" altLang="ko-KR" dirty="0" smtClean="0"/>
              <a:t>- </a:t>
            </a:r>
            <a:r>
              <a:rPr lang="ko-KR" altLang="en-US" dirty="0" err="1" smtClean="0"/>
              <a:t>파일추가한</a:t>
            </a:r>
            <a:r>
              <a:rPr lang="ko-KR" altLang="en-US" dirty="0" smtClean="0"/>
              <a:t> 내용을 저장할 수 있음</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이행적격심사 파일을 제출하거나</a:t>
            </a:r>
            <a:r>
              <a:rPr lang="en-US" altLang="ko-KR" dirty="0" smtClean="0">
                <a:solidFill>
                  <a:srgbClr val="FF0000"/>
                </a:solidFill>
              </a:rPr>
              <a:t>, </a:t>
            </a:r>
            <a:r>
              <a:rPr lang="ko-KR" altLang="en-US" dirty="0" smtClean="0">
                <a:solidFill>
                  <a:srgbClr val="FF0000"/>
                </a:solidFill>
              </a:rPr>
              <a:t>기간이 종료된 이후</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파일은 추가</a:t>
            </a:r>
            <a:r>
              <a:rPr lang="en-US" altLang="ko-KR" dirty="0" smtClean="0">
                <a:solidFill>
                  <a:srgbClr val="FF0000"/>
                </a:solidFill>
              </a:rPr>
              <a:t>, </a:t>
            </a:r>
            <a:r>
              <a:rPr lang="ko-KR" altLang="en-US" dirty="0" smtClean="0">
                <a:solidFill>
                  <a:srgbClr val="FF0000"/>
                </a:solidFill>
              </a:rPr>
              <a:t>삭제</a:t>
            </a:r>
            <a:r>
              <a:rPr lang="en-US" altLang="ko-KR" dirty="0" smtClean="0">
                <a:solidFill>
                  <a:srgbClr val="FF0000"/>
                </a:solidFill>
              </a:rPr>
              <a:t>, </a:t>
            </a:r>
            <a:r>
              <a:rPr lang="ko-KR" altLang="en-US" dirty="0" smtClean="0">
                <a:solidFill>
                  <a:srgbClr val="FF0000"/>
                </a:solidFill>
              </a:rPr>
              <a:t>저장할 수 없음</a:t>
            </a:r>
            <a:r>
              <a:rPr lang="en-US" altLang="ko-KR" dirty="0" smtClean="0"/>
              <a:t/>
            </a:r>
            <a:br>
              <a:rPr lang="en-US" altLang="ko-KR" dirty="0" smtClean="0"/>
            </a:br>
            <a:r>
              <a:rPr lang="en-US" altLang="ko-KR" dirty="0"/>
              <a:t> </a:t>
            </a:r>
            <a:r>
              <a:rPr lang="en-US" altLang="ko-KR" dirty="0" smtClean="0"/>
              <a:t> &gt; </a:t>
            </a:r>
            <a:r>
              <a:rPr lang="ko-KR" altLang="en-US" dirty="0" smtClean="0"/>
              <a:t>삭제 버튼 및 기능을 대신하여 다운로드 버튼으로 변경 노출</a:t>
            </a:r>
            <a:r>
              <a:rPr lang="en-US" altLang="ko-KR" dirty="0" smtClean="0"/>
              <a:t/>
            </a:r>
            <a:br>
              <a:rPr lang="en-US" altLang="ko-KR" dirty="0" smtClean="0"/>
            </a:br>
            <a:r>
              <a:rPr lang="en-US" altLang="ko-KR" dirty="0" smtClean="0"/>
              <a:t>  &gt; </a:t>
            </a:r>
            <a:r>
              <a:rPr lang="ko-KR" altLang="en-US" dirty="0" err="1" smtClean="0"/>
              <a:t>파일추가</a:t>
            </a:r>
            <a:r>
              <a:rPr lang="en-US" altLang="ko-KR" dirty="0" smtClean="0"/>
              <a:t>, </a:t>
            </a:r>
            <a:r>
              <a:rPr lang="ko-KR" altLang="en-US" dirty="0" smtClean="0"/>
              <a:t>저장하기 버튼은 </a:t>
            </a:r>
            <a:r>
              <a:rPr lang="ko-KR" altLang="en-US" dirty="0" err="1" smtClean="0"/>
              <a:t>숨김처리</a:t>
            </a:r>
            <a:endParaRPr lang="en-US" altLang="ko-KR" dirty="0" smtClean="0"/>
          </a:p>
          <a:p>
            <a:pPr marL="228600" indent="-228600">
              <a:buFont typeface="+mj-ea"/>
              <a:buAutoNum type="arabicPeriod"/>
            </a:pPr>
            <a:r>
              <a:rPr lang="ko-KR" altLang="en-US" dirty="0">
                <a:solidFill>
                  <a:srgbClr val="FF0000"/>
                </a:solidFill>
              </a:rPr>
              <a:t>이행적격심사 파일을 제출하거나</a:t>
            </a:r>
            <a:r>
              <a:rPr lang="en-US" altLang="ko-KR" dirty="0">
                <a:solidFill>
                  <a:srgbClr val="FF0000"/>
                </a:solidFill>
              </a:rPr>
              <a:t>, </a:t>
            </a:r>
            <a:r>
              <a:rPr lang="ko-KR" altLang="en-US" dirty="0">
                <a:solidFill>
                  <a:srgbClr val="FF0000"/>
                </a:solidFill>
              </a:rPr>
              <a:t>기간이 종료된 이후</a:t>
            </a:r>
            <a:r>
              <a:rPr lang="en-US" altLang="ko-KR" dirty="0" smtClean="0"/>
              <a:t/>
            </a:r>
            <a:br>
              <a:rPr lang="en-US" altLang="ko-KR" dirty="0" smtClean="0"/>
            </a:br>
            <a:r>
              <a:rPr lang="en-US" altLang="ko-KR" dirty="0" smtClean="0"/>
              <a:t> - [</a:t>
            </a:r>
            <a:r>
              <a:rPr lang="ko-KR" altLang="en-US" dirty="0" smtClean="0"/>
              <a:t>이전</a:t>
            </a:r>
            <a:r>
              <a:rPr lang="en-US" altLang="ko-KR" dirty="0" smtClean="0"/>
              <a:t>], [</a:t>
            </a:r>
            <a:r>
              <a:rPr lang="ko-KR" altLang="en-US" dirty="0" smtClean="0"/>
              <a:t>제출</a:t>
            </a:r>
            <a:r>
              <a:rPr lang="en-US" altLang="ko-KR" dirty="0" smtClean="0"/>
              <a:t>]</a:t>
            </a:r>
            <a:r>
              <a:rPr lang="ko-KR" altLang="en-US" dirty="0" smtClean="0"/>
              <a:t> 버튼 및 이전 탭에서 존재하는 </a:t>
            </a:r>
            <a:r>
              <a:rPr lang="en-US" altLang="ko-KR" dirty="0" smtClean="0"/>
              <a:t>[</a:t>
            </a:r>
            <a:r>
              <a:rPr lang="ko-KR" altLang="en-US" dirty="0" smtClean="0"/>
              <a:t>이전</a:t>
            </a:r>
            <a:r>
              <a:rPr lang="en-US" altLang="ko-KR" dirty="0" smtClean="0"/>
              <a:t>], [</a:t>
            </a:r>
            <a:r>
              <a:rPr lang="ko-KR" altLang="en-US" dirty="0" smtClean="0"/>
              <a:t>다음</a:t>
            </a:r>
            <a:r>
              <a:rPr lang="en-US" altLang="ko-KR" dirty="0" smtClean="0"/>
              <a:t>] </a:t>
            </a:r>
            <a:r>
              <a:rPr lang="ko-KR" altLang="en-US" dirty="0" smtClean="0"/>
              <a:t>버튼들은</a:t>
            </a:r>
            <a:r>
              <a:rPr lang="en-US" altLang="ko-KR" dirty="0" smtClean="0"/>
              <a:t> </a:t>
            </a:r>
            <a:r>
              <a:rPr lang="ko-KR" altLang="en-US" dirty="0" smtClean="0"/>
              <a:t>모두 노출하지 않음</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파일첨부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파일첨부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7" name="TextBox 36">
            <a:extLst>
              <a:ext uri="{FF2B5EF4-FFF2-40B4-BE49-F238E27FC236}">
                <a16:creationId xmlns:a16="http://schemas.microsoft.com/office/drawing/2014/main" id="{FFC49AEA-2A8F-250C-A86A-A7751D9706C3}"/>
              </a:ext>
            </a:extLst>
          </p:cNvPr>
          <p:cNvSpPr txBox="1"/>
          <p:nvPr/>
        </p:nvSpPr>
        <p:spPr>
          <a:xfrm>
            <a:off x="762146" y="3260647"/>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추가첨부서류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38" name="그룹 37"/>
          <p:cNvGrpSpPr/>
          <p:nvPr/>
        </p:nvGrpSpPr>
        <p:grpSpPr>
          <a:xfrm flipV="1">
            <a:off x="3124233" y="3373978"/>
            <a:ext cx="94010" cy="47005"/>
            <a:chOff x="6812560" y="3297172"/>
            <a:chExt cx="94010" cy="47005"/>
          </a:xfrm>
        </p:grpSpPr>
        <p:cxnSp>
          <p:nvCxnSpPr>
            <p:cNvPr id="49" name="직선 연결선 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0" name="직선 연결선 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2" name="모서리가 둥근 직사각형 51"/>
          <p:cNvSpPr/>
          <p:nvPr/>
        </p:nvSpPr>
        <p:spPr>
          <a:xfrm>
            <a:off x="710315" y="22859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1210983" y="23604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788511" y="241430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6" name="모서리가 둥근 직사각형 55"/>
          <p:cNvSpPr/>
          <p:nvPr/>
        </p:nvSpPr>
        <p:spPr>
          <a:xfrm>
            <a:off x="710315" y="269260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TextBox 56">
            <a:extLst>
              <a:ext uri="{FF2B5EF4-FFF2-40B4-BE49-F238E27FC236}">
                <a16:creationId xmlns:a16="http://schemas.microsoft.com/office/drawing/2014/main" id="{FFC49AEA-2A8F-250C-A86A-A7751D9706C3}"/>
              </a:ext>
            </a:extLst>
          </p:cNvPr>
          <p:cNvSpPr txBox="1"/>
          <p:nvPr/>
        </p:nvSpPr>
        <p:spPr>
          <a:xfrm>
            <a:off x="1210983" y="276712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8" name="TextBox 57">
            <a:extLst>
              <a:ext uri="{FF2B5EF4-FFF2-40B4-BE49-F238E27FC236}">
                <a16:creationId xmlns:a16="http://schemas.microsoft.com/office/drawing/2014/main" id="{FFC49AEA-2A8F-250C-A86A-A7751D9706C3}"/>
              </a:ext>
            </a:extLst>
          </p:cNvPr>
          <p:cNvSpPr txBox="1"/>
          <p:nvPr/>
        </p:nvSpPr>
        <p:spPr>
          <a:xfrm>
            <a:off x="788511" y="28209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10315" y="179764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1210983" y="215080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717079" y="215080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68" name="모서리가 둥근 직사각형 67"/>
          <p:cNvSpPr/>
          <p:nvPr/>
        </p:nvSpPr>
        <p:spPr>
          <a:xfrm>
            <a:off x="710315" y="40076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FFC49AEA-2A8F-250C-A86A-A7751D9706C3}"/>
              </a:ext>
            </a:extLst>
          </p:cNvPr>
          <p:cNvSpPr txBox="1"/>
          <p:nvPr/>
        </p:nvSpPr>
        <p:spPr>
          <a:xfrm>
            <a:off x="1210983" y="40821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788511" y="41360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2" name="모서리가 둥근 직사각형 71"/>
          <p:cNvSpPr/>
          <p:nvPr/>
        </p:nvSpPr>
        <p:spPr>
          <a:xfrm>
            <a:off x="710315" y="441435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1210983" y="448887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3" name="TextBox 82">
            <a:extLst>
              <a:ext uri="{FF2B5EF4-FFF2-40B4-BE49-F238E27FC236}">
                <a16:creationId xmlns:a16="http://schemas.microsoft.com/office/drawing/2014/main" id="{FFC49AEA-2A8F-250C-A86A-A7751D9706C3}"/>
              </a:ext>
            </a:extLst>
          </p:cNvPr>
          <p:cNvSpPr txBox="1"/>
          <p:nvPr/>
        </p:nvSpPr>
        <p:spPr>
          <a:xfrm>
            <a:off x="788511" y="454273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710315" y="3545044"/>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1210983" y="387255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8" name="TextBox 87">
            <a:extLst>
              <a:ext uri="{FF2B5EF4-FFF2-40B4-BE49-F238E27FC236}">
                <a16:creationId xmlns:a16="http://schemas.microsoft.com/office/drawing/2014/main" id="{FFC49AEA-2A8F-250C-A86A-A7751D9706C3}"/>
              </a:ext>
            </a:extLst>
          </p:cNvPr>
          <p:cNvSpPr txBox="1"/>
          <p:nvPr/>
        </p:nvSpPr>
        <p:spPr>
          <a:xfrm>
            <a:off x="717079" y="387255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128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2928637" y="2150800"/>
            <a:ext cx="324968" cy="801489"/>
            <a:chOff x="6053706" y="4232257"/>
            <a:chExt cx="324968" cy="801489"/>
          </a:xfrm>
        </p:grpSpPr>
        <p:sp>
          <p:nvSpPr>
            <p:cNvPr id="51" name="TextBox 50">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62"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grpSp>
        <p:nvGrpSpPr>
          <p:cNvPr id="74" name="그룹 73"/>
          <p:cNvGrpSpPr/>
          <p:nvPr/>
        </p:nvGrpSpPr>
        <p:grpSpPr>
          <a:xfrm>
            <a:off x="2928637" y="3872550"/>
            <a:ext cx="324968" cy="801489"/>
            <a:chOff x="6053706" y="4232257"/>
            <a:chExt cx="324968" cy="801489"/>
          </a:xfrm>
        </p:grpSpPr>
        <p:sp>
          <p:nvSpPr>
            <p:cNvPr id="75" name="TextBox 74">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76"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sp>
        <p:nvSpPr>
          <p:cNvPr id="55" name="사각형: 둥근 모서리 15">
            <a:extLst>
              <a:ext uri="{FF2B5EF4-FFF2-40B4-BE49-F238E27FC236}">
                <a16:creationId xmlns:a16="http://schemas.microsoft.com/office/drawing/2014/main" id="{E2B61CFB-AD16-68D0-8752-50D9C5E01971}"/>
              </a:ext>
            </a:extLst>
          </p:cNvPr>
          <p:cNvSpPr/>
          <p:nvPr/>
        </p:nvSpPr>
        <p:spPr>
          <a:xfrm>
            <a:off x="710315" y="5030908"/>
            <a:ext cx="2652742" cy="323212"/>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900" kern="0" smtClean="0">
                <a:solidFill>
                  <a:schemeClr val="bg1"/>
                </a:solidFill>
                <a:latin typeface="맑은 고딕"/>
                <a:ea typeface="맑은 고딕" panose="020B0503020000020004" pitchFamily="50" charset="-127"/>
              </a:rPr>
              <a:t>저장히기</a:t>
            </a:r>
            <a:endParaRPr kumimoji="1" lang="en-US" sz="900" b="0" i="0" u="none" strike="noStrike" kern="0" cap="none" spc="0" normalizeH="0" baseline="0" noProof="0" dirty="0">
              <a:ln>
                <a:noFill/>
              </a:ln>
              <a:solidFill>
                <a:schemeClr val="bg1"/>
              </a:solidFill>
              <a:effectLst/>
              <a:uLnTx/>
              <a:uFillTx/>
              <a:latin typeface="맑은 고딕"/>
            </a:endParaRPr>
          </a:p>
        </p:txBody>
      </p:sp>
      <p:grpSp>
        <p:nvGrpSpPr>
          <p:cNvPr id="71" name="그룹 70"/>
          <p:cNvGrpSpPr/>
          <p:nvPr/>
        </p:nvGrpSpPr>
        <p:grpSpPr>
          <a:xfrm>
            <a:off x="675399" y="5614711"/>
            <a:ext cx="2712027" cy="617588"/>
            <a:chOff x="675399" y="5614711"/>
            <a:chExt cx="2712027" cy="617588"/>
          </a:xfrm>
        </p:grpSpPr>
        <p:sp>
          <p:nvSpPr>
            <p:cNvPr id="78" name="직사각형 7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81" name="그룹 80"/>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기간 종료에 따른 버튼 </a:t>
              </a:r>
              <a:r>
                <a:rPr lang="ko-KR" altLang="en-US" sz="700" smtClean="0"/>
                <a:t>표시 변경 설명 추가</a:t>
              </a:r>
              <a:endParaRPr lang="ko-KR" altLang="en-US" sz="700" dirty="0"/>
            </a:p>
          </p:txBody>
        </p:sp>
      </p:grpSp>
      <p:sp>
        <p:nvSpPr>
          <p:cNvPr id="89" name="타원 88">
            <a:extLst>
              <a:ext uri="{FF2B5EF4-FFF2-40B4-BE49-F238E27FC236}">
                <a16:creationId xmlns:a16="http://schemas.microsoft.com/office/drawing/2014/main" id="{37A7FF4F-0EAA-1463-560A-D5EC24416103}"/>
              </a:ext>
            </a:extLst>
          </p:cNvPr>
          <p:cNvSpPr/>
          <p:nvPr/>
        </p:nvSpPr>
        <p:spPr>
          <a:xfrm>
            <a:off x="571127" y="58123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550489173"/>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8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신청마감일시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924314"/>
                  </a:ext>
                </a:extLst>
              </a:tr>
              <a:tr h="0">
                <a:tc>
                  <a:txBody>
                    <a:bodyPr/>
                    <a:lstStyle/>
                    <a:p>
                      <a:pPr latinLnBrk="1"/>
                      <a:r>
                        <a:rPr lang="ko-KR" altLang="en-US" sz="800" dirty="0">
                          <a:latin typeface="+mn-ea"/>
                          <a:ea typeface="+mn-ea"/>
                        </a:rPr>
                        <a:t>적용양식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cmdtyLbsvcElgbSrngCd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적용양식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0524342"/>
                  </a:ext>
                </a:extLst>
              </a:tr>
            </a:tbl>
          </a:graphicData>
        </a:graphic>
      </p:graphicFrame>
      <p:sp>
        <p:nvSpPr>
          <p:cNvPr id="2" name="TextBox 1">
            <a:extLst>
              <a:ext uri="{FF2B5EF4-FFF2-40B4-BE49-F238E27FC236}">
                <a16:creationId xmlns:a16="http://schemas.microsoft.com/office/drawing/2014/main" id="{7FD110F8-FCE4-74B6-57EF-F923AF98D986}"/>
              </a:ext>
            </a:extLst>
          </p:cNvPr>
          <p:cNvSpPr txBox="1"/>
          <p:nvPr/>
        </p:nvSpPr>
        <p:spPr>
          <a:xfrm>
            <a:off x="460676" y="4104144"/>
            <a:ext cx="220469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D5C1784-D5E1-078B-8770-509B485215E2}"/>
              </a:ext>
            </a:extLst>
          </p:cNvPr>
          <p:cNvGraphicFramePr>
            <a:graphicFrameLocks noGrp="1"/>
          </p:cNvGraphicFramePr>
          <p:nvPr/>
        </p:nvGraphicFramePr>
        <p:xfrm>
          <a:off x="455558" y="4387898"/>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scsbdRnk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투찰금액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750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 / (</a:t>
                      </a:r>
                      <a:r>
                        <a:rPr lang="ko-KR" altLang="en-US" sz="800" dirty="0">
                          <a:latin typeface="+mn-ea"/>
                          <a:ea typeface="+mn-ea"/>
                        </a:rPr>
                        <a:t>예정가격</a:t>
                      </a:r>
                      <a:r>
                        <a:rPr lang="en-US" altLang="ko-KR" sz="800" dirty="0">
                          <a:latin typeface="+mn-ea"/>
                          <a:ea typeface="+mn-ea"/>
                        </a:rPr>
                        <a:t>-A) * 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380110"/>
                  </a:ext>
                </a:extLst>
              </a:tr>
              <a:tr h="0">
                <a:tc>
                  <a:txBody>
                    <a:bodyPr/>
                    <a:lstStyle/>
                    <a:p>
                      <a:pPr latinLnBrk="1"/>
                      <a:r>
                        <a:rPr lang="ko-KR" altLang="en-US" sz="800" dirty="0">
                          <a:latin typeface="+mn-ea"/>
                          <a:ea typeface="+mn-ea"/>
                        </a:rPr>
                        <a:t>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8773227"/>
                  </a:ext>
                </a:extLst>
              </a:tr>
            </a:tbl>
          </a:graphicData>
        </a:graphic>
      </p:graphicFrame>
      <p:sp>
        <p:nvSpPr>
          <p:cNvPr id="6" name="TextBox 5">
            <a:extLst>
              <a:ext uri="{FF2B5EF4-FFF2-40B4-BE49-F238E27FC236}">
                <a16:creationId xmlns:a16="http://schemas.microsoft.com/office/drawing/2014/main" id="{31C3AF3E-24D1-8357-0AF4-2261A05B1D98}"/>
              </a:ext>
            </a:extLst>
          </p:cNvPr>
          <p:cNvSpPr txBox="1"/>
          <p:nvPr/>
        </p:nvSpPr>
        <p:spPr>
          <a:xfrm>
            <a:off x="458117" y="5804446"/>
            <a:ext cx="220469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반려사유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8760284B-065B-C479-BE5C-93CF10E527F8}"/>
              </a:ext>
            </a:extLst>
          </p:cNvPr>
          <p:cNvGraphicFramePr>
            <a:graphicFrameLocks noGrp="1"/>
          </p:cNvGraphicFramePr>
          <p:nvPr/>
        </p:nvGraphicFramePr>
        <p:xfrm>
          <a:off x="452999" y="6088200"/>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rjctRsn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반려사유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5506707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606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t>참고서류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dlt_refDcmnt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서류명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서류명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첨부문서명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첨부문서명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9" name="TextBox 8">
            <a:extLst>
              <a:ext uri="{FF2B5EF4-FFF2-40B4-BE49-F238E27FC236}">
                <a16:creationId xmlns:a16="http://schemas.microsoft.com/office/drawing/2014/main" id="{9C3FC40B-6DC8-16E8-DC02-74DB38C85C84}"/>
              </a:ext>
            </a:extLst>
          </p:cNvPr>
          <p:cNvSpPr txBox="1"/>
          <p:nvPr/>
        </p:nvSpPr>
        <p:spPr>
          <a:xfrm>
            <a:off x="458117" y="2001199"/>
            <a:ext cx="20123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1ED0BF1C-1208-0523-7FA9-36368FF1B1B2}"/>
              </a:ext>
            </a:extLst>
          </p:cNvPr>
          <p:cNvGraphicFramePr>
            <a:graphicFrameLocks noGrp="1"/>
          </p:cNvGraphicFramePr>
          <p:nvPr/>
        </p:nvGraphicFramePr>
        <p:xfrm>
          <a:off x="452999" y="2212402"/>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등록된 첨부파일인 경우 조회</a:t>
                      </a:r>
                      <a:r>
                        <a:rPr lang="ko-KR" altLang="en-US" sz="800" dirty="0"/>
                        <a:t>항목으로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6057"/>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12" name="TextBox 11">
            <a:extLst>
              <a:ext uri="{FF2B5EF4-FFF2-40B4-BE49-F238E27FC236}">
                <a16:creationId xmlns:a16="http://schemas.microsoft.com/office/drawing/2014/main" id="{9C570BBF-010C-689A-C4F8-049F61A405CB}"/>
              </a:ext>
            </a:extLst>
          </p:cNvPr>
          <p:cNvSpPr txBox="1"/>
          <p:nvPr/>
        </p:nvSpPr>
        <p:spPr>
          <a:xfrm>
            <a:off x="460676" y="3391662"/>
            <a:ext cx="2488429"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err="1">
                <a:solidFill>
                  <a:prstClr val="black"/>
                </a:solidFill>
              </a:rPr>
              <a:t>추가첨부서류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dlt_addAdoc</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EEE1F128-FEB1-7779-518D-4089B11EEE82}"/>
              </a:ext>
            </a:extLst>
          </p:cNvPr>
          <p:cNvGraphicFramePr>
            <a:graphicFrameLocks noGrp="1"/>
          </p:cNvGraphicFramePr>
          <p:nvPr/>
        </p:nvGraphicFramePr>
        <p:xfrm>
          <a:off x="455558" y="36028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2" name="TextBox 1">
            <a:extLst>
              <a:ext uri="{FF2B5EF4-FFF2-40B4-BE49-F238E27FC236}">
                <a16:creationId xmlns:a16="http://schemas.microsoft.com/office/drawing/2014/main" id="{B86B4A9E-316D-FEAC-B50A-F986D7EFCEC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01E69BE4-4A52-6501-3134-DD79FE97973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6375042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171</a:t>
            </a:fld>
            <a:endParaRPr lang="ko-KR" altLang="en-US" dirty="0"/>
          </a:p>
        </p:txBody>
      </p:sp>
      <p:graphicFrame>
        <p:nvGraphicFramePr>
          <p:cNvPr id="18" name="표 17">
            <a:extLst>
              <a:ext uri="{FF2B5EF4-FFF2-40B4-BE49-F238E27FC236}">
                <a16:creationId xmlns:a16="http://schemas.microsoft.com/office/drawing/2014/main" id="{39FF4FA3-2661-D5DD-9AC7-D3BD306A5181}"/>
              </a:ext>
            </a:extLst>
          </p:cNvPr>
          <p:cNvGraphicFramePr>
            <a:graphicFrameLocks noGrp="1"/>
          </p:cNvGraphicFramePr>
          <p:nvPr>
            <p:extLst>
              <p:ext uri="{D42A27DB-BD31-4B8C-83A1-F6EECF244321}">
                <p14:modId xmlns:p14="http://schemas.microsoft.com/office/powerpoint/2010/main" val="3696230035"/>
              </p:ext>
            </p:extLst>
          </p:nvPr>
        </p:nvGraphicFramePr>
        <p:xfrm>
          <a:off x="452291" y="1014316"/>
          <a:ext cx="8995591" cy="39840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9324242"/>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입찰결과</a:t>
                      </a:r>
                      <a:r>
                        <a:rPr lang="en-US" altLang="ko-KR" sz="800" dirty="0">
                          <a:latin typeface="+mn-ea"/>
                          <a:ea typeface="+mn-ea"/>
                        </a:rPr>
                        <a:t>, </a:t>
                      </a:r>
                      <a:r>
                        <a:rPr lang="ko-KR" altLang="en-US" sz="800" dirty="0">
                          <a:latin typeface="+mn-ea"/>
                          <a:ea typeface="+mn-ea"/>
                        </a:rPr>
                        <a:t>반려사유</a:t>
                      </a:r>
                      <a:r>
                        <a:rPr lang="en-US" altLang="ko-KR" sz="800" dirty="0">
                          <a:latin typeface="+mn-ea"/>
                          <a:ea typeface="+mn-ea"/>
                        </a:rPr>
                        <a:t>, </a:t>
                      </a:r>
                      <a:r>
                        <a:rPr lang="ko-KR" altLang="en-US" sz="800" dirty="0">
                          <a:latin typeface="+mn-ea"/>
                          <a:ea typeface="+mn-ea"/>
                        </a:rPr>
                        <a:t>참고서류</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9040093"/>
                  </a:ext>
                </a:extLst>
              </a:tr>
              <a:tr h="0">
                <a:tc>
                  <a:txBody>
                    <a:bodyPr/>
                    <a:lstStyle/>
                    <a:p>
                      <a:r>
                        <a:rPr lang="ko-KR" altLang="en-US" sz="800" dirty="0"/>
                        <a:t>참고서류의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참고서류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438402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84753"/>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113051"/>
                  </a:ext>
                </a:extLst>
              </a:tr>
              <a:tr h="0">
                <a:tc>
                  <a:txBody>
                    <a:bodyPr/>
                    <a:lstStyle/>
                    <a:p>
                      <a:r>
                        <a:rPr lang="ko-KR" altLang="en-US" sz="800" dirty="0"/>
                        <a:t>첨부서류의 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36001"/>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806275"/>
                  </a:ext>
                </a:extLst>
              </a:tr>
              <a:tr h="0">
                <a:tc>
                  <a:txBody>
                    <a:bodyPr/>
                    <a:lstStyle/>
                    <a:p>
                      <a:r>
                        <a:rPr lang="ko-KR" altLang="en-US" sz="800" dirty="0" err="1"/>
                        <a:t>추가첨부서류의</a:t>
                      </a:r>
                      <a:r>
                        <a:rPr lang="ko-KR" altLang="en-US" sz="800" dirty="0"/>
                        <a:t>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4206061"/>
                  </a:ext>
                </a:extLst>
              </a:tr>
              <a:tr h="0">
                <a:tc>
                  <a:txBody>
                    <a:bodyPr/>
                    <a:lstStyle/>
                    <a:p>
                      <a:r>
                        <a:rPr lang="ko-KR" altLang="en-US" sz="800" dirty="0"/>
                        <a:t>법 위반 처벌이력 확인서 양식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scwin.btn_lawVltnHstryCnfdocForm_onclick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양식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저장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scwin.btn_strg_onclick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내역 임시 저장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r h="0">
                <a:tc>
                  <a:txBody>
                    <a:bodyPr/>
                    <a:lstStyle/>
                    <a:p>
                      <a:r>
                        <a:rPr lang="ko-KR" altLang="en-US" sz="800" dirty="0"/>
                        <a:t>적격심사신청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scwin.btn_elgbSrngAply_onclick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095636"/>
                  </a:ext>
                </a:extLst>
              </a:tr>
            </a:tbl>
          </a:graphicData>
        </a:graphic>
      </p:graphicFrame>
      <p:sp>
        <p:nvSpPr>
          <p:cNvPr id="17" name="TextBox 16">
            <a:extLst>
              <a:ext uri="{FF2B5EF4-FFF2-40B4-BE49-F238E27FC236}">
                <a16:creationId xmlns:a16="http://schemas.microsoft.com/office/drawing/2014/main" id="{C27A91D1-AAE3-587F-1E4B-51AEB57A3BCD}"/>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4" name="Text Box 73">
            <a:extLst>
              <a:ext uri="{FF2B5EF4-FFF2-40B4-BE49-F238E27FC236}">
                <a16:creationId xmlns:a16="http://schemas.microsoft.com/office/drawing/2014/main" id="{43DADA0B-DEA5-F6AA-928E-0BEB2A99876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244573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물품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물품일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20132"/>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제조능력</a:t>
              </a:r>
              <a:endParaRPr lang="en-US" altLang="ko-KR" sz="700" dirty="0">
                <a:latin typeface="+mn-ea"/>
              </a:endParaRPr>
            </a:p>
            <a:p>
              <a:pPr>
                <a:lnSpc>
                  <a:spcPct val="200000"/>
                </a:lnSpc>
              </a:pPr>
              <a:r>
                <a:rPr lang="ko-KR" altLang="en-US" sz="700" dirty="0">
                  <a:latin typeface="+mn-ea"/>
                </a:rPr>
                <a:t>재무상태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lvl="0">
                <a:lnSpc>
                  <a:spcPct val="200000"/>
                </a:lnSpc>
              </a:pPr>
              <a:r>
                <a:rPr lang="ko-KR" altLang="en-US" sz="700" dirty="0">
                  <a:latin typeface="+mn-ea"/>
                </a:rPr>
                <a:t>기타</a:t>
              </a:r>
              <a:r>
                <a:rPr lang="en-US" altLang="ko-KR" sz="700" dirty="0">
                  <a:latin typeface="+mn-ea"/>
                </a:rPr>
                <a:t>1</a:t>
              </a:r>
              <a:endParaRPr lang="ko-KR" altLang="en-US" sz="700" dirty="0">
                <a:latin typeface="+mn-ea"/>
              </a:endParaRPr>
            </a:p>
            <a:p>
              <a:pPr lvl="0">
                <a:lnSpc>
                  <a:spcPct val="200000"/>
                </a:lnSpc>
              </a:pPr>
              <a:r>
                <a:rPr lang="ko-KR" altLang="en-US" sz="700" dirty="0">
                  <a:latin typeface="+mn-ea"/>
                </a:rPr>
                <a:t>기타</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4086290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8583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용역일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err="1">
                  <a:latin typeface="+mn-ea"/>
                </a:rPr>
                <a:t>특별신인도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a:lnSpc>
                  <a:spcPct val="200000"/>
                </a:lnSpc>
              </a:pPr>
              <a:r>
                <a:rPr lang="ko-KR" altLang="en-US" sz="700" dirty="0">
                  <a:latin typeface="+mn-ea"/>
                </a:rPr>
                <a:t>기타</a:t>
              </a:r>
              <a:r>
                <a:rPr lang="en-US" altLang="ko-KR" sz="700" dirty="0">
                  <a:latin typeface="+mn-ea"/>
                </a:rPr>
                <a:t>1</a:t>
              </a:r>
            </a:p>
            <a:p>
              <a:pPr>
                <a:lnSpc>
                  <a:spcPct val="200000"/>
                </a:lnSpc>
              </a:pPr>
              <a:r>
                <a:rPr lang="ko-KR" altLang="en-US" sz="700" dirty="0">
                  <a:latin typeface="+mn-ea"/>
                </a:rPr>
                <a:t>기타</a:t>
              </a:r>
              <a:r>
                <a:rPr lang="en-US" altLang="ko-KR" sz="700" dirty="0">
                  <a:latin typeface="+mn-ea"/>
                </a:rPr>
                <a:t>2</a:t>
              </a: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a:t>
              </a: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10688460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특별신인도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결격사유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기타</a:t>
                      </a:r>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기타</a:t>
                      </a:r>
                      <a:r>
                        <a:rPr lang="en-US" altLang="ko-KR" sz="8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점수총계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판정결과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bl>
          </a:graphicData>
        </a:graphic>
      </p:graphicFrame>
      <p:sp>
        <p:nvSpPr>
          <p:cNvPr id="9" name="TextBox 8">
            <a:extLst>
              <a:ext uri="{FF2B5EF4-FFF2-40B4-BE49-F238E27FC236}">
                <a16:creationId xmlns:a16="http://schemas.microsoft.com/office/drawing/2014/main" id="{98AFBB7F-8F35-89FD-C1FD-182D84BCEDE9}"/>
              </a:ext>
            </a:extLst>
          </p:cNvPr>
          <p:cNvSpPr txBox="1"/>
          <p:nvPr/>
        </p:nvSpPr>
        <p:spPr>
          <a:xfrm>
            <a:off x="457408" y="327700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D97AAD46-6BB7-4752-2D87-11D121746F0E}"/>
              </a:ext>
            </a:extLst>
          </p:cNvPr>
          <p:cNvGraphicFramePr>
            <a:graphicFrameLocks noGrp="1"/>
          </p:cNvGraphicFramePr>
          <p:nvPr/>
        </p:nvGraphicFramePr>
        <p:xfrm>
          <a:off x="452291" y="3555140"/>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F86617E5-8FED-A97D-1F54-F50F0E5EBFF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0574228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4996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1508105"/>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ko-KR" altLang="en-US" sz="700" dirty="0">
                <a:latin typeface="+mn-ea"/>
              </a:rPr>
              <a:t>라</a:t>
            </a:r>
            <a:r>
              <a:rPr lang="en-US" altLang="ko-KR" sz="700" dirty="0">
                <a:latin typeface="+mn-ea"/>
              </a:rPr>
              <a:t>. </a:t>
            </a:r>
            <a:r>
              <a:rPr lang="ko-KR" altLang="en-US" sz="700" dirty="0">
                <a:latin typeface="+mn-ea"/>
              </a:rPr>
              <a:t>사후관리</a:t>
            </a:r>
            <a:endParaRPr lang="en-US" altLang="ko-KR" sz="700" dirty="0">
              <a:latin typeface="+mn-ea"/>
            </a:endParaRPr>
          </a:p>
          <a:p>
            <a:pPr>
              <a:lnSpc>
                <a:spcPct val="200000"/>
              </a:lnSpc>
            </a:pP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1508105"/>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1.5</a:t>
            </a:r>
          </a:p>
        </p:txBody>
      </p:sp>
      <p:grpSp>
        <p:nvGrpSpPr>
          <p:cNvPr id="173" name="그룹 172"/>
          <p:cNvGrpSpPr/>
          <p:nvPr/>
        </p:nvGrpSpPr>
        <p:grpSpPr>
          <a:xfrm>
            <a:off x="3821510" y="2737962"/>
            <a:ext cx="2630093" cy="1499614"/>
            <a:chOff x="701175" y="1835481"/>
            <a:chExt cx="2630093" cy="1499614"/>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28934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1203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3335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1508105"/>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566330"/>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566331"/>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err="1">
                <a:latin typeface="+mn-ea"/>
              </a:rPr>
              <a:t>납품지연</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566331"/>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-2.0</a:t>
            </a:r>
          </a:p>
        </p:txBody>
      </p:sp>
      <p:grpSp>
        <p:nvGrpSpPr>
          <p:cNvPr id="188" name="그룹 187"/>
          <p:cNvGrpSpPr/>
          <p:nvPr/>
        </p:nvGrpSpPr>
        <p:grpSpPr>
          <a:xfrm>
            <a:off x="3821510" y="4566331"/>
            <a:ext cx="2630093" cy="429480"/>
            <a:chOff x="701175" y="1835481"/>
            <a:chExt cx="2630093" cy="429480"/>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4279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566331"/>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95" name="직사각형 194"/>
          <p:cNvSpPr/>
          <p:nvPr/>
        </p:nvSpPr>
        <p:spPr>
          <a:xfrm>
            <a:off x="3823602" y="5624020"/>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62402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62402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624021"/>
            <a:ext cx="2630093" cy="214740"/>
            <a:chOff x="701175" y="1835481"/>
            <a:chExt cx="2630093" cy="2147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136669"/>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33690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6240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508207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934097"/>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6" y="5987958"/>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9879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23555269"/>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29266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B. </a:t>
            </a:r>
            <a:r>
              <a:rPr lang="ko-KR" altLang="en-US" sz="700" dirty="0">
                <a:latin typeface="+mn-ea"/>
              </a:rPr>
              <a:t>특허</a:t>
            </a:r>
            <a:r>
              <a:rPr lang="en-US" altLang="ko-KR" sz="700" dirty="0">
                <a:latin typeface="+mn-ea"/>
              </a:rPr>
              <a:t>, GD</a:t>
            </a:r>
            <a:r>
              <a:rPr lang="ko-KR" altLang="en-US" sz="700" dirty="0">
                <a:latin typeface="+mn-ea"/>
              </a:rPr>
              <a:t>인증 보유자</a:t>
            </a:r>
          </a:p>
          <a:p>
            <a:pPr>
              <a:lnSpc>
                <a:spcPct val="200000"/>
              </a:lnSpc>
            </a:pPr>
            <a:r>
              <a:rPr lang="en-US" altLang="ko-KR" sz="700" dirty="0">
                <a:latin typeface="+mn-ea"/>
              </a:rPr>
              <a:t>C. </a:t>
            </a:r>
            <a:r>
              <a:rPr lang="ko-KR" altLang="en-US" sz="700" dirty="0">
                <a:latin typeface="+mn-ea"/>
              </a:rPr>
              <a:t>실용신안등록</a:t>
            </a:r>
            <a:r>
              <a:rPr lang="en-US" altLang="ko-KR" sz="700" dirty="0">
                <a:latin typeface="+mn-ea"/>
              </a:rPr>
              <a:t>, </a:t>
            </a:r>
            <a:r>
              <a:rPr lang="ko-KR" altLang="en-US" sz="700" dirty="0" err="1">
                <a:latin typeface="+mn-ea"/>
              </a:rPr>
              <a:t>의장등록</a:t>
            </a:r>
            <a:r>
              <a:rPr lang="ko-KR" altLang="en-US" sz="700" dirty="0">
                <a:latin typeface="+mn-ea"/>
              </a:rPr>
              <a:t> 보유자</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538" y="2555585"/>
            <a:ext cx="179600" cy="1292662"/>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a:t>
            </a:r>
          </a:p>
          <a:p>
            <a:pPr algn="r">
              <a:lnSpc>
                <a:spcPct val="200000"/>
              </a:lnSpc>
            </a:pPr>
            <a:r>
              <a:rPr lang="en-US" altLang="ko-KR" sz="700" dirty="0">
                <a:latin typeface="+mn-ea"/>
              </a:rPr>
              <a:t>0.5</a:t>
            </a: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2498" y="34490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0405" y="364964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864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기술 및 디자인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주무부 장관 등이 인증한 신기술</a:t>
            </a:r>
            <a:r>
              <a:rPr lang="en-US" altLang="ko-KR" sz="700" dirty="0">
                <a:latin typeface="+mn-ea"/>
              </a:rPr>
              <a:t>(KT, NT, IT, </a:t>
            </a:r>
            <a:r>
              <a:rPr lang="ko-KR" altLang="en-US" sz="700" dirty="0" err="1">
                <a:latin typeface="+mn-ea"/>
              </a:rPr>
              <a:t>전력신기술</a:t>
            </a:r>
            <a:r>
              <a:rPr lang="en-US" altLang="ko-KR" sz="700" dirty="0">
                <a:latin typeface="+mn-ea"/>
              </a:rPr>
              <a:t>, </a:t>
            </a:r>
            <a:r>
              <a:rPr lang="ko-KR" altLang="en-US" sz="700" dirty="0" err="1">
                <a:latin typeface="+mn-ea"/>
              </a:rPr>
              <a:t>건설신기술</a:t>
            </a:r>
            <a:r>
              <a:rPr lang="en-US" altLang="ko-KR" sz="700" dirty="0">
                <a:latin typeface="+mn-ea"/>
              </a:rPr>
              <a:t>, </a:t>
            </a:r>
            <a:r>
              <a:rPr lang="ko-KR" altLang="en-US" sz="700" dirty="0" err="1">
                <a:latin typeface="+mn-ea"/>
              </a:rPr>
              <a:t>환경신기술</a:t>
            </a:r>
            <a:r>
              <a:rPr lang="en-US" altLang="ko-KR" sz="700" dirty="0">
                <a:latin typeface="+mn-ea"/>
              </a:rPr>
              <a:t>)</a:t>
            </a:r>
            <a:r>
              <a:rPr lang="ko-KR" altLang="en-US" sz="700" dirty="0">
                <a:latin typeface="+mn-ea"/>
              </a:rPr>
              <a:t>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및 </a:t>
            </a:r>
            <a:r>
              <a:rPr lang="en-US" altLang="ko-KR" sz="700" dirty="0">
                <a:latin typeface="+mn-ea"/>
              </a:rPr>
              <a:t>GS(</a:t>
            </a:r>
            <a:r>
              <a:rPr lang="ko-KR" altLang="en-US" sz="700" dirty="0">
                <a:latin typeface="+mn-ea"/>
              </a:rPr>
              <a:t>국산 우수 </a:t>
            </a:r>
            <a:r>
              <a:rPr lang="en-US" altLang="ko-KR" sz="700" dirty="0">
                <a:latin typeface="+mn-ea"/>
              </a:rPr>
              <a:t>S/W)</a:t>
            </a:r>
            <a:r>
              <a:rPr lang="ko-KR" altLang="en-US" sz="700" dirty="0">
                <a:latin typeface="+mn-ea"/>
              </a:rPr>
              <a:t>마크 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60" name="직사각형 259"/>
          <p:cNvSpPr/>
          <p:nvPr/>
        </p:nvSpPr>
        <p:spPr>
          <a:xfrm>
            <a:off x="3832497" y="4429540"/>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442954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442954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4429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6442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6" name="직선 연결선 265">
            <a:extLst>
              <a:ext uri="{FF2B5EF4-FFF2-40B4-BE49-F238E27FC236}">
                <a16:creationId xmlns:a16="http://schemas.microsoft.com/office/drawing/2014/main" id="{E9293055-D5CD-4B9E-7F64-64B2D2CA7A52}"/>
              </a:ext>
            </a:extLst>
          </p:cNvPr>
          <p:cNvCxnSpPr/>
          <p:nvPr/>
        </p:nvCxnSpPr>
        <p:spPr>
          <a:xfrm>
            <a:off x="3832498" y="50089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0405" y="537365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738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94359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품질</a:t>
            </a:r>
            <a:r>
              <a:rPr lang="en-US" altLang="ko-KR" sz="700" dirty="0">
                <a:latin typeface="+mn-ea"/>
              </a:rPr>
              <a:t>, </a:t>
            </a:r>
            <a:r>
              <a:rPr lang="ko-KR" altLang="en-US" sz="700" dirty="0">
                <a:latin typeface="+mn-ea"/>
              </a:rPr>
              <a:t>규격 등에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442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718902"/>
            <a:ext cx="1480199" cy="215444"/>
          </a:xfrm>
          <a:prstGeom prst="rect">
            <a:avLst/>
          </a:prstGeom>
          <a:noFill/>
        </p:spPr>
        <p:txBody>
          <a:bodyPr wrap="square" lIns="0" tIns="0" rIns="0" bIns="0" rtlCol="0">
            <a:spAutoFit/>
          </a:bodyPr>
          <a:lstStyle/>
          <a:p>
            <a:r>
              <a:rPr lang="en-US" altLang="ko-KR" sz="700" dirty="0">
                <a:latin typeface="+mn-ea"/>
              </a:rPr>
              <a:t>A. EM, </a:t>
            </a:r>
            <a:r>
              <a:rPr lang="ko-KR" altLang="en-US" sz="700" dirty="0">
                <a:latin typeface="+mn-ea"/>
              </a:rPr>
              <a:t>싱글 </a:t>
            </a:r>
            <a:r>
              <a:rPr lang="en-US" altLang="ko-KR" sz="700" dirty="0">
                <a:latin typeface="+mn-ea"/>
              </a:rPr>
              <a:t>PPM, </a:t>
            </a:r>
            <a:r>
              <a:rPr lang="ko-KR" altLang="en-US" sz="700" dirty="0">
                <a:latin typeface="+mn-ea"/>
              </a:rPr>
              <a:t>고효율에너지기자재 인증</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5708516" y="4772763"/>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19560" y="5083588"/>
            <a:ext cx="1480199" cy="215444"/>
          </a:xfrm>
          <a:prstGeom prst="rect">
            <a:avLst/>
          </a:prstGeom>
          <a:noFill/>
        </p:spPr>
        <p:txBody>
          <a:bodyPr wrap="square" lIns="0" tIns="0" rIns="0" bIns="0" rtlCol="0">
            <a:spAutoFit/>
          </a:bodyPr>
          <a:lstStyle/>
          <a:p>
            <a:r>
              <a:rPr lang="en-US" altLang="ko-KR" sz="700" dirty="0">
                <a:latin typeface="+mn-ea"/>
              </a:rPr>
              <a:t>B. KS, CE (</a:t>
            </a:r>
            <a:r>
              <a:rPr lang="ko-KR" altLang="en-US" sz="700" dirty="0">
                <a:latin typeface="+mn-ea"/>
              </a:rPr>
              <a:t>모듈 </a:t>
            </a:r>
            <a:r>
              <a:rPr lang="en-US" altLang="ko-KR" sz="700" dirty="0">
                <a:latin typeface="+mn-ea"/>
              </a:rPr>
              <a:t>A </a:t>
            </a:r>
            <a:r>
              <a:rPr lang="ko-KR" altLang="en-US" sz="700" dirty="0">
                <a:latin typeface="+mn-ea"/>
              </a:rPr>
              <a:t>방식에 의한 경우 제외</a:t>
            </a:r>
            <a:r>
              <a:rPr lang="en-US" altLang="ko-KR" sz="700" dirty="0">
                <a:latin typeface="+mn-ea"/>
              </a:rPr>
              <a:t>), UL </a:t>
            </a:r>
            <a:r>
              <a:rPr lang="ko-KR" altLang="en-US" sz="700" dirty="0">
                <a:latin typeface="+mn-ea"/>
              </a:rPr>
              <a:t>인증을 </a:t>
            </a:r>
            <a:r>
              <a:rPr lang="ko-KR" altLang="en-US" sz="700" dirty="0" err="1">
                <a:latin typeface="+mn-ea"/>
              </a:rPr>
              <a:t>받은자</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448274"/>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건” 자 마크</a:t>
            </a:r>
            <a:r>
              <a:rPr lang="en-US" altLang="ko-KR" sz="700" dirty="0">
                <a:latin typeface="+mn-ea"/>
              </a:rPr>
              <a:t>, Q</a:t>
            </a:r>
            <a:r>
              <a:rPr lang="ko-KR" altLang="en-US" sz="700" dirty="0">
                <a:latin typeface="+mn-ea"/>
              </a:rPr>
              <a:t>마크</a:t>
            </a:r>
            <a:r>
              <a:rPr lang="en-US" altLang="ko-KR" sz="700" dirty="0">
                <a:latin typeface="+mn-ea"/>
              </a:rPr>
              <a:t>, K</a:t>
            </a:r>
            <a:r>
              <a:rPr lang="ko-KR" altLang="en-US" sz="700" dirty="0">
                <a:latin typeface="+mn-ea"/>
              </a:rPr>
              <a:t>마크</a:t>
            </a:r>
            <a:r>
              <a:rPr lang="en-US" altLang="ko-KR" sz="700" dirty="0">
                <a:latin typeface="+mn-ea"/>
              </a:rPr>
              <a:t>, </a:t>
            </a:r>
            <a:r>
              <a:rPr lang="ko-KR" altLang="en-US" sz="700" dirty="0" err="1">
                <a:latin typeface="+mn-ea"/>
              </a:rPr>
              <a:t>국방품질경영시스템인증을</a:t>
            </a:r>
            <a:r>
              <a:rPr lang="ko-KR" altLang="en-US" sz="700" dirty="0">
                <a:latin typeface="+mn-ea"/>
              </a:rPr>
              <a:t> 받은 자</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272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5708516" y="512508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9" name="TextBox 278">
            <a:extLst>
              <a:ext uri="{FF2B5EF4-FFF2-40B4-BE49-F238E27FC236}">
                <a16:creationId xmlns:a16="http://schemas.microsoft.com/office/drawing/2014/main" id="{FFC49AEA-2A8F-250C-A86A-A7751D9706C3}"/>
              </a:ext>
            </a:extLst>
          </p:cNvPr>
          <p:cNvSpPr txBox="1"/>
          <p:nvPr/>
        </p:nvSpPr>
        <p:spPr>
          <a:xfrm>
            <a:off x="5708515" y="548658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22446420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85" name="직사각형 84"/>
          <p:cNvSpPr/>
          <p:nvPr/>
        </p:nvSpPr>
        <p:spPr>
          <a:xfrm>
            <a:off x="719049" y="1979876"/>
            <a:ext cx="1639886" cy="9607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FFC49AEA-2A8F-250C-A86A-A7751D9706C3}"/>
              </a:ext>
            </a:extLst>
          </p:cNvPr>
          <p:cNvSpPr txBox="1"/>
          <p:nvPr/>
        </p:nvSpPr>
        <p:spPr>
          <a:xfrm>
            <a:off x="806112"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87" name="TextBox 86">
            <a:extLst>
              <a:ext uri="{FF2B5EF4-FFF2-40B4-BE49-F238E27FC236}">
                <a16:creationId xmlns:a16="http://schemas.microsoft.com/office/drawing/2014/main" id="{FFC49AEA-2A8F-250C-A86A-A7751D9706C3}"/>
              </a:ext>
            </a:extLst>
          </p:cNvPr>
          <p:cNvSpPr txBox="1"/>
          <p:nvPr/>
        </p:nvSpPr>
        <p:spPr>
          <a:xfrm>
            <a:off x="2534154"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6957"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19050"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19050" y="256763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19050" y="29406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93">
            <a:extLst>
              <a:ext uri="{FF2B5EF4-FFF2-40B4-BE49-F238E27FC236}">
                <a16:creationId xmlns:a16="http://schemas.microsoft.com/office/drawing/2014/main" id="{FFC49AEA-2A8F-250C-A86A-A7751D9706C3}"/>
              </a:ext>
            </a:extLst>
          </p:cNvPr>
          <p:cNvSpPr txBox="1"/>
          <p:nvPr/>
        </p:nvSpPr>
        <p:spPr>
          <a:xfrm>
            <a:off x="777928"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환경오염 억제와 자원절약 기여</a:t>
            </a:r>
          </a:p>
        </p:txBody>
      </p:sp>
      <p:sp>
        <p:nvSpPr>
          <p:cNvPr id="95" name="TextBox 94">
            <a:extLst>
              <a:ext uri="{FF2B5EF4-FFF2-40B4-BE49-F238E27FC236}">
                <a16:creationId xmlns:a16="http://schemas.microsoft.com/office/drawing/2014/main" id="{FFC49AEA-2A8F-250C-A86A-A7751D9706C3}"/>
              </a:ext>
            </a:extLst>
          </p:cNvPr>
          <p:cNvSpPr txBox="1"/>
          <p:nvPr/>
        </p:nvSpPr>
        <p:spPr>
          <a:xfrm>
            <a:off x="2954524"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6112" y="2273405"/>
            <a:ext cx="1480199" cy="215444"/>
          </a:xfrm>
          <a:prstGeom prst="rect">
            <a:avLst/>
          </a:prstGeom>
          <a:noFill/>
        </p:spPr>
        <p:txBody>
          <a:bodyPr wrap="square" lIns="0" tIns="0" rIns="0" bIns="0" rtlCol="0">
            <a:spAutoFit/>
          </a:bodyPr>
          <a:lstStyle/>
          <a:p>
            <a:r>
              <a:rPr lang="en-US" altLang="ko-KR" sz="700" dirty="0">
                <a:latin typeface="+mn-ea"/>
              </a:rPr>
              <a:t>A. GR, </a:t>
            </a:r>
            <a:r>
              <a:rPr lang="ko-KR" altLang="en-US" sz="700" dirty="0" err="1">
                <a:latin typeface="+mn-ea"/>
              </a:rPr>
              <a:t>환경표지의</a:t>
            </a:r>
            <a:r>
              <a:rPr lang="ko-KR" altLang="en-US" sz="700" dirty="0">
                <a:latin typeface="+mn-ea"/>
              </a:rPr>
              <a:t> 인증</a:t>
            </a:r>
            <a:r>
              <a:rPr lang="en-US" altLang="ko-KR" sz="700" dirty="0">
                <a:latin typeface="+mn-ea"/>
              </a:rPr>
              <a:t>(E</a:t>
            </a:r>
            <a:r>
              <a:rPr lang="ko-KR" altLang="en-US" sz="700" dirty="0">
                <a:latin typeface="+mn-ea"/>
              </a:rPr>
              <a:t>마크</a:t>
            </a:r>
            <a:r>
              <a:rPr lang="en-US" altLang="ko-KR" sz="700" dirty="0">
                <a:latin typeface="+mn-ea"/>
              </a:rPr>
              <a:t>) </a:t>
            </a:r>
            <a:r>
              <a:rPr lang="ko-KR" altLang="en-US" sz="700" dirty="0">
                <a:latin typeface="+mn-ea"/>
              </a:rPr>
              <a:t>보유자</a:t>
            </a:r>
          </a:p>
        </p:txBody>
      </p:sp>
      <p:sp>
        <p:nvSpPr>
          <p:cNvPr id="97" name="TextBox 96">
            <a:extLst>
              <a:ext uri="{FF2B5EF4-FFF2-40B4-BE49-F238E27FC236}">
                <a16:creationId xmlns:a16="http://schemas.microsoft.com/office/drawing/2014/main" id="{FFC49AEA-2A8F-250C-A86A-A7751D9706C3}"/>
              </a:ext>
            </a:extLst>
          </p:cNvPr>
          <p:cNvSpPr txBox="1"/>
          <p:nvPr/>
        </p:nvSpPr>
        <p:spPr>
          <a:xfrm>
            <a:off x="2595068" y="232726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98" name="직사각형 97"/>
          <p:cNvSpPr/>
          <p:nvPr/>
        </p:nvSpPr>
        <p:spPr>
          <a:xfrm>
            <a:off x="719049" y="3476828"/>
            <a:ext cx="1639886" cy="5757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6112" y="347682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4154" y="347682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6957" y="34768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19050" y="36915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19050" y="40562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77928" y="2990878"/>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a:t>
            </a:r>
            <a:r>
              <a:rPr lang="ko-KR" altLang="en-US" sz="700" dirty="0">
                <a:latin typeface="+mn-ea"/>
              </a:rPr>
              <a:t>사후관리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사후관리에 필요한 조직 및 능력</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54524" y="34768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806112" y="3766189"/>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정부로부터 </a:t>
            </a:r>
            <a:r>
              <a:rPr lang="ko-KR" altLang="en-US" sz="700" dirty="0" err="1">
                <a:latin typeface="+mn-ea"/>
              </a:rPr>
              <a:t>사후봉사</a:t>
            </a:r>
            <a:r>
              <a:rPr lang="en-US" altLang="ko-KR" sz="700" dirty="0">
                <a:latin typeface="+mn-ea"/>
              </a:rPr>
              <a:t>(A/S)</a:t>
            </a:r>
            <a:r>
              <a:rPr lang="ko-KR" altLang="en-US" sz="700" dirty="0">
                <a:latin typeface="+mn-ea"/>
              </a:rPr>
              <a:t>우수기업으로 인증 받은 자</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95068" y="382005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3276728" y="25200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2646425"/>
            <a:ext cx="1480199" cy="215444"/>
          </a:xfrm>
          <a:prstGeom prst="rect">
            <a:avLst/>
          </a:prstGeom>
          <a:noFill/>
        </p:spPr>
        <p:txBody>
          <a:bodyPr wrap="square" lIns="0" tIns="0" rIns="0" bIns="0" rtlCol="0">
            <a:spAutoFit/>
          </a:bodyPr>
          <a:lstStyle/>
          <a:p>
            <a:r>
              <a:rPr lang="en-US" altLang="ko-KR" sz="700" dirty="0">
                <a:latin typeface="+mn-ea"/>
              </a:rPr>
              <a:t>B. </a:t>
            </a:r>
            <a:r>
              <a:rPr lang="ko-KR" altLang="en-US" sz="700" dirty="0">
                <a:latin typeface="+mn-ea"/>
              </a:rPr>
              <a:t>환경친화기업 지정자 또는 환경설비 품질인증</a:t>
            </a:r>
            <a:r>
              <a:rPr lang="en-US" altLang="ko-KR" sz="700" dirty="0">
                <a:latin typeface="+mn-ea"/>
              </a:rPr>
              <a:t>(EEC </a:t>
            </a:r>
            <a:r>
              <a:rPr lang="ko-KR" altLang="en-US" sz="700" dirty="0">
                <a:latin typeface="+mn-ea"/>
              </a:rPr>
              <a:t>보유자</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8" y="270028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3276728" y="38200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4692708"/>
            <a:ext cx="1639886" cy="15289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46927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46927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4692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9074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3698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777928" y="4107598"/>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2954524" y="46927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4942254"/>
            <a:ext cx="1480199" cy="107722"/>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공동수급체</a:t>
            </a:r>
            <a:r>
              <a:rPr lang="ko-KR" altLang="en-US" sz="700" dirty="0">
                <a:latin typeface="+mn-ea"/>
              </a:rPr>
              <a:t> 구성</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49362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59182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540464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540464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558197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575930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소기업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593663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611396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55471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5724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59018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60791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558197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575930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593663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45374" y="6113963"/>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59" name="직사각형 158"/>
          <p:cNvSpPr/>
          <p:nvPr/>
        </p:nvSpPr>
        <p:spPr>
          <a:xfrm>
            <a:off x="3835002" y="1504396"/>
            <a:ext cx="1639886" cy="120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5003" y="2708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35003" y="168941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747387"/>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1021" y="174738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2065" y="194126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3922065" y="2145076"/>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4888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3922065" y="255269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5003" y="18932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2097032"/>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35003" y="230084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35003" y="25046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5711020" y="194126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5792774" y="21450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5711020" y="234888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5661327" y="2552696"/>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5792774" y="1531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3242456"/>
            <a:ext cx="1639886" cy="29898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324245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32424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3242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34571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7500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433590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41507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275650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32424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3495926"/>
            <a:ext cx="1480199" cy="215444"/>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행정용품</a:t>
            </a:r>
            <a:r>
              <a:rPr lang="ko-KR" altLang="en-US" sz="700" dirty="0">
                <a:latin typeface="+mn-ea"/>
              </a:rPr>
              <a:t> 우수품질인증</a:t>
            </a:r>
            <a:r>
              <a:rPr lang="en-US" altLang="ko-KR" sz="700" dirty="0">
                <a:latin typeface="+mn-ea"/>
              </a:rPr>
              <a:t>(</a:t>
            </a:r>
            <a:r>
              <a:rPr lang="ko-KR" altLang="en-US" sz="700" dirty="0">
                <a:latin typeface="+mn-ea"/>
              </a:rPr>
              <a:t>조달청중앙보급창</a:t>
            </a:r>
            <a:r>
              <a:rPr lang="en-US" altLang="ko-KR" sz="700" dirty="0">
                <a:latin typeface="+mn-ea"/>
              </a:rPr>
              <a:t>) </a:t>
            </a:r>
            <a:r>
              <a:rPr lang="ko-KR" altLang="en-US" sz="700" dirty="0">
                <a:latin typeface="+mn-ea"/>
              </a:rPr>
              <a:t>소지자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354978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788828"/>
            <a:ext cx="1480199" cy="323165"/>
          </a:xfrm>
          <a:prstGeom prst="rect">
            <a:avLst/>
          </a:prstGeom>
          <a:noFill/>
        </p:spPr>
        <p:txBody>
          <a:bodyPr wrap="square" lIns="0" tIns="0" rIns="0" bIns="0" rtlCol="0">
            <a:spAutoFit/>
          </a:bodyPr>
          <a:lstStyle/>
          <a:p>
            <a:r>
              <a:rPr lang="en-US" altLang="ko-KR" sz="700" dirty="0">
                <a:latin typeface="+mn-ea"/>
              </a:rPr>
              <a:t>A-1.</a:t>
            </a:r>
            <a:r>
              <a:rPr lang="ko-KR" altLang="en-US" sz="700" dirty="0">
                <a:latin typeface="+mn-ea"/>
              </a:rPr>
              <a:t>조달업무 우수업체로서 중소기업청장 또는 조달청장 표창을 받은 업체</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4189451"/>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708516" y="3896549"/>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418945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52372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7500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390176" y="23503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7567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437463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여성이 대표인 기업</a:t>
            </a:r>
            <a:r>
              <a:rPr lang="en-US" altLang="ko-KR" sz="700" dirty="0">
                <a:latin typeface="+mn-ea"/>
              </a:rPr>
              <a:t>(‘</a:t>
            </a:r>
            <a:r>
              <a:rPr lang="ko-KR" altLang="en-US" sz="700" dirty="0">
                <a:latin typeface="+mn-ea"/>
              </a:rPr>
              <a:t>여성기업지원에 관한 </a:t>
            </a:r>
            <a:r>
              <a:rPr lang="ko-KR" altLang="en-US" sz="700" dirty="0" err="1">
                <a:latin typeface="+mn-ea"/>
              </a:rPr>
              <a:t>법률’에서</a:t>
            </a:r>
            <a:r>
              <a:rPr lang="ko-KR" altLang="en-US" sz="700" dirty="0">
                <a:latin typeface="+mn-ea"/>
              </a:rPr>
              <a:t> 정한 기업으로서 한국여성경제인협회에서 확인해 준 경우에만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4536213"/>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48442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488297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51220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561523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565396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5707821"/>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5908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5946862"/>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60007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6201038"/>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49749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511958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50847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51734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50681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5361058"/>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5322329"/>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502942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5414919"/>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488122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7848787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04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19853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806112" y="151060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장애인이 대표인 기업</a:t>
            </a:r>
            <a:r>
              <a:rPr lang="en-US" altLang="ko-KR" sz="700" dirty="0">
                <a:latin typeface="+mn-ea"/>
              </a:rPr>
              <a:t>(‘</a:t>
            </a:r>
            <a:r>
              <a:rPr lang="ko-KR" altLang="en-US" sz="700" dirty="0" err="1">
                <a:latin typeface="+mn-ea"/>
              </a:rPr>
              <a:t>장애인기업활동촉진법’에서</a:t>
            </a:r>
            <a:r>
              <a:rPr lang="ko-KR" altLang="en-US" sz="700" dirty="0">
                <a:latin typeface="+mn-ea"/>
              </a:rPr>
              <a:t> 정한 기업으로서 한국장애경제인협회에서 확인해 준 경우에만 인정</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16183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32621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20292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208315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2332536"/>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2635782"/>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28309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 그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인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3457717"/>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 그 증가 인원이 </a:t>
            </a:r>
            <a:r>
              <a:rPr lang="en-US" altLang="ko-KR" sz="700" dirty="0">
                <a:latin typeface="+mn-ea"/>
              </a:rPr>
              <a:t>3</a:t>
            </a:r>
            <a:r>
              <a:rPr lang="ko-KR" altLang="en-US" sz="700" dirty="0">
                <a:latin typeface="+mn-ea"/>
              </a:rPr>
              <a:t>인 이상인 기업</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22886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2591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278740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341381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238639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26275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30463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3673160"/>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9" name="직사각형 158"/>
          <p:cNvSpPr/>
          <p:nvPr/>
        </p:nvSpPr>
        <p:spPr>
          <a:xfrm>
            <a:off x="3835002" y="1504396"/>
            <a:ext cx="1639886" cy="2629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비상기획위원장이 확인해 준 ‘비상대비중점관리 대상업체’</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6733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92774"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2518332"/>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2518332"/>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251833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25183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7330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1483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35480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33482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834024"/>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251833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779136"/>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90269" y="28352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1944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33942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71646" y="3201232"/>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621953" y="3398431"/>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19438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4862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3471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49254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442897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4084130"/>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427926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기술혁신형</a:t>
            </a:r>
            <a:r>
              <a:rPr lang="ko-KR" altLang="en-US" sz="700" dirty="0">
                <a:latin typeface="+mn-ea"/>
              </a:rPr>
              <a:t> 중소기업</a:t>
            </a:r>
            <a:r>
              <a:rPr lang="en-US" altLang="ko-KR" sz="700" dirty="0">
                <a:latin typeface="+mn-ea"/>
              </a:rPr>
              <a:t>(INNO-BIZ)’</a:t>
            </a:r>
            <a:r>
              <a:rPr lang="ko-KR" altLang="en-US" sz="700" dirty="0">
                <a:latin typeface="+mn-ea"/>
              </a:rPr>
              <a:t>으로 지정 받은 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4662588"/>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벤처기업 확인을 </a:t>
            </a:r>
            <a:r>
              <a:rPr lang="ko-KR" altLang="en-US" sz="700" dirty="0" err="1">
                <a:latin typeface="+mn-ea"/>
              </a:rPr>
              <a:t>받은자</a:t>
            </a:r>
            <a:endParaRPr lang="ko-KR" altLang="en-US" sz="7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42357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9050" y="46186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40758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4386982"/>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2595068" y="4716449"/>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51197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4985359"/>
            <a:ext cx="1480199" cy="107722"/>
          </a:xfrm>
          <a:prstGeom prst="rect">
            <a:avLst/>
          </a:prstGeom>
          <a:noFill/>
        </p:spPr>
        <p:txBody>
          <a:bodyPr wrap="square" lIns="0" tIns="0" rIns="0" bIns="0" rtlCol="0">
            <a:spAutoFit/>
          </a:bodyPr>
          <a:lstStyle/>
          <a:p>
            <a:r>
              <a:rPr lang="en-US" altLang="ko-KR" sz="700" dirty="0">
                <a:latin typeface="+mn-ea"/>
              </a:rPr>
              <a:t>F.’</a:t>
            </a:r>
            <a:r>
              <a:rPr lang="ko-KR" altLang="en-US" sz="700" dirty="0" err="1">
                <a:latin typeface="+mn-ea"/>
              </a:rPr>
              <a:t>신노사문화우수기업</a:t>
            </a:r>
            <a:r>
              <a:rPr lang="ko-KR" altLang="en-US" sz="700" dirty="0">
                <a:latin typeface="+mn-ea"/>
              </a:rPr>
              <a:t>’ </a:t>
            </a:r>
            <a:r>
              <a:rPr lang="en-US" altLang="ko-KR" sz="700" dirty="0">
                <a:latin typeface="+mn-ea"/>
              </a:rPr>
              <a:t>(</a:t>
            </a:r>
            <a:r>
              <a:rPr lang="ko-KR" altLang="en-US" sz="700" dirty="0">
                <a:latin typeface="+mn-ea"/>
              </a:rPr>
              <a:t>노동부 선정</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806112" y="51804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대상기업</a:t>
            </a:r>
            <a:br>
              <a:rPr lang="ko-KR" altLang="en-US" sz="700" dirty="0">
                <a:latin typeface="+mn-ea"/>
              </a:rPr>
            </a:br>
            <a:r>
              <a:rPr lang="ko-KR" altLang="en-US" sz="700" dirty="0">
                <a:latin typeface="+mn-ea"/>
              </a:rPr>
              <a:t>  </a:t>
            </a:r>
            <a:r>
              <a:rPr lang="en-US" altLang="ko-KR" sz="700" dirty="0">
                <a:latin typeface="+mn-ea"/>
              </a:rPr>
              <a:t>- </a:t>
            </a:r>
            <a:r>
              <a:rPr lang="ko-KR" altLang="en-US" sz="700" dirty="0">
                <a:latin typeface="+mn-ea"/>
              </a:rPr>
              <a:t>우수기업</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51369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2676821" y="497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2595003" y="5180490"/>
            <a:ext cx="118687" cy="215444"/>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54218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TextBox 164">
            <a:extLst>
              <a:ext uri="{FF2B5EF4-FFF2-40B4-BE49-F238E27FC236}">
                <a16:creationId xmlns:a16="http://schemas.microsoft.com/office/drawing/2014/main" id="{FFC49AEA-2A8F-250C-A86A-A7751D9706C3}"/>
              </a:ext>
            </a:extLst>
          </p:cNvPr>
          <p:cNvSpPr txBox="1"/>
          <p:nvPr/>
        </p:nvSpPr>
        <p:spPr>
          <a:xfrm>
            <a:off x="806112" y="546994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err="1">
                <a:latin typeface="+mn-ea"/>
              </a:rPr>
              <a:t>세계일류상품인증기업</a:t>
            </a:r>
            <a:r>
              <a:rPr lang="ko-KR" altLang="en-US" sz="700" dirty="0">
                <a:latin typeface="+mn-ea"/>
              </a:rPr>
              <a:t>’ </a:t>
            </a:r>
            <a:r>
              <a:rPr lang="en-US" altLang="ko-KR" sz="700" dirty="0">
                <a:latin typeface="+mn-ea"/>
              </a:rPr>
              <a:t>(</a:t>
            </a:r>
            <a:r>
              <a:rPr lang="ko-KR" altLang="en-US" sz="700" dirty="0" err="1">
                <a:latin typeface="+mn-ea"/>
              </a:rPr>
              <a:t>산자부</a:t>
            </a:r>
            <a:r>
              <a:rPr lang="ko-KR" altLang="en-US" sz="700" dirty="0">
                <a:latin typeface="+mn-ea"/>
              </a:rPr>
              <a:t> 선정</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595067" y="552380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719050" y="5719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3276728" y="5522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806112" y="578459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중소기업청장이 지정한 수출유망중소기업’</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2595067" y="583846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719050" y="60341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276728" y="583685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12" y="607689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국세청장</a:t>
            </a:r>
            <a:r>
              <a:rPr lang="en-US" altLang="ko-KR" sz="700" dirty="0">
                <a:latin typeface="+mn-ea"/>
              </a:rPr>
              <a:t>(</a:t>
            </a:r>
            <a:r>
              <a:rPr lang="ko-KR" altLang="en-US" sz="700" dirty="0">
                <a:latin typeface="+mn-ea"/>
              </a:rPr>
              <a:t>관세청장</a:t>
            </a:r>
            <a:r>
              <a:rPr lang="en-US" altLang="ko-KR" sz="700" dirty="0">
                <a:latin typeface="+mn-ea"/>
              </a:rPr>
              <a:t>)</a:t>
            </a:r>
            <a:r>
              <a:rPr lang="ko-KR" altLang="en-US" sz="700" dirty="0">
                <a:latin typeface="+mn-ea"/>
              </a:rPr>
              <a:t>이 지정한 ‘모범성실납세자’</a:t>
            </a:r>
            <a:r>
              <a:rPr lang="en-US" altLang="ko-KR" sz="700" dirty="0">
                <a:latin typeface="+mn-ea"/>
              </a:rPr>
              <a:t>(</a:t>
            </a:r>
            <a:r>
              <a:rPr lang="ko-KR" altLang="en-US" sz="700" dirty="0">
                <a:latin typeface="+mn-ea"/>
              </a:rPr>
              <a:t>아름다운관세행정파트너</a:t>
            </a:r>
            <a:r>
              <a:rPr lang="en-US" altLang="ko-KR" sz="700" dirty="0">
                <a:latin typeface="+mn-ea"/>
              </a:rPr>
              <a:t>)</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595067" y="613075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3276728" y="61291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0405" y="39477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2498" y="37479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919560" y="35941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3919560" y="37939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5671646" y="3591083"/>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5671646" y="3788282"/>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3832498" y="41476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919560" y="39938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560" y="41936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671646" y="3992930"/>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621953" y="4190129"/>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789889" y="4673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876635" y="4393427"/>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67082836"/>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err="1">
                          <a:latin typeface="+mn-ea"/>
                          <a:ea typeface="+mn-ea"/>
                        </a:rPr>
                        <a:t>당해물품납품이행능력</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당해물품납품이행능력</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신인도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기술 및 디자인 인증보유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품질보증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품질보증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환경관리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사후관리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영세기업 지원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영세기업 지원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4112855"/>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4396609"/>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신용평가등급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신용평가등급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5162967"/>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543910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057242"/>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818450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9" name="TextBox 8">
            <a:extLst>
              <a:ext uri="{FF2B5EF4-FFF2-40B4-BE49-F238E27FC236}">
                <a16:creationId xmlns:a16="http://schemas.microsoft.com/office/drawing/2014/main" id="{1FAF1FB3-E4F7-0868-1F03-AFF1173675D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11028B87-74C9-34EE-BBDD-A89B343C60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1832223"/>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95216"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신인도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및 디자인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환경오염 억제와 자원절약 기여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환경오염 억제와 자원절약 기여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사후관리에 필요한 조직 및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사후관리에 필요한 조직 및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여성기업지원 및 여성고용촉진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장애인기업 및 장애인고용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및 장애인고용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r h="0">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6507781"/>
                  </a:ext>
                </a:extLst>
              </a:tr>
              <a:tr h="0">
                <a:tc>
                  <a:txBody>
                    <a:bodyPr/>
                    <a:lstStyle/>
                    <a:p>
                      <a:pPr latinLnBrk="1"/>
                      <a:r>
                        <a:rPr lang="ko-KR" altLang="en-US" sz="800" dirty="0" err="1">
                          <a:latin typeface="+mn-ea"/>
                          <a:ea typeface="+mn-ea"/>
                        </a:rPr>
                        <a:t>신노사문화우수기업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신노사문화우수기업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192422"/>
                  </a:ext>
                </a:extLst>
              </a:tr>
              <a:tr h="0">
                <a:tc>
                  <a:txBody>
                    <a:bodyPr/>
                    <a:lstStyle/>
                    <a:p>
                      <a:pPr latinLnBrk="1"/>
                      <a:r>
                        <a:rPr lang="ko-KR" altLang="en-US" sz="800" dirty="0" err="1">
                          <a:latin typeface="+mn-ea"/>
                          <a:ea typeface="+mn-ea"/>
                        </a:rPr>
                        <a:t>세계일류상품인증기업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세계일류상품인증기업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1955780"/>
                  </a:ext>
                </a:extLst>
              </a:tr>
            </a:tbl>
          </a:graphicData>
        </a:graphic>
      </p:graphicFrame>
      <p:sp>
        <p:nvSpPr>
          <p:cNvPr id="2" name="TextBox 1">
            <a:extLst>
              <a:ext uri="{FF2B5EF4-FFF2-40B4-BE49-F238E27FC236}">
                <a16:creationId xmlns:a16="http://schemas.microsoft.com/office/drawing/2014/main" id="{4A406AE4-109F-44C9-528E-85576A2A870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DD3EDE2-5A46-E720-0C9E-82D9D41F767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17393080"/>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182</a:t>
            </a:fld>
            <a:endParaRPr lang="ko-KR" altLang="en-US" dirty="0"/>
          </a:p>
        </p:txBody>
      </p:sp>
      <p:graphicFrame>
        <p:nvGraphicFramePr>
          <p:cNvPr id="2" name="표 1">
            <a:extLst>
              <a:ext uri="{FF2B5EF4-FFF2-40B4-BE49-F238E27FC236}">
                <a16:creationId xmlns:a16="http://schemas.microsoft.com/office/drawing/2014/main" id="{5D6CB316-6F69-7621-79B3-10A44D8BAE13}"/>
              </a:ext>
            </a:extLst>
          </p:cNvPr>
          <p:cNvGraphicFramePr>
            <a:graphicFrameLocks noGrp="1"/>
          </p:cNvGraphicFramePr>
          <p:nvPr/>
        </p:nvGraphicFramePr>
        <p:xfrm>
          <a:off x="452999" y="1014316"/>
          <a:ext cx="8994883" cy="145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6612891"/>
                  </a:ext>
                </a:extLst>
              </a:tr>
              <a:tr h="0">
                <a:tc>
                  <a:txBody>
                    <a:bodyPr/>
                    <a:lstStyle/>
                    <a:p>
                      <a:pPr latinLnBrk="1"/>
                      <a:r>
                        <a:rPr lang="ko-KR" altLang="en-US" sz="800" dirty="0">
                          <a:latin typeface="+mn-ea"/>
                          <a:ea typeface="+mn-ea"/>
                        </a:rPr>
                        <a:t>모범성실납세자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모범성실납세자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0589904"/>
                  </a:ext>
                </a:extLst>
              </a:tr>
              <a:tr h="0">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519588"/>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5752466"/>
                  </a:ext>
                </a:extLst>
              </a:tr>
            </a:tbl>
          </a:graphicData>
        </a:graphic>
      </p:graphicFrame>
      <p:sp>
        <p:nvSpPr>
          <p:cNvPr id="6" name="TextBox 5">
            <a:extLst>
              <a:ext uri="{FF2B5EF4-FFF2-40B4-BE49-F238E27FC236}">
                <a16:creationId xmlns:a16="http://schemas.microsoft.com/office/drawing/2014/main" id="{88D722F3-F47E-1E84-AAD5-78FB1033B7A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633AB7A8-6FF8-E19A-5FB5-8D50715F86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2078226"/>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183</a:t>
            </a:fld>
            <a:endParaRPr lang="ko-KR" altLang="en-US" dirty="0"/>
          </a:p>
        </p:txBody>
      </p:sp>
      <p:sp>
        <p:nvSpPr>
          <p:cNvPr id="4" name="TextBox 3">
            <a:extLst>
              <a:ext uri="{FF2B5EF4-FFF2-40B4-BE49-F238E27FC236}">
                <a16:creationId xmlns:a16="http://schemas.microsoft.com/office/drawing/2014/main" id="{98AFBB7F-8F35-89FD-C1FD-182D84BCEDE9}"/>
              </a:ext>
            </a:extLst>
          </p:cNvPr>
          <p:cNvSpPr txBox="1"/>
          <p:nvPr/>
        </p:nvSpPr>
        <p:spPr>
          <a:xfrm>
            <a:off x="459613"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D97AAD46-6BB7-4752-2D87-11D121746F0E}"/>
              </a:ext>
            </a:extLst>
          </p:cNvPr>
          <p:cNvGraphicFramePr>
            <a:graphicFrameLocks noGrp="1"/>
          </p:cNvGraphicFramePr>
          <p:nvPr>
            <p:extLst>
              <p:ext uri="{D42A27DB-BD31-4B8C-83A1-F6EECF244321}">
                <p14:modId xmlns:p14="http://schemas.microsoft.com/office/powerpoint/2010/main" val="70708867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7" name="Text Box 73">
            <a:extLst>
              <a:ext uri="{FF2B5EF4-FFF2-40B4-BE49-F238E27FC236}">
                <a16:creationId xmlns:a16="http://schemas.microsoft.com/office/drawing/2014/main" id="{D036AF71-9184-F4D6-9F8D-3FA0EF4E2F1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6516422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45</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06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596861"/>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596862"/>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596862"/>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58</a:t>
            </a:r>
          </a:p>
        </p:txBody>
      </p:sp>
      <p:grpSp>
        <p:nvGrpSpPr>
          <p:cNvPr id="162" name="그룹 161"/>
          <p:cNvGrpSpPr/>
          <p:nvPr/>
        </p:nvGrpSpPr>
        <p:grpSpPr>
          <a:xfrm>
            <a:off x="3826887" y="3596862"/>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09510"/>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097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596862"/>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0000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기술인력보유</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55" name="직사각형 254"/>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25</a:t>
            </a:r>
          </a:p>
        </p:txBody>
      </p:sp>
      <p:grpSp>
        <p:nvGrpSpPr>
          <p:cNvPr id="258" name="그룹 257"/>
          <p:cNvGrpSpPr/>
          <p:nvPr/>
        </p:nvGrpSpPr>
        <p:grpSpPr>
          <a:xfrm>
            <a:off x="3826887" y="2572648"/>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14956"/>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14957"/>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149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149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296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557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27605"/>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2784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149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3795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182052"/>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289773"/>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289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89917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89917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89917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8991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139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5417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1206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8991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16627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노사협력관계</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273991"/>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273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타원 16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613182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1661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29471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86177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기술혁신여부</a:t>
            </a:r>
            <a:br>
              <a:rPr lang="ko-KR" altLang="en-US" sz="700" dirty="0">
                <a:latin typeface="+mn-ea"/>
              </a:rPr>
            </a:br>
            <a:r>
              <a:rPr lang="en-US" altLang="ko-KR" sz="700" dirty="0">
                <a:latin typeface="+mn-ea"/>
              </a:rPr>
              <a:t>2.</a:t>
            </a:r>
            <a:r>
              <a:rPr lang="ko-KR" altLang="en-US" sz="700" dirty="0">
                <a:latin typeface="+mn-ea"/>
              </a:rPr>
              <a:t>품질향상여부</a:t>
            </a:r>
            <a:br>
              <a:rPr lang="ko-KR" altLang="en-US" sz="700" dirty="0">
                <a:latin typeface="+mn-ea"/>
              </a:rPr>
            </a:br>
            <a:r>
              <a:rPr lang="en-US" altLang="ko-KR" sz="700" dirty="0">
                <a:latin typeface="+mn-ea"/>
              </a:rPr>
              <a:t>3.</a:t>
            </a:r>
            <a:r>
              <a:rPr lang="ko-KR" altLang="en-US" sz="700" dirty="0">
                <a:latin typeface="+mn-ea"/>
              </a:rPr>
              <a:t>성실납세여부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3614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2987781"/>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-3</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3894038"/>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3894039"/>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389403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38940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108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1302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40668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60692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38940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2031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175627"/>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391070"/>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656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78108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4847936"/>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4901797"/>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9</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12189874"/>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43" name="직사각형 242"/>
          <p:cNvSpPr/>
          <p:nvPr/>
        </p:nvSpPr>
        <p:spPr>
          <a:xfrm>
            <a:off x="714799" y="2109540"/>
            <a:ext cx="1639886" cy="18014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3910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50063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7" y="2541177"/>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7</a:t>
            </a:r>
            <a:br>
              <a:rPr lang="en-US" altLang="ko-KR" dirty="0"/>
            </a:br>
            <a:r>
              <a:rPr lang="en-US" altLang="ko-KR" dirty="0"/>
              <a:t>6.5</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063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829405"/>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009911"/>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298139"/>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47864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3766873"/>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373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26174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7930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4422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29735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7" y="3009911"/>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6</a:t>
            </a:r>
            <a:br>
              <a:rPr lang="en-US" altLang="ko-KR" dirty="0"/>
            </a:br>
            <a:r>
              <a:rPr lang="en-US" altLang="ko-KR" dirty="0"/>
              <a:t>5.5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4667" y="3478645"/>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a:t>
            </a:r>
            <a:br>
              <a:rPr lang="en-US" altLang="ko-KR" dirty="0"/>
            </a:br>
            <a:r>
              <a:rPr lang="en-US" altLang="ko-KR" dirty="0"/>
              <a:t>4.5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3766873"/>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a:t>
            </a:r>
          </a:p>
        </p:txBody>
      </p:sp>
      <p:grpSp>
        <p:nvGrpSpPr>
          <p:cNvPr id="105" name="그룹 104"/>
          <p:cNvGrpSpPr/>
          <p:nvPr/>
        </p:nvGrpSpPr>
        <p:grpSpPr>
          <a:xfrm>
            <a:off x="701175" y="4297746"/>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9846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90330" y="4016629"/>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재무상태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4016629"/>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7</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58</a:t>
            </a:r>
            <a:r>
              <a:rPr lang="ko-KR" altLang="en-US" sz="700" dirty="0">
                <a:latin typeface="+mn-ea"/>
              </a:rPr>
              <a:t>점</a:t>
            </a:r>
          </a:p>
        </p:txBody>
      </p:sp>
      <p:grpSp>
        <p:nvGrpSpPr>
          <p:cNvPr id="119" name="그룹 118"/>
          <p:cNvGrpSpPr/>
          <p:nvPr/>
        </p:nvGrpSpPr>
        <p:grpSpPr>
          <a:xfrm flipV="1">
            <a:off x="6245910" y="164132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5113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187892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58 -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309022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53</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3547884"/>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-3</a:t>
            </a:r>
          </a:p>
        </p:txBody>
      </p:sp>
      <p:grpSp>
        <p:nvGrpSpPr>
          <p:cNvPr id="172" name="그룹 171"/>
          <p:cNvGrpSpPr/>
          <p:nvPr/>
        </p:nvGrpSpPr>
        <p:grpSpPr>
          <a:xfrm flipV="1">
            <a:off x="6245910" y="366121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3834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384346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404370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411699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422748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4300772"/>
            <a:ext cx="2010812" cy="107722"/>
          </a:xfrm>
          <a:prstGeom prst="rect">
            <a:avLst/>
          </a:prstGeom>
          <a:noFill/>
        </p:spPr>
        <p:txBody>
          <a:bodyPr wrap="square" lIns="0" tIns="0" rIns="0" bIns="0" rtlCol="0">
            <a:spAutoFit/>
          </a:bodyPr>
          <a:lstStyle/>
          <a:p>
            <a:r>
              <a:rPr lang="ko-KR" altLang="en-US" sz="700" dirty="0">
                <a:latin typeface="+mn-ea"/>
              </a:rPr>
              <a:t>품질보증을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430077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4461850"/>
            <a:ext cx="1639886" cy="10391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446185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446185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44618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46765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4530" y="5503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446185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472185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국방품질경영시스템 인증</a:t>
            </a:r>
            <a:r>
              <a:rPr lang="en-US" altLang="ko-KR" dirty="0"/>
              <a:t>, KS </a:t>
            </a:r>
            <a:r>
              <a:rPr lang="ko-KR" altLang="en-US" dirty="0" err="1"/>
              <a:t>표시허가</a:t>
            </a:r>
            <a:r>
              <a:rPr lang="en-US" altLang="ko-KR" dirty="0"/>
              <a:t>, GQ</a:t>
            </a:r>
            <a:r>
              <a:rPr lang="ko-KR" altLang="en-US" dirty="0"/>
              <a:t>인증</a:t>
            </a:r>
            <a:r>
              <a:rPr lang="en-US" altLang="ko-KR" dirty="0"/>
              <a:t>, </a:t>
            </a:r>
            <a:r>
              <a:rPr lang="ko-KR" altLang="en-US" dirty="0"/>
              <a:t>단체표준규격인증 중 </a:t>
            </a:r>
            <a:r>
              <a:rPr lang="en-US" altLang="ko-KR" dirty="0"/>
              <a:t>1</a:t>
            </a:r>
            <a:r>
              <a:rPr lang="ko-KR" altLang="en-US" dirty="0"/>
              <a:t>개를 </a:t>
            </a:r>
            <a:r>
              <a:rPr lang="ko-KR" altLang="en-US" dirty="0" err="1"/>
              <a:t>받은자</a:t>
            </a:r>
            <a:r>
              <a:rPr lang="en-US" altLang="ko-KR" dirty="0"/>
              <a:t>, CE, UL, </a:t>
            </a:r>
            <a:r>
              <a:rPr lang="ko-KR" altLang="en-US" dirty="0"/>
              <a:t>해당국의 국가산업표준규격 인증을 </a:t>
            </a:r>
            <a:r>
              <a:rPr lang="ko-KR" altLang="en-US" dirty="0" err="1"/>
              <a:t>받은자</a:t>
            </a:r>
            <a:r>
              <a:rPr lang="ko-KR" altLang="en-US" dirty="0"/>
              <a:t> 또는 </a:t>
            </a:r>
            <a:r>
              <a:rPr lang="en-US" altLang="ko-KR" dirty="0"/>
              <a:t>HACCP </a:t>
            </a:r>
            <a:r>
              <a:rPr lang="ko-KR" altLang="en-US" dirty="0" err="1"/>
              <a:t>지정업소</a:t>
            </a:r>
            <a:endParaRPr lang="ko-KR" altLang="en-US" dirty="0"/>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493729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50364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3936047" y="535098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Q </a:t>
            </a:r>
            <a:r>
              <a:rPr lang="ko-KR" altLang="en-US" dirty="0"/>
              <a:t>또는 </a:t>
            </a:r>
            <a:r>
              <a:rPr lang="en-US" altLang="ko-KR" dirty="0"/>
              <a:t>K</a:t>
            </a:r>
            <a:r>
              <a:rPr lang="ko-KR" altLang="en-US" dirty="0"/>
              <a:t>마크를 </a:t>
            </a:r>
            <a:r>
              <a:rPr lang="ko-KR" altLang="en-US" dirty="0" err="1"/>
              <a:t>받은자</a:t>
            </a:r>
            <a:endParaRPr lang="ko-KR" altLang="en-US" dirty="0"/>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53057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5725002" y="535098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216455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err="1">
                <a:latin typeface="+mn-ea"/>
              </a:rPr>
              <a:t>기술인증을</a:t>
            </a:r>
            <a:r>
              <a:rPr lang="ko-KR" altLang="en-US" sz="700" dirty="0">
                <a:latin typeface="+mn-ea"/>
              </a:rPr>
              <a:t>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1" name="직선 연결선 240">
            <a:extLst>
              <a:ext uri="{FF2B5EF4-FFF2-40B4-BE49-F238E27FC236}">
                <a16:creationId xmlns:a16="http://schemas.microsoft.com/office/drawing/2014/main" id="{E9293055-D5CD-4B9E-7F64-64B2D2CA7A52}"/>
              </a:ext>
            </a:extLst>
          </p:cNvPr>
          <p:cNvCxnSpPr/>
          <p:nvPr/>
        </p:nvCxnSpPr>
        <p:spPr>
          <a:xfrm>
            <a:off x="675399" y="35411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8" name="직사각형 127"/>
          <p:cNvSpPr/>
          <p:nvPr/>
        </p:nvSpPr>
        <p:spPr>
          <a:xfrm>
            <a:off x="717986" y="2954267"/>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4777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607854" y="32681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681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790330" y="360456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790330" y="380480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1315187" y="3878091"/>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790330" y="398858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15187" y="4061871"/>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16479" y="406187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45" name="직사각형 144"/>
          <p:cNvSpPr/>
          <p:nvPr/>
        </p:nvSpPr>
        <p:spPr>
          <a:xfrm>
            <a:off x="714799" y="4222949"/>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801862" y="42229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529904" y="42229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2102" y="42229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4195" y="4437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4195" y="54928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50274" y="42229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15712" y="4486034"/>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567798" y="464761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86328" y="491140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5712" y="501361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719050" y="49652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2518106" y="5175195"/>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75" name="TextBox 74">
            <a:extLst>
              <a:ext uri="{FF2B5EF4-FFF2-40B4-BE49-F238E27FC236}">
                <a16:creationId xmlns:a16="http://schemas.microsoft.com/office/drawing/2014/main" id="{FFC49AEA-2A8F-250C-A86A-A7751D9706C3}"/>
              </a:ext>
            </a:extLst>
          </p:cNvPr>
          <p:cNvSpPr txBox="1"/>
          <p:nvPr/>
        </p:nvSpPr>
        <p:spPr>
          <a:xfrm>
            <a:off x="3910665"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4435522"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5"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78" name="TextBox 77">
            <a:extLst>
              <a:ext uri="{FF2B5EF4-FFF2-40B4-BE49-F238E27FC236}">
                <a16:creationId xmlns:a16="http://schemas.microsoft.com/office/drawing/2014/main" id="{FFC49AEA-2A8F-250C-A86A-A7751D9706C3}"/>
              </a:ext>
            </a:extLst>
          </p:cNvPr>
          <p:cNvSpPr txBox="1"/>
          <p:nvPr/>
        </p:nvSpPr>
        <p:spPr>
          <a:xfrm>
            <a:off x="4435522" y="1756526"/>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79" name="TextBox 78">
            <a:extLst>
              <a:ext uri="{FF2B5EF4-FFF2-40B4-BE49-F238E27FC236}">
                <a16:creationId xmlns:a16="http://schemas.microsoft.com/office/drawing/2014/main" id="{FFC49AEA-2A8F-250C-A86A-A7751D9706C3}"/>
              </a:ext>
            </a:extLst>
          </p:cNvPr>
          <p:cNvSpPr txBox="1"/>
          <p:nvPr/>
        </p:nvSpPr>
        <p:spPr>
          <a:xfrm>
            <a:off x="6036814"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80" name="직사각형 79"/>
          <p:cNvSpPr/>
          <p:nvPr/>
        </p:nvSpPr>
        <p:spPr>
          <a:xfrm>
            <a:off x="3835134" y="1917604"/>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3922197"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82" name="TextBox 81">
            <a:extLst>
              <a:ext uri="{FF2B5EF4-FFF2-40B4-BE49-F238E27FC236}">
                <a16:creationId xmlns:a16="http://schemas.microsoft.com/office/drawing/2014/main" id="{FFC49AEA-2A8F-250C-A86A-A7751D9706C3}"/>
              </a:ext>
            </a:extLst>
          </p:cNvPr>
          <p:cNvSpPr txBox="1"/>
          <p:nvPr/>
        </p:nvSpPr>
        <p:spPr>
          <a:xfrm>
            <a:off x="5650239"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32437"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4530"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4530" y="3187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6070609"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87" name="TextBox 86">
            <a:extLst>
              <a:ext uri="{FF2B5EF4-FFF2-40B4-BE49-F238E27FC236}">
                <a16:creationId xmlns:a16="http://schemas.microsoft.com/office/drawing/2014/main" id="{FFC49AEA-2A8F-250C-A86A-A7751D9706C3}"/>
              </a:ext>
            </a:extLst>
          </p:cNvPr>
          <p:cNvSpPr txBox="1"/>
          <p:nvPr/>
        </p:nvSpPr>
        <p:spPr>
          <a:xfrm>
            <a:off x="3936047" y="218068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5688133" y="234227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89" name="TextBox 88">
            <a:extLst>
              <a:ext uri="{FF2B5EF4-FFF2-40B4-BE49-F238E27FC236}">
                <a16:creationId xmlns:a16="http://schemas.microsoft.com/office/drawing/2014/main" id="{FFC49AEA-2A8F-250C-A86A-A7751D9706C3}"/>
              </a:ext>
            </a:extLst>
          </p:cNvPr>
          <p:cNvSpPr txBox="1"/>
          <p:nvPr/>
        </p:nvSpPr>
        <p:spPr>
          <a:xfrm>
            <a:off x="6406663" y="2606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3936047" y="2708268"/>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3839385" y="26599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5638441" y="2869850"/>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0665" y="32943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6" name="TextBox 95">
            <a:extLst>
              <a:ext uri="{FF2B5EF4-FFF2-40B4-BE49-F238E27FC236}">
                <a16:creationId xmlns:a16="http://schemas.microsoft.com/office/drawing/2014/main" id="{FFC49AEA-2A8F-250C-A86A-A7751D9706C3}"/>
              </a:ext>
            </a:extLst>
          </p:cNvPr>
          <p:cNvSpPr txBox="1"/>
          <p:nvPr/>
        </p:nvSpPr>
        <p:spPr>
          <a:xfrm>
            <a:off x="4435522" y="3367670"/>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노사협력관계</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34781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4435522" y="3551450"/>
            <a:ext cx="2010812" cy="107722"/>
          </a:xfrm>
          <a:prstGeom prst="rect">
            <a:avLst/>
          </a:prstGeom>
          <a:noFill/>
        </p:spPr>
        <p:txBody>
          <a:bodyPr wrap="square" lIns="0" tIns="0" rIns="0" bIns="0" rtlCol="0">
            <a:spAutoFit/>
          </a:bodyPr>
          <a:lstStyle/>
          <a:p>
            <a:r>
              <a:rPr lang="ko-KR" altLang="en-US" sz="700" dirty="0">
                <a:latin typeface="+mn-ea"/>
              </a:rPr>
              <a:t>노사협력우량기업</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036814" y="35514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0" name="직사각형 99"/>
          <p:cNvSpPr/>
          <p:nvPr/>
        </p:nvSpPr>
        <p:spPr>
          <a:xfrm>
            <a:off x="3835134" y="3712528"/>
            <a:ext cx="1639886" cy="6391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3922197" y="371252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650239" y="37125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437" y="3712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4530" y="3927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4530" y="43475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6070609" y="371252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3936047" y="39756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err="1"/>
              <a:t>신노사문화우수기업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 </a:t>
            </a:r>
            <a:r>
              <a:rPr lang="ko-KR" altLang="en-US" dirty="0"/>
              <a:t>단</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5725003" y="408333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6406663" y="40833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5734" y="44212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910665" y="448293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 </a:t>
            </a:r>
            <a:r>
              <a:rPr lang="ko-KR" altLang="en-US" dirty="0"/>
              <a:t>기타</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3910665" y="468316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4435522" y="4756457"/>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노사협력관계</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910665" y="486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4435522" y="4940237"/>
            <a:ext cx="2010812" cy="107722"/>
          </a:xfrm>
          <a:prstGeom prst="rect">
            <a:avLst/>
          </a:prstGeom>
          <a:noFill/>
        </p:spPr>
        <p:txBody>
          <a:bodyPr wrap="square" lIns="0" tIns="0" rIns="0" bIns="0" rtlCol="0">
            <a:spAutoFit/>
          </a:bodyPr>
          <a:lstStyle/>
          <a:p>
            <a:r>
              <a:rPr lang="ko-KR" altLang="en-US" sz="700" dirty="0">
                <a:latin typeface="+mn-ea"/>
              </a:rPr>
              <a:t>기술혁신여부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036814" y="494023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0" name="직사각형 119"/>
          <p:cNvSpPr/>
          <p:nvPr/>
        </p:nvSpPr>
        <p:spPr>
          <a:xfrm>
            <a:off x="3835134" y="5101315"/>
            <a:ext cx="1639886" cy="65574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FFC49AEA-2A8F-250C-A86A-A7751D9706C3}"/>
              </a:ext>
            </a:extLst>
          </p:cNvPr>
          <p:cNvSpPr txBox="1"/>
          <p:nvPr/>
        </p:nvSpPr>
        <p:spPr>
          <a:xfrm>
            <a:off x="3922197" y="510131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5650239" y="510131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832437" y="51013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4530" y="5316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3834530" y="5757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6070609" y="510131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936047" y="536440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61" name="TextBox 160">
            <a:extLst>
              <a:ext uri="{FF2B5EF4-FFF2-40B4-BE49-F238E27FC236}">
                <a16:creationId xmlns:a16="http://schemas.microsoft.com/office/drawing/2014/main" id="{FFC49AEA-2A8F-250C-A86A-A7751D9706C3}"/>
              </a:ext>
            </a:extLst>
          </p:cNvPr>
          <p:cNvSpPr txBox="1"/>
          <p:nvPr/>
        </p:nvSpPr>
        <p:spPr>
          <a:xfrm>
            <a:off x="5688133" y="547212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6406663" y="54721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8" name="타원 13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64949618"/>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품질형상기여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a:latin typeface="+mn-ea"/>
              </a:rPr>
              <a:t>품질향상기여</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산업자원부장관이 선정한 ’세계인류상품생산기업’</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성실납세여부</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28" name="직사각형 127"/>
          <p:cNvSpPr/>
          <p:nvPr/>
        </p:nvSpPr>
        <p:spPr>
          <a:xfrm>
            <a:off x="717986" y="295426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3822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558161" y="3214268"/>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14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3795734" y="64449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793517" y="34863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18374" y="3559638"/>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793517" y="36701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18374" y="3743418"/>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2919666" y="37434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72" name="직사각형 171"/>
          <p:cNvSpPr/>
          <p:nvPr/>
        </p:nvSpPr>
        <p:spPr>
          <a:xfrm>
            <a:off x="717986" y="3904496"/>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805049" y="39044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33091" y="39044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5289" y="3904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7382" y="411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7382" y="4427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3461" y="39044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8899" y="416449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7854" y="421835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289515" y="42183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793517" y="454421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18374" y="461750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 사회환경 조성여부</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3517" y="472799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18374" y="4801285"/>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2919666" y="480128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88" name="직사각형 187"/>
          <p:cNvSpPr/>
          <p:nvPr/>
        </p:nvSpPr>
        <p:spPr>
          <a:xfrm>
            <a:off x="717986" y="4962363"/>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TextBox 188">
            <a:extLst>
              <a:ext uri="{FF2B5EF4-FFF2-40B4-BE49-F238E27FC236}">
                <a16:creationId xmlns:a16="http://schemas.microsoft.com/office/drawing/2014/main" id="{FFC49AEA-2A8F-250C-A86A-A7751D9706C3}"/>
              </a:ext>
            </a:extLst>
          </p:cNvPr>
          <p:cNvSpPr txBox="1"/>
          <p:nvPr/>
        </p:nvSpPr>
        <p:spPr>
          <a:xfrm>
            <a:off x="805049" y="496236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33091" y="496236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5289" y="49623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7382" y="5177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17382" y="54858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TextBox 208">
            <a:extLst>
              <a:ext uri="{FF2B5EF4-FFF2-40B4-BE49-F238E27FC236}">
                <a16:creationId xmlns:a16="http://schemas.microsoft.com/office/drawing/2014/main" id="{FFC49AEA-2A8F-250C-A86A-A7751D9706C3}"/>
              </a:ext>
            </a:extLst>
          </p:cNvPr>
          <p:cNvSpPr txBox="1"/>
          <p:nvPr/>
        </p:nvSpPr>
        <p:spPr>
          <a:xfrm>
            <a:off x="2953461" y="496236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818899" y="522236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2607854" y="5276225"/>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289515" y="527622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4929"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39786" y="1572746"/>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914929"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39786" y="1756526"/>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41078"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20" name="직사각형 219"/>
          <p:cNvSpPr/>
          <p:nvPr/>
        </p:nvSpPr>
        <p:spPr>
          <a:xfrm>
            <a:off x="3839398"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6461"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5654503"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6701"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8794"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8794"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6074873"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3940311"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29266"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6410927"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4929"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39786" y="2609409"/>
            <a:ext cx="2010812" cy="215444"/>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장애인 고용 </a:t>
            </a:r>
            <a:r>
              <a:rPr lang="ko-KR" altLang="en-US" sz="700" dirty="0" err="1">
                <a:latin typeface="+mn-ea"/>
              </a:rPr>
              <a:t>우수사업주</a:t>
            </a:r>
            <a:r>
              <a:rPr lang="ko-KR" altLang="en-US" sz="700" dirty="0">
                <a:latin typeface="+mn-ea"/>
              </a:rPr>
              <a:t> 또는 장애인 표준 사업장 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3914929" y="280861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4439786" y="2881901"/>
            <a:ext cx="1445245" cy="323165"/>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a:p>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6041078" y="288190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35" name="직사각형 234"/>
          <p:cNvSpPr/>
          <p:nvPr/>
        </p:nvSpPr>
        <p:spPr>
          <a:xfrm>
            <a:off x="3839398" y="315898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3926461" y="315898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654503" y="31589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6701" y="31589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8794" y="3373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8794" y="35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6074873" y="315898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940311" y="341898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5729267" y="341898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6410927" y="34189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3795734" y="36673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83597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재무상태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5069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34448"/>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7187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55625"/>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59930"/>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43684"/>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평가요소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평가요소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3" name="TextBox 12">
            <a:extLst>
              <a:ext uri="{FF2B5EF4-FFF2-40B4-BE49-F238E27FC236}">
                <a16:creationId xmlns:a16="http://schemas.microsoft.com/office/drawing/2014/main" id="{9843A915-2A8F-D58A-4AED-D2316FB907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2" name="Text Box 73">
            <a:extLst>
              <a:ext uri="{FF2B5EF4-FFF2-40B4-BE49-F238E27FC236}">
                <a16:creationId xmlns:a16="http://schemas.microsoft.com/office/drawing/2014/main" id="{A0103961-2718-80B9-CA24-E982F249058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03630576"/>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3599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1974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00694"/>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684448"/>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09415"/>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093169"/>
          <a:ext cx="8994883" cy="1335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품질형상기여</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품질형상기여</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2525100"/>
                  </a:ext>
                </a:extLst>
              </a:tr>
            </a:tbl>
          </a:graphicData>
        </a:graphic>
      </p:graphicFrame>
      <p:sp>
        <p:nvSpPr>
          <p:cNvPr id="2" name="TextBox 1">
            <a:extLst>
              <a:ext uri="{FF2B5EF4-FFF2-40B4-BE49-F238E27FC236}">
                <a16:creationId xmlns:a16="http://schemas.microsoft.com/office/drawing/2014/main" id="{E57FA470-C593-B4EA-FC00-557444397C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F6277361-BEA6-883D-3165-79816D8B5E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3730617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191</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6700"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662197454"/>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128A427C-19B3-C67F-B8AE-C3971751EA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79250992"/>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489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78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7875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7875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78750"/>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9139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91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7875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8188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1701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28980" y="2295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5453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5453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5453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54536"/>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674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5453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9684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9684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9684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968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2115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39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509493"/>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70973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968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4461390"/>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6394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371661"/>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716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98106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9810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9810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9810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95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6236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939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9810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24815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355879"/>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3558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10665" y="204217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8856" y="209603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6381281" y="20960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타원 13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78386099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2796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063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br>
              <a:rPr lang="ko-KR" altLang="en-US" sz="700" dirty="0">
                <a:latin typeface="+mn-ea"/>
              </a:rPr>
            </a:br>
            <a:r>
              <a:rPr lang="en-US" altLang="ko-KR" sz="700" dirty="0">
                <a:latin typeface="+mn-ea"/>
              </a:rPr>
              <a:t>2.</a:t>
            </a:r>
            <a:r>
              <a:rPr lang="ko-KR" altLang="en-US" sz="700" dirty="0">
                <a:latin typeface="+mn-ea"/>
              </a:rPr>
              <a:t>노사협력우수</a:t>
            </a:r>
            <a:br>
              <a:rPr lang="ko-KR" altLang="en-US" sz="700" dirty="0">
                <a:latin typeface="+mn-ea"/>
              </a:rPr>
            </a:br>
            <a:r>
              <a:rPr lang="en-US" altLang="ko-KR" sz="700" dirty="0">
                <a:latin typeface="+mn-ea"/>
              </a:rPr>
              <a:t>3.</a:t>
            </a:r>
            <a:r>
              <a:rPr lang="ko-KR" altLang="en-US" sz="700" dirty="0">
                <a:latin typeface="+mn-ea"/>
              </a:rPr>
              <a:t>비상대비 중점관리</a:t>
            </a:r>
            <a:br>
              <a:rPr lang="ko-KR" altLang="en-US" sz="700" dirty="0">
                <a:latin typeface="+mn-ea"/>
              </a:rPr>
            </a:br>
            <a:r>
              <a:rPr lang="en-US" altLang="ko-KR" sz="700" dirty="0">
                <a:latin typeface="+mn-ea"/>
              </a:rPr>
              <a:t>4.</a:t>
            </a:r>
            <a:r>
              <a:rPr lang="ko-KR" altLang="en-US" sz="700" dirty="0">
                <a:latin typeface="+mn-ea"/>
              </a:rPr>
              <a:t>장애인기업</a:t>
            </a:r>
            <a:br>
              <a:rPr lang="ko-KR" altLang="en-US" sz="700" dirty="0">
                <a:latin typeface="+mn-ea"/>
              </a:rPr>
            </a:br>
            <a:r>
              <a:rPr lang="en-US" altLang="ko-KR" sz="700" dirty="0">
                <a:latin typeface="+mn-ea"/>
              </a:rPr>
              <a:t>5.</a:t>
            </a:r>
            <a:r>
              <a:rPr lang="ko-KR" altLang="en-US" sz="700" dirty="0">
                <a:latin typeface="+mn-ea"/>
              </a:rPr>
              <a:t>가족친화</a:t>
            </a:r>
            <a:br>
              <a:rPr lang="ko-KR" altLang="en-US" sz="700" dirty="0">
                <a:latin typeface="+mn-ea"/>
              </a:rPr>
            </a:br>
            <a:r>
              <a:rPr lang="en-US" altLang="ko-KR" sz="700" dirty="0">
                <a:latin typeface="+mn-ea"/>
              </a:rPr>
              <a:t>6.</a:t>
            </a:r>
            <a:r>
              <a:rPr lang="ko-KR" altLang="en-US" sz="700" dirty="0">
                <a:latin typeface="+mn-ea"/>
              </a:rPr>
              <a:t>고용창출</a:t>
            </a:r>
            <a:br>
              <a:rPr lang="ko-KR" altLang="en-US" sz="700" dirty="0">
                <a:latin typeface="+mn-ea"/>
              </a:rPr>
            </a:br>
            <a:r>
              <a:rPr lang="en-US" altLang="ko-KR" sz="700" dirty="0">
                <a:latin typeface="+mn-ea"/>
              </a:rPr>
              <a:t>7.</a:t>
            </a:r>
            <a:r>
              <a:rPr lang="ko-KR" altLang="en-US" sz="700" dirty="0">
                <a:latin typeface="+mn-ea"/>
              </a:rPr>
              <a:t>여성기업 지원 등</a:t>
            </a:r>
            <a:br>
              <a:rPr lang="ko-KR" altLang="en-US" sz="700" dirty="0">
                <a:latin typeface="+mn-ea"/>
              </a:rPr>
            </a:br>
            <a:r>
              <a:rPr lang="en-US" altLang="ko-KR" sz="700" dirty="0">
                <a:latin typeface="+mn-ea"/>
              </a:rPr>
              <a:t>8.</a:t>
            </a:r>
            <a:r>
              <a:rPr lang="ko-KR" altLang="en-US" sz="700" dirty="0" err="1">
                <a:latin typeface="+mn-ea"/>
              </a:rPr>
              <a:t>사회적기업</a:t>
            </a:r>
            <a:r>
              <a:rPr lang="ko-KR" altLang="en-US" sz="700" dirty="0">
                <a:latin typeface="+mn-ea"/>
              </a:rPr>
              <a:t/>
            </a:r>
            <a:br>
              <a:rPr lang="ko-KR" altLang="en-US" sz="700" dirty="0">
                <a:latin typeface="+mn-ea"/>
              </a:rPr>
            </a:br>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직사각형 172"/>
          <p:cNvSpPr/>
          <p:nvPr/>
        </p:nvSpPr>
        <p:spPr>
          <a:xfrm>
            <a:off x="704608" y="4027435"/>
            <a:ext cx="1639886" cy="132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027436"/>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02743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0274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2421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345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54008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7403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02743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4184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309024"/>
            <a:ext cx="1480199" cy="646331"/>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52446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4109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99637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063221"/>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117082"/>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a:latin typeface="+mn-ea"/>
              </a:rPr>
              <a:t>(</a:t>
            </a:r>
            <a:r>
              <a:rPr lang="ko-KR" altLang="en-US" sz="700">
                <a:latin typeface="+mn-ea"/>
              </a:rPr>
              <a:t>가</a:t>
            </a:r>
            <a:r>
              <a:rPr lang="en-US" altLang="ko-KR" sz="700">
                <a:latin typeface="+mn-ea"/>
              </a:rPr>
              <a:t>)</a:t>
            </a:r>
            <a:r>
              <a:rPr lang="ko-KR" altLang="en-US" sz="700">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90" name="TextBox 89">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40497123"/>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p:cNvSpPr/>
          <p:nvPr/>
        </p:nvSpPr>
        <p:spPr>
          <a:xfrm>
            <a:off x="714799" y="4684148"/>
            <a:ext cx="1639886" cy="9011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sp>
        <p:nvSpPr>
          <p:cNvPr id="243" name="직사각형 24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5642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3795734" y="1504908"/>
            <a:ext cx="2712027" cy="989687"/>
            <a:chOff x="675399" y="5188802"/>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69919"/>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8880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88802"/>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30</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252942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119" name="그룹 118"/>
          <p:cNvGrpSpPr/>
          <p:nvPr/>
        </p:nvGrpSpPr>
        <p:grpSpPr>
          <a:xfrm flipV="1">
            <a:off x="6245910" y="264275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28162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45127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288035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409165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4549314"/>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p>
        </p:txBody>
      </p:sp>
      <p:grpSp>
        <p:nvGrpSpPr>
          <p:cNvPr id="172" name="그룹 171"/>
          <p:cNvGrpSpPr/>
          <p:nvPr/>
        </p:nvGrpSpPr>
        <p:grpSpPr>
          <a:xfrm flipV="1">
            <a:off x="6245910" y="466264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4836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484489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504513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511842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52289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5302202"/>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530220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5463280"/>
            <a:ext cx="1639886" cy="7690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546328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546328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54632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5678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5463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572328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593872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603784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62184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0330" y="425921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5187" y="433250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0330" y="444299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5187" y="4516287"/>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6479" y="451628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01862" y="467736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529904" y="467736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2102" y="4677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14195" y="4892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2950274" y="467736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492849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04668" y="5109002"/>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510900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07261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14195" y="5588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86328" y="51862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6" name="타원 13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03927034"/>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36" name="직사각형 135"/>
          <p:cNvSpPr/>
          <p:nvPr/>
        </p:nvSpPr>
        <p:spPr>
          <a:xfrm>
            <a:off x="719063" y="1508077"/>
            <a:ext cx="1639886" cy="9488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8459" y="2459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819976" y="157792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08931" y="173950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290592" y="1739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23314" y="20730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819976" y="214353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2608931" y="219739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794594" y="2495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19451" y="2568442"/>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794594" y="26789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5" name="TextBox 154">
            <a:extLst>
              <a:ext uri="{FF2B5EF4-FFF2-40B4-BE49-F238E27FC236}">
                <a16:creationId xmlns:a16="http://schemas.microsoft.com/office/drawing/2014/main" id="{FFC49AEA-2A8F-250C-A86A-A7751D9706C3}"/>
              </a:ext>
            </a:extLst>
          </p:cNvPr>
          <p:cNvSpPr txBox="1"/>
          <p:nvPr/>
        </p:nvSpPr>
        <p:spPr>
          <a:xfrm>
            <a:off x="1319451" y="2752222"/>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0743" y="27522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1" name="직사각형 170"/>
          <p:cNvSpPr/>
          <p:nvPr/>
        </p:nvSpPr>
        <p:spPr>
          <a:xfrm>
            <a:off x="719063" y="2913300"/>
            <a:ext cx="1639886" cy="9816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291330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29133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29132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312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8" name="TextBox 177">
            <a:extLst>
              <a:ext uri="{FF2B5EF4-FFF2-40B4-BE49-F238E27FC236}">
                <a16:creationId xmlns:a16="http://schemas.microsoft.com/office/drawing/2014/main" id="{FFC49AEA-2A8F-250C-A86A-A7751D9706C3}"/>
              </a:ext>
            </a:extLst>
          </p:cNvPr>
          <p:cNvSpPr txBox="1"/>
          <p:nvPr/>
        </p:nvSpPr>
        <p:spPr>
          <a:xfrm>
            <a:off x="2954538" y="291330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819976" y="31858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2608931" y="329353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23314" y="35667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819976" y="362452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2608931" y="367838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8459" y="38977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290592" y="345903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794594" y="39287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1319451" y="400198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4594" y="41124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1319451" y="418576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2920743" y="41857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10" name="직사각형 209"/>
          <p:cNvSpPr/>
          <p:nvPr/>
        </p:nvSpPr>
        <p:spPr>
          <a:xfrm>
            <a:off x="719063" y="4346847"/>
            <a:ext cx="1639886" cy="1113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806126" y="43468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2534168" y="43468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716366" y="43468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18459" y="45615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2954538" y="43468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19976" y="46221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608931" y="467596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3314" y="489805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819976" y="495857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a:t>녹색기술</a:t>
            </a:r>
            <a:r>
              <a:rPr lang="en-US" altLang="ko-KR" dirty="0"/>
              <a:t>(</a:t>
            </a:r>
            <a:r>
              <a:rPr lang="ko-KR" altLang="en-US" dirty="0"/>
              <a:t>녹색사업</a:t>
            </a:r>
            <a:r>
              <a:rPr lang="en-US" altLang="ko-KR" dirty="0"/>
              <a:t>) </a:t>
            </a:r>
            <a:r>
              <a:rPr lang="ko-KR" altLang="en-US" dirty="0"/>
              <a:t>인증 및  녹색전문기업 확인서 보유자</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608931" y="501243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718459" y="5463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290592" y="4958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819976" y="52950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고효율에너지기자재 </a:t>
            </a:r>
            <a:r>
              <a:rPr lang="ko-KR" altLang="en-US" dirty="0" err="1"/>
              <a:t>인증보유자</a:t>
            </a:r>
            <a:endParaRPr lang="ko-KR" altLang="en-US" dirty="0"/>
          </a:p>
        </p:txBody>
      </p:sp>
      <p:sp>
        <p:nvSpPr>
          <p:cNvPr id="233" name="TextBox 232">
            <a:extLst>
              <a:ext uri="{FF2B5EF4-FFF2-40B4-BE49-F238E27FC236}">
                <a16:creationId xmlns:a16="http://schemas.microsoft.com/office/drawing/2014/main" id="{FFC49AEA-2A8F-250C-A86A-A7751D9706C3}"/>
              </a:ext>
            </a:extLst>
          </p:cNvPr>
          <p:cNvSpPr txBox="1"/>
          <p:nvPr/>
        </p:nvSpPr>
        <p:spPr>
          <a:xfrm>
            <a:off x="2608931" y="529504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723314" y="523453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46" name="직사각형 245"/>
          <p:cNvSpPr/>
          <p:nvPr/>
        </p:nvSpPr>
        <p:spPr>
          <a:xfrm>
            <a:off x="3839398" y="2110904"/>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26461" y="21109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54503" y="21109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6701" y="2110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8794" y="2325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38794" y="44597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6074873" y="21109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3940311" y="2374421"/>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5692397" y="2913030"/>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6410927" y="333883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40311" y="3441473"/>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43649" y="339269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8" name="TextBox 257">
            <a:extLst>
              <a:ext uri="{FF2B5EF4-FFF2-40B4-BE49-F238E27FC236}">
                <a16:creationId xmlns:a16="http://schemas.microsoft.com/office/drawing/2014/main" id="{FFC49AEA-2A8F-250C-A86A-A7751D9706C3}"/>
              </a:ext>
            </a:extLst>
          </p:cNvPr>
          <p:cNvSpPr txBox="1"/>
          <p:nvPr/>
        </p:nvSpPr>
        <p:spPr>
          <a:xfrm>
            <a:off x="5692397" y="3980082"/>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55282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3914929" y="4501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4574764"/>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468525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4758544"/>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475854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65" name="직사각형 264"/>
          <p:cNvSpPr/>
          <p:nvPr/>
        </p:nvSpPr>
        <p:spPr>
          <a:xfrm>
            <a:off x="3839398" y="4919622"/>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6461" y="49196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5654503" y="49196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6701" y="49196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8794" y="5134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8794" y="62923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6074873" y="49196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40311" y="5183139"/>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5692397" y="5721748"/>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6410927" y="565949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35701908"/>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37745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794594" y="149373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1319451" y="156702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794594" y="167751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1319451" y="1750807"/>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2920743" y="175080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65" name="직사각형 264"/>
          <p:cNvSpPr/>
          <p:nvPr/>
        </p:nvSpPr>
        <p:spPr>
          <a:xfrm>
            <a:off x="719063" y="1911885"/>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806126" y="191188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2534168" y="191188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716366" y="19118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718459" y="21266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718459" y="37154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2954538" y="19118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819976" y="2167013"/>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2572062" y="278640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3290592" y="28671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819976" y="278640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819976" y="29749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819976" y="327112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819976" y="35673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72062" y="302876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2572062" y="332498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572062" y="356734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7460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29345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18459" y="323073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18459" y="35269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직사각형 115"/>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25" name="TextBox 124">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129" name="TextBox 128">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86" name="직사각형 185"/>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9" name="타원 9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86711456"/>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TextBox 101">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46" name="직사각형 145"/>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1" name="직사각형 170"/>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8" name="직사각형 217"/>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233" name="직사각형 232"/>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4" name="TextBox 233">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7" name="타원 11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3431785"/>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3538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1913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19645"/>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03399"/>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3588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19638"/>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6557AFCF-AAE9-EBCD-10AB-872B47199BD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DC6C708-EC77-3074-2A82-11DA3D8CA6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74531108"/>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62118"/>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4587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61657"/>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74541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87796"/>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171550"/>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노사협력우수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노사협력우수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비상대비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비상대비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9068027"/>
                  </a:ext>
                </a:extLst>
              </a:tr>
            </a:tbl>
          </a:graphicData>
        </a:graphic>
      </p:graphicFrame>
      <p:sp>
        <p:nvSpPr>
          <p:cNvPr id="2" name="TextBox 1">
            <a:extLst>
              <a:ext uri="{FF2B5EF4-FFF2-40B4-BE49-F238E27FC236}">
                <a16:creationId xmlns:a16="http://schemas.microsoft.com/office/drawing/2014/main" id="{2A045708-CF5E-3F15-AF31-23E5CE63799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66A28C04-B3F7-445B-9DC2-37049B8D76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98473629"/>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200</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77E3BE83-3C18-D876-889D-C968FF0B28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4106797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재무상태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5238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8313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18924"/>
            <a:ext cx="444032" cy="107722"/>
          </a:xfrm>
          <a:prstGeom prst="rect">
            <a:avLst/>
          </a:prstGeom>
          <a:noFill/>
        </p:spPr>
        <p:txBody>
          <a:bodyPr wrap="none" lIns="0" tIns="0" rIns="0" bIns="0" rtlCol="0">
            <a:spAutoFit/>
          </a:bodyPr>
          <a:lstStyle/>
          <a:p>
            <a:pPr algn="r"/>
            <a:r>
              <a:rPr lang="en-US" altLang="ko-KR" sz="700" dirty="0">
                <a:latin typeface="+mn-ea"/>
              </a:rPr>
              <a:t>+1.15 ~ -3</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18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5"/>
            <a:ext cx="1639886" cy="10632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3478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754053"/>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성실납세여부</a:t>
            </a:r>
            <a:br>
              <a:rPr lang="ko-KR" altLang="en-US" sz="700" dirty="0">
                <a:latin typeface="+mn-ea"/>
              </a:rPr>
            </a:br>
            <a:r>
              <a:rPr lang="en-US" altLang="ko-KR" sz="700" dirty="0">
                <a:latin typeface="+mn-ea"/>
              </a:rPr>
              <a:t>2.</a:t>
            </a:r>
            <a:r>
              <a:rPr lang="ko-KR" altLang="en-US" sz="700" dirty="0">
                <a:latin typeface="+mn-ea"/>
              </a:rPr>
              <a:t>중점관대상여부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872446"/>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8724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423522"/>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2335227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7"/>
            <a:ext cx="1639886" cy="8745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8898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29628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538609"/>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0611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06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006457"/>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-3</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0665"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4435522" y="2099984"/>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5"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4435522" y="2283764"/>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6036814"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3" name="직사각형 132"/>
          <p:cNvSpPr/>
          <p:nvPr/>
        </p:nvSpPr>
        <p:spPr>
          <a:xfrm>
            <a:off x="3835134" y="2444842"/>
            <a:ext cx="1639886" cy="12813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3922197"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5650239"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2437"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4530"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0609"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36047" y="270484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88133" y="292028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06663" y="31438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9385" y="320000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8794" y="37357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3914929" y="3771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4439786" y="38445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3914929" y="39550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4439786" y="40283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6041078" y="40283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50" name="직사각형 149"/>
          <p:cNvSpPr/>
          <p:nvPr/>
        </p:nvSpPr>
        <p:spPr>
          <a:xfrm>
            <a:off x="3839398" y="4189396"/>
            <a:ext cx="1639886" cy="1281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926461" y="41893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5654503" y="41893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3" name="직선 연결선 152">
            <a:extLst>
              <a:ext uri="{FF2B5EF4-FFF2-40B4-BE49-F238E27FC236}">
                <a16:creationId xmlns:a16="http://schemas.microsoft.com/office/drawing/2014/main" id="{E9293055-D5CD-4B9E-7F64-64B2D2CA7A52}"/>
              </a:ext>
            </a:extLst>
          </p:cNvPr>
          <p:cNvCxnSpPr/>
          <p:nvPr/>
        </p:nvCxnSpPr>
        <p:spPr>
          <a:xfrm>
            <a:off x="3836701" y="41893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794" y="44041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6074873" y="41893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3940311" y="446190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5692397" y="462349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43649" y="492473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3940311" y="4982510"/>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5642705" y="5144092"/>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161" name="직선 연결선 160">
            <a:extLst>
              <a:ext uri="{FF2B5EF4-FFF2-40B4-BE49-F238E27FC236}">
                <a16:creationId xmlns:a16="http://schemas.microsoft.com/office/drawing/2014/main" id="{E9293055-D5CD-4B9E-7F64-64B2D2CA7A52}"/>
              </a:ext>
            </a:extLst>
          </p:cNvPr>
          <p:cNvCxnSpPr/>
          <p:nvPr/>
        </p:nvCxnSpPr>
        <p:spPr>
          <a:xfrm>
            <a:off x="3838794" y="5474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6410927" y="4885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3936047" y="326486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38440" y="3480304"/>
            <a:ext cx="205185"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690529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792462" y="149115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792462"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17319" y="1764682"/>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1.</a:t>
            </a:r>
            <a:r>
              <a:rPr lang="ko-KR" altLang="en-US" dirty="0"/>
              <a:t>성실납세여부</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92462"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7319" y="1948462"/>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918611"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69" name="직사각형 168"/>
          <p:cNvSpPr/>
          <p:nvPr/>
        </p:nvSpPr>
        <p:spPr>
          <a:xfrm>
            <a:off x="716931" y="2109540"/>
            <a:ext cx="1639886" cy="4166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3994"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2532036"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2" name="직선 연결선 171">
            <a:extLst>
              <a:ext uri="{FF2B5EF4-FFF2-40B4-BE49-F238E27FC236}">
                <a16:creationId xmlns:a16="http://schemas.microsoft.com/office/drawing/2014/main" id="{E9293055-D5CD-4B9E-7F64-64B2D2CA7A52}"/>
              </a:ext>
            </a:extLst>
          </p:cNvPr>
          <p:cNvCxnSpPr/>
          <p:nvPr/>
        </p:nvCxnSpPr>
        <p:spPr>
          <a:xfrm>
            <a:off x="714234"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16327"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2406"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817844" y="23695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06" y="236954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3288460" y="23695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720591" y="252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0" name="TextBox 219">
            <a:extLst>
              <a:ext uri="{FF2B5EF4-FFF2-40B4-BE49-F238E27FC236}">
                <a16:creationId xmlns:a16="http://schemas.microsoft.com/office/drawing/2014/main" id="{FFC49AEA-2A8F-250C-A86A-A7751D9706C3}"/>
              </a:ext>
            </a:extLst>
          </p:cNvPr>
          <p:cNvSpPr txBox="1"/>
          <p:nvPr/>
        </p:nvSpPr>
        <p:spPr>
          <a:xfrm>
            <a:off x="792462" y="25861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1317319" y="2659435"/>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2.</a:t>
            </a:r>
            <a:r>
              <a:rPr lang="ko-KR" altLang="en-US" dirty="0"/>
              <a:t>비상대비 중점관리 </a:t>
            </a:r>
            <a:r>
              <a:rPr lang="ko-KR" altLang="en-US" dirty="0" err="1"/>
              <a:t>대상여부</a:t>
            </a:r>
            <a:endParaRPr lang="ko-KR" altLang="en-US" dirty="0"/>
          </a:p>
        </p:txBody>
      </p:sp>
      <p:sp>
        <p:nvSpPr>
          <p:cNvPr id="222" name="TextBox 221">
            <a:extLst>
              <a:ext uri="{FF2B5EF4-FFF2-40B4-BE49-F238E27FC236}">
                <a16:creationId xmlns:a16="http://schemas.microsoft.com/office/drawing/2014/main" id="{FFC49AEA-2A8F-250C-A86A-A7751D9706C3}"/>
              </a:ext>
            </a:extLst>
          </p:cNvPr>
          <p:cNvSpPr txBox="1"/>
          <p:nvPr/>
        </p:nvSpPr>
        <p:spPr>
          <a:xfrm>
            <a:off x="792462" y="276992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1317319" y="2843215"/>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2918611" y="284321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25" name="직사각형 224"/>
          <p:cNvSpPr/>
          <p:nvPr/>
        </p:nvSpPr>
        <p:spPr>
          <a:xfrm>
            <a:off x="716931" y="3004293"/>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TextBox 225">
            <a:extLst>
              <a:ext uri="{FF2B5EF4-FFF2-40B4-BE49-F238E27FC236}">
                <a16:creationId xmlns:a16="http://schemas.microsoft.com/office/drawing/2014/main" id="{FFC49AEA-2A8F-250C-A86A-A7751D9706C3}"/>
              </a:ext>
            </a:extLst>
          </p:cNvPr>
          <p:cNvSpPr txBox="1"/>
          <p:nvPr/>
        </p:nvSpPr>
        <p:spPr>
          <a:xfrm>
            <a:off x="803994" y="300429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32036" y="300429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4234" y="3004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16327" y="3219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0" name="TextBox 229">
            <a:extLst>
              <a:ext uri="{FF2B5EF4-FFF2-40B4-BE49-F238E27FC236}">
                <a16:creationId xmlns:a16="http://schemas.microsoft.com/office/drawing/2014/main" id="{FFC49AEA-2A8F-250C-A86A-A7751D9706C3}"/>
              </a:ext>
            </a:extLst>
          </p:cNvPr>
          <p:cNvSpPr txBox="1"/>
          <p:nvPr/>
        </p:nvSpPr>
        <p:spPr>
          <a:xfrm>
            <a:off x="2952406" y="300429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817844" y="327111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606800" y="332497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288460" y="33249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20591" y="35241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792462" y="35734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1317319" y="3646724"/>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3.</a:t>
            </a:r>
            <a:r>
              <a:rPr lang="ko-KR" altLang="en-US" dirty="0"/>
              <a:t>가족친화 사회환경 조성여부</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792462" y="3757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1317319" y="3830504"/>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2918611" y="383050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40" name="직사각형 239"/>
          <p:cNvSpPr/>
          <p:nvPr/>
        </p:nvSpPr>
        <p:spPr>
          <a:xfrm>
            <a:off x="716931" y="3991582"/>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1" name="TextBox 240">
            <a:extLst>
              <a:ext uri="{FF2B5EF4-FFF2-40B4-BE49-F238E27FC236}">
                <a16:creationId xmlns:a16="http://schemas.microsoft.com/office/drawing/2014/main" id="{FFC49AEA-2A8F-250C-A86A-A7751D9706C3}"/>
              </a:ext>
            </a:extLst>
          </p:cNvPr>
          <p:cNvSpPr txBox="1"/>
          <p:nvPr/>
        </p:nvSpPr>
        <p:spPr>
          <a:xfrm>
            <a:off x="803994" y="399158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2" name="TextBox 241">
            <a:extLst>
              <a:ext uri="{FF2B5EF4-FFF2-40B4-BE49-F238E27FC236}">
                <a16:creationId xmlns:a16="http://schemas.microsoft.com/office/drawing/2014/main" id="{FFC49AEA-2A8F-250C-A86A-A7751D9706C3}"/>
              </a:ext>
            </a:extLst>
          </p:cNvPr>
          <p:cNvSpPr txBox="1"/>
          <p:nvPr/>
        </p:nvSpPr>
        <p:spPr>
          <a:xfrm>
            <a:off x="2532036" y="399158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3" name="직선 연결선 242">
            <a:extLst>
              <a:ext uri="{FF2B5EF4-FFF2-40B4-BE49-F238E27FC236}">
                <a16:creationId xmlns:a16="http://schemas.microsoft.com/office/drawing/2014/main" id="{E9293055-D5CD-4B9E-7F64-64B2D2CA7A52}"/>
              </a:ext>
            </a:extLst>
          </p:cNvPr>
          <p:cNvCxnSpPr/>
          <p:nvPr/>
        </p:nvCxnSpPr>
        <p:spPr>
          <a:xfrm>
            <a:off x="714234" y="39915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6327" y="4206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2952406" y="39915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817844" y="425840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606800" y="431226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3288460" y="4312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720591" y="45114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792462" y="457909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1317319" y="4652380"/>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4.</a:t>
            </a:r>
            <a:r>
              <a:rPr lang="ko-KR" altLang="en-US" dirty="0"/>
              <a:t>고용창출 </a:t>
            </a:r>
            <a:r>
              <a:rPr lang="en-US" altLang="ko-KR" dirty="0"/>
              <a:t>100</a:t>
            </a:r>
            <a:r>
              <a:rPr lang="ko-KR" altLang="en-US" dirty="0"/>
              <a:t>대 우수기업여부</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792462" y="476287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3" name="TextBox 252">
            <a:extLst>
              <a:ext uri="{FF2B5EF4-FFF2-40B4-BE49-F238E27FC236}">
                <a16:creationId xmlns:a16="http://schemas.microsoft.com/office/drawing/2014/main" id="{FFC49AEA-2A8F-250C-A86A-A7751D9706C3}"/>
              </a:ext>
            </a:extLst>
          </p:cNvPr>
          <p:cNvSpPr txBox="1"/>
          <p:nvPr/>
        </p:nvSpPr>
        <p:spPr>
          <a:xfrm>
            <a:off x="1317319" y="4836160"/>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2918611" y="483616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55" name="직사각형 254"/>
          <p:cNvSpPr/>
          <p:nvPr/>
        </p:nvSpPr>
        <p:spPr>
          <a:xfrm>
            <a:off x="716931" y="4997238"/>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803994" y="499723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2532036" y="499723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8" name="직선 연결선 257">
            <a:extLst>
              <a:ext uri="{FF2B5EF4-FFF2-40B4-BE49-F238E27FC236}">
                <a16:creationId xmlns:a16="http://schemas.microsoft.com/office/drawing/2014/main" id="{E9293055-D5CD-4B9E-7F64-64B2D2CA7A52}"/>
              </a:ext>
            </a:extLst>
          </p:cNvPr>
          <p:cNvCxnSpPr/>
          <p:nvPr/>
        </p:nvCxnSpPr>
        <p:spPr>
          <a:xfrm>
            <a:off x="714234" y="49972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716327" y="5211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2952406" y="49972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1" name="TextBox 260">
            <a:extLst>
              <a:ext uri="{FF2B5EF4-FFF2-40B4-BE49-F238E27FC236}">
                <a16:creationId xmlns:a16="http://schemas.microsoft.com/office/drawing/2014/main" id="{FFC49AEA-2A8F-250C-A86A-A7751D9706C3}"/>
              </a:ext>
            </a:extLst>
          </p:cNvPr>
          <p:cNvSpPr txBox="1"/>
          <p:nvPr/>
        </p:nvSpPr>
        <p:spPr>
          <a:xfrm>
            <a:off x="817844" y="526406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2606800" y="53179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3288460" y="5317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720591" y="55170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3912797" y="150490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4437654" y="1578196"/>
            <a:ext cx="2010812"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5.</a:t>
            </a:r>
            <a:r>
              <a:rPr lang="ko-KR" altLang="en-US" dirty="0"/>
              <a:t>장애인 고용 </a:t>
            </a:r>
            <a:r>
              <a:rPr lang="ko-KR" altLang="en-US" dirty="0" err="1"/>
              <a:t>우수사업주</a:t>
            </a:r>
            <a:r>
              <a:rPr lang="ko-KR" altLang="en-US" dirty="0"/>
              <a:t> 또는 장애인 표준 사업장 여부</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3912797" y="178422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8" name="TextBox 267">
            <a:extLst>
              <a:ext uri="{FF2B5EF4-FFF2-40B4-BE49-F238E27FC236}">
                <a16:creationId xmlns:a16="http://schemas.microsoft.com/office/drawing/2014/main" id="{FFC49AEA-2A8F-250C-A86A-A7751D9706C3}"/>
              </a:ext>
            </a:extLst>
          </p:cNvPr>
          <p:cNvSpPr txBox="1"/>
          <p:nvPr/>
        </p:nvSpPr>
        <p:spPr>
          <a:xfrm>
            <a:off x="4437654" y="1857512"/>
            <a:ext cx="1462715" cy="215444"/>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6038946" y="185751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70" name="직사각형 269"/>
          <p:cNvSpPr/>
          <p:nvPr/>
        </p:nvSpPr>
        <p:spPr>
          <a:xfrm>
            <a:off x="3837266" y="2127773"/>
            <a:ext cx="1639886" cy="6395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TextBox 270">
            <a:extLst>
              <a:ext uri="{FF2B5EF4-FFF2-40B4-BE49-F238E27FC236}">
                <a16:creationId xmlns:a16="http://schemas.microsoft.com/office/drawing/2014/main" id="{FFC49AEA-2A8F-250C-A86A-A7751D9706C3}"/>
              </a:ext>
            </a:extLst>
          </p:cNvPr>
          <p:cNvSpPr txBox="1"/>
          <p:nvPr/>
        </p:nvSpPr>
        <p:spPr>
          <a:xfrm>
            <a:off x="3924329" y="212777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2371" y="212777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69" y="21277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6662" y="23425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2741" y="21277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8179" y="2394599"/>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장애인 고용 </a:t>
            </a:r>
            <a:r>
              <a:rPr lang="ko-KR" altLang="en-US" dirty="0" err="1"/>
              <a:t>우수사업주</a:t>
            </a:r>
            <a:r>
              <a:rPr lang="ko-KR" altLang="en-US" dirty="0"/>
              <a:t> 또는 </a:t>
            </a:r>
            <a:r>
              <a:rPr lang="ko-KR" altLang="en-US" dirty="0" err="1"/>
              <a:t>장애인표준</a:t>
            </a:r>
            <a:r>
              <a:rPr lang="ko-KR" altLang="en-US" dirty="0"/>
              <a:t> 사업장 여부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727135" y="250232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8795" y="25023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840926" y="2770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41982817"/>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하자발생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21094B69-5C2F-8DC6-A9E9-CD1F7427DE2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45F9176-FFDA-C26E-2E97-84941C8EF7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43581387"/>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1754B9BA-4A2E-FC1C-6D9C-A87E37A11D6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E66E55D8-4428-3EF5-719F-23B08504C8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69755011"/>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206</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B489788C-D4F9-1033-7C88-89B1508FFDA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9918411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72784"/>
            <a:ext cx="444032" cy="107722"/>
          </a:xfrm>
          <a:prstGeom prst="rect">
            <a:avLst/>
          </a:prstGeom>
          <a:noFill/>
        </p:spPr>
        <p:txBody>
          <a:bodyPr wrap="none" lIns="0" tIns="0" rIns="0" bIns="0" rtlCol="0">
            <a:spAutoFit/>
          </a:bodyPr>
          <a:lstStyle/>
          <a:p>
            <a:pPr algn="r"/>
            <a:r>
              <a:rPr lang="en-US" altLang="ko-KR" sz="700" dirty="0">
                <a:latin typeface="+mn-ea"/>
              </a:rPr>
              <a:t>+1.15 ~ -5</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12830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566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p>
          <a:p>
            <a:r>
              <a:rPr lang="en-US" altLang="ko-KR" sz="700" dirty="0">
                <a:latin typeface="+mn-ea"/>
              </a:rPr>
              <a:t>2.</a:t>
            </a:r>
            <a:r>
              <a:rPr lang="ko-KR" altLang="en-US" sz="700" dirty="0">
                <a:latin typeface="+mn-ea"/>
              </a:rPr>
              <a:t>노사협력우수</a:t>
            </a:r>
          </a:p>
          <a:p>
            <a:r>
              <a:rPr lang="en-US" altLang="ko-KR" sz="700" dirty="0">
                <a:latin typeface="+mn-ea"/>
              </a:rPr>
              <a:t>3.</a:t>
            </a:r>
            <a:r>
              <a:rPr lang="ko-KR" altLang="en-US" sz="700" dirty="0">
                <a:latin typeface="+mn-ea"/>
              </a:rPr>
              <a:t>비상대비 중점관리</a:t>
            </a:r>
          </a:p>
          <a:p>
            <a:r>
              <a:rPr lang="en-US" altLang="ko-KR" sz="700" dirty="0">
                <a:latin typeface="+mn-ea"/>
              </a:rPr>
              <a:t>4.</a:t>
            </a:r>
            <a:r>
              <a:rPr lang="ko-KR" altLang="en-US" sz="700" dirty="0">
                <a:latin typeface="+mn-ea"/>
              </a:rPr>
              <a:t>장애인기업</a:t>
            </a:r>
          </a:p>
          <a:p>
            <a:r>
              <a:rPr lang="en-US" altLang="ko-KR" sz="700" dirty="0">
                <a:latin typeface="+mn-ea"/>
              </a:rPr>
              <a:t>5.</a:t>
            </a:r>
            <a:r>
              <a:rPr lang="ko-KR" altLang="en-US" sz="700" dirty="0">
                <a:latin typeface="+mn-ea"/>
              </a:rPr>
              <a:t>가족친화</a:t>
            </a:r>
          </a:p>
          <a:p>
            <a:r>
              <a:rPr lang="en-US" altLang="ko-KR" sz="700" dirty="0">
                <a:latin typeface="+mn-ea"/>
              </a:rPr>
              <a:t>6.</a:t>
            </a:r>
            <a:r>
              <a:rPr lang="ko-KR" altLang="en-US" sz="700" dirty="0">
                <a:latin typeface="+mn-ea"/>
              </a:rPr>
              <a:t>고용창출</a:t>
            </a:r>
          </a:p>
          <a:p>
            <a:r>
              <a:rPr lang="en-US" altLang="ko-KR" sz="700" dirty="0">
                <a:latin typeface="+mn-ea"/>
              </a:rPr>
              <a:t>7.</a:t>
            </a:r>
            <a:r>
              <a:rPr lang="ko-KR" altLang="en-US" sz="700" dirty="0">
                <a:latin typeface="+mn-ea"/>
              </a:rPr>
              <a:t>여성기업 지원 등</a:t>
            </a:r>
          </a:p>
          <a:p>
            <a:r>
              <a:rPr lang="en-US" altLang="ko-KR" sz="700" dirty="0">
                <a:latin typeface="+mn-ea"/>
              </a:rPr>
              <a:t>8.</a:t>
            </a:r>
            <a:r>
              <a:rPr lang="ko-KR" altLang="en-US" sz="700" dirty="0" err="1">
                <a:latin typeface="+mn-ea"/>
              </a:rPr>
              <a:t>사회적기업</a:t>
            </a:r>
            <a:endParaRPr lang="ko-KR" altLang="en-US" sz="700" dirty="0">
              <a:latin typeface="+mn-ea"/>
            </a:endParaRPr>
          </a:p>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980168"/>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9801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641890"/>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+1.15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350956148"/>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-5</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4" name="타원 9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63867243"/>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5086" y="1491157"/>
            <a:ext cx="2630093" cy="1790884"/>
            <a:chOff x="3836701" y="4837950"/>
            <a:chExt cx="2630093" cy="1790884"/>
          </a:xfrm>
        </p:grpSpPr>
        <p:sp>
          <p:nvSpPr>
            <p:cNvPr id="121" name="TextBox 120">
              <a:extLst>
                <a:ext uri="{FF2B5EF4-FFF2-40B4-BE49-F238E27FC236}">
                  <a16:creationId xmlns:a16="http://schemas.microsoft.com/office/drawing/2014/main" id="{FFC49AEA-2A8F-250C-A86A-A7751D9706C3}"/>
                </a:ext>
              </a:extLst>
            </p:cNvPr>
            <p:cNvSpPr txBox="1"/>
            <p:nvPr/>
          </p:nvSpPr>
          <p:spPr>
            <a:xfrm>
              <a:off x="3914929" y="48379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4439786" y="49112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4929" y="50217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4439786" y="50950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6041078" y="50950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32" name="직사각형 131"/>
            <p:cNvSpPr/>
            <p:nvPr/>
          </p:nvSpPr>
          <p:spPr>
            <a:xfrm>
              <a:off x="3839398" y="5256096"/>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3926461" y="52560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5654503" y="52560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36701" y="52560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8794" y="54708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8794" y="6628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4873" y="52560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40311" y="5519613"/>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p>
            <a:p>
              <a:r>
                <a:rPr lang="en-US" altLang="ko-KR" dirty="0"/>
                <a:t>- 7%</a:t>
              </a:r>
              <a:r>
                <a:rPr lang="ko-KR" altLang="en-US" dirty="0"/>
                <a:t>이상</a:t>
              </a:r>
            </a:p>
            <a:p>
              <a:r>
                <a:rPr lang="en-US" altLang="ko-KR" dirty="0"/>
                <a:t>- 5%</a:t>
              </a:r>
              <a:r>
                <a:rPr lang="ko-KR" altLang="en-US" dirty="0"/>
                <a:t>이상 ∼ </a:t>
              </a:r>
              <a:r>
                <a:rPr lang="en-US" altLang="ko-KR" dirty="0"/>
                <a:t>7%</a:t>
              </a:r>
              <a:r>
                <a:rPr lang="ko-KR" altLang="en-US" dirty="0"/>
                <a:t>미만</a:t>
              </a:r>
            </a:p>
            <a:p>
              <a:r>
                <a:rPr lang="en-US" altLang="ko-KR" dirty="0"/>
                <a:t>- 3%</a:t>
              </a:r>
              <a:r>
                <a:rPr lang="ko-KR" altLang="en-US" dirty="0"/>
                <a:t>이상 ∼ </a:t>
              </a:r>
              <a:r>
                <a:rPr lang="en-US" altLang="ko-KR" dirty="0"/>
                <a:t>5%</a:t>
              </a:r>
              <a:r>
                <a:rPr lang="ko-KR" altLang="en-US" dirty="0"/>
                <a:t>미만</a:t>
              </a:r>
            </a:p>
            <a:p>
              <a:r>
                <a:rPr lang="en-US" altLang="ko-KR" dirty="0"/>
                <a:t>- 1%</a:t>
              </a:r>
              <a:r>
                <a:rPr lang="ko-KR" altLang="en-US" dirty="0"/>
                <a:t>이상 ∼ </a:t>
              </a:r>
              <a:r>
                <a:rPr lang="en-US" altLang="ko-KR" dirty="0"/>
                <a:t>3%</a:t>
              </a:r>
              <a:r>
                <a:rPr lang="ko-KR" altLang="en-US" dirty="0"/>
                <a:t>미만</a:t>
              </a:r>
            </a:p>
            <a:p>
              <a:r>
                <a:rPr lang="en-US" altLang="ko-KR" dirty="0"/>
                <a:t>- 0.1%</a:t>
              </a:r>
              <a:r>
                <a:rPr lang="ko-KR" altLang="en-US" dirty="0"/>
                <a:t>이상 ∼ </a:t>
              </a:r>
              <a:r>
                <a:rPr lang="en-US" altLang="ko-KR" dirty="0"/>
                <a:t>1%</a:t>
              </a:r>
              <a:r>
                <a:rPr lang="ko-KR" altLang="en-US" dirty="0"/>
                <a:t>미만</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92397" y="6058222"/>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10927" y="5995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5579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4594" y="32988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372103"/>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794594" y="348259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319451" y="3555883"/>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920743" y="355588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65" name="직사각형 164"/>
          <p:cNvSpPr/>
          <p:nvPr/>
        </p:nvSpPr>
        <p:spPr>
          <a:xfrm>
            <a:off x="719063" y="3716961"/>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26" y="371696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2534168" y="371696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16366" y="3716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8459" y="39317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459" y="5520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2954538" y="371696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19976" y="397208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72062" y="459147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3290592" y="4672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819976" y="459147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819976" y="477997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819976" y="507619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19976" y="537242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72062" y="483383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572062" y="5130059"/>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2572062" y="537242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18459" y="45510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5" name="직선 연결선 234">
            <a:extLst>
              <a:ext uri="{FF2B5EF4-FFF2-40B4-BE49-F238E27FC236}">
                <a16:creationId xmlns:a16="http://schemas.microsoft.com/office/drawing/2014/main" id="{E9293055-D5CD-4B9E-7F64-64B2D2CA7A52}"/>
              </a:ext>
            </a:extLst>
          </p:cNvPr>
          <p:cNvCxnSpPr/>
          <p:nvPr/>
        </p:nvCxnSpPr>
        <p:spPr>
          <a:xfrm>
            <a:off x="718459" y="47395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18459" y="50358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18459" y="53320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44" name="직사각형 243"/>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7" name="직선 연결선 246">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1" name="TextBox 250">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252" name="TextBox 251">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256" name="TextBox 255">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60" name="TextBox 259">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65" name="직사각형 264"/>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76" name="TextBox 275">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80" name="직사각형 279"/>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1" name="TextBox 280">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4" name="직선 연결선 283">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5" name="직선 연결선 284">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6" name="TextBox 285">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87" name="TextBox 286">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295" name="TextBox 294">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28088236"/>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2" name="직사각형 121"/>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54" name="직사각형 153"/>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6" name="직사각형 175"/>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TextBox 176">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1" name="TextBox 190">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2" name="TextBox 191">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6" name="TextBox 195">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0" name="직사각형 209"/>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0" name="TextBox 299">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305" name="TextBox 304">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306" name="직사각형 305"/>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09" name="직선 연결선 308">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2" name="TextBox 311">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314" name="TextBox 313">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5818123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941650"/>
                  </a:ext>
                </a:extLst>
              </a:tr>
            </a:tbl>
          </a:graphicData>
        </a:graphic>
      </p:graphicFrame>
      <p:sp>
        <p:nvSpPr>
          <p:cNvPr id="12" name="TextBox 11">
            <a:extLst>
              <a:ext uri="{FF2B5EF4-FFF2-40B4-BE49-F238E27FC236}">
                <a16:creationId xmlns:a16="http://schemas.microsoft.com/office/drawing/2014/main" id="{C5F95892-D4E7-7043-AF31-17459BF4EC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5D5B456-F7BA-7A25-CA8A-11F41ACF5BF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09761501"/>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D4F29FCD-3293-C169-7E42-7595B6F2B89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9EE33E85-2EB5-AA1F-785D-26625645BFD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4968450"/>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213</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extLst>
              <p:ext uri="{D42A27DB-BD31-4B8C-83A1-F6EECF244321}">
                <p14:modId xmlns:p14="http://schemas.microsoft.com/office/powerpoint/2010/main" val="1593187238"/>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5969E14-1CC1-CE0D-518F-B3C6288C94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61709217"/>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284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5827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5827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5827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58278"/>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7092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7116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5827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61416"/>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540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34063"/>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34064"/>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34064"/>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34064"/>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4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 경영상태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34064"/>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7637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7637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7637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763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91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18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89021"/>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892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7637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440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4346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56257" y="5351189"/>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51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3826887" y="2338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3913949" y="2058508"/>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722140" y="2112369"/>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3" name="TextBox 172">
            <a:extLst>
              <a:ext uri="{FF2B5EF4-FFF2-40B4-BE49-F238E27FC236}">
                <a16:creationId xmlns:a16="http://schemas.microsoft.com/office/drawing/2014/main" id="{FFC49AEA-2A8F-250C-A86A-A7751D9706C3}"/>
              </a:ext>
            </a:extLst>
          </p:cNvPr>
          <p:cNvSpPr txBox="1"/>
          <p:nvPr/>
        </p:nvSpPr>
        <p:spPr>
          <a:xfrm>
            <a:off x="6384565" y="21123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타원 1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01451265"/>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607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6069" y="2500666"/>
            <a:ext cx="2712028" cy="3384473"/>
            <a:chOff x="676740" y="2751148"/>
            <a:chExt cx="2712028" cy="3384473"/>
          </a:xfrm>
        </p:grpSpPr>
        <p:sp>
          <p:nvSpPr>
            <p:cNvPr id="303" name="직사각형 302"/>
            <p:cNvSpPr/>
            <p:nvPr/>
          </p:nvSpPr>
          <p:spPr>
            <a:xfrm>
              <a:off x="718458" y="3038262"/>
              <a:ext cx="1639886" cy="8441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30382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30382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30382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32530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879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27511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30382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3299194"/>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여성기업지원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251113" y="351463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351463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42938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3920213"/>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+6.2 ~ -4.2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4826470"/>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826471"/>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82647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82646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5041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60626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433911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453935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82647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61356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5108059"/>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5323502"/>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53401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57135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780368"/>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834229"/>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gr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675309" y="3034314"/>
            <a:ext cx="168316"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10.0</a:t>
            </a:r>
            <a:br>
              <a:rPr lang="en-US" altLang="ko-KR" dirty="0"/>
            </a:br>
            <a:r>
              <a:rPr lang="en-US" altLang="ko-KR" dirty="0"/>
              <a:t>9.0</a:t>
            </a:r>
            <a:br>
              <a:rPr lang="en-US" altLang="ko-KR" dirty="0"/>
            </a:br>
            <a:r>
              <a:rPr lang="en-US" altLang="ko-KR" dirty="0"/>
              <a:t>8.0</a:t>
            </a:r>
            <a:br>
              <a:rPr lang="en-US" altLang="ko-KR" dirty="0"/>
            </a:br>
            <a:r>
              <a:rPr lang="en-US" altLang="ko-KR" dirty="0"/>
              <a:t>7.0</a:t>
            </a:r>
            <a:br>
              <a:rPr lang="en-US" altLang="ko-KR" dirty="0"/>
            </a:br>
            <a:r>
              <a:rPr lang="en-US" altLang="ko-KR" dirty="0"/>
              <a:t>6.0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grpSp>
        <p:nvGrpSpPr>
          <p:cNvPr id="3" name="그룹 2"/>
          <p:cNvGrpSpPr/>
          <p:nvPr/>
        </p:nvGrpSpPr>
        <p:grpSpPr>
          <a:xfrm>
            <a:off x="717037" y="1524682"/>
            <a:ext cx="2630093" cy="929730"/>
            <a:chOff x="3821510" y="5673476"/>
            <a:chExt cx="2630093" cy="929730"/>
          </a:xfrm>
        </p:grpSpPr>
        <p:sp>
          <p:nvSpPr>
            <p:cNvPr id="89" name="직사각형 88"/>
            <p:cNvSpPr/>
            <p:nvPr/>
          </p:nvSpPr>
          <p:spPr>
            <a:xfrm>
              <a:off x="3823602" y="5960590"/>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910665" y="596059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638707" y="596059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821510" y="59605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23603" y="61753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823603" y="6603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2481" y="5673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96" name="TextBox 95">
              <a:extLst>
                <a:ext uri="{FF2B5EF4-FFF2-40B4-BE49-F238E27FC236}">
                  <a16:creationId xmlns:a16="http://schemas.microsoft.com/office/drawing/2014/main" id="{FFC49AEA-2A8F-250C-A86A-A7751D9706C3}"/>
                </a:ext>
              </a:extLst>
            </p:cNvPr>
            <p:cNvSpPr txBox="1"/>
            <p:nvPr/>
          </p:nvSpPr>
          <p:spPr>
            <a:xfrm>
              <a:off x="6059077" y="596059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6227686"/>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98" name="TextBox 97">
              <a:extLst>
                <a:ext uri="{FF2B5EF4-FFF2-40B4-BE49-F238E27FC236}">
                  <a16:creationId xmlns:a16="http://schemas.microsoft.com/office/drawing/2014/main" id="{FFC49AEA-2A8F-250C-A86A-A7751D9706C3}"/>
                </a:ext>
              </a:extLst>
            </p:cNvPr>
            <p:cNvSpPr txBox="1"/>
            <p:nvPr/>
          </p:nvSpPr>
          <p:spPr>
            <a:xfrm>
              <a:off x="5356257" y="633540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381281" y="633540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2" name="타원 10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54896435"/>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grpSp>
        <p:nvGrpSpPr>
          <p:cNvPr id="5" name="그룹 4"/>
          <p:cNvGrpSpPr/>
          <p:nvPr/>
        </p:nvGrpSpPr>
        <p:grpSpPr>
          <a:xfrm>
            <a:off x="3795733" y="1523451"/>
            <a:ext cx="2712027" cy="989687"/>
            <a:chOff x="675399" y="5198000"/>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876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79117"/>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98000"/>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 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98000"/>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23" name="직사각형 12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42513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315187" y="43246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790330" y="44351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1315187" y="4508426"/>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916479" y="45084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54" name="직사각형 153"/>
          <p:cNvSpPr/>
          <p:nvPr/>
        </p:nvSpPr>
        <p:spPr>
          <a:xfrm>
            <a:off x="714799" y="4669504"/>
            <a:ext cx="1639886" cy="7369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1862" y="46695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529904" y="46695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712102" y="46695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4195" y="4884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14195" y="5406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2950274" y="46695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7" name="TextBox 176">
            <a:extLst>
              <a:ext uri="{FF2B5EF4-FFF2-40B4-BE49-F238E27FC236}">
                <a16:creationId xmlns:a16="http://schemas.microsoft.com/office/drawing/2014/main" id="{FFC49AEA-2A8F-250C-A86A-A7751D9706C3}"/>
              </a:ext>
            </a:extLst>
          </p:cNvPr>
          <p:cNvSpPr txBox="1"/>
          <p:nvPr/>
        </p:nvSpPr>
        <p:spPr>
          <a:xfrm>
            <a:off x="815712" y="4920635"/>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sp>
        <p:nvSpPr>
          <p:cNvPr id="179" name="TextBox 178">
            <a:extLst>
              <a:ext uri="{FF2B5EF4-FFF2-40B4-BE49-F238E27FC236}">
                <a16:creationId xmlns:a16="http://schemas.microsoft.com/office/drawing/2014/main" id="{FFC49AEA-2A8F-250C-A86A-A7751D9706C3}"/>
              </a:ext>
            </a:extLst>
          </p:cNvPr>
          <p:cNvSpPr txBox="1"/>
          <p:nvPr/>
        </p:nvSpPr>
        <p:spPr>
          <a:xfrm>
            <a:off x="3286328" y="50822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2604668" y="4920635"/>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3882481" y="2550007"/>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223" name="그룹 222"/>
          <p:cNvGrpSpPr/>
          <p:nvPr/>
        </p:nvGrpSpPr>
        <p:grpSpPr>
          <a:xfrm flipV="1">
            <a:off x="6244568" y="2663338"/>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29" name="직선 연결선 228">
            <a:extLst>
              <a:ext uri="{FF2B5EF4-FFF2-40B4-BE49-F238E27FC236}">
                <a16:creationId xmlns:a16="http://schemas.microsoft.com/office/drawing/2014/main" id="{E9293055-D5CD-4B9E-7F64-64B2D2CA7A52}"/>
              </a:ext>
            </a:extLst>
          </p:cNvPr>
          <p:cNvCxnSpPr/>
          <p:nvPr/>
        </p:nvCxnSpPr>
        <p:spPr>
          <a:xfrm>
            <a:off x="3795734" y="28368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3795734" y="45333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3836701" y="2900932"/>
            <a:ext cx="2630093" cy="1094598"/>
            <a:chOff x="701175" y="1835480"/>
            <a:chExt cx="2630093" cy="1094598"/>
          </a:xfrm>
        </p:grpSpPr>
        <p:sp>
          <p:nvSpPr>
            <p:cNvPr id="236" name="직사각형 235"/>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39" name="그룹 238"/>
            <p:cNvGrpSpPr/>
            <p:nvPr/>
          </p:nvGrpSpPr>
          <p:grpSpPr>
            <a:xfrm>
              <a:off x="701175" y="1835481"/>
              <a:ext cx="2630093" cy="1094597"/>
              <a:chOff x="701175" y="1835481"/>
              <a:chExt cx="2630093" cy="1094597"/>
            </a:xfrm>
          </p:grpSpPr>
          <p:cxnSp>
            <p:nvCxnSpPr>
              <p:cNvPr id="240" name="직선 연결선 23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5" name="TextBox 234">
            <a:extLst>
              <a:ext uri="{FF2B5EF4-FFF2-40B4-BE49-F238E27FC236}">
                <a16:creationId xmlns:a16="http://schemas.microsoft.com/office/drawing/2014/main" id="{FFC49AEA-2A8F-250C-A86A-A7751D9706C3}"/>
              </a:ext>
            </a:extLst>
          </p:cNvPr>
          <p:cNvSpPr txBox="1"/>
          <p:nvPr/>
        </p:nvSpPr>
        <p:spPr>
          <a:xfrm>
            <a:off x="3923699" y="4112238"/>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00" name="타원 9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0035738"/>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762146"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r>
              <a:rPr lang="ko-KR" altLang="en-US" sz="700" dirty="0">
                <a:latin typeface="+mn-ea"/>
              </a:rPr>
              <a:t>점</a:t>
            </a:r>
          </a:p>
        </p:txBody>
      </p:sp>
      <p:grpSp>
        <p:nvGrpSpPr>
          <p:cNvPr id="101" name="그룹 100"/>
          <p:cNvGrpSpPr/>
          <p:nvPr/>
        </p:nvGrpSpPr>
        <p:grpSpPr>
          <a:xfrm flipV="1">
            <a:off x="3124233" y="1644207"/>
            <a:ext cx="94010" cy="47005"/>
            <a:chOff x="6812560" y="3297172"/>
            <a:chExt cx="94010" cy="47005"/>
          </a:xfrm>
        </p:grpSpPr>
        <p:cxnSp>
          <p:nvCxnSpPr>
            <p:cNvPr id="102" name="직선 연결선 1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3" name="직선 연결선 1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4" name="직선 연결선 103">
            <a:extLst>
              <a:ext uri="{FF2B5EF4-FFF2-40B4-BE49-F238E27FC236}">
                <a16:creationId xmlns:a16="http://schemas.microsoft.com/office/drawing/2014/main" id="{E9293055-D5CD-4B9E-7F64-64B2D2CA7A52}"/>
              </a:ext>
            </a:extLst>
          </p:cNvPr>
          <p:cNvCxnSpPr/>
          <p:nvPr/>
        </p:nvCxnSpPr>
        <p:spPr>
          <a:xfrm>
            <a:off x="675399"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88988"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 물품 </a:t>
            </a:r>
            <a:r>
              <a:rPr lang="ko-KR" altLang="en-US" dirty="0" err="1"/>
              <a:t>품질정도</a:t>
            </a:r>
            <a:endParaRPr lang="ko-KR" altLang="en-US" dirty="0"/>
          </a:p>
        </p:txBody>
      </p:sp>
      <p:sp>
        <p:nvSpPr>
          <p:cNvPr id="118" name="TextBox 117">
            <a:extLst>
              <a:ext uri="{FF2B5EF4-FFF2-40B4-BE49-F238E27FC236}">
                <a16:creationId xmlns:a16="http://schemas.microsoft.com/office/drawing/2014/main" id="{FFC49AEA-2A8F-250C-A86A-A7751D9706C3}"/>
              </a:ext>
            </a:extLst>
          </p:cNvPr>
          <p:cNvSpPr txBox="1"/>
          <p:nvPr/>
        </p:nvSpPr>
        <p:spPr>
          <a:xfrm>
            <a:off x="788988"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13845" y="2099984"/>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988"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13845" y="2283764"/>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915137"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53" name="직사각형 152"/>
          <p:cNvSpPr/>
          <p:nvPr/>
        </p:nvSpPr>
        <p:spPr>
          <a:xfrm>
            <a:off x="713457" y="2444841"/>
            <a:ext cx="1639886" cy="16223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800520"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28562"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710760"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12853"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2948932"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14370" y="27151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603325" y="287671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284986" y="331099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717708" y="3201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7117" y="4070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93252" y="41018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8109" y="4175187"/>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793252" y="42856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1318109" y="4358967"/>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2919401" y="43589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6" name="직사각형 175"/>
          <p:cNvSpPr/>
          <p:nvPr/>
        </p:nvSpPr>
        <p:spPr>
          <a:xfrm>
            <a:off x="717721" y="4520045"/>
            <a:ext cx="1639886" cy="9563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FFC49AEA-2A8F-250C-A86A-A7751D9706C3}"/>
              </a:ext>
            </a:extLst>
          </p:cNvPr>
          <p:cNvSpPr txBox="1"/>
          <p:nvPr/>
        </p:nvSpPr>
        <p:spPr>
          <a:xfrm>
            <a:off x="804784" y="45200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532826" y="45200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15024" y="45200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17117" y="4734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3196" y="45200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818634" y="4786232"/>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2607590" y="4893953"/>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21972" y="51608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18634" y="521229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607589" y="526615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7117" y="54791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0" name="TextBox 189">
            <a:extLst>
              <a:ext uri="{FF2B5EF4-FFF2-40B4-BE49-F238E27FC236}">
                <a16:creationId xmlns:a16="http://schemas.microsoft.com/office/drawing/2014/main" id="{FFC49AEA-2A8F-250C-A86A-A7751D9706C3}"/>
              </a:ext>
            </a:extLst>
          </p:cNvPr>
          <p:cNvSpPr txBox="1"/>
          <p:nvPr/>
        </p:nvSpPr>
        <p:spPr>
          <a:xfrm>
            <a:off x="3289250" y="50531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814370" y="325713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2603325" y="341871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814370" y="379913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2603325" y="385299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cxnSp>
        <p:nvCxnSpPr>
          <p:cNvPr id="197" name="직선 연결선 196">
            <a:extLst>
              <a:ext uri="{FF2B5EF4-FFF2-40B4-BE49-F238E27FC236}">
                <a16:creationId xmlns:a16="http://schemas.microsoft.com/office/drawing/2014/main" id="{E9293055-D5CD-4B9E-7F64-64B2D2CA7A52}"/>
              </a:ext>
            </a:extLst>
          </p:cNvPr>
          <p:cNvCxnSpPr/>
          <p:nvPr/>
        </p:nvCxnSpPr>
        <p:spPr>
          <a:xfrm>
            <a:off x="717708" y="37435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8" name="직사각형 197"/>
          <p:cNvSpPr/>
          <p:nvPr/>
        </p:nvSpPr>
        <p:spPr>
          <a:xfrm>
            <a:off x="3838793" y="1979876"/>
            <a:ext cx="1639886" cy="10274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5856"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3898"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6701"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8794" y="25014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8794" y="30072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TextBox 205">
            <a:extLst>
              <a:ext uri="{FF2B5EF4-FFF2-40B4-BE49-F238E27FC236}">
                <a16:creationId xmlns:a16="http://schemas.microsoft.com/office/drawing/2014/main" id="{FFC49AEA-2A8F-250C-A86A-A7751D9706C3}"/>
              </a:ext>
            </a:extLst>
          </p:cNvPr>
          <p:cNvSpPr txBox="1"/>
          <p:nvPr/>
        </p:nvSpPr>
        <p:spPr>
          <a:xfrm>
            <a:off x="6074268"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5856" y="2240293"/>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환경표지</a:t>
            </a:r>
            <a:r>
              <a:rPr lang="en-US" altLang="ko-KR" sz="700" dirty="0">
                <a:latin typeface="+mn-ea"/>
              </a:rPr>
              <a:t>(GR</a:t>
            </a:r>
            <a:r>
              <a:rPr lang="ko-KR" altLang="en-US" sz="700" dirty="0" err="1">
                <a:latin typeface="+mn-ea"/>
              </a:rPr>
              <a:t>마크포함</a:t>
            </a:r>
            <a:r>
              <a:rPr lang="en-US" altLang="ko-KR" sz="700" dirty="0">
                <a:latin typeface="+mn-ea"/>
              </a:rPr>
              <a:t>) </a:t>
            </a:r>
            <a:r>
              <a:rPr lang="ko-KR" altLang="en-US" sz="700" dirty="0">
                <a:latin typeface="+mn-ea"/>
              </a:rPr>
              <a:t>인증을 받거나 환경친화기업 지정자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30842" y="229415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6472" y="25470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5856" y="2547089"/>
            <a:ext cx="1480199" cy="215444"/>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녹색기술</a:t>
            </a:r>
            <a:r>
              <a:rPr lang="en-US" altLang="ko-KR" sz="700" dirty="0">
                <a:latin typeface="+mn-ea"/>
              </a:rPr>
              <a:t>(</a:t>
            </a:r>
            <a:r>
              <a:rPr lang="ko-KR" altLang="en-US" sz="700" dirty="0">
                <a:latin typeface="+mn-ea"/>
              </a:rPr>
              <a:t>녹색사업</a:t>
            </a:r>
            <a:r>
              <a:rPr lang="en-US" altLang="ko-KR" sz="700" dirty="0">
                <a:latin typeface="+mn-ea"/>
              </a:rPr>
              <a:t>) </a:t>
            </a:r>
            <a:r>
              <a:rPr lang="ko-KR" altLang="en-US" sz="700" dirty="0">
                <a:latin typeface="+mn-ea"/>
              </a:rPr>
              <a:t>인증 및  녹색전문기업 확인서 보유자</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730842" y="260095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883913" y="155549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08770" y="1628786"/>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883913" y="173927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08770" y="1812566"/>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10062" y="181256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8794" y="28082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925856" y="2853885"/>
            <a:ext cx="1480199" cy="107722"/>
          </a:xfrm>
          <a:prstGeom prst="rect">
            <a:avLst/>
          </a:prstGeom>
          <a:noFill/>
        </p:spPr>
        <p:txBody>
          <a:bodyPr wrap="square" lIns="0" tIns="0" rIns="0" bIns="0" rtlCol="0">
            <a:spAutoFit/>
          </a:bodyPr>
          <a:lstStyle/>
          <a:p>
            <a:r>
              <a:rPr lang="en-US" altLang="ko-KR" sz="700" dirty="0">
                <a:latin typeface="+mn-ea"/>
              </a:rPr>
              <a:t>C. </a:t>
            </a:r>
            <a:r>
              <a:rPr lang="ko-KR" altLang="en-US" sz="700" dirty="0">
                <a:latin typeface="+mn-ea"/>
              </a:rPr>
              <a:t>고효율에너지기자재 </a:t>
            </a:r>
            <a:r>
              <a:rPr lang="ko-KR" altLang="en-US" sz="700" dirty="0" err="1">
                <a:latin typeface="+mn-ea"/>
              </a:rPr>
              <a:t>인증보유자</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5730842" y="28538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914929" y="306114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3914929" y="3261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4439786" y="3334669"/>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3914929" y="344516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4439786" y="3518449"/>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6041078" y="351844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253" name="직사각형 252"/>
          <p:cNvSpPr/>
          <p:nvPr/>
        </p:nvSpPr>
        <p:spPr>
          <a:xfrm>
            <a:off x="3839398" y="3679527"/>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TextBox 253">
            <a:extLst>
              <a:ext uri="{FF2B5EF4-FFF2-40B4-BE49-F238E27FC236}">
                <a16:creationId xmlns:a16="http://schemas.microsoft.com/office/drawing/2014/main" id="{FFC49AEA-2A8F-250C-A86A-A7751D9706C3}"/>
              </a:ext>
            </a:extLst>
          </p:cNvPr>
          <p:cNvSpPr txBox="1"/>
          <p:nvPr/>
        </p:nvSpPr>
        <p:spPr>
          <a:xfrm>
            <a:off x="3926461" y="367952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5654503" y="367952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6" name="직선 연결선 255">
            <a:extLst>
              <a:ext uri="{FF2B5EF4-FFF2-40B4-BE49-F238E27FC236}">
                <a16:creationId xmlns:a16="http://schemas.microsoft.com/office/drawing/2014/main" id="{E9293055-D5CD-4B9E-7F64-64B2D2CA7A52}"/>
              </a:ext>
            </a:extLst>
          </p:cNvPr>
          <p:cNvCxnSpPr/>
          <p:nvPr/>
        </p:nvCxnSpPr>
        <p:spPr>
          <a:xfrm>
            <a:off x="3836701" y="36795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8794" y="3894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8794" y="60283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6074873" y="36795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0" name="TextBox 259">
            <a:extLst>
              <a:ext uri="{FF2B5EF4-FFF2-40B4-BE49-F238E27FC236}">
                <a16:creationId xmlns:a16="http://schemas.microsoft.com/office/drawing/2014/main" id="{FFC49AEA-2A8F-250C-A86A-A7751D9706C3}"/>
              </a:ext>
            </a:extLst>
          </p:cNvPr>
          <p:cNvSpPr txBox="1"/>
          <p:nvPr/>
        </p:nvSpPr>
        <p:spPr>
          <a:xfrm>
            <a:off x="3940311" y="3943044"/>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692397" y="4481653"/>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6410927" y="49074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3" name="TextBox 262">
            <a:extLst>
              <a:ext uri="{FF2B5EF4-FFF2-40B4-BE49-F238E27FC236}">
                <a16:creationId xmlns:a16="http://schemas.microsoft.com/office/drawing/2014/main" id="{FFC49AEA-2A8F-250C-A86A-A7751D9706C3}"/>
              </a:ext>
            </a:extLst>
          </p:cNvPr>
          <p:cNvSpPr txBox="1"/>
          <p:nvPr/>
        </p:nvSpPr>
        <p:spPr>
          <a:xfrm>
            <a:off x="3940311" y="5010096"/>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43649" y="49613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5692397" y="5548705"/>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7" name="타원 9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87304045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42573563"/>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391476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139530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6183843"/>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0908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492835"/>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44040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724163"/>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550287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5786632"/>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2D46670F-21CD-4287-79F8-D2BD036F58C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49EECEDA-D67F-B719-75B2-13A6669D7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8244354"/>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16037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44412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9" name="TextBox 8">
            <a:extLst>
              <a:ext uri="{FF2B5EF4-FFF2-40B4-BE49-F238E27FC236}">
                <a16:creationId xmlns:a16="http://schemas.microsoft.com/office/drawing/2014/main" id="{ABA30327-C2C0-AF93-6B2E-F382C5DD05B8}"/>
              </a:ext>
            </a:extLst>
          </p:cNvPr>
          <p:cNvSpPr txBox="1"/>
          <p:nvPr/>
        </p:nvSpPr>
        <p:spPr>
          <a:xfrm>
            <a:off x="458117" y="3404571"/>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64C96ADD-E474-1ECB-24AE-726CFF405D80}"/>
              </a:ext>
            </a:extLst>
          </p:cNvPr>
          <p:cNvGraphicFramePr>
            <a:graphicFrameLocks noGrp="1"/>
          </p:cNvGraphicFramePr>
          <p:nvPr/>
        </p:nvGraphicFramePr>
        <p:xfrm>
          <a:off x="452999" y="3688325"/>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15" name="TextBox 14">
            <a:extLst>
              <a:ext uri="{FF2B5EF4-FFF2-40B4-BE49-F238E27FC236}">
                <a16:creationId xmlns:a16="http://schemas.microsoft.com/office/drawing/2014/main" id="{E3B7BB0D-1B3C-8763-C6EB-F96D4F0296B6}"/>
              </a:ext>
            </a:extLst>
          </p:cNvPr>
          <p:cNvSpPr txBox="1"/>
          <p:nvPr/>
        </p:nvSpPr>
        <p:spPr>
          <a:xfrm>
            <a:off x="460676" y="4790994"/>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6" name="표 15">
            <a:extLst>
              <a:ext uri="{FF2B5EF4-FFF2-40B4-BE49-F238E27FC236}">
                <a16:creationId xmlns:a16="http://schemas.microsoft.com/office/drawing/2014/main" id="{743B184E-AF4F-7A20-CCBF-2BBDE53283E7}"/>
              </a:ext>
            </a:extLst>
          </p:cNvPr>
          <p:cNvGraphicFramePr>
            <a:graphicFrameLocks noGrp="1"/>
          </p:cNvGraphicFramePr>
          <p:nvPr/>
        </p:nvGraphicFramePr>
        <p:xfrm>
          <a:off x="455558" y="5074748"/>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혁신적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혁신적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장애인기업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1241296"/>
                  </a:ext>
                </a:extLst>
              </a:tr>
            </a:tbl>
          </a:graphicData>
        </a:graphic>
      </p:graphicFrame>
      <p:sp>
        <p:nvSpPr>
          <p:cNvPr id="5" name="TextBox 4">
            <a:extLst>
              <a:ext uri="{FF2B5EF4-FFF2-40B4-BE49-F238E27FC236}">
                <a16:creationId xmlns:a16="http://schemas.microsoft.com/office/drawing/2014/main" id="{99AC2E68-4BC8-E588-F8A1-C26456BAC3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B4D115ED-0F2A-749E-0610-60D5F7788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02938381"/>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222</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8B21D49E-3738-1799-7195-340D91BFF4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9449025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04988" y="367278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853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136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여서기업지원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04988" y="476472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7647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211981"/>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+3.7~-4.2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5897143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+3.7 ~ -4.2</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Tree>
    <p:extLst>
      <p:ext uri="{BB962C8B-B14F-4D97-AF65-F5344CB8AC3E}">
        <p14:creationId xmlns:p14="http://schemas.microsoft.com/office/powerpoint/2010/main" val="1711948813"/>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81196240"/>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5531510"/>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268281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2966570"/>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373709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402085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F5D0D654-ACD3-3FEF-E2C2-BC364DE7E9D6}"/>
              </a:ext>
            </a:extLst>
          </p:cNvPr>
          <p:cNvSpPr txBox="1"/>
          <p:nvPr/>
        </p:nvSpPr>
        <p:spPr>
          <a:xfrm>
            <a:off x="465794" y="520063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4B39A103-1482-7F70-A0FC-22116D70F155}"/>
              </a:ext>
            </a:extLst>
          </p:cNvPr>
          <p:cNvGraphicFramePr>
            <a:graphicFrameLocks noGrp="1"/>
          </p:cNvGraphicFramePr>
          <p:nvPr/>
        </p:nvGraphicFramePr>
        <p:xfrm>
          <a:off x="460676" y="5484387"/>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7" name="Text Box 73">
            <a:extLst>
              <a:ext uri="{FF2B5EF4-FFF2-40B4-BE49-F238E27FC236}">
                <a16:creationId xmlns:a16="http://schemas.microsoft.com/office/drawing/2014/main" id="{C449F29D-0743-ADCF-7F8D-93330A2825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0773090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2" name="TextBox 1">
            <a:extLst>
              <a:ext uri="{FF2B5EF4-FFF2-40B4-BE49-F238E27FC236}">
                <a16:creationId xmlns:a16="http://schemas.microsoft.com/office/drawing/2014/main" id="{76DE29D7-5EBF-2A1B-D243-18A431A825C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000EBE8-C552-1A53-F315-3CE4DEBD3C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053855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229</a:t>
            </a:fld>
            <a:endParaRPr lang="ko-KR" altLang="en-US" dirty="0"/>
          </a:p>
        </p:txBody>
      </p:sp>
      <p:sp>
        <p:nvSpPr>
          <p:cNvPr id="7" name="TextBox 6">
            <a:extLst>
              <a:ext uri="{FF2B5EF4-FFF2-40B4-BE49-F238E27FC236}">
                <a16:creationId xmlns:a16="http://schemas.microsoft.com/office/drawing/2014/main" id="{7B924E74-473F-C804-E6CF-9ACB88255AA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8" name="표 7">
            <a:extLst>
              <a:ext uri="{FF2B5EF4-FFF2-40B4-BE49-F238E27FC236}">
                <a16:creationId xmlns:a16="http://schemas.microsoft.com/office/drawing/2014/main" id="{1315B6ED-D3B4-2ADA-1DD5-AF43F9C3A244}"/>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983C1BD8-B1D7-FAFF-8463-FDE47CAD1F2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9955647"/>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1725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73" name="그룹 172"/>
          <p:cNvGrpSpPr/>
          <p:nvPr/>
        </p:nvGrpSpPr>
        <p:grpSpPr>
          <a:xfrm>
            <a:off x="3821510" y="2737962"/>
            <a:ext cx="2630093" cy="1173978"/>
            <a:chOff x="701175" y="1835481"/>
            <a:chExt cx="2630093" cy="1173978"/>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30094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238781"/>
            <a:ext cx="1639886" cy="6614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238782"/>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23878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88" name="그룹 187"/>
          <p:cNvGrpSpPr/>
          <p:nvPr/>
        </p:nvGrpSpPr>
        <p:grpSpPr>
          <a:xfrm>
            <a:off x="3821510" y="4238782"/>
            <a:ext cx="2630093" cy="661496"/>
            <a:chOff x="701175" y="1835481"/>
            <a:chExt cx="2630093" cy="661496"/>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496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395166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23878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5" name="직사각형 194"/>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501189"/>
            <a:ext cx="2630093" cy="608278"/>
            <a:chOff x="701175" y="1835481"/>
            <a:chExt cx="2630093" cy="608278"/>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3919560" y="3646844"/>
            <a:ext cx="1480199" cy="215444"/>
          </a:xfrm>
          <a:prstGeom prst="rect">
            <a:avLst/>
          </a:prstGeom>
          <a:noFill/>
        </p:spPr>
        <p:txBody>
          <a:bodyPr wrap="square" lIns="0" tIns="0" rIns="0" bIns="0" rtlCol="0">
            <a:spAutoFit/>
          </a:bodyPr>
          <a:lstStyle/>
          <a:p>
            <a:r>
              <a:rPr lang="ko-KR" altLang="en-US" sz="700" dirty="0">
                <a:latin typeface="+mn-ea"/>
              </a:rPr>
              <a:t>라</a:t>
            </a:r>
            <a:r>
              <a:rPr lang="en-US" altLang="ko-KR" sz="700" dirty="0">
                <a:latin typeface="+mn-ea"/>
              </a:rPr>
              <a:t>.</a:t>
            </a:r>
            <a:r>
              <a:rPr lang="ko-KR" altLang="en-US" sz="700" dirty="0">
                <a:latin typeface="+mn-ea"/>
              </a:rPr>
              <a:t>기타</a:t>
            </a:r>
            <a:r>
              <a:rPr lang="en-US" altLang="ko-KR" sz="700" dirty="0">
                <a:latin typeface="+mn-ea"/>
              </a:rPr>
              <a:t>(</a:t>
            </a:r>
            <a:r>
              <a:rPr lang="ko-KR" altLang="en-US" sz="700" dirty="0">
                <a:latin typeface="+mn-ea"/>
              </a:rPr>
              <a:t>여성기업</a:t>
            </a:r>
            <a:r>
              <a:rPr lang="en-US" altLang="ko-KR" sz="700" dirty="0">
                <a:latin typeface="+mn-ea"/>
              </a:rPr>
              <a:t>, </a:t>
            </a:r>
            <a:r>
              <a:rPr lang="ko-KR" altLang="en-US" sz="700" dirty="0">
                <a:latin typeface="+mn-ea"/>
              </a:rPr>
              <a:t>장애인기업 및 장애인고용 우수기업 </a:t>
            </a:r>
            <a:r>
              <a:rPr lang="ko-KR" altLang="en-US" sz="700" dirty="0" err="1">
                <a:latin typeface="+mn-ea"/>
              </a:rPr>
              <a:t>지원등</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5708515" y="368306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6390176" y="36830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19560" y="4533389"/>
            <a:ext cx="1480199" cy="323165"/>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err="1">
                <a:latin typeface="+mn-ea"/>
              </a:rPr>
              <a:t>납품지연</a:t>
            </a:r>
            <a:endParaRPr lang="ko-KR" altLang="en-US" sz="700" dirty="0">
              <a:latin typeface="+mn-ea"/>
            </a:endParaRPr>
          </a:p>
          <a:p>
            <a:r>
              <a:rPr lang="ko-KR" altLang="en-US" sz="700" dirty="0">
                <a:latin typeface="+mn-ea"/>
              </a:rPr>
              <a:t>나</a:t>
            </a:r>
            <a:r>
              <a:rPr lang="en-US" altLang="ko-KR" sz="700" dirty="0">
                <a:latin typeface="+mn-ea"/>
              </a:rPr>
              <a:t>.</a:t>
            </a:r>
            <a:r>
              <a:rPr lang="ko-KR" altLang="en-US" sz="700" dirty="0">
                <a:latin typeface="+mn-ea"/>
              </a:rPr>
              <a:t>불공정 하도급거래</a:t>
            </a:r>
          </a:p>
          <a:p>
            <a:r>
              <a:rPr lang="ko-KR" altLang="en-US" sz="700" dirty="0">
                <a:latin typeface="+mn-ea"/>
              </a:rPr>
              <a:t>다</a:t>
            </a:r>
            <a:r>
              <a:rPr lang="en-US" altLang="ko-KR" sz="700" dirty="0">
                <a:latin typeface="+mn-ea"/>
              </a:rPr>
              <a:t>.</a:t>
            </a:r>
            <a:r>
              <a:rPr lang="ko-KR" altLang="en-US" sz="700" dirty="0">
                <a:latin typeface="+mn-ea"/>
              </a:rPr>
              <a:t>부정당업자 제재</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5671646" y="4569613"/>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6390176" y="4569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Tree>
    <p:extLst>
      <p:ext uri="{BB962C8B-B14F-4D97-AF65-F5344CB8AC3E}">
        <p14:creationId xmlns:p14="http://schemas.microsoft.com/office/powerpoint/2010/main" val="4096228768"/>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60" name="직사각형 259"/>
          <p:cNvSpPr/>
          <p:nvPr/>
        </p:nvSpPr>
        <p:spPr>
          <a:xfrm>
            <a:off x="3832497"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8822"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72024672"/>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 name="직사각형 269"/>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7" name="TextBox 26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04091602"/>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24529477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직사각형 185"/>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sp>
        <p:nvSpPr>
          <p:cNvPr id="67" name="타원 6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09193553"/>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3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97433">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067482"/>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35123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5147893"/>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54316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 Box 73">
            <a:extLst>
              <a:ext uri="{FF2B5EF4-FFF2-40B4-BE49-F238E27FC236}">
                <a16:creationId xmlns:a16="http://schemas.microsoft.com/office/drawing/2014/main" id="{B8D0317B-44C7-3E75-E5B9-72997111014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92163488"/>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92604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249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공동수급체 구성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소기업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4064131"/>
                  </a:ext>
                </a:extLst>
              </a:tr>
              <a:tr h="0">
                <a:tc>
                  <a:txBody>
                    <a:bodyPr/>
                    <a:lstStyle/>
                    <a:p>
                      <a:pPr latinLnBrk="1"/>
                      <a:r>
                        <a:rPr lang="ko-KR" altLang="en-US" sz="800" dirty="0">
                          <a:latin typeface="+mn-ea"/>
                          <a:ea typeface="+mn-ea"/>
                        </a:rPr>
                        <a:t>지역업체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지역업체 출자 심사평점</a:t>
                      </a:r>
                      <a:r>
                        <a:rPr lang="en-US" altLang="ko-KR" sz="800" dirty="0">
                          <a:latin typeface="+mn-ea"/>
                          <a:ea typeface="+mn-ea"/>
                        </a:rPr>
                        <a:t> </a:t>
                      </a:r>
                      <a:r>
                        <a:rPr lang="ko-KR" altLang="en-US" sz="800" dirty="0">
                          <a:latin typeface="+mn-ea"/>
                          <a:ea typeface="+mn-ea"/>
                        </a:rPr>
                        <a:t>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519322"/>
                  </a:ext>
                </a:extLst>
              </a:tr>
              <a:tr h="0">
                <a:tc>
                  <a:txBody>
                    <a:bodyPr/>
                    <a:lstStyle/>
                    <a:p>
                      <a:pPr latinLnBrk="1"/>
                      <a:r>
                        <a:rPr lang="ko-KR" altLang="en-US" sz="800" dirty="0">
                          <a:latin typeface="+mn-ea"/>
                          <a:ea typeface="+mn-ea"/>
                        </a:rPr>
                        <a:t>소기업 또는 소상공인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750504"/>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4994941"/>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6982947"/>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6125305"/>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0232807"/>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4132194"/>
                  </a:ext>
                </a:extLst>
              </a:tr>
            </a:tbl>
          </a:graphicData>
        </a:graphic>
      </p:graphicFrame>
      <p:sp>
        <p:nvSpPr>
          <p:cNvPr id="2" name="TextBox 1">
            <a:extLst>
              <a:ext uri="{FF2B5EF4-FFF2-40B4-BE49-F238E27FC236}">
                <a16:creationId xmlns:a16="http://schemas.microsoft.com/office/drawing/2014/main" id="{C78E7E9A-0EB0-6FC4-1C2F-A6EF6163BF32}"/>
              </a:ext>
            </a:extLst>
          </p:cNvPr>
          <p:cNvSpPr txBox="1"/>
          <p:nvPr/>
        </p:nvSpPr>
        <p:spPr>
          <a:xfrm>
            <a:off x="465794" y="554358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5E2BD0E-AF42-06C6-D0D9-A958375FCD26}"/>
              </a:ext>
            </a:extLst>
          </p:cNvPr>
          <p:cNvGraphicFramePr>
            <a:graphicFrameLocks noGrp="1"/>
          </p:cNvGraphicFramePr>
          <p:nvPr/>
        </p:nvGraphicFramePr>
        <p:xfrm>
          <a:off x="460676" y="5827337"/>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Box 5">
            <a:extLst>
              <a:ext uri="{FF2B5EF4-FFF2-40B4-BE49-F238E27FC236}">
                <a16:creationId xmlns:a16="http://schemas.microsoft.com/office/drawing/2014/main" id="{25AEAEF9-30D7-84ED-5FF9-A64C13BD992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C5E269D-421E-0BC2-2982-72C6F464FEC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9752598"/>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237</a:t>
            </a:fld>
            <a:endParaRPr lang="ko-KR" altLang="en-US" dirty="0"/>
          </a:p>
        </p:txBody>
      </p:sp>
      <p:sp>
        <p:nvSpPr>
          <p:cNvPr id="5" name="TextBox 4">
            <a:extLst>
              <a:ext uri="{FF2B5EF4-FFF2-40B4-BE49-F238E27FC236}">
                <a16:creationId xmlns:a16="http://schemas.microsoft.com/office/drawing/2014/main" id="{375C52DF-2333-77DE-1014-EECBC60F9F7C}"/>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AC5200E6-008B-19A5-0E8A-95E552A8367D}"/>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B5904286-4495-A437-2B7B-94E42F4AE0B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06708354"/>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60</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1008176085"/>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956702122"/>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62567598"/>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562" y="1828529"/>
            <a:ext cx="179536"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5.0</a:t>
            </a:r>
          </a:p>
          <a:p>
            <a:pPr algn="r">
              <a:lnSpc>
                <a:spcPct val="200000"/>
              </a:lnSpc>
            </a:pPr>
            <a:r>
              <a:rPr lang="en-US" altLang="ko-KR" sz="700" dirty="0">
                <a:latin typeface="+mn-ea"/>
              </a:rPr>
              <a:t>4.9</a:t>
            </a:r>
          </a:p>
          <a:p>
            <a:pPr algn="r">
              <a:lnSpc>
                <a:spcPct val="200000"/>
              </a:lnSpc>
            </a:pPr>
            <a:r>
              <a:rPr lang="en-US" altLang="ko-KR" sz="700" dirty="0">
                <a:latin typeface="+mn-ea"/>
              </a:rPr>
              <a:t>4.8</a:t>
            </a:r>
          </a:p>
          <a:p>
            <a:pPr algn="r">
              <a:lnSpc>
                <a:spcPct val="200000"/>
              </a:lnSpc>
            </a:pPr>
            <a:r>
              <a:rPr lang="en-US" altLang="ko-KR" sz="700" dirty="0">
                <a:latin typeface="+mn-ea"/>
              </a:rPr>
              <a:t>4.7</a:t>
            </a:r>
          </a:p>
          <a:p>
            <a:pPr algn="r">
              <a:lnSpc>
                <a:spcPct val="200000"/>
              </a:lnSpc>
            </a:pPr>
            <a:r>
              <a:rPr lang="en-US" altLang="ko-KR" sz="700" dirty="0">
                <a:latin typeface="+mn-ea"/>
              </a:rPr>
              <a:t>4.6</a:t>
            </a:r>
          </a:p>
          <a:p>
            <a:pPr algn="r">
              <a:lnSpc>
                <a:spcPct val="200000"/>
              </a:lnSpc>
            </a:pPr>
            <a:r>
              <a:rPr lang="en-US" altLang="ko-KR" sz="700" dirty="0">
                <a:latin typeface="+mn-ea"/>
              </a:rPr>
              <a:t>4.5</a:t>
            </a:r>
          </a:p>
          <a:p>
            <a:pPr algn="r">
              <a:lnSpc>
                <a:spcPct val="200000"/>
              </a:lnSpc>
            </a:pPr>
            <a:r>
              <a:rPr lang="en-US" altLang="ko-KR" sz="700" dirty="0">
                <a:latin typeface="+mn-ea"/>
              </a:rPr>
              <a:t>4.4</a:t>
            </a:r>
          </a:p>
          <a:p>
            <a:pPr algn="r">
              <a:lnSpc>
                <a:spcPct val="200000"/>
              </a:lnSpc>
            </a:pPr>
            <a:r>
              <a:rPr lang="en-US" altLang="ko-KR" sz="700" dirty="0">
                <a:latin typeface="+mn-ea"/>
              </a:rPr>
              <a:t>4.0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60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30297716"/>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70331035"/>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46931308"/>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97498634"/>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29464677"/>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2"/>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30"/>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4"/>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321C08F5-AF91-C3F4-1F3D-88A2A572576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05157142"/>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786381"/>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07013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54635"/>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38389"/>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456807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3623245"/>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129523"/>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2385708"/>
                  </a:ext>
                </a:extLst>
              </a:tr>
            </a:tbl>
          </a:graphicData>
        </a:graphic>
      </p:graphicFrame>
      <p:sp>
        <p:nvSpPr>
          <p:cNvPr id="2" name="TextBox 1">
            <a:extLst>
              <a:ext uri="{FF2B5EF4-FFF2-40B4-BE49-F238E27FC236}">
                <a16:creationId xmlns:a16="http://schemas.microsoft.com/office/drawing/2014/main" id="{9588777E-9D7A-8EAF-AB18-5D4676CA1A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80A701B-37E6-21A0-3712-5D7B150A4B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E548BF2E-8AE1-5322-9BD9-C779D16A54FD}"/>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136088007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248</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37210"/>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20964"/>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17703D63-C6B6-8B7B-09A1-3B94BDAF265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0B0E3A76-292E-84CC-2BF1-566C4C92574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56776892"/>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249</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extLst>
              <p:ext uri="{D42A27DB-BD31-4B8C-83A1-F6EECF244321}">
                <p14:modId xmlns:p14="http://schemas.microsoft.com/office/powerpoint/2010/main" val="282689220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153ABA90-1B64-D395-F3CD-C90267E3213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2937966"/>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55</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3241938436"/>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45278110"/>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45642304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498" y="1828529"/>
            <a:ext cx="179600"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10.0</a:t>
            </a:r>
          </a:p>
          <a:p>
            <a:pPr algn="r">
              <a:lnSpc>
                <a:spcPct val="200000"/>
              </a:lnSpc>
            </a:pPr>
            <a:r>
              <a:rPr lang="en-US" altLang="ko-KR" sz="700" dirty="0">
                <a:latin typeface="+mn-ea"/>
              </a:rPr>
              <a:t>9.8</a:t>
            </a:r>
          </a:p>
          <a:p>
            <a:pPr algn="r">
              <a:lnSpc>
                <a:spcPct val="200000"/>
              </a:lnSpc>
            </a:pPr>
            <a:r>
              <a:rPr lang="en-US" altLang="ko-KR" sz="700" dirty="0">
                <a:latin typeface="+mn-ea"/>
              </a:rPr>
              <a:t>9.6</a:t>
            </a:r>
          </a:p>
          <a:p>
            <a:pPr algn="r">
              <a:lnSpc>
                <a:spcPct val="200000"/>
              </a:lnSpc>
            </a:pPr>
            <a:r>
              <a:rPr lang="en-US" altLang="ko-KR" sz="700" dirty="0">
                <a:latin typeface="+mn-ea"/>
              </a:rPr>
              <a:t>9.4</a:t>
            </a:r>
          </a:p>
          <a:p>
            <a:pPr algn="r">
              <a:lnSpc>
                <a:spcPct val="200000"/>
              </a:lnSpc>
            </a:pPr>
            <a:r>
              <a:rPr lang="en-US" altLang="ko-KR" sz="700" dirty="0">
                <a:latin typeface="+mn-ea"/>
              </a:rPr>
              <a:t>9.2</a:t>
            </a:r>
          </a:p>
          <a:p>
            <a:pPr algn="r">
              <a:lnSpc>
                <a:spcPct val="200000"/>
              </a:lnSpc>
            </a:pPr>
            <a:r>
              <a:rPr lang="en-US" altLang="ko-KR" sz="700" dirty="0">
                <a:latin typeface="+mn-ea"/>
              </a:rPr>
              <a:t>9.0</a:t>
            </a:r>
          </a:p>
          <a:p>
            <a:pPr algn="r">
              <a:lnSpc>
                <a:spcPct val="200000"/>
              </a:lnSpc>
            </a:pPr>
            <a:r>
              <a:rPr lang="en-US" altLang="ko-KR" sz="700" dirty="0">
                <a:latin typeface="+mn-ea"/>
              </a:rPr>
              <a:t>8.8</a:t>
            </a:r>
          </a:p>
          <a:p>
            <a:pPr algn="r">
              <a:lnSpc>
                <a:spcPct val="200000"/>
              </a:lnSpc>
            </a:pPr>
            <a:r>
              <a:rPr lang="en-US" altLang="ko-KR" sz="700" dirty="0">
                <a:latin typeface="+mn-ea"/>
              </a:rPr>
              <a:t>8.0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43</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4468799"/>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TextBox 113">
            <a:extLst>
              <a:ext uri="{FF2B5EF4-FFF2-40B4-BE49-F238E27FC236}">
                <a16:creationId xmlns:a16="http://schemas.microsoft.com/office/drawing/2014/main" id="{FFC49AEA-2A8F-250C-A86A-A7751D9706C3}"/>
              </a:ext>
            </a:extLst>
          </p:cNvPr>
          <p:cNvSpPr txBox="1"/>
          <p:nvPr/>
        </p:nvSpPr>
        <p:spPr>
          <a:xfrm>
            <a:off x="3269841" y="46353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7057900"/>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49818388"/>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27722051"/>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58309546"/>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2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103197">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기술평가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686C6419-F055-89F8-75E9-4996E4CD38E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489074"/>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259</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829922"/>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11367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98176"/>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81930"/>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7596066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6306104"/>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4790291"/>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232793"/>
                  </a:ext>
                </a:extLst>
              </a:tr>
            </a:tbl>
          </a:graphicData>
        </a:graphic>
      </p:graphicFrame>
      <p:sp>
        <p:nvSpPr>
          <p:cNvPr id="2" name="TextBox 1">
            <a:extLst>
              <a:ext uri="{FF2B5EF4-FFF2-40B4-BE49-F238E27FC236}">
                <a16:creationId xmlns:a16="http://schemas.microsoft.com/office/drawing/2014/main" id="{E7F6899F-3FC2-D4E8-8759-FA30B4F3192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D7FF04B0-6879-052A-DD98-A5926F80CD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17E01645-659E-DB95-2FE3-CDAC30935126}"/>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3143643556"/>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260</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28498"/>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12252"/>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22C8BD14-7867-3C3F-9EE5-FB542F62B74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1EF2938C-334E-5E42-80DB-4E5B2176AA5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4297852"/>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261</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nvGraphicFramePr>
        <p:xfrm>
          <a:off x="455204"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6AA2F12-6CA6-D8EA-FB34-F7D405A9CB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75602772"/>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err="1">
                  <a:latin typeface="+mn-ea"/>
                </a:rPr>
                <a:t>시공경험</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자재인력</a:t>
              </a:r>
              <a:endParaRPr lang="en-US" altLang="ko-KR" sz="700" dirty="0">
                <a:latin typeface="+mn-ea"/>
              </a:endParaRPr>
            </a:p>
            <a:p>
              <a:pPr>
                <a:lnSpc>
                  <a:spcPct val="200000"/>
                </a:lnSpc>
              </a:pPr>
              <a:r>
                <a:rPr lang="ko-KR" altLang="en-US" sz="700" dirty="0">
                  <a:latin typeface="+mn-ea"/>
                </a:rPr>
                <a:t>하도급</a:t>
              </a:r>
              <a:endParaRPr lang="en-US" altLang="ko-KR" sz="700" dirty="0">
                <a:latin typeface="+mn-ea"/>
              </a:endParaRPr>
            </a:p>
            <a:p>
              <a:pPr>
                <a:lnSpc>
                  <a:spcPct val="200000"/>
                </a:lnSpc>
              </a:pPr>
              <a:r>
                <a:rPr lang="ko-KR" altLang="en-US" sz="700" dirty="0" err="1">
                  <a:latin typeface="+mn-ea"/>
                </a:rPr>
                <a:t>시공여부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29065440"/>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시공경험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시공경험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자재인력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자재인력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하도급</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하도급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시공여부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030308EC-8D41-322E-8F35-41E33A2A232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250898"/>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기술용역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기술용역일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소계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결격여부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76945305"/>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415219"/>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1" name="TextBox 30">
            <a:extLst>
              <a:ext uri="{FF2B5EF4-FFF2-40B4-BE49-F238E27FC236}">
                <a16:creationId xmlns:a16="http://schemas.microsoft.com/office/drawing/2014/main" id="{FFC49AEA-2A8F-250C-A86A-A7751D9706C3}"/>
              </a:ext>
            </a:extLst>
          </p:cNvPr>
          <p:cNvSpPr txBox="1"/>
          <p:nvPr/>
        </p:nvSpPr>
        <p:spPr>
          <a:xfrm>
            <a:off x="762145" y="344381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경영상태</a:t>
            </a:r>
            <a:endParaRPr lang="en-US" altLang="ko-KR" sz="700" dirty="0">
              <a:latin typeface="+mn-ea"/>
            </a:endParaRPr>
          </a:p>
        </p:txBody>
      </p:sp>
      <p:grpSp>
        <p:nvGrpSpPr>
          <p:cNvPr id="32" name="그룹 31"/>
          <p:cNvGrpSpPr/>
          <p:nvPr/>
        </p:nvGrpSpPr>
        <p:grpSpPr>
          <a:xfrm flipV="1">
            <a:off x="3124232" y="3557150"/>
            <a:ext cx="94010" cy="47005"/>
            <a:chOff x="6812560" y="3297172"/>
            <a:chExt cx="94010" cy="47005"/>
          </a:xfrm>
        </p:grpSpPr>
        <p:cxnSp>
          <p:nvCxnSpPr>
            <p:cNvPr id="36" name="직선 연결선 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7" name="직선 연결선 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8" name="직선 연결선 37">
            <a:extLst>
              <a:ext uri="{FF2B5EF4-FFF2-40B4-BE49-F238E27FC236}">
                <a16:creationId xmlns:a16="http://schemas.microsoft.com/office/drawing/2014/main" id="{E9293055-D5CD-4B9E-7F64-64B2D2CA7A52}"/>
              </a:ext>
            </a:extLst>
          </p:cNvPr>
          <p:cNvCxnSpPr/>
          <p:nvPr/>
        </p:nvCxnSpPr>
        <p:spPr>
          <a:xfrm>
            <a:off x="675398" y="37306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69604" y="2953256"/>
              <a:ext cx="357534"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+3 ~ 2.5</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21953" y="3840311"/>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6" name="그룹 5"/>
          <p:cNvGrpSpPr/>
          <p:nvPr/>
        </p:nvGrpSpPr>
        <p:grpSpPr>
          <a:xfrm>
            <a:off x="675400" y="1835481"/>
            <a:ext cx="2712026" cy="1587137"/>
            <a:chOff x="701175" y="1835481"/>
            <a:chExt cx="2621844" cy="1587137"/>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1175" y="3422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8" name="직사각형 77"/>
          <p:cNvSpPr/>
          <p:nvPr/>
        </p:nvSpPr>
        <p:spPr>
          <a:xfrm>
            <a:off x="718458" y="3788406"/>
            <a:ext cx="1040043" cy="2312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TextBox 78">
            <a:extLst>
              <a:ext uri="{FF2B5EF4-FFF2-40B4-BE49-F238E27FC236}">
                <a16:creationId xmlns:a16="http://schemas.microsoft.com/office/drawing/2014/main" id="{FFC49AEA-2A8F-250C-A86A-A7751D9706C3}"/>
              </a:ext>
            </a:extLst>
          </p:cNvPr>
          <p:cNvSpPr txBox="1"/>
          <p:nvPr/>
        </p:nvSpPr>
        <p:spPr>
          <a:xfrm>
            <a:off x="805521" y="3788408"/>
            <a:ext cx="948599" cy="215444"/>
          </a:xfrm>
          <a:prstGeom prst="rect">
            <a:avLst/>
          </a:prstGeom>
          <a:noFill/>
        </p:spPr>
        <p:txBody>
          <a:bodyPr wrap="square" lIns="0" tIns="0" rIns="0" bIns="0" rtlCol="0">
            <a:spAutoFit/>
          </a:bodyPr>
          <a:lstStyle/>
          <a:p>
            <a:pPr>
              <a:lnSpc>
                <a:spcPct val="200000"/>
              </a:lnSpc>
            </a:pPr>
            <a:r>
              <a:rPr lang="ko-KR" altLang="en-US" sz="700" dirty="0">
                <a:latin typeface="+mn-ea"/>
              </a:rPr>
              <a:t>평가항목</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2174490"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부채비율</a:t>
            </a:r>
            <a:endParaRPr lang="en-US" altLang="ko-KR" sz="700" dirty="0">
              <a:latin typeface="+mn-ea"/>
            </a:endParaRP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716366" y="37884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18459" y="40031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18459" y="48488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2953933"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유동비율</a:t>
            </a:r>
            <a:endParaRPr lang="en-US" altLang="ko-KR" sz="700" dirty="0">
              <a:latin typeface="+mn-ea"/>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805522" y="4052994"/>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err="1">
                <a:latin typeface="+mn-ea"/>
              </a:rPr>
              <a:t>부채총계</a:t>
            </a:r>
            <a:endParaRPr lang="en-US" altLang="ko-KR" sz="700" dirty="0">
              <a:latin typeface="+mn-ea"/>
            </a:endParaRPr>
          </a:p>
          <a:p>
            <a:r>
              <a:rPr lang="en-US" altLang="ko-KR" sz="700" dirty="0">
                <a:latin typeface="+mn-ea"/>
              </a:rPr>
              <a:t>– </a:t>
            </a:r>
            <a:r>
              <a:rPr lang="ko-KR" altLang="en-US" sz="700" dirty="0">
                <a:latin typeface="+mn-ea"/>
              </a:rPr>
              <a:t>자기자본</a:t>
            </a:r>
          </a:p>
        </p:txBody>
      </p:sp>
      <p:sp>
        <p:nvSpPr>
          <p:cNvPr id="87" name="TextBox 86">
            <a:extLst>
              <a:ext uri="{FF2B5EF4-FFF2-40B4-BE49-F238E27FC236}">
                <a16:creationId xmlns:a16="http://schemas.microsoft.com/office/drawing/2014/main" id="{FFC49AEA-2A8F-250C-A86A-A7751D9706C3}"/>
              </a:ext>
            </a:extLst>
          </p:cNvPr>
          <p:cNvSpPr txBox="1"/>
          <p:nvPr/>
        </p:nvSpPr>
        <p:spPr>
          <a:xfrm>
            <a:off x="1857096" y="4160715"/>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3276137" y="4160715"/>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8459" y="505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805522" y="4898711"/>
            <a:ext cx="952980" cy="107722"/>
          </a:xfrm>
          <a:prstGeom prst="rect">
            <a:avLst/>
          </a:prstGeom>
          <a:noFill/>
        </p:spPr>
        <p:txBody>
          <a:bodyPr wrap="square" lIns="0" tIns="0" rIns="0" bIns="0" rtlCol="0">
            <a:spAutoFit/>
          </a:bodyPr>
          <a:lstStyle/>
          <a:p>
            <a:r>
              <a:rPr lang="ko-KR" altLang="en-US" sz="700" dirty="0">
                <a:latin typeface="+mn-ea"/>
              </a:rPr>
              <a:t>해당업체 비율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326775"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3106218"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718459" y="52636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805522" y="5106127"/>
            <a:ext cx="952980" cy="107722"/>
          </a:xfrm>
          <a:prstGeom prst="rect">
            <a:avLst/>
          </a:prstGeom>
          <a:noFill/>
        </p:spPr>
        <p:txBody>
          <a:bodyPr wrap="square" lIns="0" tIns="0" rIns="0" bIns="0" rtlCol="0">
            <a:spAutoFit/>
          </a:bodyPr>
          <a:lstStyle/>
          <a:p>
            <a:r>
              <a:rPr lang="ko-KR" altLang="en-US" sz="700" dirty="0" err="1">
                <a:latin typeface="+mn-ea"/>
              </a:rPr>
              <a:t>업체평균</a:t>
            </a:r>
            <a:r>
              <a:rPr lang="ko-KR" altLang="en-US" sz="700" dirty="0">
                <a:latin typeface="+mn-ea"/>
              </a:rPr>
              <a:t> 비율</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328378" y="5106127"/>
            <a:ext cx="205185"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106218" y="5106127"/>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9" y="56865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805522" y="5313543"/>
            <a:ext cx="952980" cy="323165"/>
          </a:xfrm>
          <a:prstGeom prst="rect">
            <a:avLst/>
          </a:prstGeom>
          <a:noFill/>
        </p:spPr>
        <p:txBody>
          <a:bodyPr wrap="square" lIns="0" tIns="0" rIns="0" bIns="0" rtlCol="0">
            <a:spAutoFit/>
          </a:bodyPr>
          <a:lstStyle/>
          <a:p>
            <a:r>
              <a:rPr lang="ko-KR" altLang="en-US" sz="700" dirty="0">
                <a:latin typeface="+mn-ea"/>
              </a:rPr>
              <a:t>등급</a:t>
            </a:r>
            <a:endParaRPr lang="en-US" altLang="ko-KR" sz="700" dirty="0">
              <a:latin typeface="+mn-ea"/>
            </a:endParaRPr>
          </a:p>
          <a:p>
            <a:r>
              <a:rPr lang="en-US" altLang="ko-KR" sz="700" dirty="0">
                <a:latin typeface="+mn-ea"/>
              </a:rPr>
              <a:t>- </a:t>
            </a:r>
            <a:r>
              <a:rPr lang="ko-KR" altLang="en-US" sz="700" dirty="0">
                <a:latin typeface="+mn-ea"/>
              </a:rPr>
              <a:t>비율</a:t>
            </a:r>
            <a:r>
              <a:rPr lang="en-US" altLang="ko-KR" sz="700" dirty="0">
                <a:latin typeface="+mn-ea"/>
              </a:rPr>
              <a:t>(%)</a:t>
            </a:r>
          </a:p>
          <a:p>
            <a:r>
              <a:rPr lang="en-US" altLang="ko-KR" sz="700" dirty="0">
                <a:latin typeface="+mn-ea"/>
              </a:rPr>
              <a:t>- </a:t>
            </a:r>
            <a:r>
              <a:rPr lang="ko-KR" altLang="en-US" sz="700" dirty="0">
                <a:latin typeface="+mn-ea"/>
              </a:rPr>
              <a:t>등급</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1845566" y="5421264"/>
            <a:ext cx="687998"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36539" y="5421264"/>
            <a:ext cx="676467"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5522" y="5736402"/>
            <a:ext cx="952980"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434176"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213619"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805522" y="4475852"/>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a:latin typeface="+mn-ea"/>
              </a:rPr>
              <a:t>유동자산</a:t>
            </a:r>
            <a:endParaRPr lang="en-US" altLang="ko-KR" sz="700" dirty="0">
              <a:latin typeface="+mn-ea"/>
            </a:endParaRPr>
          </a:p>
          <a:p>
            <a:r>
              <a:rPr lang="en-US" altLang="ko-KR" sz="700" dirty="0">
                <a:latin typeface="+mn-ea"/>
              </a:rPr>
              <a:t>– </a:t>
            </a:r>
            <a:r>
              <a:rPr lang="ko-KR" altLang="en-US" sz="700" dirty="0">
                <a:latin typeface="+mn-ea"/>
              </a:rPr>
              <a:t>유동부채</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496694" y="4583573"/>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2636539" y="4583573"/>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8459" y="4426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459" y="58939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805522" y="5943813"/>
            <a:ext cx="952980" cy="107722"/>
          </a:xfrm>
          <a:prstGeom prst="rect">
            <a:avLst/>
          </a:prstGeom>
          <a:noFill/>
        </p:spPr>
        <p:txBody>
          <a:bodyPr wrap="square" lIns="0" tIns="0" rIns="0" bIns="0" rtlCol="0">
            <a:spAutoFit/>
          </a:bodyPr>
          <a:lstStyle/>
          <a:p>
            <a:r>
              <a:rPr lang="ko-KR" altLang="en-US" sz="700" dirty="0">
                <a:latin typeface="+mn-ea"/>
              </a:rPr>
              <a:t>계</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213619" y="5943813"/>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6101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5734" y="1527996"/>
            <a:ext cx="2712027" cy="1881706"/>
            <a:chOff x="675399" y="1527996"/>
            <a:chExt cx="2712027" cy="1881706"/>
          </a:xfrm>
        </p:grpSpPr>
        <p:grpSp>
          <p:nvGrpSpPr>
            <p:cNvPr id="131" name="그룹 130"/>
            <p:cNvGrpSpPr/>
            <p:nvPr/>
          </p:nvGrpSpPr>
          <p:grpSpPr>
            <a:xfrm>
              <a:off x="701175" y="1527996"/>
              <a:ext cx="2670082" cy="1815590"/>
              <a:chOff x="701175" y="1527996"/>
              <a:chExt cx="2670082" cy="1815590"/>
            </a:xfrm>
          </p:grpSpPr>
          <p:sp>
            <p:nvSpPr>
              <p:cNvPr id="132" name="TextBox 131">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endParaRPr lang="ko-KR" altLang="en-US" sz="700" dirty="0">
                  <a:latin typeface="+mn-ea"/>
                </a:endParaRPr>
              </a:p>
            </p:txBody>
          </p:sp>
          <p:grpSp>
            <p:nvGrpSpPr>
              <p:cNvPr id="133" name="그룹 132"/>
              <p:cNvGrpSpPr/>
              <p:nvPr/>
            </p:nvGrpSpPr>
            <p:grpSpPr>
              <a:xfrm flipV="1">
                <a:off x="3124233" y="1641327"/>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직사각형 133"/>
              <p:cNvSpPr/>
              <p:nvPr/>
            </p:nvSpPr>
            <p:spPr>
              <a:xfrm>
                <a:off x="703268" y="1835480"/>
                <a:ext cx="792000" cy="15031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시공실적</a:t>
                </a:r>
                <a:endParaRPr lang="en-US" altLang="ko-KR" sz="700" dirty="0">
                  <a:latin typeface="+mn-ea"/>
                </a:endParaRPr>
              </a:p>
              <a:p>
                <a:pPr>
                  <a:lnSpc>
                    <a:spcPct val="200000"/>
                  </a:lnSpc>
                </a:pPr>
                <a:r>
                  <a:rPr lang="ko-KR" altLang="en-US" sz="700" dirty="0">
                    <a:latin typeface="+mn-ea"/>
                  </a:rPr>
                  <a:t>지체상금</a:t>
                </a:r>
                <a:endParaRPr lang="en-US" altLang="ko-KR" sz="700" dirty="0">
                  <a:latin typeface="+mn-ea"/>
                </a:endParaRPr>
              </a:p>
              <a:p>
                <a:pPr>
                  <a:lnSpc>
                    <a:spcPct val="200000"/>
                  </a:lnSpc>
                </a:pPr>
                <a:r>
                  <a:rPr lang="ko-KR" altLang="en-US" sz="700" dirty="0">
                    <a:latin typeface="+mn-ea"/>
                  </a:rPr>
                  <a:t>하자보수</a:t>
                </a:r>
                <a:endParaRPr lang="en-US" altLang="ko-KR" sz="700" dirty="0">
                  <a:latin typeface="+mn-ea"/>
                </a:endParaRPr>
              </a:p>
              <a:p>
                <a:pPr>
                  <a:lnSpc>
                    <a:spcPct val="200000"/>
                  </a:lnSpc>
                </a:pPr>
                <a:r>
                  <a:rPr lang="ko-KR" altLang="en-US" sz="700" dirty="0">
                    <a:latin typeface="+mn-ea"/>
                  </a:rPr>
                  <a:t>시공평가결과</a:t>
                </a:r>
                <a:endParaRPr lang="en-US" altLang="ko-KR" sz="700" dirty="0">
                  <a:latin typeface="+mn-ea"/>
                </a:endParaRPr>
              </a:p>
              <a:p>
                <a:pPr>
                  <a:lnSpc>
                    <a:spcPct val="200000"/>
                  </a:lnSpc>
                </a:pPr>
                <a:r>
                  <a:rPr lang="ko-KR" altLang="en-US" sz="700" dirty="0">
                    <a:latin typeface="+mn-ea"/>
                  </a:rPr>
                  <a:t>우수업체지정</a:t>
                </a:r>
                <a:endParaRPr lang="en-US" altLang="ko-KR" sz="700" dirty="0">
                  <a:latin typeface="+mn-ea"/>
                </a:endParaRPr>
              </a:p>
              <a:p>
                <a:pPr>
                  <a:lnSpc>
                    <a:spcPct val="200000"/>
                  </a:lnSpc>
                </a:pPr>
                <a:r>
                  <a:rPr lang="ko-KR" altLang="en-US" sz="700" dirty="0">
                    <a:latin typeface="+mn-ea"/>
                  </a:rPr>
                  <a:t>합계</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p:txBody>
          </p:sp>
          <p:grpSp>
            <p:nvGrpSpPr>
              <p:cNvPr id="137" name="그룹 136"/>
              <p:cNvGrpSpPr/>
              <p:nvPr/>
            </p:nvGrpSpPr>
            <p:grpSpPr>
              <a:xfrm>
                <a:off x="701175" y="1835481"/>
                <a:ext cx="2670082" cy="1503180"/>
                <a:chOff x="701175" y="1835481"/>
                <a:chExt cx="2670082" cy="150318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4097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2" name="TextBox 151">
            <a:extLst>
              <a:ext uri="{FF2B5EF4-FFF2-40B4-BE49-F238E27FC236}">
                <a16:creationId xmlns:a16="http://schemas.microsoft.com/office/drawing/2014/main" id="{FFC49AEA-2A8F-250C-A86A-A7751D9706C3}"/>
              </a:ext>
            </a:extLst>
          </p:cNvPr>
          <p:cNvSpPr txBox="1"/>
          <p:nvPr/>
        </p:nvSpPr>
        <p:spPr>
          <a:xfrm>
            <a:off x="3883823" y="3440687"/>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355401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7274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3791612"/>
            <a:ext cx="792000" cy="23760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5274724"/>
            <a:ext cx="754231" cy="861774"/>
          </a:xfrm>
          <a:prstGeom prst="rect">
            <a:avLst/>
          </a:prstGeom>
          <a:noFill/>
        </p:spPr>
        <p:txBody>
          <a:bodyPr wrap="square" lIns="0" tIns="0" rIns="0" bIns="0" rtlCol="0">
            <a:spAutoFit/>
          </a:bodyPr>
          <a:lstStyle/>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ko-KR" altLang="en-US" sz="700" dirty="0" err="1">
                <a:latin typeface="+mn-ea"/>
              </a:rPr>
              <a:t>입찰률</a:t>
            </a:r>
            <a:r>
              <a:rPr lang="ko-KR" altLang="en-US" sz="700" dirty="0">
                <a:latin typeface="+mn-ea"/>
              </a:rPr>
              <a:t> </a:t>
            </a:r>
            <a:r>
              <a:rPr lang="en-US" altLang="ko-KR" sz="700" dirty="0">
                <a:latin typeface="+mn-ea"/>
              </a:rPr>
              <a:t>(%)</a:t>
            </a:r>
          </a:p>
          <a:p>
            <a:pPr>
              <a:lnSpc>
                <a:spcPct val="200000"/>
              </a:lnSpc>
            </a:pPr>
            <a:r>
              <a:rPr lang="ko-KR" altLang="en-US" sz="700" dirty="0">
                <a:latin typeface="+mn-ea"/>
              </a:rPr>
              <a:t>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5274724"/>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37916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5502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5717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5932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6167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5279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448164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3863479"/>
            <a:ext cx="1758398" cy="400110"/>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4667515" y="4407321"/>
            <a:ext cx="1772311" cy="800219"/>
          </a:xfrm>
          <a:prstGeom prst="rect">
            <a:avLst/>
          </a:prstGeom>
          <a:noFill/>
        </p:spPr>
        <p:txBody>
          <a:bodyPr wrap="square" lIns="0" tIns="0" rIns="0" bIns="0" rtlCol="0">
            <a:spAutoFit/>
          </a:bodyPr>
          <a:lstStyle/>
          <a:p>
            <a:r>
              <a:rPr lang="ko-KR" altLang="en-US" sz="650" dirty="0">
                <a:solidFill>
                  <a:srgbClr val="0070C0"/>
                </a:solidFill>
                <a:latin typeface="+mn-ea"/>
              </a:rPr>
              <a:t>* </a:t>
            </a:r>
            <a:r>
              <a:rPr lang="en-US" altLang="ko-KR" sz="650" dirty="0">
                <a:solidFill>
                  <a:srgbClr val="0070C0"/>
                </a:solidFill>
                <a:latin typeface="+mn-ea"/>
              </a:rPr>
              <a:t>2020.1.10 </a:t>
            </a:r>
            <a:r>
              <a:rPr lang="ko-KR" altLang="en-US" sz="650" dirty="0" err="1">
                <a:solidFill>
                  <a:srgbClr val="0070C0"/>
                </a:solidFill>
                <a:latin typeface="+mn-ea"/>
              </a:rPr>
              <a:t>공고건</a:t>
            </a:r>
            <a:r>
              <a:rPr lang="ko-KR" altLang="en-US" sz="650" dirty="0">
                <a:solidFill>
                  <a:srgbClr val="0070C0"/>
                </a:solidFill>
                <a:latin typeface="+mn-ea"/>
              </a:rPr>
              <a:t> 이후 산식</a:t>
            </a:r>
          </a:p>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a:t>
            </a:r>
          </a:p>
          <a:p>
            <a:r>
              <a:rPr lang="en-US" altLang="ko-KR" sz="650" dirty="0">
                <a:solidFill>
                  <a:srgbClr val="FF0000"/>
                </a:solidFill>
                <a:latin typeface="+mn-ea"/>
              </a:rPr>
              <a:t>A : </a:t>
            </a:r>
            <a:r>
              <a:rPr lang="ko-KR" altLang="en-US" sz="650" dirty="0">
                <a:solidFill>
                  <a:srgbClr val="FF0000"/>
                </a:solidFill>
                <a:latin typeface="+mn-ea"/>
              </a:rPr>
              <a:t>국민연금</a:t>
            </a:r>
            <a:r>
              <a:rPr lang="en-US" altLang="ko-KR" sz="650" dirty="0">
                <a:solidFill>
                  <a:srgbClr val="FF0000"/>
                </a:solidFill>
                <a:latin typeface="+mn-ea"/>
              </a:rPr>
              <a:t>, </a:t>
            </a:r>
            <a:r>
              <a:rPr lang="ko-KR" altLang="en-US" sz="650" dirty="0">
                <a:solidFill>
                  <a:srgbClr val="FF0000"/>
                </a:solidFill>
                <a:latin typeface="+mn-ea"/>
              </a:rPr>
              <a:t>건강보험</a:t>
            </a:r>
            <a:r>
              <a:rPr lang="en-US" altLang="ko-KR" sz="650" dirty="0">
                <a:solidFill>
                  <a:srgbClr val="FF0000"/>
                </a:solidFill>
                <a:latin typeface="+mn-ea"/>
              </a:rPr>
              <a:t>, </a:t>
            </a:r>
            <a:r>
              <a:rPr lang="ko-KR" altLang="en-US" sz="650" dirty="0">
                <a:solidFill>
                  <a:srgbClr val="FF0000"/>
                </a:solidFill>
                <a:latin typeface="+mn-ea"/>
              </a:rPr>
              <a:t>퇴직공제부금비</a:t>
            </a:r>
            <a:r>
              <a:rPr lang="en-US" altLang="ko-KR" sz="650" dirty="0">
                <a:solidFill>
                  <a:srgbClr val="FF0000"/>
                </a:solidFill>
                <a:latin typeface="+mn-ea"/>
              </a:rPr>
              <a:t>, </a:t>
            </a:r>
            <a:r>
              <a:rPr lang="ko-KR" altLang="en-US" sz="650" dirty="0">
                <a:solidFill>
                  <a:srgbClr val="FF0000"/>
                </a:solidFill>
                <a:latin typeface="+mn-ea"/>
              </a:rPr>
              <a:t>노인장기요양보험</a:t>
            </a:r>
            <a:r>
              <a:rPr lang="en-US" altLang="ko-KR" sz="650" dirty="0">
                <a:solidFill>
                  <a:srgbClr val="FF0000"/>
                </a:solidFill>
                <a:latin typeface="+mn-ea"/>
              </a:rPr>
              <a:t>, </a:t>
            </a:r>
            <a:r>
              <a:rPr lang="ko-KR" altLang="en-US" sz="650" dirty="0">
                <a:solidFill>
                  <a:srgbClr val="FF0000"/>
                </a:solidFill>
                <a:latin typeface="+mn-ea"/>
              </a:rPr>
              <a:t>산업안전보건관리비</a:t>
            </a:r>
            <a:r>
              <a:rPr lang="en-US" altLang="ko-KR" sz="650" dirty="0">
                <a:solidFill>
                  <a:srgbClr val="FF0000"/>
                </a:solidFill>
                <a:latin typeface="+mn-ea"/>
              </a:rPr>
              <a:t>, </a:t>
            </a:r>
            <a:r>
              <a:rPr lang="ko-KR" altLang="en-US" sz="650" dirty="0">
                <a:solidFill>
                  <a:srgbClr val="FF0000"/>
                </a:solidFill>
                <a:latin typeface="+mn-ea"/>
              </a:rPr>
              <a:t>안전관리비의 </a:t>
            </a:r>
            <a:r>
              <a:rPr lang="ko-KR" altLang="en-US" sz="650" dirty="0" err="1">
                <a:solidFill>
                  <a:srgbClr val="FF0000"/>
                </a:solidFill>
                <a:latin typeface="+mn-ea"/>
              </a:rPr>
              <a:t>합산액</a:t>
            </a:r>
            <a:endParaRPr lang="ko-KR" altLang="en-US" sz="650" dirty="0">
              <a:solidFill>
                <a:srgbClr val="FF0000"/>
              </a:solidFill>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4632136" y="4335455"/>
            <a:ext cx="1836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82086270"/>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 name="직사각형 218"/>
          <p:cNvSpPr/>
          <p:nvPr/>
        </p:nvSpPr>
        <p:spPr>
          <a:xfrm>
            <a:off x="3838794" y="2581098"/>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직사각형 219"/>
          <p:cNvSpPr/>
          <p:nvPr/>
        </p:nvSpPr>
        <p:spPr>
          <a:xfrm>
            <a:off x="3838794" y="413398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직사각형 216"/>
          <p:cNvSpPr/>
          <p:nvPr/>
        </p:nvSpPr>
        <p:spPr>
          <a:xfrm>
            <a:off x="722610" y="387238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직사각형 217"/>
          <p:cNvSpPr/>
          <p:nvPr/>
        </p:nvSpPr>
        <p:spPr>
          <a:xfrm>
            <a:off x="722610" y="511213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직사각형 215"/>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763578" y="310185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지체상금 </a:t>
            </a:r>
            <a:r>
              <a:rPr lang="ko-KR" altLang="en-US" sz="700" dirty="0" err="1">
                <a:latin typeface="+mn-ea"/>
              </a:rPr>
              <a:t>부과여부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1933656" y="3868857"/>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1011640"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716366" y="38688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18459" y="4083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4282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2858086"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805521" y="3550153"/>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지체상금부과일수 </a:t>
            </a:r>
            <a:r>
              <a:rPr lang="en-US" altLang="ko-KR" sz="700" dirty="0">
                <a:latin typeface="+mn-ea"/>
              </a:rPr>
              <a:t>10</a:t>
            </a:r>
            <a:r>
              <a:rPr lang="ko-KR" altLang="en-US" sz="700" dirty="0">
                <a:latin typeface="+mn-ea"/>
              </a:rPr>
              <a:t>일 미만 </a:t>
            </a:r>
            <a:r>
              <a:rPr lang="en-US" altLang="ko-KR" sz="700" dirty="0">
                <a:latin typeface="+mn-ea"/>
              </a:rPr>
              <a:t>: -0.5</a:t>
            </a:r>
            <a:r>
              <a:rPr lang="ko-KR" altLang="en-US" sz="700" dirty="0">
                <a:latin typeface="+mn-ea"/>
              </a:rPr>
              <a:t>점</a:t>
            </a:r>
          </a:p>
          <a:p>
            <a:r>
              <a:rPr lang="en-US" altLang="ko-KR" sz="700" dirty="0">
                <a:latin typeface="+mn-ea"/>
              </a:rPr>
              <a:t>B. </a:t>
            </a:r>
            <a:r>
              <a:rPr lang="ko-KR" altLang="en-US" sz="700" dirty="0">
                <a:latin typeface="+mn-ea"/>
              </a:rPr>
              <a:t>지체상금부과일수 </a:t>
            </a:r>
            <a:r>
              <a:rPr lang="en-US" altLang="ko-KR" sz="700" dirty="0">
                <a:latin typeface="+mn-ea"/>
              </a:rPr>
              <a:t>10</a:t>
            </a:r>
            <a:r>
              <a:rPr lang="ko-KR" altLang="en-US" sz="700" dirty="0">
                <a:latin typeface="+mn-ea"/>
              </a:rPr>
              <a:t>일 이상 </a:t>
            </a:r>
            <a:r>
              <a:rPr lang="en-US" altLang="ko-KR" sz="700" dirty="0">
                <a:latin typeface="+mn-ea"/>
              </a:rPr>
              <a:t>: -1</a:t>
            </a:r>
            <a:r>
              <a:rPr lang="ko-KR" altLang="en-US" sz="700" dirty="0">
                <a:latin typeface="+mn-ea"/>
              </a:rPr>
              <a:t>점</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63578" y="43417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하자보수 처리결과</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1933656" y="5108780"/>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1011640"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6366" y="51087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8459" y="53235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459" y="5522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2858086"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805521" y="4790076"/>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하자보수 통보를 받고 </a:t>
            </a:r>
            <a:r>
              <a:rPr lang="en-US" altLang="ko-KR" sz="700" dirty="0">
                <a:latin typeface="+mn-ea"/>
              </a:rPr>
              <a:t>15</a:t>
            </a:r>
            <a:r>
              <a:rPr lang="ko-KR" altLang="en-US" sz="700" dirty="0">
                <a:latin typeface="+mn-ea"/>
              </a:rPr>
              <a:t>일 이내에 착수하지 아니한 자 </a:t>
            </a:r>
            <a:r>
              <a:rPr lang="en-US" altLang="ko-KR" sz="700" dirty="0">
                <a:latin typeface="+mn-ea"/>
              </a:rPr>
              <a:t>: </a:t>
            </a:r>
          </a:p>
          <a:p>
            <a:r>
              <a:rPr lang="en-US" altLang="ko-KR" sz="700" dirty="0">
                <a:latin typeface="+mn-ea"/>
              </a:rPr>
              <a:t>-0.5</a:t>
            </a:r>
            <a:r>
              <a:rPr lang="ko-KR" altLang="en-US" sz="700" dirty="0">
                <a:latin typeface="+mn-ea"/>
              </a:rPr>
              <a:t>점</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3883913"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시공평가결과 </a:t>
            </a:r>
            <a:r>
              <a:rPr lang="en-US" altLang="ko-KR" sz="700" dirty="0">
                <a:latin typeface="+mn-ea"/>
              </a:rPr>
              <a:t>(</a:t>
            </a:r>
            <a:r>
              <a:rPr lang="ko-KR" altLang="en-US" sz="700" dirty="0">
                <a:latin typeface="+mn-ea"/>
              </a:rPr>
              <a:t>최근</a:t>
            </a:r>
            <a:r>
              <a:rPr lang="en-US" altLang="ko-KR" sz="700" dirty="0">
                <a:latin typeface="+mn-ea"/>
              </a:rPr>
              <a:t>3</a:t>
            </a:r>
            <a:r>
              <a:rPr lang="ko-KR" altLang="en-US" sz="700" dirty="0">
                <a:latin typeface="+mn-ea"/>
              </a:rPr>
              <a:t>년간</a:t>
            </a:r>
            <a:r>
              <a:rPr lang="en-US" altLang="ko-KR" sz="700" dirty="0">
                <a:latin typeface="+mn-ea"/>
              </a:rPr>
              <a:t>)</a:t>
            </a: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5053991" y="257256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131975"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25725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27873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986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5978421"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25856" y="1942223"/>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평균점수가 </a:t>
            </a:r>
            <a:r>
              <a:rPr lang="en-US" altLang="ko-KR" sz="700" dirty="0">
                <a:latin typeface="+mn-ea"/>
              </a:rPr>
              <a:t>90</a:t>
            </a:r>
            <a:r>
              <a:rPr lang="ko-KR" altLang="en-US" sz="700" dirty="0">
                <a:latin typeface="+mn-ea"/>
              </a:rPr>
              <a:t>점 </a:t>
            </a:r>
            <a:r>
              <a:rPr lang="ko-KR" altLang="en-US" sz="700" dirty="0" err="1">
                <a:latin typeface="+mn-ea"/>
              </a:rPr>
              <a:t>이상인자</a:t>
            </a:r>
            <a:r>
              <a:rPr lang="ko-KR" altLang="en-US" sz="700" dirty="0">
                <a:latin typeface="+mn-ea"/>
              </a:rPr>
              <a:t> </a:t>
            </a:r>
            <a:r>
              <a:rPr lang="en-US" altLang="ko-KR" sz="700" dirty="0">
                <a:latin typeface="+mn-ea"/>
              </a:rPr>
              <a:t>: 0.6</a:t>
            </a:r>
            <a:r>
              <a:rPr lang="ko-KR" altLang="en-US" sz="700" dirty="0">
                <a:latin typeface="+mn-ea"/>
              </a:rPr>
              <a:t>점</a:t>
            </a:r>
          </a:p>
          <a:p>
            <a:r>
              <a:rPr lang="en-US" altLang="ko-KR" sz="700" dirty="0">
                <a:latin typeface="+mn-ea"/>
              </a:rPr>
              <a:t>B. </a:t>
            </a:r>
            <a:r>
              <a:rPr lang="ko-KR" altLang="en-US" sz="700" dirty="0">
                <a:latin typeface="+mn-ea"/>
              </a:rPr>
              <a:t>평균점수가 </a:t>
            </a:r>
            <a:r>
              <a:rPr lang="en-US" altLang="ko-KR" sz="700" dirty="0">
                <a:latin typeface="+mn-ea"/>
              </a:rPr>
              <a:t>85</a:t>
            </a:r>
            <a:r>
              <a:rPr lang="ko-KR" altLang="en-US" sz="700" dirty="0">
                <a:latin typeface="+mn-ea"/>
              </a:rPr>
              <a:t>점 이상 </a:t>
            </a:r>
            <a:r>
              <a:rPr lang="en-US" altLang="ko-KR" sz="700" dirty="0">
                <a:latin typeface="+mn-ea"/>
              </a:rPr>
              <a:t>90</a:t>
            </a:r>
            <a:r>
              <a:rPr lang="ko-KR" altLang="en-US" sz="700" dirty="0">
                <a:latin typeface="+mn-ea"/>
              </a:rPr>
              <a:t>점 미만인 자 </a:t>
            </a:r>
            <a:r>
              <a:rPr lang="en-US" altLang="ko-KR" sz="700" dirty="0">
                <a:latin typeface="+mn-ea"/>
              </a:rPr>
              <a:t>: 0.4</a:t>
            </a:r>
            <a:r>
              <a:rPr lang="ko-KR" altLang="en-US" sz="700" dirty="0">
                <a:latin typeface="+mn-ea"/>
              </a:rPr>
              <a:t>점</a:t>
            </a:r>
          </a:p>
          <a:p>
            <a:r>
              <a:rPr lang="en-US" altLang="ko-KR" sz="700" dirty="0">
                <a:latin typeface="+mn-ea"/>
              </a:rPr>
              <a:t>C. </a:t>
            </a:r>
            <a:r>
              <a:rPr lang="ko-KR" altLang="en-US" sz="700" dirty="0">
                <a:latin typeface="+mn-ea"/>
              </a:rPr>
              <a:t>평균점수가 </a:t>
            </a:r>
            <a:r>
              <a:rPr lang="en-US" altLang="ko-KR" sz="700" dirty="0">
                <a:latin typeface="+mn-ea"/>
              </a:rPr>
              <a:t>80</a:t>
            </a:r>
            <a:r>
              <a:rPr lang="ko-KR" altLang="en-US" sz="700" dirty="0">
                <a:latin typeface="+mn-ea"/>
              </a:rPr>
              <a:t>점 이상 </a:t>
            </a:r>
            <a:r>
              <a:rPr lang="en-US" altLang="ko-KR" sz="700" dirty="0">
                <a:latin typeface="+mn-ea"/>
              </a:rPr>
              <a:t>85</a:t>
            </a:r>
            <a:r>
              <a:rPr lang="ko-KR" altLang="en-US" sz="700" dirty="0">
                <a:latin typeface="+mn-ea"/>
              </a:rPr>
              <a:t>점 미만인 자 </a:t>
            </a:r>
            <a:r>
              <a:rPr lang="en-US" altLang="ko-KR" sz="700" dirty="0">
                <a:latin typeface="+mn-ea"/>
              </a:rPr>
              <a:t>: 0.2</a:t>
            </a:r>
            <a:r>
              <a:rPr lang="ko-KR" altLang="en-US" sz="700" dirty="0">
                <a:latin typeface="+mn-ea"/>
              </a:rPr>
              <a:t>점</a:t>
            </a:r>
          </a:p>
          <a:p>
            <a:r>
              <a:rPr lang="en-US" altLang="ko-KR" sz="700" dirty="0">
                <a:latin typeface="+mn-ea"/>
              </a:rPr>
              <a:t>D. </a:t>
            </a:r>
            <a:r>
              <a:rPr lang="ko-KR" altLang="en-US" sz="700" dirty="0">
                <a:latin typeface="+mn-ea"/>
              </a:rPr>
              <a:t>평균점수가 </a:t>
            </a:r>
            <a:r>
              <a:rPr lang="en-US" altLang="ko-KR" sz="700" dirty="0">
                <a:latin typeface="+mn-ea"/>
              </a:rPr>
              <a:t>70</a:t>
            </a:r>
            <a:r>
              <a:rPr lang="ko-KR" altLang="en-US" sz="700" dirty="0">
                <a:latin typeface="+mn-ea"/>
              </a:rPr>
              <a:t>점 이상 </a:t>
            </a:r>
            <a:r>
              <a:rPr lang="en-US" altLang="ko-KR" sz="700" dirty="0">
                <a:latin typeface="+mn-ea"/>
              </a:rPr>
              <a:t>80</a:t>
            </a:r>
            <a:r>
              <a:rPr lang="ko-KR" altLang="en-US" sz="700" dirty="0">
                <a:latin typeface="+mn-ea"/>
              </a:rPr>
              <a:t>점 미만인 자 </a:t>
            </a:r>
            <a:r>
              <a:rPr lang="en-US" altLang="ko-KR" sz="700" dirty="0">
                <a:latin typeface="+mn-ea"/>
              </a:rPr>
              <a:t>: 0</a:t>
            </a:r>
            <a:r>
              <a:rPr lang="ko-KR" altLang="en-US" sz="700" dirty="0">
                <a:latin typeface="+mn-ea"/>
              </a:rPr>
              <a:t>점</a:t>
            </a:r>
          </a:p>
          <a:p>
            <a:r>
              <a:rPr lang="en-US" altLang="ko-KR" sz="700" dirty="0">
                <a:latin typeface="+mn-ea"/>
              </a:rPr>
              <a:t>E. </a:t>
            </a:r>
            <a:r>
              <a:rPr lang="ko-KR" altLang="en-US" sz="700" dirty="0">
                <a:latin typeface="+mn-ea"/>
              </a:rPr>
              <a:t>평균점수가 </a:t>
            </a:r>
            <a:r>
              <a:rPr lang="en-US" altLang="ko-KR" sz="700" dirty="0">
                <a:latin typeface="+mn-ea"/>
              </a:rPr>
              <a:t>70</a:t>
            </a:r>
            <a:r>
              <a:rPr lang="ko-KR" altLang="en-US" sz="700" dirty="0">
                <a:latin typeface="+mn-ea"/>
              </a:rPr>
              <a:t>점 미만인 자 </a:t>
            </a:r>
            <a:r>
              <a:rPr lang="en-US" altLang="ko-KR" sz="700" dirty="0">
                <a:latin typeface="+mn-ea"/>
              </a:rPr>
              <a:t>: -1</a:t>
            </a:r>
            <a:r>
              <a:rPr lang="ko-KR" altLang="en-US" sz="700" dirty="0">
                <a:latin typeface="+mn-ea"/>
              </a:rPr>
              <a:t>점</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3883913" y="3048686"/>
            <a:ext cx="2535669" cy="396583"/>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우수건설업자 지정</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5053991" y="4127323"/>
            <a:ext cx="179536" cy="396583"/>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4131975"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6701" y="41273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8794" y="43420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8794" y="45413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5978421"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496982"/>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장으로부터 지정 받은 자 </a:t>
            </a:r>
            <a:r>
              <a:rPr lang="en-US" altLang="ko-KR" sz="700" dirty="0">
                <a:latin typeface="+mn-ea"/>
              </a:rPr>
              <a:t>: 0.4</a:t>
            </a:r>
            <a:r>
              <a:rPr lang="ko-KR" altLang="en-US" sz="700" dirty="0">
                <a:latin typeface="+mn-ea"/>
              </a:rPr>
              <a:t>점</a:t>
            </a:r>
          </a:p>
          <a:p>
            <a:r>
              <a:rPr lang="en-US" altLang="ko-KR" sz="700" dirty="0">
                <a:latin typeface="+mn-ea"/>
              </a:rPr>
              <a:t>B.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 이외의 국가기관 또는 지방자치단체의 장으로부터 지정 받은 자 </a:t>
            </a:r>
            <a:r>
              <a:rPr lang="en-US" altLang="ko-KR" sz="700" dirty="0">
                <a:latin typeface="+mn-ea"/>
              </a:rPr>
              <a:t>: 0.2</a:t>
            </a:r>
            <a:r>
              <a:rPr lang="ko-KR" altLang="en-US" sz="700" dirty="0">
                <a:latin typeface="+mn-ea"/>
              </a:rPr>
              <a:t>점</a:t>
            </a:r>
          </a:p>
          <a:p>
            <a:r>
              <a:rPr lang="en-US" altLang="ko-KR" sz="700" dirty="0">
                <a:latin typeface="+mn-ea"/>
              </a:rPr>
              <a:t>C. </a:t>
            </a:r>
            <a:r>
              <a:rPr lang="ko-KR" altLang="en-US" sz="700" dirty="0">
                <a:latin typeface="+mn-ea"/>
              </a:rPr>
              <a:t>정부투자기관의 장으로부터 지정 받은 자 </a:t>
            </a:r>
            <a:r>
              <a:rPr lang="en-US" altLang="ko-KR" sz="700" dirty="0">
                <a:latin typeface="+mn-ea"/>
              </a:rPr>
              <a:t>: 0.1</a:t>
            </a:r>
            <a:r>
              <a:rPr lang="ko-KR" altLang="en-US" sz="700" dirty="0">
                <a:latin typeface="+mn-ea"/>
              </a:rPr>
              <a:t>점</a:t>
            </a:r>
          </a:p>
        </p:txBody>
      </p:sp>
      <p:sp>
        <p:nvSpPr>
          <p:cNvPr id="214" name="TextBox 213">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5" name="TextBox 21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62" name="타원 6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6602322"/>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215444"/>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(-10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1890587"/>
            <a:ext cx="1639886" cy="2862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189058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기술능력 평가등급 </a:t>
            </a:r>
            <a:r>
              <a:rPr lang="en-US" altLang="ko-KR" sz="700" dirty="0">
                <a:latin typeface="+mn-ea"/>
              </a:rPr>
              <a:t>(</a:t>
            </a:r>
            <a:r>
              <a:rPr lang="ko-KR" altLang="en-US" sz="700" dirty="0">
                <a:latin typeface="+mn-ea"/>
              </a:rPr>
              <a:t>건설업 등록기준</a:t>
            </a:r>
            <a:r>
              <a:rPr lang="en-US" altLang="ko-KR" sz="700" dirty="0">
                <a:latin typeface="+mn-ea"/>
              </a:rPr>
              <a:t>)</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18905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105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4753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18905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151647"/>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건축공사업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33753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2" name="직선 연결선 61">
            <a:extLst>
              <a:ext uri="{FF2B5EF4-FFF2-40B4-BE49-F238E27FC236}">
                <a16:creationId xmlns:a16="http://schemas.microsoft.com/office/drawing/2014/main" id="{E9293055-D5CD-4B9E-7F64-64B2D2CA7A52}"/>
              </a:ext>
            </a:extLst>
          </p:cNvPr>
          <p:cNvCxnSpPr/>
          <p:nvPr/>
        </p:nvCxnSpPr>
        <p:spPr>
          <a:xfrm>
            <a:off x="718459" y="2844296"/>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6" name="TextBox 65">
            <a:extLst>
              <a:ext uri="{FF2B5EF4-FFF2-40B4-BE49-F238E27FC236}">
                <a16:creationId xmlns:a16="http://schemas.microsoft.com/office/drawing/2014/main" id="{FFC49AEA-2A8F-250C-A86A-A7751D9706C3}"/>
              </a:ext>
            </a:extLst>
          </p:cNvPr>
          <p:cNvSpPr txBox="1"/>
          <p:nvPr/>
        </p:nvSpPr>
        <p:spPr>
          <a:xfrm>
            <a:off x="805522" y="2890614"/>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토목공사업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6</a:t>
            </a:r>
            <a:r>
              <a:rPr lang="ko-KR" altLang="en-US" sz="700" dirty="0">
                <a:latin typeface="+mn-ea"/>
              </a:rPr>
              <a:t>인 이상</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718459" y="3583263"/>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8" name="TextBox 67">
            <a:extLst>
              <a:ext uri="{FF2B5EF4-FFF2-40B4-BE49-F238E27FC236}">
                <a16:creationId xmlns:a16="http://schemas.microsoft.com/office/drawing/2014/main" id="{FFC49AEA-2A8F-250C-A86A-A7751D9706C3}"/>
              </a:ext>
            </a:extLst>
          </p:cNvPr>
          <p:cNvSpPr txBox="1"/>
          <p:nvPr/>
        </p:nvSpPr>
        <p:spPr>
          <a:xfrm>
            <a:off x="805522" y="3629581"/>
            <a:ext cx="1480198" cy="1077218"/>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a:latin typeface="+mn-ea"/>
              </a:rPr>
              <a:t>토목건축공사업</a:t>
            </a:r>
          </a:p>
          <a:p>
            <a:endParaRPr lang="en-US" altLang="ko-KR" sz="700" dirty="0">
              <a:latin typeface="+mn-ea"/>
            </a:endParaRPr>
          </a:p>
          <a:p>
            <a:r>
              <a:rPr lang="en-US" altLang="ko-KR" sz="700" dirty="0">
                <a:latin typeface="+mn-ea"/>
              </a:rPr>
              <a:t>1.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a:p>
            <a:r>
              <a:rPr lang="en-US" altLang="ko-KR" sz="700" dirty="0">
                <a:latin typeface="+mn-ea"/>
              </a:rPr>
              <a:t>2.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5</a:t>
            </a:r>
            <a:r>
              <a:rPr lang="ko-KR" altLang="en-US" sz="700" dirty="0">
                <a:latin typeface="+mn-ea"/>
              </a:rPr>
              <a:t>인 이상</a:t>
            </a:r>
          </a:p>
        </p:txBody>
      </p:sp>
      <p:sp>
        <p:nvSpPr>
          <p:cNvPr id="26" name="타원 2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85455100"/>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부채총계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tlbltAmt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부채총계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자기자본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eqcptlAmt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a:t>
                      </a:r>
                      <a:r>
                        <a:rPr lang="ko-KR" altLang="en-US" sz="800" dirty="0" err="1">
                          <a:latin typeface="+mn-ea"/>
                          <a:ea typeface="+mn-ea"/>
                        </a:rPr>
                        <a:t>부채비율</a:t>
                      </a:r>
                      <a:r>
                        <a:rPr lang="ko-KR" altLang="en-US" sz="800" dirty="0">
                          <a:latin typeface="+mn-ea"/>
                          <a:ea typeface="+mn-ea"/>
                        </a:rPr>
                        <a:t> 자기자본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유동자산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crastAmt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유동자산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유동부채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crlblAmt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유동부채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0672615"/>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362446"/>
                  </a:ext>
                </a:extLst>
              </a:tr>
              <a:tr h="0">
                <a:tc>
                  <a:txBody>
                    <a:bodyPr/>
                    <a:lstStyle/>
                    <a:p>
                      <a:pPr latinLnBrk="1"/>
                      <a:r>
                        <a:rPr lang="ko-KR" altLang="en-US" sz="800" dirty="0">
                          <a:latin typeface="+mn-ea"/>
                          <a:ea typeface="+mn-ea"/>
                        </a:rPr>
                        <a:t>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853367"/>
                  </a:ext>
                </a:extLst>
              </a:tr>
            </a:tbl>
          </a:graphicData>
        </a:graphic>
      </p:graphicFrame>
      <p:sp>
        <p:nvSpPr>
          <p:cNvPr id="5" name="Text Box 73">
            <a:extLst>
              <a:ext uri="{FF2B5EF4-FFF2-40B4-BE49-F238E27FC236}">
                <a16:creationId xmlns:a16="http://schemas.microsoft.com/office/drawing/2014/main" id="{56B39E34-BE27-82D8-5BF7-77AA0C9E46C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3477291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2430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특별 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지체상금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하자보수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시공평가결과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우수업체지정</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우수업체지정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267465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958413"/>
          <a:ext cx="8993242"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7" name="TextBox 6">
            <a:extLst>
              <a:ext uri="{FF2B5EF4-FFF2-40B4-BE49-F238E27FC236}">
                <a16:creationId xmlns:a16="http://schemas.microsoft.com/office/drawing/2014/main" id="{E271BBCA-F7D6-837F-35D5-F8B3BE0BA4A4}"/>
              </a:ext>
            </a:extLst>
          </p:cNvPr>
          <p:cNvSpPr txBox="1"/>
          <p:nvPr/>
        </p:nvSpPr>
        <p:spPr>
          <a:xfrm>
            <a:off x="458117" y="4067938"/>
            <a:ext cx="2885974"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D97C224-1090-C2F5-2972-97F170A94955}"/>
              </a:ext>
            </a:extLst>
          </p:cNvPr>
          <p:cNvGraphicFramePr>
            <a:graphicFrameLocks noGrp="1"/>
          </p:cNvGraphicFramePr>
          <p:nvPr/>
        </p:nvGraphicFramePr>
        <p:xfrm>
          <a:off x="452999" y="4351692"/>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lqdmgDayCnt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68357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844170"/>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8180497"/>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4130366"/>
                  </a:ext>
                </a:extLst>
              </a:tr>
            </a:tbl>
          </a:graphicData>
        </a:graphic>
      </p:graphicFrame>
      <p:sp>
        <p:nvSpPr>
          <p:cNvPr id="2" name="TextBox 1">
            <a:extLst>
              <a:ext uri="{FF2B5EF4-FFF2-40B4-BE49-F238E27FC236}">
                <a16:creationId xmlns:a16="http://schemas.microsoft.com/office/drawing/2014/main" id="{32D647F8-2999-8650-541F-CBB04BB040E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2CFDCCA-1C9F-9FA2-A00A-D12DCC937D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420281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271</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등급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A88EFD12-BBE8-3D84-0ED8-DF1E9B7E4A79}"/>
              </a:ext>
            </a:extLst>
          </p:cNvPr>
          <p:cNvSpPr txBox="1"/>
          <p:nvPr/>
        </p:nvSpPr>
        <p:spPr>
          <a:xfrm>
            <a:off x="460676" y="2709488"/>
            <a:ext cx="358328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D7B7287-4EE4-E0C9-8130-6F4BD62D8643}"/>
              </a:ext>
            </a:extLst>
          </p:cNvPr>
          <p:cNvGraphicFramePr>
            <a:graphicFrameLocks noGrp="1"/>
          </p:cNvGraphicFramePr>
          <p:nvPr/>
        </p:nvGraphicFramePr>
        <p:xfrm>
          <a:off x="455558" y="2993242"/>
          <a:ext cx="8993242"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기타 당해 공사수행 관련 결격여부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당해 공사수행 관련 결격여부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F70E1FD4-840C-55A4-803C-DC02E642D6F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DAFB187A-F50F-EE0C-8EF3-0055844CF1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65840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272</a:t>
            </a:fld>
            <a:endParaRPr lang="ko-KR" altLang="en-US" dirty="0"/>
          </a:p>
        </p:txBody>
      </p:sp>
      <p:sp>
        <p:nvSpPr>
          <p:cNvPr id="9" name="TextBox 8">
            <a:extLst>
              <a:ext uri="{FF2B5EF4-FFF2-40B4-BE49-F238E27FC236}">
                <a16:creationId xmlns:a16="http://schemas.microsoft.com/office/drawing/2014/main" id="{EA6EFC45-14C8-402B-98EA-6EF920BDEC7D}"/>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FA74296B-B0BD-4E10-4485-2DDC0EC97EB2}"/>
              </a:ext>
            </a:extLst>
          </p:cNvPr>
          <p:cNvGraphicFramePr>
            <a:graphicFrameLocks noGrp="1"/>
          </p:cNvGraphicFramePr>
          <p:nvPr>
            <p:extLst>
              <p:ext uri="{D42A27DB-BD31-4B8C-83A1-F6EECF244321}">
                <p14:modId xmlns:p14="http://schemas.microsoft.com/office/powerpoint/2010/main" val="656588065"/>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64B4B8AB-3290-A2BE-A130-4DEC1008175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123690"/>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658822" y="2953256"/>
              <a:ext cx="168316"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2.0</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-25.0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78058" y="3840311"/>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675400" y="34226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1627197"/>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7076" y="3457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sp>
        <p:nvSpPr>
          <p:cNvPr id="148" name="직사각형 147"/>
          <p:cNvSpPr/>
          <p:nvPr/>
        </p:nvSpPr>
        <p:spPr>
          <a:xfrm>
            <a:off x="718458" y="4035587"/>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TextBox 156">
            <a:extLst>
              <a:ext uri="{FF2B5EF4-FFF2-40B4-BE49-F238E27FC236}">
                <a16:creationId xmlns:a16="http://schemas.microsoft.com/office/drawing/2014/main" id="{FFC49AEA-2A8F-250C-A86A-A7751D9706C3}"/>
              </a:ext>
            </a:extLst>
          </p:cNvPr>
          <p:cNvSpPr txBox="1"/>
          <p:nvPr/>
        </p:nvSpPr>
        <p:spPr>
          <a:xfrm>
            <a:off x="805521" y="40355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533563"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6366" y="40355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18459" y="4250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8459" y="4469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77337" y="374847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133470"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676741" y="4784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763487" y="451057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762146" y="3450434"/>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85" name="그룹 184"/>
          <p:cNvGrpSpPr/>
          <p:nvPr/>
        </p:nvGrpSpPr>
        <p:grpSpPr>
          <a:xfrm flipV="1">
            <a:off x="3124233" y="3563765"/>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88" name="직선 연결선 187">
            <a:extLst>
              <a:ext uri="{FF2B5EF4-FFF2-40B4-BE49-F238E27FC236}">
                <a16:creationId xmlns:a16="http://schemas.microsoft.com/office/drawing/2014/main" id="{E9293055-D5CD-4B9E-7F64-64B2D2CA7A52}"/>
              </a:ext>
            </a:extLst>
          </p:cNvPr>
          <p:cNvCxnSpPr/>
          <p:nvPr/>
        </p:nvCxnSpPr>
        <p:spPr>
          <a:xfrm>
            <a:off x="675400" y="372454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 name="그룹 7"/>
          <p:cNvGrpSpPr/>
          <p:nvPr/>
        </p:nvGrpSpPr>
        <p:grpSpPr>
          <a:xfrm>
            <a:off x="3795735" y="3476383"/>
            <a:ext cx="2712026" cy="1537585"/>
            <a:chOff x="675400" y="1527996"/>
            <a:chExt cx="2712026" cy="1537585"/>
          </a:xfrm>
        </p:grpSpPr>
        <p:sp>
          <p:nvSpPr>
            <p:cNvPr id="189" name="직사각형 188"/>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191" name="그룹 190"/>
            <p:cNvGrpSpPr/>
            <p:nvPr/>
          </p:nvGrpSpPr>
          <p:grpSpPr>
            <a:xfrm flipV="1">
              <a:off x="3124233" y="164132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4" name="직선 연결선 193">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grpSp>
    </p:spTree>
    <p:extLst>
      <p:ext uri="{BB962C8B-B14F-4D97-AF65-F5344CB8AC3E}">
        <p14:creationId xmlns:p14="http://schemas.microsoft.com/office/powerpoint/2010/main" val="2068563473"/>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181140"/>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(-20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2097494"/>
            <a:ext cx="1639886" cy="9483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209749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097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312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58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209749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358553"/>
            <a:ext cx="1480198" cy="646331"/>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 계약 어렵다고 판단되는 경우</a:t>
            </a:r>
          </a:p>
          <a:p>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판결을 받은 경우에는 제외</a:t>
            </a:r>
            <a:r>
              <a:rPr lang="en-US" altLang="ko-KR" sz="700" dirty="0">
                <a:latin typeface="+mn-ea"/>
              </a:rPr>
              <a:t>)</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26278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 name="TextBox 25">
            <a:extLst>
              <a:ext uri="{FF2B5EF4-FFF2-40B4-BE49-F238E27FC236}">
                <a16:creationId xmlns:a16="http://schemas.microsoft.com/office/drawing/2014/main" id="{FFC49AEA-2A8F-250C-A86A-A7751D9706C3}"/>
              </a:ext>
            </a:extLst>
          </p:cNvPr>
          <p:cNvSpPr txBox="1"/>
          <p:nvPr/>
        </p:nvSpPr>
        <p:spPr>
          <a:xfrm>
            <a:off x="810790" y="187806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당해용역</a:t>
            </a:r>
            <a:r>
              <a:rPr lang="ko-KR" altLang="en-US" sz="700" dirty="0">
                <a:latin typeface="+mn-ea"/>
              </a:rPr>
              <a:t> 수행능력결격</a:t>
            </a:r>
          </a:p>
        </p:txBody>
      </p:sp>
      <p:cxnSp>
        <p:nvCxnSpPr>
          <p:cNvPr id="27" name="직선 연결선 26">
            <a:extLst>
              <a:ext uri="{FF2B5EF4-FFF2-40B4-BE49-F238E27FC236}">
                <a16:creationId xmlns:a16="http://schemas.microsoft.com/office/drawing/2014/main" id="{E9293055-D5CD-4B9E-7F64-64B2D2CA7A52}"/>
              </a:ext>
            </a:extLst>
          </p:cNvPr>
          <p:cNvCxnSpPr/>
          <p:nvPr/>
        </p:nvCxnSpPr>
        <p:spPr>
          <a:xfrm>
            <a:off x="675400" y="313032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01740557"/>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bl>
          </a:graphicData>
        </a:graphic>
      </p:graphicFrame>
      <p:sp>
        <p:nvSpPr>
          <p:cNvPr id="5" name="TextBox 4">
            <a:extLst>
              <a:ext uri="{FF2B5EF4-FFF2-40B4-BE49-F238E27FC236}">
                <a16:creationId xmlns:a16="http://schemas.microsoft.com/office/drawing/2014/main" id="{36A07937-B446-FFF6-4732-0DB8F4AC39E0}"/>
              </a:ext>
            </a:extLst>
          </p:cNvPr>
          <p:cNvSpPr txBox="1"/>
          <p:nvPr/>
        </p:nvSpPr>
        <p:spPr>
          <a:xfrm>
            <a:off x="460676" y="3667432"/>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F9DAD4E-A2DC-8B84-04E3-D1030F108327}"/>
              </a:ext>
            </a:extLst>
          </p:cNvPr>
          <p:cNvGraphicFramePr>
            <a:graphicFrameLocks noGrp="1"/>
          </p:cNvGraphicFramePr>
          <p:nvPr/>
        </p:nvGraphicFramePr>
        <p:xfrm>
          <a:off x="455558" y="3951186"/>
          <a:ext cx="8993242"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5C7CDE5-2BC7-407A-E706-A4D246F60DFD}"/>
              </a:ext>
            </a:extLst>
          </p:cNvPr>
          <p:cNvSpPr txBox="1"/>
          <p:nvPr/>
        </p:nvSpPr>
        <p:spPr>
          <a:xfrm>
            <a:off x="467435" y="5257605"/>
            <a:ext cx="288597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2CF15CF-E1E7-852B-B086-07FA30E753DD}"/>
              </a:ext>
            </a:extLst>
          </p:cNvPr>
          <p:cNvGraphicFramePr>
            <a:graphicFrameLocks noGrp="1"/>
          </p:cNvGraphicFramePr>
          <p:nvPr/>
        </p:nvGraphicFramePr>
        <p:xfrm>
          <a:off x="462317" y="5541359"/>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12" name="Text Box 73">
            <a:extLst>
              <a:ext uri="{FF2B5EF4-FFF2-40B4-BE49-F238E27FC236}">
                <a16:creationId xmlns:a16="http://schemas.microsoft.com/office/drawing/2014/main" id="{D95D9E26-190A-2FC7-6DB5-A841F76E728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52197507"/>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58328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AC3EB013-CC1A-FCEA-3D0B-D3016FA806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E09A670-B9B4-8061-7435-EE0944483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91907579"/>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277</a:t>
            </a:fld>
            <a:endParaRPr lang="ko-KR" altLang="en-US" dirty="0"/>
          </a:p>
        </p:txBody>
      </p:sp>
      <p:sp>
        <p:nvSpPr>
          <p:cNvPr id="12" name="TextBox 11">
            <a:extLst>
              <a:ext uri="{FF2B5EF4-FFF2-40B4-BE49-F238E27FC236}">
                <a16:creationId xmlns:a16="http://schemas.microsoft.com/office/drawing/2014/main" id="{EB25AED5-74F7-0C53-F2FA-FF50A9F0BDE4}"/>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E74D3AE3-A8D1-7BB9-2F41-73DC099C9611}"/>
              </a:ext>
            </a:extLst>
          </p:cNvPr>
          <p:cNvGraphicFramePr>
            <a:graphicFrameLocks noGrp="1"/>
          </p:cNvGraphicFramePr>
          <p:nvPr>
            <p:extLst>
              <p:ext uri="{D42A27DB-BD31-4B8C-83A1-F6EECF244321}">
                <p14:modId xmlns:p14="http://schemas.microsoft.com/office/powerpoint/2010/main" val="392333055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78B6709-A527-CF91-FC1B-F9B8AFB1DC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51211188"/>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9" name="직사각형 38"/>
          <p:cNvSpPr/>
          <p:nvPr/>
        </p:nvSpPr>
        <p:spPr>
          <a:xfrm>
            <a:off x="718458" y="1896436"/>
            <a:ext cx="1639886" cy="1869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805521" y="189643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2533563"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716366" y="18964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18459" y="2111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718459" y="309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3133470"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805521" y="2186386"/>
            <a:ext cx="1480199" cy="861774"/>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err="1">
                <a:latin typeface="+mn-ea"/>
              </a:rPr>
              <a:t>이행능력</a:t>
            </a:r>
            <a:endParaRPr lang="en-US" altLang="ko-KR" sz="700" dirty="0">
              <a:latin typeface="+mn-ea"/>
            </a:endParaRPr>
          </a:p>
          <a:p>
            <a:r>
              <a:rPr lang="en-US" altLang="ko-KR" sz="700" dirty="0">
                <a:latin typeface="+mn-ea"/>
              </a:rPr>
              <a:t>    - </a:t>
            </a:r>
            <a:r>
              <a:rPr lang="ko-KR" altLang="en-US" sz="700" dirty="0">
                <a:latin typeface="+mn-ea"/>
              </a:rPr>
              <a:t>이행실적</a:t>
            </a:r>
            <a:endParaRPr lang="en-US" altLang="ko-KR" sz="700" dirty="0">
              <a:latin typeface="+mn-ea"/>
            </a:endParaRPr>
          </a:p>
          <a:p>
            <a:r>
              <a:rPr lang="en-US" altLang="ko-KR" sz="700" dirty="0">
                <a:latin typeface="+mn-ea"/>
              </a:rPr>
              <a:t>    - </a:t>
            </a:r>
            <a:r>
              <a:rPr lang="ko-KR" altLang="en-US" sz="700" dirty="0">
                <a:latin typeface="+mn-ea"/>
              </a:rPr>
              <a:t>기술능력</a:t>
            </a:r>
            <a:endParaRPr lang="en-US" altLang="ko-KR" sz="700" dirty="0">
              <a:latin typeface="+mn-ea"/>
            </a:endParaRPr>
          </a:p>
          <a:p>
            <a:r>
              <a:rPr lang="en-US" altLang="ko-KR" sz="700" dirty="0">
                <a:latin typeface="+mn-ea"/>
              </a:rPr>
              <a:t>    - </a:t>
            </a:r>
            <a:r>
              <a:rPr lang="ko-KR" altLang="en-US" sz="700" dirty="0">
                <a:latin typeface="+mn-ea"/>
              </a:rPr>
              <a:t>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2450143" y="2401829"/>
            <a:ext cx="262956" cy="646331"/>
          </a:xfrm>
          <a:prstGeom prst="rect">
            <a:avLst/>
          </a:prstGeom>
          <a:noFill/>
        </p:spPr>
        <p:txBody>
          <a:bodyPr wrap="none" lIns="0" tIns="0" rIns="0" bIns="0" rtlCol="0">
            <a:spAutoFit/>
          </a:bodyPr>
          <a:lstStyle/>
          <a:p>
            <a:pPr algn="r"/>
            <a:r>
              <a:rPr lang="en-US" altLang="ko-KR" sz="700" dirty="0">
                <a:latin typeface="+mn-ea"/>
              </a:rPr>
              <a:t>8.0</a:t>
            </a:r>
          </a:p>
          <a:p>
            <a:pPr algn="r"/>
            <a:r>
              <a:rPr lang="en-US" altLang="ko-KR" sz="700" dirty="0">
                <a:latin typeface="+mn-ea"/>
              </a:rPr>
              <a:t>4.0</a:t>
            </a:r>
          </a:p>
          <a:p>
            <a:pPr algn="r"/>
            <a:r>
              <a:rPr lang="en-US" altLang="ko-KR" sz="700" dirty="0">
                <a:latin typeface="+mn-ea"/>
              </a:rPr>
              <a:t>8.0</a:t>
            </a:r>
          </a:p>
          <a:p>
            <a:pPr algn="r"/>
            <a:r>
              <a:rPr lang="en-US" altLang="ko-KR" sz="700" dirty="0">
                <a:latin typeface="+mn-ea"/>
              </a:rPr>
              <a:t>10.0</a:t>
            </a:r>
          </a:p>
          <a:p>
            <a:pPr algn="r"/>
            <a:r>
              <a:rPr lang="en-US" altLang="ko-KR" sz="700" dirty="0">
                <a:latin typeface="+mn-ea"/>
              </a:rPr>
              <a:t>0 ~ -6</a:t>
            </a:r>
          </a:p>
          <a:p>
            <a:pPr algn="r"/>
            <a:r>
              <a:rPr lang="en-US" altLang="ko-KR" sz="700" dirty="0">
                <a:latin typeface="+mn-ea"/>
              </a:rPr>
              <a:t>30.0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6" y="2401829"/>
            <a:ext cx="36870" cy="646331"/>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718459" y="33119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805521" y="3148722"/>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2544783" y="3148722"/>
            <a:ext cx="168316" cy="107722"/>
          </a:xfrm>
          <a:prstGeom prst="rect">
            <a:avLst/>
          </a:prstGeom>
          <a:noFill/>
        </p:spPr>
        <p:txBody>
          <a:bodyPr wrap="none" lIns="0" tIns="0" rIns="0" bIns="0" rtlCol="0">
            <a:spAutoFit/>
          </a:bodyPr>
          <a:lstStyle/>
          <a:p>
            <a:pPr algn="r"/>
            <a:r>
              <a:rPr lang="en-US" altLang="ko-KR" sz="700" dirty="0">
                <a:latin typeface="+mn-ea"/>
              </a:rPr>
              <a:t>70.0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3276137" y="31487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718459" y="35375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05521" y="3374376"/>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2507914" y="3374376"/>
            <a:ext cx="205185" cy="107722"/>
          </a:xfrm>
          <a:prstGeom prst="rect">
            <a:avLst/>
          </a:prstGeom>
          <a:noFill/>
        </p:spPr>
        <p:txBody>
          <a:bodyPr wrap="none" lIns="0" tIns="0" rIns="0" bIns="0" rtlCol="0">
            <a:spAutoFit/>
          </a:bodyPr>
          <a:lstStyle/>
          <a:p>
            <a:pPr algn="r"/>
            <a:r>
              <a:rPr lang="en-US" altLang="ko-KR" sz="700" dirty="0">
                <a:latin typeface="+mn-ea"/>
              </a:rPr>
              <a:t>-45.0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3276137" y="33743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718459" y="3759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805521" y="3595868"/>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2564019" y="3595868"/>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3276137" y="35958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762146" y="382845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4113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3789297" y="149392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210122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8" y="21012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평가요소</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830263" y="21012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356" y="2315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28626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당해 </a:t>
            </a:r>
            <a:r>
              <a:rPr lang="ko-KR" altLang="en-US" sz="700" dirty="0" err="1">
                <a:latin typeface="+mn-ea"/>
              </a:rPr>
              <a:t>용역금액</a:t>
            </a:r>
            <a:r>
              <a:rPr lang="ko-KR" altLang="en-US" sz="700" dirty="0">
                <a:latin typeface="+mn-ea"/>
              </a:rPr>
              <a:t> 대비 최근 </a:t>
            </a:r>
            <a:r>
              <a:rPr lang="en-US" altLang="ko-KR" sz="700" dirty="0">
                <a:latin typeface="+mn-ea"/>
              </a:rPr>
              <a:t>3</a:t>
            </a:r>
            <a:r>
              <a:rPr lang="ko-KR" altLang="en-US" sz="700" dirty="0">
                <a:latin typeface="+mn-ea"/>
              </a:rPr>
              <a:t>년간 용역 </a:t>
            </a:r>
            <a:r>
              <a:rPr lang="ko-KR" altLang="en-US" sz="700" dirty="0" err="1">
                <a:latin typeface="+mn-ea"/>
              </a:rPr>
              <a:t>수행금액</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6247367" y="21012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876043" y="1525097"/>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이행실적</a:t>
            </a:r>
            <a:r>
              <a:rPr lang="en-US" altLang="ko-KR" sz="700" dirty="0">
                <a:latin typeface="+mn-ea"/>
              </a:rPr>
              <a:t>(8</a:t>
            </a:r>
            <a:r>
              <a:rPr lang="ko-KR" altLang="en-US" sz="700" dirty="0">
                <a:latin typeface="+mn-ea"/>
              </a:rPr>
              <a:t>점</a:t>
            </a:r>
            <a:r>
              <a:rPr lang="en-US" altLang="ko-KR" sz="700" dirty="0">
                <a:latin typeface="+mn-ea"/>
              </a:rPr>
              <a:t>)</a:t>
            </a:r>
          </a:p>
        </p:txBody>
      </p:sp>
      <p:grpSp>
        <p:nvGrpSpPr>
          <p:cNvPr id="106" name="그룹 105"/>
          <p:cNvGrpSpPr/>
          <p:nvPr/>
        </p:nvGrpSpPr>
        <p:grpSpPr>
          <a:xfrm flipV="1">
            <a:off x="6238130" y="1638428"/>
            <a:ext cx="94010" cy="47005"/>
            <a:chOff x="6812560" y="3297172"/>
            <a:chExt cx="94010" cy="47005"/>
          </a:xfrm>
        </p:grpSpPr>
        <p:cxnSp>
          <p:nvCxnSpPr>
            <p:cNvPr id="107" name="직선 연결선 1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3789297" y="179921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TextBox 115">
            <a:extLst>
              <a:ext uri="{FF2B5EF4-FFF2-40B4-BE49-F238E27FC236}">
                <a16:creationId xmlns:a16="http://schemas.microsoft.com/office/drawing/2014/main" id="{FFC49AEA-2A8F-250C-A86A-A7751D9706C3}"/>
              </a:ext>
            </a:extLst>
          </p:cNvPr>
          <p:cNvSpPr txBox="1"/>
          <p:nvPr/>
        </p:nvSpPr>
        <p:spPr>
          <a:xfrm>
            <a:off x="3919418" y="2377777"/>
            <a:ext cx="1480199" cy="430887"/>
          </a:xfrm>
          <a:prstGeom prst="rect">
            <a:avLst/>
          </a:prstGeom>
          <a:noFill/>
        </p:spPr>
        <p:txBody>
          <a:bodyPr wrap="square" lIns="0" tIns="0" rIns="0" bIns="0" rtlCol="0">
            <a:spAutoFit/>
          </a:bodyPr>
          <a:lstStyle/>
          <a:p>
            <a:r>
              <a:rPr lang="ko-KR" altLang="en-US" sz="700" dirty="0">
                <a:latin typeface="+mn-ea"/>
              </a:rPr>
              <a:t>수집</a:t>
            </a:r>
            <a:r>
              <a:rPr lang="en-US" altLang="ko-KR" sz="700" dirty="0">
                <a:latin typeface="+mn-ea"/>
              </a:rPr>
              <a:t>/</a:t>
            </a:r>
            <a:r>
              <a:rPr lang="ko-KR" altLang="en-US" sz="700" dirty="0">
                <a:latin typeface="+mn-ea"/>
              </a:rPr>
              <a:t>운반</a:t>
            </a: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308280" y="2485499"/>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2356" y="34156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9418" y="2930751"/>
            <a:ext cx="1480199" cy="430887"/>
          </a:xfrm>
          <a:prstGeom prst="rect">
            <a:avLst/>
          </a:prstGeom>
          <a:noFill/>
        </p:spPr>
        <p:txBody>
          <a:bodyPr wrap="square" lIns="0" tIns="0" rIns="0" bIns="0" rtlCol="0">
            <a:spAutoFit/>
          </a:bodyPr>
          <a:lstStyle/>
          <a:p>
            <a:r>
              <a:rPr lang="ko-KR" altLang="en-US" sz="700" dirty="0">
                <a:latin typeface="+mn-ea"/>
              </a:rPr>
              <a:t>중간처리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6308280" y="3038473"/>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832356" y="39696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3919418" y="3484768"/>
            <a:ext cx="1480199" cy="430887"/>
          </a:xfrm>
          <a:prstGeom prst="rect">
            <a:avLst/>
          </a:prstGeom>
          <a:noFill/>
        </p:spPr>
        <p:txBody>
          <a:bodyPr wrap="square" lIns="0" tIns="0" rIns="0" bIns="0" rtlCol="0">
            <a:spAutoFit/>
          </a:bodyPr>
          <a:lstStyle/>
          <a:p>
            <a:r>
              <a:rPr lang="ko-KR" altLang="en-US" sz="700" dirty="0" err="1">
                <a:latin typeface="+mn-ea"/>
              </a:rPr>
              <a:t>최종처리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6308280" y="3592490"/>
            <a:ext cx="118623"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131" name="그룹 130"/>
          <p:cNvGrpSpPr/>
          <p:nvPr/>
        </p:nvGrpSpPr>
        <p:grpSpPr>
          <a:xfrm flipV="1">
            <a:off x="6238130" y="4200590"/>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934694612"/>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6366" y="1491157"/>
            <a:ext cx="2630093" cy="1546463"/>
            <a:chOff x="686517" y="1856764"/>
            <a:chExt cx="2630093" cy="1546463"/>
          </a:xfrm>
        </p:grpSpPr>
        <p:sp>
          <p:nvSpPr>
            <p:cNvPr id="80" name="TextBox 79">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81" name="직사각형 80"/>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3" name="그룹 92"/>
          <p:cNvGrpSpPr/>
          <p:nvPr/>
        </p:nvGrpSpPr>
        <p:grpSpPr>
          <a:xfrm>
            <a:off x="716366" y="3089881"/>
            <a:ext cx="2630093" cy="1546463"/>
            <a:chOff x="686517" y="1856764"/>
            <a:chExt cx="2630093" cy="1546463"/>
          </a:xfrm>
        </p:grpSpPr>
        <p:sp>
          <p:nvSpPr>
            <p:cNvPr id="97" name="TextBox 96">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03" name="직사각형 102"/>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2-1. </a:t>
            </a:r>
            <a:r>
              <a:rPr lang="ko-KR" altLang="en-US" sz="700" dirty="0">
                <a:latin typeface="+mn-ea"/>
              </a:rPr>
              <a:t>기술능력</a:t>
            </a:r>
            <a:r>
              <a:rPr lang="en-US" altLang="ko-KR" sz="700" dirty="0">
                <a:latin typeface="+mn-ea"/>
              </a:rPr>
              <a:t>/</a:t>
            </a:r>
            <a:r>
              <a:rPr lang="ko-KR" altLang="en-US" sz="700" dirty="0">
                <a:latin typeface="+mn-ea"/>
              </a:rPr>
              <a:t>수행능력</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직사각형 185"/>
          <p:cNvSpPr/>
          <p:nvPr/>
        </p:nvSpPr>
        <p:spPr>
          <a:xfrm>
            <a:off x="3832355" y="2099610"/>
            <a:ext cx="1639886" cy="5299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418" y="209961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460"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263" y="20996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356" y="2314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6247367"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19418" y="2369538"/>
            <a:ext cx="1480199" cy="215444"/>
          </a:xfrm>
          <a:prstGeom prst="rect">
            <a:avLst/>
          </a:prstGeom>
          <a:noFill/>
        </p:spPr>
        <p:txBody>
          <a:bodyPr wrap="square" lIns="0" tIns="0" rIns="0" bIns="0" rtlCol="0">
            <a:spAutoFit/>
          </a:bodyPr>
          <a:lstStyle/>
          <a:p>
            <a:r>
              <a:rPr lang="ko-KR" altLang="en-US" sz="700" dirty="0">
                <a:latin typeface="+mn-ea"/>
              </a:rPr>
              <a:t>법정 요건 충족 </a:t>
            </a:r>
            <a:r>
              <a:rPr lang="en-US" altLang="ko-KR" sz="700" dirty="0">
                <a:latin typeface="+mn-ea"/>
              </a:rPr>
              <a:t>: 4</a:t>
            </a:r>
          </a:p>
          <a:p>
            <a:r>
              <a:rPr lang="ko-KR" altLang="en-US" sz="700" dirty="0">
                <a:latin typeface="+mn-ea"/>
              </a:rPr>
              <a:t>법정 요건 </a:t>
            </a:r>
            <a:r>
              <a:rPr lang="ko-KR" altLang="en-US" sz="700" dirty="0" err="1">
                <a:latin typeface="+mn-ea"/>
              </a:rPr>
              <a:t>미충족</a:t>
            </a:r>
            <a:r>
              <a:rPr lang="ko-KR" altLang="en-US" sz="700" dirty="0">
                <a:latin typeface="+mn-ea"/>
              </a:rPr>
              <a:t> </a:t>
            </a:r>
            <a:r>
              <a:rPr lang="en-US" altLang="ko-KR" sz="700" dirty="0">
                <a:latin typeface="+mn-ea"/>
              </a:rPr>
              <a:t>: 0.2</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5708373" y="2423399"/>
            <a:ext cx="118623" cy="107722"/>
          </a:xfrm>
          <a:prstGeom prst="rect">
            <a:avLst/>
          </a:prstGeom>
          <a:noFill/>
        </p:spPr>
        <p:txBody>
          <a:bodyPr wrap="none" lIns="0" tIns="0" rIns="0" bIns="0" rtlCol="0">
            <a:spAutoFit/>
          </a:bodyPr>
          <a:lstStyle/>
          <a:p>
            <a:pPr algn="r"/>
            <a:r>
              <a:rPr lang="en-US" altLang="ko-KR" sz="700" dirty="0">
                <a:latin typeface="+mn-ea"/>
              </a:rPr>
              <a:t>4.0</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390033" y="2423399"/>
            <a:ext cx="36870"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기술인력</a:t>
            </a:r>
            <a:r>
              <a:rPr lang="en-US" altLang="ko-KR" sz="700" dirty="0">
                <a:latin typeface="+mn-ea"/>
              </a:rPr>
              <a:t>,</a:t>
            </a:r>
            <a:r>
              <a:rPr lang="ko-KR" altLang="en-US" sz="700" dirty="0">
                <a:latin typeface="+mn-ea"/>
              </a:rPr>
              <a:t>시설</a:t>
            </a:r>
            <a:r>
              <a:rPr lang="en-US" altLang="ko-KR" sz="700" dirty="0">
                <a:latin typeface="+mn-ea"/>
              </a:rPr>
              <a:t>,</a:t>
            </a:r>
            <a:r>
              <a:rPr lang="ko-KR" altLang="en-US" sz="700" dirty="0">
                <a:latin typeface="+mn-ea"/>
              </a:rPr>
              <a:t>장비 확보</a:t>
            </a:r>
            <a:r>
              <a:rPr lang="en-US" altLang="ko-KR" sz="700" dirty="0">
                <a:latin typeface="+mn-ea"/>
              </a:rPr>
              <a:t>(4)</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2356" y="26295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직사각형 215"/>
          <p:cNvSpPr/>
          <p:nvPr/>
        </p:nvSpPr>
        <p:spPr>
          <a:xfrm>
            <a:off x="3832355" y="2949627"/>
            <a:ext cx="1639886" cy="27034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3919418" y="29496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47460"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0263" y="29496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2356" y="31643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6247367"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3919418" y="3207258"/>
            <a:ext cx="1480199" cy="538609"/>
          </a:xfrm>
          <a:prstGeom prst="rect">
            <a:avLst/>
          </a:prstGeom>
          <a:noFill/>
        </p:spPr>
        <p:txBody>
          <a:bodyPr wrap="square" lIns="0" tIns="0" rIns="0" bIns="0" rtlCol="0">
            <a:spAutoFit/>
          </a:bodyPr>
          <a:lstStyle/>
          <a:p>
            <a:r>
              <a:rPr lang="ko-KR" altLang="en-US" sz="700" dirty="0" err="1">
                <a:latin typeface="+mn-ea"/>
              </a:rPr>
              <a:t>수집운반차량총적재량대비당해용역</a:t>
            </a:r>
            <a:r>
              <a:rPr lang="en-US" altLang="ko-KR" sz="700" dirty="0">
                <a:latin typeface="+mn-ea"/>
              </a:rPr>
              <a:t>1</a:t>
            </a:r>
            <a:r>
              <a:rPr lang="ko-KR" altLang="en-US" sz="700" dirty="0">
                <a:latin typeface="+mn-ea"/>
              </a:rPr>
              <a:t>일평균처리물량</a:t>
            </a:r>
            <a:r>
              <a:rPr lang="en-US" altLang="ko-KR" sz="700" dirty="0">
                <a:latin typeface="+mn-ea"/>
              </a:rPr>
              <a:t>(2)</a:t>
            </a:r>
          </a:p>
          <a:p>
            <a:r>
              <a:rPr lang="en-US" altLang="ko-KR" sz="700" dirty="0">
                <a:latin typeface="+mn-ea"/>
              </a:rPr>
              <a:t>- A) 100%</a:t>
            </a:r>
            <a:r>
              <a:rPr lang="ko-KR" altLang="en-US" sz="700" dirty="0">
                <a:latin typeface="+mn-ea"/>
              </a:rPr>
              <a:t>이상</a:t>
            </a:r>
          </a:p>
          <a:p>
            <a:r>
              <a:rPr lang="en-US" altLang="ko-KR" sz="700" dirty="0">
                <a:latin typeface="+mn-ea"/>
              </a:rPr>
              <a:t>-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50%</a:t>
            </a:r>
            <a:r>
              <a:rPr lang="ko-KR" altLang="en-US" sz="700" dirty="0">
                <a:latin typeface="+mn-ea"/>
              </a:rPr>
              <a:t>미만</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5708309" y="3422702"/>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6389970" y="3422702"/>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891234" y="2673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당해용역</a:t>
            </a:r>
            <a:r>
              <a:rPr lang="ko-KR" altLang="en-US" sz="700" dirty="0">
                <a:latin typeface="+mn-ea"/>
              </a:rPr>
              <a:t> </a:t>
            </a:r>
            <a:r>
              <a:rPr lang="ko-KR" altLang="en-US" sz="700" dirty="0" err="1">
                <a:latin typeface="+mn-ea"/>
              </a:rPr>
              <a:t>이행능력</a:t>
            </a:r>
            <a:r>
              <a:rPr lang="en-US" altLang="ko-KR" sz="700" dirty="0">
                <a:latin typeface="+mn-ea"/>
              </a:rPr>
              <a:t>(8)</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2356" y="37887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919418" y="3831645"/>
            <a:ext cx="1480199" cy="646331"/>
          </a:xfrm>
          <a:prstGeom prst="rect">
            <a:avLst/>
          </a:prstGeom>
          <a:noFill/>
        </p:spPr>
        <p:txBody>
          <a:bodyPr wrap="square" lIns="0" tIns="0" rIns="0" bIns="0" rtlCol="0">
            <a:spAutoFit/>
          </a:bodyPr>
          <a:lstStyle/>
          <a:p>
            <a:r>
              <a:rPr lang="ko-KR" altLang="en-US" sz="700" dirty="0">
                <a:latin typeface="+mn-ea"/>
              </a:rPr>
              <a:t>중간재활용처리</a:t>
            </a:r>
            <a:r>
              <a:rPr lang="en-US" altLang="ko-KR" sz="700" dirty="0">
                <a:latin typeface="+mn-ea"/>
              </a:rPr>
              <a:t>(4)</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50%</a:t>
            </a:r>
            <a:r>
              <a:rPr lang="ko-KR" altLang="en-US" sz="700" dirty="0">
                <a:latin typeface="+mn-ea"/>
              </a:rPr>
              <a:t>미만</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08309" y="4154811"/>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9" name="TextBox 228">
            <a:extLst>
              <a:ext uri="{FF2B5EF4-FFF2-40B4-BE49-F238E27FC236}">
                <a16:creationId xmlns:a16="http://schemas.microsoft.com/office/drawing/2014/main" id="{FFC49AEA-2A8F-250C-A86A-A7751D9706C3}"/>
              </a:ext>
            </a:extLst>
          </p:cNvPr>
          <p:cNvSpPr txBox="1"/>
          <p:nvPr/>
        </p:nvSpPr>
        <p:spPr>
          <a:xfrm>
            <a:off x="6389970" y="4154811"/>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3919418" y="4563754"/>
            <a:ext cx="1480199" cy="323165"/>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순환골재 품질인증</a:t>
            </a:r>
            <a:r>
              <a:rPr lang="en-US" altLang="ko-KR" sz="700" dirty="0">
                <a:latin typeface="+mn-ea"/>
              </a:rPr>
              <a:t>(2)</a:t>
            </a:r>
          </a:p>
          <a:p>
            <a:r>
              <a:rPr lang="en-US" altLang="ko-KR" sz="700" dirty="0">
                <a:latin typeface="+mn-ea"/>
              </a:rPr>
              <a:t>    - A) </a:t>
            </a:r>
            <a:r>
              <a:rPr lang="ko-KR" altLang="en-US" sz="700" dirty="0">
                <a:latin typeface="+mn-ea"/>
              </a:rPr>
              <a:t>품질인증</a:t>
            </a:r>
          </a:p>
          <a:p>
            <a:r>
              <a:rPr lang="en-US" altLang="ko-KR" sz="700" dirty="0">
                <a:latin typeface="+mn-ea"/>
              </a:rPr>
              <a:t>    - B) </a:t>
            </a:r>
            <a:r>
              <a:rPr lang="ko-KR" altLang="en-US" sz="700" dirty="0" err="1">
                <a:latin typeface="+mn-ea"/>
              </a:rPr>
              <a:t>기본배점</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708309" y="4671475"/>
            <a:ext cx="118687" cy="215444"/>
          </a:xfrm>
          <a:prstGeom prst="rect">
            <a:avLst/>
          </a:prstGeom>
          <a:noFill/>
        </p:spPr>
        <p:txBody>
          <a:bodyPr wrap="none" lIns="0" tIns="0" rIns="0" bIns="0" rtlCol="0">
            <a:spAutoFit/>
          </a:bodyPr>
          <a:lstStyle/>
          <a:p>
            <a:pPr algn="r"/>
            <a:r>
              <a:rPr lang="en-US" altLang="ko-KR" sz="700" dirty="0">
                <a:latin typeface="+mn-ea"/>
              </a:rPr>
              <a:t>0.2</a:t>
            </a:r>
          </a:p>
          <a:p>
            <a:pPr algn="r"/>
            <a:r>
              <a:rPr lang="en-US" altLang="ko-KR" sz="700" dirty="0">
                <a:latin typeface="+mn-ea"/>
              </a:rPr>
              <a:t>1.8</a:t>
            </a:r>
            <a:endParaRPr lang="ko-KR" altLang="en-US" sz="700" dirty="0">
              <a:latin typeface="+mn-ea"/>
            </a:endParaRPr>
          </a:p>
        </p:txBody>
      </p:sp>
      <p:sp>
        <p:nvSpPr>
          <p:cNvPr id="233" name="TextBox 232">
            <a:extLst>
              <a:ext uri="{FF2B5EF4-FFF2-40B4-BE49-F238E27FC236}">
                <a16:creationId xmlns:a16="http://schemas.microsoft.com/office/drawing/2014/main" id="{FFC49AEA-2A8F-250C-A86A-A7751D9706C3}"/>
              </a:ext>
            </a:extLst>
          </p:cNvPr>
          <p:cNvSpPr txBox="1"/>
          <p:nvPr/>
        </p:nvSpPr>
        <p:spPr>
          <a:xfrm>
            <a:off x="6390033" y="4671475"/>
            <a:ext cx="36870"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832356" y="49209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3919418" y="4963837"/>
            <a:ext cx="1480199" cy="646331"/>
          </a:xfrm>
          <a:prstGeom prst="rect">
            <a:avLst/>
          </a:prstGeom>
          <a:noFill/>
        </p:spPr>
        <p:txBody>
          <a:bodyPr wrap="square" lIns="0" tIns="0" rIns="0" bIns="0" rtlCol="0">
            <a:spAutoFit/>
          </a:bodyPr>
          <a:lstStyle/>
          <a:p>
            <a:r>
              <a:rPr lang="ko-KR" altLang="en-US" sz="700" dirty="0" err="1">
                <a:latin typeface="+mn-ea"/>
              </a:rPr>
              <a:t>최종처리</a:t>
            </a:r>
            <a:r>
              <a:rPr lang="en-US" altLang="ko-KR" sz="700" dirty="0">
                <a:latin typeface="+mn-ea"/>
              </a:rPr>
              <a:t>(2)</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80%</a:t>
            </a:r>
            <a:r>
              <a:rPr lang="ko-KR" altLang="en-US" sz="700" dirty="0">
                <a:latin typeface="+mn-ea"/>
              </a:rPr>
              <a:t>미만</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708374" y="5287003"/>
            <a:ext cx="118622"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6389970" y="5287003"/>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2356" y="565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타원 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930401905"/>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1493927"/>
            <a:ext cx="2712026" cy="1875672"/>
            <a:chOff x="3789297" y="4056089"/>
            <a:chExt cx="2712026" cy="1875672"/>
          </a:xfrm>
        </p:grpSpPr>
        <p:cxnSp>
          <p:nvCxnSpPr>
            <p:cNvPr id="75" name="직선 연결선 74">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TextBox 75">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78" name="그룹 77"/>
            <p:cNvGrpSpPr/>
            <p:nvPr/>
          </p:nvGrpSpPr>
          <p:grpSpPr>
            <a:xfrm flipV="1">
              <a:off x="6238130" y="4200590"/>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0" name="직선 연결선 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9" name="TextBox 98">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7" name="그룹 106"/>
          <p:cNvGrpSpPr/>
          <p:nvPr/>
        </p:nvGrpSpPr>
        <p:grpSpPr>
          <a:xfrm>
            <a:off x="716366" y="3486214"/>
            <a:ext cx="2630093" cy="1546463"/>
            <a:chOff x="686517" y="1856764"/>
            <a:chExt cx="2630093" cy="1546463"/>
          </a:xfrm>
        </p:grpSpPr>
        <p:sp>
          <p:nvSpPr>
            <p:cNvPr id="108" name="TextBox 107">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109" name="직사각형 108"/>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3" name="그룹 122"/>
          <p:cNvGrpSpPr/>
          <p:nvPr/>
        </p:nvGrpSpPr>
        <p:grpSpPr>
          <a:xfrm>
            <a:off x="3830263" y="1493927"/>
            <a:ext cx="2630093" cy="1546463"/>
            <a:chOff x="686517" y="1856764"/>
            <a:chExt cx="2630093" cy="1546463"/>
          </a:xfrm>
        </p:grpSpPr>
        <p:sp>
          <p:nvSpPr>
            <p:cNvPr id="124" name="TextBox 123">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25" name="직사각형 124"/>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9" name="그룹 138"/>
          <p:cNvGrpSpPr/>
          <p:nvPr/>
        </p:nvGrpSpPr>
        <p:grpSpPr>
          <a:xfrm>
            <a:off x="3787956" y="3125829"/>
            <a:ext cx="2713368" cy="1361524"/>
            <a:chOff x="675400" y="4950731"/>
            <a:chExt cx="2713368" cy="1361524"/>
          </a:xfrm>
        </p:grpSpPr>
        <p:cxnSp>
          <p:nvCxnSpPr>
            <p:cNvPr id="140" name="직선 연결선 139">
              <a:extLst>
                <a:ext uri="{FF2B5EF4-FFF2-40B4-BE49-F238E27FC236}">
                  <a16:creationId xmlns:a16="http://schemas.microsoft.com/office/drawing/2014/main" id="{E9293055-D5CD-4B9E-7F64-64B2D2CA7A52}"/>
                </a:ext>
              </a:extLst>
            </p:cNvPr>
            <p:cNvCxnSpPr/>
            <p:nvPr/>
          </p:nvCxnSpPr>
          <p:spPr>
            <a:xfrm>
              <a:off x="675400" y="495073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직사각형 140"/>
            <p:cNvSpPr/>
            <p:nvPr/>
          </p:nvSpPr>
          <p:spPr>
            <a:xfrm>
              <a:off x="718458" y="5563700"/>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5521" y="5563701"/>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3563"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55637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5778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59980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777337" y="527658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133470"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676741" y="63122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763487" y="603869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762146" y="4978547"/>
              <a:ext cx="1598477" cy="215444"/>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52" name="그룹 151"/>
            <p:cNvGrpSpPr/>
            <p:nvPr/>
          </p:nvGrpSpPr>
          <p:grpSpPr>
            <a:xfrm flipV="1">
              <a:off x="3124233" y="509187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3" name="직선 연결선 152">
              <a:extLst>
                <a:ext uri="{FF2B5EF4-FFF2-40B4-BE49-F238E27FC236}">
                  <a16:creationId xmlns:a16="http://schemas.microsoft.com/office/drawing/2014/main" id="{E9293055-D5CD-4B9E-7F64-64B2D2CA7A52}"/>
                </a:ext>
              </a:extLst>
            </p:cNvPr>
            <p:cNvCxnSpPr/>
            <p:nvPr/>
          </p:nvCxnSpPr>
          <p:spPr>
            <a:xfrm>
              <a:off x="675400" y="525266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1" name="타원 7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69497817"/>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5399" y="1513866"/>
            <a:ext cx="2712027" cy="1879154"/>
            <a:chOff x="3797076" y="1513866"/>
            <a:chExt cx="2712027" cy="1879154"/>
          </a:xfrm>
        </p:grpSpPr>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입찰가격점수</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직사각형 164"/>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70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grpSp>
      <p:sp>
        <p:nvSpPr>
          <p:cNvPr id="75" name="직사각형 74"/>
          <p:cNvSpPr/>
          <p:nvPr/>
        </p:nvSpPr>
        <p:spPr>
          <a:xfrm>
            <a:off x="722609" y="458585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762145" y="3489731"/>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5.</a:t>
            </a:r>
            <a:r>
              <a:rPr lang="ko-KR" altLang="en-US" sz="700" dirty="0">
                <a:latin typeface="+mn-ea"/>
              </a:rPr>
              <a:t>신인도</a:t>
            </a:r>
            <a:r>
              <a:rPr lang="en-US" altLang="ko-KR" sz="700" dirty="0">
                <a:latin typeface="+mn-ea"/>
              </a:rPr>
              <a:t>(0~6</a:t>
            </a:r>
            <a:r>
              <a:rPr lang="ko-KR" altLang="en-US" sz="700" dirty="0">
                <a:latin typeface="+mn-ea"/>
              </a:rPr>
              <a:t>점</a:t>
            </a:r>
            <a:r>
              <a:rPr lang="en-US" altLang="ko-KR" sz="700" dirty="0">
                <a:latin typeface="+mn-ea"/>
              </a:rPr>
              <a:t>)</a:t>
            </a:r>
          </a:p>
        </p:txBody>
      </p:sp>
      <p:grpSp>
        <p:nvGrpSpPr>
          <p:cNvPr id="77" name="그룹 76"/>
          <p:cNvGrpSpPr/>
          <p:nvPr/>
        </p:nvGrpSpPr>
        <p:grpSpPr>
          <a:xfrm flipV="1">
            <a:off x="3124232" y="3589714"/>
            <a:ext cx="94010" cy="47005"/>
            <a:chOff x="6812560" y="3297172"/>
            <a:chExt cx="94010" cy="47005"/>
          </a:xfrm>
        </p:grpSpPr>
        <p:cxnSp>
          <p:nvCxnSpPr>
            <p:cNvPr id="100" name="직선 연결선 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1" name="직선 연결선 1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8" name="직선 연결선 77">
            <a:extLst>
              <a:ext uri="{FF2B5EF4-FFF2-40B4-BE49-F238E27FC236}">
                <a16:creationId xmlns:a16="http://schemas.microsoft.com/office/drawing/2014/main" id="{E9293055-D5CD-4B9E-7F64-64B2D2CA7A52}"/>
              </a:ext>
            </a:extLst>
          </p:cNvPr>
          <p:cNvCxnSpPr/>
          <p:nvPr/>
        </p:nvCxnSpPr>
        <p:spPr>
          <a:xfrm>
            <a:off x="675399" y="378386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763577" y="381608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부정적 처리 가능성</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1843886" y="4569733"/>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011639"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-3.0</a:t>
            </a:r>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716365" y="45830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18458" y="4797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8458" y="49970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2858085"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99" name="TextBox 98">
            <a:extLst>
              <a:ext uri="{FF2B5EF4-FFF2-40B4-BE49-F238E27FC236}">
                <a16:creationId xmlns:a16="http://schemas.microsoft.com/office/drawing/2014/main" id="{FFC49AEA-2A8F-250C-A86A-A7751D9706C3}"/>
              </a:ext>
            </a:extLst>
          </p:cNvPr>
          <p:cNvSpPr txBox="1"/>
          <p:nvPr/>
        </p:nvSpPr>
        <p:spPr>
          <a:xfrm>
            <a:off x="805520" y="4264377"/>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2</a:t>
            </a:r>
            <a:r>
              <a:rPr lang="ko-KR" altLang="en-US" sz="700" dirty="0">
                <a:latin typeface="+mn-ea"/>
              </a:rPr>
              <a:t>년 내 사업장폐기물을 버리거나 매립하여 벌금형 이상을 받은 자나 행정처분을 받은 자</a:t>
            </a:r>
            <a:r>
              <a:rPr lang="en-US" altLang="ko-KR" sz="700" dirty="0">
                <a:latin typeface="+mn-ea"/>
              </a:rPr>
              <a:t>(</a:t>
            </a:r>
            <a:r>
              <a:rPr lang="ko-KR" altLang="en-US" sz="700" dirty="0">
                <a:latin typeface="+mn-ea"/>
              </a:rPr>
              <a:t>폐기물관리법 제</a:t>
            </a:r>
            <a:r>
              <a:rPr lang="en-US" altLang="ko-KR" sz="700" dirty="0">
                <a:latin typeface="+mn-ea"/>
              </a:rPr>
              <a:t>7</a:t>
            </a:r>
            <a:r>
              <a:rPr lang="ko-KR" altLang="en-US" sz="700" dirty="0">
                <a:latin typeface="+mn-ea"/>
              </a:rPr>
              <a:t>조 위반</a:t>
            </a:r>
            <a:r>
              <a:rPr lang="en-US" altLang="ko-KR" sz="700" dirty="0">
                <a:latin typeface="+mn-ea"/>
              </a:rPr>
              <a:t>)</a:t>
            </a:r>
          </a:p>
        </p:txBody>
      </p:sp>
      <p:sp>
        <p:nvSpPr>
          <p:cNvPr id="102" name="직사각형 101"/>
          <p:cNvSpPr/>
          <p:nvPr/>
        </p:nvSpPr>
        <p:spPr>
          <a:xfrm>
            <a:off x="722609" y="557176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763577" y="501392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1843886" y="555564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1011639"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-2.0</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716365" y="55689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18458" y="5783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8" y="5982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2858085"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805520" y="5250286"/>
            <a:ext cx="2507485"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2</a:t>
            </a:r>
            <a:r>
              <a:rPr lang="ko-KR" altLang="en-US" sz="700" dirty="0">
                <a:latin typeface="+mn-ea"/>
              </a:rPr>
              <a:t>년 내 건설폐기물관리법령 규정에 의한 영업정지 </a:t>
            </a:r>
            <a:r>
              <a:rPr lang="en-US" altLang="ko-KR" sz="700" dirty="0">
                <a:latin typeface="+mn-ea"/>
              </a:rPr>
              <a:t>3</a:t>
            </a:r>
            <a:r>
              <a:rPr lang="ko-KR" altLang="en-US" sz="700" dirty="0">
                <a:latin typeface="+mn-ea"/>
              </a:rPr>
              <a:t>월 이상 또는 </a:t>
            </a:r>
            <a:r>
              <a:rPr lang="en-US" altLang="ko-KR" sz="700" dirty="0">
                <a:latin typeface="+mn-ea"/>
              </a:rPr>
              <a:t>5</a:t>
            </a:r>
            <a:r>
              <a:rPr lang="ko-KR" altLang="en-US" sz="700" dirty="0">
                <a:latin typeface="+mn-ea"/>
              </a:rPr>
              <a:t>천만원 이상 과징금 처분을 받은 자 </a:t>
            </a:r>
          </a:p>
        </p:txBody>
      </p:sp>
      <p:grpSp>
        <p:nvGrpSpPr>
          <p:cNvPr id="6" name="그룹 5"/>
          <p:cNvGrpSpPr/>
          <p:nvPr/>
        </p:nvGrpSpPr>
        <p:grpSpPr>
          <a:xfrm>
            <a:off x="3830264" y="1493927"/>
            <a:ext cx="2630093" cy="969059"/>
            <a:chOff x="3886219" y="1776747"/>
            <a:chExt cx="2630093" cy="969059"/>
          </a:xfrm>
        </p:grpSpPr>
        <p:sp>
          <p:nvSpPr>
            <p:cNvPr id="115" name="직사각형 114"/>
            <p:cNvSpPr/>
            <p:nvPr/>
          </p:nvSpPr>
          <p:spPr>
            <a:xfrm>
              <a:off x="3892463" y="233458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33431" y="17767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5013740" y="2318466"/>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4181493"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-1.0</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886219" y="23318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888312" y="2546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888312" y="27458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6027939"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75374" y="2013110"/>
              <a:ext cx="2507485" cy="215444"/>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최근 </a:t>
              </a:r>
              <a:r>
                <a:rPr lang="en-US" altLang="ko-KR" sz="700" dirty="0">
                  <a:latin typeface="+mn-ea"/>
                </a:rPr>
                <a:t>1</a:t>
              </a:r>
              <a:r>
                <a:rPr lang="ko-KR" altLang="en-US" sz="700" dirty="0">
                  <a:latin typeface="+mn-ea"/>
                </a:rPr>
                <a:t>년 내 건설폐기물관리법령 규정에 의한 영업정지 </a:t>
              </a:r>
              <a:r>
                <a:rPr lang="en-US" altLang="ko-KR" sz="700" dirty="0">
                  <a:latin typeface="+mn-ea"/>
                </a:rPr>
                <a:t>1</a:t>
              </a:r>
              <a:r>
                <a:rPr lang="ko-KR" altLang="en-US" sz="700" dirty="0">
                  <a:latin typeface="+mn-ea"/>
                </a:rPr>
                <a:t>월 이상 또는 </a:t>
              </a:r>
              <a:r>
                <a:rPr lang="en-US" altLang="ko-KR" sz="700" dirty="0">
                  <a:latin typeface="+mn-ea"/>
                </a:rPr>
                <a:t>2</a:t>
              </a:r>
              <a:r>
                <a:rPr lang="ko-KR" altLang="en-US" sz="700" dirty="0">
                  <a:latin typeface="+mn-ea"/>
                </a:rPr>
                <a:t>천만원 이상 과징금 처분을 받은 자</a:t>
              </a:r>
            </a:p>
          </p:txBody>
        </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45636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직사각형 128"/>
          <p:cNvSpPr/>
          <p:nvPr/>
        </p:nvSpPr>
        <p:spPr>
          <a:xfrm>
            <a:off x="3837940" y="3693349"/>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877476" y="2571668"/>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6.</a:t>
            </a:r>
            <a:r>
              <a:rPr lang="ko-KR" altLang="en-US" sz="700" dirty="0">
                <a:latin typeface="+mn-ea"/>
              </a:rPr>
              <a:t>결격사유 </a:t>
            </a:r>
            <a:r>
              <a:rPr lang="en-US" altLang="ko-KR" sz="700" dirty="0">
                <a:latin typeface="+mn-ea"/>
              </a:rPr>
              <a:t>(-45</a:t>
            </a:r>
            <a:r>
              <a:rPr lang="ko-KR" altLang="en-US" sz="700" dirty="0">
                <a:latin typeface="+mn-ea"/>
              </a:rPr>
              <a:t>점</a:t>
            </a:r>
            <a:r>
              <a:rPr lang="en-US" altLang="ko-KR" sz="700" dirty="0">
                <a:latin typeface="+mn-ea"/>
              </a:rPr>
              <a:t>)</a:t>
            </a:r>
          </a:p>
        </p:txBody>
      </p:sp>
      <p:grpSp>
        <p:nvGrpSpPr>
          <p:cNvPr id="131" name="그룹 130"/>
          <p:cNvGrpSpPr/>
          <p:nvPr/>
        </p:nvGrpSpPr>
        <p:grpSpPr>
          <a:xfrm flipV="1">
            <a:off x="6239563" y="2671651"/>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0730" y="286580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3878908" y="2871322"/>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부실수행</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40" name="TextBox 139">
            <a:extLst>
              <a:ext uri="{FF2B5EF4-FFF2-40B4-BE49-F238E27FC236}">
                <a16:creationId xmlns:a16="http://schemas.microsoft.com/office/drawing/2014/main" id="{FFC49AEA-2A8F-250C-A86A-A7751D9706C3}"/>
              </a:ext>
            </a:extLst>
          </p:cNvPr>
          <p:cNvSpPr txBox="1"/>
          <p:nvPr/>
        </p:nvSpPr>
        <p:spPr>
          <a:xfrm>
            <a:off x="4959217" y="3677229"/>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4126970"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1696" y="3690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3789" y="39053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3789" y="41045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5973416"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0851" y="3319618"/>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당해 업체가 </a:t>
            </a:r>
            <a:r>
              <a:rPr lang="ko-KR" altLang="en-US" sz="700" dirty="0" err="1">
                <a:latin typeface="+mn-ea"/>
              </a:rPr>
              <a:t>수행중이거나</a:t>
            </a:r>
            <a:r>
              <a:rPr lang="ko-KR" altLang="en-US" sz="700" dirty="0">
                <a:latin typeface="+mn-ea"/>
              </a:rPr>
              <a:t> 수행한 용역과 관련하여 최근 </a:t>
            </a:r>
            <a:r>
              <a:rPr lang="en-US" altLang="ko-KR" sz="700" dirty="0">
                <a:latin typeface="+mn-ea"/>
              </a:rPr>
              <a:t>1</a:t>
            </a:r>
            <a:r>
              <a:rPr lang="ko-KR" altLang="en-US" sz="700" dirty="0">
                <a:latin typeface="+mn-ea"/>
              </a:rPr>
              <a:t>년 이내에  </a:t>
            </a:r>
            <a:r>
              <a:rPr lang="ko-KR" altLang="en-US" sz="700" dirty="0" err="1">
                <a:latin typeface="+mn-ea"/>
              </a:rPr>
              <a:t>계약목적</a:t>
            </a:r>
            <a:r>
              <a:rPr lang="en-US" altLang="ko-KR" sz="700" dirty="0">
                <a:latin typeface="+mn-ea"/>
              </a:rPr>
              <a:t>(</a:t>
            </a:r>
            <a:r>
              <a:rPr lang="ko-KR" altLang="en-US" sz="700" dirty="0">
                <a:latin typeface="+mn-ea"/>
              </a:rPr>
              <a:t>물</a:t>
            </a:r>
            <a:r>
              <a:rPr lang="en-US" altLang="ko-KR" sz="700" dirty="0">
                <a:latin typeface="+mn-ea"/>
              </a:rPr>
              <a:t>)</a:t>
            </a:r>
            <a:r>
              <a:rPr lang="ko-KR" altLang="en-US" sz="700" dirty="0">
                <a:latin typeface="+mn-ea"/>
              </a:rPr>
              <a:t>의 현저한 손괴를 일으킨 경우 </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천재지변 등 불가항력적 사우 제외</a:t>
            </a:r>
            <a:r>
              <a:rPr lang="en-US" altLang="ko-KR" sz="700" dirty="0">
                <a:latin typeface="+mn-ea"/>
              </a:rPr>
              <a:t>)</a:t>
            </a: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0730" y="253829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직사각형 194"/>
          <p:cNvSpPr/>
          <p:nvPr/>
        </p:nvSpPr>
        <p:spPr>
          <a:xfrm>
            <a:off x="3837940" y="484703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878908" y="4113526"/>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재무위험</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959217" y="483091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126970"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31696" y="484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3789" y="50590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3789" y="5258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973416"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920851" y="4561822"/>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부도 또는 파산 우려가 있어 당해 계약이행이 어렵다고 판단되는 경우</a:t>
            </a:r>
          </a:p>
        </p:txBody>
      </p:sp>
      <p:sp>
        <p:nvSpPr>
          <p:cNvPr id="204" name="직사각형 203"/>
          <p:cNvSpPr/>
          <p:nvPr/>
        </p:nvSpPr>
        <p:spPr>
          <a:xfrm>
            <a:off x="3837940" y="5834427"/>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5" name="TextBox 204">
            <a:extLst>
              <a:ext uri="{FF2B5EF4-FFF2-40B4-BE49-F238E27FC236}">
                <a16:creationId xmlns:a16="http://schemas.microsoft.com/office/drawing/2014/main" id="{FFC49AEA-2A8F-250C-A86A-A7751D9706C3}"/>
              </a:ext>
            </a:extLst>
          </p:cNvPr>
          <p:cNvSpPr txBox="1"/>
          <p:nvPr/>
        </p:nvSpPr>
        <p:spPr>
          <a:xfrm>
            <a:off x="3878908" y="526517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959217" y="5818307"/>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4126970"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31696" y="58316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3789" y="6046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3789" y="62456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5973416"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0851" y="5495825"/>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법정관리 또는 </a:t>
            </a:r>
            <a:r>
              <a:rPr lang="ko-KR" altLang="en-US" sz="700" dirty="0" err="1">
                <a:latin typeface="+mn-ea"/>
              </a:rPr>
              <a:t>화의결정</a:t>
            </a:r>
            <a:r>
              <a:rPr lang="ko-KR" altLang="en-US" sz="700" dirty="0">
                <a:latin typeface="+mn-ea"/>
              </a:rPr>
              <a:t> 후 당좌거래가 재개되어도 동 재개일로부터 </a:t>
            </a:r>
            <a:r>
              <a:rPr lang="en-US" altLang="ko-KR" sz="700" dirty="0">
                <a:latin typeface="+mn-ea"/>
              </a:rPr>
              <a:t>1</a:t>
            </a:r>
            <a:r>
              <a:rPr lang="ko-KR" altLang="en-US" sz="700" dirty="0">
                <a:latin typeface="+mn-ea"/>
              </a:rPr>
              <a:t>년간 보증서 발급 가능 확인서를 제출하지 못하는 경우</a:t>
            </a: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69678253"/>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flfmtAbltExmgrdScr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a:t>
                      </a:r>
                      <a:r>
                        <a:rPr lang="ko-KR" altLang="en-US" sz="800" dirty="0" err="1">
                          <a:latin typeface="+mn-ea"/>
                          <a:ea typeface="+mn-ea"/>
                        </a:rPr>
                        <a:t>수행능력</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1186608"/>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3205339"/>
            <a:ext cx="277055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이행실적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3489093"/>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bl>
          </a:graphicData>
        </a:graphic>
      </p:graphicFrame>
      <p:sp>
        <p:nvSpPr>
          <p:cNvPr id="5" name="Text Box 73">
            <a:extLst>
              <a:ext uri="{FF2B5EF4-FFF2-40B4-BE49-F238E27FC236}">
                <a16:creationId xmlns:a16="http://schemas.microsoft.com/office/drawing/2014/main" id="{A0192E70-0F3A-83BF-4798-D10E62646C9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0438216"/>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7817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sttyRqmtExmgrdScr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순환골재 품질인증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순환골재 품질인증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1995387"/>
            <a:ext cx="328351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279141"/>
          <a:ext cx="8993242"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109789"/>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9229673"/>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937583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26552"/>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2987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2076A81D-3599-1EEE-67D8-3442D15DF8DD}"/>
              </a:ext>
            </a:extLst>
          </p:cNvPr>
          <p:cNvSpPr txBox="1"/>
          <p:nvPr/>
        </p:nvSpPr>
        <p:spPr>
          <a:xfrm>
            <a:off x="458117" y="499195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09C7583A-F236-CB9D-21A5-186CEEA821DB}"/>
              </a:ext>
            </a:extLst>
          </p:cNvPr>
          <p:cNvGraphicFramePr>
            <a:graphicFrameLocks noGrp="1"/>
          </p:cNvGraphicFramePr>
          <p:nvPr/>
        </p:nvGraphicFramePr>
        <p:xfrm>
          <a:off x="452999" y="5275712"/>
          <a:ext cx="8993242"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bl>
          </a:graphicData>
        </a:graphic>
      </p:graphicFrame>
      <p:sp>
        <p:nvSpPr>
          <p:cNvPr id="7" name="TextBox 6">
            <a:extLst>
              <a:ext uri="{FF2B5EF4-FFF2-40B4-BE49-F238E27FC236}">
                <a16:creationId xmlns:a16="http://schemas.microsoft.com/office/drawing/2014/main" id="{A263B071-0058-6AD5-FAD1-5CCC7043A3B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90435182-D9A6-5004-0D54-90861352C8C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312012"/>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9965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8364202"/>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50914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75D50404-2C21-D793-D4BD-673DE9572644}"/>
              </a:ext>
            </a:extLst>
          </p:cNvPr>
          <p:cNvSpPr txBox="1"/>
          <p:nvPr/>
        </p:nvSpPr>
        <p:spPr>
          <a:xfrm>
            <a:off x="460676" y="2274063"/>
            <a:ext cx="215340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C4BB9DBB-2928-1699-0546-3B19A6DC37ED}"/>
              </a:ext>
            </a:extLst>
          </p:cNvPr>
          <p:cNvGraphicFramePr>
            <a:graphicFrameLocks noGrp="1"/>
          </p:cNvGraphicFramePr>
          <p:nvPr/>
        </p:nvGraphicFramePr>
        <p:xfrm>
          <a:off x="455558" y="2557817"/>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3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12" name="TextBox 11">
            <a:extLst>
              <a:ext uri="{FF2B5EF4-FFF2-40B4-BE49-F238E27FC236}">
                <a16:creationId xmlns:a16="http://schemas.microsoft.com/office/drawing/2014/main" id="{C205803D-CC98-4879-732E-69A0826BB7DA}"/>
              </a:ext>
            </a:extLst>
          </p:cNvPr>
          <p:cNvSpPr txBox="1"/>
          <p:nvPr/>
        </p:nvSpPr>
        <p:spPr>
          <a:xfrm>
            <a:off x="458117" y="363197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결격사유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F2F84E02-B612-1DD2-0391-74E7551455F2}"/>
              </a:ext>
            </a:extLst>
          </p:cNvPr>
          <p:cNvGraphicFramePr>
            <a:graphicFrameLocks noGrp="1"/>
          </p:cNvGraphicFramePr>
          <p:nvPr/>
        </p:nvGraphicFramePr>
        <p:xfrm>
          <a:off x="452999" y="3915726"/>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부실수행</a:t>
                      </a:r>
                      <a:r>
                        <a:rPr lang="en-US" altLang="ko-KR" sz="800" dirty="0">
                          <a:latin typeface="+mn-ea"/>
                          <a:ea typeface="+mn-ea"/>
                        </a:rPr>
                        <a:t>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a:t>
                      </a:r>
                      <a:r>
                        <a:rPr lang="en-US" altLang="ko-KR" sz="800" dirty="0">
                          <a:latin typeface="+mn-ea"/>
                          <a:ea typeface="+mn-ea"/>
                        </a:rPr>
                        <a:t> </a:t>
                      </a:r>
                      <a:r>
                        <a:rPr lang="ko-KR" altLang="en-US" sz="800" dirty="0">
                          <a:latin typeface="+mn-ea"/>
                          <a:ea typeface="+mn-ea"/>
                        </a:rPr>
                        <a:t>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2" name="TextBox 1">
            <a:extLst>
              <a:ext uri="{FF2B5EF4-FFF2-40B4-BE49-F238E27FC236}">
                <a16:creationId xmlns:a16="http://schemas.microsoft.com/office/drawing/2014/main" id="{3EF5EF16-06F9-9636-D609-7E619C49999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DE6F62F-4AE0-BF34-C662-0E08A61531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2893364"/>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285</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725515941"/>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5" name="Text Box 73">
            <a:extLst>
              <a:ext uri="{FF2B5EF4-FFF2-40B4-BE49-F238E27FC236}">
                <a16:creationId xmlns:a16="http://schemas.microsoft.com/office/drawing/2014/main" id="{DA1835E5-EED9-024F-DF7B-ADF92002731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76625016"/>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이행</a:t>
            </a:r>
            <a:r>
              <a:rPr lang="en-US" altLang="ko-KR" dirty="0"/>
              <a:t>/</a:t>
            </a:r>
            <a:r>
              <a:rPr lang="ko-KR" altLang="en-US" dirty="0"/>
              <a:t>적격심사 </a:t>
            </a:r>
            <a:r>
              <a:rPr lang="ko-KR" altLang="en-US" dirty="0" err="1"/>
              <a:t>포기사유</a:t>
            </a:r>
            <a:r>
              <a:rPr lang="en-US" altLang="ko-KR" dirty="0"/>
              <a:t> </a:t>
            </a:r>
            <a:r>
              <a:rPr lang="ko-KR" altLang="en-US" dirty="0"/>
              <a:t>데이터 영역</a:t>
            </a:r>
            <a:endParaRPr lang="en-US" altLang="ko-KR" dirty="0"/>
          </a:p>
          <a:p>
            <a:pPr marL="228600" indent="-228600">
              <a:buFont typeface="+mj-ea"/>
              <a:buAutoNum type="arabicPeriod"/>
            </a:pPr>
            <a:r>
              <a:rPr lang="ko-KR" altLang="en-US" dirty="0"/>
              <a:t>첨부서류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이행</a:t>
            </a:r>
            <a:r>
              <a:rPr lang="en-US" altLang="ko-KR" dirty="0"/>
              <a:t>/</a:t>
            </a:r>
            <a:r>
              <a:rPr lang="ko-KR" altLang="en-US" dirty="0"/>
              <a:t>적격심사포기신청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defRPr/>
            </a:pPr>
            <a:r>
              <a:rPr lang="ko-KR" altLang="en-US" dirty="0" err="1"/>
              <a:t>적격심사제</a:t>
            </a:r>
            <a:r>
              <a:rPr lang="ko-KR" altLang="en-US" dirty="0"/>
              <a:t> 공고 건에 대해 업체담당자가 이행</a:t>
            </a:r>
            <a:r>
              <a:rPr lang="en-US" altLang="ko-KR" dirty="0"/>
              <a:t>/</a:t>
            </a:r>
            <a:r>
              <a:rPr lang="ko-KR" altLang="en-US" dirty="0"/>
              <a:t>적격심사 포기 신청하는 팝업</a:t>
            </a:r>
            <a:endParaRPr lang="ko-KR" altLang="en-US" dirty="0">
              <a:solidFill>
                <a:prstClr val="black"/>
              </a:solidFill>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MUI-BD-10-P21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35744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1" name="타원 150">
            <a:extLst>
              <a:ext uri="{FF2B5EF4-FFF2-40B4-BE49-F238E27FC236}">
                <a16:creationId xmlns:a16="http://schemas.microsoft.com/office/drawing/2014/main" id="{37A7FF4F-0EAA-1463-560A-D5EC24416103}"/>
              </a:ext>
            </a:extLst>
          </p:cNvPr>
          <p:cNvSpPr/>
          <p:nvPr/>
        </p:nvSpPr>
        <p:spPr>
          <a:xfrm>
            <a:off x="3709669" y="40696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사유 선택</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029701" y="3827499"/>
            <a:ext cx="2320531" cy="1077218"/>
          </a:xfrm>
          <a:prstGeom prst="rect">
            <a:avLst/>
          </a:prstGeom>
          <a:noFill/>
        </p:spPr>
        <p:txBody>
          <a:bodyPr wrap="square" lIns="0" tIns="0" rIns="0" bIns="0" rtlCol="0">
            <a:spAutoFit/>
          </a:bodyPr>
          <a:lstStyle/>
          <a:p>
            <a:pPr>
              <a:lnSpc>
                <a:spcPct val="200000"/>
              </a:lnSpc>
            </a:pPr>
            <a:r>
              <a:rPr lang="ko-KR" altLang="en-US" sz="700" dirty="0">
                <a:latin typeface="+mn-ea"/>
              </a:rPr>
              <a:t>업체 </a:t>
            </a:r>
            <a:r>
              <a:rPr lang="ko-KR" altLang="en-US" sz="700" dirty="0" err="1">
                <a:latin typeface="+mn-ea"/>
              </a:rPr>
              <a:t>자체심사</a:t>
            </a:r>
            <a:r>
              <a:rPr lang="ko-KR" altLang="en-US" sz="700" dirty="0">
                <a:latin typeface="+mn-ea"/>
              </a:rPr>
              <a:t> 결과 기준 점수 미달</a:t>
            </a:r>
            <a:endParaRPr lang="en-US" altLang="ko-KR" sz="700" dirty="0">
              <a:latin typeface="+mn-ea"/>
            </a:endParaRPr>
          </a:p>
          <a:p>
            <a:pPr>
              <a:lnSpc>
                <a:spcPct val="200000"/>
              </a:lnSpc>
            </a:pPr>
            <a:r>
              <a:rPr lang="ko-KR" altLang="en-US" sz="700" dirty="0">
                <a:latin typeface="+mn-ea"/>
              </a:rPr>
              <a:t>참여의사 없음</a:t>
            </a:r>
            <a:endParaRPr lang="en-US" altLang="ko-KR" sz="700" dirty="0">
              <a:latin typeface="+mn-ea"/>
            </a:endParaRPr>
          </a:p>
          <a:p>
            <a:pPr>
              <a:lnSpc>
                <a:spcPct val="200000"/>
              </a:lnSpc>
            </a:pPr>
            <a:r>
              <a:rPr lang="ko-KR" altLang="en-US" sz="700" dirty="0">
                <a:latin typeface="+mn-ea"/>
              </a:rPr>
              <a:t>구매선 미확보</a:t>
            </a:r>
            <a:endParaRPr lang="en-US" altLang="ko-KR" sz="700" dirty="0">
              <a:latin typeface="+mn-ea"/>
            </a:endParaRPr>
          </a:p>
          <a:p>
            <a:pPr>
              <a:lnSpc>
                <a:spcPct val="200000"/>
              </a:lnSpc>
            </a:pPr>
            <a:r>
              <a:rPr lang="ko-KR" altLang="en-US" sz="700" dirty="0" err="1">
                <a:latin typeface="+mn-ea"/>
              </a:rPr>
              <a:t>납기준수</a:t>
            </a:r>
            <a:r>
              <a:rPr lang="ko-KR" altLang="en-US" sz="700" dirty="0">
                <a:latin typeface="+mn-ea"/>
              </a:rPr>
              <a:t> 제한</a:t>
            </a:r>
            <a:endParaRPr lang="en-US" altLang="ko-KR" sz="700" dirty="0">
              <a:latin typeface="+mn-ea"/>
            </a:endParaRPr>
          </a:p>
          <a:p>
            <a:pPr>
              <a:lnSpc>
                <a:spcPct val="200000"/>
              </a:lnSpc>
            </a:pPr>
            <a:r>
              <a:rPr lang="ko-KR" altLang="en-US" sz="700" dirty="0">
                <a:latin typeface="+mn-ea"/>
              </a:rPr>
              <a:t>기타 </a:t>
            </a:r>
            <a:r>
              <a:rPr lang="en-US" altLang="ko-KR" sz="700" dirty="0">
                <a:latin typeface="+mn-ea"/>
              </a:rPr>
              <a:t>(</a:t>
            </a:r>
            <a:r>
              <a:rPr lang="ko-KR" altLang="en-US" sz="700" dirty="0">
                <a:latin typeface="+mn-ea"/>
              </a:rPr>
              <a:t>직접 입력</a:t>
            </a:r>
            <a:r>
              <a:rPr lang="en-US" altLang="ko-KR" sz="700" dirty="0">
                <a:latin typeface="+mn-ea"/>
              </a:rPr>
              <a:t>)</a:t>
            </a:r>
          </a:p>
        </p:txBody>
      </p:sp>
      <p:grpSp>
        <p:nvGrpSpPr>
          <p:cNvPr id="166" name="그룹 165"/>
          <p:cNvGrpSpPr/>
          <p:nvPr/>
        </p:nvGrpSpPr>
        <p:grpSpPr>
          <a:xfrm>
            <a:off x="720139" y="3827499"/>
            <a:ext cx="2630093" cy="1073700"/>
            <a:chOff x="701175" y="1835481"/>
            <a:chExt cx="2630093" cy="107370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048572"/>
            <a:chOff x="701175" y="1835481"/>
            <a:chExt cx="2630093" cy="1048572"/>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포기사유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70" name="타원 69"/>
          <p:cNvSpPr/>
          <p:nvPr/>
        </p:nvSpPr>
        <p:spPr>
          <a:xfrm>
            <a:off x="817932" y="3915892"/>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p:cNvSpPr/>
          <p:nvPr/>
        </p:nvSpPr>
        <p:spPr>
          <a:xfrm>
            <a:off x="817932" y="4106961"/>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타원 71"/>
          <p:cNvSpPr/>
          <p:nvPr/>
        </p:nvSpPr>
        <p:spPr>
          <a:xfrm>
            <a:off x="817932" y="432310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p:cNvSpPr/>
          <p:nvPr/>
        </p:nvSpPr>
        <p:spPr>
          <a:xfrm>
            <a:off x="817932" y="4537844"/>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p:cNvSpPr/>
          <p:nvPr/>
        </p:nvSpPr>
        <p:spPr>
          <a:xfrm>
            <a:off x="817932" y="475258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E9293055-D5CD-4B9E-7F64-64B2D2CA7A52}"/>
              </a:ext>
            </a:extLst>
          </p:cNvPr>
          <p:cNvCxnSpPr/>
          <p:nvPr/>
        </p:nvCxnSpPr>
        <p:spPr>
          <a:xfrm>
            <a:off x="703268" y="40422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42569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03268" y="4471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46864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3878080" y="4033570"/>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7" name="그룹 86"/>
          <p:cNvGrpSpPr/>
          <p:nvPr/>
        </p:nvGrpSpPr>
        <p:grpSpPr>
          <a:xfrm flipV="1">
            <a:off x="6240167" y="414690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모서리가 둥근 직사각형 89"/>
          <p:cNvSpPr/>
          <p:nvPr/>
        </p:nvSpPr>
        <p:spPr>
          <a:xfrm>
            <a:off x="3831550" y="472112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4332218" y="479564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909746" y="484950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3" name="모서리가 둥근 직사각형 102"/>
          <p:cNvSpPr/>
          <p:nvPr/>
        </p:nvSpPr>
        <p:spPr>
          <a:xfrm>
            <a:off x="3831550" y="51278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52023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52561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3831549" y="4296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332218" y="458600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3838314" y="458600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5734" y="3915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모서리가 둥근 직사각형 357"/>
          <p:cNvSpPr/>
          <p:nvPr/>
        </p:nvSpPr>
        <p:spPr>
          <a:xfrm rot="5400000">
            <a:off x="5782577" y="46296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8600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사각형: 둥근 모서리 15">
            <a:extLst>
              <a:ext uri="{FF2B5EF4-FFF2-40B4-BE49-F238E27FC236}">
                <a16:creationId xmlns:a16="http://schemas.microsoft.com/office/drawing/2014/main" id="{E2B61CFB-AD16-68D0-8752-50D9C5E01971}"/>
              </a:ext>
            </a:extLst>
          </p:cNvPr>
          <p:cNvSpPr/>
          <p:nvPr/>
        </p:nvSpPr>
        <p:spPr>
          <a:xfrm>
            <a:off x="6074127" y="52326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482592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476345465"/>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8464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이행</a:t>
            </a:r>
            <a:r>
              <a:rPr lang="en-US" altLang="ko-KR" sz="900" b="1" dirty="0"/>
              <a:t>/</a:t>
            </a:r>
            <a:r>
              <a:rPr lang="ko-KR" altLang="en-US" sz="900" b="1" dirty="0"/>
              <a:t>적격심사 포기사유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dmt_impltElgbSrngAbndRsn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포기사유구분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elgbSrngAbndRsnSe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srngMnftrBzentyAbndRsn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포기사유를 기타</a:t>
                      </a:r>
                      <a:r>
                        <a:rPr lang="en-US" altLang="ko-KR" sz="800" dirty="0">
                          <a:latin typeface="+mn-ea"/>
                          <a:ea typeface="+mn-ea"/>
                        </a:rPr>
                        <a:t>(</a:t>
                      </a:r>
                      <a:r>
                        <a:rPr lang="ko-KR" altLang="en-US" sz="800" dirty="0">
                          <a:latin typeface="+mn-ea"/>
                          <a:ea typeface="+mn-ea"/>
                        </a:rPr>
                        <a:t>수기 입력</a:t>
                      </a:r>
                      <a:r>
                        <a:rPr lang="en-US" altLang="ko-KR" sz="800" dirty="0">
                          <a:latin typeface="+mn-ea"/>
                          <a:ea typeface="+mn-ea"/>
                        </a:rPr>
                        <a:t>) </a:t>
                      </a:r>
                      <a:r>
                        <a:rPr lang="ko-KR" altLang="en-US" sz="800" dirty="0">
                          <a:latin typeface="+mn-ea"/>
                          <a:ea typeface="+mn-ea"/>
                        </a:rPr>
                        <a:t>선택한 경우 포기 사유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020970"/>
            <a:ext cx="201233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304724"/>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19853">
                  <a:extLst>
                    <a:ext uri="{9D8B030D-6E8A-4147-A177-3AD203B41FA5}">
                      <a16:colId xmlns:a16="http://schemas.microsoft.com/office/drawing/2014/main" val="20004"/>
                    </a:ext>
                  </a:extLst>
                </a:gridCol>
                <a:gridCol w="225357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첨부서류명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70328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bl>
          </a:graphicData>
        </a:graphic>
      </p:graphicFrame>
      <p:sp>
        <p:nvSpPr>
          <p:cNvPr id="5" name="TextBox 4">
            <a:extLst>
              <a:ext uri="{FF2B5EF4-FFF2-40B4-BE49-F238E27FC236}">
                <a16:creationId xmlns:a16="http://schemas.microsoft.com/office/drawing/2014/main" id="{B45602F2-4861-A86C-4F22-E39E93C41981}"/>
              </a:ext>
            </a:extLst>
          </p:cNvPr>
          <p:cNvSpPr txBox="1"/>
          <p:nvPr/>
        </p:nvSpPr>
        <p:spPr>
          <a:xfrm>
            <a:off x="457408" y="344790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12C3E036-652F-6406-8365-AA90F644029A}"/>
              </a:ext>
            </a:extLst>
          </p:cNvPr>
          <p:cNvGraphicFramePr>
            <a:graphicFrameLocks noGrp="1"/>
          </p:cNvGraphicFramePr>
          <p:nvPr/>
        </p:nvGraphicFramePr>
        <p:xfrm>
          <a:off x="452291" y="3713966"/>
          <a:ext cx="8995591" cy="22828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scwin.getImpltElgbSrngAbndAplyInfo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40451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766952"/>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9602629"/>
                  </a:ext>
                </a:extLst>
              </a:tr>
              <a:tr h="0">
                <a:tc>
                  <a:txBody>
                    <a:bodyPr/>
                    <a:lstStyle/>
                    <a:p>
                      <a:r>
                        <a:rPr lang="ko-KR" altLang="en-US" sz="800" dirty="0"/>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277268"/>
                  </a:ext>
                </a:extLst>
              </a:tr>
              <a:tr h="0">
                <a:tc>
                  <a:txBody>
                    <a:bodyPr/>
                    <a:lstStyle/>
                    <a:p>
                      <a:r>
                        <a:rPr lang="ko-KR" altLang="en-US" sz="800" dirty="0"/>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scwin.btn_srngAbnd_onclick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심사신청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8" name="Text Box 73">
            <a:extLst>
              <a:ext uri="{FF2B5EF4-FFF2-40B4-BE49-F238E27FC236}">
                <a16:creationId xmlns:a16="http://schemas.microsoft.com/office/drawing/2014/main" id="{6AB20EDE-9F69-1BEC-636E-782FB05BF34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45991224"/>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993073219"/>
              </p:ext>
            </p:extLst>
          </p:nvPr>
        </p:nvGraphicFramePr>
        <p:xfrm>
          <a:off x="635474" y="1413419"/>
          <a:ext cx="8701200" cy="4717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kern="1200" dirty="0">
                          <a:solidFill>
                            <a:schemeClr val="tx1"/>
                          </a:solidFill>
                          <a:latin typeface="+mn-ea"/>
                          <a:ea typeface="+mn-ea"/>
                          <a:cs typeface="+mn-cs"/>
                        </a:rPr>
                        <a:t>MUI-BD-01-M01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kern="1200" dirty="0" smtClean="0">
                          <a:solidFill>
                            <a:schemeClr val="tx1"/>
                          </a:solidFill>
                          <a:latin typeface="+mn-ea"/>
                          <a:ea typeface="+mn-ea"/>
                          <a:cs typeface="+mn-cs"/>
                        </a:rPr>
                        <a:t>입찰공고통합목록</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smtClean="0">
                          <a:solidFill>
                            <a:schemeClr val="tx1"/>
                          </a:solidFill>
                          <a:effectLst/>
                          <a:latin typeface="+mn-lt"/>
                          <a:ea typeface="+mn-ea"/>
                          <a:cs typeface="+mn-cs"/>
                        </a:rPr>
                        <a:t>BidPbancIntgListPage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입찰공고 통합 목록 조회 화면</a:t>
                      </a:r>
                      <a:endParaRPr lang="en-US" altLang="ko-KR" sz="800" dirty="0">
                        <a:latin typeface="+mn-ea"/>
                        <a:ea typeface="+mn-ea"/>
                      </a:endParaRPr>
                    </a:p>
                    <a:p>
                      <a:pPr algn="l"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anlBfhdSpcfctDtl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nlBfhdSpcfctDtlPage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kern="1200" dirty="0">
                          <a:solidFill>
                            <a:schemeClr val="tx1"/>
                          </a:solidFill>
                          <a:latin typeface="+mn-ea"/>
                          <a:ea typeface="+mn-ea"/>
                          <a:cs typeface="+mn-cs"/>
                        </a:rPr>
                        <a:t>MUI-BD-01-M71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입찰공고상세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OvsBidPbancDtlPage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국외 입찰공고를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OvsBidPbancDtlPage</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1450384"/>
                  </a:ext>
                </a:extLst>
              </a:tr>
              <a:tr h="180000">
                <a:tc>
                  <a:txBody>
                    <a:bodyPr/>
                    <a:lstStyle/>
                    <a:p>
                      <a:pPr algn="l" fontAlgn="t"/>
                      <a:r>
                        <a:rPr lang="en-US" altLang="ko-KR" sz="800" kern="1200" dirty="0" smtClean="0">
                          <a:solidFill>
                            <a:schemeClr val="tx1"/>
                          </a:solidFill>
                          <a:latin typeface="+mn-ea"/>
                          <a:ea typeface="+mn-ea"/>
                          <a:cs typeface="+mn-cs"/>
                        </a:rPr>
                        <a:t>MUI-BD-01-T71</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a:t>
                      </a:r>
                      <a:r>
                        <a:rPr lang="ko-KR" altLang="en-US" sz="800" kern="1200" dirty="0" smtClean="0">
                          <a:solidFill>
                            <a:schemeClr val="tx1"/>
                          </a:solidFill>
                          <a:latin typeface="+mn-ea"/>
                          <a:ea typeface="+mn-ea"/>
                          <a:cs typeface="+mn-cs"/>
                        </a:rPr>
                        <a:t>입찰공고 중</a:t>
                      </a:r>
                      <a:r>
                        <a:rPr lang="ko-KR" altLang="en-US" sz="800" kern="1200" baseline="0" dirty="0" smtClean="0">
                          <a:solidFill>
                            <a:schemeClr val="tx1"/>
                          </a:solidFill>
                          <a:latin typeface="+mn-ea"/>
                          <a:ea typeface="+mn-ea"/>
                          <a:cs typeface="+mn-cs"/>
                        </a:rPr>
                        <a:t> 일반정보 탭</a:t>
                      </a:r>
                      <a:r>
                        <a:rPr lang="ko-KR" altLang="en-US" sz="800" kern="1200" dirty="0" smtClean="0">
                          <a:solidFill>
                            <a:schemeClr val="tx1"/>
                          </a:solidFill>
                          <a:latin typeface="+mn-ea"/>
                          <a:ea typeface="+mn-ea"/>
                          <a:cs typeface="+mn-cs"/>
                        </a:rPr>
                        <a:t> </a:t>
                      </a:r>
                      <a:r>
                        <a:rPr lang="ko-KR" altLang="en-US" sz="800" kern="1200" dirty="0">
                          <a:solidFill>
                            <a:schemeClr val="tx1"/>
                          </a:solidFill>
                          <a:latin typeface="+mn-ea"/>
                          <a:ea typeface="+mn-ea"/>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800" kern="1200" dirty="0" smtClean="0">
                          <a:solidFill>
                            <a:schemeClr val="tx1"/>
                          </a:solidFill>
                          <a:latin typeface="+mn-ea"/>
                          <a:ea typeface="+mn-ea"/>
                          <a:cs typeface="+mn-cs"/>
                        </a:rPr>
                        <a:t>MUI-BD-01-T72</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품목목록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OvsBidPbancDtl1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입찰공고</a:t>
                      </a:r>
                      <a:r>
                        <a:rPr lang="ko-KR" altLang="en-US" sz="800" kern="1200" dirty="0" smtClean="0">
                          <a:solidFill>
                            <a:schemeClr val="tx1"/>
                          </a:solidFill>
                          <a:latin typeface="+mn-ea"/>
                          <a:ea typeface="+mn-ea"/>
                          <a:cs typeface="+mn-cs"/>
                        </a:rPr>
                        <a:t> 중</a:t>
                      </a:r>
                      <a:r>
                        <a:rPr lang="ko-KR" altLang="en-US" sz="800" kern="1200" baseline="0" dirty="0" smtClean="0">
                          <a:solidFill>
                            <a:schemeClr val="tx1"/>
                          </a:solidFill>
                          <a:latin typeface="+mn-ea"/>
                          <a:ea typeface="+mn-ea"/>
                          <a:cs typeface="+mn-cs"/>
                        </a:rPr>
                        <a:t> </a:t>
                      </a:r>
                      <a:r>
                        <a:rPr lang="ko-KR" altLang="en-US" sz="800" kern="1200" baseline="0" dirty="0" err="1" smtClean="0">
                          <a:solidFill>
                            <a:schemeClr val="tx1"/>
                          </a:solidFill>
                          <a:latin typeface="+mn-ea"/>
                          <a:ea typeface="+mn-ea"/>
                          <a:cs typeface="+mn-cs"/>
                        </a:rPr>
                        <a:t>품목목록</a:t>
                      </a:r>
                      <a:r>
                        <a:rPr lang="ko-KR" altLang="en-US" sz="800" kern="1200" baseline="0" dirty="0" smtClean="0">
                          <a:solidFill>
                            <a:schemeClr val="tx1"/>
                          </a:solidFill>
                          <a:latin typeface="+mn-ea"/>
                          <a:ea typeface="+mn-ea"/>
                          <a:cs typeface="+mn-cs"/>
                        </a:rPr>
                        <a:t> 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smtClean="0">
                          <a:solidFill>
                            <a:schemeClr val="tx1"/>
                          </a:solidFill>
                          <a:effectLst/>
                          <a:latin typeface="+mn-lt"/>
                        </a:rPr>
                        <a:t>OvsBidPbancDtl1</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MUI-BD-01-T73</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OvsBidPbancDtl2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입찰공고</a:t>
                      </a:r>
                      <a:r>
                        <a:rPr lang="ko-KR" altLang="en-US" sz="800" kern="1200" dirty="0" smtClean="0">
                          <a:solidFill>
                            <a:schemeClr val="tx1"/>
                          </a:solidFill>
                          <a:latin typeface="+mn-ea"/>
                          <a:ea typeface="+mn-ea"/>
                          <a:cs typeface="+mn-cs"/>
                        </a:rPr>
                        <a:t> 중</a:t>
                      </a:r>
                      <a:r>
                        <a:rPr lang="ko-KR" altLang="en-US" sz="800" kern="1200" baseline="0" dirty="0" smtClean="0">
                          <a:solidFill>
                            <a:schemeClr val="tx1"/>
                          </a:solidFill>
                          <a:latin typeface="+mn-ea"/>
                          <a:ea typeface="+mn-ea"/>
                          <a:cs typeface="+mn-cs"/>
                        </a:rPr>
                        <a:t> 첨부파일 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a:solidFill>
                            <a:schemeClr val="tx1"/>
                          </a:solidFill>
                          <a:effectLst/>
                          <a:latin typeface="+mn-lt"/>
                        </a:rPr>
                        <a:t>OvsBidPbancDtl2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800" kern="1200" dirty="0">
                          <a:solidFill>
                            <a:schemeClr val="tx1"/>
                          </a:solidFill>
                          <a:latin typeface="+mn-ea"/>
                          <a:ea typeface="+mn-ea"/>
                          <a:cs typeface="+mn-cs"/>
                        </a:rPr>
                        <a:t>MUI-BD-01-M74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OvsExchrtListPage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일별 </a:t>
                      </a:r>
                      <a:r>
                        <a:rPr lang="ko-KR" altLang="en-US" sz="800" kern="1200" dirty="0" err="1">
                          <a:solidFill>
                            <a:schemeClr val="tx1"/>
                          </a:solidFill>
                          <a:latin typeface="+mn-ea"/>
                          <a:ea typeface="+mn-ea"/>
                          <a:cs typeface="+mn-cs"/>
                        </a:rPr>
                        <a:t>환율정보를</a:t>
                      </a:r>
                      <a:r>
                        <a:rPr lang="ko-KR" altLang="en-US" sz="800" kern="1200" dirty="0">
                          <a:solidFill>
                            <a:schemeClr val="tx1"/>
                          </a:solidFill>
                          <a:latin typeface="+mn-ea"/>
                          <a:ea typeface="+mn-ea"/>
                          <a:cs typeface="+mn-cs"/>
                        </a:rPr>
                        <a:t>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ovsExchrtList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altLang="ko-KR" sz="800" kern="1200" dirty="0">
                          <a:solidFill>
                            <a:schemeClr val="tx1"/>
                          </a:solidFill>
                          <a:latin typeface="+mn-ea"/>
                          <a:ea typeface="+mn-ea"/>
                          <a:cs typeface="+mn-cs"/>
                        </a:rPr>
                        <a:t>MUI-BD-01-M75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목표가공개품목조회</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OvsGoalPrcRlsItemListPage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목표가공개품목을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ovsGoalPrcRlsItemList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OvsGoalPrcRlsItemListPage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800" kern="1200" dirty="0" smtClean="0">
                          <a:solidFill>
                            <a:schemeClr val="tx1"/>
                          </a:solidFill>
                          <a:latin typeface="+mn-ea"/>
                          <a:ea typeface="+mn-ea"/>
                          <a:cs typeface="+mn-cs"/>
                        </a:rPr>
                        <a:t>MUI-BD-01-P76</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OvsBidPbanc_AtchFileInq</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첨부파일을 조회하는 </a:t>
                      </a:r>
                      <a:r>
                        <a:rPr lang="ko-KR" altLang="en-US" sz="800" kern="1200" dirty="0" err="1" smtClean="0">
                          <a:solidFill>
                            <a:schemeClr val="tx1"/>
                          </a:solidFill>
                          <a:latin typeface="+mn-ea"/>
                          <a:ea typeface="+mn-ea"/>
                          <a:cs typeface="+mn-cs"/>
                        </a:rPr>
                        <a:t>팝업화면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OvsBidPbanc_AtchFileInq</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base" latinLnBrk="1"/>
                      <a:r>
                        <a:rPr lang="en-US" altLang="ko-KR" sz="800" dirty="0" smtClean="0">
                          <a:latin typeface="+mn-ea"/>
                          <a:ea typeface="+mn-ea"/>
                        </a:rPr>
                        <a:t>UC-BD-01-02</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7464548"/>
                  </a:ext>
                </a:extLst>
              </a:tr>
              <a:tr h="180000">
                <a:tc>
                  <a:txBody>
                    <a:bodyPr/>
                    <a:lstStyle/>
                    <a:p>
                      <a:pPr algn="l" fontAlgn="ctr"/>
                      <a:r>
                        <a:rPr lang="en-US" altLang="ko-KR" sz="800" kern="1200" dirty="0">
                          <a:solidFill>
                            <a:schemeClr val="tx1"/>
                          </a:solidFill>
                          <a:latin typeface="+mn-ea"/>
                          <a:ea typeface="+mn-ea"/>
                          <a:cs typeface="+mn-cs"/>
                        </a:rPr>
                        <a:t>MUI-CM-01-M71</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국외보관함목록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OvsLockerPbanListPage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추가한 공고를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ovsLockerPbanList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OvsLockerPbanListPage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base" latinLnBrk="1"/>
                      <a:r>
                        <a:rPr lang="en-US" altLang="ko-KR" sz="800" kern="1200" dirty="0" smtClean="0">
                          <a:solidFill>
                            <a:schemeClr val="tx1"/>
                          </a:solidFill>
                          <a:latin typeface="+mn-ea"/>
                          <a:ea typeface="+mn-ea"/>
                          <a:cs typeface="+mn-cs"/>
                        </a:rPr>
                        <a:t>UC-BD-03-01</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800" kern="1200" dirty="0" smtClean="0">
                          <a:solidFill>
                            <a:schemeClr val="tx1"/>
                          </a:solidFill>
                          <a:latin typeface="+mn-ea"/>
                          <a:ea typeface="+mn-ea"/>
                          <a:cs typeface="+mn-cs"/>
                        </a:rPr>
                        <a:t>MUI-CM-01-P72</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검색필터</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국외보관함</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smtClean="0">
                          <a:solidFill>
                            <a:schemeClr val="tx1"/>
                          </a:solidFill>
                          <a:effectLst/>
                          <a:latin typeface="+mn-lt"/>
                          <a:ea typeface="+mn-ea"/>
                          <a:cs typeface="+mn-cs"/>
                        </a:rPr>
                        <a:t>ovsLockerPbanList_SrchFilter</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 보관함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ovsLockerPbanList</a:t>
                      </a:r>
                      <a:r>
                        <a:rPr lang="en-US" altLang="ko-KR" sz="800" b="0" i="0" u="none" strike="noStrike" dirty="0" smtClean="0">
                          <a:solidFill>
                            <a:schemeClr val="tx1"/>
                          </a:solidFill>
                          <a:effectLst/>
                          <a:latin typeface="+mn-lt"/>
                        </a:rPr>
                        <a:t>/</a:t>
                      </a:r>
                      <a:r>
                        <a:rPr lang="en-US" altLang="ko-KR" sz="800" b="0" i="0" u="none" strike="noStrike" kern="1200" dirty="0" err="1" smtClean="0">
                          <a:solidFill>
                            <a:schemeClr val="tx1"/>
                          </a:solidFill>
                          <a:effectLst/>
                          <a:latin typeface="+mn-lt"/>
                          <a:ea typeface="+mn-ea"/>
                          <a:cs typeface="+mn-cs"/>
                        </a:rPr>
                        <a:t>ovsLockerPbanList_SrchFilter</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1410671"/>
                  </a:ext>
                </a:extLst>
              </a:tr>
              <a:tr h="180000">
                <a:tc>
                  <a:txBody>
                    <a:bodyPr/>
                    <a:lstStyle/>
                    <a:p>
                      <a:pPr algn="l" fontAlgn="ctr"/>
                      <a:r>
                        <a:rPr lang="en-US" altLang="ko-KR" sz="800" kern="1200" dirty="0" smtClean="0">
                          <a:solidFill>
                            <a:schemeClr val="tx1"/>
                          </a:solidFill>
                          <a:latin typeface="+mn-ea"/>
                          <a:ea typeface="+mn-ea"/>
                          <a:cs typeface="+mn-cs"/>
                        </a:rPr>
                        <a:t>MUI-CM-01-M74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 품목 관리</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OvsLockerItemRegPage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공고입찰품목 중 보관함에 품목을 추가 및 삭제하는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ovsLockerItemReg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OvsLockerItemRegPage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l" fontAlgn="ctr"/>
                      <a:r>
                        <a:rPr lang="en-US" sz="800" kern="1200" dirty="0" smtClean="0">
                          <a:solidFill>
                            <a:schemeClr val="tx1"/>
                          </a:solidFill>
                          <a:latin typeface="+mn-ea"/>
                          <a:ea typeface="+mn-ea"/>
                          <a:cs typeface="+mn-cs"/>
                        </a:rPr>
                        <a:t>MUI-CM-01-P75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검색필터</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보관함품목</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smtClean="0">
                          <a:solidFill>
                            <a:schemeClr val="tx1"/>
                          </a:solidFill>
                          <a:effectLst/>
                          <a:latin typeface="+mn-lt"/>
                          <a:ea typeface="+mn-ea"/>
                          <a:cs typeface="+mn-cs"/>
                        </a:rPr>
                        <a:t>ovsLockerItemMng</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보관함품목</a:t>
                      </a:r>
                      <a:r>
                        <a:rPr lang="ko-KR" altLang="en-US" sz="800" kern="1200" dirty="0" smtClean="0">
                          <a:solidFill>
                            <a:schemeClr val="tx1"/>
                          </a:solidFill>
                          <a:latin typeface="+mn-ea"/>
                          <a:ea typeface="+mn-ea"/>
                          <a:cs typeface="+mn-cs"/>
                        </a:rPr>
                        <a:t>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ovsLockerItemReg</a:t>
                      </a:r>
                      <a:r>
                        <a:rPr lang="en-US" altLang="ko-KR" sz="800" b="0" i="0" u="none" strike="noStrike" dirty="0" smtClean="0">
                          <a:solidFill>
                            <a:schemeClr val="tx1"/>
                          </a:solidFill>
                          <a:effectLst/>
                          <a:latin typeface="+mn-lt"/>
                        </a:rPr>
                        <a:t>/</a:t>
                      </a:r>
                      <a:r>
                        <a:rPr lang="en-US" altLang="ko-KR" sz="800" b="0" i="0" u="none" strike="noStrike" kern="1200" dirty="0" err="1" smtClean="0">
                          <a:solidFill>
                            <a:schemeClr val="tx1"/>
                          </a:solidFill>
                          <a:effectLst/>
                          <a:latin typeface="+mn-lt"/>
                          <a:ea typeface="+mn-ea"/>
                          <a:cs typeface="+mn-cs"/>
                        </a:rPr>
                        <a:t>ovsLockerItemMng</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2404372"/>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2026-06-19 </a:t>
              </a:r>
              <a:r>
                <a:rPr lang="ko-KR" altLang="en-US" dirty="0" smtClean="0"/>
                <a:t>내용 </a:t>
              </a:r>
              <a:r>
                <a:rPr lang="ko-KR" altLang="en-US" dirty="0"/>
                <a:t>수정</a:t>
              </a:r>
            </a:p>
          </p:txBody>
        </p:sp>
        <p:sp>
          <p:nvSpPr>
            <p:cNvPr id="9" name="직사각형 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smtClean="0"/>
                <a:t>국외 보관함 </a:t>
              </a:r>
              <a:r>
                <a:rPr lang="ko-KR" altLang="en-US" sz="700" dirty="0" err="1" smtClean="0"/>
                <a:t>유스케이스</a:t>
              </a:r>
              <a:r>
                <a:rPr lang="ko-KR" altLang="en-US" sz="700" dirty="0" smtClean="0"/>
                <a:t> </a:t>
              </a:r>
              <a:r>
                <a:rPr lang="en-US" altLang="ko-KR" sz="700" dirty="0" smtClean="0"/>
                <a:t>ID</a:t>
              </a:r>
              <a:r>
                <a:rPr lang="ko-KR" altLang="en-US" sz="700" dirty="0" smtClean="0"/>
                <a:t>추가</a:t>
              </a:r>
              <a:endParaRPr lang="en-US" altLang="ko-KR" sz="700" dirty="0"/>
            </a:p>
          </p:txBody>
        </p:sp>
      </p:grpSp>
      <p:grpSp>
        <p:nvGrpSpPr>
          <p:cNvPr id="10" name="그룹 9"/>
          <p:cNvGrpSpPr/>
          <p:nvPr/>
        </p:nvGrpSpPr>
        <p:grpSpPr>
          <a:xfrm>
            <a:off x="8223250" y="789392"/>
            <a:ext cx="3365500" cy="634511"/>
            <a:chOff x="8223250" y="569392"/>
            <a:chExt cx="3365500" cy="634511"/>
          </a:xfrm>
        </p:grpSpPr>
        <p:sp>
          <p:nvSpPr>
            <p:cNvPr id="11" name="직사각형 10"/>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내용 </a:t>
              </a:r>
              <a:r>
                <a:rPr lang="ko-KR" altLang="en-US" dirty="0"/>
                <a:t>수정</a:t>
              </a:r>
            </a:p>
          </p:txBody>
        </p:sp>
        <p:sp>
          <p:nvSpPr>
            <p:cNvPr id="12" name="직사각형 11"/>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화면 </a:t>
              </a:r>
              <a:r>
                <a:rPr lang="en-US" altLang="ko-KR" sz="700" dirty="0" smtClean="0"/>
                <a:t>ID </a:t>
              </a:r>
              <a:r>
                <a:rPr lang="ko-KR" altLang="en-US" sz="700" dirty="0" smtClean="0"/>
                <a:t>변경</a:t>
              </a:r>
              <a:endParaRPr lang="en-US" altLang="ko-KR" sz="700" dirty="0" smtClean="0"/>
            </a:p>
            <a:p>
              <a:pPr marL="228600" indent="-228600">
                <a:buAutoNum type="arabicPeriod"/>
              </a:pPr>
              <a:r>
                <a:rPr lang="ko-KR" altLang="en-US" sz="700" dirty="0" smtClean="0"/>
                <a:t>첨부파일조회 추가</a:t>
              </a:r>
              <a:endParaRPr lang="en-US" altLang="ko-KR" sz="700" dirty="0" smtClean="0"/>
            </a:p>
            <a:p>
              <a:pPr marL="228600" indent="-228600">
                <a:buAutoNum type="arabicPeriod"/>
              </a:pPr>
              <a:r>
                <a:rPr lang="ko-KR" altLang="en-US" sz="700" dirty="0" smtClean="0"/>
                <a:t>국외보관함상세</a:t>
              </a:r>
              <a:r>
                <a:rPr lang="en-US" altLang="ko-KR" sz="700" dirty="0" smtClean="0"/>
                <a:t> </a:t>
              </a:r>
              <a:r>
                <a:rPr lang="ko-KR" altLang="en-US" sz="700" dirty="0" smtClean="0"/>
                <a:t>삭제</a:t>
              </a:r>
              <a:endParaRPr lang="en-US" altLang="ko-KR" sz="700" dirty="0"/>
            </a:p>
          </p:txBody>
        </p:sp>
      </p:grpSp>
    </p:spTree>
    <p:extLst>
      <p:ext uri="{BB962C8B-B14F-4D97-AF65-F5344CB8AC3E}">
        <p14:creationId xmlns:p14="http://schemas.microsoft.com/office/powerpoint/2010/main" val="2445137013"/>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nvPr>
        </p:nvGraphicFramePr>
        <p:xfrm>
          <a:off x="635474" y="1413419"/>
          <a:ext cx="8701200" cy="25785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800" kern="1200" dirty="0">
                          <a:solidFill>
                            <a:schemeClr val="tx1"/>
                          </a:solidFill>
                          <a:latin typeface="+mn-ea"/>
                          <a:ea typeface="+mn-ea"/>
                          <a:cs typeface="+mn-cs"/>
                        </a:rPr>
                        <a:t>MUI-BD-01-M76</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OvsTmprBidCnRegPage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OvsTmprBidCnRegPage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base" latinLnBrk="1"/>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2499257"/>
                  </a:ext>
                </a:extLst>
              </a:tr>
              <a:tr h="180000">
                <a:tc>
                  <a:txBody>
                    <a:bodyPr/>
                    <a:lstStyle/>
                    <a:p>
                      <a:pPr algn="l" fontAlgn="ctr"/>
                      <a:r>
                        <a:rPr lang="en-US" sz="800" kern="1200" dirty="0" smtClean="0">
                          <a:solidFill>
                            <a:schemeClr val="tx1"/>
                          </a:solidFill>
                          <a:latin typeface="+mn-ea"/>
                          <a:ea typeface="+mn-ea"/>
                          <a:cs typeface="+mn-cs"/>
                        </a:rPr>
                        <a:t>MUI-BD-01-T74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일반정보</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ovsTmprBidCnReg_info</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보관함에 추가된 사업 품목에 대한 </a:t>
                      </a:r>
                      <a:r>
                        <a:rPr lang="ko-KR" altLang="en-US" sz="800" kern="1200" dirty="0" err="1" smtClean="0">
                          <a:solidFill>
                            <a:schemeClr val="tx1"/>
                          </a:solidFill>
                          <a:latin typeface="+mn-ea"/>
                          <a:ea typeface="+mn-ea"/>
                          <a:cs typeface="+mn-cs"/>
                        </a:rPr>
                        <a:t>입찰내역을</a:t>
                      </a:r>
                      <a:r>
                        <a:rPr lang="ko-KR" altLang="en-US" sz="800" kern="1200" dirty="0" smtClean="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ovsTmprBidCnReg</a:t>
                      </a:r>
                      <a:r>
                        <a:rPr lang="en-US" altLang="ko-KR" sz="800" b="0" i="0" u="none" strike="noStrike" dirty="0" smtClean="0">
                          <a:solidFill>
                            <a:schemeClr val="tx1"/>
                          </a:solidFill>
                          <a:effectLst/>
                          <a:latin typeface="+mn-lt"/>
                        </a:rPr>
                        <a:t>/</a:t>
                      </a:r>
                      <a:r>
                        <a:rPr lang="en-US" altLang="ko-KR" sz="800" dirty="0" err="1" smtClean="0">
                          <a:solidFill>
                            <a:schemeClr val="tx1"/>
                          </a:solidFill>
                          <a:latin typeface="+mn-lt"/>
                          <a:ea typeface="+mn-ea"/>
                        </a:rPr>
                        <a:t>ovsTmprBidCnReg_info</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mn-ea"/>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34673405"/>
                  </a:ext>
                </a:extLst>
              </a:tr>
              <a:tr h="180000">
                <a:tc>
                  <a:txBody>
                    <a:bodyPr/>
                    <a:lstStyle/>
                    <a:p>
                      <a:pPr algn="l" fontAlgn="ctr"/>
                      <a:r>
                        <a:rPr lang="en-US" altLang="ko-KR" sz="800" kern="1200" noProof="0" dirty="0" smtClean="0">
                          <a:solidFill>
                            <a:schemeClr val="tx1"/>
                          </a:solidFill>
                          <a:latin typeface="+mn-ea"/>
                          <a:ea typeface="+mn-ea"/>
                          <a:cs typeface="+mn-cs"/>
                        </a:rPr>
                        <a:t>MUI-BD-01-T75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BidDsctn</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err="1">
                          <a:solidFill>
                            <a:schemeClr val="tx1"/>
                          </a:solidFill>
                          <a:latin typeface="+mn-lt"/>
                          <a:ea typeface="+mn-ea"/>
                        </a:rPr>
                        <a:t>BidDsctn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4139824"/>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MUI-BD-01-T76</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BidDsctn2</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a:solidFill>
                            <a:schemeClr val="tx1"/>
                          </a:solidFill>
                          <a:latin typeface="+mn-lt"/>
                          <a:ea typeface="+mn-ea"/>
                        </a:rPr>
                        <a:t>BidDsctn2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5404868"/>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MUI-BD-01-P79</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이전공고입찰내역등록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OvsBfrTmprBidBidCnRegPage</a:t>
                      </a:r>
                      <a:endParaRPr lang="en-US" sz="800" b="0" i="0" u="none" strike="noStrike" dirty="0">
                        <a:solidFill>
                          <a:schemeClr val="tx1"/>
                        </a:solidFill>
                        <a:effectLst/>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현재 공고의 입찰내역으로 불러오는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OvsBfrTmprBidBidCnRegPage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8334899"/>
                  </a:ext>
                </a:extLst>
              </a:tr>
              <a:tr h="180000">
                <a:tc>
                  <a:txBody>
                    <a:bodyPr/>
                    <a:lstStyle/>
                    <a:p>
                      <a:pPr algn="l" fontAlgn="ct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MUI-BD-01-P80</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이전공고입찰내역품목상세</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BfrPbancBidDsctnItemDtl</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품목 확인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dirty="0">
                          <a:solidFill>
                            <a:schemeClr val="tx1"/>
                          </a:solidFill>
                          <a:latin typeface="+mn-lt"/>
                          <a:ea typeface="+mn-ea"/>
                        </a:rPr>
                        <a:t>/</a:t>
                      </a:r>
                      <a:r>
                        <a:rPr lang="en-US" altLang="ko-KR" sz="800" dirty="0" err="1">
                          <a:solidFill>
                            <a:schemeClr val="tx1"/>
                          </a:solidFill>
                          <a:latin typeface="+mn-lt"/>
                          <a:ea typeface="+mn-ea"/>
                        </a:rPr>
                        <a:t>BfrPbancBidDsctnItemDtl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496814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6255109"/>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290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77" idx="0"/>
          </p:cNvCxnSpPr>
          <p:nvPr/>
        </p:nvCxnSpPr>
        <p:spPr>
          <a:xfrm>
            <a:off x="2816608" y="1916964"/>
            <a:ext cx="0" cy="357827"/>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4193499" y="292061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첨부파일</a:t>
            </a: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27479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품목 목록</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2418791"/>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연결선: 꺾임 7">
            <a:extLst>
              <a:ext uri="{FF2B5EF4-FFF2-40B4-BE49-F238E27FC236}">
                <a16:creationId xmlns:a16="http://schemas.microsoft.com/office/drawing/2014/main" id="{89A2D828-4C18-4F90-6B31-722E89773AA8}"/>
              </a:ext>
            </a:extLst>
          </p:cNvPr>
          <p:cNvCxnSpPr>
            <a:cxnSpLocks/>
            <a:stCxn id="77" idx="3"/>
            <a:endCxn id="52" idx="1"/>
          </p:cNvCxnSpPr>
          <p:nvPr/>
        </p:nvCxnSpPr>
        <p:spPr>
          <a:xfrm flipV="1">
            <a:off x="3266608" y="1772964"/>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77" idx="3"/>
            <a:endCxn id="22" idx="1"/>
          </p:cNvCxnSpPr>
          <p:nvPr/>
        </p:nvCxnSpPr>
        <p:spPr>
          <a:xfrm>
            <a:off x="3266608" y="2418791"/>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17577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297461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4193499" y="356644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41" name="연결선: 꺾임 7">
            <a:extLst>
              <a:ext uri="{FF2B5EF4-FFF2-40B4-BE49-F238E27FC236}">
                <a16:creationId xmlns:a16="http://schemas.microsoft.com/office/drawing/2014/main" id="{89A2D828-4C18-4F90-6B31-722E89773AA8}"/>
              </a:ext>
            </a:extLst>
          </p:cNvPr>
          <p:cNvCxnSpPr>
            <a:cxnSpLocks/>
            <a:stCxn id="77" idx="2"/>
            <a:endCxn id="40" idx="1"/>
          </p:cNvCxnSpPr>
          <p:nvPr/>
        </p:nvCxnSpPr>
        <p:spPr>
          <a:xfrm rot="16200000" flipH="1">
            <a:off x="2931226" y="2448172"/>
            <a:ext cx="1147654"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5">
            <a:extLst>
              <a:ext uri="{FF2B5EF4-FFF2-40B4-BE49-F238E27FC236}">
                <a16:creationId xmlns:a16="http://schemas.microsoft.com/office/drawing/2014/main" id="{410E5459-200D-7630-863C-88E5109259DF}"/>
              </a:ext>
            </a:extLst>
          </p:cNvPr>
          <p:cNvSpPr/>
          <p:nvPr/>
        </p:nvSpPr>
        <p:spPr>
          <a:xfrm>
            <a:off x="4193499" y="421227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목표가공개품목조회</a:t>
            </a:r>
            <a:endParaRPr lang="ko-KR" altLang="en-US" sz="800" dirty="0">
              <a:solidFill>
                <a:schemeClr val="tx1"/>
              </a:solidFill>
            </a:endParaRPr>
          </a:p>
        </p:txBody>
      </p:sp>
      <p:cxnSp>
        <p:nvCxnSpPr>
          <p:cNvPr id="48" name="연결선: 꺾임 7">
            <a:extLst>
              <a:ext uri="{FF2B5EF4-FFF2-40B4-BE49-F238E27FC236}">
                <a16:creationId xmlns:a16="http://schemas.microsoft.com/office/drawing/2014/main" id="{89A2D828-4C18-4F90-6B31-722E89773AA8}"/>
              </a:ext>
            </a:extLst>
          </p:cNvPr>
          <p:cNvCxnSpPr>
            <a:cxnSpLocks/>
            <a:stCxn id="77" idx="2"/>
            <a:endCxn id="47" idx="1"/>
          </p:cNvCxnSpPr>
          <p:nvPr/>
        </p:nvCxnSpPr>
        <p:spPr>
          <a:xfrm rot="16200000" flipH="1">
            <a:off x="2608313" y="2771085"/>
            <a:ext cx="1793481"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F249990F-1DE5-C694-BDBD-2DE7009D57EA}"/>
              </a:ext>
            </a:extLst>
          </p:cNvPr>
          <p:cNvSpPr/>
          <p:nvPr/>
        </p:nvSpPr>
        <p:spPr>
          <a:xfrm>
            <a:off x="2909452" y="3501369"/>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61"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5093499" y="3064618"/>
            <a:ext cx="2514348"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5" name="직선 화살표 연결선 64">
            <a:extLst>
              <a:ext uri="{FF2B5EF4-FFF2-40B4-BE49-F238E27FC236}">
                <a16:creationId xmlns:a16="http://schemas.microsoft.com/office/drawing/2014/main" id="{9A519F08-B829-E35F-09D8-DFCD1F68B911}"/>
              </a:ext>
            </a:extLst>
          </p:cNvPr>
          <p:cNvCxnSpPr>
            <a:cxnSpLocks/>
            <a:stCxn id="22" idx="3"/>
            <a:endCxn id="80" idx="2"/>
          </p:cNvCxnSpPr>
          <p:nvPr/>
        </p:nvCxnSpPr>
        <p:spPr>
          <a:xfrm>
            <a:off x="5093499" y="3064618"/>
            <a:ext cx="2514348"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연결선: 꺾임 7">
            <a:extLst>
              <a:ext uri="{FF2B5EF4-FFF2-40B4-BE49-F238E27FC236}">
                <a16:creationId xmlns:a16="http://schemas.microsoft.com/office/drawing/2014/main" id="{89A2D828-4C18-4F90-6B31-722E89773AA8}"/>
              </a:ext>
            </a:extLst>
          </p:cNvPr>
          <p:cNvCxnSpPr>
            <a:cxnSpLocks/>
            <a:stCxn id="52" idx="3"/>
            <a:endCxn id="80" idx="0"/>
          </p:cNvCxnSpPr>
          <p:nvPr/>
        </p:nvCxnSpPr>
        <p:spPr>
          <a:xfrm>
            <a:off x="5093499" y="1772964"/>
            <a:ext cx="2604348" cy="120165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연결선: 꺾임 7">
            <a:extLst>
              <a:ext uri="{FF2B5EF4-FFF2-40B4-BE49-F238E27FC236}">
                <a16:creationId xmlns:a16="http://schemas.microsoft.com/office/drawing/2014/main" id="{89A2D828-4C18-4F90-6B31-722E89773AA8}"/>
              </a:ext>
            </a:extLst>
          </p:cNvPr>
          <p:cNvCxnSpPr>
            <a:cxnSpLocks/>
            <a:stCxn id="47" idx="3"/>
            <a:endCxn id="80" idx="2"/>
          </p:cNvCxnSpPr>
          <p:nvPr/>
        </p:nvCxnSpPr>
        <p:spPr>
          <a:xfrm flipV="1">
            <a:off x="5093499" y="3064618"/>
            <a:ext cx="2514348"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직사각형 81">
            <a:extLst>
              <a:ext uri="{FF2B5EF4-FFF2-40B4-BE49-F238E27FC236}">
                <a16:creationId xmlns:a16="http://schemas.microsoft.com/office/drawing/2014/main" id="{F249990F-1DE5-C694-BDBD-2DE7009D57EA}"/>
              </a:ext>
            </a:extLst>
          </p:cNvPr>
          <p:cNvSpPr/>
          <p:nvPr/>
        </p:nvSpPr>
        <p:spPr>
          <a:xfrm>
            <a:off x="2909452" y="417197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endParaRPr lang="en-US" altLang="ko-KR" sz="800" dirty="0">
              <a:solidFill>
                <a:schemeClr val="tx1"/>
              </a:solidFill>
              <a:latin typeface="+mn-ea"/>
            </a:endParaRPr>
          </a:p>
          <a:p>
            <a:pPr algn="ctr" fontAlgn="ctr"/>
            <a:r>
              <a:rPr lang="ko-KR" altLang="en-US" sz="800" dirty="0">
                <a:solidFill>
                  <a:schemeClr val="tx1"/>
                </a:solidFill>
                <a:latin typeface="+mn-ea"/>
              </a:rPr>
              <a:t>추가</a:t>
            </a:r>
            <a:r>
              <a:rPr lang="en-US" altLang="ko-KR" sz="800" dirty="0">
                <a:solidFill>
                  <a:schemeClr val="tx1"/>
                </a:solidFill>
                <a:latin typeface="+mn-ea"/>
              </a:rPr>
              <a:t>/</a:t>
            </a:r>
            <a:r>
              <a:rPr lang="ko-KR" altLang="en-US" sz="800" dirty="0">
                <a:solidFill>
                  <a:schemeClr val="tx1"/>
                </a:solidFill>
                <a:latin typeface="+mn-ea"/>
              </a:rPr>
              <a:t>삭제</a:t>
            </a:r>
          </a:p>
        </p:txBody>
      </p:sp>
      <p:cxnSp>
        <p:nvCxnSpPr>
          <p:cNvPr id="102" name="연결선: 꺾임 7">
            <a:extLst>
              <a:ext uri="{FF2B5EF4-FFF2-40B4-BE49-F238E27FC236}">
                <a16:creationId xmlns:a16="http://schemas.microsoft.com/office/drawing/2014/main" id="{89A2D828-4C18-4F90-6B31-722E89773AA8}"/>
              </a:ext>
            </a:extLst>
          </p:cNvPr>
          <p:cNvCxnSpPr>
            <a:cxnSpLocks/>
            <a:stCxn id="93" idx="3"/>
            <a:endCxn id="80" idx="0"/>
          </p:cNvCxnSpPr>
          <p:nvPr/>
        </p:nvCxnSpPr>
        <p:spPr>
          <a:xfrm>
            <a:off x="6930043" y="2418791"/>
            <a:ext cx="767804" cy="55582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사각형: 둥근 모서리 5">
            <a:extLst>
              <a:ext uri="{FF2B5EF4-FFF2-40B4-BE49-F238E27FC236}">
                <a16:creationId xmlns:a16="http://schemas.microsoft.com/office/drawing/2014/main" id="{410E5459-200D-7630-863C-88E5109259DF}"/>
              </a:ext>
            </a:extLst>
          </p:cNvPr>
          <p:cNvSpPr/>
          <p:nvPr/>
        </p:nvSpPr>
        <p:spPr>
          <a:xfrm>
            <a:off x="895473" y="4858099"/>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2366608"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p>
        </p:txBody>
      </p:sp>
      <p:sp>
        <p:nvSpPr>
          <p:cNvPr id="51" name="사각형: 둥근 모서리 5">
            <a:extLst>
              <a:ext uri="{FF2B5EF4-FFF2-40B4-BE49-F238E27FC236}">
                <a16:creationId xmlns:a16="http://schemas.microsoft.com/office/drawing/2014/main" id="{410E5459-200D-7630-863C-88E5109259DF}"/>
              </a:ext>
            </a:extLst>
          </p:cNvPr>
          <p:cNvSpPr/>
          <p:nvPr/>
        </p:nvSpPr>
        <p:spPr>
          <a:xfrm>
            <a:off x="6030043"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입찰내역</a:t>
            </a:r>
            <a:r>
              <a:rPr lang="ko-KR" altLang="en-US" sz="800" dirty="0">
                <a:solidFill>
                  <a:schemeClr val="tx1"/>
                </a:solidFill>
                <a:latin typeface="+mn-ea"/>
              </a:rPr>
              <a:t> 작성</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6030043"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품목 관리</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43" idx="0"/>
          </p:cNvCxnSpPr>
          <p:nvPr/>
        </p:nvCxnSpPr>
        <p:spPr>
          <a:xfrm flipH="1">
            <a:off x="1345473" y="1772964"/>
            <a:ext cx="90001" cy="3085135"/>
          </a:xfrm>
          <a:prstGeom prst="bentConnector4">
            <a:avLst>
              <a:gd name="adj1" fmla="val -253997"/>
              <a:gd name="adj2" fmla="val 5145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직선 화살표 연결선 57">
            <a:extLst>
              <a:ext uri="{FF2B5EF4-FFF2-40B4-BE49-F238E27FC236}">
                <a16:creationId xmlns:a16="http://schemas.microsoft.com/office/drawing/2014/main" id="{9A519F08-B829-E35F-09D8-DFCD1F68B911}"/>
              </a:ext>
            </a:extLst>
          </p:cNvPr>
          <p:cNvCxnSpPr>
            <a:cxnSpLocks/>
            <a:stCxn id="43" idx="3"/>
            <a:endCxn id="44" idx="1"/>
          </p:cNvCxnSpPr>
          <p:nvPr/>
        </p:nvCxnSpPr>
        <p:spPr>
          <a:xfrm>
            <a:off x="1795473" y="5002099"/>
            <a:ext cx="57113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직선 화살표 연결선 63">
            <a:extLst>
              <a:ext uri="{FF2B5EF4-FFF2-40B4-BE49-F238E27FC236}">
                <a16:creationId xmlns:a16="http://schemas.microsoft.com/office/drawing/2014/main" id="{9A519F08-B829-E35F-09D8-DFCD1F68B911}"/>
              </a:ext>
            </a:extLst>
          </p:cNvPr>
          <p:cNvCxnSpPr>
            <a:cxnSpLocks/>
            <a:stCxn id="77" idx="2"/>
            <a:endCxn id="44" idx="0"/>
          </p:cNvCxnSpPr>
          <p:nvPr/>
        </p:nvCxnSpPr>
        <p:spPr>
          <a:xfrm>
            <a:off x="2816608" y="2562791"/>
            <a:ext cx="0" cy="229530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3499"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상세</a:t>
            </a: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241879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9A519F08-B829-E35F-09D8-DFCD1F68B911}"/>
              </a:ext>
            </a:extLst>
          </p:cNvPr>
          <p:cNvCxnSpPr>
            <a:cxnSpLocks/>
            <a:stCxn id="44" idx="3"/>
            <a:endCxn id="67" idx="1"/>
          </p:cNvCxnSpPr>
          <p:nvPr/>
        </p:nvCxnSpPr>
        <p:spPr>
          <a:xfrm>
            <a:off x="3266608" y="5002099"/>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67" idx="3"/>
            <a:endCxn id="51" idx="1"/>
          </p:cNvCxnSpPr>
          <p:nvPr/>
        </p:nvCxnSpPr>
        <p:spPr>
          <a:xfrm>
            <a:off x="5093499" y="5002099"/>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2909452" y="461511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7" idx="3"/>
            <a:endCxn id="54" idx="1"/>
          </p:cNvCxnSpPr>
          <p:nvPr/>
        </p:nvCxnSpPr>
        <p:spPr>
          <a:xfrm>
            <a:off x="5093499" y="5002099"/>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56" idx="3"/>
            <a:endCxn id="80" idx="6"/>
          </p:cNvCxnSpPr>
          <p:nvPr/>
        </p:nvCxnSpPr>
        <p:spPr>
          <a:xfrm flipH="1" flipV="1">
            <a:off x="7787847" y="3064618"/>
            <a:ext cx="928997" cy="2583308"/>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연결선: 꺾임 7">
            <a:extLst>
              <a:ext uri="{FF2B5EF4-FFF2-40B4-BE49-F238E27FC236}">
                <a16:creationId xmlns:a16="http://schemas.microsoft.com/office/drawing/2014/main" id="{89A2D828-4C18-4F90-6B31-722E89773AA8}"/>
              </a:ext>
            </a:extLst>
          </p:cNvPr>
          <p:cNvCxnSpPr>
            <a:cxnSpLocks/>
            <a:stCxn id="54" idx="3"/>
            <a:endCxn id="80" idx="2"/>
          </p:cNvCxnSpPr>
          <p:nvPr/>
        </p:nvCxnSpPr>
        <p:spPr>
          <a:xfrm flipV="1">
            <a:off x="6930043" y="3064618"/>
            <a:ext cx="677804" cy="19374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사각형: 둥근 모서리 5">
            <a:extLst>
              <a:ext uri="{FF2B5EF4-FFF2-40B4-BE49-F238E27FC236}">
                <a16:creationId xmlns:a16="http://schemas.microsoft.com/office/drawing/2014/main" id="{410E5459-200D-7630-863C-88E5109259DF}"/>
              </a:ext>
            </a:extLst>
          </p:cNvPr>
          <p:cNvSpPr/>
          <p:nvPr/>
        </p:nvSpPr>
        <p:spPr>
          <a:xfrm>
            <a:off x="7816844"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이전공고</a:t>
            </a:r>
            <a:endParaRPr lang="en-US" altLang="ko-KR" sz="800" dirty="0">
              <a:solidFill>
                <a:schemeClr val="tx1"/>
              </a:solidFill>
              <a:latin typeface="+mn-ea"/>
            </a:endParaRPr>
          </a:p>
          <a:p>
            <a:pPr algn="ctr" fontAlgn="ctr"/>
            <a:r>
              <a:rPr lang="ko-KR" altLang="en-US" sz="800" dirty="0">
                <a:solidFill>
                  <a:schemeClr val="tx1"/>
                </a:solidFill>
                <a:latin typeface="+mn-ea"/>
              </a:rPr>
              <a:t>입찰내역등록</a:t>
            </a:r>
          </a:p>
        </p:txBody>
      </p:sp>
      <p:cxnSp>
        <p:nvCxnSpPr>
          <p:cNvPr id="59" name="직선 화살표 연결선 58">
            <a:extLst>
              <a:ext uri="{FF2B5EF4-FFF2-40B4-BE49-F238E27FC236}">
                <a16:creationId xmlns:a16="http://schemas.microsoft.com/office/drawing/2014/main" id="{9A519F08-B829-E35F-09D8-DFCD1F68B911}"/>
              </a:ext>
            </a:extLst>
          </p:cNvPr>
          <p:cNvCxnSpPr>
            <a:cxnSpLocks/>
            <a:stCxn id="51" idx="3"/>
            <a:endCxn id="56" idx="1"/>
          </p:cNvCxnSpPr>
          <p:nvPr/>
        </p:nvCxnSpPr>
        <p:spPr>
          <a:xfrm>
            <a:off x="6930043" y="5647926"/>
            <a:ext cx="88680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사각형: 둥근 모서리 5">
            <a:extLst>
              <a:ext uri="{FF2B5EF4-FFF2-40B4-BE49-F238E27FC236}">
                <a16:creationId xmlns:a16="http://schemas.microsoft.com/office/drawing/2014/main" id="{410E5459-200D-7630-863C-88E5109259DF}"/>
              </a:ext>
            </a:extLst>
          </p:cNvPr>
          <p:cNvSpPr/>
          <p:nvPr/>
        </p:nvSpPr>
        <p:spPr>
          <a:xfrm>
            <a:off x="7816844" y="6149753"/>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입찰 참가 신청</a:t>
            </a:r>
          </a:p>
        </p:txBody>
      </p:sp>
      <p:cxnSp>
        <p:nvCxnSpPr>
          <p:cNvPr id="75" name="연결선: 꺾임 7">
            <a:extLst>
              <a:ext uri="{FF2B5EF4-FFF2-40B4-BE49-F238E27FC236}">
                <a16:creationId xmlns:a16="http://schemas.microsoft.com/office/drawing/2014/main" id="{89A2D828-4C18-4F90-6B31-722E89773AA8}"/>
              </a:ext>
            </a:extLst>
          </p:cNvPr>
          <p:cNvCxnSpPr>
            <a:cxnSpLocks/>
            <a:stCxn id="51" idx="3"/>
            <a:endCxn id="71" idx="1"/>
          </p:cNvCxnSpPr>
          <p:nvPr/>
        </p:nvCxnSpPr>
        <p:spPr>
          <a:xfrm>
            <a:off x="6930043" y="5647926"/>
            <a:ext cx="88680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71" idx="3"/>
            <a:endCxn id="80" idx="6"/>
          </p:cNvCxnSpPr>
          <p:nvPr/>
        </p:nvCxnSpPr>
        <p:spPr>
          <a:xfrm flipH="1" flipV="1">
            <a:off x="7787847" y="3064618"/>
            <a:ext cx="928997" cy="3229135"/>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F249990F-1DE5-C694-BDBD-2DE7009D57EA}"/>
              </a:ext>
            </a:extLst>
          </p:cNvPr>
          <p:cNvSpPr/>
          <p:nvPr/>
        </p:nvSpPr>
        <p:spPr>
          <a:xfrm>
            <a:off x="6033977" y="5799054"/>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총액제</a:t>
            </a:r>
            <a:r>
              <a:rPr lang="en-US" altLang="ko-KR" sz="800" dirty="0">
                <a:solidFill>
                  <a:schemeClr val="tx1"/>
                </a:solidFill>
              </a:rPr>
              <a:t>)</a:t>
            </a:r>
            <a:endParaRPr lang="ko-KR" altLang="en-US" sz="800" dirty="0">
              <a:solidFill>
                <a:schemeClr val="tx1"/>
              </a:solidFill>
            </a:endParaRPr>
          </a:p>
        </p:txBody>
      </p:sp>
      <p:sp>
        <p:nvSpPr>
          <p:cNvPr id="57" name="직사각형 56">
            <a:extLst>
              <a:ext uri="{FF2B5EF4-FFF2-40B4-BE49-F238E27FC236}">
                <a16:creationId xmlns:a16="http://schemas.microsoft.com/office/drawing/2014/main" id="{F249990F-1DE5-C694-BDBD-2DE7009D57EA}"/>
              </a:ext>
            </a:extLst>
          </p:cNvPr>
          <p:cNvSpPr/>
          <p:nvPr/>
        </p:nvSpPr>
        <p:spPr>
          <a:xfrm>
            <a:off x="7697847" y="5799054"/>
            <a:ext cx="123110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latin typeface="+mn-ea"/>
              </a:rPr>
              <a:t>이전공고입찰내역목록</a:t>
            </a:r>
            <a:endParaRPr lang="en-US" altLang="ko-KR" sz="800" dirty="0">
              <a:solidFill>
                <a:schemeClr val="tx1"/>
              </a:solidFill>
              <a:latin typeface="+mn-ea"/>
            </a:endParaRPr>
          </a:p>
          <a:p>
            <a:r>
              <a:rPr lang="ko-KR" altLang="en-US" sz="800" dirty="0" err="1">
                <a:solidFill>
                  <a:schemeClr val="tx1"/>
                </a:solidFill>
                <a:latin typeface="+mn-ea"/>
              </a:rPr>
              <a:t>이전공고입찰내역품목상세</a:t>
            </a:r>
            <a:endParaRPr lang="ko-KR" altLang="en-US" sz="800" dirty="0">
              <a:solidFill>
                <a:schemeClr val="tx1"/>
              </a:solidFill>
            </a:endParaRPr>
          </a:p>
        </p:txBody>
      </p:sp>
      <p:sp>
        <p:nvSpPr>
          <p:cNvPr id="60" name="직사각형 59">
            <a:extLst>
              <a:ext uri="{FF2B5EF4-FFF2-40B4-BE49-F238E27FC236}">
                <a16:creationId xmlns:a16="http://schemas.microsoft.com/office/drawing/2014/main" id="{58089D19-DA24-C60B-3B55-C19DA3E3E3D8}"/>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1.2.1. </a:t>
            </a:r>
            <a:r>
              <a:rPr lang="ko-KR" altLang="en-US" sz="1200" dirty="0">
                <a:solidFill>
                  <a:schemeClr val="tx1"/>
                </a:solidFill>
              </a:rPr>
              <a:t>입찰공고</a:t>
            </a:r>
          </a:p>
        </p:txBody>
      </p:sp>
    </p:spTree>
    <p:extLst>
      <p:ext uri="{BB962C8B-B14F-4D97-AF65-F5344CB8AC3E}">
        <p14:creationId xmlns:p14="http://schemas.microsoft.com/office/powerpoint/2010/main" val="979292127"/>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C45F9C1-4B20-0B09-F5C4-18055F80D9A7}"/>
              </a:ext>
            </a:extLst>
          </p:cNvPr>
          <p:cNvSpPr>
            <a:spLocks noGrp="1"/>
          </p:cNvSpPr>
          <p:nvPr>
            <p:ph type="sldNum" sz="quarter" idx="4"/>
          </p:nvPr>
        </p:nvSpPr>
        <p:spPr/>
        <p:txBody>
          <a:bodyPr/>
          <a:lstStyle/>
          <a:p>
            <a:fld id="{34C8E023-7346-48FC-AB24-9A3388C53208}" type="slidenum">
              <a:rPr lang="ko-KR" altLang="en-US" smtClean="0"/>
              <a:pPr/>
              <a:t>291</a:t>
            </a:fld>
            <a:endParaRPr lang="ko-KR" altLang="en-US" dirty="0"/>
          </a:p>
        </p:txBody>
      </p:sp>
      <p:sp>
        <p:nvSpPr>
          <p:cNvPr id="4" name="텍스트 개체 틀 2">
            <a:extLst>
              <a:ext uri="{FF2B5EF4-FFF2-40B4-BE49-F238E27FC236}">
                <a16:creationId xmlns:a16="http://schemas.microsoft.com/office/drawing/2014/main" id="{8DBCF2F0-B2B0-DF34-38F0-DB208C3D9428}"/>
              </a:ext>
            </a:extLst>
          </p:cNvPr>
          <p:cNvSpPr>
            <a:spLocks noGrp="1"/>
          </p:cNvSpPr>
          <p:nvPr>
            <p:ph type="body" sz="quarter" idx="10"/>
          </p:nvPr>
        </p:nvSpPr>
        <p:spPr>
          <a:xfrm>
            <a:off x="457199" y="612000"/>
            <a:ext cx="9001125" cy="324000"/>
          </a:xfrm>
        </p:spPr>
        <p:txBody>
          <a:bodyPr/>
          <a:lstStyle/>
          <a:p>
            <a:r>
              <a:rPr lang="en-US" altLang="ko-KR" dirty="0" smtClean="0"/>
              <a:t>7.2. </a:t>
            </a:r>
            <a:r>
              <a:rPr lang="ko-KR" altLang="en-US" dirty="0"/>
              <a:t>화면 흐름도</a:t>
            </a:r>
          </a:p>
        </p:txBody>
      </p:sp>
      <p:sp>
        <p:nvSpPr>
          <p:cNvPr id="5" name="직사각형 4">
            <a:extLst>
              <a:ext uri="{FF2B5EF4-FFF2-40B4-BE49-F238E27FC236}">
                <a16:creationId xmlns:a16="http://schemas.microsoft.com/office/drawing/2014/main" id="{D06A425C-709E-EF0E-2A1E-4EB9A2D5C832}"/>
              </a:ext>
            </a:extLst>
          </p:cNvPr>
          <p:cNvSpPr/>
          <p:nvPr/>
        </p:nvSpPr>
        <p:spPr>
          <a:xfrm>
            <a:off x="749717" y="1026000"/>
            <a:ext cx="2331413"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7.2.2. </a:t>
            </a:r>
            <a:r>
              <a:rPr lang="ko-KR" altLang="en-US" sz="1200" dirty="0">
                <a:solidFill>
                  <a:schemeClr val="tx1"/>
                </a:solidFill>
              </a:rPr>
              <a:t>계약방법</a:t>
            </a:r>
            <a:r>
              <a:rPr lang="en-US" altLang="ko-KR" sz="1200" dirty="0">
                <a:solidFill>
                  <a:schemeClr val="tx1"/>
                </a:solidFill>
              </a:rPr>
              <a:t>/</a:t>
            </a:r>
            <a:r>
              <a:rPr lang="ko-KR" altLang="en-US" sz="1200" dirty="0" err="1">
                <a:solidFill>
                  <a:schemeClr val="tx1"/>
                </a:solidFill>
              </a:rPr>
              <a:t>낙찰방법</a:t>
            </a:r>
            <a:endParaRPr lang="ko-KR" altLang="en-US" sz="1200" dirty="0">
              <a:solidFill>
                <a:schemeClr val="tx1"/>
              </a:solidFill>
            </a:endParaRPr>
          </a:p>
        </p:txBody>
      </p:sp>
      <p:graphicFrame>
        <p:nvGraphicFramePr>
          <p:cNvPr id="6" name="표 5">
            <a:extLst>
              <a:ext uri="{FF2B5EF4-FFF2-40B4-BE49-F238E27FC236}">
                <a16:creationId xmlns:a16="http://schemas.microsoft.com/office/drawing/2014/main" id="{4496FE2F-2FC2-AB28-8574-4AE4E7467F7F}"/>
              </a:ext>
            </a:extLst>
          </p:cNvPr>
          <p:cNvGraphicFramePr>
            <a:graphicFrameLocks noGrp="1"/>
          </p:cNvGraphicFramePr>
          <p:nvPr>
            <p:extLst/>
          </p:nvPr>
        </p:nvGraphicFramePr>
        <p:xfrm>
          <a:off x="457200" y="1294316"/>
          <a:ext cx="9001126" cy="1573199"/>
        </p:xfrm>
        <a:graphic>
          <a:graphicData uri="http://schemas.openxmlformats.org/drawingml/2006/table">
            <a:tbl>
              <a:tblPr>
                <a:tableStyleId>{073A0DAA-6AF3-43AB-8588-CEC1D06C72B9}</a:tableStyleId>
              </a:tblPr>
              <a:tblGrid>
                <a:gridCol w="486485">
                  <a:extLst>
                    <a:ext uri="{9D8B030D-6E8A-4147-A177-3AD203B41FA5}">
                      <a16:colId xmlns:a16="http://schemas.microsoft.com/office/drawing/2014/main" val="1514238136"/>
                    </a:ext>
                  </a:extLst>
                </a:gridCol>
                <a:gridCol w="449062">
                  <a:extLst>
                    <a:ext uri="{9D8B030D-6E8A-4147-A177-3AD203B41FA5}">
                      <a16:colId xmlns:a16="http://schemas.microsoft.com/office/drawing/2014/main" val="3149676768"/>
                    </a:ext>
                  </a:extLst>
                </a:gridCol>
                <a:gridCol w="785859">
                  <a:extLst>
                    <a:ext uri="{9D8B030D-6E8A-4147-A177-3AD203B41FA5}">
                      <a16:colId xmlns:a16="http://schemas.microsoft.com/office/drawing/2014/main" val="3492731607"/>
                    </a:ext>
                  </a:extLst>
                </a:gridCol>
                <a:gridCol w="727972">
                  <a:extLst>
                    <a:ext uri="{9D8B030D-6E8A-4147-A177-3AD203B41FA5}">
                      <a16:colId xmlns:a16="http://schemas.microsoft.com/office/drawing/2014/main" val="1852613810"/>
                    </a:ext>
                  </a:extLst>
                </a:gridCol>
                <a:gridCol w="727972">
                  <a:extLst>
                    <a:ext uri="{9D8B030D-6E8A-4147-A177-3AD203B41FA5}">
                      <a16:colId xmlns:a16="http://schemas.microsoft.com/office/drawing/2014/main" val="3339308243"/>
                    </a:ext>
                  </a:extLst>
                </a:gridCol>
                <a:gridCol w="727972">
                  <a:extLst>
                    <a:ext uri="{9D8B030D-6E8A-4147-A177-3AD203B41FA5}">
                      <a16:colId xmlns:a16="http://schemas.microsoft.com/office/drawing/2014/main" val="3178130443"/>
                    </a:ext>
                  </a:extLst>
                </a:gridCol>
                <a:gridCol w="727972">
                  <a:extLst>
                    <a:ext uri="{9D8B030D-6E8A-4147-A177-3AD203B41FA5}">
                      <a16:colId xmlns:a16="http://schemas.microsoft.com/office/drawing/2014/main" val="54136518"/>
                    </a:ext>
                  </a:extLst>
                </a:gridCol>
                <a:gridCol w="727972">
                  <a:extLst>
                    <a:ext uri="{9D8B030D-6E8A-4147-A177-3AD203B41FA5}">
                      <a16:colId xmlns:a16="http://schemas.microsoft.com/office/drawing/2014/main" val="3072629197"/>
                    </a:ext>
                  </a:extLst>
                </a:gridCol>
                <a:gridCol w="727972">
                  <a:extLst>
                    <a:ext uri="{9D8B030D-6E8A-4147-A177-3AD203B41FA5}">
                      <a16:colId xmlns:a16="http://schemas.microsoft.com/office/drawing/2014/main" val="3951177224"/>
                    </a:ext>
                  </a:extLst>
                </a:gridCol>
                <a:gridCol w="727972">
                  <a:extLst>
                    <a:ext uri="{9D8B030D-6E8A-4147-A177-3AD203B41FA5}">
                      <a16:colId xmlns:a16="http://schemas.microsoft.com/office/drawing/2014/main" val="3584942108"/>
                    </a:ext>
                  </a:extLst>
                </a:gridCol>
                <a:gridCol w="727972">
                  <a:extLst>
                    <a:ext uri="{9D8B030D-6E8A-4147-A177-3AD203B41FA5}">
                      <a16:colId xmlns:a16="http://schemas.microsoft.com/office/drawing/2014/main" val="2654666997"/>
                    </a:ext>
                  </a:extLst>
                </a:gridCol>
                <a:gridCol w="727972">
                  <a:extLst>
                    <a:ext uri="{9D8B030D-6E8A-4147-A177-3AD203B41FA5}">
                      <a16:colId xmlns:a16="http://schemas.microsoft.com/office/drawing/2014/main" val="1536767752"/>
                    </a:ext>
                  </a:extLst>
                </a:gridCol>
                <a:gridCol w="727972">
                  <a:extLst>
                    <a:ext uri="{9D8B030D-6E8A-4147-A177-3AD203B41FA5}">
                      <a16:colId xmlns:a16="http://schemas.microsoft.com/office/drawing/2014/main" val="51061382"/>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rowSpan="2"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10">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ko-KR" altLang="en-US" sz="55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공개수의결과등록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입찰내역작성</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noStrike" dirty="0">
                          <a:solidFill>
                            <a:srgbClr val="000000"/>
                          </a:solidFill>
                          <a:effectLst/>
                          <a:latin typeface="맑은 고딕" panose="020B0503020000020004" pitchFamily="50" charset="-127"/>
                          <a:ea typeface="+mn-ea"/>
                        </a:rPr>
                        <a:t>(UI-BD-01-M77</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endParaRPr lang="en-US" altLang="ko-KR" sz="550" b="0" i="0" u="none" strike="no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입찰참가신청서작성</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(UI-BD-04-M72)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mn-ea"/>
                        </a:rPr>
                        <a:t>(UI-BD-05-M71)</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UI-BD-06-M71)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맑은 고딕" panose="020B0503020000020004" pitchFamily="50" charset="-127"/>
                        </a:rPr>
                        <a:t>역경매입찰서제출</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sngStrike" dirty="0">
                          <a:solidFill>
                            <a:srgbClr val="000000"/>
                          </a:solidFill>
                          <a:effectLst/>
                          <a:latin typeface="맑은 고딕" panose="020B0503020000020004" pitchFamily="50" charset="-127"/>
                          <a:ea typeface="+mn-ea"/>
                        </a:rPr>
                        <a:t>(UI-BD-06-M72)</a:t>
                      </a:r>
                      <a:endParaRPr lang="en-US"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mn-ea"/>
                        </a:rPr>
                        <a:t>공개수의협상견적서제출</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sz="550" b="0" i="0" u="none" strike="noStrike" dirty="0">
                          <a:solidFill>
                            <a:srgbClr val="000000"/>
                          </a:solidFill>
                          <a:effectLst/>
                          <a:latin typeface="맑은 고딕" panose="020B0503020000020004" pitchFamily="50" charset="-127"/>
                          <a:ea typeface="+mn-ea"/>
                        </a:rPr>
                        <a:t>(</a:t>
                      </a:r>
                      <a:r>
                        <a:rPr lang="en-US" altLang="ko-KR" sz="550" b="0" i="0" u="none" strike="noStrike" dirty="0">
                          <a:solidFill>
                            <a:srgbClr val="000000"/>
                          </a:solidFill>
                          <a:effectLst/>
                          <a:latin typeface="맑은 고딕" panose="020B0503020000020004" pitchFamily="50" charset="-127"/>
                          <a:ea typeface="+mn-ea"/>
                        </a:rPr>
                        <a:t>UI-BD-12-M74)</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mn-ea"/>
                        </a:rPr>
                        <a:t>(UI-BD-07-M72)</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입찰실시</a:t>
                      </a:r>
                      <a:b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sngStrike" dirty="0">
                          <a:solidFill>
                            <a:srgbClr val="000000"/>
                          </a:solidFill>
                          <a:effectLst/>
                          <a:latin typeface="맑은 고딕" panose="020B0503020000020004" pitchFamily="50" charset="-127"/>
                          <a:ea typeface="+mn-ea"/>
                        </a:rPr>
                        <a:t>(UI-BD-08-M71)</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맑은 고딕" panose="020B0503020000020004" pitchFamily="50" charset="-127"/>
                        </a:rPr>
                        <a:t>공개수의협상결과등록</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(UI-BD-12-M77)</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역경매</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82816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47774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777821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endPar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5100053"/>
                  </a:ext>
                </a:extLst>
              </a:tr>
            </a:tbl>
          </a:graphicData>
        </a:graphic>
      </p:graphicFrame>
      <p:sp>
        <p:nvSpPr>
          <p:cNvPr id="9" name="직사각형 8">
            <a:extLst>
              <a:ext uri="{FF2B5EF4-FFF2-40B4-BE49-F238E27FC236}">
                <a16:creationId xmlns:a16="http://schemas.microsoft.com/office/drawing/2014/main" id="{96CDF256-7132-BAD7-0F10-1EFD5D5D95E6}"/>
              </a:ext>
            </a:extLst>
          </p:cNvPr>
          <p:cNvSpPr/>
          <p:nvPr/>
        </p:nvSpPr>
        <p:spPr>
          <a:xfrm>
            <a:off x="5853114" y="3876836"/>
            <a:ext cx="1581150" cy="3876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000"/>
              <a:t>역경매</a:t>
            </a:r>
            <a:r>
              <a:rPr lang="en-US" altLang="ko-KR" sz="1000"/>
              <a:t>?</a:t>
            </a:r>
            <a:endParaRPr lang="ko-KR" altLang="en-US" sz="1000"/>
          </a:p>
        </p:txBody>
      </p:sp>
      <p:graphicFrame>
        <p:nvGraphicFramePr>
          <p:cNvPr id="10" name="표 9">
            <a:extLst>
              <a:ext uri="{FF2B5EF4-FFF2-40B4-BE49-F238E27FC236}">
                <a16:creationId xmlns:a16="http://schemas.microsoft.com/office/drawing/2014/main" id="{4496FE2F-2FC2-AB28-8574-4AE4E7467F7F}"/>
              </a:ext>
            </a:extLst>
          </p:cNvPr>
          <p:cNvGraphicFramePr>
            <a:graphicFrameLocks noGrp="1"/>
          </p:cNvGraphicFramePr>
          <p:nvPr>
            <p:extLst/>
          </p:nvPr>
        </p:nvGraphicFramePr>
        <p:xfrm>
          <a:off x="457200" y="3789866"/>
          <a:ext cx="9001127" cy="1281731"/>
        </p:xfrm>
        <a:graphic>
          <a:graphicData uri="http://schemas.openxmlformats.org/drawingml/2006/table">
            <a:tbl>
              <a:tblPr>
                <a:tableStyleId>{073A0DAA-6AF3-43AB-8588-CEC1D06C72B9}</a:tableStyleId>
              </a:tblPr>
              <a:tblGrid>
                <a:gridCol w="486485">
                  <a:extLst>
                    <a:ext uri="{9D8B030D-6E8A-4147-A177-3AD203B41FA5}">
                      <a16:colId xmlns:a16="http://schemas.microsoft.com/office/drawing/2014/main" val="1514238136"/>
                    </a:ext>
                  </a:extLst>
                </a:gridCol>
                <a:gridCol w="449062">
                  <a:extLst>
                    <a:ext uri="{9D8B030D-6E8A-4147-A177-3AD203B41FA5}">
                      <a16:colId xmlns:a16="http://schemas.microsoft.com/office/drawing/2014/main" val="3149676768"/>
                    </a:ext>
                  </a:extLst>
                </a:gridCol>
                <a:gridCol w="785860">
                  <a:extLst>
                    <a:ext uri="{9D8B030D-6E8A-4147-A177-3AD203B41FA5}">
                      <a16:colId xmlns:a16="http://schemas.microsoft.com/office/drawing/2014/main" val="3492731607"/>
                    </a:ext>
                  </a:extLst>
                </a:gridCol>
                <a:gridCol w="727972">
                  <a:extLst>
                    <a:ext uri="{9D8B030D-6E8A-4147-A177-3AD203B41FA5}">
                      <a16:colId xmlns:a16="http://schemas.microsoft.com/office/drawing/2014/main" val="1852613810"/>
                    </a:ext>
                  </a:extLst>
                </a:gridCol>
                <a:gridCol w="727972">
                  <a:extLst>
                    <a:ext uri="{9D8B030D-6E8A-4147-A177-3AD203B41FA5}">
                      <a16:colId xmlns:a16="http://schemas.microsoft.com/office/drawing/2014/main" val="3872983152"/>
                    </a:ext>
                  </a:extLst>
                </a:gridCol>
                <a:gridCol w="727972">
                  <a:extLst>
                    <a:ext uri="{9D8B030D-6E8A-4147-A177-3AD203B41FA5}">
                      <a16:colId xmlns:a16="http://schemas.microsoft.com/office/drawing/2014/main" val="3178130443"/>
                    </a:ext>
                  </a:extLst>
                </a:gridCol>
                <a:gridCol w="727972">
                  <a:extLst>
                    <a:ext uri="{9D8B030D-6E8A-4147-A177-3AD203B41FA5}">
                      <a16:colId xmlns:a16="http://schemas.microsoft.com/office/drawing/2014/main" val="54136518"/>
                    </a:ext>
                  </a:extLst>
                </a:gridCol>
                <a:gridCol w="727972">
                  <a:extLst>
                    <a:ext uri="{9D8B030D-6E8A-4147-A177-3AD203B41FA5}">
                      <a16:colId xmlns:a16="http://schemas.microsoft.com/office/drawing/2014/main" val="3072629197"/>
                    </a:ext>
                  </a:extLst>
                </a:gridCol>
                <a:gridCol w="727972">
                  <a:extLst>
                    <a:ext uri="{9D8B030D-6E8A-4147-A177-3AD203B41FA5}">
                      <a16:colId xmlns:a16="http://schemas.microsoft.com/office/drawing/2014/main" val="853219770"/>
                    </a:ext>
                  </a:extLst>
                </a:gridCol>
                <a:gridCol w="727972">
                  <a:extLst>
                    <a:ext uri="{9D8B030D-6E8A-4147-A177-3AD203B41FA5}">
                      <a16:colId xmlns:a16="http://schemas.microsoft.com/office/drawing/2014/main" val="2654666997"/>
                    </a:ext>
                  </a:extLst>
                </a:gridCol>
                <a:gridCol w="727972">
                  <a:extLst>
                    <a:ext uri="{9D8B030D-6E8A-4147-A177-3AD203B41FA5}">
                      <a16:colId xmlns:a16="http://schemas.microsoft.com/office/drawing/2014/main" val="1536767752"/>
                    </a:ext>
                  </a:extLst>
                </a:gridCol>
                <a:gridCol w="727972">
                  <a:extLst>
                    <a:ext uri="{9D8B030D-6E8A-4147-A177-3AD203B41FA5}">
                      <a16:colId xmlns:a16="http://schemas.microsoft.com/office/drawing/2014/main" val="2640426324"/>
                    </a:ext>
                  </a:extLst>
                </a:gridCol>
                <a:gridCol w="727972">
                  <a:extLst>
                    <a:ext uri="{9D8B030D-6E8A-4147-A177-3AD203B41FA5}">
                      <a16:colId xmlns:a16="http://schemas.microsoft.com/office/drawing/2014/main" val="3093499088"/>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a:ln>
                            <a:noFill/>
                          </a:ln>
                          <a:solidFill>
                            <a:srgbClr val="000000"/>
                          </a:solidFill>
                          <a:effectLst/>
                          <a:uLnTx/>
                          <a:uFillTx/>
                          <a:latin typeface="+mn-lt"/>
                          <a:ea typeface="맑은 고딕" panose="020B0503020000020004" pitchFamily="50" charset="-127"/>
                          <a:cs typeface="+mn-cs"/>
                        </a:rPr>
                        <a:t>　</a:t>
                      </a: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0">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협        상</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협상등록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견적서작성</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결과처리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협상등록</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견적서작성</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결과처리</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장비수의계약</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파일제출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업무구분</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계약방법</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낙찰방법</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유찰수의협상등록</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sngStrike" dirty="0">
                          <a:solidFill>
                            <a:srgbClr val="000000"/>
                          </a:solidFill>
                          <a:effectLst/>
                          <a:latin typeface="맑은 고딕" panose="020B0503020000020004" pitchFamily="50" charset="-127"/>
                          <a:ea typeface="+mn-ea"/>
                        </a:rPr>
                        <a:t>(UI-BD-13-M71)</a:t>
                      </a:r>
                      <a:endParaRPr lang="en-US"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mn-ea"/>
                        </a:rPr>
                        <a:t>유찰수의견적서작성</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altLang="ko-KR" sz="550" b="0" i="0" u="none" strike="noStrike" dirty="0">
                          <a:solidFill>
                            <a:srgbClr val="000000"/>
                          </a:solidFill>
                          <a:effectLst/>
                          <a:latin typeface="맑은 고딕" panose="020B0503020000020004" pitchFamily="50" charset="-127"/>
                          <a:ea typeface="+mn-ea"/>
                        </a:rPr>
                        <a:t>(UI-BD-13-M79)</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mn-ea"/>
                        </a:rPr>
                        <a:t>유찰수의견적서처리</a:t>
                      </a:r>
                      <a:endParaRPr lang="en-US" altLang="ko-KR" sz="550" b="0" i="0" u="none" strike="sngStrike" dirty="0">
                        <a:solidFill>
                          <a:srgbClr val="000000"/>
                        </a:solidFill>
                        <a:effectLst/>
                        <a:latin typeface="맑은 고딕" panose="020B0503020000020004" pitchFamily="50" charset="-127"/>
                        <a:ea typeface="+mn-ea"/>
                      </a:endParaRPr>
                    </a:p>
                    <a:p>
                      <a:pPr algn="ctr" fontAlgn="t"/>
                      <a:r>
                        <a:rPr lang="en-US" altLang="ko-KR" sz="550" b="0" i="0" u="none" strike="sngStrike" dirty="0">
                          <a:solidFill>
                            <a:srgbClr val="000000"/>
                          </a:solidFill>
                          <a:effectLst/>
                          <a:latin typeface="맑은 고딕" panose="020B0503020000020004" pitchFamily="50" charset="-127"/>
                          <a:ea typeface="+mn-ea"/>
                        </a:rPr>
                        <a:t>(UI-BD-13-M76)</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협상등록</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noStrike" dirty="0">
                          <a:solidFill>
                            <a:srgbClr val="000000"/>
                          </a:solidFill>
                          <a:effectLst/>
                          <a:latin typeface="맑은 고딕" panose="020B0503020000020004" pitchFamily="50" charset="-127"/>
                          <a:ea typeface="+mn-ea"/>
                        </a:rPr>
                        <a:t>(UI-BD-14-M71)</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mn-ea"/>
                        </a:rPr>
                        <a:t>견적서작성</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altLang="ko-KR" sz="550" b="0" i="0" u="none" strike="noStrike" dirty="0">
                          <a:solidFill>
                            <a:srgbClr val="000000"/>
                          </a:solidFill>
                          <a:effectLst/>
                          <a:latin typeface="맑은 고딕" panose="020B0503020000020004" pitchFamily="50" charset="-127"/>
                          <a:ea typeface="+mn-ea"/>
                        </a:rPr>
                        <a:t>(UI-BD-14-M77)</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mn-ea"/>
                        </a:rPr>
                        <a:t>견적서처리</a:t>
                      </a:r>
                      <a:endParaRPr lang="en-US" altLang="ko-KR" sz="550" b="0" i="0" u="none" strike="sng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(UI-BD-14-M74)</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mn-ea"/>
                        </a:rPr>
                        <a:t>장비수의계약목록</a:t>
                      </a:r>
                      <a:endParaRPr lang="en-US" altLang="ko-KR" sz="550" b="0" i="0" u="none" strike="no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noStrike" dirty="0">
                          <a:solidFill>
                            <a:srgbClr val="000000"/>
                          </a:solidFill>
                          <a:effectLst/>
                          <a:latin typeface="맑은 고딕" panose="020B0503020000020004" pitchFamily="50" charset="-127"/>
                          <a:ea typeface="+mn-ea"/>
                        </a:rPr>
                        <a:t>(UI-BD-15-M71)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noStrike" dirty="0" err="1">
                          <a:solidFill>
                            <a:srgbClr val="000000"/>
                          </a:solidFill>
                          <a:effectLst/>
                          <a:latin typeface="맑은 고딕" panose="020B0503020000020004" pitchFamily="50" charset="-127"/>
                          <a:ea typeface="+mn-ea"/>
                        </a:rPr>
                        <a:t>제출상세</a:t>
                      </a:r>
                      <a:endParaRPr lang="en-US" altLang="ko-KR" sz="550" b="0" i="0" u="none" strike="no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noStrike" dirty="0">
                          <a:solidFill>
                            <a:srgbClr val="000000"/>
                          </a:solidFill>
                          <a:effectLst/>
                          <a:latin typeface="맑은 고딕" panose="020B0503020000020004" pitchFamily="50" charset="-127"/>
                          <a:ea typeface="+mn-ea"/>
                        </a:rPr>
                        <a:t>(UI-BD-15-M81)</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sngStrike" dirty="0" err="1">
                          <a:solidFill>
                            <a:srgbClr val="000000"/>
                          </a:solidFill>
                          <a:effectLst/>
                          <a:latin typeface="맑은 고딕" panose="020B0503020000020004" pitchFamily="50" charset="-127"/>
                          <a:ea typeface="+mn-ea"/>
                        </a:rPr>
                        <a:t>수의계약상세</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가격협상</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계약관</a:t>
                      </a:r>
                      <a:r>
                        <a:rPr lang="en-US" altLang="ko-KR" sz="550" b="0" i="0" u="none" strike="sngStrike" dirty="0">
                          <a:solidFill>
                            <a:srgbClr val="000000"/>
                          </a:solidFill>
                          <a:effectLst/>
                          <a:latin typeface="맑은 고딕" panose="020B0503020000020004" pitchFamily="50" charset="-127"/>
                          <a:ea typeface="+mn-ea"/>
                        </a:rPr>
                        <a:t>)</a:t>
                      </a: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(UI-BD-15-M76)</a:t>
                      </a:r>
                      <a:endParaRPr lang="ko-KR" altLang="en-US" sz="550" b="0" i="0" u="none" strike="sng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sngStrike" dirty="0" err="1">
                          <a:solidFill>
                            <a:srgbClr val="000000"/>
                          </a:solidFill>
                          <a:effectLst/>
                          <a:latin typeface="맑은 고딕" panose="020B0503020000020004" pitchFamily="50" charset="-127"/>
                          <a:ea typeface="+mn-ea"/>
                        </a:rPr>
                        <a:t>수의계약상세</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가격협상</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조달업체</a:t>
                      </a:r>
                      <a:r>
                        <a:rPr lang="en-US" altLang="ko-KR" sz="550" b="0" i="0" u="none" strike="sngStrike" dirty="0">
                          <a:solidFill>
                            <a:srgbClr val="000000"/>
                          </a:solidFill>
                          <a:effectLst/>
                          <a:latin typeface="맑은 고딕" panose="020B0503020000020004" pitchFamily="50" charset="-127"/>
                          <a:ea typeface="+mn-ea"/>
                        </a:rPr>
                        <a:t>)</a:t>
                      </a: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(UI-BD-15-M77)</a:t>
                      </a:r>
                      <a:endParaRPr lang="ko-KR" altLang="en-US" sz="550" b="0" i="0" u="none" strike="sng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유찰수의협상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국외협상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587402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장비수의계약</a:t>
                      </a:r>
                      <a:endPar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94854274"/>
                  </a:ext>
                </a:extLst>
              </a:tr>
            </a:tbl>
          </a:graphicData>
        </a:graphic>
      </p:graphicFrame>
    </p:spTree>
    <p:extLst>
      <p:ext uri="{BB962C8B-B14F-4D97-AF65-F5344CB8AC3E}">
        <p14:creationId xmlns:p14="http://schemas.microsoft.com/office/powerpoint/2010/main" val="789716580"/>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292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70244"/>
            <a:ext cx="967509" cy="9199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627770"/>
            <a:ext cx="967509" cy="3624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1951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rPr>
              <a:t>입찰공고상세</a:t>
            </a:r>
            <a:endParaRPr lang="en-US" altLang="ko-KR" sz="1050" dirty="0">
              <a:solidFill>
                <a:schemeClr val="tx1"/>
              </a:solidFill>
            </a:endParaRPr>
          </a:p>
          <a:p>
            <a:pPr algn="ctr">
              <a:lnSpc>
                <a:spcPct val="120000"/>
              </a:lnSpc>
            </a:pPr>
            <a:r>
              <a:rPr lang="en-US" altLang="ko-KR" sz="1050" dirty="0">
                <a:solidFill>
                  <a:schemeClr val="tx1"/>
                </a:solidFill>
              </a:rPr>
              <a:t>AnlBfhdSpcfctDtlPage.tsx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408219"/>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965745"/>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품목 목록</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52327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OvsBidPbancDtl2.tsx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080797"/>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환율정보조회</a:t>
            </a:r>
            <a:endParaRPr lang="en-US" altLang="ko-KR" sz="1050" dirty="0">
              <a:solidFill>
                <a:schemeClr val="tx1"/>
              </a:solidFill>
            </a:endParaRPr>
          </a:p>
          <a:p>
            <a:pPr algn="ctr">
              <a:lnSpc>
                <a:spcPct val="120000"/>
              </a:lnSpc>
            </a:pPr>
            <a:r>
              <a:rPr lang="en-US" altLang="ko-KR" sz="1050" dirty="0">
                <a:solidFill>
                  <a:schemeClr val="tx1"/>
                </a:solidFill>
              </a:rPr>
              <a:t>OvsExchrtListPage.tsx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463832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목표가공개품목조회</a:t>
            </a:r>
            <a:endParaRPr lang="en-US" altLang="ko-KR" sz="1050" dirty="0">
              <a:solidFill>
                <a:schemeClr val="tx1"/>
              </a:solidFill>
            </a:endParaRPr>
          </a:p>
          <a:p>
            <a:pPr algn="ctr">
              <a:lnSpc>
                <a:spcPct val="120000"/>
              </a:lnSpc>
            </a:pPr>
            <a:r>
              <a:rPr lang="en-US" altLang="ko-KR" sz="1050" dirty="0">
                <a:solidFill>
                  <a:schemeClr val="tx1"/>
                </a:solidFill>
              </a:rPr>
              <a:t>OvsGoalPrcRlsItemListPage.tsx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19585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목록</a:t>
            </a:r>
            <a:endParaRPr lang="en-US" altLang="ko-KR" sz="1050" dirty="0">
              <a:solidFill>
                <a:schemeClr val="tx1"/>
              </a:solidFill>
            </a:endParaRPr>
          </a:p>
          <a:p>
            <a:pPr algn="ctr">
              <a:lnSpc>
                <a:spcPct val="120000"/>
              </a:lnSpc>
            </a:pPr>
            <a:r>
              <a:rPr lang="en-US" altLang="ko-KR" sz="1050" dirty="0">
                <a:solidFill>
                  <a:schemeClr val="tx1"/>
                </a:solidFill>
              </a:rPr>
              <a:t>OvsLockerPbanListPage.tsx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7526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31017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1867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24252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265382" y="5749940"/>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상세</a:t>
            </a:r>
            <a:endParaRPr lang="en-US" altLang="ko-KR" sz="1050" dirty="0">
              <a:solidFill>
                <a:schemeClr val="tx1"/>
              </a:solidFill>
            </a:endParaRPr>
          </a:p>
          <a:p>
            <a:pPr algn="ctr">
              <a:lnSpc>
                <a:spcPct val="120000"/>
              </a:lnSpc>
            </a:pPr>
            <a:r>
              <a:rPr lang="en-US" altLang="ko-KR" sz="1050" dirty="0">
                <a:solidFill>
                  <a:schemeClr val="tx1"/>
                </a:solidFill>
              </a:rPr>
              <a:t>OvsLockerPbanDtlPage.tsx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9793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3191164"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보관함 품목 관리</a:t>
            </a:r>
            <a:endParaRPr lang="en-US" altLang="ko-KR" sz="1050" dirty="0">
              <a:solidFill>
                <a:schemeClr val="tx1"/>
              </a:solidFill>
            </a:endParaRPr>
          </a:p>
          <a:p>
            <a:pPr algn="ctr">
              <a:lnSpc>
                <a:spcPct val="120000"/>
              </a:lnSpc>
            </a:pPr>
            <a:r>
              <a:rPr lang="en-US" altLang="ko-KR" sz="1050" dirty="0">
                <a:solidFill>
                  <a:schemeClr val="tx1"/>
                </a:solidFill>
              </a:rPr>
              <a:t>OvsLockerItemRegPage.tsx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40" name="직사각형 39">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1100" dirty="0"/>
              <a:t>&lt;&lt;Controller&gt;&gt;</a:t>
            </a:r>
          </a:p>
          <a:p>
            <a:pPr algn="ctr"/>
            <a:r>
              <a:rPr lang="ko-KR" altLang="en-US" sz="1100" dirty="0"/>
              <a:t>국외 보관함 </a:t>
            </a:r>
            <a:r>
              <a:rPr lang="en-US" altLang="ko-KR" sz="1100" dirty="0"/>
              <a:t>Controller</a:t>
            </a:r>
          </a:p>
        </p:txBody>
      </p:sp>
      <p:cxnSp>
        <p:nvCxnSpPr>
          <p:cNvPr id="41" name="직선 연결선 40">
            <a:extLst>
              <a:ext uri="{FF2B5EF4-FFF2-40B4-BE49-F238E27FC236}">
                <a16:creationId xmlns:a16="http://schemas.microsoft.com/office/drawing/2014/main" id="{A8B10782-0A07-A41D-DB15-978B72410A31}"/>
              </a:ext>
            </a:extLst>
          </p:cNvPr>
          <p:cNvCxnSpPr>
            <a:stCxn id="9" idx="3"/>
            <a:endCxn id="40"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634345"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입찰내역</a:t>
            </a:r>
            <a:r>
              <a:rPr lang="ko-KR" altLang="en-US" sz="1050" dirty="0">
                <a:solidFill>
                  <a:schemeClr val="tx1"/>
                </a:solidFill>
                <a:latin typeface="+mn-ea"/>
              </a:rPr>
              <a:t> 작성</a:t>
            </a:r>
            <a:endParaRPr lang="en-US" altLang="ko-KR" sz="1050" dirty="0">
              <a:solidFill>
                <a:schemeClr val="tx1"/>
              </a:solidFill>
            </a:endParaRPr>
          </a:p>
          <a:p>
            <a:pPr algn="ctr">
              <a:lnSpc>
                <a:spcPct val="120000"/>
              </a:lnSpc>
            </a:pPr>
            <a:r>
              <a:rPr lang="en-US" altLang="ko-KR" sz="1050" dirty="0">
                <a:solidFill>
                  <a:schemeClr val="tx1"/>
                </a:solidFill>
              </a:rPr>
              <a:t>OvsTmprBidCnRegPage.tsx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42" name="직선 화살표 연결선 41">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883397" y="3810190"/>
            <a:ext cx="940294"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502887"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630371032"/>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a:t>
            </a:r>
            <a:r>
              <a:rPr lang="ko-KR" altLang="en-US" dirty="0" smtClean="0"/>
              <a:t>메뉴</a:t>
            </a:r>
            <a:r>
              <a:rPr lang="en-US" altLang="ko-KR" dirty="0" smtClean="0"/>
              <a:t/>
            </a:r>
            <a:br>
              <a:rPr lang="en-US" altLang="ko-KR" dirty="0" smtClean="0"/>
            </a:br>
            <a:r>
              <a:rPr lang="en-US" altLang="ko-KR" dirty="0" smtClean="0"/>
              <a:t>- </a:t>
            </a:r>
            <a:r>
              <a:rPr lang="ko-KR" altLang="en-US" dirty="0" smtClean="0"/>
              <a:t>국외 입찰공고</a:t>
            </a:r>
            <a:r>
              <a:rPr lang="en-US" altLang="ko-KR" dirty="0" smtClean="0"/>
              <a:t/>
            </a:r>
            <a:br>
              <a:rPr lang="en-US" altLang="ko-KR" dirty="0" smtClean="0"/>
            </a:br>
            <a:r>
              <a:rPr lang="en-US" altLang="ko-KR" dirty="0" smtClean="0"/>
              <a:t>  &gt; </a:t>
            </a:r>
            <a:r>
              <a:rPr lang="ko-KR" altLang="en-US" dirty="0" smtClean="0"/>
              <a:t>일반정보 탭 </a:t>
            </a:r>
            <a:r>
              <a:rPr lang="en-US" altLang="ko-KR" dirty="0"/>
              <a:t>MUI-BD-01-T71</a:t>
            </a:r>
            <a:r>
              <a:rPr lang="en-US" altLang="ko-KR" dirty="0" smtClean="0"/>
              <a:t/>
            </a:r>
            <a:br>
              <a:rPr lang="en-US" altLang="ko-KR" dirty="0" smtClean="0"/>
            </a:br>
            <a:r>
              <a:rPr lang="en-US" altLang="ko-KR" dirty="0" smtClean="0"/>
              <a:t>  &gt; </a:t>
            </a:r>
            <a:r>
              <a:rPr lang="ko-KR" altLang="en-US" dirty="0" err="1" smtClean="0"/>
              <a:t>품목목록</a:t>
            </a:r>
            <a:r>
              <a:rPr lang="ko-KR" altLang="en-US" dirty="0" smtClean="0"/>
              <a:t> 탭 </a:t>
            </a:r>
            <a:r>
              <a:rPr lang="en-US" altLang="ko-KR" dirty="0" smtClean="0"/>
              <a:t>MUI-BD-01-T72</a:t>
            </a:r>
            <a:br>
              <a:rPr lang="en-US" altLang="ko-KR" dirty="0" smtClean="0"/>
            </a:br>
            <a:r>
              <a:rPr lang="en-US" altLang="ko-KR" dirty="0" smtClean="0"/>
              <a:t>  &gt; </a:t>
            </a:r>
            <a:r>
              <a:rPr lang="ko-KR" altLang="en-US" dirty="0" smtClean="0"/>
              <a:t>첨부파일 탭 </a:t>
            </a:r>
            <a:r>
              <a:rPr lang="en-US" altLang="ko-KR" dirty="0" smtClean="0"/>
              <a:t>MUI-BD-01-T73</a:t>
            </a:r>
            <a:endParaRPr lang="en-US" altLang="ko-KR" dirty="0"/>
          </a:p>
          <a:p>
            <a:pPr marL="88900" indent="-88900">
              <a:buFont typeface="+mj-lt"/>
              <a:buAutoNum type="arabicPeriod"/>
            </a:pPr>
            <a:r>
              <a:rPr lang="ko-KR" altLang="en-US" dirty="0" smtClean="0"/>
              <a:t>각 탭에 해당하는 정보 표시 영역</a:t>
            </a:r>
            <a:endParaRPr lang="en-US" altLang="ko-KR" dirty="0" smtClean="0"/>
          </a:p>
          <a:p>
            <a:pPr marL="88900" indent="-88900">
              <a:buFont typeface="+mj-lt"/>
              <a:buAutoNum type="arabicPeriod"/>
            </a:pPr>
            <a:r>
              <a:rPr lang="ko-KR" altLang="en-US" dirty="0" smtClean="0"/>
              <a:t>추가 버튼 노출</a:t>
            </a:r>
            <a:r>
              <a:rPr lang="en-US" altLang="ko-KR" dirty="0" smtClean="0"/>
              <a:t/>
            </a:r>
            <a:br>
              <a:rPr lang="en-US" altLang="ko-KR" dirty="0" smtClean="0"/>
            </a:br>
            <a:r>
              <a:rPr lang="en-US" altLang="ko-KR" dirty="0" smtClean="0"/>
              <a:t>- </a:t>
            </a:r>
            <a:r>
              <a:rPr lang="en-US" altLang="ko-KR" dirty="0"/>
              <a:t>MUI-BD-01-P75 </a:t>
            </a:r>
            <a:r>
              <a:rPr lang="ko-KR" altLang="en-US" dirty="0" err="1" smtClean="0">
                <a:latin typeface="+mn-ea"/>
              </a:rPr>
              <a:t>목표가공개품목조회</a:t>
            </a:r>
            <a:r>
              <a:rPr lang="en-US" altLang="ko-KR" dirty="0" smtClean="0">
                <a:latin typeface="+mn-ea"/>
              </a:rPr>
              <a:t/>
            </a:r>
            <a:br>
              <a:rPr lang="en-US" altLang="ko-KR" dirty="0" smtClean="0">
                <a:latin typeface="+mn-ea"/>
              </a:rPr>
            </a:br>
            <a:r>
              <a:rPr lang="en-US" altLang="ko-KR" dirty="0" smtClean="0">
                <a:latin typeface="+mn-ea"/>
              </a:rPr>
              <a:t>- </a:t>
            </a:r>
            <a:r>
              <a:rPr lang="en-US" altLang="ko-KR" dirty="0"/>
              <a:t>MUI-BD-01-M74 </a:t>
            </a:r>
            <a:r>
              <a:rPr lang="ko-KR" altLang="en-US" dirty="0" smtClean="0">
                <a:latin typeface="+mn-ea"/>
              </a:rPr>
              <a:t>환율정보조회</a:t>
            </a:r>
            <a:r>
              <a:rPr lang="en-US" altLang="ko-KR" dirty="0"/>
              <a:t/>
            </a:r>
            <a:br>
              <a:rPr lang="en-US" altLang="ko-KR" dirty="0"/>
            </a:br>
            <a:r>
              <a:rPr lang="en-US" altLang="ko-KR" dirty="0" smtClean="0"/>
              <a:t>- </a:t>
            </a:r>
            <a:r>
              <a:rPr lang="ko-KR" altLang="en-US" dirty="0" smtClean="0"/>
              <a:t>입찰결과 </a:t>
            </a:r>
            <a:r>
              <a:rPr lang="en-US" altLang="ko-KR" dirty="0" smtClean="0"/>
              <a:t>(MUI-BD-09-M71 </a:t>
            </a:r>
            <a:r>
              <a:rPr lang="ko-KR" altLang="en-US" dirty="0" smtClean="0">
                <a:latin typeface="+mn-ea"/>
              </a:rPr>
              <a:t>입찰결과상세조회</a:t>
            </a:r>
            <a:r>
              <a:rPr lang="en-US" altLang="ko-KR" dirty="0" smtClean="0">
                <a:latin typeface="+mn-ea"/>
              </a:rPr>
              <a:t>)</a:t>
            </a:r>
            <a:br>
              <a:rPr lang="en-US" altLang="ko-KR" dirty="0" smtClean="0">
                <a:latin typeface="+mn-ea"/>
              </a:rPr>
            </a:br>
            <a:r>
              <a:rPr lang="en-US" altLang="ko-KR" dirty="0" smtClean="0">
                <a:latin typeface="+mn-ea"/>
              </a:rPr>
              <a:t>- MUI-CM-01-M71 </a:t>
            </a:r>
            <a:r>
              <a:rPr lang="ko-KR" altLang="en-US" dirty="0" smtClean="0">
                <a:latin typeface="+mn-ea"/>
              </a:rPr>
              <a:t>보관함</a:t>
            </a:r>
            <a:r>
              <a:rPr lang="en-US" altLang="ko-KR" dirty="0" smtClean="0">
                <a:latin typeface="+mn-ea"/>
              </a:rPr>
              <a:t/>
            </a:r>
            <a:br>
              <a:rPr lang="en-US" altLang="ko-KR" dirty="0" smtClean="0">
                <a:latin typeface="+mn-ea"/>
              </a:rPr>
            </a:br>
            <a:r>
              <a:rPr lang="en-US" altLang="ko-KR" dirty="0">
                <a:latin typeface="+mn-ea"/>
              </a:rPr>
              <a:t>- </a:t>
            </a:r>
            <a:r>
              <a:rPr lang="ko-KR" altLang="en-US" dirty="0" err="1" smtClean="0">
                <a:latin typeface="+mn-ea"/>
              </a:rPr>
              <a:t>이전공고입찰내역불러오기</a:t>
            </a:r>
            <a:r>
              <a:rPr lang="ko-KR" altLang="en-US" dirty="0" smtClean="0">
                <a:latin typeface="+mn-ea"/>
              </a:rPr>
              <a:t> </a:t>
            </a:r>
            <a:r>
              <a:rPr lang="en-US" altLang="ko-KR" dirty="0" smtClean="0">
                <a:latin typeface="+mn-ea"/>
              </a:rPr>
              <a:t>(MUI-BD-01-P79 </a:t>
            </a:r>
            <a:r>
              <a:rPr lang="ko-KR" altLang="en-US" dirty="0" err="1" smtClean="0">
                <a:latin typeface="+mn-ea"/>
              </a:rPr>
              <a:t>이전공고입찰내역등록</a:t>
            </a:r>
            <a:r>
              <a:rPr lang="en-US" altLang="ko-KR" dirty="0" smtClean="0">
                <a:latin typeface="+mn-ea"/>
              </a:rPr>
              <a:t>)</a:t>
            </a:r>
            <a:br>
              <a:rPr lang="en-US" altLang="ko-KR" dirty="0" smtClean="0">
                <a:latin typeface="+mn-ea"/>
              </a:rPr>
            </a:br>
            <a:r>
              <a:rPr lang="en-US" altLang="ko-KR" dirty="0" smtClean="0">
                <a:latin typeface="+mn-ea"/>
              </a:rPr>
              <a:t/>
            </a:r>
            <a:br>
              <a:rPr lang="en-US" altLang="ko-KR" dirty="0" smtClean="0">
                <a:latin typeface="+mn-ea"/>
              </a:rPr>
            </a:br>
            <a:r>
              <a:rPr lang="en-US" altLang="ko-KR" dirty="0" smtClean="0">
                <a:latin typeface="+mn-ea"/>
              </a:rPr>
              <a:t>  &gt; </a:t>
            </a:r>
            <a:r>
              <a:rPr lang="ko-KR" altLang="en-US" dirty="0" smtClean="0">
                <a:latin typeface="+mn-ea"/>
              </a:rPr>
              <a:t>화면 </a:t>
            </a:r>
            <a:r>
              <a:rPr lang="en-US" altLang="ko-KR" dirty="0" smtClean="0">
                <a:latin typeface="+mn-ea"/>
              </a:rPr>
              <a:t>ID, </a:t>
            </a:r>
            <a:r>
              <a:rPr lang="ko-KR" altLang="en-US" dirty="0" err="1" smtClean="0">
                <a:latin typeface="+mn-ea"/>
              </a:rPr>
              <a:t>화면명</a:t>
            </a:r>
            <a:r>
              <a:rPr lang="ko-KR" altLang="en-US" dirty="0" smtClean="0">
                <a:latin typeface="+mn-ea"/>
              </a:rPr>
              <a:t> 앞 별도의 명칭이 있는 경우 작성된 명칭을 </a:t>
            </a:r>
            <a:r>
              <a:rPr lang="ko-KR" altLang="en-US" dirty="0" err="1" smtClean="0">
                <a:latin typeface="+mn-ea"/>
              </a:rPr>
              <a:t>버튼명으로</a:t>
            </a:r>
            <a:r>
              <a:rPr lang="ko-KR" altLang="en-US" dirty="0" smtClean="0">
                <a:latin typeface="+mn-ea"/>
              </a:rPr>
              <a:t> 활용</a:t>
            </a:r>
            <a:r>
              <a:rPr lang="en-US" altLang="ko-KR" dirty="0" smtClean="0">
                <a:latin typeface="+mn-ea"/>
              </a:rPr>
              <a:t>. </a:t>
            </a:r>
            <a:br>
              <a:rPr lang="en-US" altLang="ko-KR" dirty="0" smtClean="0">
                <a:latin typeface="+mn-ea"/>
              </a:rPr>
            </a:br>
            <a:r>
              <a:rPr lang="en-US" altLang="ko-KR" dirty="0" smtClean="0">
                <a:latin typeface="+mn-ea"/>
              </a:rPr>
              <a:t>  &gt; </a:t>
            </a:r>
            <a:r>
              <a:rPr lang="ko-KR" altLang="en-US" dirty="0" smtClean="0">
                <a:latin typeface="+mn-ea"/>
              </a:rPr>
              <a:t>별도의 작성이 없는 경우 </a:t>
            </a:r>
            <a:r>
              <a:rPr lang="ko-KR" altLang="en-US" dirty="0" err="1" smtClean="0">
                <a:latin typeface="+mn-ea"/>
              </a:rPr>
              <a:t>화면명을</a:t>
            </a:r>
            <a:r>
              <a:rPr lang="ko-KR" altLang="en-US" dirty="0" smtClean="0">
                <a:latin typeface="+mn-ea"/>
              </a:rPr>
              <a:t> </a:t>
            </a:r>
            <a:r>
              <a:rPr lang="ko-KR" altLang="en-US" dirty="0" err="1" smtClean="0">
                <a:latin typeface="+mn-ea"/>
              </a:rPr>
              <a:t>버튼명으로</a:t>
            </a:r>
            <a:r>
              <a:rPr lang="ko-KR" altLang="en-US" dirty="0" smtClean="0">
                <a:latin typeface="+mn-ea"/>
              </a:rPr>
              <a:t> 활용</a:t>
            </a:r>
            <a:r>
              <a:rPr lang="en-US" altLang="ko-KR" dirty="0" smtClean="0">
                <a:latin typeface="+mn-ea"/>
              </a:rPr>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23711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71" name="타원 270">
            <a:extLst>
              <a:ext uri="{FF2B5EF4-FFF2-40B4-BE49-F238E27FC236}">
                <a16:creationId xmlns:a16="http://schemas.microsoft.com/office/drawing/2014/main" id="{37A7FF4F-0EAA-1463-560A-D5EC24416103}"/>
              </a:ext>
            </a:extLst>
          </p:cNvPr>
          <p:cNvSpPr/>
          <p:nvPr/>
        </p:nvSpPr>
        <p:spPr>
          <a:xfrm>
            <a:off x="571127" y="3696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4422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92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263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2639"/>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4994275" y="1642639"/>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924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4516"/>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196557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078908"/>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273062"/>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2730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273062"/>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273062"/>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504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717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931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145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3589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518832"/>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34910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199921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2268652"/>
            <a:ext cx="2717198" cy="4385362"/>
            <a:chOff x="675399" y="2114682"/>
            <a:chExt cx="2717198" cy="4385362"/>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114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5" name="TextBox 58">
              <a:extLst>
                <a:ext uri="{FF2B5EF4-FFF2-40B4-BE49-F238E27FC236}">
                  <a16:creationId xmlns:a16="http://schemas.microsoft.com/office/drawing/2014/main" id="{02FC114B-B48B-345F-BD70-2B5A196F5B3E}"/>
                </a:ext>
              </a:extLst>
            </p:cNvPr>
            <p:cNvSpPr txBox="1"/>
            <p:nvPr/>
          </p:nvSpPr>
          <p:spPr>
            <a:xfrm>
              <a:off x="781461" y="242615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EFD0007-2</a:t>
              </a:r>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761220"/>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7458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2025-11-22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241824"/>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68" name="모서리가 둥근 직사각형 67"/>
            <p:cNvSpPr/>
            <p:nvPr/>
          </p:nvSpPr>
          <p:spPr>
            <a:xfrm>
              <a:off x="1075655" y="224182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780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1215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81406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84540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92739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217721"/>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475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25935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4259353"/>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890743" y="4259353"/>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47596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22123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5822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69562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889776"/>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88977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889776"/>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889776"/>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120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334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5482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7620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9757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1894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4031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422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57545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50497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57545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57545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50497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50497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grpSp>
          <p:nvGrpSpPr>
            <p:cNvPr id="166" name="그룹 165"/>
            <p:cNvGrpSpPr/>
            <p:nvPr/>
          </p:nvGrpSpPr>
          <p:grpSpPr>
            <a:xfrm>
              <a:off x="2714860" y="3504975"/>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500340"/>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sp>
        <p:nvSpPr>
          <p:cNvPr id="145" name="TextBox 144">
            <a:extLst>
              <a:ext uri="{FF2B5EF4-FFF2-40B4-BE49-F238E27FC236}">
                <a16:creationId xmlns:a16="http://schemas.microsoft.com/office/drawing/2014/main" id="{FFC49AEA-2A8F-250C-A86A-A7751D9706C3}"/>
              </a:ext>
            </a:extLst>
          </p:cNvPr>
          <p:cNvSpPr txBox="1"/>
          <p:nvPr/>
        </p:nvSpPr>
        <p:spPr>
          <a:xfrm>
            <a:off x="1558854" y="2030452"/>
            <a:ext cx="945116"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7" name="그룹 146"/>
          <p:cNvGrpSpPr/>
          <p:nvPr/>
        </p:nvGrpSpPr>
        <p:grpSpPr>
          <a:xfrm rot="5400000">
            <a:off x="852159" y="2062596"/>
            <a:ext cx="94010" cy="47005"/>
            <a:chOff x="6812560" y="3297172"/>
            <a:chExt cx="94010" cy="47005"/>
          </a:xfrm>
        </p:grpSpPr>
        <p:cxnSp>
          <p:nvCxnSpPr>
            <p:cNvPr id="148" name="직선 연결선 1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9" name="직선 연결선 1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0" name="그룹 149"/>
          <p:cNvGrpSpPr/>
          <p:nvPr/>
        </p:nvGrpSpPr>
        <p:grpSpPr>
          <a:xfrm>
            <a:off x="677960" y="1582647"/>
            <a:ext cx="2712027" cy="324286"/>
            <a:chOff x="677960" y="1582647"/>
            <a:chExt cx="2712027" cy="324286"/>
          </a:xfrm>
        </p:grpSpPr>
        <p:pic>
          <p:nvPicPr>
            <p:cNvPr id="15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2" name="직선 연결선 15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4" name="타원 15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타원 15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56" name="타원 155">
            <a:extLst>
              <a:ext uri="{FF2B5EF4-FFF2-40B4-BE49-F238E27FC236}">
                <a16:creationId xmlns:a16="http://schemas.microsoft.com/office/drawing/2014/main" id="{37A7FF4F-0EAA-1463-560A-D5EC24416103}"/>
              </a:ext>
            </a:extLst>
          </p:cNvPr>
          <p:cNvSpPr/>
          <p:nvPr/>
        </p:nvSpPr>
        <p:spPr>
          <a:xfrm>
            <a:off x="6405545" y="51704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grpSp>
        <p:nvGrpSpPr>
          <p:cNvPr id="158" name="그룹 157"/>
          <p:cNvGrpSpPr/>
          <p:nvPr/>
        </p:nvGrpSpPr>
        <p:grpSpPr>
          <a:xfrm>
            <a:off x="8223250" y="569392"/>
            <a:ext cx="3365500" cy="634511"/>
            <a:chOff x="8223250" y="569392"/>
            <a:chExt cx="3365500" cy="634511"/>
          </a:xfrm>
        </p:grpSpPr>
        <p:sp>
          <p:nvSpPr>
            <p:cNvPr id="159" name="직사각형 15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수정</a:t>
              </a:r>
            </a:p>
          </p:txBody>
        </p:sp>
        <p:sp>
          <p:nvSpPr>
            <p:cNvPr id="160" name="직사각형 15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sym typeface="Wingdings" panose="05000000000000000000" pitchFamily="2" charset="2"/>
                </a:rPr>
                <a:t>디렉션</a:t>
              </a:r>
              <a:r>
                <a:rPr lang="ko-KR" altLang="en-US" sz="700" dirty="0" smtClean="0">
                  <a:sym typeface="Wingdings" panose="05000000000000000000" pitchFamily="2" charset="2"/>
                </a:rPr>
                <a:t> 설명 추가</a:t>
              </a:r>
              <a:endParaRPr lang="en-US" altLang="ko-KR" sz="700" dirty="0"/>
            </a:p>
          </p:txBody>
        </p:sp>
      </p:grpSp>
    </p:spTree>
    <p:extLst>
      <p:ext uri="{BB962C8B-B14F-4D97-AF65-F5344CB8AC3E}">
        <p14:creationId xmlns:p14="http://schemas.microsoft.com/office/powerpoint/2010/main" val="3435296432"/>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54583"/>
            <a:chOff x="701175" y="1527996"/>
            <a:chExt cx="2630093" cy="375458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358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00692"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err="1">
                  <a:latin typeface="+mn-ea"/>
                </a:rPr>
                <a:t>공고품목수</a:t>
              </a:r>
              <a:endParaRPr lang="ko-KR" altLang="en-US" sz="700" dirty="0">
                <a:latin typeface="+mn-ea"/>
              </a:endParaRPr>
            </a:p>
            <a:p>
              <a:pPr>
                <a:lnSpc>
                  <a:spcPct val="200000"/>
                </a:lnSpc>
              </a:pPr>
              <a:endParaRPr lang="ko-KR" altLang="en-US" sz="700" dirty="0">
                <a:latin typeface="+mn-ea"/>
              </a:endParaRPr>
            </a:p>
            <a:p>
              <a:pPr>
                <a:lnSpc>
                  <a:spcPct val="200000"/>
                </a:lnSpc>
              </a:pPr>
              <a:endParaRPr lang="ko-KR" altLang="en-US"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ko-KR" altLang="en-US"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ko-KR" altLang="en-US" sz="700" dirty="0">
                <a:latin typeface="+mn-ea"/>
              </a:endParaRPr>
            </a:p>
            <a:p>
              <a:pPr>
                <a:lnSpc>
                  <a:spcPct val="200000"/>
                </a:lnSpc>
              </a:pPr>
              <a:r>
                <a:rPr lang="ko-KR" altLang="en-US" sz="700" dirty="0">
                  <a:latin typeface="+mn-ea"/>
                </a:rPr>
                <a:t>전자입찰</a:t>
              </a:r>
            </a:p>
            <a:p>
              <a:pPr>
                <a:lnSpc>
                  <a:spcPct val="200000"/>
                </a:lnSpc>
              </a:pPr>
              <a:r>
                <a:rPr lang="ko-KR" altLang="en-US" sz="700" dirty="0">
                  <a:latin typeface="+mn-ea"/>
                </a:rPr>
                <a:t>일반경쟁</a:t>
              </a:r>
            </a:p>
            <a:p>
              <a:pPr>
                <a:lnSpc>
                  <a:spcPct val="200000"/>
                </a:lnSpc>
              </a:pPr>
              <a:r>
                <a:rPr lang="ko-KR" altLang="en-US" sz="700" dirty="0" err="1">
                  <a:latin typeface="+mn-ea"/>
                </a:rPr>
                <a:t>일반투찰</a:t>
              </a:r>
              <a:endParaRPr lang="ko-KR" altLang="en-US"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7" name="그룹 16"/>
            <p:cNvGrpSpPr/>
            <p:nvPr/>
          </p:nvGrpSpPr>
          <p:grpSpPr>
            <a:xfrm>
              <a:off x="701175" y="1835481"/>
              <a:ext cx="2630093" cy="3435840"/>
              <a:chOff x="701175" y="1835481"/>
              <a:chExt cx="2630093" cy="34358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2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15"/>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57161909"/>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a:p>
            <a:pPr>
              <a:buFont typeface="+mj-lt"/>
              <a:buAutoNum type="arabicPeriod"/>
            </a:pPr>
            <a:r>
              <a:rPr lang="ko-KR" altLang="en-US" dirty="0" err="1"/>
              <a:t>첨부문서</a:t>
            </a:r>
            <a:r>
              <a:rPr lang="ko-KR" altLang="en-US" dirty="0"/>
              <a:t> 클릭 </a:t>
            </a:r>
            <a:r>
              <a:rPr lang="ko-KR" altLang="en-US" dirty="0" smtClean="0"/>
              <a:t>이벤트</a:t>
            </a:r>
            <a:r>
              <a:rPr lang="en-US" altLang="ko-KR" dirty="0"/>
              <a:t/>
            </a:r>
            <a:br>
              <a:rPr lang="en-US" altLang="ko-KR" dirty="0"/>
            </a:br>
            <a:r>
              <a:rPr lang="en-US" altLang="ko-KR" dirty="0" smtClean="0">
                <a:solidFill>
                  <a:srgbClr val="FF0000"/>
                </a:solidFill>
              </a:rPr>
              <a:t>- </a:t>
            </a:r>
            <a:r>
              <a:rPr lang="ko-KR" altLang="en-US" dirty="0">
                <a:solidFill>
                  <a:srgbClr val="FF0000"/>
                </a:solidFill>
              </a:rPr>
              <a:t>첨부파일 조회 </a:t>
            </a:r>
            <a:r>
              <a:rPr lang="en-US" altLang="ko-KR" dirty="0" smtClean="0">
                <a:solidFill>
                  <a:srgbClr val="FF0000"/>
                </a:solidFill>
                <a:latin typeface="맑은 고딕" panose="020B0503020000020004" pitchFamily="50" charset="-127"/>
              </a:rPr>
              <a:t>MUI-BD-01-P76 </a:t>
            </a:r>
            <a:r>
              <a:rPr lang="ko-KR" altLang="en-US" dirty="0" smtClean="0">
                <a:solidFill>
                  <a:srgbClr val="FF0000"/>
                </a:solidFill>
                <a:latin typeface="맑은 고딕" panose="020B0503020000020004" pitchFamily="50" charset="-127"/>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a:t>
            </a:r>
            <a:r>
              <a:rPr lang="ko-KR" altLang="en-US" dirty="0" smtClean="0">
                <a:solidFill>
                  <a:srgbClr val="FF0000"/>
                </a:solidFill>
              </a:rPr>
              <a:t> 유무를 </a:t>
            </a:r>
            <a:r>
              <a:rPr lang="en-US" altLang="ko-KR" dirty="0" smtClean="0">
                <a:solidFill>
                  <a:srgbClr val="FF0000"/>
                </a:solidFill>
              </a:rPr>
              <a:t>O, X</a:t>
            </a:r>
            <a:r>
              <a:rPr lang="ko-KR" altLang="en-US" dirty="0" smtClean="0">
                <a:solidFill>
                  <a:srgbClr val="FF0000"/>
                </a:solidFill>
              </a:rPr>
              <a:t>로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첨부문서가</a:t>
            </a:r>
            <a:r>
              <a:rPr lang="ko-KR" altLang="en-US" dirty="0" smtClean="0">
                <a:solidFill>
                  <a:srgbClr val="FF0000"/>
                </a:solidFill>
              </a:rPr>
              <a:t> 있는 경우 보기 버튼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클릭 시 해당 품목의 첨부파일을 </a:t>
            </a:r>
            <a:r>
              <a:rPr lang="ko-KR" altLang="en-US" dirty="0" err="1" smtClean="0">
                <a:solidFill>
                  <a:srgbClr val="FF0000"/>
                </a:solidFill>
              </a:rPr>
              <a:t>바텀</a:t>
            </a:r>
            <a:r>
              <a:rPr lang="ko-KR" altLang="en-US" dirty="0" smtClean="0">
                <a:solidFill>
                  <a:srgbClr val="FF0000"/>
                </a:solidFill>
              </a:rPr>
              <a:t> 시트로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첨부문서가</a:t>
            </a:r>
            <a:r>
              <a:rPr lang="ko-KR" altLang="en-US" dirty="0" smtClean="0">
                <a:solidFill>
                  <a:srgbClr val="FF0000"/>
                </a:solidFill>
              </a:rPr>
              <a:t> </a:t>
            </a:r>
            <a:r>
              <a:rPr lang="en-US" altLang="ko-KR" dirty="0" smtClean="0">
                <a:solidFill>
                  <a:srgbClr val="FF0000"/>
                </a:solidFill>
              </a:rPr>
              <a:t>X</a:t>
            </a:r>
            <a:r>
              <a:rPr lang="ko-KR" altLang="en-US" dirty="0" smtClean="0">
                <a:solidFill>
                  <a:srgbClr val="FF0000"/>
                </a:solidFill>
              </a:rPr>
              <a:t>인 경우 버튼 숨김</a:t>
            </a:r>
            <a:r>
              <a:rPr lang="en-US" altLang="ko-KR" dirty="0" smtClean="0">
                <a:solidFill>
                  <a:srgbClr val="FF0000"/>
                </a:solidFill>
              </a:rPr>
              <a:t>.</a:t>
            </a:r>
          </a:p>
          <a:p>
            <a:pPr>
              <a:buFont typeface="+mj-lt"/>
              <a:buAutoNum type="arabicPeriod"/>
            </a:pPr>
            <a:r>
              <a:rPr lang="ko-KR" altLang="en-US" dirty="0" err="1" smtClean="0"/>
              <a:t>재고번호</a:t>
            </a:r>
            <a:r>
              <a:rPr lang="ko-KR" altLang="en-US" dirty="0" smtClean="0"/>
              <a:t> </a:t>
            </a:r>
            <a:r>
              <a:rPr lang="ko-KR" altLang="en-US" dirty="0"/>
              <a:t>클릭 </a:t>
            </a:r>
            <a:r>
              <a:rPr lang="ko-KR" altLang="en-US" dirty="0" smtClean="0"/>
              <a:t>이벤트</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목록정보조회 </a:t>
            </a:r>
            <a:r>
              <a:rPr lang="en-US" altLang="ko-KR" dirty="0" smtClean="0">
                <a:solidFill>
                  <a:srgbClr val="FF0000"/>
                </a:solidFill>
              </a:rPr>
              <a:t>MUI-OP-01-P76 </a:t>
            </a:r>
            <a:r>
              <a:rPr lang="ko-KR" altLang="en-US" dirty="0" smtClean="0">
                <a:solidFill>
                  <a:srgbClr val="FF0000"/>
                </a:solidFill>
              </a:rPr>
              <a:t>호출</a:t>
            </a:r>
            <a:endParaRPr lang="en-US" altLang="ko-KR" dirty="0">
              <a:solidFill>
                <a:srgbClr val="FF0000"/>
              </a:solidFill>
            </a:endParaRPr>
          </a:p>
          <a:p>
            <a:pPr>
              <a:buFont typeface="+mj-lt"/>
              <a:buAutoNum type="arabicPeriod"/>
            </a:pPr>
            <a:r>
              <a:rPr lang="ko-KR" altLang="en-US" dirty="0"/>
              <a:t>보관함 여부 추가</a:t>
            </a:r>
            <a:r>
              <a:rPr lang="en-US" altLang="ko-KR" dirty="0"/>
              <a:t>, </a:t>
            </a:r>
            <a:r>
              <a:rPr lang="ko-KR" altLang="en-US" dirty="0"/>
              <a:t>삭제 클릭 </a:t>
            </a:r>
            <a:r>
              <a:rPr lang="ko-KR" altLang="en-US" dirty="0" smtClean="0"/>
              <a:t>이벤트</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로그인한 사용자에게만 표시됨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로그인한 사용자가 해당 품목을 보관함에 보관하고</a:t>
            </a:r>
            <a:r>
              <a:rPr lang="en-US" altLang="ko-KR" dirty="0" smtClean="0">
                <a:solidFill>
                  <a:srgbClr val="FF0000"/>
                </a:solidFill>
              </a:rPr>
              <a:t> </a:t>
            </a:r>
            <a:r>
              <a:rPr lang="ko-KR" altLang="en-US" dirty="0" smtClean="0">
                <a:solidFill>
                  <a:srgbClr val="FF0000"/>
                </a:solidFill>
              </a:rPr>
              <a:t>있는 경우 </a:t>
            </a:r>
            <a:r>
              <a:rPr lang="en-US" altLang="ko-KR" dirty="0" smtClean="0">
                <a:solidFill>
                  <a:srgbClr val="FF0000"/>
                </a:solidFill>
              </a:rPr>
              <a:t>Y </a:t>
            </a:r>
            <a:r>
              <a:rPr lang="ko-KR" altLang="en-US" dirty="0" smtClean="0">
                <a:solidFill>
                  <a:srgbClr val="FF0000"/>
                </a:solidFill>
              </a:rPr>
              <a:t>및 보관함 삭제 버튼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보관함에 보관되고 있지 않은 경우 </a:t>
            </a:r>
            <a:r>
              <a:rPr lang="en-US" altLang="ko-KR" dirty="0" smtClean="0">
                <a:solidFill>
                  <a:srgbClr val="FF0000"/>
                </a:solidFill>
              </a:rPr>
              <a:t>N</a:t>
            </a:r>
            <a:r>
              <a:rPr lang="ko-KR" altLang="en-US" dirty="0" smtClean="0">
                <a:solidFill>
                  <a:srgbClr val="FF0000"/>
                </a:solidFill>
              </a:rPr>
              <a:t>과 보관함 추가 버튼 표시</a:t>
            </a:r>
            <a:endParaRPr lang="en-US" altLang="ko-KR" dirty="0">
              <a:solidFill>
                <a:srgbClr val="FF0000"/>
              </a:solidFill>
            </a:endParaRP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endParaRPr lang="ko-KR" altLang="en-US"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369A2093-2</a:t>
              </a:r>
            </a:p>
            <a:p>
              <a:pPr>
                <a:lnSpc>
                  <a:spcPct val="200000"/>
                </a:lnSpc>
              </a:pPr>
              <a:r>
                <a:rPr lang="en-US" altLang="ko-KR" sz="700" dirty="0">
                  <a:latin typeface="+mn-ea"/>
                </a:rPr>
                <a:t>11112</a:t>
              </a:r>
            </a:p>
            <a:p>
              <a:pPr>
                <a:lnSpc>
                  <a:spcPct val="200000"/>
                </a:lnSpc>
              </a:pPr>
              <a:r>
                <a:rPr lang="ko-KR" altLang="en-US" sz="700" dirty="0">
                  <a:latin typeface="+mn-ea"/>
                </a:rPr>
                <a:t>품명 표시</a:t>
              </a:r>
              <a:endParaRPr lang="en-US" altLang="ko-KR" sz="700" dirty="0">
                <a:latin typeface="+mn-ea"/>
              </a:endParaRPr>
            </a:p>
            <a:p>
              <a:pPr>
                <a:lnSpc>
                  <a:spcPct val="200000"/>
                </a:lnSpc>
              </a:pPr>
              <a:r>
                <a:rPr lang="en-US" altLang="ko-KR" sz="700" dirty="0">
                  <a:latin typeface="+mn-ea"/>
                </a:rPr>
                <a:t>-2016-11-25</a:t>
              </a:r>
            </a:p>
            <a:p>
              <a:pPr>
                <a:lnSpc>
                  <a:spcPct val="200000"/>
                </a:lnSpc>
              </a:pPr>
              <a:r>
                <a:rPr lang="en-US" altLang="ko-KR" sz="700" dirty="0">
                  <a:latin typeface="+mn-ea"/>
                </a:rPr>
                <a:t>EA</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a:latin typeface="+mn-ea"/>
                </a:rPr>
                <a:t>1</a:t>
              </a: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nSpc>
                  <a:spcPct val="200000"/>
                </a:lnSpc>
              </a:pPr>
              <a:r>
                <a:rPr lang="en-US" altLang="ko-KR" sz="700" dirty="0">
                  <a:latin typeface="+mn-ea"/>
                </a:rPr>
                <a:t>3</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608,000.00 USD</a:t>
              </a:r>
            </a:p>
            <a:p>
              <a:pPr algn="r">
                <a:lnSpc>
                  <a:spcPct val="200000"/>
                </a:lnSpc>
              </a:pPr>
              <a:r>
                <a:rPr lang="en-US" altLang="ko-KR" sz="700" dirty="0">
                  <a:latin typeface="+mn-ea"/>
                </a:rPr>
                <a:t>608,000.00 USD</a:t>
              </a:r>
            </a:p>
            <a:p>
              <a:pPr>
                <a:lnSpc>
                  <a:spcPct val="200000"/>
                </a:lnSpc>
              </a:pPr>
              <a:r>
                <a:rPr lang="en-US" altLang="ko-KR" sz="700" dirty="0">
                  <a:latin typeface="+mn-ea"/>
                </a:rPr>
                <a:t>11111</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22765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25101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3" name="사각형: 둥근 모서리 15">
            <a:extLst>
              <a:ext uri="{FF2B5EF4-FFF2-40B4-BE49-F238E27FC236}">
                <a16:creationId xmlns:a16="http://schemas.microsoft.com/office/drawing/2014/main" id="{E2B61CFB-AD16-68D0-8752-50D9C5E01971}"/>
              </a:ext>
            </a:extLst>
          </p:cNvPr>
          <p:cNvSpPr/>
          <p:nvPr/>
        </p:nvSpPr>
        <p:spPr>
          <a:xfrm>
            <a:off x="2836921" y="229959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465721"/>
            <a:chOff x="701175" y="1800647"/>
            <a:chExt cx="2630093" cy="465721"/>
          </a:xfrm>
        </p:grpSpPr>
        <p:sp>
          <p:nvSpPr>
            <p:cNvPr id="122" name="직사각형 121"/>
            <p:cNvSpPr/>
            <p:nvPr/>
          </p:nvSpPr>
          <p:spPr>
            <a:xfrm>
              <a:off x="703268" y="1800647"/>
              <a:ext cx="792000" cy="4643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396583"/>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en-US" altLang="ko-KR" sz="700" dirty="0">
                <a:latin typeface="+mn-ea"/>
              </a:endParaRPr>
            </a:p>
            <a:p>
              <a:pPr>
                <a:lnSpc>
                  <a:spcPct val="200000"/>
                </a:lnSpc>
              </a:pPr>
              <a:r>
                <a:rPr lang="ko-KR" altLang="en-US" sz="700" dirty="0">
                  <a:latin typeface="+mn-ea"/>
                </a:rPr>
                <a:t>보관함 여부</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ko-KR" altLang="en-US" sz="700" dirty="0">
                  <a:latin typeface="+mn-ea"/>
                </a:rPr>
                <a:t>장비 명칭 표시</a:t>
              </a:r>
              <a:endParaRPr lang="en-US" altLang="ko-KR" sz="700" dirty="0">
                <a:latin typeface="+mn-ea"/>
              </a:endParaRPr>
            </a:p>
            <a:p>
              <a:pPr>
                <a:lnSpc>
                  <a:spcPct val="200000"/>
                </a:lnSpc>
              </a:pPr>
              <a:r>
                <a:rPr lang="en-US" altLang="ko-KR" sz="700" dirty="0">
                  <a:latin typeface="+mn-ea"/>
                </a:rPr>
                <a:t>Y</a:t>
              </a:r>
            </a:p>
          </p:txBody>
        </p:sp>
        <p:grpSp>
          <p:nvGrpSpPr>
            <p:cNvPr id="125" name="그룹 124"/>
            <p:cNvGrpSpPr/>
            <p:nvPr/>
          </p:nvGrpSpPr>
          <p:grpSpPr>
            <a:xfrm>
              <a:off x="701175" y="1835481"/>
              <a:ext cx="2630093" cy="429480"/>
              <a:chOff x="701175" y="1835481"/>
              <a:chExt cx="2630093" cy="4294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9" name="타원 238">
            <a:extLst>
              <a:ext uri="{FF2B5EF4-FFF2-40B4-BE49-F238E27FC236}">
                <a16:creationId xmlns:a16="http://schemas.microsoft.com/office/drawing/2014/main" id="{37A7FF4F-0EAA-1463-560A-D5EC24416103}"/>
              </a:ext>
            </a:extLst>
          </p:cNvPr>
          <p:cNvSpPr/>
          <p:nvPr/>
        </p:nvSpPr>
        <p:spPr>
          <a:xfrm>
            <a:off x="571127" y="249829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40" name="사각형: 둥근 모서리 15">
            <a:extLst>
              <a:ext uri="{FF2B5EF4-FFF2-40B4-BE49-F238E27FC236}">
                <a16:creationId xmlns:a16="http://schemas.microsoft.com/office/drawing/2014/main" id="{E2B61CFB-AD16-68D0-8752-50D9C5E01971}"/>
              </a:ext>
            </a:extLst>
          </p:cNvPr>
          <p:cNvSpPr/>
          <p:nvPr/>
        </p:nvSpPr>
        <p:spPr>
          <a:xfrm>
            <a:off x="5948994" y="177262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rPr>
              <a:t>보관함 삭제</a:t>
            </a:r>
            <a:endParaRPr kumimoji="1" lang="en-US" sz="700" b="0" i="0" u="none" strike="noStrike" kern="0" cap="none" spc="0" normalizeH="0" baseline="0" noProof="0" dirty="0">
              <a:ln>
                <a:noFill/>
              </a:ln>
              <a:effectLst/>
              <a:uLnTx/>
              <a:uFillTx/>
              <a:latin typeface="맑은 고딕"/>
            </a:endParaRPr>
          </a:p>
        </p:txBody>
      </p:sp>
      <p:sp>
        <p:nvSpPr>
          <p:cNvPr id="241" name="타원 240">
            <a:extLst>
              <a:ext uri="{FF2B5EF4-FFF2-40B4-BE49-F238E27FC236}">
                <a16:creationId xmlns:a16="http://schemas.microsoft.com/office/drawing/2014/main" id="{37A7FF4F-0EAA-1463-560A-D5EC24416103}"/>
              </a:ext>
            </a:extLst>
          </p:cNvPr>
          <p:cNvSpPr/>
          <p:nvPr/>
        </p:nvSpPr>
        <p:spPr>
          <a:xfrm>
            <a:off x="3689767" y="1762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61" name="그룹 60"/>
          <p:cNvGrpSpPr/>
          <p:nvPr/>
        </p:nvGrpSpPr>
        <p:grpSpPr>
          <a:xfrm>
            <a:off x="8223250" y="569392"/>
            <a:ext cx="3365500" cy="634511"/>
            <a:chOff x="8223250" y="569392"/>
            <a:chExt cx="3365500" cy="634511"/>
          </a:xfrm>
        </p:grpSpPr>
        <p:sp>
          <p:nvSpPr>
            <p:cNvPr id="62" name="직사각형 6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수정</a:t>
              </a:r>
            </a:p>
          </p:txBody>
        </p:sp>
        <p:sp>
          <p:nvSpPr>
            <p:cNvPr id="63" name="직사각형 6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sym typeface="Wingdings" panose="05000000000000000000" pitchFamily="2" charset="2"/>
                </a:rPr>
                <a:t>설명 추가</a:t>
              </a:r>
              <a:endParaRPr lang="en-US" altLang="ko-KR" sz="700" dirty="0"/>
            </a:p>
          </p:txBody>
        </p:sp>
      </p:grpSp>
    </p:spTree>
    <p:extLst>
      <p:ext uri="{BB962C8B-B14F-4D97-AF65-F5344CB8AC3E}">
        <p14:creationId xmlns:p14="http://schemas.microsoft.com/office/powerpoint/2010/main" val="1123167280"/>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품목 목록에서 첨부파일이 </a:t>
            </a:r>
            <a:r>
              <a:rPr lang="en-US" altLang="ko-KR" dirty="0" smtClean="0"/>
              <a:t>O</a:t>
            </a:r>
            <a:r>
              <a:rPr lang="ko-KR" altLang="en-US" dirty="0" smtClean="0"/>
              <a:t>인 품목의 경우</a:t>
            </a:r>
            <a:r>
              <a:rPr lang="en-US" altLang="ko-KR" dirty="0"/>
              <a:t/>
            </a:r>
            <a:br>
              <a:rPr lang="en-US" altLang="ko-KR" dirty="0"/>
            </a:br>
            <a:r>
              <a:rPr lang="ko-KR" altLang="en-US" dirty="0" smtClean="0"/>
              <a:t>보기 버튼을 클릭하여 첨부파일이 표시됨</a:t>
            </a:r>
            <a:r>
              <a:rPr lang="en-US" altLang="ko-KR" dirty="0" smtClean="0"/>
              <a:t>.</a:t>
            </a:r>
          </a:p>
          <a:p>
            <a:pPr>
              <a:buFont typeface="+mj-lt"/>
              <a:buAutoNum type="arabicPeriod"/>
            </a:pPr>
            <a:r>
              <a:rPr lang="ko-KR" altLang="en-US" dirty="0" smtClean="0"/>
              <a:t>파일명 클릭으로 뷰어 솔루션 호출</a:t>
            </a:r>
            <a:r>
              <a:rPr lang="en-US" altLang="ko-KR" dirty="0" smtClean="0"/>
              <a:t/>
            </a:r>
            <a:br>
              <a:rPr lang="en-US" altLang="ko-KR" dirty="0" smtClean="0"/>
            </a:br>
            <a:r>
              <a:rPr lang="en-US" altLang="ko-KR" dirty="0" smtClean="0"/>
              <a:t>- </a:t>
            </a:r>
            <a:r>
              <a:rPr lang="ko-KR" altLang="en-US" dirty="0" smtClean="0"/>
              <a:t>다운로드 클릭 시 다운로드 실행</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첨부파일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a:t>
            </a:r>
            <a:r>
              <a:rPr lang="ko-KR" altLang="en-US" dirty="0" smtClean="0"/>
              <a:t>입찰공고 상세에서</a:t>
            </a:r>
            <a:r>
              <a:rPr lang="en-US" altLang="ko-KR" dirty="0" smtClean="0"/>
              <a:t> </a:t>
            </a:r>
            <a:r>
              <a:rPr lang="ko-KR" altLang="en-US" dirty="0" smtClean="0"/>
              <a:t>개별 품목의 첨부파일을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smtClean="0">
                <a:latin typeface="+mn-ea"/>
              </a:rPr>
              <a:t>상세</a:t>
            </a:r>
            <a:r>
              <a:rPr lang="en-US" altLang="ko-KR" dirty="0" smtClean="0">
                <a:latin typeface="+mn-ea"/>
              </a:rPr>
              <a:t> &gt; </a:t>
            </a:r>
            <a:r>
              <a:rPr lang="ko-KR" altLang="en-US" dirty="0">
                <a:latin typeface="+mn-ea"/>
              </a:rPr>
              <a:t>첨부파일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1" name="그룹 60"/>
          <p:cNvGrpSpPr/>
          <p:nvPr/>
        </p:nvGrpSpPr>
        <p:grpSpPr>
          <a:xfrm>
            <a:off x="8223250" y="569392"/>
            <a:ext cx="3365500" cy="634511"/>
            <a:chOff x="8223250" y="569392"/>
            <a:chExt cx="3365500" cy="634511"/>
          </a:xfrm>
        </p:grpSpPr>
        <p:sp>
          <p:nvSpPr>
            <p:cNvPr id="62" name="직사각형 6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a:t>
              </a:r>
              <a:r>
                <a:rPr lang="ko-KR" altLang="en-US" dirty="0" smtClean="0"/>
                <a:t>추가</a:t>
              </a:r>
              <a:endParaRPr lang="ko-KR" altLang="en-US" dirty="0"/>
            </a:p>
          </p:txBody>
        </p:sp>
        <p:sp>
          <p:nvSpPr>
            <p:cNvPr id="63" name="직사각형 6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첨부문서를</a:t>
              </a:r>
              <a:r>
                <a:rPr lang="ko-KR" altLang="en-US" sz="700" dirty="0" smtClean="0"/>
                <a:t> 조회하는 팝업 화면</a:t>
              </a:r>
              <a:endParaRPr lang="en-US" altLang="ko-KR" sz="700" dirty="0"/>
            </a:p>
          </p:txBody>
        </p:sp>
      </p:grpSp>
      <p:sp>
        <p:nvSpPr>
          <p:cNvPr id="64" name="양쪽 모서리가 둥근 사각형 63"/>
          <p:cNvSpPr/>
          <p:nvPr/>
        </p:nvSpPr>
        <p:spPr>
          <a:xfrm>
            <a:off x="675399" y="3011653"/>
            <a:ext cx="2712027" cy="3215510"/>
          </a:xfrm>
          <a:prstGeom prst="round2SameRect">
            <a:avLst>
              <a:gd name="adj1" fmla="val 4887"/>
              <a:gd name="adj2" fmla="val 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65" name="모서리가 둥근 직사각형 64"/>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6" name="그룹 65"/>
          <p:cNvGrpSpPr/>
          <p:nvPr/>
        </p:nvGrpSpPr>
        <p:grpSpPr>
          <a:xfrm>
            <a:off x="3164338" y="3182696"/>
            <a:ext cx="94010" cy="94010"/>
            <a:chOff x="6812560" y="3297172"/>
            <a:chExt cx="94010" cy="94010"/>
          </a:xfrm>
        </p:grpSpPr>
        <p:cxnSp>
          <p:nvCxnSpPr>
            <p:cNvPr id="67" name="직선 연결선 6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9" name="TextBox 68">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첨부파일 조회</a:t>
            </a:r>
          </a:p>
        </p:txBody>
      </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75399" y="5614711"/>
            <a:ext cx="2712027" cy="617588"/>
            <a:chOff x="675399" y="5614711"/>
            <a:chExt cx="2712027" cy="617588"/>
          </a:xfrm>
        </p:grpSpPr>
        <p:sp>
          <p:nvSpPr>
            <p:cNvPr id="90" name="직사각형 8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94" name="TextBox 93">
            <a:extLst>
              <a:ext uri="{FF2B5EF4-FFF2-40B4-BE49-F238E27FC236}">
                <a16:creationId xmlns:a16="http://schemas.microsoft.com/office/drawing/2014/main" id="{FFC49AEA-2A8F-250C-A86A-A7751D9706C3}"/>
              </a:ext>
            </a:extLst>
          </p:cNvPr>
          <p:cNvSpPr txBox="1"/>
          <p:nvPr/>
        </p:nvSpPr>
        <p:spPr>
          <a:xfrm>
            <a:off x="757744" y="3491443"/>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96" name="모서리가 둥근 직사각형 95"/>
          <p:cNvSpPr/>
          <p:nvPr/>
        </p:nvSpPr>
        <p:spPr>
          <a:xfrm>
            <a:off x="711214" y="38898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FFC49AEA-2A8F-250C-A86A-A7751D9706C3}"/>
              </a:ext>
            </a:extLst>
          </p:cNvPr>
          <p:cNvSpPr txBox="1"/>
          <p:nvPr/>
        </p:nvSpPr>
        <p:spPr>
          <a:xfrm>
            <a:off x="1211882" y="39643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789410" y="40182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9" name="타원 98"/>
          <p:cNvSpPr/>
          <p:nvPr/>
        </p:nvSpPr>
        <p:spPr>
          <a:xfrm>
            <a:off x="3071333" y="40000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모서리가 둥근 직사각형 99"/>
          <p:cNvSpPr/>
          <p:nvPr/>
        </p:nvSpPr>
        <p:spPr>
          <a:xfrm>
            <a:off x="711214" y="429651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1882" y="437103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9410" y="442489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3" name="타원 102"/>
          <p:cNvSpPr/>
          <p:nvPr/>
        </p:nvSpPr>
        <p:spPr>
          <a:xfrm>
            <a:off x="3071333" y="440675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675399" y="541594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1211882" y="375471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2980849" y="375471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717978" y="3754711"/>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nvGrpSpPr>
          <p:cNvPr id="129" name="그룹 128">
            <a:extLst>
              <a:ext uri="{FF2B5EF4-FFF2-40B4-BE49-F238E27FC236}">
                <a16:creationId xmlns:a16="http://schemas.microsoft.com/office/drawing/2014/main" id="{22BC05EE-C648-7CA2-4CCC-6E1C1A7E9BDA}"/>
              </a:ext>
            </a:extLst>
          </p:cNvPr>
          <p:cNvGrpSpPr/>
          <p:nvPr/>
        </p:nvGrpSpPr>
        <p:grpSpPr>
          <a:xfrm>
            <a:off x="1992981" y="4927594"/>
            <a:ext cx="76863" cy="292489"/>
            <a:chOff x="3750067" y="4683795"/>
            <a:chExt cx="76863" cy="292489"/>
          </a:xfrm>
        </p:grpSpPr>
        <p:sp>
          <p:nvSpPr>
            <p:cNvPr id="130" name="타원 12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3151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3" name="타원 132">
            <a:extLst>
              <a:ext uri="{FF2B5EF4-FFF2-40B4-BE49-F238E27FC236}">
                <a16:creationId xmlns:a16="http://schemas.microsoft.com/office/drawing/2014/main" id="{37A7FF4F-0EAA-1463-560A-D5EC24416103}"/>
              </a:ext>
            </a:extLst>
          </p:cNvPr>
          <p:cNvSpPr/>
          <p:nvPr/>
        </p:nvSpPr>
        <p:spPr>
          <a:xfrm>
            <a:off x="571127" y="39870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544968943"/>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첨부서류 탭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첨부파일</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399" y="1532195"/>
            <a:ext cx="2712026" cy="1602288"/>
            <a:chOff x="3795735" y="2878425"/>
            <a:chExt cx="2712026" cy="1602288"/>
          </a:xfrm>
        </p:grpSpPr>
        <p:sp>
          <p:nvSpPr>
            <p:cNvPr id="54" name="TextBox 53">
              <a:extLst>
                <a:ext uri="{FF2B5EF4-FFF2-40B4-BE49-F238E27FC236}">
                  <a16:creationId xmlns:a16="http://schemas.microsoft.com/office/drawing/2014/main" id="{FFC49AEA-2A8F-250C-A86A-A7751D9706C3}"/>
                </a:ext>
              </a:extLst>
            </p:cNvPr>
            <p:cNvSpPr txBox="1"/>
            <p:nvPr/>
          </p:nvSpPr>
          <p:spPr>
            <a:xfrm>
              <a:off x="3878080" y="2878425"/>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55" name="그룹 54"/>
            <p:cNvGrpSpPr/>
            <p:nvPr/>
          </p:nvGrpSpPr>
          <p:grpSpPr>
            <a:xfrm flipV="1">
              <a:off x="6240167" y="2991756"/>
              <a:ext cx="94010" cy="47005"/>
              <a:chOff x="6812560" y="3297172"/>
              <a:chExt cx="94010" cy="47005"/>
            </a:xfrm>
          </p:grpSpPr>
          <p:cxnSp>
            <p:nvCxnSpPr>
              <p:cNvPr id="56" name="직선 연결선 5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7" name="직선 연결선 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8" name="모서리가 둥근 직사각형 57"/>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61" name="타원 60"/>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모서리가 둥근 직사각형 61"/>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4" name="TextBox 63">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5" name="타원 64"/>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83">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636816400"/>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1147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131282"/>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516148"/>
                  </a:ext>
                </a:extLst>
              </a:tr>
              <a:tr h="0">
                <a:tc>
                  <a:txBody>
                    <a:bodyPr/>
                    <a:lstStyle/>
                    <a:p>
                      <a:pPr algn="l" fontAlgn="ctr"/>
                      <a:r>
                        <a:rPr lang="ko-KR" altLang="en-US" sz="800" b="0" i="0" u="none" strike="noStrike" dirty="0">
                          <a:solidFill>
                            <a:srgbClr val="000000"/>
                          </a:solidFill>
                          <a:effectLst/>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공고구분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5136005"/>
                  </a:ext>
                </a:extLst>
              </a:tr>
              <a:tr h="0">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916746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625234"/>
                  </a:ext>
                </a:extLst>
              </a:tr>
              <a:tr h="0">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36784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3656418"/>
                  </a:ext>
                </a:extLst>
              </a:tr>
              <a:tr h="0">
                <a:tc>
                  <a:txBody>
                    <a:bodyPr/>
                    <a:lstStyle/>
                    <a:p>
                      <a:pPr algn="l" fontAlgn="ctr"/>
                      <a:r>
                        <a:rPr lang="ko-KR" altLang="en-US" sz="800" b="0" i="0" u="none" strike="noStrike">
                          <a:solidFill>
                            <a:srgbClr val="000000"/>
                          </a:solidFill>
                          <a:effectLst/>
                          <a:latin typeface="+mn-ea"/>
                          <a:ea typeface="+mn-ea"/>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5819665"/>
                  </a:ext>
                </a:extLst>
              </a:tr>
              <a:tr h="0">
                <a:tc>
                  <a:txBody>
                    <a:bodyPr/>
                    <a:lstStyle/>
                    <a:p>
                      <a:pPr algn="l" fontAlgn="ctr"/>
                      <a:r>
                        <a:rPr lang="ko-KR" altLang="en-US" sz="800" b="0" i="0" u="none" strike="noStrike">
                          <a:solidFill>
                            <a:srgbClr val="000000"/>
                          </a:solidFill>
                          <a:effectLst/>
                          <a:latin typeface="+mn-ea"/>
                          <a:ea typeface="+mn-ea"/>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3514083"/>
                  </a:ext>
                </a:extLst>
              </a:tr>
              <a:tr h="0">
                <a:tc>
                  <a:txBody>
                    <a:bodyPr/>
                    <a:lstStyle/>
                    <a:p>
                      <a:pPr algn="l" fontAlgn="ctr"/>
                      <a:r>
                        <a:rPr lang="ko-KR" altLang="en-US" sz="800" b="0" i="0" u="none" strike="noStrike" dirty="0">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8368488"/>
                  </a:ext>
                </a:extLst>
              </a:tr>
              <a:tr h="0">
                <a:tc>
                  <a:txBody>
                    <a:bodyPr/>
                    <a:lstStyle/>
                    <a:p>
                      <a:pPr algn="l" fontAlgn="ctr"/>
                      <a:r>
                        <a:rPr lang="ko-KR" altLang="en-US" sz="800" b="0" i="0" u="none" strike="noStrike" dirty="0">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19282"/>
                  </a:ext>
                </a:extLst>
              </a:tr>
              <a:tr h="0">
                <a:tc>
                  <a:txBody>
                    <a:bodyPr/>
                    <a:lstStyle/>
                    <a:p>
                      <a:pPr algn="l" fontAlgn="ct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indent="-92075" algn="l" latinLnBrk="1">
                        <a:buFont typeface="Arial" panose="020B0604020202020204" pitchFamily="34" charset="0"/>
                        <a:buChar char="•"/>
                      </a:pPr>
                      <a:r>
                        <a:rPr lang="ko-KR" altLang="en-US" sz="800" dirty="0">
                          <a:solidFill>
                            <a:schemeClr val="tx1"/>
                          </a:solidFill>
                          <a:latin typeface="+mn-ea"/>
                          <a:ea typeface="+mn-ea"/>
                        </a:rPr>
                        <a:t>달러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241225"/>
                  </a:ext>
                </a:extLst>
              </a:tr>
              <a:tr h="0">
                <a:tc>
                  <a:txBody>
                    <a:bodyPr/>
                    <a:lstStyle/>
                    <a:p>
                      <a:pPr algn="l" fontAlgn="ctr"/>
                      <a:r>
                        <a:rPr lang="ko-KR" altLang="en-US" sz="800" b="0" i="0" u="none" strike="noStrike">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7904097"/>
                  </a:ext>
                </a:extLst>
              </a:tr>
              <a:tr h="0">
                <a:tc>
                  <a:txBody>
                    <a:bodyPr/>
                    <a:lstStyle/>
                    <a:p>
                      <a:pPr algn="l" fontAlgn="ctr"/>
                      <a:r>
                        <a:rPr lang="ko-KR" altLang="en-US" sz="800" b="0" i="0" u="none" strike="noStrike" dirty="0" err="1">
                          <a:solidFill>
                            <a:srgbClr val="000000"/>
                          </a:solidFill>
                          <a:effectLst/>
                          <a:latin typeface="+mn-ea"/>
                          <a:ea typeface="+mn-ea"/>
                        </a:rPr>
                        <a:t>공고품목수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3795502"/>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652835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682420"/>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363760"/>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4561903"/>
                  </a:ext>
                </a:extLst>
              </a:tr>
              <a:tr h="0">
                <a:tc>
                  <a:txBody>
                    <a:bodyPr/>
                    <a:lstStyle/>
                    <a:p>
                      <a:pPr algn="l" fontAlgn="ctr"/>
                      <a:r>
                        <a:rPr lang="ko-KR" altLang="en-US" sz="800" b="0" i="0" u="none" strike="noStrike" dirty="0">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F704B4B-1EA4-54DD-D927-32B048F785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40498459"/>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첨부서류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5613054"/>
                  </a:ext>
                </a:extLst>
              </a:tr>
              <a:tr h="0">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슬라이드 번호 개체 틀 4">
            <a:extLst>
              <a:ext uri="{FF2B5EF4-FFF2-40B4-BE49-F238E27FC236}">
                <a16:creationId xmlns:a16="http://schemas.microsoft.com/office/drawing/2014/main" id="{D1E2B51F-C120-CDEF-93BC-81FB21430B02}"/>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299</a:t>
            </a:fld>
            <a:endParaRPr lang="ko-KR" altLang="en-US"/>
          </a:p>
        </p:txBody>
      </p:sp>
      <p:sp>
        <p:nvSpPr>
          <p:cNvPr id="3" name="Text Box 73">
            <a:extLst>
              <a:ext uri="{FF2B5EF4-FFF2-40B4-BE49-F238E27FC236}">
                <a16:creationId xmlns:a16="http://schemas.microsoft.com/office/drawing/2014/main" id="{F2DE5AB1-D284-71B0-AB9F-294A08641C9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9681804"/>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300</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r>
              <a:rPr lang="en-US" altLang="ko-KR" sz="1000" b="1" dirty="0">
                <a:solidFill>
                  <a:prstClr val="black"/>
                </a:solidFill>
              </a:rPr>
              <a:t>)</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40577"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품목목록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(dl_itemList)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458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103206">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mn-ea"/>
                          <a:ea typeface="+mn-ea"/>
                        </a:rPr>
                        <a:t>Y</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2395805"/>
                  </a:ext>
                </a:extLst>
              </a:tr>
              <a:tr h="0">
                <a:tc>
                  <a:txBody>
                    <a:bodyPr/>
                    <a:lstStyle/>
                    <a:p>
                      <a:pPr algn="l" fontAlgn="ct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첨부 문서</a:t>
                      </a:r>
                      <a:r>
                        <a:rPr lang="en-US" altLang="ko-KR" sz="800" b="0" i="0" u="none" strike="noStrike" dirty="0">
                          <a:solidFill>
                            <a:srgbClr val="000000"/>
                          </a:solidFill>
                          <a:effectLst/>
                          <a:latin typeface="+mn-ea"/>
                          <a:ea typeface="+mn-ea"/>
                        </a:rPr>
                        <a:t>ID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8313790"/>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9877418"/>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2335966"/>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996289"/>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09395"/>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6072090"/>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6703505"/>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9844663"/>
                  </a:ext>
                </a:extLst>
              </a:tr>
              <a:tr h="0">
                <a:tc>
                  <a:txBody>
                    <a:bodyPr/>
                    <a:lstStyle/>
                    <a:p>
                      <a:pPr algn="l" fontAlgn="ctr"/>
                      <a:r>
                        <a:rPr lang="ko-KR" altLang="en-US" sz="800" b="0" i="0" u="none" strike="noStrike" dirty="0">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1850839"/>
                  </a:ext>
                </a:extLst>
              </a:tr>
              <a:tr h="0">
                <a:tc>
                  <a:txBody>
                    <a:bodyPr/>
                    <a:lstStyle/>
                    <a:p>
                      <a:pPr algn="l" fontAlgn="ctr"/>
                      <a:r>
                        <a:rPr lang="ko-KR" altLang="en-US" sz="800" b="0" i="0" u="none" strike="noStrike">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7697221"/>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8235322"/>
                  </a:ext>
                </a:extLst>
              </a:tr>
              <a:tr h="0">
                <a:tc>
                  <a:txBody>
                    <a:bodyPr/>
                    <a:lstStyle/>
                    <a:p>
                      <a:pPr algn="l" fontAlgn="ctr"/>
                      <a:r>
                        <a:rPr lang="ko-KR" altLang="en-US" sz="800" b="0" i="0" u="none" strike="noStrike">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1718300"/>
                  </a:ext>
                </a:extLst>
              </a:tr>
              <a:tr h="0">
                <a:tc>
                  <a:txBody>
                    <a:bodyPr/>
                    <a:lstStyle/>
                    <a:p>
                      <a:pPr algn="l" fontAlgn="ctr"/>
                      <a:r>
                        <a:rPr lang="ko-KR" altLang="en-US" sz="800" b="0" i="0" u="none" strike="noStrike">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9331676"/>
                  </a:ext>
                </a:extLst>
              </a:tr>
              <a:tr h="0">
                <a:tc>
                  <a:txBody>
                    <a:bodyPr/>
                    <a:lstStyle/>
                    <a:p>
                      <a:pPr algn="l" fontAlgn="ctr"/>
                      <a:r>
                        <a:rPr lang="ko-KR" altLang="en-US" sz="800" b="0" i="0" u="none" strike="noStrike">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5868606"/>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505758"/>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5560114"/>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6767"/>
                  </a:ext>
                </a:extLst>
              </a:tr>
              <a:tr h="0">
                <a:tc>
                  <a:txBody>
                    <a:bodyPr/>
                    <a:lstStyle/>
                    <a:p>
                      <a:pPr algn="l" fontAlgn="ctr"/>
                      <a:r>
                        <a:rPr lang="ko-KR" altLang="en-US" sz="800" b="0" i="0" u="none" strike="noStrike">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871129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b="0" dirty="0">
                          <a:solidFill>
                            <a:schemeClr val="tx1"/>
                          </a:solidFill>
                          <a:latin typeface="+mn-ea"/>
                          <a:ea typeface="+mn-ea"/>
                        </a:rPr>
                        <a:t>값 </a:t>
                      </a:r>
                      <a:r>
                        <a:rPr lang="en-US" altLang="ko-KR" sz="800" b="0" dirty="0">
                          <a:solidFill>
                            <a:schemeClr val="tx1"/>
                          </a:solidFill>
                          <a:latin typeface="+mn-ea"/>
                          <a:ea typeface="+mn-ea"/>
                        </a:rPr>
                        <a:t>(Y, N)</a:t>
                      </a:r>
                    </a:p>
                    <a:p>
                      <a:pPr marL="88900" indent="-88900" algn="l" latinLnBrk="1">
                        <a:buFont typeface="Arial" panose="020B0604020202020204" pitchFamily="34" charset="0"/>
                        <a:buChar char="•"/>
                      </a:pPr>
                      <a:r>
                        <a:rPr lang="ko-KR" altLang="en-US" sz="800" kern="1200">
                          <a:solidFill>
                            <a:schemeClr val="tx1"/>
                          </a:solidFill>
                          <a:latin typeface="+mn-lt"/>
                          <a:ea typeface="+mn-ea"/>
                          <a:cs typeface="+mn-cs"/>
                        </a:rPr>
                        <a:t>업체담당자인</a:t>
                      </a:r>
                      <a:r>
                        <a:rPr lang="ko-KR" altLang="en-US" sz="800" b="0">
                          <a:solidFill>
                            <a:schemeClr val="tx1"/>
                          </a:solidFill>
                          <a:latin typeface="+mn-ea"/>
                          <a:ea typeface="+mn-ea"/>
                        </a:rPr>
                        <a:t> </a:t>
                      </a:r>
                      <a:r>
                        <a:rPr lang="ko-KR" altLang="en-US" sz="800" b="0" dirty="0">
                          <a:solidFill>
                            <a:schemeClr val="tx1"/>
                          </a:solidFill>
                          <a:latin typeface="+mn-ea"/>
                          <a:ea typeface="+mn-ea"/>
                        </a:rPr>
                        <a:t>경우에만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ADA51300-06F1-4ACA-D27E-E24C195B5C8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646100"/>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301</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A31F6A43-1297-CF99-ABFA-B1F80565E966}"/>
              </a:ext>
            </a:extLst>
          </p:cNvPr>
          <p:cNvGraphicFramePr>
            <a:graphicFrameLocks noGrp="1"/>
          </p:cNvGraphicFramePr>
          <p:nvPr>
            <p:extLst/>
          </p:nvPr>
        </p:nvGraphicFramePr>
        <p:xfrm>
          <a:off x="458117" y="799547"/>
          <a:ext cx="8995590" cy="3424320"/>
        </p:xfrm>
        <a:graphic>
          <a:graphicData uri="http://schemas.openxmlformats.org/drawingml/2006/table">
            <a:tbl>
              <a:tblPr>
                <a:tableStyleId>{616DA210-FB5B-4158-B5E0-FEB733F419BA}</a:tableStyleId>
              </a:tblPr>
              <a:tblGrid>
                <a:gridCol w="1380208">
                  <a:extLst>
                    <a:ext uri="{9D8B030D-6E8A-4147-A177-3AD203B41FA5}">
                      <a16:colId xmlns:a16="http://schemas.microsoft.com/office/drawing/2014/main" val="20000"/>
                    </a:ext>
                  </a:extLst>
                </a:gridCol>
                <a:gridCol w="1514475">
                  <a:extLst>
                    <a:ext uri="{9D8B030D-6E8A-4147-A177-3AD203B41FA5}">
                      <a16:colId xmlns:a16="http://schemas.microsoft.com/office/drawing/2014/main" val="624624882"/>
                    </a:ext>
                  </a:extLst>
                </a:gridCol>
                <a:gridCol w="3305174">
                  <a:extLst>
                    <a:ext uri="{9D8B030D-6E8A-4147-A177-3AD203B41FA5}">
                      <a16:colId xmlns:a16="http://schemas.microsoft.com/office/drawing/2014/main" val="20001"/>
                    </a:ext>
                  </a:extLst>
                </a:gridCol>
                <a:gridCol w="279573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공고상세정보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입찰품목목록조회</a:t>
                      </a:r>
                      <a:r>
                        <a:rPr lang="en-US" altLang="ko-KR" sz="800" dirty="0">
                          <a:latin typeface="+mn-ea"/>
                          <a:ea typeface="+mn-ea"/>
                        </a:rPr>
                        <a:t>, </a:t>
                      </a:r>
                      <a:r>
                        <a:rPr lang="ko-KR" altLang="en-US" sz="800" dirty="0">
                          <a:latin typeface="+mn-ea"/>
                          <a:ea typeface="+mn-ea"/>
                        </a:rPr>
                        <a:t>공지사항조회</a:t>
                      </a:r>
                      <a:r>
                        <a:rPr lang="en-US" altLang="ko-KR" sz="800" dirty="0">
                          <a:latin typeface="+mn-ea"/>
                          <a:ea typeface="+mn-ea"/>
                        </a:rPr>
                        <a:t>, </a:t>
                      </a:r>
                      <a:r>
                        <a:rPr lang="ko-KR" altLang="en-US" sz="800" dirty="0">
                          <a:latin typeface="+mn-ea"/>
                          <a:ea typeface="+mn-ea"/>
                        </a:rPr>
                        <a:t>첨부서류목록조회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첨부문서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ea"/>
                          <a:ea typeface="+mn-ea"/>
                        </a:rPr>
                        <a:t>첨부파일 조회 팝업을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fontAlgn="ctr">
                        <a:buFont typeface="Arial" panose="020B0604020202020204" pitchFamily="34" charset="0"/>
                        <a:buChar char="•"/>
                      </a:pPr>
                      <a:r>
                        <a:rPr lang="en-US" sz="800" b="0" i="0" u="none" strike="noStrike" kern="1200" dirty="0">
                          <a:solidFill>
                            <a:srgbClr val="000000"/>
                          </a:solidFill>
                          <a:effectLst/>
                          <a:latin typeface="맑은 고딕" panose="020B0503020000020004" pitchFamily="50" charset="-127"/>
                          <a:ea typeface="맑은 고딕" panose="020B0503020000020004" pitchFamily="50" charset="-127"/>
                          <a:cs typeface="+mn-cs"/>
                        </a:rPr>
                        <a:t>MUI-BD-01-P76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r h="0">
                <a:tc>
                  <a:txBody>
                    <a:bodyPr/>
                    <a:lstStyle/>
                    <a:p>
                      <a:r>
                        <a:rPr lang="ko-KR" altLang="en-US" sz="800" dirty="0" err="1"/>
                        <a:t>재고번호</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scwin.grd_list_oncellclick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목록정보조회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UI-OP-01-P75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참조</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416658"/>
                  </a:ext>
                </a:extLst>
              </a:tr>
              <a:tr h="158451">
                <a:tc>
                  <a:txBody>
                    <a:bodyPr/>
                    <a:lstStyle/>
                    <a:p>
                      <a:r>
                        <a:rPr lang="ko-KR" altLang="en-US" sz="800" dirty="0" err="1"/>
                        <a:t>목표가공개품목조회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scnwin.btn_openGoalPrice_onclick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목표가공개품목조회</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8151849"/>
                  </a:ext>
                </a:extLst>
              </a:tr>
              <a:tr h="158451">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scnwin.btn_openExchangeRate_onclick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환율정보조회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450998"/>
                  </a:ext>
                </a:extLst>
              </a:tr>
              <a:tr h="158451">
                <a:tc>
                  <a:txBody>
                    <a:bodyPr/>
                    <a:lstStyle/>
                    <a:p>
                      <a:r>
                        <a:rPr lang="ko-KR" altLang="en-US" sz="800" strike="noStrike" dirty="0">
                          <a:solidFill>
                            <a:schemeClr val="tx1"/>
                          </a:solidFill>
                        </a:rPr>
                        <a:t>입찰결과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입찰결과상세조회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UI-BD-09-M71</a:t>
                      </a:r>
                      <a:r>
                        <a:rPr lang="en-US" altLang="ko-KR" sz="800" strike="noStrike">
                          <a:solidFill>
                            <a:schemeClr val="tx1"/>
                          </a:solidFill>
                          <a:latin typeface="+mn-ea"/>
                          <a:ea typeface="+mn-ea"/>
                        </a:rPr>
                        <a:t> </a:t>
                      </a:r>
                      <a:r>
                        <a:rPr lang="ko-KR" altLang="en-US" sz="800" strike="noStrike">
                          <a:solidFill>
                            <a:schemeClr val="tx1"/>
                          </a:solidFill>
                          <a:latin typeface="+mn-ea"/>
                          <a:ea typeface="+mn-ea"/>
                        </a:rPr>
                        <a:t>참조</a:t>
                      </a:r>
                      <a:endParaRPr lang="ko-KR" altLang="en-US"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3293891"/>
                  </a:ext>
                </a:extLst>
              </a:tr>
              <a:tr h="158451">
                <a:tc>
                  <a:txBody>
                    <a:bodyPr/>
                    <a:lstStyle/>
                    <a:p>
                      <a:r>
                        <a:rPr lang="ko-KR" altLang="en-US" sz="800" strike="noStrike" dirty="0">
                          <a:solidFill>
                            <a:schemeClr val="tx1"/>
                          </a:solidFill>
                        </a:rPr>
                        <a:t>보관함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scnwin.btn_moveLocker_onclick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보관함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kern="1200" dirty="0">
                          <a:solidFill>
                            <a:schemeClr val="tx1"/>
                          </a:solidFill>
                          <a:latin typeface="+mn-lt"/>
                          <a:ea typeface="+mn-ea"/>
                          <a:cs typeface="+mn-cs"/>
                        </a:rPr>
                        <a:t>업체담당자인 경우 버튼 노출</a:t>
                      </a:r>
                      <a:endParaRPr lang="en-US" altLang="ko-KR" sz="800" strike="noStrike" dirty="0">
                        <a:solidFill>
                          <a:schemeClr val="tx1"/>
                        </a:solidFill>
                        <a:latin typeface="+mn-ea"/>
                        <a:ea typeface="+mn-ea"/>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b="0" i="0" u="none" strike="noStrike" dirty="0">
                          <a:solidFill>
                            <a:srgbClr val="000000"/>
                          </a:solidFill>
                          <a:effectLst/>
                          <a:latin typeface="맑은 고딕" panose="020B0503020000020004" pitchFamily="50" charset="-127"/>
                          <a:ea typeface="+mn-ea"/>
                        </a:rPr>
                        <a:t>UI-BD-01-M75</a:t>
                      </a:r>
                      <a:r>
                        <a:rPr lang="ko-KR" altLang="en-US" sz="800" strike="noStrike" dirty="0">
                          <a:solidFill>
                            <a:schemeClr val="tx1"/>
                          </a:solidFill>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1653615"/>
                  </a:ext>
                </a:extLst>
              </a:tr>
              <a:tr h="193284">
                <a:tc>
                  <a:txBody>
                    <a:bodyPr/>
                    <a:lstStyle/>
                    <a:p>
                      <a:r>
                        <a:rPr lang="ko-KR" altLang="en-US" sz="800" strike="noStrike" dirty="0">
                          <a:solidFill>
                            <a:schemeClr val="tx1"/>
                          </a:solidFill>
                        </a:rPr>
                        <a:t>이전입찰내역불러오기 클릭 </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scnwin.btn_openPreviousBidDetail_onclick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err="1">
                          <a:solidFill>
                            <a:schemeClr val="tx1"/>
                          </a:solidFill>
                          <a:latin typeface="+mn-ea"/>
                          <a:ea typeface="+mn-ea"/>
                        </a:rPr>
                        <a:t>이전공고입찰내역등록</a:t>
                      </a:r>
                      <a:r>
                        <a:rPr lang="ko-KR" altLang="en-US" sz="800" strike="noStrike" dirty="0">
                          <a:solidFill>
                            <a:schemeClr val="tx1"/>
                          </a:solidFill>
                          <a:latin typeface="+mn-ea"/>
                          <a:ea typeface="+mn-ea"/>
                        </a:rPr>
                        <a:t> 팝업을 호출</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en-US" altLang="ko-KR" sz="800" b="0" i="0" u="none" strike="noStrike" dirty="0">
                          <a:solidFill>
                            <a:srgbClr val="000000"/>
                          </a:solidFill>
                          <a:effectLst/>
                          <a:latin typeface="맑은 고딕" panose="020B0503020000020004" pitchFamily="50" charset="-127"/>
                          <a:ea typeface="+mn-ea"/>
                        </a:rPr>
                        <a:t>UI-BD-01-P78</a:t>
                      </a:r>
                      <a:r>
                        <a:rPr lang="ko-KR" altLang="en-US" sz="800" b="0" i="0" u="none" strike="noStrike" dirty="0">
                          <a:solidFill>
                            <a:schemeClr val="tx1"/>
                          </a:solidFill>
                          <a:effectLst/>
                          <a:latin typeface="+mn-ea"/>
                          <a:ea typeface="+mn-ea"/>
                        </a:rPr>
                        <a:t> 참조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7303301"/>
                  </a:ext>
                </a:extLst>
              </a:tr>
              <a:tr h="248047">
                <a:tc>
                  <a:txBody>
                    <a:bodyPr/>
                    <a:lstStyle/>
                    <a:p>
                      <a:r>
                        <a:rPr lang="ko-KR" altLang="en-US" sz="800" dirty="0" err="1"/>
                        <a:t>보관함추가</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err="1">
                          <a:solidFill>
                            <a:srgbClr val="000000"/>
                          </a:solidFill>
                          <a:effectLst/>
                          <a:latin typeface="맑은 고딕" panose="020B0503020000020004" pitchFamily="50" charset="-127"/>
                          <a:ea typeface="+mn-ea"/>
                        </a:rPr>
                        <a:t>보관함추가</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5647824"/>
                  </a:ext>
                </a:extLst>
              </a:tr>
              <a:tr h="193284">
                <a:tc>
                  <a:txBody>
                    <a:bodyPr/>
                    <a:lstStyle/>
                    <a:p>
                      <a:r>
                        <a:rPr lang="ko-KR" altLang="en-US" sz="800" dirty="0" err="1"/>
                        <a:t>보관함삭제</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err="1">
                          <a:solidFill>
                            <a:srgbClr val="000000"/>
                          </a:solidFill>
                          <a:effectLst/>
                          <a:latin typeface="맑은 고딕" panose="020B0503020000020004" pitchFamily="50" charset="-127"/>
                          <a:ea typeface="+mn-ea"/>
                        </a:rPr>
                        <a:t>보관함제거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332849"/>
                  </a:ext>
                </a:extLst>
              </a:tr>
              <a:tr h="0">
                <a:tc>
                  <a:txBody>
                    <a:bodyPr/>
                    <a:lstStyle/>
                    <a:p>
                      <a:r>
                        <a:rPr lang="ko-KR" altLang="en-US" sz="800" dirty="0">
                          <a:solidFill>
                            <a:schemeClr val="tx1"/>
                          </a:solidFill>
                        </a:rPr>
                        <a:t>관심공고등록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scnwin.btn_favorite_onclick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latin typeface="+mn-ea"/>
                          <a:ea typeface="+mn-ea"/>
                        </a:rPr>
                        <a:t>해당 공고를 </a:t>
                      </a:r>
                      <a:r>
                        <a:rPr lang="ko-KR" altLang="en-US" sz="800" dirty="0" err="1">
                          <a:solidFill>
                            <a:schemeClr val="tx1"/>
                          </a:solidFill>
                          <a:latin typeface="+mn-ea"/>
                          <a:ea typeface="+mn-ea"/>
                        </a:rPr>
                        <a:t>나의입찰정보에</a:t>
                      </a:r>
                      <a:r>
                        <a:rPr lang="ko-KR" altLang="en-US" sz="800" dirty="0">
                          <a:solidFill>
                            <a:schemeClr val="tx1"/>
                          </a:solidFill>
                          <a:latin typeface="+mn-ea"/>
                          <a:ea typeface="+mn-ea"/>
                        </a:rPr>
                        <a:t> 관심공고여부를 등록 </a:t>
                      </a:r>
                      <a:r>
                        <a:rPr lang="ko-KR" altLang="en-US" sz="800">
                          <a:solidFill>
                            <a:schemeClr val="tx1"/>
                          </a:solidFill>
                          <a:latin typeface="+mn-ea"/>
                          <a:ea typeface="+mn-ea"/>
                        </a:rPr>
                        <a:t>또는 수정</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a:solidFill>
                            <a:srgbClr val="000000"/>
                          </a:solidFill>
                          <a:effectLst/>
                          <a:latin typeface="맑은 고딕" panose="020B0503020000020004" pitchFamily="50" charset="-127"/>
                          <a:ea typeface="+mn-ea"/>
                        </a:rPr>
                        <a:t>관심공고등록</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535087"/>
                  </a:ext>
                </a:extLst>
              </a:tr>
            </a:tbl>
          </a:graphicData>
        </a:graphic>
      </p:graphicFrame>
      <p:sp>
        <p:nvSpPr>
          <p:cNvPr id="2" name="Text Box 73">
            <a:extLst>
              <a:ext uri="{FF2B5EF4-FFF2-40B4-BE49-F238E27FC236}">
                <a16:creationId xmlns:a16="http://schemas.microsoft.com/office/drawing/2014/main" id="{343E5917-E922-4264-3D1B-FE11E3A7A9A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50608114"/>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89" name="직사각형 8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680570" y="2273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TextBox 90">
            <a:extLst>
              <a:ext uri="{FF2B5EF4-FFF2-40B4-BE49-F238E27FC236}">
                <a16:creationId xmlns:a16="http://schemas.microsoft.com/office/drawing/2014/main" id="{FFC49AEA-2A8F-250C-A86A-A7751D9706C3}"/>
              </a:ext>
            </a:extLst>
          </p:cNvPr>
          <p:cNvSpPr txBox="1"/>
          <p:nvPr/>
        </p:nvSpPr>
        <p:spPr>
          <a:xfrm>
            <a:off x="748417" y="3224184"/>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92" name="TextBox 91">
            <a:extLst>
              <a:ext uri="{FF2B5EF4-FFF2-40B4-BE49-F238E27FC236}">
                <a16:creationId xmlns:a16="http://schemas.microsoft.com/office/drawing/2014/main" id="{FFC49AEA-2A8F-250C-A86A-A7751D9706C3}"/>
              </a:ext>
            </a:extLst>
          </p:cNvPr>
          <p:cNvSpPr txBox="1"/>
          <p:nvPr/>
        </p:nvSpPr>
        <p:spPr>
          <a:xfrm>
            <a:off x="1041640" y="3224184"/>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93" name="TextBox 92">
            <a:extLst>
              <a:ext uri="{FF2B5EF4-FFF2-40B4-BE49-F238E27FC236}">
                <a16:creationId xmlns:a16="http://schemas.microsoft.com/office/drawing/2014/main" id="{FFC49AEA-2A8F-250C-A86A-A7751D9706C3}"/>
              </a:ext>
            </a:extLst>
          </p:cNvPr>
          <p:cNvSpPr txBox="1"/>
          <p:nvPr/>
        </p:nvSpPr>
        <p:spPr>
          <a:xfrm>
            <a:off x="2289144" y="3224184"/>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94" name="그룹 93"/>
          <p:cNvGrpSpPr/>
          <p:nvPr/>
        </p:nvGrpSpPr>
        <p:grpSpPr>
          <a:xfrm>
            <a:off x="715616" y="3388538"/>
            <a:ext cx="2652743" cy="467510"/>
            <a:chOff x="715616" y="3407067"/>
            <a:chExt cx="2652743" cy="467510"/>
          </a:xfrm>
        </p:grpSpPr>
        <p:sp>
          <p:nvSpPr>
            <p:cNvPr id="95" name="모서리가 둥근 직사각형 94"/>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99" name="그룹 98"/>
          <p:cNvGrpSpPr/>
          <p:nvPr/>
        </p:nvGrpSpPr>
        <p:grpSpPr>
          <a:xfrm>
            <a:off x="715616" y="3912045"/>
            <a:ext cx="2652743" cy="467510"/>
            <a:chOff x="715616" y="3407067"/>
            <a:chExt cx="2652743" cy="467510"/>
          </a:xfrm>
        </p:grpSpPr>
        <p:sp>
          <p:nvSpPr>
            <p:cNvPr id="100" name="모서리가 둥근 직사각형 99"/>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78515" y="2359374"/>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105" name="그룹 104">
            <a:extLst>
              <a:ext uri="{FF2B5EF4-FFF2-40B4-BE49-F238E27FC236}">
                <a16:creationId xmlns:a16="http://schemas.microsoft.com/office/drawing/2014/main" id="{8F2F56C4-B606-212C-F131-A4A30AE19BC8}"/>
              </a:ext>
            </a:extLst>
          </p:cNvPr>
          <p:cNvGrpSpPr/>
          <p:nvPr/>
        </p:nvGrpSpPr>
        <p:grpSpPr>
          <a:xfrm>
            <a:off x="1464780" y="2381808"/>
            <a:ext cx="1845146" cy="188244"/>
            <a:chOff x="5613534" y="2854836"/>
            <a:chExt cx="1727805" cy="188244"/>
          </a:xfrm>
        </p:grpSpPr>
        <p:sp>
          <p:nvSpPr>
            <p:cNvPr id="106"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107" name="그림 106">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108" name="사각형: 둥근 모서리 169">
            <a:extLst>
              <a:ext uri="{FF2B5EF4-FFF2-40B4-BE49-F238E27FC236}">
                <a16:creationId xmlns:a16="http://schemas.microsoft.com/office/drawing/2014/main" id="{A28DD831-0E4B-31EE-CB08-9E188754698D}"/>
              </a:ext>
            </a:extLst>
          </p:cNvPr>
          <p:cNvSpPr/>
          <p:nvPr/>
        </p:nvSpPr>
        <p:spPr>
          <a:xfrm>
            <a:off x="1464781" y="2612477"/>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4149" y="2932595"/>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12" name="그룹 111">
            <a:extLst>
              <a:ext uri="{FF2B5EF4-FFF2-40B4-BE49-F238E27FC236}">
                <a16:creationId xmlns:a16="http://schemas.microsoft.com/office/drawing/2014/main" id="{22BC05EE-C648-7CA2-4CCC-6E1C1A7E9BDA}"/>
              </a:ext>
            </a:extLst>
          </p:cNvPr>
          <p:cNvGrpSpPr/>
          <p:nvPr/>
        </p:nvGrpSpPr>
        <p:grpSpPr>
          <a:xfrm>
            <a:off x="1992981" y="5428880"/>
            <a:ext cx="76863" cy="292489"/>
            <a:chOff x="3750067" y="4683795"/>
            <a:chExt cx="76863" cy="292489"/>
          </a:xfrm>
        </p:grpSpPr>
        <p:sp>
          <p:nvSpPr>
            <p:cNvPr id="113" name="타원 11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4" name="타원 11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5" name="타원 11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16" name="그룹 115"/>
          <p:cNvGrpSpPr/>
          <p:nvPr/>
        </p:nvGrpSpPr>
        <p:grpSpPr>
          <a:xfrm>
            <a:off x="715616" y="4428310"/>
            <a:ext cx="2652743" cy="467510"/>
            <a:chOff x="715616" y="3407067"/>
            <a:chExt cx="2652743" cy="467510"/>
          </a:xfrm>
        </p:grpSpPr>
        <p:sp>
          <p:nvSpPr>
            <p:cNvPr id="117" name="모서리가 둥근 직사각형 11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TextBox 11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121" name="그룹 120"/>
          <p:cNvGrpSpPr/>
          <p:nvPr/>
        </p:nvGrpSpPr>
        <p:grpSpPr>
          <a:xfrm>
            <a:off x="715616" y="4934269"/>
            <a:ext cx="2652743" cy="467510"/>
            <a:chOff x="715616" y="3407067"/>
            <a:chExt cx="2652743" cy="467510"/>
          </a:xfrm>
        </p:grpSpPr>
        <p:sp>
          <p:nvSpPr>
            <p:cNvPr id="122" name="모서리가 둥근 직사각형 12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49" y="3166058"/>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748417" y="3003160"/>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130" name="그룹 129"/>
          <p:cNvGrpSpPr/>
          <p:nvPr/>
        </p:nvGrpSpPr>
        <p:grpSpPr>
          <a:xfrm>
            <a:off x="677960" y="1582647"/>
            <a:ext cx="2714637" cy="686386"/>
            <a:chOff x="677960" y="1582647"/>
            <a:chExt cx="2714637" cy="686386"/>
          </a:xfrm>
        </p:grpSpPr>
        <p:sp>
          <p:nvSpPr>
            <p:cNvPr id="131" name="TextBox 130">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err="1">
                  <a:latin typeface="+mn-ea"/>
                </a:rPr>
                <a:t>환율정보</a:t>
              </a:r>
              <a:r>
                <a:rPr lang="ko-KR" altLang="en-US" sz="800" dirty="0">
                  <a:latin typeface="+mn-ea"/>
                </a:rPr>
                <a:t> 조회</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rot="5400000">
              <a:off x="852159" y="2062596"/>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9" name="그룹 138"/>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타원 145"/>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761342257"/>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dm_searchInfo</a:t>
            </a:r>
            <a:r>
              <a:rPr lang="en-US" altLang="ko-KR" sz="900" b="1" dirty="0">
                <a:solidFill>
                  <a:prstClr val="black"/>
                </a:solidFill>
              </a:rPr>
              <a: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38604283"/>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조회결과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목표가공개품목조회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목표가공개품목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목표가공개품목조회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MUI-BD-01-M75</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51455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351656"/>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89" name="그룹 88"/>
          <p:cNvGrpSpPr/>
          <p:nvPr/>
        </p:nvGrpSpPr>
        <p:grpSpPr>
          <a:xfrm>
            <a:off x="701175" y="2570891"/>
            <a:ext cx="2630093" cy="3877985"/>
            <a:chOff x="701175" y="1835481"/>
            <a:chExt cx="2630093" cy="3877985"/>
          </a:xfrm>
        </p:grpSpPr>
        <p:sp>
          <p:nvSpPr>
            <p:cNvPr id="92" name="직사각형 91"/>
            <p:cNvSpPr/>
            <p:nvPr/>
          </p:nvSpPr>
          <p:spPr>
            <a:xfrm>
              <a:off x="703268" y="1835481"/>
              <a:ext cx="792000" cy="38572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387798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en-US" altLang="ko-KR" sz="700" dirty="0">
                <a:latin typeface="+mn-ea"/>
              </a:endParaRPr>
            </a:p>
            <a:p>
              <a:pPr>
                <a:lnSpc>
                  <a:spcPct val="200000"/>
                </a:lnSpc>
              </a:pPr>
              <a:r>
                <a:rPr lang="ko-KR" altLang="en-US" sz="700" dirty="0" err="1">
                  <a:latin typeface="+mn-ea"/>
                </a:rPr>
                <a:t>장비명</a:t>
              </a:r>
              <a:endParaRPr lang="ko-KR" altLang="en-US"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84088" cy="3843681"/>
            </a:xfrm>
            <a:prstGeom prst="rect">
              <a:avLst/>
            </a:prstGeom>
            <a:noFill/>
          </p:spPr>
          <p:txBody>
            <a:bodyPr wrap="square" lIns="0" tIns="0" rIns="0" bIns="0" rtlCol="0">
              <a:spAutoFit/>
            </a:bodyPr>
            <a:lstStyle/>
            <a:p>
              <a:pPr>
                <a:lnSpc>
                  <a:spcPct val="200000"/>
                </a:lnSpc>
              </a:pPr>
              <a:r>
                <a:rPr lang="en-US" altLang="ko-KR" sz="700" dirty="0">
                  <a:latin typeface="+mn-ea"/>
                </a:rPr>
                <a:t>6</a:t>
              </a:r>
            </a:p>
            <a:p>
              <a:pPr>
                <a:lnSpc>
                  <a:spcPct val="200000"/>
                </a:lnSpc>
              </a:pPr>
              <a:r>
                <a:rPr lang="en-US" altLang="ko-KR" sz="700" dirty="0">
                  <a:latin typeface="+mn-ea"/>
                </a:rPr>
                <a:t>1005000529558 </a:t>
              </a:r>
            </a:p>
            <a:p>
              <a:pPr>
                <a:lnSpc>
                  <a:spcPct val="200000"/>
                </a:lnSpc>
              </a:pPr>
              <a:r>
                <a:rPr lang="en-US" altLang="ko-KR" sz="700" dirty="0">
                  <a:latin typeface="+mn-ea"/>
                </a:rPr>
                <a:t>5910873</a:t>
              </a:r>
            </a:p>
            <a:p>
              <a:pPr>
                <a:lnSpc>
                  <a:spcPct val="200000"/>
                </a:lnSpc>
              </a:pPr>
              <a:r>
                <a:rPr lang="en-US" altLang="ko-KR" sz="700" dirty="0">
                  <a:latin typeface="+mn-ea"/>
                </a:rPr>
                <a:t>0001-P4001</a:t>
              </a:r>
            </a:p>
            <a:p>
              <a:pPr>
                <a:lnSpc>
                  <a:spcPct val="200000"/>
                </a:lnSpc>
              </a:pPr>
              <a:r>
                <a:rPr lang="en-US" altLang="ko-KR" sz="700" dirty="0">
                  <a:latin typeface="+mn-ea"/>
                </a:rPr>
                <a:t>COLLAR,BREECH RING</a:t>
              </a:r>
            </a:p>
            <a:p>
              <a:pPr>
                <a:lnSpc>
                  <a:spcPct val="200000"/>
                </a:lnSpc>
              </a:pPr>
              <a:r>
                <a:rPr lang="en-US" altLang="ko-KR" sz="700" dirty="0">
                  <a:latin typeface="+mn-ea"/>
                </a:rPr>
                <a:t>2015-12-13</a:t>
              </a:r>
            </a:p>
            <a:p>
              <a:pPr>
                <a:lnSpc>
                  <a:spcPct val="200000"/>
                </a:lnSpc>
              </a:pPr>
              <a:r>
                <a:rPr lang="en-US" altLang="ko-KR" sz="700" dirty="0">
                  <a:latin typeface="+mn-ea"/>
                </a:rPr>
                <a:t>EA</a:t>
              </a:r>
            </a:p>
            <a:p>
              <a:pPr>
                <a:lnSpc>
                  <a:spcPct val="200000"/>
                </a:lnSpc>
              </a:pPr>
              <a:r>
                <a:rPr lang="en-US" altLang="ko-KR" sz="700" dirty="0">
                  <a:latin typeface="+mn-ea"/>
                </a:rPr>
                <a:t>10</a:t>
              </a:r>
            </a:p>
            <a:p>
              <a:pPr>
                <a:lnSpc>
                  <a:spcPct val="200000"/>
                </a:lnSpc>
              </a:pPr>
              <a:r>
                <a:rPr lang="en-US" altLang="ko-KR" sz="700" dirty="0">
                  <a:latin typeface="+mn-ea"/>
                </a:rPr>
                <a:t>10</a:t>
              </a:r>
            </a:p>
            <a:p>
              <a:pPr>
                <a:lnSpc>
                  <a:spcPct val="200000"/>
                </a:lnSpc>
              </a:pPr>
              <a:r>
                <a:rPr lang="en-US" altLang="ko-KR" sz="700" dirty="0">
                  <a:latin typeface="+mn-ea"/>
                </a:rPr>
                <a:t>10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nSpc>
                  <a:spcPct val="200000"/>
                </a:lnSpc>
              </a:pPr>
              <a:r>
                <a:rPr lang="en-US" altLang="ko-KR" sz="700" dirty="0">
                  <a:latin typeface="+mn-ea"/>
                </a:rPr>
                <a:t>30</a:t>
              </a:r>
            </a:p>
            <a:p>
              <a:pPr algn="r">
                <a:lnSpc>
                  <a:spcPct val="200000"/>
                </a:lnSpc>
              </a:pPr>
              <a:r>
                <a:rPr lang="en-US" altLang="ko-KR" sz="700" dirty="0">
                  <a:latin typeface="+mn-ea"/>
                </a:rPr>
                <a:t>100</a:t>
              </a:r>
            </a:p>
            <a:p>
              <a:pPr algn="r">
                <a:lnSpc>
                  <a:spcPct val="200000"/>
                </a:lnSpc>
              </a:pPr>
              <a:r>
                <a:rPr lang="en-US" altLang="ko-KR" sz="700" dirty="0">
                  <a:latin typeface="+mn-ea"/>
                </a:rPr>
                <a:t>3,000.00</a:t>
              </a:r>
            </a:p>
            <a:p>
              <a:pPr>
                <a:lnSpc>
                  <a:spcPct val="200000"/>
                </a:lnSpc>
              </a:pPr>
              <a:r>
                <a:rPr lang="en-US" altLang="ko-KR" sz="700" dirty="0">
                  <a:latin typeface="+mn-ea"/>
                </a:rPr>
                <a:t>33100401</a:t>
              </a:r>
            </a:p>
            <a:p>
              <a:pPr>
                <a:lnSpc>
                  <a:spcPct val="200000"/>
                </a:lnSpc>
              </a:pPr>
              <a:r>
                <a:rPr lang="ko-KR" altLang="en-US" sz="700" dirty="0">
                  <a:latin typeface="+mn-ea"/>
                </a:rPr>
                <a:t>발칸 </a:t>
              </a:r>
              <a:r>
                <a:rPr lang="en-US" altLang="ko-KR" sz="700" dirty="0">
                  <a:latin typeface="+mn-ea"/>
                </a:rPr>
                <a:t>20</a:t>
              </a:r>
              <a:r>
                <a:rPr lang="ko-KR" altLang="en-US" sz="700" dirty="0">
                  <a:latin typeface="+mn-ea"/>
                </a:rPr>
                <a:t>미리</a:t>
              </a:r>
              <a:endParaRPr lang="en-US" altLang="ko-KR" sz="700" dirty="0">
                <a:latin typeface="+mn-ea"/>
              </a:endParaRPr>
            </a:p>
          </p:txBody>
        </p:sp>
        <p:grpSp>
          <p:nvGrpSpPr>
            <p:cNvPr id="95" name="그룹 94"/>
            <p:cNvGrpSpPr/>
            <p:nvPr/>
          </p:nvGrpSpPr>
          <p:grpSpPr>
            <a:xfrm>
              <a:off x="701175" y="1835481"/>
              <a:ext cx="2630093" cy="3857260"/>
              <a:chOff x="701175" y="1835481"/>
              <a:chExt cx="2630093" cy="385726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0" name="직사각형 13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타원 215">
            <a:extLst>
              <a:ext uri="{FF2B5EF4-FFF2-40B4-BE49-F238E27FC236}">
                <a16:creationId xmlns:a16="http://schemas.microsoft.com/office/drawing/2014/main" id="{37A7FF4F-0EAA-1463-560A-D5EC24416103}"/>
              </a:ext>
            </a:extLst>
          </p:cNvPr>
          <p:cNvSpPr/>
          <p:nvPr/>
        </p:nvSpPr>
        <p:spPr>
          <a:xfrm>
            <a:off x="573754" y="2380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2" name="TextBox 141">
            <a:extLst>
              <a:ext uri="{FF2B5EF4-FFF2-40B4-BE49-F238E27FC236}">
                <a16:creationId xmlns:a16="http://schemas.microsoft.com/office/drawing/2014/main" id="{FFC49AEA-2A8F-250C-A86A-A7751D9706C3}"/>
              </a:ext>
            </a:extLst>
          </p:cNvPr>
          <p:cNvSpPr txBox="1"/>
          <p:nvPr/>
        </p:nvSpPr>
        <p:spPr>
          <a:xfrm>
            <a:off x="2428604" y="2288690"/>
            <a:ext cx="393849" cy="155299"/>
          </a:xfrm>
          <a:prstGeom prst="rect">
            <a:avLst/>
          </a:prstGeom>
          <a:noFill/>
        </p:spPr>
        <p:txBody>
          <a:bodyPr wrap="square" lIns="0" tIns="0" rIns="0" bIns="0" rtlCol="0">
            <a:spAutoFit/>
          </a:bodyPr>
          <a:lstStyle/>
          <a:p>
            <a:pPr>
              <a:lnSpc>
                <a:spcPct val="200000"/>
              </a:lnSpc>
            </a:pPr>
            <a:r>
              <a:rPr lang="ko-KR" altLang="en-US" sz="600" b="1" dirty="0">
                <a:latin typeface="+mn-ea"/>
              </a:rPr>
              <a:t>표시 개수</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727990" y="2288690"/>
            <a:ext cx="368553" cy="155299"/>
          </a:xfrm>
          <a:prstGeom prst="rect">
            <a:avLst/>
          </a:prstGeom>
          <a:noFill/>
        </p:spPr>
        <p:txBody>
          <a:bodyPr wrap="square" lIns="0" tIns="0" rIns="0" bIns="0" rtlCol="0">
            <a:spAutoFit/>
          </a:bodyPr>
          <a:lstStyle/>
          <a:p>
            <a:pPr algn="r">
              <a:lnSpc>
                <a:spcPct val="200000"/>
              </a:lnSpc>
            </a:pPr>
            <a:r>
              <a:rPr lang="en-US" altLang="ko-KR" sz="600" dirty="0">
                <a:latin typeface="+mn-ea"/>
              </a:rPr>
              <a:t>10 </a:t>
            </a:r>
            <a:r>
              <a:rPr lang="ko-KR" altLang="en-US" sz="600" dirty="0">
                <a:latin typeface="+mn-ea"/>
              </a:rPr>
              <a:t>개</a:t>
            </a:r>
          </a:p>
        </p:txBody>
      </p:sp>
      <p:grpSp>
        <p:nvGrpSpPr>
          <p:cNvPr id="146" name="그룹 145"/>
          <p:cNvGrpSpPr/>
          <p:nvPr/>
        </p:nvGrpSpPr>
        <p:grpSpPr>
          <a:xfrm>
            <a:off x="3143548" y="2378336"/>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4" name="그룹 53"/>
          <p:cNvGrpSpPr/>
          <p:nvPr/>
        </p:nvGrpSpPr>
        <p:grpSpPr>
          <a:xfrm>
            <a:off x="677960" y="1582647"/>
            <a:ext cx="2714637" cy="686386"/>
            <a:chOff x="677960" y="1582647"/>
            <a:chExt cx="2714637" cy="686386"/>
          </a:xfrm>
        </p:grpSpPr>
        <p:sp>
          <p:nvSpPr>
            <p:cNvPr id="55" name="TextBox 54">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smtClean="0">
                  <a:latin typeface="+mn-ea"/>
                </a:rPr>
                <a:t>목표가공개품목</a:t>
              </a:r>
              <a:endParaRPr lang="ko-KR" altLang="en-US" sz="800" dirty="0">
                <a:latin typeface="+mn-ea"/>
              </a:endParaRPr>
            </a:p>
          </p:txBody>
        </p:sp>
        <p:cxnSp>
          <p:nvCxnSpPr>
            <p:cNvPr id="56" name="직선 연결선 5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7" name="그룹 56"/>
            <p:cNvGrpSpPr/>
            <p:nvPr/>
          </p:nvGrpSpPr>
          <p:grpSpPr>
            <a:xfrm rot="5400000">
              <a:off x="852159" y="2062596"/>
              <a:ext cx="94010" cy="47005"/>
              <a:chOff x="6812560" y="3297172"/>
              <a:chExt cx="94010" cy="47005"/>
            </a:xfrm>
          </p:grpSpPr>
          <p:cxnSp>
            <p:nvCxnSpPr>
              <p:cNvPr id="64" name="직선 연결선 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5" name="직선 연결선 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8" name="그룹 57"/>
            <p:cNvGrpSpPr/>
            <p:nvPr/>
          </p:nvGrpSpPr>
          <p:grpSpPr>
            <a:xfrm>
              <a:off x="677960" y="1582647"/>
              <a:ext cx="2712027" cy="324286"/>
              <a:chOff x="677960" y="1582647"/>
              <a:chExt cx="2712027" cy="324286"/>
            </a:xfrm>
          </p:grpSpPr>
          <p:pic>
            <p:nvPicPr>
              <p:cNvPr id="5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60" name="직선 연결선 59">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타원 6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타원 6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4688191"/>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305</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21271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조회결과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5310864"/>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684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R</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01553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54944"/>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3909892"/>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2352817"/>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793603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8637190"/>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9096579"/>
                  </a:ext>
                </a:extLst>
              </a:tr>
              <a:tr h="0">
                <a:tc>
                  <a:txBody>
                    <a:bodyPr/>
                    <a:lstStyle/>
                    <a:p>
                      <a:pPr algn="l" fontAlgn="ctr"/>
                      <a:r>
                        <a:rPr lang="ko-KR" altLang="en-US" sz="800" b="0" i="0" u="none" strike="noStrike">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44343"/>
                  </a:ext>
                </a:extLst>
              </a:tr>
              <a:tr h="0">
                <a:tc>
                  <a:txBody>
                    <a:bodyPr/>
                    <a:lstStyle/>
                    <a:p>
                      <a:pPr algn="l" fontAlgn="ctr"/>
                      <a:r>
                        <a:rPr lang="ko-KR" altLang="en-US" sz="800" b="0" i="0" u="none" strike="noStrike" dirty="0">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495526"/>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802690"/>
                  </a:ext>
                </a:extLst>
              </a:tr>
              <a:tr h="0">
                <a:tc>
                  <a:txBody>
                    <a:bodyPr/>
                    <a:lstStyle/>
                    <a:p>
                      <a:pPr algn="l" fontAlgn="ctr"/>
                      <a:r>
                        <a:rPr lang="ko-KR" altLang="en-US" sz="800" b="0" i="0" u="none" strike="noStrike" dirty="0">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9499603"/>
                  </a:ext>
                </a:extLst>
              </a:tr>
              <a:tr h="0">
                <a:tc>
                  <a:txBody>
                    <a:bodyPr/>
                    <a:lstStyle/>
                    <a:p>
                      <a:pPr algn="l" fontAlgn="ctr"/>
                      <a:r>
                        <a:rPr lang="ko-KR" altLang="en-US" sz="800" b="0" i="0" u="none" strike="noStrike" dirty="0">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1352762"/>
                  </a:ext>
                </a:extLst>
              </a:tr>
              <a:tr h="0">
                <a:tc>
                  <a:txBody>
                    <a:bodyPr/>
                    <a:lstStyle/>
                    <a:p>
                      <a:pPr algn="l" fontAlgn="ctr"/>
                      <a:r>
                        <a:rPr lang="ko-KR" altLang="en-US" sz="800" b="0" i="0" u="none" strike="noStrike" dirty="0">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r>
                        <a:rPr lang="en-US" altLang="ko-KR" sz="800" b="0" i="0" u="none" strike="noStrike" dirty="0">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0916125"/>
                  </a:ext>
                </a:extLst>
              </a:tr>
              <a:tr h="0">
                <a:tc>
                  <a:txBody>
                    <a:bodyPr/>
                    <a:lstStyle/>
                    <a:p>
                      <a:pPr algn="l" fontAlgn="ctr"/>
                      <a:r>
                        <a:rPr lang="ko-KR" altLang="en-US" sz="800" b="0" i="0" u="none" strike="noStrike" dirty="0">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9751966"/>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3002223"/>
                  </a:ext>
                </a:extLst>
              </a:tr>
              <a:tr h="0">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nvGraphicFramePr>
        <p:xfrm>
          <a:off x="453000" y="5588995"/>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입찰공고의 목표가공개 품목 목록을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목표가공개품목조회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2" name="Text Box 73">
            <a:extLst>
              <a:ext uri="{FF2B5EF4-FFF2-40B4-BE49-F238E27FC236}">
                <a16:creationId xmlns:a16="http://schemas.microsoft.com/office/drawing/2014/main" id="{2AE89417-BE49-1735-E089-E72765E53CD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3968866"/>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보관된 공고 목록 </a:t>
            </a:r>
            <a:r>
              <a:rPr lang="ko-KR" altLang="en-US" dirty="0" smtClean="0"/>
              <a:t>표시</a:t>
            </a:r>
            <a:r>
              <a:rPr lang="en-US" altLang="ko-KR" dirty="0" smtClean="0"/>
              <a:t/>
            </a:r>
            <a:br>
              <a:rPr lang="en-US" altLang="ko-KR" dirty="0" smtClean="0"/>
            </a:br>
            <a:r>
              <a:rPr lang="en-US" altLang="ko-KR" dirty="0" smtClean="0"/>
              <a:t>- </a:t>
            </a:r>
            <a:r>
              <a:rPr lang="ko-KR" altLang="en-US" dirty="0" err="1" smtClean="0"/>
              <a:t>차수별로</a:t>
            </a:r>
            <a:r>
              <a:rPr lang="ko-KR" altLang="en-US" dirty="0" smtClean="0"/>
              <a:t> 별도의 목록으로 표시됨</a:t>
            </a:r>
            <a:r>
              <a:rPr lang="en-US" altLang="ko-KR" dirty="0" smtClean="0"/>
              <a:t>.</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err="1"/>
              <a:t>검색필터</a:t>
            </a:r>
            <a:r>
              <a:rPr lang="ko-KR" altLang="en-US" dirty="0"/>
              <a:t> 적용 시 표시</a:t>
            </a:r>
            <a:r>
              <a:rPr lang="en-US" altLang="ko-KR" dirty="0"/>
              <a:t/>
            </a:r>
            <a:br>
              <a:rPr lang="en-US" altLang="ko-KR" dirty="0"/>
            </a:br>
            <a:r>
              <a:rPr lang="en-US" altLang="ko-KR" dirty="0"/>
              <a:t>  &gt; </a:t>
            </a:r>
            <a:r>
              <a:rPr lang="ko-KR" altLang="en-US" dirty="0"/>
              <a:t>레이블이 화면을 넘치는 경우 드래그하여 확인 가능</a:t>
            </a:r>
            <a:r>
              <a:rPr lang="en-US" altLang="ko-KR" dirty="0"/>
              <a:t/>
            </a:r>
            <a:br>
              <a:rPr lang="en-US" altLang="ko-KR" dirty="0"/>
            </a:br>
            <a:r>
              <a:rPr lang="en-US" altLang="ko-KR" dirty="0"/>
              <a:t>- 4</a:t>
            </a:r>
            <a:r>
              <a:rPr lang="ko-KR" altLang="en-US" dirty="0" err="1"/>
              <a:t>번항</a:t>
            </a:r>
            <a:r>
              <a:rPr lang="ko-KR" altLang="en-US" dirty="0"/>
              <a:t> 공고 상단 표시</a:t>
            </a:r>
            <a:r>
              <a:rPr lang="en-US" altLang="ko-KR" dirty="0"/>
              <a:t/>
            </a:r>
            <a:br>
              <a:rPr lang="en-US" altLang="ko-KR" dirty="0"/>
            </a:br>
            <a:r>
              <a:rPr lang="en-US" altLang="ko-KR" dirty="0"/>
              <a:t>  &gt; </a:t>
            </a:r>
            <a:r>
              <a:rPr lang="ko-KR" altLang="en-US" dirty="0"/>
              <a:t>레이블이 화면을 넘치는 경우 드래그하여 확인 </a:t>
            </a:r>
            <a:r>
              <a:rPr lang="ko-KR" altLang="en-US" dirty="0" smtClean="0"/>
              <a:t>가능</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목록에서 카드 하단 버튼 </a:t>
            </a:r>
            <a:r>
              <a:rPr lang="ko-KR" altLang="en-US" dirty="0" err="1" smtClean="0"/>
              <a:t>버튼</a:t>
            </a:r>
            <a:r>
              <a:rPr lang="ko-KR" altLang="en-US" dirty="0" smtClean="0"/>
              <a:t> 표시</a:t>
            </a:r>
            <a:r>
              <a:rPr lang="en-US" altLang="ko-KR" dirty="0" smtClean="0"/>
              <a:t/>
            </a:r>
            <a:br>
              <a:rPr lang="en-US" altLang="ko-KR" dirty="0" smtClean="0"/>
            </a:br>
            <a:r>
              <a:rPr lang="en-US" altLang="ko-KR" dirty="0" smtClean="0"/>
              <a:t>- </a:t>
            </a:r>
            <a:r>
              <a:rPr lang="ko-KR" altLang="en-US" dirty="0" smtClean="0"/>
              <a:t>버튼 </a:t>
            </a:r>
            <a:r>
              <a:rPr lang="ko-KR" altLang="en-US" dirty="0" err="1" smtClean="0"/>
              <a:t>바텀시트</a:t>
            </a:r>
            <a:r>
              <a:rPr lang="ko-KR" altLang="en-US" dirty="0" smtClean="0"/>
              <a:t> 호출</a:t>
            </a:r>
            <a:r>
              <a:rPr lang="en-US" altLang="ko-KR" dirty="0" smtClean="0"/>
              <a:t/>
            </a:r>
            <a:br>
              <a:rPr lang="en-US" altLang="ko-KR" dirty="0" smtClean="0"/>
            </a:br>
            <a:r>
              <a:rPr lang="en-US" altLang="ko-KR" dirty="0" smtClean="0"/>
              <a:t>- </a:t>
            </a:r>
            <a:r>
              <a:rPr lang="ko-KR" altLang="en-US" dirty="0" smtClean="0"/>
              <a:t>노출 버튼은 아래 참조</a:t>
            </a:r>
            <a:r>
              <a:rPr lang="en-US" altLang="ko-KR" dirty="0" smtClean="0"/>
              <a:t/>
            </a:r>
            <a:br>
              <a:rPr lang="en-US" altLang="ko-KR" dirty="0" smtClean="0"/>
            </a:br>
            <a:r>
              <a:rPr lang="en-US" altLang="ko-KR" dirty="0" smtClean="0"/>
              <a:t/>
            </a:r>
            <a:br>
              <a:rPr lang="en-US" altLang="ko-KR" dirty="0" smtClean="0"/>
            </a:br>
            <a:r>
              <a:rPr lang="en-US" altLang="ko-KR" dirty="0" smtClean="0"/>
              <a:t>- </a:t>
            </a:r>
            <a:r>
              <a:rPr lang="ko-KR" altLang="en-US" dirty="0" err="1">
                <a:latin typeface="+mn-ea"/>
              </a:rPr>
              <a:t>입찰내역</a:t>
            </a:r>
            <a:r>
              <a:rPr lang="ko-KR" altLang="en-US" dirty="0">
                <a:latin typeface="+mn-ea"/>
              </a:rPr>
              <a:t> </a:t>
            </a:r>
            <a:r>
              <a:rPr lang="ko-KR" altLang="en-US" dirty="0" err="1" smtClean="0">
                <a:latin typeface="+mn-ea"/>
              </a:rPr>
              <a:t>작성수정</a:t>
            </a:r>
            <a:r>
              <a:rPr lang="ko-KR" altLang="en-US" dirty="0" smtClean="0">
                <a:latin typeface="+mn-ea"/>
              </a:rPr>
              <a:t> </a:t>
            </a:r>
            <a:r>
              <a:rPr lang="en-US" altLang="ko-KR" dirty="0" smtClean="0">
                <a:latin typeface="+mn-ea"/>
              </a:rPr>
              <a:t>: </a:t>
            </a:r>
            <a:r>
              <a:rPr lang="ko-KR" altLang="en-US" dirty="0" smtClean="0">
                <a:latin typeface="+mn-ea"/>
              </a:rPr>
              <a:t>입찰 내역 </a:t>
            </a:r>
            <a:r>
              <a:rPr lang="ko-KR" altLang="en-US" dirty="0" err="1" smtClean="0">
                <a:latin typeface="+mn-ea"/>
              </a:rPr>
              <a:t>작성해야하거나</a:t>
            </a:r>
            <a:r>
              <a:rPr lang="en-US" altLang="ko-KR" dirty="0" smtClean="0">
                <a:latin typeface="+mn-ea"/>
              </a:rPr>
              <a:t>, </a:t>
            </a:r>
            <a:r>
              <a:rPr lang="ko-KR" altLang="en-US" dirty="0" smtClean="0">
                <a:latin typeface="+mn-ea"/>
              </a:rPr>
              <a:t>저장한 내역을 수정하는 상태에서 노출</a:t>
            </a:r>
            <a:r>
              <a:rPr lang="en-US" altLang="ko-KR" dirty="0" smtClean="0">
                <a:latin typeface="+mn-ea"/>
              </a:rPr>
              <a:t/>
            </a:r>
            <a:br>
              <a:rPr lang="en-US" altLang="ko-KR" dirty="0" smtClean="0">
                <a:latin typeface="+mn-ea"/>
              </a:rPr>
            </a:br>
            <a:r>
              <a:rPr lang="en-US" altLang="ko-KR" dirty="0" smtClean="0">
                <a:latin typeface="+mn-ea"/>
              </a:rPr>
              <a:t>  &gt; </a:t>
            </a:r>
            <a:r>
              <a:rPr lang="ko-KR" altLang="en-US" dirty="0" smtClean="0">
                <a:latin typeface="+mn-ea"/>
              </a:rPr>
              <a:t>작성하여 제출이 완료된 경우 </a:t>
            </a:r>
            <a:r>
              <a:rPr lang="ko-KR" altLang="en-US" dirty="0" err="1" smtClean="0">
                <a:latin typeface="+mn-ea"/>
              </a:rPr>
              <a:t>버튼명</a:t>
            </a:r>
            <a:r>
              <a:rPr lang="ko-KR" altLang="en-US" dirty="0" smtClean="0">
                <a:latin typeface="+mn-ea"/>
              </a:rPr>
              <a:t> </a:t>
            </a:r>
            <a:r>
              <a:rPr lang="en-US" altLang="ko-KR" dirty="0" smtClean="0">
                <a:latin typeface="+mn-ea"/>
              </a:rPr>
              <a:t>[</a:t>
            </a:r>
            <a:r>
              <a:rPr lang="ko-KR" altLang="en-US" dirty="0" err="1" smtClean="0">
                <a:latin typeface="+mn-ea"/>
              </a:rPr>
              <a:t>입찰내역</a:t>
            </a:r>
            <a:r>
              <a:rPr lang="ko-KR" altLang="en-US" dirty="0" smtClean="0">
                <a:latin typeface="+mn-ea"/>
              </a:rPr>
              <a:t> 완료</a:t>
            </a:r>
            <a:r>
              <a:rPr lang="en-US" altLang="ko-KR" dirty="0" smtClean="0">
                <a:latin typeface="+mn-ea"/>
              </a:rPr>
              <a:t>]</a:t>
            </a:r>
            <a:r>
              <a:rPr lang="ko-KR" altLang="en-US" dirty="0" smtClean="0">
                <a:latin typeface="+mn-ea"/>
              </a:rPr>
              <a:t>로 표시</a:t>
            </a:r>
            <a:r>
              <a:rPr lang="en-US" altLang="ko-KR" dirty="0"/>
              <a:t/>
            </a:r>
            <a:br>
              <a:rPr lang="en-US" altLang="ko-KR" dirty="0"/>
            </a:br>
            <a:r>
              <a:rPr lang="en-US" altLang="ko-KR" dirty="0" smtClean="0"/>
              <a:t>- </a:t>
            </a:r>
            <a:r>
              <a:rPr lang="ko-KR" altLang="en-US" dirty="0"/>
              <a:t>입찰참가신청 </a:t>
            </a:r>
            <a:r>
              <a:rPr lang="ko-KR" altLang="en-US" dirty="0" err="1" smtClean="0"/>
              <a:t>작성수정</a:t>
            </a:r>
            <a:r>
              <a:rPr lang="ko-KR" altLang="en-US" dirty="0" smtClean="0"/>
              <a:t> </a:t>
            </a:r>
            <a:r>
              <a:rPr lang="en-US" altLang="ko-KR" dirty="0" smtClean="0"/>
              <a:t>: </a:t>
            </a:r>
            <a:r>
              <a:rPr lang="ko-KR" altLang="en-US" dirty="0" smtClean="0"/>
              <a:t>입찰 내역을 작성</a:t>
            </a:r>
            <a:r>
              <a:rPr lang="en-US" altLang="ko-KR" dirty="0" smtClean="0"/>
              <a:t>, </a:t>
            </a:r>
            <a:r>
              <a:rPr lang="ko-KR" altLang="en-US" dirty="0" smtClean="0"/>
              <a:t>저장한 상태에서 버튼 노출</a:t>
            </a:r>
            <a:r>
              <a:rPr lang="en-US" altLang="ko-KR" dirty="0" smtClean="0"/>
              <a:t/>
            </a:r>
            <a:br>
              <a:rPr lang="en-US" altLang="ko-KR" dirty="0" smtClean="0"/>
            </a:br>
            <a:r>
              <a:rPr lang="en-US" altLang="ko-KR" dirty="0" smtClean="0"/>
              <a:t>- </a:t>
            </a:r>
            <a:r>
              <a:rPr lang="ko-KR" altLang="en-US" dirty="0" err="1" smtClean="0"/>
              <a:t>입찰진행</a:t>
            </a:r>
            <a:r>
              <a:rPr lang="ko-KR" altLang="en-US" dirty="0" smtClean="0"/>
              <a:t> </a:t>
            </a:r>
            <a:r>
              <a:rPr lang="ko-KR" altLang="en-US" dirty="0" err="1" smtClean="0"/>
              <a:t>바로가기</a:t>
            </a:r>
            <a:r>
              <a:rPr lang="ko-KR" altLang="en-US" dirty="0" smtClean="0"/>
              <a:t> </a:t>
            </a:r>
            <a:r>
              <a:rPr lang="en-US" altLang="ko-KR" dirty="0" smtClean="0"/>
              <a:t>: </a:t>
            </a:r>
            <a:r>
              <a:rPr lang="ko-KR" altLang="en-US" dirty="0" smtClean="0"/>
              <a:t>입찰참가 신청이 완료된 상태에서 버튼 노출</a:t>
            </a:r>
            <a:r>
              <a:rPr lang="en-US" altLang="ko-KR" dirty="0" smtClean="0"/>
              <a:t/>
            </a:r>
            <a:br>
              <a:rPr lang="en-US" altLang="ko-KR" dirty="0" smtClean="0"/>
            </a:br>
            <a:r>
              <a:rPr lang="en-US" altLang="ko-KR" dirty="0" smtClean="0"/>
              <a:t>- </a:t>
            </a:r>
            <a:r>
              <a:rPr lang="ko-KR" altLang="en-US" dirty="0" smtClean="0"/>
              <a:t>보관함품목관리 </a:t>
            </a:r>
            <a:r>
              <a:rPr lang="en-US" altLang="ko-KR" dirty="0" smtClean="0"/>
              <a:t>: </a:t>
            </a:r>
            <a:r>
              <a:rPr lang="ko-KR" altLang="en-US" dirty="0" smtClean="0"/>
              <a:t>항시 노출</a:t>
            </a:r>
            <a:endParaRPr lang="en-US" altLang="ko-KR" dirty="0" smtClean="0">
              <a:latin typeface="+mn-ea"/>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보관함에 추가한 국외 공고를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0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09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658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1992981" y="6273543"/>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9508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2185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7834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82" name="모서리가 둥근 직사각형 81"/>
          <p:cNvSpPr/>
          <p:nvPr/>
        </p:nvSpPr>
        <p:spPr>
          <a:xfrm>
            <a:off x="47124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706886"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8" name="모서리가 둥근 직사각형 87"/>
          <p:cNvSpPr/>
          <p:nvPr/>
        </p:nvSpPr>
        <p:spPr>
          <a:xfrm>
            <a:off x="51714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6305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6" y="2550467"/>
            <a:ext cx="868861" cy="107722"/>
          </a:xfrm>
          <a:prstGeom prst="rect">
            <a:avLst/>
          </a:prstGeom>
          <a:noFill/>
        </p:spPr>
        <p:txBody>
          <a:bodyPr wrap="square" lIns="0" tIns="0" rIns="0" bIns="0" rtlCol="0">
            <a:spAutoFit/>
          </a:bodyPr>
          <a:lstStyle/>
          <a:p>
            <a:r>
              <a:rPr lang="ko-KR" altLang="en-US" sz="700" dirty="0">
                <a:solidFill>
                  <a:srgbClr val="000000"/>
                </a:solidFill>
                <a:latin typeface="+mn-ea"/>
              </a:rPr>
              <a:t>입찰참가신청여부</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6" y="2882998"/>
            <a:ext cx="866439"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3" name="모서리가 둥근 직사각형 102"/>
          <p:cNvSpPr/>
          <p:nvPr/>
        </p:nvSpPr>
        <p:spPr>
          <a:xfrm>
            <a:off x="4712435"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6" y="3234476"/>
            <a:ext cx="866439" cy="107722"/>
          </a:xfrm>
          <a:prstGeom prst="rect">
            <a:avLst/>
          </a:prstGeom>
          <a:noFill/>
        </p:spPr>
        <p:txBody>
          <a:bodyPr wrap="square" lIns="0" tIns="0" rIns="0" bIns="0" rtlCol="0">
            <a:spAutoFit/>
          </a:bodyPr>
          <a:lstStyle/>
          <a:p>
            <a:r>
              <a:rPr lang="ko-KR" altLang="en-US" sz="700" dirty="0">
                <a:latin typeface="+mn-ea"/>
              </a:rPr>
              <a:t>가격제</a:t>
            </a:r>
          </a:p>
        </p:txBody>
      </p:sp>
      <p:sp>
        <p:nvSpPr>
          <p:cNvPr id="160" name="타원 159">
            <a:extLst>
              <a:ext uri="{FF2B5EF4-FFF2-40B4-BE49-F238E27FC236}">
                <a16:creationId xmlns:a16="http://schemas.microsoft.com/office/drawing/2014/main" id="{37A7FF4F-0EAA-1463-560A-D5EC24416103}"/>
              </a:ext>
            </a:extLst>
          </p:cNvPr>
          <p:cNvSpPr/>
          <p:nvPr/>
        </p:nvSpPr>
        <p:spPr>
          <a:xfrm>
            <a:off x="4692286"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48" name="모서리가 둥근 직사각형 147"/>
          <p:cNvSpPr/>
          <p:nvPr/>
        </p:nvSpPr>
        <p:spPr>
          <a:xfrm>
            <a:off x="4709307"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6" name="모서리가 둥근 직사각형 155"/>
          <p:cNvSpPr/>
          <p:nvPr/>
        </p:nvSpPr>
        <p:spPr>
          <a:xfrm>
            <a:off x="5331545" y="2203671"/>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a:t>
            </a:r>
            <a:r>
              <a:rPr lang="ko-KR" altLang="en-US" sz="600" dirty="0" err="1"/>
              <a:t>미작성</a:t>
            </a:r>
            <a:endParaRPr lang="ko-KR" altLang="en-US" sz="600" dirty="0"/>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6" y="2209510"/>
            <a:ext cx="874607" cy="107722"/>
          </a:xfrm>
          <a:prstGeom prst="rect">
            <a:avLst/>
          </a:prstGeom>
          <a:noFill/>
        </p:spPr>
        <p:txBody>
          <a:bodyPr wrap="square" lIns="0" tIns="0" rIns="0" bIns="0" rtlCol="0">
            <a:spAutoFit/>
          </a:bodyPr>
          <a:lstStyle/>
          <a:p>
            <a:r>
              <a:rPr lang="ko-KR" altLang="en-US" sz="700" dirty="0">
                <a:solidFill>
                  <a:srgbClr val="000000"/>
                </a:solidFill>
                <a:latin typeface="+mn-ea"/>
              </a:rPr>
              <a:t>입찰내역작성여부</a:t>
            </a:r>
            <a:endParaRPr lang="ko-KR" altLang="en-US" sz="700" dirty="0">
              <a:latin typeface="+mn-ea"/>
            </a:endParaRPr>
          </a:p>
        </p:txBody>
      </p:sp>
      <p:grpSp>
        <p:nvGrpSpPr>
          <p:cNvPr id="178" name="그룹 177"/>
          <p:cNvGrpSpPr/>
          <p:nvPr/>
        </p:nvGrpSpPr>
        <p:grpSpPr>
          <a:xfrm>
            <a:off x="767702" y="2327788"/>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632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932231"/>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928177"/>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928177"/>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030000"/>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5" name="모서리가 둥근 직사각형 204"/>
          <p:cNvSpPr/>
          <p:nvPr/>
        </p:nvSpPr>
        <p:spPr>
          <a:xfrm>
            <a:off x="4709307" y="2544628"/>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sp>
        <p:nvSpPr>
          <p:cNvPr id="206" name="모서리가 둥근 직사각형 205"/>
          <p:cNvSpPr/>
          <p:nvPr/>
        </p:nvSpPr>
        <p:spPr>
          <a:xfrm>
            <a:off x="5331545" y="2544628"/>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sp>
        <p:nvSpPr>
          <p:cNvPr id="207" name="모서리가 둥근 직사각형 206"/>
          <p:cNvSpPr/>
          <p:nvPr/>
        </p:nvSpPr>
        <p:spPr>
          <a:xfrm>
            <a:off x="5080198"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총액제</a:t>
            </a:r>
            <a:endParaRPr lang="ko-KR" altLang="en-US" sz="600" dirty="0"/>
          </a:p>
        </p:txBody>
      </p:sp>
      <p:grpSp>
        <p:nvGrpSpPr>
          <p:cNvPr id="3" name="그룹 2"/>
          <p:cNvGrpSpPr/>
          <p:nvPr/>
        </p:nvGrpSpPr>
        <p:grpSpPr>
          <a:xfrm>
            <a:off x="777000" y="3315828"/>
            <a:ext cx="2477718" cy="1237060"/>
            <a:chOff x="777000" y="2893707"/>
            <a:chExt cx="2477718" cy="1237060"/>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smtClean="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67" name="모서리가 둥근 직사각형 66"/>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68" name="모서리가 둥근 직사각형 67"/>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08" name="모서리가 둥근 직사각형 207"/>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209" name="모서리가 둥근 직사각형 208"/>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grpSp>
        <p:nvGrpSpPr>
          <p:cNvPr id="210" name="그룹 209"/>
          <p:cNvGrpSpPr/>
          <p:nvPr/>
        </p:nvGrpSpPr>
        <p:grpSpPr>
          <a:xfrm>
            <a:off x="777000" y="5051872"/>
            <a:ext cx="2477718" cy="1237060"/>
            <a:chOff x="777000" y="2893707"/>
            <a:chExt cx="2477718" cy="1237060"/>
          </a:xfrm>
        </p:grpSpPr>
        <p:sp>
          <p:nvSpPr>
            <p:cNvPr id="21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212"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213"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214" name="모서리가 둥근 직사각형 213"/>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215" name="모서리가 둥근 직사각형 214"/>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16" name="모서리가 둥근 직사각형 215"/>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sp>
          <p:nvSpPr>
            <p:cNvPr id="217" name="모서리가 둥근 직사각형 216"/>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grpSp>
      <p:cxnSp>
        <p:nvCxnSpPr>
          <p:cNvPr id="218" name="직선 연결선 217">
            <a:extLst>
              <a:ext uri="{FF2B5EF4-FFF2-40B4-BE49-F238E27FC236}">
                <a16:creationId xmlns:a16="http://schemas.microsoft.com/office/drawing/2014/main" id="{E9293055-D5CD-4B9E-7F64-64B2D2CA7A52}"/>
              </a:ext>
            </a:extLst>
          </p:cNvPr>
          <p:cNvCxnSpPr/>
          <p:nvPr/>
        </p:nvCxnSpPr>
        <p:spPr>
          <a:xfrm>
            <a:off x="720490" y="63583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6026346"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grpSp>
        <p:nvGrpSpPr>
          <p:cNvPr id="78" name="그룹 77"/>
          <p:cNvGrpSpPr/>
          <p:nvPr/>
        </p:nvGrpSpPr>
        <p:grpSpPr>
          <a:xfrm>
            <a:off x="677960" y="1582647"/>
            <a:ext cx="2714637" cy="686386"/>
            <a:chOff x="677960" y="1582647"/>
            <a:chExt cx="2714637" cy="686386"/>
          </a:xfrm>
        </p:grpSpPr>
        <p:sp>
          <p:nvSpPr>
            <p:cNvPr id="80" name="TextBox 79">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국외 보관함 </a:t>
              </a: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4" name="그룹 83"/>
            <p:cNvGrpSpPr/>
            <p:nvPr/>
          </p:nvGrpSpPr>
          <p:grpSpPr>
            <a:xfrm rot="5400000">
              <a:off x="852159" y="2062596"/>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5" name="그룹 84"/>
            <p:cNvGrpSpPr/>
            <p:nvPr/>
          </p:nvGrpSpPr>
          <p:grpSpPr>
            <a:xfrm>
              <a:off x="677960" y="1582647"/>
              <a:ext cx="2712027" cy="324286"/>
              <a:chOff x="677960" y="1582647"/>
              <a:chExt cx="2712027" cy="324286"/>
            </a:xfrm>
          </p:grpSpPr>
          <p:pic>
            <p:nvPicPr>
              <p:cNvPr id="86"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직선 연결선 86">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0" name="타원 8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타원 9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95" name="타원 94"/>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6" name="그룹 95"/>
          <p:cNvGrpSpPr/>
          <p:nvPr/>
        </p:nvGrpSpPr>
        <p:grpSpPr>
          <a:xfrm>
            <a:off x="6726256" y="4802272"/>
            <a:ext cx="124144" cy="148935"/>
            <a:chOff x="161606" y="5392781"/>
            <a:chExt cx="97885" cy="117432"/>
          </a:xfrm>
        </p:grpSpPr>
        <p:cxnSp>
          <p:nvCxnSpPr>
            <p:cNvPr id="97" name="직선 연결선 96"/>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8" name="직선 연결선 97"/>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09" name="타원 108">
            <a:extLst>
              <a:ext uri="{FF2B5EF4-FFF2-40B4-BE49-F238E27FC236}">
                <a16:creationId xmlns:a16="http://schemas.microsoft.com/office/drawing/2014/main" id="{37A7FF4F-0EAA-1463-560A-D5EC24416103}"/>
              </a:ext>
            </a:extLst>
          </p:cNvPr>
          <p:cNvSpPr/>
          <p:nvPr/>
        </p:nvSpPr>
        <p:spPr>
          <a:xfrm>
            <a:off x="3344205" y="463370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110" name="그룹 109"/>
          <p:cNvGrpSpPr/>
          <p:nvPr/>
        </p:nvGrpSpPr>
        <p:grpSpPr>
          <a:xfrm>
            <a:off x="8223250" y="569392"/>
            <a:ext cx="3365500" cy="634511"/>
            <a:chOff x="8223250" y="569392"/>
            <a:chExt cx="3365500" cy="634511"/>
          </a:xfrm>
        </p:grpSpPr>
        <p:sp>
          <p:nvSpPr>
            <p:cNvPr id="111" name="직사각형 11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화면 </a:t>
              </a:r>
              <a:r>
                <a:rPr lang="ko-KR" altLang="en-US" dirty="0"/>
                <a:t>수정</a:t>
              </a:r>
            </a:p>
          </p:txBody>
        </p:sp>
        <p:sp>
          <p:nvSpPr>
            <p:cNvPr id="112" name="직사각형 11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sp>
        <p:nvSpPr>
          <p:cNvPr id="113" name="사각형: 둥근 모서리 31">
            <a:extLst>
              <a:ext uri="{FF2B5EF4-FFF2-40B4-BE49-F238E27FC236}">
                <a16:creationId xmlns:a16="http://schemas.microsoft.com/office/drawing/2014/main" id="{2AC143EE-93CF-3518-F0CB-8469E98507E0}"/>
              </a:ext>
            </a:extLst>
          </p:cNvPr>
          <p:cNvSpPr/>
          <p:nvPr/>
        </p:nvSpPr>
        <p:spPr>
          <a:xfrm>
            <a:off x="808106" y="4631939"/>
            <a:ext cx="2446612"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lang="en-US" altLang="ko-KR" sz="800" dirty="0" smtClean="0"/>
              <a:t>+ </a:t>
            </a:r>
            <a:r>
              <a:rPr lang="ko-KR" altLang="en-US" sz="800" dirty="0" smtClean="0"/>
              <a:t>공고</a:t>
            </a:r>
            <a:r>
              <a:rPr lang="en-US" altLang="ko-KR" sz="800" dirty="0" smtClean="0"/>
              <a:t> </a:t>
            </a:r>
            <a:r>
              <a:rPr lang="ko-KR" altLang="en-US" sz="800" dirty="0" smtClean="0"/>
              <a:t>신청 버튼 보기</a:t>
            </a:r>
            <a:endParaRPr kumimoji="1" lang="en-US" sz="800" b="0" i="0" u="none" strike="noStrike" kern="0" cap="none" spc="0" normalizeH="0" baseline="0" noProof="0" dirty="0">
              <a:ln>
                <a:noFill/>
              </a:ln>
              <a:effectLst/>
              <a:uLnTx/>
              <a:uFillTx/>
              <a:latin typeface="맑은 고딕"/>
            </a:endParaRPr>
          </a:p>
        </p:txBody>
      </p:sp>
      <p:graphicFrame>
        <p:nvGraphicFramePr>
          <p:cNvPr id="5" name="표 4"/>
          <p:cNvGraphicFramePr>
            <a:graphicFrameLocks noGrp="1"/>
          </p:cNvGraphicFramePr>
          <p:nvPr/>
        </p:nvGraphicFramePr>
        <p:xfrm>
          <a:off x="10089626" y="4717726"/>
          <a:ext cx="1437358" cy="11635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1332925844"/>
                    </a:ext>
                  </a:extLst>
                </a:gridCol>
              </a:tblGrid>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strike="sngStrike" dirty="0" err="1" smtClean="0">
                          <a:latin typeface="+mn-ea"/>
                          <a:ea typeface="+mn-ea"/>
                        </a:rPr>
                        <a:t>모의투찰</a:t>
                      </a:r>
                      <a:endParaRPr lang="en-US" altLang="ko-KR" sz="800" strike="sngStrike"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405164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smtClean="0">
                          <a:latin typeface="+mn-ea"/>
                          <a:ea typeface="+mn-ea"/>
                        </a:rPr>
                        <a:t>입찰내역</a:t>
                      </a:r>
                      <a:r>
                        <a:rPr lang="ko-KR" altLang="en-US" sz="800" dirty="0" smtClean="0">
                          <a:latin typeface="+mn-ea"/>
                          <a:ea typeface="+mn-ea"/>
                        </a:rPr>
                        <a:t> </a:t>
                      </a:r>
                      <a:r>
                        <a:rPr lang="ko-KR" altLang="en-US" sz="800" dirty="0" err="1" smtClean="0">
                          <a:latin typeface="+mn-ea"/>
                          <a:ea typeface="+mn-ea"/>
                        </a:rPr>
                        <a:t>작성수정</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588845"/>
                  </a:ext>
                </a:extLst>
              </a:tr>
              <a:tr h="0">
                <a:tc>
                  <a:txBody>
                    <a:bodyPr/>
                    <a:lstStyle/>
                    <a:p>
                      <a:r>
                        <a:rPr lang="ko-KR" altLang="en-US" sz="800" dirty="0" smtClean="0"/>
                        <a:t>입찰참가신청 </a:t>
                      </a:r>
                      <a:r>
                        <a:rPr lang="ko-KR" altLang="en-US" sz="800" dirty="0" err="1" smtClean="0"/>
                        <a:t>작성수정</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0801531"/>
                  </a:ext>
                </a:extLst>
              </a:tr>
              <a:tr h="0">
                <a:tc>
                  <a:txBody>
                    <a:bodyPr/>
                    <a:lstStyle/>
                    <a:p>
                      <a:r>
                        <a:rPr lang="ko-KR" altLang="en-US" sz="800" strike="sngStrike" dirty="0" err="1" smtClean="0"/>
                        <a:t>부정당내역</a:t>
                      </a:r>
                      <a:endParaRPr lang="ko-KR" altLang="en-US" sz="800" strike="sng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1053932"/>
                  </a:ext>
                </a:extLst>
              </a:tr>
              <a:tr h="0">
                <a:tc>
                  <a:txBody>
                    <a:bodyPr/>
                    <a:lstStyle/>
                    <a:p>
                      <a:r>
                        <a:rPr lang="ko-KR" altLang="en-US" sz="800" dirty="0" err="1" smtClean="0"/>
                        <a:t>입찰진행</a:t>
                      </a:r>
                      <a:r>
                        <a:rPr lang="ko-KR" altLang="en-US" sz="800" dirty="0" smtClean="0"/>
                        <a:t> </a:t>
                      </a:r>
                      <a:r>
                        <a:rPr lang="ko-KR" altLang="en-US" sz="800" dirty="0" err="1" smtClean="0"/>
                        <a:t>바로가기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8030712"/>
                  </a:ext>
                </a:extLst>
              </a:tr>
              <a:tr h="0">
                <a:tc>
                  <a:txBody>
                    <a:bodyPr/>
                    <a:lstStyle/>
                    <a:p>
                      <a:r>
                        <a:rPr lang="ko-KR" altLang="en-US" sz="800" dirty="0" smtClean="0"/>
                        <a:t>보관함품목관리</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81744"/>
                  </a:ext>
                </a:extLst>
              </a:tr>
            </a:tbl>
          </a:graphicData>
        </a:graphic>
      </p:graphicFrame>
      <p:sp>
        <p:nvSpPr>
          <p:cNvPr id="6" name="TextBox 5"/>
          <p:cNvSpPr txBox="1"/>
          <p:nvPr/>
        </p:nvSpPr>
        <p:spPr>
          <a:xfrm>
            <a:off x="10089626" y="4273826"/>
            <a:ext cx="1412566" cy="430887"/>
          </a:xfrm>
          <a:prstGeom prst="rect">
            <a:avLst/>
          </a:prstGeom>
          <a:noFill/>
        </p:spPr>
        <p:txBody>
          <a:bodyPr wrap="none" rtlCol="0">
            <a:spAutoFit/>
          </a:bodyPr>
          <a:lstStyle/>
          <a:p>
            <a:r>
              <a:rPr lang="ko-KR" altLang="en-US" sz="1100" dirty="0" smtClean="0"/>
              <a:t>추후 </a:t>
            </a:r>
            <a:r>
              <a:rPr lang="ko-KR" altLang="en-US" sz="1100" dirty="0" err="1" smtClean="0"/>
              <a:t>모의투찰</a:t>
            </a:r>
            <a:r>
              <a:rPr lang="ko-KR" altLang="en-US" sz="1100" dirty="0" smtClean="0"/>
              <a:t> 등이</a:t>
            </a:r>
            <a:endParaRPr lang="en-US" altLang="ko-KR" sz="1100" dirty="0" smtClean="0"/>
          </a:p>
          <a:p>
            <a:r>
              <a:rPr lang="ko-KR" altLang="en-US" sz="1100" dirty="0" smtClean="0"/>
              <a:t>추가될 수 있음</a:t>
            </a:r>
            <a:endParaRPr lang="ko-KR" altLang="en-US" sz="1100" dirty="0"/>
          </a:p>
        </p:txBody>
      </p:sp>
      <p:grpSp>
        <p:nvGrpSpPr>
          <p:cNvPr id="119" name="그룹 118"/>
          <p:cNvGrpSpPr/>
          <p:nvPr/>
        </p:nvGrpSpPr>
        <p:grpSpPr>
          <a:xfrm>
            <a:off x="8223250" y="859416"/>
            <a:ext cx="3365500" cy="634511"/>
            <a:chOff x="8223250" y="569392"/>
            <a:chExt cx="3365500" cy="634511"/>
          </a:xfrm>
        </p:grpSpPr>
        <p:sp>
          <p:nvSpPr>
            <p:cNvPr id="120" name="직사각형 119"/>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화면 </a:t>
              </a:r>
              <a:r>
                <a:rPr lang="ko-KR" altLang="en-US" dirty="0"/>
                <a:t>수정</a:t>
              </a:r>
            </a:p>
          </p:txBody>
        </p:sp>
        <p:sp>
          <p:nvSpPr>
            <p:cNvPr id="122" name="직사각형 121"/>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공고 신청 버튼으로 팝업 버튼 일원화</a:t>
              </a:r>
              <a:r>
                <a:rPr lang="en-US" altLang="ko-KR" sz="700" dirty="0" smtClean="0"/>
                <a:t>.</a:t>
              </a:r>
              <a:endParaRPr lang="en-US" altLang="ko-KR" sz="700" dirty="0"/>
            </a:p>
          </p:txBody>
        </p:sp>
      </p:grpSp>
    </p:spTree>
    <p:extLst>
      <p:ext uri="{BB962C8B-B14F-4D97-AF65-F5344CB8AC3E}">
        <p14:creationId xmlns:p14="http://schemas.microsoft.com/office/powerpoint/2010/main" val="171419116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smtClean="0"/>
              <a:t>일자 설정 직접 </a:t>
            </a:r>
            <a:r>
              <a:rPr lang="ko-KR" altLang="en-US" dirty="0"/>
              <a:t>입력 </a:t>
            </a:r>
            <a:r>
              <a:rPr lang="ko-KR" altLang="en-US" dirty="0" smtClean="0"/>
              <a:t>가능</a:t>
            </a:r>
            <a:r>
              <a:rPr lang="en-US" altLang="ko-KR" dirty="0" smtClean="0"/>
              <a:t/>
            </a:r>
            <a:br>
              <a:rPr lang="en-US" altLang="ko-KR" dirty="0" smtClean="0"/>
            </a:br>
            <a:r>
              <a:rPr lang="en-US" altLang="ko-KR" dirty="0" smtClean="0"/>
              <a:t>  &gt; </a:t>
            </a:r>
            <a:r>
              <a:rPr lang="ko-KR" altLang="en-US" dirty="0" smtClean="0"/>
              <a:t>팝업에서 </a:t>
            </a:r>
            <a:r>
              <a:rPr lang="ko-KR" altLang="en-US" dirty="0" err="1" smtClean="0"/>
              <a:t>입력처리</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a:t>
            </a:r>
            <a:r>
              <a:rPr lang="ko-KR" altLang="en-US" dirty="0" smtClean="0">
                <a:sym typeface="Wingdings" panose="05000000000000000000" pitchFamily="2" charset="2"/>
              </a:rPr>
              <a:t>업데이트</a:t>
            </a:r>
            <a:endParaRPr lang="en-US" altLang="ko-KR" dirty="0" smtClean="0">
              <a:sym typeface="Wingdings" panose="05000000000000000000" pitchFamily="2" charset="2"/>
            </a:endParaRPr>
          </a:p>
          <a:p>
            <a:pPr marL="228600" indent="-228600">
              <a:buFont typeface="+mj-lt"/>
              <a:buAutoNum type="arabicPeriod"/>
            </a:pP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a:t>
            </a:r>
            <a:r>
              <a:rPr lang="ko-KR" altLang="en-US" dirty="0" smtClean="0">
                <a:sym typeface="Wingdings" panose="05000000000000000000" pitchFamily="2" charset="2"/>
              </a:rPr>
              <a:t>가능</a:t>
            </a:r>
            <a:r>
              <a:rPr lang="en-US" altLang="ko-KR" dirty="0" smtClean="0">
                <a:sym typeface="Wingdings" panose="05000000000000000000" pitchFamily="2" charset="2"/>
              </a:rPr>
              <a:t/>
            </a:r>
            <a:br>
              <a:rPr lang="en-US" altLang="ko-KR" dirty="0" smtClean="0">
                <a:sym typeface="Wingdings" panose="05000000000000000000" pitchFamily="2" charset="2"/>
              </a:rPr>
            </a:br>
            <a:r>
              <a:rPr lang="en-US" altLang="ko-KR" dirty="0" smtClean="0">
                <a:sym typeface="Wingdings" panose="05000000000000000000" pitchFamily="2" charset="2"/>
              </a:rPr>
              <a:t>- </a:t>
            </a:r>
            <a:r>
              <a:rPr lang="ko-KR" altLang="en-US" dirty="0" smtClean="0">
                <a:sym typeface="Wingdings" panose="05000000000000000000" pitchFamily="2" charset="2"/>
              </a:rPr>
              <a:t>참가신청상태</a:t>
            </a:r>
            <a:r>
              <a:rPr lang="en-US" altLang="ko-KR" dirty="0" smtClean="0">
                <a:sym typeface="Wingdings" panose="05000000000000000000" pitchFamily="2" charset="2"/>
              </a:rPr>
              <a:t>: </a:t>
            </a:r>
            <a:r>
              <a:rPr lang="ko-KR" altLang="en-US" dirty="0" smtClean="0">
                <a:sym typeface="Wingdings" panose="05000000000000000000" pitchFamily="2" charset="2"/>
              </a:rPr>
              <a:t>전체</a:t>
            </a:r>
            <a:r>
              <a:rPr lang="en-US" altLang="ko-KR" dirty="0" smtClean="0">
                <a:sym typeface="Wingdings" panose="05000000000000000000" pitchFamily="2" charset="2"/>
              </a:rPr>
              <a:t>, </a:t>
            </a:r>
            <a:r>
              <a:rPr lang="ko-KR" altLang="en-US" dirty="0" smtClean="0">
                <a:sym typeface="Wingdings" panose="05000000000000000000" pitchFamily="2" charset="2"/>
              </a:rPr>
              <a:t>작성</a:t>
            </a:r>
            <a:r>
              <a:rPr lang="en-US" altLang="ko-KR" dirty="0" smtClean="0">
                <a:sym typeface="Wingdings" panose="05000000000000000000" pitchFamily="2" charset="2"/>
              </a:rPr>
              <a:t>, </a:t>
            </a:r>
            <a:r>
              <a:rPr lang="ko-KR" altLang="en-US" dirty="0" err="1" smtClean="0">
                <a:sym typeface="Wingdings" panose="05000000000000000000" pitchFamily="2" charset="2"/>
              </a:rPr>
              <a:t>미작성</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일자 설정</a:t>
            </a:r>
            <a:endParaRPr lang="ko-KR" altLang="en-US" sz="700" b="1"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공고</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646331"/>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참가신청상태</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361325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3681719"/>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416603635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1493" y="2908163"/>
            <a:ext cx="61395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77270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1271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1051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10513"/>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12712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8723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87830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22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158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1588"/>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819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3465"/>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8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2542716" y="2404156"/>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209902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2404156"/>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2" name="모서리가 둥근 직사각형 151"/>
          <p:cNvSpPr/>
          <p:nvPr/>
        </p:nvSpPr>
        <p:spPr>
          <a:xfrm>
            <a:off x="1399238" y="2404156"/>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nvGrpSpPr>
          <p:cNvPr id="6" name="그룹 5"/>
          <p:cNvGrpSpPr/>
          <p:nvPr/>
        </p:nvGrpSpPr>
        <p:grpSpPr>
          <a:xfrm>
            <a:off x="720490" y="4233451"/>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6502"/>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8551"/>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 name="직사각형 2"/>
          <p:cNvSpPr/>
          <p:nvPr/>
        </p:nvSpPr>
        <p:spPr>
          <a:xfrm>
            <a:off x="7072313" y="5975364"/>
            <a:ext cx="2363989" cy="296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algn="ctr"/>
            <a:r>
              <a:rPr lang="ko-KR" altLang="en-US" sz="700" dirty="0"/>
              <a:t>보관함 상세에서 품목 목록은 제거함</a:t>
            </a:r>
            <a:r>
              <a:rPr lang="en-US" altLang="ko-KR" sz="700" dirty="0"/>
              <a:t>.</a:t>
            </a:r>
          </a:p>
          <a:p>
            <a:pPr algn="ctr"/>
            <a:r>
              <a:rPr lang="ko-KR" altLang="en-US" sz="700" dirty="0"/>
              <a:t>품목 목록은 </a:t>
            </a:r>
            <a:r>
              <a:rPr lang="en-US" altLang="ko-KR" sz="700" dirty="0"/>
              <a:t>+ </a:t>
            </a:r>
            <a:r>
              <a:rPr lang="ko-KR" altLang="en-US" sz="700" dirty="0"/>
              <a:t>버튼을 눌러 내역 작성에서 처리</a:t>
            </a:r>
          </a:p>
        </p:txBody>
      </p:sp>
      <p:grpSp>
        <p:nvGrpSpPr>
          <p:cNvPr id="124" name="그룹 123"/>
          <p:cNvGrpSpPr/>
          <p:nvPr/>
        </p:nvGrpSpPr>
        <p:grpSpPr>
          <a:xfrm>
            <a:off x="8223250" y="569392"/>
            <a:ext cx="3365500" cy="634511"/>
            <a:chOff x="8223250" y="569392"/>
            <a:chExt cx="3365500" cy="634511"/>
          </a:xfrm>
        </p:grpSpPr>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26" name="직사각형 12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국외 보관함 상세</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9" name="그룹 128"/>
            <p:cNvGrpSpPr/>
            <p:nvPr/>
          </p:nvGrpSpPr>
          <p:grpSpPr>
            <a:xfrm rot="5400000">
              <a:off x="852159" y="2062596"/>
              <a:ext cx="94010" cy="47005"/>
              <a:chOff x="6812560" y="3297172"/>
              <a:chExt cx="94010" cy="47005"/>
            </a:xfrm>
          </p:grpSpPr>
          <p:cxnSp>
            <p:nvCxnSpPr>
              <p:cNvPr id="136" name="직선 연결선 1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7" name="직선 연결선 1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0" name="그룹 129"/>
            <p:cNvGrpSpPr/>
            <p:nvPr/>
          </p:nvGrpSpPr>
          <p:grpSpPr>
            <a:xfrm>
              <a:off x="677960" y="1582647"/>
              <a:ext cx="2712027" cy="324286"/>
              <a:chOff x="677960" y="1582647"/>
              <a:chExt cx="2712027" cy="324286"/>
            </a:xfrm>
          </p:grpSpPr>
          <p:pic>
            <p:nvPicPr>
              <p:cNvPr id="13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2" name="직선 연결선 13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타원 13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38" name="그룹 137"/>
          <p:cNvGrpSpPr/>
          <p:nvPr/>
        </p:nvGrpSpPr>
        <p:grpSpPr>
          <a:xfrm>
            <a:off x="8223250" y="804408"/>
            <a:ext cx="3365500" cy="634511"/>
            <a:chOff x="8223250" y="569392"/>
            <a:chExt cx="3365500" cy="634511"/>
          </a:xfrm>
        </p:grpSpPr>
        <p:sp>
          <p:nvSpPr>
            <p:cNvPr id="139" name="직사각형 138"/>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2026-07-06 </a:t>
              </a:r>
              <a:r>
                <a:rPr lang="ko-KR" altLang="en-US" b="1" dirty="0" smtClean="0"/>
                <a:t>삭제 화면</a:t>
              </a:r>
              <a:endParaRPr lang="ko-KR" altLang="en-US" b="1" dirty="0"/>
            </a:p>
          </p:txBody>
        </p:sp>
        <p:sp>
          <p:nvSpPr>
            <p:cNvPr id="140" name="직사각형 139"/>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en-US" altLang="ko-KR" sz="700" dirty="0" smtClean="0"/>
                <a:t>PC </a:t>
              </a:r>
              <a:r>
                <a:rPr lang="ko-KR" altLang="en-US" sz="700" dirty="0" smtClean="0"/>
                <a:t>버전에서 상세 내역이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cxnSp>
        <p:nvCxnSpPr>
          <p:cNvPr id="141" name="직선 연결선 140"/>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7930282"/>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552487"/>
            <a:chOff x="701175" y="1527996"/>
            <a:chExt cx="2630093" cy="355248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2450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723549"/>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ko-KR" altLang="en-US" sz="700" dirty="0">
                  <a:latin typeface="+mn-ea"/>
                </a:rPr>
                <a:t> </a:t>
              </a:r>
              <a:r>
                <a:rPr lang="en-US" altLang="ko-KR" sz="700" dirty="0">
                  <a:latin typeface="+mn-ea"/>
                </a:rPr>
                <a:t>- </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231654"/>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2026-03-17 15:00</a:t>
              </a:r>
            </a:p>
            <a:p>
              <a:pPr>
                <a:lnSpc>
                  <a:spcPct val="200000"/>
                </a:lnSpc>
              </a:pPr>
              <a:r>
                <a:rPr lang="en-US" altLang="ko-KR" sz="700" dirty="0">
                  <a:latin typeface="+mn-ea"/>
                </a:rPr>
                <a:t>2026-03-26 11:00</a:t>
              </a:r>
            </a:p>
            <a:p>
              <a:pPr>
                <a:lnSpc>
                  <a:spcPct val="200000"/>
                </a:lnSpc>
              </a:pPr>
              <a:r>
                <a:rPr lang="en-US" altLang="ko-KR" sz="700" dirty="0">
                  <a:latin typeface="+mn-ea"/>
                </a:rPr>
                <a:t>2026-03-30</a:t>
              </a:r>
            </a:p>
            <a:p>
              <a:pPr>
                <a:lnSpc>
                  <a:spcPct val="200000"/>
                </a:lnSpc>
              </a:pPr>
              <a:r>
                <a:rPr lang="en-US" altLang="ko-KR" sz="700" dirty="0">
                  <a:latin typeface="+mn-ea"/>
                </a:rPr>
                <a:t>2026-03-17</a:t>
              </a:r>
            </a:p>
            <a:p>
              <a:pPr>
                <a:lnSpc>
                  <a:spcPct val="200000"/>
                </a:lnSpc>
              </a:pPr>
              <a:r>
                <a:rPr lang="ko-KR" altLang="en-US" sz="700" dirty="0" err="1">
                  <a:latin typeface="+mn-ea"/>
                </a:rPr>
                <a:t>일반투찰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100</a:t>
              </a:r>
            </a:p>
          </p:txBody>
        </p:sp>
        <p:grpSp>
          <p:nvGrpSpPr>
            <p:cNvPr id="17" name="그룹 16"/>
            <p:cNvGrpSpPr/>
            <p:nvPr/>
          </p:nvGrpSpPr>
          <p:grpSpPr>
            <a:xfrm>
              <a:off x="701175" y="1835481"/>
              <a:ext cx="2630093" cy="3245002"/>
              <a:chOff x="701175" y="1835481"/>
              <a:chExt cx="2630093" cy="3245002"/>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553401"/>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770489"/>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957309"/>
              <a:ext cx="728979" cy="1077218"/>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err="1">
                  <a:latin typeface="+mn-ea"/>
                </a:rPr>
                <a:t>환율일자</a:t>
              </a:r>
              <a:endParaRPr lang="ko-KR" altLang="en-US" sz="700" dirty="0">
                <a:latin typeface="+mn-ea"/>
              </a:endParaRPr>
            </a:p>
            <a:p>
              <a:pPr>
                <a:lnSpc>
                  <a:spcPct val="200000"/>
                </a:lnSpc>
              </a:pPr>
              <a:r>
                <a:rPr lang="ko-KR" altLang="en-US" sz="700" dirty="0">
                  <a:latin typeface="+mn-ea"/>
                </a:rPr>
                <a:t>입찰방식</a:t>
              </a:r>
              <a:endParaRPr lang="en-US" altLang="ko-KR" sz="700" dirty="0">
                <a:latin typeface="+mn-ea"/>
              </a:endParaRPr>
            </a:p>
            <a:p>
              <a:pPr>
                <a:lnSpc>
                  <a:spcPct val="200000"/>
                </a:lnSpc>
              </a:pPr>
              <a:r>
                <a:rPr lang="ko-KR" altLang="en-US" sz="700" dirty="0" err="1">
                  <a:latin typeface="+mn-ea"/>
                </a:rPr>
                <a:t>계약방식</a:t>
              </a:r>
              <a:endParaRPr lang="ko-KR" altLang="en-US" sz="700" dirty="0">
                <a:latin typeface="+mn-ea"/>
              </a:endParaRPr>
            </a:p>
            <a:p>
              <a:pPr>
                <a:lnSpc>
                  <a:spcPct val="200000"/>
                </a:lnSpc>
              </a:pPr>
              <a:r>
                <a:rPr lang="ko-KR" altLang="en-US" sz="700" dirty="0" err="1">
                  <a:latin typeface="+mn-ea"/>
                </a:rPr>
                <a:t>보관품목수</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grpSp>
        <p:nvGrpSpPr>
          <p:cNvPr id="53" name="그룹 52"/>
          <p:cNvGrpSpPr/>
          <p:nvPr/>
        </p:nvGrpSpPr>
        <p:grpSpPr>
          <a:xfrm>
            <a:off x="8223250" y="569392"/>
            <a:ext cx="3365500" cy="634511"/>
            <a:chOff x="8223250" y="569392"/>
            <a:chExt cx="3365500" cy="634511"/>
          </a:xfrm>
        </p:grpSpPr>
        <p:sp>
          <p:nvSpPr>
            <p:cNvPr id="56" name="직사각형 55"/>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2026-07-06 </a:t>
              </a:r>
              <a:r>
                <a:rPr lang="ko-KR" altLang="en-US" b="1" dirty="0" smtClean="0"/>
                <a:t>삭제 화면</a:t>
              </a:r>
              <a:endParaRPr lang="ko-KR" altLang="en-US" b="1" dirty="0"/>
            </a:p>
          </p:txBody>
        </p:sp>
        <p:sp>
          <p:nvSpPr>
            <p:cNvPr id="57" name="직사각형 56"/>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a:t>PC </a:t>
              </a:r>
              <a:r>
                <a:rPr lang="ko-KR" altLang="en-US" sz="700" dirty="0"/>
                <a:t>버전에서 상세 내역이 삭제됨</a:t>
              </a:r>
              <a:r>
                <a:rPr lang="en-US" altLang="ko-KR" sz="700" dirty="0"/>
                <a:t>.</a:t>
              </a:r>
            </a:p>
            <a:p>
              <a:pPr marL="228600" indent="-228600">
                <a:buAutoNum type="arabicPeriod"/>
              </a:pPr>
              <a:r>
                <a:rPr lang="ko-KR" altLang="en-US" sz="700" dirty="0"/>
                <a:t>보관한 품목 관리에서 일원 관리</a:t>
              </a:r>
              <a:endParaRPr lang="en-US" altLang="ko-KR" sz="700" dirty="0"/>
            </a:p>
          </p:txBody>
        </p:sp>
      </p:grpSp>
      <p:cxnSp>
        <p:nvCxnSpPr>
          <p:cNvPr id="58" name="직선 연결선 57"/>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8437936"/>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공고입찰품목 중 보관함에 품목을 추가 및 삭제하는 화면</a:t>
            </a:r>
            <a:r>
              <a:rPr lang="ko-KR" altLang="en-US" dirty="0"/>
              <a:t>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27456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703814"/>
            <a:chOff x="701175" y="1800647"/>
            <a:chExt cx="2630093" cy="703814"/>
          </a:xfrm>
        </p:grpSpPr>
        <p:sp>
          <p:nvSpPr>
            <p:cNvPr id="122" name="직사각형 121"/>
            <p:cNvSpPr/>
            <p:nvPr/>
          </p:nvSpPr>
          <p:spPr>
            <a:xfrm>
              <a:off x="703268" y="1800647"/>
              <a:ext cx="792000" cy="7038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668980"/>
              <a:chOff x="701175" y="1835481"/>
              <a:chExt cx="2630093" cy="6689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6" name="그룹 55"/>
          <p:cNvGrpSpPr/>
          <p:nvPr/>
        </p:nvGrpSpPr>
        <p:grpSpPr>
          <a:xfrm>
            <a:off x="8223250" y="569392"/>
            <a:ext cx="3365500" cy="634511"/>
            <a:chOff x="8223250" y="569392"/>
            <a:chExt cx="3365500" cy="634511"/>
          </a:xfrm>
        </p:grpSpPr>
        <p:sp>
          <p:nvSpPr>
            <p:cNvPr id="57" name="직사각형 56"/>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2026-06-22 </a:t>
              </a:r>
              <a:r>
                <a:rPr lang="ko-KR" altLang="en-US" b="1" dirty="0" smtClean="0"/>
                <a:t>삭제 화면</a:t>
              </a:r>
              <a:endParaRPr lang="ko-KR" altLang="en-US" b="1" dirty="0"/>
            </a:p>
          </p:txBody>
        </p:sp>
        <p:sp>
          <p:nvSpPr>
            <p:cNvPr id="58" name="직사각형 57"/>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smtClean="0"/>
                <a:t>PC </a:t>
              </a:r>
              <a:r>
                <a:rPr lang="ko-KR" altLang="en-US" sz="700" dirty="0" smtClean="0"/>
                <a:t>버전에서 상세 내역에 품목 목록이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cxnSp>
        <p:nvCxnSpPr>
          <p:cNvPr id="5" name="직선 연결선 4"/>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908062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79663"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 검색조건</a:t>
            </a:r>
            <a:r>
              <a:rPr lang="en-US" altLang="ko-KR" sz="900" b="1">
                <a:solidFill>
                  <a:prstClr val="black"/>
                </a:solidFill>
              </a:rPr>
              <a:t> (dm_searchInfo)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구분코드 </a:t>
                      </a:r>
                      <a:r>
                        <a:rPr lang="en-US" altLang="ko-KR" sz="800">
                          <a:latin typeface="+mn-ea"/>
                          <a:ea typeface="+mn-ea"/>
                        </a:rPr>
                        <a:t>GTSB0001</a:t>
                      </a:r>
                      <a:r>
                        <a:rPr lang="ko-KR" altLang="en-US" sz="800">
                          <a:latin typeface="+mn-ea"/>
                          <a:ea typeface="+mn-ea"/>
                        </a:rPr>
                        <a:t> </a:t>
                      </a:r>
                      <a:r>
                        <a:rPr lang="en-US" altLang="ko-KR" sz="800">
                          <a:latin typeface="+mn-ea"/>
                          <a:ea typeface="+mn-ea"/>
                        </a:rPr>
                        <a:t>(</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참가신청상태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bidPrtcpAplyStts</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 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전체</a:t>
                      </a:r>
                      <a:r>
                        <a:rPr lang="en-US" altLang="ko-KR" sz="800">
                          <a:latin typeface="+mn-ea"/>
                          <a:ea typeface="+mn-ea"/>
                        </a:rPr>
                        <a:t>, </a:t>
                      </a:r>
                      <a:r>
                        <a:rPr lang="ko-KR" altLang="en-US" sz="800">
                          <a:latin typeface="+mn-ea"/>
                          <a:ea typeface="+mn-ea"/>
                        </a:rPr>
                        <a:t>작성</a:t>
                      </a:r>
                      <a:r>
                        <a:rPr lang="en-US" altLang="ko-KR" sz="800">
                          <a:latin typeface="+mn-ea"/>
                          <a:ea typeface="+mn-ea"/>
                        </a:rPr>
                        <a:t>, </a:t>
                      </a:r>
                      <a:r>
                        <a:rPr lang="ko-KR" altLang="en-US" sz="800">
                          <a:latin typeface="+mn-ea"/>
                          <a:ea typeface="+mn-ea"/>
                        </a:rPr>
                        <a:t>미작성</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189499"/>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FFF584A0-A213-C065-D9B7-64DE203FBB20}"/>
              </a:ext>
            </a:extLst>
          </p:cNvPr>
          <p:cNvSpPr txBox="1"/>
          <p:nvPr/>
        </p:nvSpPr>
        <p:spPr>
          <a:xfrm>
            <a:off x="458117" y="2330703"/>
            <a:ext cx="2212713"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검색결과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5A9AE08-7971-6FCE-A248-9932928B4551}"/>
              </a:ext>
            </a:extLst>
          </p:cNvPr>
          <p:cNvGraphicFramePr>
            <a:graphicFrameLocks noGrp="1"/>
          </p:cNvGraphicFramePr>
          <p:nvPr/>
        </p:nvGraphicFramePr>
        <p:xfrm>
          <a:off x="452999" y="254190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2020068"/>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7559299"/>
                  </a:ext>
                </a:extLst>
              </a:tr>
              <a:tr h="0">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a:t>
                      </a:r>
                      <a:r>
                        <a:rPr lang="ko-KR" altLang="en-US" sz="800">
                          <a:latin typeface="+mn-ea"/>
                          <a:ea typeface="+mn-ea"/>
                        </a:rPr>
                        <a:t> </a:t>
                      </a:r>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48019"/>
                  </a:ext>
                </a:extLst>
              </a:tr>
              <a:tr h="0">
                <a:tc>
                  <a:txBody>
                    <a:bodyPr/>
                    <a:lstStyle/>
                    <a:p>
                      <a:pPr algn="l" fontAlgn="ctr"/>
                      <a:r>
                        <a:rPr lang="ko-KR" altLang="en-US" sz="800" b="0" i="0" u="none" strike="noStrike">
                          <a:solidFill>
                            <a:srgbClr val="000000"/>
                          </a:solidFill>
                          <a:effectLst/>
                          <a:latin typeface="+mn-ea"/>
                          <a:ea typeface="+mn-ea"/>
                        </a:rPr>
                        <a:t>입찰업체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lang="en-US" altLang="ko-KR" sz="800" kern="1200">
                          <a:solidFill>
                            <a:schemeClr val="tx1"/>
                          </a:solidFill>
                          <a:latin typeface="+mn-ea"/>
                          <a:ea typeface="+mn-ea"/>
                          <a:cs typeface="+mn-cs"/>
                        </a:rPr>
                        <a:t>N</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570774"/>
                  </a:ext>
                </a:extLst>
              </a:tr>
              <a:tr h="0">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4493747"/>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3808974"/>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9984697"/>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3959059"/>
                  </a:ext>
                </a:extLst>
              </a:tr>
              <a:tr h="0">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1341434"/>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8383827"/>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482144"/>
                  </a:ext>
                </a:extLst>
              </a:tr>
            </a:tbl>
          </a:graphicData>
        </a:graphic>
      </p:graphicFrame>
    </p:spTree>
    <p:extLst>
      <p:ext uri="{BB962C8B-B14F-4D97-AF65-F5344CB8AC3E}">
        <p14:creationId xmlns:p14="http://schemas.microsoft.com/office/powerpoint/2010/main" val="1859748291"/>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0D6F7229-F560-C0E4-D100-D0CDED309D46}"/>
              </a:ext>
            </a:extLst>
          </p:cNvPr>
          <p:cNvSpPr>
            <a:spLocks noGrp="1"/>
          </p:cNvSpPr>
          <p:nvPr>
            <p:ph type="sldNum" sz="quarter" idx="4"/>
          </p:nvPr>
        </p:nvSpPr>
        <p:spPr/>
        <p:txBody>
          <a:bodyPr/>
          <a:lstStyle/>
          <a:p>
            <a:fld id="{34C8E023-7346-48FC-AB24-9A3388C53208}" type="slidenum">
              <a:rPr lang="ko-KR" altLang="en-US" smtClean="0"/>
              <a:pPr/>
              <a:t>312</a:t>
            </a:fld>
            <a:endParaRPr lang="ko-KR" altLang="en-US" dirty="0"/>
          </a:p>
        </p:txBody>
      </p:sp>
      <p:sp>
        <p:nvSpPr>
          <p:cNvPr id="4" name="슬라이드 번호 개체 틀 1">
            <a:extLst>
              <a:ext uri="{FF2B5EF4-FFF2-40B4-BE49-F238E27FC236}">
                <a16:creationId xmlns:a16="http://schemas.microsoft.com/office/drawing/2014/main" id="{91A30C36-8FD5-4B7D-2AED-5A6E2FE5E18C}"/>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34C8E023-7346-48FC-AB24-9A3388C53208}" type="slidenum">
              <a:rPr lang="ko-KR" altLang="en-US" smtClean="0"/>
              <a:pPr/>
              <a:t>312</a:t>
            </a:fld>
            <a:endParaRPr lang="ko-KR" altLang="en-US" dirty="0"/>
          </a:p>
        </p:txBody>
      </p:sp>
      <p:sp>
        <p:nvSpPr>
          <p:cNvPr id="5" name="TextBox 4">
            <a:extLst>
              <a:ext uri="{FF2B5EF4-FFF2-40B4-BE49-F238E27FC236}">
                <a16:creationId xmlns:a16="http://schemas.microsoft.com/office/drawing/2014/main" id="{419A1B9D-98AF-0515-89CE-B83C245EA7EA}"/>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0FAB8D0A-631F-3C8E-395B-07F109C3BE9A}"/>
              </a:ext>
            </a:extLst>
          </p:cNvPr>
          <p:cNvGraphicFramePr>
            <a:graphicFrameLocks noGrp="1"/>
          </p:cNvGraphicFramePr>
          <p:nvPr/>
        </p:nvGraphicFramePr>
        <p:xfrm>
          <a:off x="458117" y="799547"/>
          <a:ext cx="8995591" cy="23548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검색조건에 해당하는 보관함 목록 조회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a:t>scwin.btn_simtBdng_onclick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상태로 변경되며</a:t>
                      </a:r>
                      <a:r>
                        <a:rPr lang="en-US" altLang="ko-KR" sz="800">
                          <a:latin typeface="+mn-ea"/>
                          <a:ea typeface="+mn-ea"/>
                        </a:rPr>
                        <a:t>, </a:t>
                      </a:r>
                      <a:r>
                        <a:rPr lang="ko-KR" altLang="en-US" sz="800">
                          <a:latin typeface="+mn-ea"/>
                          <a:ea typeface="+mn-ea"/>
                        </a:rPr>
                        <a:t>모의투찰용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596464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입찰내역작성수정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UI-BD-01-M77</a:t>
                      </a:r>
                      <a:r>
                        <a:rPr lang="en-US" altLang="ko-KR" sz="800">
                          <a:latin typeface="+mn-ea"/>
                          <a:ea typeface="+mn-ea"/>
                        </a:rPr>
                        <a:t> </a:t>
                      </a:r>
                      <a:r>
                        <a:rPr lang="ko-KR" altLang="en-US" sz="80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a:t>입찰참가신청작성수정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scnwin.btn_moveApplFormEdit_onlick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청렴계약이행서약서동의 팝업 호출 또는 입찰참가신청서작성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solidFill>
                            <a:schemeClr val="tx1"/>
                          </a:solidFill>
                          <a:latin typeface="+mn-ea"/>
                          <a:ea typeface="+mn-ea"/>
                        </a:rPr>
                        <a:t>청렴계약이행서약서동의</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UI-BD-04-P71</a:t>
                      </a:r>
                      <a:r>
                        <a:rPr lang="en-US" altLang="ko-KR" sz="800">
                          <a:solidFill>
                            <a:schemeClr val="tx1"/>
                          </a:solidFill>
                          <a:latin typeface="+mn-ea"/>
                          <a:ea typeface="+mn-ea"/>
                        </a:rPr>
                        <a:t>) </a:t>
                      </a:r>
                      <a:r>
                        <a:rPr lang="ko-KR" altLang="en-US" sz="800">
                          <a:solidFill>
                            <a:schemeClr val="tx1"/>
                          </a:solidFill>
                          <a:latin typeface="+mn-ea"/>
                          <a:ea typeface="+mn-ea"/>
                        </a:rPr>
                        <a:t>참조</a:t>
                      </a:r>
                      <a:endParaRPr lang="en-US" altLang="ko-KR" sz="800">
                        <a:solidFill>
                          <a:schemeClr val="tx1"/>
                        </a:solidFill>
                        <a:latin typeface="+mn-ea"/>
                        <a:ea typeface="+mn-ea"/>
                      </a:endParaRPr>
                    </a:p>
                    <a:p>
                      <a:pPr marL="87313" indent="-87313" algn="l" latinLnBrk="1">
                        <a:buFont typeface="Arial" panose="020B0604020202020204" pitchFamily="34" charset="0"/>
                        <a:buChar char="•"/>
                      </a:pPr>
                      <a:r>
                        <a:rPr lang="ko-KR" altLang="en-US" sz="800">
                          <a:solidFill>
                            <a:schemeClr val="tx1"/>
                          </a:solidFill>
                          <a:latin typeface="+mn-ea"/>
                          <a:ea typeface="+mn-ea"/>
                        </a:rPr>
                        <a:t>입찰참가신청서작성</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UI-BD-04-M72</a:t>
                      </a:r>
                      <a:r>
                        <a:rPr lang="en-US" altLang="ko-KR" sz="800">
                          <a:solidFill>
                            <a:schemeClr val="tx1"/>
                          </a:solidFill>
                          <a:latin typeface="+mn-ea"/>
                          <a:ea typeface="+mn-ea"/>
                        </a:rPr>
                        <a:t>) </a:t>
                      </a:r>
                      <a:r>
                        <a:rPr lang="ko-KR" altLang="en-US" sz="800">
                          <a:solidFill>
                            <a:schemeClr val="tx1"/>
                          </a:solidFill>
                          <a:latin typeface="+mn-ea"/>
                          <a:ea typeface="+mn-ea"/>
                        </a:rPr>
                        <a:t>참조</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dirty="0" err="1"/>
                        <a:t>부정당내역</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scnwin.btn_openPenaltyStatus_onclick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부정당내역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a:t>입찰진행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scnwin.btn_moveBidProgress_onclick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입찰진행</a:t>
                      </a:r>
                      <a:r>
                        <a:rPr lang="en-US" altLang="ko-KR" sz="800">
                          <a:latin typeface="+mn-ea"/>
                          <a:ea typeface="+mn-ea"/>
                        </a:rPr>
                        <a:t>(</a:t>
                      </a:r>
                      <a:r>
                        <a:rPr lang="ko-KR" altLang="en-US" sz="800">
                          <a:latin typeface="+mn-ea"/>
                          <a:ea typeface="+mn-ea"/>
                        </a:rPr>
                        <a:t>조달업체</a:t>
                      </a:r>
                      <a:r>
                        <a:rPr lang="en-US" altLang="ko-KR" sz="800">
                          <a:latin typeface="+mn-ea"/>
                          <a:ea typeface="+mn-ea"/>
                        </a:rPr>
                        <a:t>)</a:t>
                      </a:r>
                      <a:r>
                        <a:rPr lang="ko-KR" altLang="en-US" sz="800">
                          <a:latin typeface="+mn-ea"/>
                          <a:ea typeface="+mn-ea"/>
                        </a:rPr>
                        <a:t>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UI-BD-03-M01</a:t>
                      </a:r>
                      <a:r>
                        <a:rPr lang="ko-KR" altLang="en-US" sz="800">
                          <a:latin typeface="+mn-ea"/>
                          <a:ea typeface="+mn-ea"/>
                        </a:rPr>
                        <a:t> 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9504750"/>
                  </a:ext>
                </a:extLst>
              </a:tr>
              <a:tr h="0">
                <a:tc>
                  <a:txBody>
                    <a:bodyPr/>
                    <a:lstStyle/>
                    <a:p>
                      <a:r>
                        <a:rPr lang="ko-KR" altLang="en-US" sz="800"/>
                        <a:t>보관함품목관리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scnwin.btn_openLockerItemMng_onclick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보관함품목관리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UI-BD-01-P76</a:t>
                      </a:r>
                      <a:r>
                        <a:rPr lang="ko-KR" altLang="en-US" sz="800" b="0" i="0" u="none" strike="noStrike">
                          <a:solidFill>
                            <a:srgbClr val="000000"/>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9653022"/>
                  </a:ext>
                </a:extLst>
              </a:tr>
            </a:tbl>
          </a:graphicData>
        </a:graphic>
      </p:graphicFrame>
      <p:sp>
        <p:nvSpPr>
          <p:cNvPr id="7" name="Text Box 73">
            <a:extLst>
              <a:ext uri="{FF2B5EF4-FFF2-40B4-BE49-F238E27FC236}">
                <a16:creationId xmlns:a16="http://schemas.microsoft.com/office/drawing/2014/main" id="{860FF1B4-A3DF-BB80-AB27-34226C4E462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7422119"/>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품목 목록 표시</a:t>
            </a:r>
            <a:r>
              <a:rPr lang="en-US" altLang="ko-KR" dirty="0"/>
              <a:t/>
            </a:r>
            <a:br>
              <a:rPr lang="en-US" altLang="ko-KR" dirty="0"/>
            </a:br>
            <a:r>
              <a:rPr lang="en-US" altLang="ko-KR" dirty="0"/>
              <a:t>- </a:t>
            </a:r>
            <a:r>
              <a:rPr lang="ko-KR" altLang="en-US" dirty="0"/>
              <a:t>상세 페이지 없음</a:t>
            </a:r>
            <a:r>
              <a:rPr lang="en-US" altLang="ko-KR" dirty="0"/>
              <a:t>.</a:t>
            </a:r>
            <a:br>
              <a:rPr lang="en-US" altLang="ko-KR" dirty="0"/>
            </a:br>
            <a:r>
              <a:rPr lang="en-US" altLang="ko-KR" dirty="0"/>
              <a:t>- </a:t>
            </a:r>
            <a:r>
              <a:rPr lang="ko-KR" altLang="en-US" dirty="0" err="1"/>
              <a:t>클릭시</a:t>
            </a:r>
            <a:r>
              <a:rPr lang="ko-KR" altLang="en-US" dirty="0"/>
              <a:t> 선택 활성</a:t>
            </a:r>
            <a:r>
              <a:rPr lang="en-US" altLang="ko-KR" dirty="0"/>
              <a:t>/</a:t>
            </a:r>
            <a:r>
              <a:rPr lang="ko-KR" altLang="en-US" dirty="0" smtClean="0"/>
              <a:t>비활성</a:t>
            </a:r>
            <a:r>
              <a:rPr lang="en-US" altLang="ko-KR" dirty="0"/>
              <a:t/>
            </a:r>
            <a:br>
              <a:rPr lang="en-US" altLang="ko-KR" dirty="0"/>
            </a:br>
            <a:r>
              <a:rPr lang="en-US" altLang="ko-KR" dirty="0" smtClean="0"/>
              <a:t>- </a:t>
            </a:r>
            <a:r>
              <a:rPr lang="ko-KR" altLang="en-US" dirty="0" smtClean="0"/>
              <a:t>보관함 품목 목록</a:t>
            </a:r>
            <a:r>
              <a:rPr lang="en-US" altLang="ko-KR" dirty="0" smtClean="0"/>
              <a:t/>
            </a:r>
            <a:br>
              <a:rPr lang="en-US" altLang="ko-KR" dirty="0" smtClean="0"/>
            </a:br>
            <a:r>
              <a:rPr lang="en-US" altLang="ko-KR" dirty="0" smtClean="0"/>
              <a:t>  &gt; </a:t>
            </a:r>
            <a:r>
              <a:rPr lang="ko-KR" altLang="en-US" dirty="0" smtClean="0"/>
              <a:t>보관함에 추가된 목록의 경우 보관함 삭제 버튼 표시</a:t>
            </a:r>
            <a:r>
              <a:rPr lang="en-US" altLang="ko-KR" dirty="0" smtClean="0"/>
              <a:t/>
            </a:r>
            <a:br>
              <a:rPr lang="en-US" altLang="ko-KR" dirty="0" smtClean="0"/>
            </a:br>
            <a:r>
              <a:rPr lang="en-US" altLang="ko-KR" dirty="0" smtClean="0"/>
              <a:t>  &gt; </a:t>
            </a:r>
            <a:r>
              <a:rPr lang="ko-KR" altLang="en-US" dirty="0" smtClean="0"/>
              <a:t>보관함에 추가되지 않은 항목은 보관함 추가 버튼 표시</a:t>
            </a:r>
            <a:endParaRPr lang="en-US" altLang="ko-KR" dirty="0"/>
          </a:p>
          <a:p>
            <a:pPr marL="228600" indent="-228600">
              <a:buFont typeface="+mj-lt"/>
              <a:buAutoNum type="arabicPeriod"/>
            </a:pPr>
            <a:r>
              <a:rPr lang="ko-KR" altLang="en-US" dirty="0" smtClean="0"/>
              <a:t>항목 선택이 </a:t>
            </a:r>
            <a:r>
              <a:rPr lang="ko-KR" altLang="en-US" dirty="0"/>
              <a:t>발생한 경우 </a:t>
            </a:r>
            <a:r>
              <a:rPr lang="ko-KR" altLang="en-US" dirty="0" smtClean="0"/>
              <a:t>일괄 버튼 </a:t>
            </a:r>
            <a:r>
              <a:rPr lang="ko-KR" altLang="en-US" dirty="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보관함 품목 관리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공고입찰품목 중 보관함에 품목을 추가 및 삭제하는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보관함 품목 관리</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68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874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7362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227315"/>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5113316" y="422155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52605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22637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802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 name="그룹 4"/>
          <p:cNvGrpSpPr/>
          <p:nvPr/>
        </p:nvGrpSpPr>
        <p:grpSpPr>
          <a:xfrm>
            <a:off x="767702" y="2335569"/>
            <a:ext cx="2527420" cy="477995"/>
            <a:chOff x="767702" y="1905667"/>
            <a:chExt cx="2527420" cy="477995"/>
          </a:xfrm>
        </p:grpSpPr>
        <p:sp>
          <p:nvSpPr>
            <p:cNvPr id="179" name="모서리가 둥근 직사각형 178"/>
            <p:cNvSpPr/>
            <p:nvPr/>
          </p:nvSpPr>
          <p:spPr>
            <a:xfrm>
              <a:off x="767702" y="2117095"/>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52827"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71389" y="2196517"/>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77000" y="1909969"/>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07397" y="1905667"/>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39102"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883007" y="2221341"/>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710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94001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93595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93595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037781"/>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81461" y="3519494"/>
            <a:ext cx="2473257" cy="1329728"/>
            <a:chOff x="781461" y="3078038"/>
            <a:chExt cx="2473257" cy="1329728"/>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O</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81" name="모서리가 둥근 직사각형 80"/>
          <p:cNvSpPr/>
          <p:nvPr/>
        </p:nvSpPr>
        <p:spPr>
          <a:xfrm>
            <a:off x="792650" y="332589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선택</a:t>
            </a:r>
          </a:p>
        </p:txBody>
      </p:sp>
      <p:sp>
        <p:nvSpPr>
          <p:cNvPr id="84" name="사각형: 둥근 모서리 31">
            <a:extLst>
              <a:ext uri="{FF2B5EF4-FFF2-40B4-BE49-F238E27FC236}">
                <a16:creationId xmlns:a16="http://schemas.microsoft.com/office/drawing/2014/main" id="{2AC143EE-93CF-3518-F0CB-8469E98507E0}"/>
              </a:ext>
            </a:extLst>
          </p:cNvPr>
          <p:cNvSpPr/>
          <p:nvPr/>
        </p:nvSpPr>
        <p:spPr>
          <a:xfrm>
            <a:off x="808106" y="4943942"/>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삭제</a:t>
            </a:r>
            <a:endParaRPr kumimoji="1" lang="en-US" sz="800" b="0" i="0" u="none" strike="noStrike" kern="0" cap="none" spc="0" normalizeH="0" baseline="0" noProof="0" dirty="0">
              <a:ln>
                <a:noFill/>
              </a:ln>
              <a:effectLst/>
              <a:uLnTx/>
              <a:uFillTx/>
              <a:latin typeface="맑은 고딕"/>
            </a:endParaRPr>
          </a:p>
        </p:txBody>
      </p:sp>
      <p:sp>
        <p:nvSpPr>
          <p:cNvPr id="85" name="직사각형 8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p:cNvGrpSpPr/>
          <p:nvPr/>
        </p:nvGrpSpPr>
        <p:grpSpPr>
          <a:xfrm>
            <a:off x="3840825" y="1593447"/>
            <a:ext cx="2621844" cy="1934626"/>
            <a:chOff x="3879257" y="2145017"/>
            <a:chExt cx="2621844" cy="1934626"/>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3879257" y="40796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3940228" y="2338617"/>
              <a:ext cx="2473257" cy="1329728"/>
              <a:chOff x="781461" y="3078038"/>
              <a:chExt cx="2473257" cy="1329728"/>
            </a:xfrm>
          </p:grpSpPr>
          <p:sp>
            <p:nvSpPr>
              <p:cNvPr id="9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92"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93"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94" name="모서리가 둥근 직사각형 93"/>
            <p:cNvSpPr/>
            <p:nvPr/>
          </p:nvSpPr>
          <p:spPr>
            <a:xfrm>
              <a:off x="3951417" y="2145017"/>
              <a:ext cx="327945" cy="119400"/>
            </a:xfrm>
            <a:prstGeom prst="roundRect">
              <a:avLst>
                <a:gd name="adj" fmla="val 23409"/>
              </a:avLst>
            </a:prstGeom>
            <a:ln>
              <a:solidFill>
                <a:srgbClr val="0070C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rgbClr val="0070C0"/>
                  </a:solidFill>
                </a:rPr>
                <a:t>선택</a:t>
              </a:r>
            </a:p>
          </p:txBody>
        </p:sp>
        <p:sp>
          <p:nvSpPr>
            <p:cNvPr id="95" name="사각형: 둥근 모서리 31">
              <a:extLst>
                <a:ext uri="{FF2B5EF4-FFF2-40B4-BE49-F238E27FC236}">
                  <a16:creationId xmlns:a16="http://schemas.microsoft.com/office/drawing/2014/main" id="{2AC143EE-93CF-3518-F0CB-8469E98507E0}"/>
                </a:ext>
              </a:extLst>
            </p:cNvPr>
            <p:cNvSpPr/>
            <p:nvPr/>
          </p:nvSpPr>
          <p:spPr>
            <a:xfrm>
              <a:off x="3966873" y="3763065"/>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a:t>
              </a:r>
              <a:r>
                <a:rPr kumimoji="1" lang="ko-KR" altLang="en-US" sz="800" kern="0" dirty="0">
                  <a:latin typeface="맑은 고딕"/>
                  <a:ea typeface="맑은 고딕" panose="020B0503020000020004" pitchFamily="50" charset="-127"/>
                </a:rPr>
                <a:t>추가</a:t>
              </a:r>
              <a:endParaRPr kumimoji="1" lang="en-US" sz="800" b="0" i="0" u="none" strike="noStrike" kern="0" cap="none" spc="0" normalizeH="0" baseline="0" noProof="0" dirty="0">
                <a:ln>
                  <a:noFill/>
                </a:ln>
                <a:effectLst/>
                <a:uLnTx/>
                <a:uFillTx/>
                <a:latin typeface="맑은 고딕"/>
              </a:endParaRPr>
            </a:p>
          </p:txBody>
        </p:sp>
      </p:grpSp>
      <p:grpSp>
        <p:nvGrpSpPr>
          <p:cNvPr id="96" name="그룹 95"/>
          <p:cNvGrpSpPr/>
          <p:nvPr/>
        </p:nvGrpSpPr>
        <p:grpSpPr>
          <a:xfrm>
            <a:off x="3795734" y="5614711"/>
            <a:ext cx="2712027" cy="617588"/>
            <a:chOff x="675399" y="5614711"/>
            <a:chExt cx="2712027" cy="617588"/>
          </a:xfrm>
        </p:grpSpPr>
        <p:sp>
          <p:nvSpPr>
            <p:cNvPr id="97" name="직사각형 9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일괄 추가</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일괄 삭제</a:t>
              </a:r>
            </a:p>
          </p:txBody>
        </p:sp>
      </p:grpSp>
      <p:sp>
        <p:nvSpPr>
          <p:cNvPr id="135" name="타원 134">
            <a:extLst>
              <a:ext uri="{FF2B5EF4-FFF2-40B4-BE49-F238E27FC236}">
                <a16:creationId xmlns:a16="http://schemas.microsoft.com/office/drawing/2014/main" id="{37A7FF4F-0EAA-1463-560A-D5EC24416103}"/>
              </a:ext>
            </a:extLst>
          </p:cNvPr>
          <p:cNvSpPr/>
          <p:nvPr/>
        </p:nvSpPr>
        <p:spPr>
          <a:xfrm>
            <a:off x="3668695"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64" name="그룹 63"/>
          <p:cNvGrpSpPr/>
          <p:nvPr/>
        </p:nvGrpSpPr>
        <p:grpSpPr>
          <a:xfrm>
            <a:off x="677960" y="1582647"/>
            <a:ext cx="2714637" cy="686386"/>
            <a:chOff x="677960" y="1582647"/>
            <a:chExt cx="2714637" cy="686386"/>
          </a:xfrm>
        </p:grpSpPr>
        <p:sp>
          <p:nvSpPr>
            <p:cNvPr id="65" name="TextBox 64">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보관함 품목 관리</a:t>
              </a:r>
            </a:p>
          </p:txBody>
        </p:sp>
        <p:cxnSp>
          <p:nvCxnSpPr>
            <p:cNvPr id="66" name="직선 연결선 6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7" name="그룹 66"/>
            <p:cNvGrpSpPr/>
            <p:nvPr/>
          </p:nvGrpSpPr>
          <p:grpSpPr>
            <a:xfrm rot="5400000">
              <a:off x="852159" y="2062596"/>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8" name="그룹 67"/>
            <p:cNvGrpSpPr/>
            <p:nvPr/>
          </p:nvGrpSpPr>
          <p:grpSpPr>
            <a:xfrm>
              <a:off x="677960" y="1582647"/>
              <a:ext cx="2712027" cy="324286"/>
              <a:chOff x="677960" y="1582647"/>
              <a:chExt cx="2712027" cy="324286"/>
            </a:xfrm>
          </p:grpSpPr>
          <p:pic>
            <p:nvPicPr>
              <p:cNvPr id="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74" name="직선 연결선 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타원 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타원 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타원 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65796961"/>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t>홈 </a:t>
            </a:r>
            <a:r>
              <a:rPr lang="en-US" altLang="ko-KR" dirty="0"/>
              <a:t>&gt; </a:t>
            </a:r>
            <a:r>
              <a:rPr lang="ko-KR" altLang="en-US" dirty="0" err="1"/>
              <a:t>마이페이지</a:t>
            </a:r>
            <a:r>
              <a:rPr lang="ko-KR" altLang="en-US" dirty="0"/>
              <a:t> </a:t>
            </a:r>
            <a:r>
              <a:rPr lang="en-US" altLang="ko-KR" dirty="0"/>
              <a:t>&gt; </a:t>
            </a:r>
            <a:r>
              <a:rPr lang="ko-KR" altLang="en-US" dirty="0"/>
              <a:t>국외 보관함 </a:t>
            </a:r>
            <a:r>
              <a:rPr lang="en-US" altLang="ko-KR" dirty="0"/>
              <a:t>&gt; </a:t>
            </a:r>
            <a:r>
              <a:rPr lang="ko-KR" altLang="en-US" dirty="0"/>
              <a:t>보관함 품목 관리</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1077218"/>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err="1">
                <a:latin typeface="+mn-ea"/>
              </a:rPr>
              <a:t>보관함여부</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403867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보관</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4107141"/>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5" name="모서리가 둥근 직사각형 54"/>
          <p:cNvSpPr/>
          <p:nvPr/>
        </p:nvSpPr>
        <p:spPr>
          <a:xfrm>
            <a:off x="1449284" y="360203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56" name="모서리가 둥근 직사각형 55"/>
          <p:cNvSpPr/>
          <p:nvPr/>
        </p:nvSpPr>
        <p:spPr>
          <a:xfrm>
            <a:off x="1449284" y="381677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Tree>
    <p:extLst>
      <p:ext uri="{BB962C8B-B14F-4D97-AF65-F5344CB8AC3E}">
        <p14:creationId xmlns:p14="http://schemas.microsoft.com/office/powerpoint/2010/main" val="1892437415"/>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10495"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보관함품목 검색조건 </a:t>
            </a:r>
            <a:r>
              <a:rPr lang="en-US" altLang="ko-KR" sz="900" b="1">
                <a:solidFill>
                  <a:prstClr val="black"/>
                </a:solidFill>
              </a:rPr>
              <a:t>(dm_searchInfo)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구분코드 </a:t>
                      </a:r>
                      <a:r>
                        <a:rPr lang="en-US" altLang="ko-KR" sz="800">
                          <a:latin typeface="+mn-ea"/>
                          <a:ea typeface="+mn-ea"/>
                        </a:rPr>
                        <a:t>GTSB0001(</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a:solidFill>
                            <a:srgbClr val="000000"/>
                          </a:solidFill>
                          <a:effectLst/>
                          <a:latin typeface="+mn-ea"/>
                          <a:ea typeface="+mn-ea"/>
                        </a:rPr>
                        <a:t>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보관함에 추가된 품목인지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5868777"/>
                  </a:ext>
                </a:extLst>
              </a:tr>
            </a:tbl>
          </a:graphicData>
        </a:graphic>
      </p:graphicFrame>
      <p:sp>
        <p:nvSpPr>
          <p:cNvPr id="8" name="TextBox 7">
            <a:extLst>
              <a:ext uri="{FF2B5EF4-FFF2-40B4-BE49-F238E27FC236}">
                <a16:creationId xmlns:a16="http://schemas.microsoft.com/office/drawing/2014/main" id="{E5ED50AF-87A5-B4A3-77D6-79745A71255B}"/>
              </a:ext>
            </a:extLst>
          </p:cNvPr>
          <p:cNvSpPr txBox="1"/>
          <p:nvPr/>
        </p:nvSpPr>
        <p:spPr>
          <a:xfrm>
            <a:off x="452291" y="3018484"/>
            <a:ext cx="2474002" cy="211203"/>
          </a:xfrm>
          <a:prstGeom prst="rect">
            <a:avLst/>
          </a:prstGeom>
          <a:noFill/>
        </p:spPr>
        <p:txBody>
          <a:bodyPr wrap="none" lIns="36000" tIns="36000" rIns="36000" bIns="36000" rtlCol="0">
            <a:spAutoFit/>
          </a:bodyPr>
          <a:lstStyle/>
          <a:p>
            <a:r>
              <a:rPr lang="en-US" altLang="ko-KR" sz="900" b="1" dirty="0">
                <a:solidFill>
                  <a:prstClr val="black"/>
                </a:solidFill>
              </a:rPr>
              <a:t>1.2</a:t>
            </a:r>
            <a:r>
              <a:rPr lang="en-US" altLang="ko-KR" sz="900" b="1">
                <a:solidFill>
                  <a:prstClr val="black"/>
                </a:solidFill>
              </a:rPr>
              <a:t>. </a:t>
            </a:r>
            <a:r>
              <a:rPr lang="ko-KR" altLang="en-US" sz="900" b="1">
                <a:solidFill>
                  <a:prstClr val="black"/>
                </a:solidFill>
              </a:rPr>
              <a:t>입찰품목목록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839F3F3-16EE-51B4-D780-C1A0CE7FF48C}"/>
              </a:ext>
            </a:extLst>
          </p:cNvPr>
          <p:cNvGraphicFramePr>
            <a:graphicFrameLocks noGrp="1"/>
          </p:cNvGraphicFramePr>
          <p:nvPr/>
        </p:nvGraphicFramePr>
        <p:xfrm>
          <a:off x="447173" y="3229687"/>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0839463"/>
                  </a:ext>
                </a:extLst>
              </a:tr>
              <a:tr h="0">
                <a:tc>
                  <a:txBody>
                    <a:bodyPr/>
                    <a:lstStyle/>
                    <a:p>
                      <a:pPr algn="l" fontAlgn="ctr"/>
                      <a:r>
                        <a:rPr lang="ko-KR" altLang="en-US" sz="800" b="0" i="0" u="none" strike="noStrike">
                          <a:solidFill>
                            <a:srgbClr val="000000"/>
                          </a:solidFill>
                          <a:effectLst/>
                          <a:latin typeface="+mn-ea"/>
                          <a:ea typeface="+mn-ea"/>
                        </a:rPr>
                        <a:t>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809746"/>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8237886"/>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폼목의 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5746876"/>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068496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6290597"/>
                  </a:ext>
                </a:extLst>
              </a:tr>
              <a:tr h="0">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5491152"/>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7954286"/>
                  </a:ext>
                </a:extLst>
              </a:tr>
              <a:tr h="0">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지시단가의 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61819"/>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5913209"/>
                  </a:ext>
                </a:extLst>
              </a:tr>
              <a:tr h="0">
                <a:tc>
                  <a:txBody>
                    <a:bodyPr/>
                    <a:lstStyle/>
                    <a:p>
                      <a:pPr algn="l" fontAlgn="ctr"/>
                      <a:r>
                        <a:rPr lang="ko-KR" altLang="en-US" sz="800" b="0" i="0" u="none" strike="noStrike">
                          <a:solidFill>
                            <a:srgbClr val="000000"/>
                          </a:solidFill>
                          <a:effectLst/>
                          <a:latin typeface="+mn-ea"/>
                          <a:ea typeface="+mn-ea"/>
                        </a:rPr>
                        <a:t>입찰내역작성여부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 작성된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2591919"/>
                  </a:ext>
                </a:extLst>
              </a:tr>
            </a:tbl>
          </a:graphicData>
        </a:graphic>
      </p:graphicFrame>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72458411"/>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a:solidFill>
                  <a:prstClr val="black"/>
                </a:solidFill>
                <a:latin typeface="+mn-ea"/>
              </a:rPr>
              <a:t>2.</a:t>
            </a:r>
            <a:r>
              <a:rPr lang="ko-KR" altLang="en-US" sz="1000" b="1">
                <a:solidFill>
                  <a:prstClr val="black"/>
                </a:solidFill>
                <a:latin typeface="+mn-ea"/>
              </a:rPr>
              <a:t> 이벤트 설명</a:t>
            </a:r>
            <a:endParaRPr lang="ko-KR" altLang="en-US" sz="1000" b="1" dirty="0">
              <a:solidFill>
                <a:prstClr val="black"/>
              </a:solidFill>
              <a:latin typeface="+mn-ea"/>
            </a:endParaRPr>
          </a:p>
        </p:txBody>
      </p:sp>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a:t>
            </a:r>
            <a:r>
              <a:rPr lang="en-US" altLang="ko-KR" sz="700">
                <a:solidFill>
                  <a:prstClr val="black"/>
                </a:solidFill>
                <a:latin typeface="+mn-ea"/>
              </a:rPr>
              <a:t>) </a:t>
            </a:r>
            <a:r>
              <a:rPr lang="ko-KR" altLang="en-US" sz="700">
                <a:solidFill>
                  <a:prstClr val="black"/>
                </a:solidFill>
                <a:latin typeface="+mn-ea"/>
              </a:rPr>
              <a:t>상세설계 </a:t>
            </a:r>
            <a:r>
              <a:rPr lang="ko-KR" altLang="en-US" sz="700" dirty="0">
                <a:solidFill>
                  <a:prstClr val="black"/>
                </a:solidFill>
                <a:latin typeface="+mn-ea"/>
              </a:rPr>
              <a:t>기간에 작성 예정</a:t>
            </a:r>
            <a:endParaRPr lang="en-US" altLang="ko-KR" sz="700" dirty="0">
              <a:solidFill>
                <a:prstClr val="black"/>
              </a:solidFill>
              <a:latin typeface="+mn-ea"/>
            </a:endParaRPr>
          </a:p>
        </p:txBody>
      </p:sp>
      <p:graphicFrame>
        <p:nvGraphicFramePr>
          <p:cNvPr id="6" name="표 5">
            <a:extLst>
              <a:ext uri="{FF2B5EF4-FFF2-40B4-BE49-F238E27FC236}">
                <a16:creationId xmlns:a16="http://schemas.microsoft.com/office/drawing/2014/main" id="{88323539-5B01-5A98-0306-670ED46DA89A}"/>
              </a:ext>
            </a:extLst>
          </p:cNvPr>
          <p:cNvGraphicFramePr>
            <a:graphicFrameLocks noGrp="1"/>
          </p:cNvGraphicFramePr>
          <p:nvPr/>
        </p:nvGraphicFramePr>
        <p:xfrm>
          <a:off x="458117" y="799547"/>
          <a:ext cx="8995591" cy="96960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04593">
                <a:tc>
                  <a:txBody>
                    <a:bodyPr/>
                    <a:lstStyle/>
                    <a:p>
                      <a:pPr algn="l"/>
                      <a:r>
                        <a:rPr lang="ko-KR" altLang="en-US" sz="800"/>
                        <a:t>검색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검색조건의 입찰품목목록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입찰품목목록조회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algn="l"/>
                      <a:r>
                        <a:rPr lang="ko-KR" altLang="en-US" sz="800"/>
                        <a:t>보관함삭제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보관함추가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pPr algn="l" fontAlgn="ctr"/>
                      <a:r>
                        <a:rPr lang="ko-KR" altLang="en-US" sz="800" b="0" i="0" u="none" strike="noStrike">
                          <a:solidFill>
                            <a:srgbClr val="000000"/>
                          </a:solidFill>
                          <a:effectLst/>
                          <a:latin typeface="+mn-ea"/>
                          <a:ea typeface="+mn-ea"/>
                        </a:rPr>
                        <a:t>보관함추가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bl>
          </a:graphicData>
        </a:graphic>
      </p:graphicFrame>
    </p:spTree>
    <p:extLst>
      <p:ext uri="{BB962C8B-B14F-4D97-AF65-F5344CB8AC3E}">
        <p14:creationId xmlns:p14="http://schemas.microsoft.com/office/powerpoint/2010/main" val="2172878904"/>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a:t>
            </a:r>
            <a:r>
              <a:rPr lang="ko-KR" altLang="en-US" dirty="0" smtClean="0"/>
              <a:t>메뉴</a:t>
            </a:r>
            <a:r>
              <a:rPr lang="en-US" altLang="ko-KR" dirty="0" smtClean="0"/>
              <a:t/>
            </a:r>
            <a:br>
              <a:rPr lang="en-US" altLang="ko-KR" dirty="0" smtClean="0"/>
            </a:br>
            <a:r>
              <a:rPr lang="en-US" altLang="ko-KR" dirty="0" smtClean="0"/>
              <a:t>- </a:t>
            </a:r>
            <a:r>
              <a:rPr lang="ko-KR" altLang="en-US" dirty="0" err="1" smtClean="0"/>
              <a:t>입찰내역</a:t>
            </a:r>
            <a:r>
              <a:rPr lang="ko-KR" altLang="en-US" dirty="0" smtClean="0"/>
              <a:t> 탭은 입찰 공고 </a:t>
            </a:r>
            <a:r>
              <a:rPr lang="en-US" altLang="ko-KR" dirty="0" smtClean="0"/>
              <a:t>-</a:t>
            </a:r>
            <a:r>
              <a:rPr lang="ko-KR" altLang="en-US" dirty="0" smtClean="0"/>
              <a:t> </a:t>
            </a:r>
            <a:r>
              <a:rPr lang="ko-KR" altLang="en-US" dirty="0" err="1" smtClean="0"/>
              <a:t>단가제</a:t>
            </a:r>
            <a:r>
              <a:rPr lang="en-US" altLang="ko-KR" dirty="0" smtClean="0"/>
              <a:t>, </a:t>
            </a:r>
            <a:r>
              <a:rPr lang="ko-KR" altLang="en-US" dirty="0" err="1" smtClean="0"/>
              <a:t>총액제에</a:t>
            </a:r>
            <a:r>
              <a:rPr lang="ko-KR" altLang="en-US" dirty="0" smtClean="0"/>
              <a:t> 따라 분기되어 표시</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fontAlgn="ct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4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103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093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5998"/>
            <a:ext cx="769441"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77067" y="2900609"/>
            <a:ext cx="62837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4049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759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54275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542757"/>
            <a:ext cx="597592" cy="107722"/>
          </a:xfrm>
          <a:prstGeom prst="rect">
            <a:avLst/>
          </a:prstGeom>
          <a:noFill/>
        </p:spPr>
        <p:txBody>
          <a:bodyPr wrap="square" lIns="0" tIns="0" rIns="0" bIns="0" rtlCol="0">
            <a:spAutoFit/>
          </a:bodyPr>
          <a:lstStyle/>
          <a:p>
            <a:pPr algn="ctr"/>
            <a:r>
              <a:rPr lang="ko-KR" altLang="en-US" sz="700" dirty="0" err="1" smtClean="0">
                <a:latin typeface="+mn-ea"/>
              </a:rPr>
              <a:t>입찰내역</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75936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50463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51055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75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3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690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6907"/>
            <a:ext cx="620438" cy="107722"/>
          </a:xfrm>
          <a:prstGeom prst="rect">
            <a:avLst/>
          </a:prstGeom>
          <a:noFill/>
        </p:spPr>
        <p:txBody>
          <a:bodyPr wrap="square" lIns="0" tIns="0" rIns="0" bIns="0" rtlCol="0">
            <a:spAutoFit/>
          </a:bodyPr>
          <a:lstStyle/>
          <a:p>
            <a:pPr algn="ctr"/>
            <a:r>
              <a:rPr lang="ko-KR" altLang="en-US" sz="700" dirty="0" err="1">
                <a:latin typeface="+mn-ea"/>
              </a:rPr>
              <a:t>입찰내역</a:t>
            </a:r>
            <a:endParaRPr lang="ko-KR" altLang="en-US" sz="700" dirty="0">
              <a:latin typeface="+mn-ea"/>
            </a:endParaRP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351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598784"/>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566514" y="39588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220691" y="2396602"/>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777000" y="239660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nvGrpSpPr>
          <p:cNvPr id="208" name="그룹 207"/>
          <p:cNvGrpSpPr/>
          <p:nvPr/>
        </p:nvGrpSpPr>
        <p:grpSpPr>
          <a:xfrm>
            <a:off x="3795735" y="1982788"/>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8" name="그룹 127"/>
          <p:cNvGrpSpPr/>
          <p:nvPr/>
        </p:nvGrpSpPr>
        <p:grpSpPr>
          <a:xfrm>
            <a:off x="716366" y="3886709"/>
            <a:ext cx="2630093" cy="2454885"/>
            <a:chOff x="701175" y="1527996"/>
            <a:chExt cx="2630093" cy="2454885"/>
          </a:xfrm>
        </p:grpSpPr>
        <p:sp>
          <p:nvSpPr>
            <p:cNvPr id="129" name="TextBox 12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30" name="그룹 129"/>
            <p:cNvGrpSpPr/>
            <p:nvPr/>
          </p:nvGrpSpPr>
          <p:grpSpPr>
            <a:xfrm flipV="1">
              <a:off x="3124233" y="1641327"/>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1" name="직사각형 13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TextBox 13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34" name="그룹 133"/>
            <p:cNvGrpSpPr/>
            <p:nvPr/>
          </p:nvGrpSpPr>
          <p:grpSpPr>
            <a:xfrm>
              <a:off x="701175" y="1835481"/>
              <a:ext cx="2630093" cy="2147400"/>
              <a:chOff x="701175" y="1835481"/>
              <a:chExt cx="2630093" cy="214740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TextBox 13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02" name="그룹 101"/>
          <p:cNvGrpSpPr/>
          <p:nvPr/>
        </p:nvGrpSpPr>
        <p:grpSpPr>
          <a:xfrm>
            <a:off x="677960" y="1582647"/>
            <a:ext cx="2714637" cy="686386"/>
            <a:chOff x="677960" y="1582647"/>
            <a:chExt cx="2714637" cy="686386"/>
          </a:xfrm>
        </p:grpSpPr>
        <p:sp>
          <p:nvSpPr>
            <p:cNvPr id="103" name="TextBox 10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입찰내역</a:t>
              </a:r>
              <a:r>
                <a:rPr lang="ko-KR" altLang="en-US" sz="800" dirty="0">
                  <a:latin typeface="+mn-ea"/>
                </a:rPr>
                <a:t> 작성</a:t>
              </a: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6" name="그룹 105"/>
            <p:cNvGrpSpPr/>
            <p:nvPr/>
          </p:nvGrpSpPr>
          <p:grpSpPr>
            <a:xfrm rot="5400000">
              <a:off x="852159" y="2062596"/>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7" name="그룹 106"/>
            <p:cNvGrpSpPr/>
            <p:nvPr/>
          </p:nvGrpSpPr>
          <p:grpSpPr>
            <a:xfrm>
              <a:off x="677960" y="1582647"/>
              <a:ext cx="2712027" cy="324286"/>
              <a:chOff x="677960" y="1582647"/>
              <a:chExt cx="2712027" cy="324286"/>
            </a:xfrm>
          </p:grpSpPr>
          <p:pic>
            <p:nvPicPr>
              <p:cNvPr id="10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9" name="직선 연결선 10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타원 10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타원 11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타원 11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920774879"/>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16366" y="1527996"/>
            <a:ext cx="2630093" cy="2454885"/>
            <a:chOff x="701175" y="1527996"/>
            <a:chExt cx="2630093" cy="245488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675399" y="4073350"/>
            <a:ext cx="2712026" cy="931649"/>
            <a:chOff x="3795735" y="4583637"/>
            <a:chExt cx="2712026" cy="931649"/>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795735" y="458363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280292967"/>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직사각형 186"/>
          <p:cNvSpPr/>
          <p:nvPr/>
        </p:nvSpPr>
        <p:spPr>
          <a:xfrm>
            <a:off x="3820170" y="397487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4106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normAutofit/>
          </a:bodyPr>
          <a:lstStyle/>
          <a:p>
            <a:pPr>
              <a:buFont typeface="+mj-lt"/>
              <a:buAutoNum type="arabicPeriod"/>
            </a:pPr>
            <a:r>
              <a:rPr lang="ko-KR" altLang="en-US" dirty="0" err="1"/>
              <a:t>품목목록</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err="1" smtClean="0"/>
              <a:t>단가제</a:t>
            </a:r>
            <a:r>
              <a:rPr lang="ko-KR" altLang="en-US" dirty="0" smtClean="0"/>
              <a:t> 목록</a:t>
            </a:r>
            <a:endParaRPr lang="en-US" altLang="ko-KR" dirty="0" smtClean="0"/>
          </a:p>
          <a:p>
            <a:pPr>
              <a:buFont typeface="+mj-lt"/>
              <a:buAutoNum type="arabicPeriod"/>
            </a:pPr>
            <a:r>
              <a:rPr lang="ko-KR" altLang="en-US" dirty="0" err="1" smtClean="0"/>
              <a:t>입찰업체</a:t>
            </a:r>
            <a:r>
              <a:rPr lang="en-US" altLang="ko-KR" dirty="0" smtClean="0"/>
              <a:t>, </a:t>
            </a:r>
            <a:r>
              <a:rPr lang="ko-KR" altLang="en-US" dirty="0" smtClean="0"/>
              <a:t>화폐단위 일괄 적용</a:t>
            </a:r>
            <a:r>
              <a:rPr lang="en-US" altLang="ko-KR" dirty="0" smtClean="0"/>
              <a:t/>
            </a:r>
            <a:br>
              <a:rPr lang="en-US" altLang="ko-KR" dirty="0" smtClean="0"/>
            </a:br>
            <a:r>
              <a:rPr lang="en-US" altLang="ko-KR" dirty="0" smtClean="0"/>
              <a:t>- </a:t>
            </a:r>
            <a:r>
              <a:rPr lang="ko-KR" altLang="en-US" dirty="0" smtClean="0"/>
              <a:t>각 품목에 개별적으로 </a:t>
            </a:r>
            <a:r>
              <a:rPr lang="ko-KR" altLang="en-US" dirty="0" err="1" smtClean="0"/>
              <a:t>입찰업체</a:t>
            </a:r>
            <a:r>
              <a:rPr lang="en-US" altLang="ko-KR" dirty="0" smtClean="0"/>
              <a:t>, </a:t>
            </a:r>
            <a:r>
              <a:rPr lang="ko-KR" altLang="en-US" dirty="0" smtClean="0"/>
              <a:t>화폐단위를 설정할 수 있음</a:t>
            </a:r>
            <a:r>
              <a:rPr lang="en-US" altLang="ko-KR" dirty="0" smtClean="0"/>
              <a:t>. </a:t>
            </a:r>
            <a:br>
              <a:rPr lang="en-US" altLang="ko-KR" dirty="0" smtClean="0"/>
            </a:br>
            <a:r>
              <a:rPr lang="en-US" altLang="ko-KR" dirty="0" smtClean="0"/>
              <a:t>- </a:t>
            </a:r>
            <a:r>
              <a:rPr lang="ko-KR" altLang="en-US" dirty="0" smtClean="0"/>
              <a:t>개별 입력 시 항목이 많기 때문에 가장 상단 </a:t>
            </a:r>
            <a:r>
              <a:rPr lang="ko-KR" altLang="en-US" dirty="0" err="1" smtClean="0"/>
              <a:t>일괄적용</a:t>
            </a:r>
            <a:r>
              <a:rPr lang="ko-KR" altLang="en-US" dirty="0" smtClean="0"/>
              <a:t> 항목을 통해서 선택 정보를 </a:t>
            </a:r>
            <a:r>
              <a:rPr lang="ko-KR" altLang="en-US" dirty="0" err="1" smtClean="0"/>
              <a:t>항목선택한</a:t>
            </a:r>
            <a:r>
              <a:rPr lang="ko-KR" altLang="en-US" dirty="0" smtClean="0"/>
              <a:t> 목록 또는 전체에 일괄 적용함</a:t>
            </a:r>
            <a:r>
              <a:rPr lang="en-US" altLang="ko-KR" dirty="0" smtClean="0"/>
              <a:t>.</a:t>
            </a:r>
            <a:br>
              <a:rPr lang="en-US" altLang="ko-KR" dirty="0" smtClean="0"/>
            </a:br>
            <a:r>
              <a:rPr lang="en-US" altLang="ko-KR" dirty="0" smtClean="0"/>
              <a:t>  &gt; </a:t>
            </a:r>
            <a:r>
              <a:rPr lang="ko-KR" altLang="en-US" dirty="0" smtClean="0"/>
              <a:t>항목이 </a:t>
            </a:r>
            <a:r>
              <a:rPr lang="ko-KR" altLang="en-US" dirty="0" err="1" smtClean="0"/>
              <a:t>미선택된</a:t>
            </a:r>
            <a:r>
              <a:rPr lang="ko-KR" altLang="en-US" dirty="0" smtClean="0"/>
              <a:t> 상태에서 선택 적용</a:t>
            </a:r>
            <a:r>
              <a:rPr lang="en-US" altLang="ko-KR" dirty="0" smtClean="0"/>
              <a:t>, </a:t>
            </a:r>
            <a:r>
              <a:rPr lang="ko-KR" altLang="en-US" dirty="0" smtClean="0"/>
              <a:t>전체 적용 클릭 시 토스트 메시지 </a:t>
            </a:r>
            <a:r>
              <a:rPr lang="en-US" altLang="ko-KR" dirty="0" smtClean="0"/>
              <a:t>– </a:t>
            </a:r>
            <a:r>
              <a:rPr lang="ko-KR" altLang="en-US" dirty="0" smtClean="0"/>
              <a:t>선택된 항목이 없습니다</a:t>
            </a:r>
            <a:r>
              <a:rPr lang="en-US" altLang="ko-KR" dirty="0" smtClean="0"/>
              <a:t>.</a:t>
            </a:r>
          </a:p>
          <a:p>
            <a:pPr>
              <a:buFont typeface="+mj-lt"/>
              <a:buAutoNum type="arabicPeriod"/>
            </a:pPr>
            <a:r>
              <a:rPr lang="ko-KR" altLang="en-US" dirty="0" smtClean="0"/>
              <a:t>선택 버튼 </a:t>
            </a:r>
            <a:r>
              <a:rPr lang="en-US" altLang="ko-KR" dirty="0" smtClean="0"/>
              <a:t>(ON/OFF)</a:t>
            </a:r>
          </a:p>
          <a:p>
            <a:pPr>
              <a:buFont typeface="+mj-lt"/>
              <a:buAutoNum type="arabicPeriod"/>
            </a:pPr>
            <a:endParaRPr lang="en-US" altLang="ko-KR" dirty="0" smtClean="0"/>
          </a:p>
          <a:p>
            <a:pPr>
              <a:buFont typeface="+mj-lt"/>
              <a:buAutoNum type="arabicPeriod"/>
            </a:pPr>
            <a:r>
              <a:rPr lang="ko-KR" altLang="en-US" dirty="0" smtClean="0"/>
              <a:t>품목대체구분</a:t>
            </a:r>
            <a:r>
              <a:rPr lang="en-US" altLang="ko-KR" dirty="0" smtClean="0"/>
              <a:t>, </a:t>
            </a:r>
            <a:r>
              <a:rPr lang="ko-KR" altLang="en-US" dirty="0" smtClean="0"/>
              <a:t>수정재고번호</a:t>
            </a:r>
            <a:r>
              <a:rPr lang="en-US" altLang="ko-KR" dirty="0" smtClean="0"/>
              <a:t>, </a:t>
            </a:r>
            <a:r>
              <a:rPr lang="ko-KR" altLang="en-US" dirty="0" smtClean="0"/>
              <a:t>수정부품번호</a:t>
            </a:r>
            <a:r>
              <a:rPr lang="en-US" altLang="ko-KR" dirty="0" smtClean="0"/>
              <a:t/>
            </a:r>
            <a:br>
              <a:rPr lang="en-US" altLang="ko-KR" dirty="0" smtClean="0"/>
            </a:br>
            <a:r>
              <a:rPr lang="en-US" altLang="ko-KR" dirty="0" smtClean="0"/>
              <a:t>- </a:t>
            </a:r>
            <a:r>
              <a:rPr lang="ko-KR" altLang="en-US" dirty="0" smtClean="0"/>
              <a:t>개발 시 추가 확인 필요사항</a:t>
            </a:r>
            <a:r>
              <a:rPr lang="en-US" altLang="ko-KR" dirty="0" smtClean="0"/>
              <a:t>.</a:t>
            </a:r>
            <a:br>
              <a:rPr lang="en-US" altLang="ko-KR" dirty="0" smtClean="0"/>
            </a:br>
            <a:r>
              <a:rPr lang="en-US" altLang="ko-KR" dirty="0" smtClean="0"/>
              <a:t>  &gt; </a:t>
            </a:r>
            <a:r>
              <a:rPr lang="ko-KR" altLang="en-US" dirty="0" smtClean="0"/>
              <a:t>관리자만 수정 가능한 항목으로 보이는데</a:t>
            </a:r>
            <a:r>
              <a:rPr lang="en-US" altLang="ko-KR" dirty="0" smtClean="0"/>
              <a:t>, </a:t>
            </a:r>
            <a:r>
              <a:rPr lang="ko-KR" altLang="en-US" dirty="0" err="1" smtClean="0"/>
              <a:t>응용팀</a:t>
            </a:r>
            <a:r>
              <a:rPr lang="ko-KR" altLang="en-US" dirty="0" smtClean="0"/>
              <a:t> 설계에 별도 명시된 수정 가능 사용자 정의 없음</a:t>
            </a:r>
            <a:endParaRPr lang="en-US" altLang="ko-KR" dirty="0" smtClean="0"/>
          </a:p>
          <a:p>
            <a:pPr>
              <a:buFont typeface="+mj-lt"/>
              <a:buAutoNum type="arabicPeriod"/>
            </a:pPr>
            <a:endParaRPr lang="en-US" altLang="ko-KR" dirty="0" smtClean="0"/>
          </a:p>
          <a:p>
            <a:pPr>
              <a:buFont typeface="+mj-lt"/>
              <a:buAutoNum type="arabicPeriod"/>
            </a:pPr>
            <a:r>
              <a:rPr lang="en-US" altLang="ko-KR" dirty="0" smtClean="0"/>
              <a:t>MOQ </a:t>
            </a:r>
            <a:r>
              <a:rPr lang="ko-KR" altLang="en-US" dirty="0" smtClean="0"/>
              <a:t>최소주문수량</a:t>
            </a:r>
            <a:r>
              <a:rPr lang="en-US" altLang="ko-KR" dirty="0" smtClean="0"/>
              <a:t/>
            </a:r>
            <a:br>
              <a:rPr lang="en-US" altLang="ko-KR" dirty="0" smtClean="0"/>
            </a:br>
            <a:r>
              <a:rPr lang="en-US" altLang="ko-KR" dirty="0" smtClean="0"/>
              <a:t>- Y </a:t>
            </a:r>
            <a:r>
              <a:rPr lang="ko-KR" altLang="en-US" dirty="0" err="1" smtClean="0"/>
              <a:t>인경우</a:t>
            </a:r>
            <a:r>
              <a:rPr lang="ko-KR" altLang="en-US" dirty="0" smtClean="0"/>
              <a:t> 수량 입력 가능</a:t>
            </a:r>
            <a:r>
              <a:rPr lang="en-US" altLang="ko-KR" dirty="0" smtClean="0"/>
              <a:t>, </a:t>
            </a:r>
            <a:r>
              <a:rPr lang="ko-KR" altLang="en-US" dirty="0" err="1" smtClean="0"/>
              <a:t>첨부문서</a:t>
            </a:r>
            <a:r>
              <a:rPr lang="ko-KR" altLang="en-US" dirty="0" smtClean="0"/>
              <a:t> 업로드 가능</a:t>
            </a:r>
            <a:endParaRPr lang="en-US" altLang="ko-KR" dirty="0" smtClean="0"/>
          </a:p>
          <a:p>
            <a:pPr>
              <a:buFont typeface="+mj-lt"/>
              <a:buAutoNum type="arabicPeriod"/>
            </a:pPr>
            <a:endParaRPr lang="en-US" altLang="ko-KR" dirty="0" smtClean="0"/>
          </a:p>
          <a:p>
            <a:pPr>
              <a:buFont typeface="+mj-lt"/>
              <a:buAutoNum type="arabicPeriod"/>
            </a:pPr>
            <a:r>
              <a:rPr lang="ko-KR" altLang="en-US" dirty="0" err="1" smtClean="0"/>
              <a:t>입찰업체</a:t>
            </a:r>
            <a:r>
              <a:rPr lang="en-US" altLang="ko-KR" dirty="0" smtClean="0"/>
              <a:t>, </a:t>
            </a:r>
            <a:r>
              <a:rPr lang="ko-KR" altLang="en-US" dirty="0" smtClean="0"/>
              <a:t>화폐단위 입력</a:t>
            </a:r>
            <a:endParaRPr lang="en-US" altLang="ko-KR" dirty="0" smtClean="0"/>
          </a:p>
          <a:p>
            <a:pPr>
              <a:buFont typeface="+mj-lt"/>
              <a:buAutoNum type="arabicPeriod"/>
            </a:pPr>
            <a:endParaRPr lang="en-US" altLang="ko-KR" dirty="0"/>
          </a:p>
          <a:p>
            <a:pPr>
              <a:buFont typeface="+mj-lt"/>
              <a:buAutoNum type="arabicPeriod"/>
            </a:pPr>
            <a:r>
              <a:rPr lang="ko-KR" altLang="en-US" dirty="0" smtClean="0"/>
              <a:t>최초 목록 표시 시점에 내역 닫힘 상태</a:t>
            </a:r>
            <a:r>
              <a:rPr lang="en-US" altLang="ko-KR" dirty="0" smtClean="0"/>
              <a:t/>
            </a:r>
            <a:br>
              <a:rPr lang="en-US" altLang="ko-KR" dirty="0" smtClean="0"/>
            </a:br>
            <a:r>
              <a:rPr lang="en-US" altLang="ko-KR" dirty="0" smtClean="0"/>
              <a:t>- </a:t>
            </a:r>
            <a:r>
              <a:rPr lang="ko-KR" altLang="en-US" dirty="0" smtClean="0"/>
              <a:t>클릭으로 내역 확장 표시</a:t>
            </a:r>
            <a:endParaRPr lang="en-US" altLang="ko-KR" dirty="0" smtClean="0"/>
          </a:p>
          <a:p>
            <a:pPr>
              <a:buFont typeface="+mj-lt"/>
              <a:buAutoNum type="arabicPeriod"/>
            </a:pPr>
            <a:endParaRPr lang="en-US" altLang="ko-KR" dirty="0"/>
          </a:p>
          <a:p>
            <a:pPr>
              <a:buFont typeface="+mj-lt"/>
              <a:buAutoNum type="arabicPeriod"/>
            </a:pPr>
            <a:r>
              <a:rPr lang="ko-KR" altLang="en-US" dirty="0" err="1" smtClean="0"/>
              <a:t>입찰내역</a:t>
            </a:r>
            <a:r>
              <a:rPr lang="ko-KR" altLang="en-US" dirty="0" smtClean="0"/>
              <a:t> 삭제 </a:t>
            </a:r>
            <a:r>
              <a:rPr lang="en-US" altLang="ko-KR" dirty="0" smtClean="0"/>
              <a:t>– </a:t>
            </a:r>
            <a:r>
              <a:rPr lang="ko-KR" altLang="en-US" dirty="0" smtClean="0"/>
              <a:t>확인 팝업 이후 삭제</a:t>
            </a:r>
            <a:r>
              <a:rPr lang="en-US" altLang="ko-KR" dirty="0" smtClean="0"/>
              <a:t/>
            </a:r>
            <a:br>
              <a:rPr lang="en-US" altLang="ko-KR" dirty="0" smtClean="0"/>
            </a:br>
            <a:r>
              <a:rPr lang="ko-KR" altLang="en-US" dirty="0" smtClean="0"/>
              <a:t>입찰 내역 저장 </a:t>
            </a:r>
            <a:r>
              <a:rPr lang="en-US" altLang="ko-KR" dirty="0" smtClean="0"/>
              <a:t>– </a:t>
            </a:r>
            <a:r>
              <a:rPr lang="ko-KR" altLang="en-US" dirty="0" smtClean="0"/>
              <a:t>토스트 메시지 </a:t>
            </a:r>
            <a:r>
              <a:rPr lang="en-US" altLang="ko-KR" dirty="0" smtClean="0"/>
              <a:t>: </a:t>
            </a:r>
            <a:r>
              <a:rPr lang="ko-KR" altLang="en-US" dirty="0" smtClean="0"/>
              <a:t>저장되었습니다</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단가제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MUI-BD-01-M77</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795014"/>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102500"/>
            <a:ext cx="792000" cy="3129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102499"/>
            <a:ext cx="725552" cy="301621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p:txBody>
      </p:sp>
      <p:grpSp>
        <p:nvGrpSpPr>
          <p:cNvPr id="17" name="그룹 16"/>
          <p:cNvGrpSpPr/>
          <p:nvPr/>
        </p:nvGrpSpPr>
        <p:grpSpPr>
          <a:xfrm>
            <a:off x="701175" y="3102499"/>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505866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6"/>
            <a:ext cx="2630093" cy="2417558"/>
            <a:chOff x="701175" y="1800646"/>
            <a:chExt cx="2630093" cy="2417558"/>
          </a:xfrm>
        </p:grpSpPr>
        <p:sp>
          <p:nvSpPr>
            <p:cNvPr id="122" name="직사각형 121"/>
            <p:cNvSpPr/>
            <p:nvPr/>
          </p:nvSpPr>
          <p:spPr>
            <a:xfrm>
              <a:off x="703268" y="1800646"/>
              <a:ext cx="792000" cy="21892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2382723"/>
              <a:chOff x="701175" y="1835481"/>
              <a:chExt cx="2630093" cy="2382723"/>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7006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915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3135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3339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35700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3790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3993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42182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102499"/>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latin typeface="+mn-ea"/>
              </a:rPr>
              <a:t>O</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O</a:t>
            </a:r>
          </a:p>
        </p:txBody>
      </p:sp>
      <p:sp>
        <p:nvSpPr>
          <p:cNvPr id="61" name="사각형: 둥근 모서리 15">
            <a:extLst>
              <a:ext uri="{FF2B5EF4-FFF2-40B4-BE49-F238E27FC236}">
                <a16:creationId xmlns:a16="http://schemas.microsoft.com/office/drawing/2014/main" id="{E2B61CFB-AD16-68D0-8752-50D9C5E01971}"/>
              </a:ext>
            </a:extLst>
          </p:cNvPr>
          <p:cNvSpPr/>
          <p:nvPr/>
        </p:nvSpPr>
        <p:spPr>
          <a:xfrm>
            <a:off x="1561065" y="46335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Replace</a:t>
            </a:r>
            <a:endParaRPr kumimoji="1" lang="en-US" sz="700" b="0" i="0" u="none" strike="noStrike" kern="0" cap="none" spc="0" normalizeH="0" baseline="0" noProof="0" dirty="0">
              <a:ln>
                <a:noFill/>
              </a:ln>
              <a:effectLst/>
              <a:uLnTx/>
              <a:uFillTx/>
              <a:latin typeface="맑은 고딕"/>
            </a:endParaRPr>
          </a:p>
        </p:txBody>
      </p:sp>
      <p:grpSp>
        <p:nvGrpSpPr>
          <p:cNvPr id="64" name="그룹 63"/>
          <p:cNvGrpSpPr/>
          <p:nvPr/>
        </p:nvGrpSpPr>
        <p:grpSpPr>
          <a:xfrm>
            <a:off x="3124233" y="469107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7" name="사각형: 둥근 모서리 15">
            <a:extLst>
              <a:ext uri="{FF2B5EF4-FFF2-40B4-BE49-F238E27FC236}">
                <a16:creationId xmlns:a16="http://schemas.microsoft.com/office/drawing/2014/main" id="{E2B61CFB-AD16-68D0-8752-50D9C5E01971}"/>
              </a:ext>
            </a:extLst>
          </p:cNvPr>
          <p:cNvSpPr/>
          <p:nvPr/>
        </p:nvSpPr>
        <p:spPr>
          <a:xfrm>
            <a:off x="2836921" y="4845557"/>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1561065" y="50655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1561065" y="52787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1561065" y="54874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Y</a:t>
            </a:r>
            <a:endParaRPr kumimoji="1" lang="en-US" sz="700" b="0" i="0" u="none" strike="noStrike" kern="0" cap="none" spc="0" normalizeH="0" baseline="0" noProof="0" dirty="0">
              <a:ln>
                <a:noFill/>
              </a:ln>
              <a:effectLst/>
              <a:uLnTx/>
              <a:uFillTx/>
              <a:latin typeface="맑은 고딕"/>
            </a:endParaRPr>
          </a:p>
        </p:txBody>
      </p:sp>
      <p:grpSp>
        <p:nvGrpSpPr>
          <p:cNvPr id="74" name="그룹 73"/>
          <p:cNvGrpSpPr/>
          <p:nvPr/>
        </p:nvGrpSpPr>
        <p:grpSpPr>
          <a:xfrm>
            <a:off x="3124233" y="5544975"/>
            <a:ext cx="94010" cy="47005"/>
            <a:chOff x="6812560" y="3297172"/>
            <a:chExt cx="94010" cy="47005"/>
          </a:xfrm>
        </p:grpSpPr>
        <p:cxnSp>
          <p:nvCxnSpPr>
            <p:cNvPr id="75" name="직선 연결선 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6" name="직선 연결선 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9" name="사각형: 둥근 모서리 15">
            <a:extLst>
              <a:ext uri="{FF2B5EF4-FFF2-40B4-BE49-F238E27FC236}">
                <a16:creationId xmlns:a16="http://schemas.microsoft.com/office/drawing/2014/main" id="{E2B61CFB-AD16-68D0-8752-50D9C5E01971}"/>
              </a:ext>
            </a:extLst>
          </p:cNvPr>
          <p:cNvSpPr/>
          <p:nvPr/>
        </p:nvSpPr>
        <p:spPr>
          <a:xfrm>
            <a:off x="2836921" y="592212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1561065" y="570364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4659266" y="24240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87" name="그룹 86"/>
          <p:cNvGrpSpPr/>
          <p:nvPr/>
        </p:nvGrpSpPr>
        <p:grpSpPr>
          <a:xfrm>
            <a:off x="6222434" y="2481549"/>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사각형: 둥근 모서리 15">
            <a:extLst>
              <a:ext uri="{FF2B5EF4-FFF2-40B4-BE49-F238E27FC236}">
                <a16:creationId xmlns:a16="http://schemas.microsoft.com/office/drawing/2014/main" id="{E2B61CFB-AD16-68D0-8752-50D9C5E01971}"/>
              </a:ext>
            </a:extLst>
          </p:cNvPr>
          <p:cNvSpPr/>
          <p:nvPr/>
        </p:nvSpPr>
        <p:spPr>
          <a:xfrm>
            <a:off x="4659266" y="263242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4663578" y="306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a:ln>
                  <a:noFill/>
                </a:ln>
                <a:effectLst/>
                <a:uLnTx/>
                <a:uFillTx/>
                <a:latin typeface="맑은 고딕"/>
              </a:rPr>
              <a:t>USD</a:t>
            </a:r>
          </a:p>
        </p:txBody>
      </p:sp>
      <p:grpSp>
        <p:nvGrpSpPr>
          <p:cNvPr id="92" name="그룹 91"/>
          <p:cNvGrpSpPr/>
          <p:nvPr/>
        </p:nvGrpSpPr>
        <p:grpSpPr>
          <a:xfrm>
            <a:off x="6226746" y="3126682"/>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dirty="0">
                <a:latin typeface="+mn-ea"/>
              </a:rPr>
              <a:t> </a:t>
            </a:r>
            <a:r>
              <a:rPr lang="ko-KR" altLang="en-US" sz="700" dirty="0" err="1">
                <a:latin typeface="+mn-ea"/>
              </a:rPr>
              <a:t>일괄적용</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27532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67702" y="2343435"/>
            <a:ext cx="2527420" cy="220756"/>
            <a:chOff x="730855" y="2304671"/>
            <a:chExt cx="2527420" cy="223884"/>
          </a:xfrm>
        </p:grpSpPr>
        <p:sp>
          <p:nvSpPr>
            <p:cNvPr id="136" name="사각형: 둥근 모서리 15">
              <a:extLst>
                <a:ext uri="{FF2B5EF4-FFF2-40B4-BE49-F238E27FC236}">
                  <a16:creationId xmlns:a16="http://schemas.microsoft.com/office/drawing/2014/main" id="{E2B61CFB-AD16-68D0-8752-50D9C5E01971}"/>
                </a:ext>
              </a:extLst>
            </p:cNvPr>
            <p:cNvSpPr/>
            <p:nvPr/>
          </p:nvSpPr>
          <p:spPr>
            <a:xfrm>
              <a:off x="2032998" y="2304671"/>
              <a:ext cx="1225277" cy="223884"/>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전체 적용</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730855" y="2304671"/>
              <a:ext cx="1225279" cy="22388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선택 적용</a:t>
              </a:r>
              <a:endParaRPr kumimoji="1" lang="en-US" sz="700" b="0" i="0" u="none" strike="noStrike" kern="0" cap="none" spc="0" normalizeH="0" baseline="0" noProof="0" dirty="0">
                <a:ln>
                  <a:noFill/>
                </a:ln>
                <a:effectLst/>
                <a:uLnTx/>
                <a:uFillTx/>
                <a:latin typeface="맑은 고딕"/>
              </a:endParaRPr>
            </a:p>
          </p:txBody>
        </p:sp>
      </p:grpSp>
      <p:sp>
        <p:nvSpPr>
          <p:cNvPr id="141" name="사각형: 둥근 모서리 15">
            <a:extLst>
              <a:ext uri="{FF2B5EF4-FFF2-40B4-BE49-F238E27FC236}">
                <a16:creationId xmlns:a16="http://schemas.microsoft.com/office/drawing/2014/main" id="{E2B61CFB-AD16-68D0-8752-50D9C5E01971}"/>
              </a:ext>
            </a:extLst>
          </p:cNvPr>
          <p:cNvSpPr/>
          <p:nvPr/>
        </p:nvSpPr>
        <p:spPr>
          <a:xfrm>
            <a:off x="2836921" y="3132738"/>
            <a:ext cx="494347" cy="16200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err="1">
                <a:solidFill>
                  <a:schemeClr val="bg1"/>
                </a:solidFill>
                <a:latin typeface="맑은 고딕"/>
                <a:ea typeface="맑은 고딕" panose="020B0503020000020004" pitchFamily="50" charset="-127"/>
              </a:rPr>
              <a:t>항목선택</a:t>
            </a:r>
            <a:endParaRPr kumimoji="1" lang="en-US" sz="700" kern="0" dirty="0">
              <a:solidFill>
                <a:schemeClr val="bg1"/>
              </a:solidFill>
              <a:latin typeface="맑은 고딕"/>
              <a:ea typeface="맑은 고딕" panose="020B0503020000020004" pitchFamily="50" charset="-127"/>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3910666" y="3974873"/>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43" name="그룹 142"/>
          <p:cNvGrpSpPr/>
          <p:nvPr/>
        </p:nvGrpSpPr>
        <p:grpSpPr>
          <a:xfrm>
            <a:off x="3821510" y="3974873"/>
            <a:ext cx="2630093" cy="1075182"/>
            <a:chOff x="701175" y="1835481"/>
            <a:chExt cx="2630093" cy="1075182"/>
          </a:xfrm>
        </p:grpSpPr>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FFC49AEA-2A8F-250C-A86A-A7751D9706C3}"/>
              </a:ext>
            </a:extLst>
          </p:cNvPr>
          <p:cNvSpPr txBox="1"/>
          <p:nvPr/>
        </p:nvSpPr>
        <p:spPr>
          <a:xfrm>
            <a:off x="4667515" y="397487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5957256" y="400511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933132" y="486037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89" name="사각형: 둥근 모서리 15">
            <a:extLst>
              <a:ext uri="{FF2B5EF4-FFF2-40B4-BE49-F238E27FC236}">
                <a16:creationId xmlns:a16="http://schemas.microsoft.com/office/drawing/2014/main" id="{E2B61CFB-AD16-68D0-8752-50D9C5E01971}"/>
              </a:ext>
            </a:extLst>
          </p:cNvPr>
          <p:cNvSpPr/>
          <p:nvPr/>
        </p:nvSpPr>
        <p:spPr>
          <a:xfrm>
            <a:off x="3933132" y="3720010"/>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3825376"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3795734"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
        <p:nvSpPr>
          <p:cNvPr id="116" name="타원 115">
            <a:extLst>
              <a:ext uri="{FF2B5EF4-FFF2-40B4-BE49-F238E27FC236}">
                <a16:creationId xmlns:a16="http://schemas.microsoft.com/office/drawing/2014/main" id="{37A7FF4F-0EAA-1463-560A-D5EC24416103}"/>
              </a:ext>
            </a:extLst>
          </p:cNvPr>
          <p:cNvSpPr/>
          <p:nvPr/>
        </p:nvSpPr>
        <p:spPr>
          <a:xfrm>
            <a:off x="571127" y="19427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8" name="타원 137">
            <a:extLst>
              <a:ext uri="{FF2B5EF4-FFF2-40B4-BE49-F238E27FC236}">
                <a16:creationId xmlns:a16="http://schemas.microsoft.com/office/drawing/2014/main" id="{37A7FF4F-0EAA-1463-560A-D5EC24416103}"/>
              </a:ext>
            </a:extLst>
          </p:cNvPr>
          <p:cNvSpPr/>
          <p:nvPr/>
        </p:nvSpPr>
        <p:spPr>
          <a:xfrm>
            <a:off x="571127" y="310038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49" name="타원 148">
            <a:extLst>
              <a:ext uri="{FF2B5EF4-FFF2-40B4-BE49-F238E27FC236}">
                <a16:creationId xmlns:a16="http://schemas.microsoft.com/office/drawing/2014/main" id="{37A7FF4F-0EAA-1463-560A-D5EC24416103}"/>
              </a:ext>
            </a:extLst>
          </p:cNvPr>
          <p:cNvSpPr/>
          <p:nvPr/>
        </p:nvSpPr>
        <p:spPr>
          <a:xfrm>
            <a:off x="571127" y="46335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52" name="타원 151">
            <a:extLst>
              <a:ext uri="{FF2B5EF4-FFF2-40B4-BE49-F238E27FC236}">
                <a16:creationId xmlns:a16="http://schemas.microsoft.com/office/drawing/2014/main" id="{37A7FF4F-0EAA-1463-560A-D5EC24416103}"/>
              </a:ext>
            </a:extLst>
          </p:cNvPr>
          <p:cNvSpPr/>
          <p:nvPr/>
        </p:nvSpPr>
        <p:spPr>
          <a:xfrm>
            <a:off x="3697732" y="240442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1127" y="56024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57" name="타원 156">
            <a:extLst>
              <a:ext uri="{FF2B5EF4-FFF2-40B4-BE49-F238E27FC236}">
                <a16:creationId xmlns:a16="http://schemas.microsoft.com/office/drawing/2014/main" id="{37A7FF4F-0EAA-1463-560A-D5EC24416103}"/>
              </a:ext>
            </a:extLst>
          </p:cNvPr>
          <p:cNvSpPr/>
          <p:nvPr/>
        </p:nvSpPr>
        <p:spPr>
          <a:xfrm>
            <a:off x="3697732" y="37072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
        <p:nvSpPr>
          <p:cNvPr id="158" name="타원 157">
            <a:extLst>
              <a:ext uri="{FF2B5EF4-FFF2-40B4-BE49-F238E27FC236}">
                <a16:creationId xmlns:a16="http://schemas.microsoft.com/office/drawing/2014/main" id="{37A7FF4F-0EAA-1463-560A-D5EC24416103}"/>
              </a:ext>
            </a:extLst>
          </p:cNvPr>
          <p:cNvSpPr/>
          <p:nvPr/>
        </p:nvSpPr>
        <p:spPr>
          <a:xfrm>
            <a:off x="3697732" y="580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8</a:t>
            </a:r>
            <a:endParaRPr lang="ko-KR" altLang="en-US" sz="900" b="1" dirty="0"/>
          </a:p>
        </p:txBody>
      </p:sp>
    </p:spTree>
    <p:extLst>
      <p:ext uri="{BB962C8B-B14F-4D97-AF65-F5344CB8AC3E}">
        <p14:creationId xmlns:p14="http://schemas.microsoft.com/office/powerpoint/2010/main" val="1734943477"/>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smtClean="0"/>
          </a:p>
          <a:p>
            <a:pPr>
              <a:buFont typeface="+mj-lt"/>
              <a:buAutoNum type="arabicPeriod"/>
            </a:pPr>
            <a:r>
              <a:rPr lang="ko-KR" altLang="en-US" dirty="0" err="1" smtClean="0"/>
              <a:t>총액제는</a:t>
            </a:r>
            <a:r>
              <a:rPr lang="ko-KR" altLang="en-US" dirty="0" smtClean="0"/>
              <a:t> </a:t>
            </a:r>
            <a:r>
              <a:rPr lang="ko-KR" altLang="en-US" dirty="0" err="1" smtClean="0"/>
              <a:t>입찰업체</a:t>
            </a:r>
            <a:r>
              <a:rPr lang="en-US" altLang="ko-KR" dirty="0" smtClean="0"/>
              <a:t>, </a:t>
            </a:r>
            <a:r>
              <a:rPr lang="ko-KR" altLang="en-US" dirty="0" smtClean="0"/>
              <a:t>화폐단위</a:t>
            </a:r>
            <a:r>
              <a:rPr lang="en-US" altLang="ko-KR" dirty="0" smtClean="0"/>
              <a:t>, </a:t>
            </a:r>
            <a:r>
              <a:rPr lang="ko-KR" altLang="en-US" dirty="0" smtClean="0"/>
              <a:t>입찰금액을 입력</a:t>
            </a:r>
            <a:endParaRPr lang="en-US" altLang="ko-KR" dirty="0"/>
          </a:p>
          <a:p>
            <a:pPr>
              <a:buFont typeface="+mj-lt"/>
              <a:buAutoNum type="arabicPeriod"/>
            </a:pPr>
            <a:r>
              <a:rPr lang="ko-KR" altLang="en-US" dirty="0" smtClean="0"/>
              <a:t>입찰 품목 목록 표시</a:t>
            </a:r>
            <a:endParaRPr lang="en-US" altLang="ko-KR" dirty="0" smtClean="0"/>
          </a:p>
          <a:p>
            <a:pPr>
              <a:buFont typeface="+mj-lt"/>
              <a:buAutoNum type="arabicPeriod"/>
            </a:pPr>
            <a:r>
              <a:rPr lang="ko-KR" altLang="en-US" dirty="0" err="1" smtClean="0"/>
              <a:t>총액제</a:t>
            </a:r>
            <a:r>
              <a:rPr lang="ko-KR" altLang="en-US" dirty="0" smtClean="0"/>
              <a:t> 일괄 버튼은 항시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총액제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총액제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MUI-BD-01-M78</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21559"/>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42904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429044"/>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7" name="그룹 16"/>
          <p:cNvGrpSpPr/>
          <p:nvPr/>
        </p:nvGrpSpPr>
        <p:grpSpPr>
          <a:xfrm>
            <a:off x="701175" y="3429044"/>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1992981" y="4956336"/>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42904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3079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USD</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720490" y="24632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20490" y="26693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20490" y="28868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사각형: 둥근 모서리 15">
            <a:extLst>
              <a:ext uri="{FF2B5EF4-FFF2-40B4-BE49-F238E27FC236}">
                <a16:creationId xmlns:a16="http://schemas.microsoft.com/office/drawing/2014/main" id="{E2B61CFB-AD16-68D0-8752-50D9C5E01971}"/>
              </a:ext>
            </a:extLst>
          </p:cNvPr>
          <p:cNvSpPr/>
          <p:nvPr/>
        </p:nvSpPr>
        <p:spPr>
          <a:xfrm>
            <a:off x="1561065" y="226522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547180" y="2431360"/>
            <a:ext cx="1784088" cy="396583"/>
          </a:xfrm>
          <a:prstGeom prst="rect">
            <a:avLst/>
          </a:prstGeom>
          <a:noFill/>
        </p:spPr>
        <p:txBody>
          <a:bodyPr wrap="square" lIns="0" tIns="0" rIns="0" bIns="0" rtlCol="0">
            <a:spAutoFit/>
          </a:bodyPr>
          <a:lstStyle/>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05041"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675399"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
        <p:nvSpPr>
          <p:cNvPr id="55" name="타원 54">
            <a:extLst>
              <a:ext uri="{FF2B5EF4-FFF2-40B4-BE49-F238E27FC236}">
                <a16:creationId xmlns:a16="http://schemas.microsoft.com/office/drawing/2014/main" id="{37A7FF4F-0EAA-1463-560A-D5EC24416103}"/>
              </a:ext>
            </a:extLst>
          </p:cNvPr>
          <p:cNvSpPr/>
          <p:nvPr/>
        </p:nvSpPr>
        <p:spPr>
          <a:xfrm>
            <a:off x="571127" y="1942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314372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1" name="타원 60">
            <a:extLst>
              <a:ext uri="{FF2B5EF4-FFF2-40B4-BE49-F238E27FC236}">
                <a16:creationId xmlns:a16="http://schemas.microsoft.com/office/drawing/2014/main" id="{37A7FF4F-0EAA-1463-560A-D5EC24416103}"/>
              </a:ext>
            </a:extLst>
          </p:cNvPr>
          <p:cNvSpPr/>
          <p:nvPr/>
        </p:nvSpPr>
        <p:spPr>
          <a:xfrm>
            <a:off x="571127" y="58036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4288753622"/>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a:solidFill>
                            <a:srgbClr val="000000"/>
                          </a:solidFill>
                          <a:effectLst/>
                          <a:latin typeface="+mn-ea"/>
                          <a:ea typeface="+mn-ea"/>
                        </a:rPr>
                        <a:t>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D5EA5C09-12B5-B078-3C9A-7C9DFD9C4D01}"/>
              </a:ext>
            </a:extLst>
          </p:cNvPr>
          <p:cNvSpPr txBox="1"/>
          <p:nvPr/>
        </p:nvSpPr>
        <p:spPr>
          <a:xfrm>
            <a:off x="458117" y="4726698"/>
            <a:ext cx="2586212"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입찰내역일괄적용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(dl_fwkInfo)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A6DE14E-3F2D-C3AF-BE80-02E00C38DB2C}"/>
              </a:ext>
            </a:extLst>
          </p:cNvPr>
          <p:cNvGraphicFramePr>
            <a:graphicFrameLocks noGrp="1"/>
          </p:cNvGraphicFramePr>
          <p:nvPr/>
        </p:nvGraphicFramePr>
        <p:xfrm>
          <a:off x="452999" y="493790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bl>
          </a:graphicData>
        </a:graphic>
      </p:graphicFrame>
    </p:spTree>
    <p:extLst>
      <p:ext uri="{BB962C8B-B14F-4D97-AF65-F5344CB8AC3E}">
        <p14:creationId xmlns:p14="http://schemas.microsoft.com/office/powerpoint/2010/main" val="1565665308"/>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87154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26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입찰단가의 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8185639"/>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33157235"/>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(3/3)</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267B3668-0026-4623-457A-028378931DF7}"/>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D01AC2E-06FD-EA6C-DF65-3E217C5B5B7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852616012"/>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324</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extLst/>
          </p:nvPr>
        </p:nvGraphicFramePr>
        <p:xfrm>
          <a:off x="458117" y="799547"/>
          <a:ext cx="8995591" cy="34963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a:latin typeface="+mn-ea"/>
                          <a:ea typeface="+mn-ea"/>
                        </a:rPr>
                        <a:t>, </a:t>
                      </a:r>
                      <a:r>
                        <a:rPr lang="ko-KR" altLang="en-US" sz="800">
                          <a:latin typeface="+mn-ea"/>
                          <a:ea typeface="+mn-ea"/>
                        </a:rPr>
                        <a:t>보관함품목 </a:t>
                      </a:r>
                      <a:r>
                        <a:rPr lang="ko-KR" altLang="en-US" sz="800" dirty="0">
                          <a:latin typeface="+mn-ea"/>
                          <a:ea typeface="+mn-ea"/>
                        </a:rPr>
                        <a:t>조회</a:t>
                      </a:r>
                      <a:r>
                        <a:rPr lang="en-US" altLang="ko-KR" sz="800">
                          <a:latin typeface="+mn-ea"/>
                          <a:ea typeface="+mn-ea"/>
                        </a:rPr>
                        <a:t>,  </a:t>
                      </a:r>
                      <a:r>
                        <a:rPr lang="ko-KR" altLang="en-US" sz="800">
                          <a:latin typeface="+mn-ea"/>
                          <a:ea typeface="+mn-ea"/>
                        </a:rPr>
                        <a:t>입찰업체목록 조회</a:t>
                      </a:r>
                      <a:r>
                        <a:rPr lang="en-US" altLang="ko-KR" sz="80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a:t>
                      </a:r>
                      <a:r>
                        <a:rPr lang="en-US" altLang="ko-KR" sz="800">
                          <a:latin typeface="+mn-ea"/>
                          <a:ea typeface="+mn-ea"/>
                        </a:rPr>
                        <a:t>, </a:t>
                      </a:r>
                      <a:r>
                        <a:rPr lang="ko-KR" altLang="en-US" sz="800">
                          <a:latin typeface="+mn-ea"/>
                          <a:ea typeface="+mn-ea"/>
                        </a:rPr>
                        <a:t>입찰업체목록조회</a:t>
                      </a:r>
                      <a:r>
                        <a:rPr lang="en-US" altLang="ko-KR" sz="800">
                          <a:latin typeface="+mn-ea"/>
                          <a:ea typeface="+mn-ea"/>
                        </a:rPr>
                        <a:t>, </a:t>
                      </a:r>
                      <a:r>
                        <a:rPr lang="ko-KR" altLang="en-US" sz="800">
                          <a:latin typeface="+mn-ea"/>
                          <a:ea typeface="+mn-ea"/>
                        </a:rPr>
                        <a:t>화폐단위조회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선택된 입찰내역</a:t>
                      </a:r>
                      <a:r>
                        <a:rPr lang="en-US" altLang="ko-KR" sz="800">
                          <a:latin typeface="+mn-ea"/>
                          <a:ea typeface="+mn-ea"/>
                        </a:rPr>
                        <a:t>(</a:t>
                      </a:r>
                      <a:r>
                        <a:rPr lang="ko-KR" altLang="en-US" sz="800">
                          <a:latin typeface="+mn-ea"/>
                          <a:ea typeface="+mn-ea"/>
                        </a:rPr>
                        <a:t>단가제</a:t>
                      </a:r>
                      <a:r>
                        <a:rPr lang="en-US" altLang="ko-KR" sz="800">
                          <a:latin typeface="+mn-ea"/>
                          <a:ea typeface="+mn-ea"/>
                        </a:rPr>
                        <a:t>) </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전체적용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전체 입찰내역</a:t>
                      </a:r>
                      <a:r>
                        <a:rPr lang="en-US" altLang="ko-KR" sz="800">
                          <a:latin typeface="+mn-ea"/>
                          <a:ea typeface="+mn-ea"/>
                        </a:rPr>
                        <a:t>(</a:t>
                      </a:r>
                      <a:r>
                        <a:rPr lang="ko-KR" altLang="en-US" sz="800">
                          <a:latin typeface="+mn-ea"/>
                          <a:ea typeface="+mn-ea"/>
                        </a:rPr>
                        <a:t>단가제</a:t>
                      </a:r>
                      <a:r>
                        <a:rPr lang="en-US" altLang="ko-KR" sz="800">
                          <a:latin typeface="+mn-ea"/>
                          <a:ea typeface="+mn-ea"/>
                        </a:rPr>
                        <a:t>)</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dirty="0"/>
                        <a:t>품목대체구분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scnwin.sbx_itemReplaceType_onchange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품목대체문서업로드</a:t>
                      </a:r>
                      <a:r>
                        <a:rPr lang="en-US" altLang="ko-KR" sz="800">
                          <a:latin typeface="+mn-ea"/>
                          <a:ea typeface="+mn-ea"/>
                        </a:rPr>
                        <a:t>, </a:t>
                      </a:r>
                      <a:r>
                        <a:rPr lang="ko-KR" altLang="en-US" sz="800">
                          <a:latin typeface="+mn-ea"/>
                          <a:ea typeface="+mn-ea"/>
                        </a:rPr>
                        <a:t>수정재고번호</a:t>
                      </a:r>
                      <a:r>
                        <a:rPr lang="en-US" altLang="ko-KR" sz="800">
                          <a:latin typeface="+mn-ea"/>
                          <a:ea typeface="+mn-ea"/>
                        </a:rPr>
                        <a:t>, </a:t>
                      </a:r>
                      <a:r>
                        <a:rPr lang="ko-KR" altLang="en-US" sz="800">
                          <a:latin typeface="+mn-ea"/>
                          <a:ea typeface="+mn-ea"/>
                        </a:rPr>
                        <a:t>수정부품번호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업로드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scnwin.btn_openUpload_onclick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첨부문서업로드</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en-US" altLang="ko-KR" sz="800"/>
                        <a:t>MOQ</a:t>
                      </a:r>
                      <a:r>
                        <a:rPr lang="ko-KR" altLang="en-US" sz="800"/>
                        <a:t>구분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scnwin.sbx_moqType_onchange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Y</a:t>
                      </a:r>
                      <a:r>
                        <a:rPr lang="ko-KR" altLang="en-US" sz="800">
                          <a:latin typeface="+mn-ea"/>
                          <a:ea typeface="+mn-ea"/>
                        </a:rPr>
                        <a:t>인 경우</a:t>
                      </a:r>
                      <a:r>
                        <a:rPr lang="en-US" altLang="ko-KR" sz="800">
                          <a:latin typeface="+mn-ea"/>
                          <a:ea typeface="+mn-ea"/>
                        </a:rPr>
                        <a:t>, MOQ</a:t>
                      </a:r>
                      <a:r>
                        <a:rPr lang="ko-KR" altLang="en-US" sz="800">
                          <a:latin typeface="+mn-ea"/>
                          <a:ea typeface="+mn-ea"/>
                        </a:rPr>
                        <a:t>첨부문서업로드</a:t>
                      </a:r>
                      <a:r>
                        <a:rPr lang="en-US" altLang="ko-KR" sz="800">
                          <a:latin typeface="+mn-ea"/>
                          <a:ea typeface="+mn-ea"/>
                        </a:rPr>
                        <a:t>, MOQ</a:t>
                      </a:r>
                      <a:r>
                        <a:rPr lang="ko-KR" altLang="en-US" sz="800">
                          <a:latin typeface="+mn-ea"/>
                          <a:ea typeface="+mn-ea"/>
                        </a:rPr>
                        <a:t>수량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2809718"/>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입찰단가 변경</a:t>
                      </a:r>
                      <a:r>
                        <a:rPr lang="en-US" altLang="ko-KR" sz="800">
                          <a:latin typeface="+mn-ea"/>
                          <a:ea typeface="+mn-ea"/>
                        </a:rPr>
                        <a:t> </a:t>
                      </a:r>
                      <a:r>
                        <a:rPr lang="ko-KR" altLang="en-US" sz="80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달러단가</a:t>
                      </a:r>
                      <a:r>
                        <a:rPr lang="en-US" altLang="ko-KR" sz="800">
                          <a:latin typeface="+mn-ea"/>
                          <a:ea typeface="+mn-ea"/>
                        </a:rPr>
                        <a:t>/</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단가제화폐단위 </a:t>
                      </a:r>
                      <a:r>
                        <a:rPr lang="ko-KR" altLang="en-US" sz="800" dirty="0"/>
                        <a:t>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달러단가</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271960"/>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11282"/>
                  </a:ext>
                </a:extLst>
              </a:tr>
              <a:tr h="0">
                <a:tc>
                  <a:txBody>
                    <a:bodyPr/>
                    <a:lstStyle/>
                    <a:p>
                      <a:r>
                        <a:rPr lang="ko-KR" altLang="en-US" sz="800"/>
                        <a:t>총액제화폐단위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779201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입찰내역삭제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swcin.btn_delete_onclick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선택한 품목의 입찰내역을 제거</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임시입찰내용삭제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8936998"/>
                  </a:ext>
                </a:extLst>
              </a:tr>
              <a:tr h="0">
                <a:tc>
                  <a:txBody>
                    <a:bodyPr/>
                    <a:lstStyle/>
                    <a:p>
                      <a:r>
                        <a:rPr lang="ko-KR" altLang="en-US" sz="800"/>
                        <a:t>입찰내역저장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임시입찰내용저장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21573020"/>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보관함목록</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err="1" smtClean="0"/>
              <a:t>입찰내역</a:t>
            </a:r>
            <a:r>
              <a:rPr lang="ko-KR" altLang="en-US" dirty="0" smtClean="0"/>
              <a:t> 품목 보기 버튼 </a:t>
            </a:r>
            <a:r>
              <a:rPr lang="en-US" altLang="ko-KR" dirty="0" smtClean="0"/>
              <a:t/>
            </a:r>
            <a:br>
              <a:rPr lang="en-US" altLang="ko-KR" dirty="0" smtClean="0"/>
            </a:br>
            <a:r>
              <a:rPr lang="en-US" altLang="ko-KR" dirty="0" smtClean="0"/>
              <a:t>  &gt; </a:t>
            </a:r>
            <a:r>
              <a:rPr lang="en-US" altLang="ko-KR" dirty="0" smtClean="0">
                <a:latin typeface="+mn-ea"/>
              </a:rPr>
              <a:t>MUI-BD-01-P80 </a:t>
            </a:r>
            <a:r>
              <a:rPr lang="ko-KR" altLang="en-US" dirty="0" err="1">
                <a:latin typeface="+mn-ea"/>
              </a:rPr>
              <a:t>이전공고입찰내역품목상세</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이전공고입찰내역등록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MUI-BD-01-P79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39779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775730"/>
            <a:chOff x="781461" y="3078038"/>
            <a:chExt cx="2473257" cy="7757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62602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err="1">
                <a:latin typeface="맑은 고딕"/>
                <a:ea typeface="맑은 고딕" panose="020B0503020000020004" pitchFamily="50" charset="-127"/>
              </a:rPr>
              <a:t>입찰내역</a:t>
            </a:r>
            <a:r>
              <a:rPr kumimoji="1" lang="ko-KR" altLang="en-US" sz="800" kern="0" noProof="0" dirty="0">
                <a:latin typeface="맑은 고딕"/>
                <a:ea typeface="맑은 고딕" panose="020B0503020000020004" pitchFamily="50" charset="-127"/>
              </a:rPr>
              <a:t> 품목 보기</a:t>
            </a:r>
            <a:endParaRPr kumimoji="1" lang="en-US" sz="800" b="0" i="0" u="none" strike="noStrike" kern="0" cap="none" spc="0" normalizeH="0" baseline="0" noProof="0" dirty="0">
              <a:ln>
                <a:noFill/>
              </a:ln>
              <a:effectLst/>
              <a:uLnTx/>
              <a:uFillTx/>
              <a:latin typeface="맑은 고딕"/>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20490" y="53256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7" name="그룹 186"/>
          <p:cNvGrpSpPr/>
          <p:nvPr/>
        </p:nvGrpSpPr>
        <p:grpSpPr>
          <a:xfrm>
            <a:off x="781461" y="4114027"/>
            <a:ext cx="2473257" cy="775730"/>
            <a:chOff x="781461" y="3078038"/>
            <a:chExt cx="2473257" cy="775730"/>
          </a:xfrm>
        </p:grpSpPr>
        <p:sp>
          <p:nvSpPr>
            <p:cNvPr id="188"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92"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9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94" name="사각형: 둥근 모서리 31">
            <a:extLst>
              <a:ext uri="{FF2B5EF4-FFF2-40B4-BE49-F238E27FC236}">
                <a16:creationId xmlns:a16="http://schemas.microsoft.com/office/drawing/2014/main" id="{2AC143EE-93CF-3518-F0CB-8469E98507E0}"/>
              </a:ext>
            </a:extLst>
          </p:cNvPr>
          <p:cNvSpPr/>
          <p:nvPr/>
        </p:nvSpPr>
        <p:spPr>
          <a:xfrm>
            <a:off x="808106" y="4973793"/>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kumimoji="1" lang="ko-KR" altLang="en-US" sz="800" kern="0" dirty="0" err="1"/>
              <a:t>입찰내역</a:t>
            </a:r>
            <a:r>
              <a:rPr kumimoji="1" lang="ko-KR" altLang="en-US" sz="800" kern="0" dirty="0"/>
              <a:t> 품목 보기</a:t>
            </a:r>
            <a:endParaRPr kumimoji="1" lang="en-US" altLang="ko-KR" sz="800" kern="0" dirty="0"/>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533503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488441870"/>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불러오기</a:t>
            </a:r>
            <a:r>
              <a:rPr lang="en-US" altLang="ko-KR" dirty="0"/>
              <a:t>,</a:t>
            </a:r>
            <a:r>
              <a:rPr lang="ko-KR" altLang="en-US" dirty="0"/>
              <a:t> 취소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취소 클릭 </a:t>
            </a:r>
            <a:r>
              <a:rPr lang="en-US" altLang="ko-KR" dirty="0" smtClean="0"/>
              <a:t>– </a:t>
            </a:r>
            <a:r>
              <a:rPr lang="ko-KR" altLang="en-US" dirty="0" smtClean="0"/>
              <a:t>팝업 닫기</a:t>
            </a:r>
            <a:r>
              <a:rPr lang="en-US" altLang="ko-KR" dirty="0" smtClean="0"/>
              <a:t/>
            </a:r>
            <a:br>
              <a:rPr lang="en-US" altLang="ko-KR" dirty="0" smtClean="0"/>
            </a:br>
            <a:r>
              <a:rPr lang="en-US" altLang="ko-KR" dirty="0" smtClean="0"/>
              <a:t>- </a:t>
            </a:r>
            <a:r>
              <a:rPr lang="ko-KR" altLang="en-US" dirty="0" smtClean="0"/>
              <a:t>불러오기 </a:t>
            </a:r>
            <a:r>
              <a:rPr lang="en-US" altLang="ko-KR" dirty="0" smtClean="0"/>
              <a:t>– </a:t>
            </a:r>
            <a:r>
              <a:rPr lang="ko-KR" altLang="en-US" dirty="0" smtClean="0"/>
              <a:t>확인 팝업</a:t>
            </a:r>
            <a:r>
              <a:rPr lang="en-US" altLang="ko-KR" dirty="0" smtClean="0"/>
              <a:t/>
            </a:r>
            <a:br>
              <a:rPr lang="en-US" altLang="ko-KR" dirty="0" smtClean="0"/>
            </a:br>
            <a:r>
              <a:rPr lang="en-US" altLang="ko-KR" dirty="0" smtClean="0"/>
              <a:t>  &gt; </a:t>
            </a:r>
            <a:r>
              <a:rPr lang="ko-KR" altLang="en-US" dirty="0" err="1" smtClean="0"/>
              <a:t>이전공고를</a:t>
            </a:r>
            <a:r>
              <a:rPr lang="ko-KR" altLang="en-US" dirty="0" smtClean="0"/>
              <a:t> 불러올까요</a:t>
            </a:r>
            <a:r>
              <a:rPr lang="en-US" altLang="ko-KR" dirty="0" smtClean="0"/>
              <a:t>?</a:t>
            </a:r>
            <a:br>
              <a:rPr lang="en-US" altLang="ko-KR" dirty="0" smtClean="0"/>
            </a:br>
            <a:r>
              <a:rPr lang="en-US" altLang="ko-KR" dirty="0" smtClean="0"/>
              <a:t>  &gt; Y </a:t>
            </a:r>
            <a:r>
              <a:rPr lang="ko-KR" altLang="en-US" dirty="0" smtClean="0"/>
              <a:t>시 팝업</a:t>
            </a:r>
            <a:r>
              <a:rPr lang="en-US" altLang="ko-KR" dirty="0" smtClean="0"/>
              <a:t>, </a:t>
            </a:r>
            <a:r>
              <a:rPr lang="ko-KR" altLang="en-US" dirty="0" err="1" smtClean="0"/>
              <a:t>풀페이지</a:t>
            </a:r>
            <a:r>
              <a:rPr lang="ko-KR" altLang="en-US" dirty="0" smtClean="0"/>
              <a:t> 팝업 모두 닫히고 선택 항목 불러오기</a:t>
            </a:r>
            <a:r>
              <a:rPr lang="en-US" altLang="ko-KR" dirty="0" smtClean="0"/>
              <a:t/>
            </a:r>
            <a:br>
              <a:rPr lang="en-US" altLang="ko-KR" dirty="0" smtClean="0"/>
            </a:br>
            <a:r>
              <a:rPr lang="en-US" altLang="ko-KR" dirty="0" smtClean="0"/>
              <a:t>- </a:t>
            </a:r>
            <a:r>
              <a:rPr lang="ko-KR" altLang="en-US" dirty="0" smtClean="0"/>
              <a:t>항목 선택 없이 불러오기 클릭</a:t>
            </a:r>
            <a:r>
              <a:rPr lang="en-US" altLang="ko-KR" dirty="0" smtClean="0"/>
              <a:t/>
            </a:r>
            <a:br>
              <a:rPr lang="en-US" altLang="ko-KR" dirty="0" smtClean="0"/>
            </a:br>
            <a:r>
              <a:rPr lang="en-US" altLang="ko-KR" dirty="0" smtClean="0"/>
              <a:t>  &gt; </a:t>
            </a:r>
            <a:r>
              <a:rPr lang="ko-KR" altLang="en-US" dirty="0" smtClean="0"/>
              <a:t>항목을 선택해주세요</a:t>
            </a:r>
            <a:r>
              <a:rPr lang="en-US" altLang="ko-KR" dirty="0" smtClean="0"/>
              <a:t>. </a:t>
            </a:r>
            <a:r>
              <a:rPr lang="ko-KR" altLang="en-US" dirty="0" smtClean="0"/>
              <a:t>토스트 메시지</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이전공고입찰내역품목상세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r>
              <a:rPr lang="ko-KR" altLang="en-US" dirty="0">
                <a:latin typeface="+mn-ea"/>
              </a:rPr>
              <a:t> </a:t>
            </a:r>
            <a:r>
              <a:rPr lang="en-US" altLang="ko-KR" dirty="0">
                <a:latin typeface="+mn-ea"/>
              </a:rPr>
              <a:t>&gt; </a:t>
            </a:r>
            <a:r>
              <a:rPr lang="ko-KR" altLang="en-US" dirty="0" err="1">
                <a:latin typeface="+mn-ea"/>
              </a:rPr>
              <a:t>이전공고입찰내역품목상세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0" name="직사각형 79"/>
          <p:cNvSpPr/>
          <p:nvPr/>
        </p:nvSpPr>
        <p:spPr>
          <a:xfrm>
            <a:off x="3820170" y="2858809"/>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215444"/>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82" name="직사각형 81"/>
          <p:cNvSpPr/>
          <p:nvPr/>
        </p:nvSpPr>
        <p:spPr>
          <a:xfrm>
            <a:off x="703268" y="2899796"/>
            <a:ext cx="792000" cy="32119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3197350"/>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p:txBody>
      </p:sp>
      <p:grpSp>
        <p:nvGrpSpPr>
          <p:cNvPr id="85" name="그룹 84"/>
          <p:cNvGrpSpPr/>
          <p:nvPr/>
        </p:nvGrpSpPr>
        <p:grpSpPr>
          <a:xfrm>
            <a:off x="701175" y="2899795"/>
            <a:ext cx="2630093" cy="3211945"/>
            <a:chOff x="701175" y="1835481"/>
            <a:chExt cx="2630093" cy="3211945"/>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5047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1" name="사각형: 둥근 모서리 31">
            <a:extLst>
              <a:ext uri="{FF2B5EF4-FFF2-40B4-BE49-F238E27FC236}">
                <a16:creationId xmlns:a16="http://schemas.microsoft.com/office/drawing/2014/main" id="{2AC143EE-93CF-3518-F0CB-8469E98507E0}"/>
              </a:ext>
            </a:extLst>
          </p:cNvPr>
          <p:cNvSpPr/>
          <p:nvPr/>
        </p:nvSpPr>
        <p:spPr>
          <a:xfrm>
            <a:off x="3928441" y="5385816"/>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02" name="그룹 101">
            <a:extLst>
              <a:ext uri="{FF2B5EF4-FFF2-40B4-BE49-F238E27FC236}">
                <a16:creationId xmlns:a16="http://schemas.microsoft.com/office/drawing/2014/main" id="{22BC05EE-C648-7CA2-4CCC-6E1C1A7E9BDA}"/>
              </a:ext>
            </a:extLst>
          </p:cNvPr>
          <p:cNvGrpSpPr/>
          <p:nvPr/>
        </p:nvGrpSpPr>
        <p:grpSpPr>
          <a:xfrm>
            <a:off x="5113316" y="4471470"/>
            <a:ext cx="76863" cy="292489"/>
            <a:chOff x="3750067" y="4683795"/>
            <a:chExt cx="76863" cy="292489"/>
          </a:xfrm>
        </p:grpSpPr>
        <p:sp>
          <p:nvSpPr>
            <p:cNvPr id="104" name="타원 10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5" name="타원 10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6" name="타원 10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323165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237323423</a:t>
            </a:r>
          </a:p>
          <a:p>
            <a:pPr>
              <a:lnSpc>
                <a:spcPct val="200000"/>
              </a:lnSpc>
            </a:pPr>
            <a:r>
              <a:rPr lang="en-US" altLang="ko-KR" sz="700" dirty="0">
                <a:latin typeface="+mn-ea"/>
              </a:rPr>
              <a:t>5235235235</a:t>
            </a:r>
          </a:p>
          <a:p>
            <a:pPr>
              <a:lnSpc>
                <a:spcPct val="200000"/>
              </a:lnSpc>
            </a:pPr>
            <a:r>
              <a:rPr lang="en-US" altLang="ko-KR" sz="700" dirty="0">
                <a:latin typeface="+mn-ea"/>
              </a:rPr>
              <a:t>Y</a:t>
            </a:r>
          </a:p>
          <a:p>
            <a:pPr>
              <a:lnSpc>
                <a:spcPct val="200000"/>
              </a:lnSpc>
            </a:pPr>
            <a:r>
              <a:rPr lang="en-US" altLang="ko-KR" sz="700" dirty="0">
                <a:latin typeface="+mn-ea"/>
              </a:rPr>
              <a:t>2</a:t>
            </a:r>
          </a:p>
          <a:p>
            <a:pPr>
              <a:lnSpc>
                <a:spcPct val="200000"/>
              </a:lnSpc>
            </a:pPr>
            <a:r>
              <a:rPr lang="en-US" altLang="ko-KR" sz="700" dirty="0">
                <a:latin typeface="+mn-ea"/>
              </a:rPr>
              <a:t>O</a:t>
            </a:r>
          </a:p>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gn="r">
              <a:lnSpc>
                <a:spcPct val="200000"/>
              </a:lnSpc>
            </a:pPr>
            <a:r>
              <a:rPr lang="en-US" altLang="ko-KR" sz="700" dirty="0">
                <a:latin typeface="+mn-ea"/>
              </a:rPr>
              <a:t>10,000</a:t>
            </a:r>
          </a:p>
          <a:p>
            <a:pPr algn="r">
              <a:lnSpc>
                <a:spcPct val="200000"/>
              </a:lnSpc>
            </a:pPr>
            <a:r>
              <a:rPr lang="en-US" altLang="ko-KR" sz="700" dirty="0">
                <a:latin typeface="+mn-ea"/>
              </a:rPr>
              <a:t>10,000</a:t>
            </a:r>
          </a:p>
          <a:p>
            <a:pPr algn="r">
              <a:lnSpc>
                <a:spcPct val="200000"/>
              </a:lnSpc>
            </a:pPr>
            <a:r>
              <a:rPr lang="en-US" altLang="ko-KR" sz="700" dirty="0">
                <a:latin typeface="+mn-ea"/>
              </a:rPr>
              <a:t>USD</a:t>
            </a:r>
          </a:p>
        </p:txBody>
      </p:sp>
      <p:sp>
        <p:nvSpPr>
          <p:cNvPr id="124" name="사각형: 둥근 모서리 15">
            <a:extLst>
              <a:ext uri="{FF2B5EF4-FFF2-40B4-BE49-F238E27FC236}">
                <a16:creationId xmlns:a16="http://schemas.microsoft.com/office/drawing/2014/main" id="{E2B61CFB-AD16-68D0-8752-50D9C5E01971}"/>
              </a:ext>
            </a:extLst>
          </p:cNvPr>
          <p:cNvSpPr/>
          <p:nvPr/>
        </p:nvSpPr>
        <p:spPr>
          <a:xfrm>
            <a:off x="2836921" y="293003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2858810"/>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26" name="그룹 125"/>
          <p:cNvGrpSpPr/>
          <p:nvPr/>
        </p:nvGrpSpPr>
        <p:grpSpPr>
          <a:xfrm>
            <a:off x="3821510" y="2858810"/>
            <a:ext cx="2630093" cy="1075182"/>
            <a:chOff x="701175" y="1835481"/>
            <a:chExt cx="2630093" cy="1075182"/>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2858810"/>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5957256" y="288904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3933132" y="3744309"/>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solidFill>
                    <a:srgbClr val="0070C0"/>
                  </a:solidFill>
                  <a:latin typeface="맑은 고딕"/>
                  <a:ea typeface="맑은 고딕" panose="020B0503020000020004" pitchFamily="50" charset="-127"/>
                </a:rPr>
                <a:t>불러오기</a:t>
              </a:r>
              <a:endParaRPr kumimoji="1" lang="en-US" sz="1000" b="0" i="0" u="none" strike="noStrike" kern="0" cap="none" spc="0" normalizeH="0" baseline="0" noProof="0" dirty="0">
                <a:ln>
                  <a:noFill/>
                </a:ln>
                <a:solidFill>
                  <a:srgbClr val="0070C0"/>
                </a:solidFill>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76" name="그룹 175"/>
          <p:cNvGrpSpPr/>
          <p:nvPr/>
        </p:nvGrpSpPr>
        <p:grpSpPr>
          <a:xfrm>
            <a:off x="3823603" y="2518824"/>
            <a:ext cx="2628000" cy="216222"/>
            <a:chOff x="703268" y="2694441"/>
            <a:chExt cx="2628000" cy="216222"/>
          </a:xfrm>
        </p:grpSpPr>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254536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Tree>
    <p:extLst>
      <p:ext uri="{BB962C8B-B14F-4D97-AF65-F5344CB8AC3E}">
        <p14:creationId xmlns:p14="http://schemas.microsoft.com/office/powerpoint/2010/main" val="1359965054"/>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4615"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a:solidFill>
                            <a:srgbClr val="000000"/>
                          </a:solidFill>
                          <a:effectLst/>
                          <a:latin typeface="+mn-ea"/>
                          <a:ea typeface="+mn-ea"/>
                        </a:rPr>
                        <a:t>참가품목수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E3DDA5AB-9329-01A0-541C-DD61116BF022}"/>
              </a:ext>
            </a:extLst>
          </p:cNvPr>
          <p:cNvSpPr txBox="1"/>
          <p:nvPr/>
        </p:nvSpPr>
        <p:spPr>
          <a:xfrm>
            <a:off x="458117" y="2670505"/>
            <a:ext cx="2445147"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(dl_bidCnList)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77349398-50BA-8BCF-B918-1D919357217B}"/>
              </a:ext>
            </a:extLst>
          </p:cNvPr>
          <p:cNvGraphicFramePr>
            <a:graphicFrameLocks noGrp="1"/>
          </p:cNvGraphicFramePr>
          <p:nvPr/>
        </p:nvGraphicFramePr>
        <p:xfrm>
          <a:off x="452999" y="2881708"/>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9760845"/>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854908"/>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2410842"/>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569023"/>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503611"/>
                  </a:ext>
                </a:extLst>
              </a:tr>
              <a:tr h="0">
                <a:tc>
                  <a:txBody>
                    <a:bodyPr/>
                    <a:lstStyle/>
                    <a:p>
                      <a:pPr algn="l" fontAlgn="ctr"/>
                      <a:r>
                        <a:rPr lang="ko-KR" altLang="en-US" sz="800" b="0" i="0" u="none" strike="noStrike" dirty="0" err="1">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85035385"/>
                  </a:ext>
                </a:extLst>
              </a:tr>
              <a:tr h="0">
                <a:tc>
                  <a:txBody>
                    <a:bodyPr/>
                    <a:lstStyle/>
                    <a:p>
                      <a:pPr algn="l" fontAlgn="ctr"/>
                      <a:r>
                        <a:rPr lang="ko-KR" altLang="en-US" sz="800" b="0" i="0" u="none" strike="noStrike" dirty="0" err="1">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026334"/>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652739"/>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9514727"/>
                  </a:ext>
                </a:extLst>
              </a:tr>
            </a:tbl>
          </a:graphicData>
        </a:graphic>
      </p:graphicFrame>
    </p:spTree>
    <p:extLst>
      <p:ext uri="{BB962C8B-B14F-4D97-AF65-F5344CB8AC3E}">
        <p14:creationId xmlns:p14="http://schemas.microsoft.com/office/powerpoint/2010/main" val="2191366735"/>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328</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보관함목록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보관함이전공고목록조회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a:t>보관함목록행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scnwin.grd_list_oncecllclick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 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2306955"/>
                  </a:ext>
                </a:extLst>
              </a:tr>
              <a:tr h="0">
                <a:tc>
                  <a:txBody>
                    <a:bodyPr/>
                    <a:lstStyle/>
                    <a:p>
                      <a:r>
                        <a:rPr lang="ko-KR" altLang="en-US" sz="800"/>
                        <a:t>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작업내용을 반영하지 않고 현재 팝업을 종료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2903495"/>
                  </a:ext>
                </a:extLst>
              </a:tr>
              <a:tr h="0">
                <a:tc>
                  <a:txBody>
                    <a:bodyPr/>
                    <a:lstStyle/>
                    <a:p>
                      <a:r>
                        <a:rPr lang="ko-KR" altLang="en-US" sz="800"/>
                        <a:t>불러오기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scnwin.btn_loadSave_onclick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입찰내역을 현재 공고의 입찰내역으로 저장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이전공고입찰내역불러오기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7594737"/>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11144810"/>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296001327"/>
              </p:ext>
            </p:extLst>
          </p:nvPr>
        </p:nvGraphicFramePr>
        <p:xfrm>
          <a:off x="635474" y="1413419"/>
          <a:ext cx="8701200" cy="496126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MUI-BD-03-M01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입찰진행목록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BidPrgrsListForBzentyPage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lt"/>
                          <a:ea typeface="+mn-ea"/>
                        </a:rPr>
                        <a:t>입찰진행</a:t>
                      </a:r>
                      <a:r>
                        <a:rPr lang="ko-KR" altLang="en-US" sz="800" dirty="0">
                          <a:latin typeface="+mn-lt"/>
                          <a:ea typeface="+mn-ea"/>
                        </a:rPr>
                        <a:t> 목록 조회 화면</a:t>
                      </a:r>
                      <a:endParaRPr lang="en-US" altLang="ko-KR" sz="800" dirty="0">
                        <a:latin typeface="+mn-lt"/>
                        <a:ea typeface="+mn-ea"/>
                      </a:endParaRPr>
                    </a:p>
                    <a:p>
                      <a:pPr algn="l" latinLnBrk="1"/>
                      <a:r>
                        <a:rPr lang="ko-KR" altLang="en-US" sz="800" dirty="0">
                          <a:latin typeface="+mn-lt"/>
                          <a:ea typeface="+mn-ea"/>
                        </a:rPr>
                        <a:t>국내 화면과 동일함</a:t>
                      </a:r>
                      <a:r>
                        <a:rPr lang="en-US" altLang="ko-KR" sz="800" dirty="0">
                          <a:latin typeface="+mn-lt"/>
                          <a:ea typeface="+mn-ea"/>
                        </a:rPr>
                        <a:t>.</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rPr>
                        <a:t>bidPrgrsListForBzenty</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BidPrgrsListForBzentyPage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UC-BD-07-01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UC-BD-09-01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입찰참가신청서작성</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lt"/>
                          <a:ea typeface="+mn-ea"/>
                        </a:rPr>
                        <a:t>입찰참가신청서 작성 </a:t>
                      </a:r>
                      <a:r>
                        <a:rPr lang="ko-KR" altLang="en-US" sz="800" b="0" i="0" u="none" strike="noStrike" dirty="0">
                          <a:solidFill>
                            <a:srgbClr val="000000"/>
                          </a:solidFill>
                          <a:effectLst/>
                          <a:latin typeface="+mn-lt"/>
                          <a:ea typeface="+mn-ea"/>
                        </a:rPr>
                        <a:t>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서약서동의목록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lt"/>
                          <a:ea typeface="+mn-ea"/>
                        </a:rPr>
                        <a:t>업체담당자가 입찰참여 전</a:t>
                      </a:r>
                      <a:r>
                        <a:rPr lang="en-US" altLang="ko-KR" sz="800" b="0" i="0" u="none" strike="noStrike" dirty="0" smtClean="0">
                          <a:solidFill>
                            <a:srgbClr val="000000"/>
                          </a:solidFill>
                          <a:effectLst/>
                          <a:latin typeface="+mn-lt"/>
                          <a:ea typeface="+mn-ea"/>
                        </a:rPr>
                        <a:t>, </a:t>
                      </a:r>
                      <a:r>
                        <a:rPr lang="ko-KR" altLang="en-US" sz="800" b="0" i="0" u="none" strike="noStrike" dirty="0" smtClean="0">
                          <a:solidFill>
                            <a:srgbClr val="000000"/>
                          </a:solidFill>
                          <a:effectLst/>
                          <a:latin typeface="+mn-lt"/>
                          <a:ea typeface="+mn-ea"/>
                        </a:rPr>
                        <a:t>청렴계약이행서약서를 확인하고 동의여부를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rgbClr val="000000"/>
                          </a:solidFill>
                          <a:effectLst/>
                          <a:latin typeface="+mn-lt"/>
                          <a:ea typeface="+mn-ea"/>
                        </a:rPr>
                        <a:t>ovsBidPrtcpAplyPage</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619849995"/>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1-</a:t>
                      </a:r>
                      <a:r>
                        <a:rPr lang="ko-KR" altLang="en-US" sz="800" b="0" i="0" u="none" strike="noStrike" dirty="0">
                          <a:solidFill>
                            <a:srgbClr val="000000"/>
                          </a:solidFill>
                          <a:effectLst/>
                          <a:latin typeface="+mn-lt"/>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업체담당자가 입찰에 참가하기 위해</a:t>
                      </a:r>
                      <a:r>
                        <a:rPr lang="en-US" altLang="ko-KR" sz="800" b="0" i="0" u="none" strike="noStrike" dirty="0">
                          <a:solidFill>
                            <a:srgbClr val="000000"/>
                          </a:solidFill>
                          <a:effectLst/>
                          <a:latin typeface="+mn-lt"/>
                          <a:ea typeface="+mn-ea"/>
                        </a:rPr>
                        <a:t>, </a:t>
                      </a:r>
                      <a:r>
                        <a:rPr lang="ko-KR" altLang="en-US" sz="800" b="0" i="0" u="none" strike="noStrike" dirty="0" err="1">
                          <a:solidFill>
                            <a:srgbClr val="000000"/>
                          </a:solidFill>
                          <a:effectLst/>
                          <a:latin typeface="+mn-lt"/>
                          <a:ea typeface="+mn-ea"/>
                        </a:rPr>
                        <a:t>참여품목</a:t>
                      </a:r>
                      <a:r>
                        <a:rPr lang="ko-KR" altLang="en-US" sz="800" b="0" i="0" u="none" strike="noStrike" dirty="0">
                          <a:solidFill>
                            <a:srgbClr val="000000"/>
                          </a:solidFill>
                          <a:effectLst/>
                          <a:latin typeface="+mn-lt"/>
                          <a:ea typeface="+mn-ea"/>
                        </a:rPr>
                        <a:t> 및 보증서 </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smtClean="0">
                          <a:solidFill>
                            <a:srgbClr val="000000"/>
                          </a:solidFill>
                          <a:effectLst/>
                          <a:latin typeface="+mn-lt"/>
                          <a:ea typeface="+mn-ea"/>
                        </a:rPr>
                        <a:t>ovsBidPrtcpAplyPage_Stp1</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2-</a:t>
                      </a:r>
                      <a:r>
                        <a:rPr lang="ko-KR" altLang="en-US" sz="800" b="0" i="0" u="none" strike="noStrike" dirty="0">
                          <a:solidFill>
                            <a:srgbClr val="000000"/>
                          </a:solidFill>
                          <a:effectLst/>
                          <a:latin typeface="+mn-lt"/>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mn-lt"/>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smtClean="0">
                          <a:solidFill>
                            <a:srgbClr val="000000"/>
                          </a:solidFill>
                          <a:effectLst/>
                          <a:latin typeface="+mn-lt"/>
                          <a:ea typeface="+mn-ea"/>
                        </a:rPr>
                        <a:t>ovsBidPrtcpAplyPage_Stp2</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3-</a:t>
                      </a:r>
                      <a:r>
                        <a:rPr lang="ko-KR" altLang="en-US" sz="800" b="0" i="0" u="none" strike="noStrike" dirty="0">
                          <a:solidFill>
                            <a:srgbClr val="000000"/>
                          </a:solidFill>
                          <a:effectLst/>
                          <a:latin typeface="+mn-lt"/>
                          <a:ea typeface="맑은 고딕" panose="020B0503020000020004" pitchFamily="50" charset="-127"/>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mn-lt"/>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smtClean="0">
                          <a:solidFill>
                            <a:srgbClr val="000000"/>
                          </a:solidFill>
                          <a:effectLst/>
                          <a:latin typeface="+mn-lt"/>
                          <a:ea typeface="+mn-ea"/>
                        </a:rPr>
                        <a:t>ovsBidPrtcpAplyPage_Stp3</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MUI-BD-04-P75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입찰보증서선택</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ovsBidWtgrInq</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전자입찰보증서를 조회하고 입찰에 사용할 보증서를 선택</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ovsBidWtgrInq</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ea typeface="+mn-ea"/>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MUI-BD-04-P76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보증서정보조회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ovsBidWtgrDtl</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ea typeface="+mn-ea"/>
                        </a:rPr>
                        <a:t>입찰보증서의 계약자</a:t>
                      </a:r>
                      <a:r>
                        <a:rPr lang="en-US" altLang="ko-KR" sz="800" b="0" i="0" u="none" strike="noStrike" dirty="0">
                          <a:solidFill>
                            <a:srgbClr val="000000"/>
                          </a:solidFill>
                          <a:effectLst/>
                          <a:latin typeface="+mn-lt"/>
                          <a:ea typeface="+mn-ea"/>
                        </a:rPr>
                        <a:t>, </a:t>
                      </a:r>
                      <a:r>
                        <a:rPr lang="ko-KR" altLang="en-US" sz="800" b="0" i="0" u="none" strike="noStrike" dirty="0">
                          <a:solidFill>
                            <a:srgbClr val="000000"/>
                          </a:solidFill>
                          <a:effectLst/>
                          <a:latin typeface="+mn-lt"/>
                          <a:ea typeface="+mn-ea"/>
                        </a:rPr>
                        <a:t>채권자</a:t>
                      </a:r>
                      <a:r>
                        <a:rPr lang="en-US" altLang="ko-KR" sz="800" b="0" i="0" u="none" strike="noStrike" dirty="0">
                          <a:solidFill>
                            <a:srgbClr val="000000"/>
                          </a:solidFill>
                          <a:effectLst/>
                          <a:latin typeface="+mn-lt"/>
                          <a:ea typeface="+mn-ea"/>
                        </a:rPr>
                        <a:t>, </a:t>
                      </a:r>
                      <a:r>
                        <a:rPr lang="ko-KR" altLang="en-US" sz="800" b="0" i="0" u="none" strike="noStrike" dirty="0">
                          <a:solidFill>
                            <a:srgbClr val="000000"/>
                          </a:solidFill>
                          <a:effectLst/>
                          <a:latin typeface="+mn-lt"/>
                          <a:ea typeface="+mn-ea"/>
                        </a:rPr>
                        <a:t>발행일자등의 상세정보를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ovsBidWtgrDtl</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ea typeface="+mn-ea"/>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4-</a:t>
                      </a:r>
                      <a:r>
                        <a:rPr lang="ko-KR" altLang="en-US" sz="800" b="0" i="0" u="none" strike="noStrike" dirty="0">
                          <a:solidFill>
                            <a:srgbClr val="000000"/>
                          </a:solidFill>
                          <a:effectLst/>
                          <a:latin typeface="+mn-lt"/>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ovsBidPrtcpAplyPage_AtchDocReg</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업체담당자가 입찰에 참가하기 위해</a:t>
                      </a:r>
                      <a:r>
                        <a:rPr lang="en-US" altLang="ko-KR" sz="800" b="0" i="0" u="none" strike="noStrike" dirty="0">
                          <a:solidFill>
                            <a:srgbClr val="000000"/>
                          </a:solidFill>
                          <a:effectLst/>
                          <a:latin typeface="+mn-lt"/>
                          <a:ea typeface="+mn-ea"/>
                        </a:rPr>
                        <a:t>, </a:t>
                      </a:r>
                      <a:r>
                        <a:rPr lang="ko-KR" altLang="en-US" sz="800" b="0" i="0" u="none" strike="noStrike" dirty="0" err="1">
                          <a:solidFill>
                            <a:srgbClr val="000000"/>
                          </a:solidFill>
                          <a:effectLst/>
                          <a:latin typeface="+mn-lt"/>
                          <a:ea typeface="+mn-ea"/>
                        </a:rPr>
                        <a:t>참여품목</a:t>
                      </a:r>
                      <a:r>
                        <a:rPr lang="ko-KR" altLang="en-US" sz="800" b="0" i="0" u="none" strike="noStrike" dirty="0">
                          <a:solidFill>
                            <a:srgbClr val="000000"/>
                          </a:solidFill>
                          <a:effectLst/>
                          <a:latin typeface="+mn-lt"/>
                          <a:ea typeface="+mn-ea"/>
                        </a:rPr>
                        <a:t> 및 보증서 </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rgbClr val="000000"/>
                          </a:solidFill>
                          <a:effectLst/>
                          <a:latin typeface="+mn-lt"/>
                          <a:ea typeface="+mn-ea"/>
                        </a:rPr>
                        <a:t>ovsBidPrtcpAplyPage_AtchDocReg</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lt"/>
                          <a:ea typeface="+mn-ea"/>
                        </a:rPr>
                        <a:t>UC-BD-02-01</a:t>
                      </a:r>
                    </a:p>
                    <a:p>
                      <a:pPr algn="l" fontAlgn="ctr"/>
                      <a:r>
                        <a:rPr lang="en-US" altLang="ko-KR" sz="800" dirty="0">
                          <a:latin typeface="+mn-lt"/>
                          <a:ea typeface="+mn-ea"/>
                        </a:rPr>
                        <a:t>UC-BD-07-01</a:t>
                      </a:r>
                      <a:endParaRPr lang="en-US" altLang="ko-KR" sz="800" b="0" i="0" u="none" strike="noStrike" dirty="0">
                        <a:solidFill>
                          <a:srgbClr val="000000"/>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MUI-BD-04-M78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입찰참가신청서상세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ovsBidPrtcpApfrDtl</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884088"/>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MUI-BD-04-T76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ovsBidPrtcpApfrDtlPage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업체담당자가 제출한 입찰참가신청서를 조회하는 화면 </a:t>
                      </a:r>
                    </a:p>
                    <a:p>
                      <a:pPr marL="0" marR="0" lvl="0" indent="0" algn="l"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OvsBidPrtcpApfrDtlPage</a:t>
                      </a:r>
                      <a:r>
                        <a:rPr lang="en-US" altLang="ko-KR" sz="800" dirty="0" err="1" smtClean="0">
                          <a:solidFill>
                            <a:schemeClr val="tx1"/>
                          </a:solidFill>
                          <a:latin typeface="+mn-lt"/>
                          <a:ea typeface="+mn-ea"/>
                        </a:rPr>
                        <a:t>.tsx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0131870"/>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MUI-BD-04-T77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ovsBidPrtcpApfrDtlPage_Tab2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smtClean="0">
                          <a:solidFill>
                            <a:srgbClr val="000000"/>
                          </a:solidFill>
                          <a:effectLst/>
                          <a:latin typeface="맑은 고딕" panose="020B0503020000020004" pitchFamily="50" charset="-127"/>
                          <a:ea typeface="+mn-ea"/>
                        </a:rPr>
                        <a:t>ovsBidPrtcpApfrDtlPage_Tab2</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7923704"/>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42132623"/>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330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(2/3)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543492040"/>
              </p:ext>
            </p:extLst>
          </p:nvPr>
        </p:nvGraphicFramePr>
        <p:xfrm>
          <a:off x="635474" y="1413419"/>
          <a:ext cx="8701200" cy="40137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MUI-BD-04-T78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ovsBidPrtcpApfrDtlPage_Tab3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smtClean="0">
                          <a:solidFill>
                            <a:srgbClr val="000000"/>
                          </a:solidFill>
                          <a:effectLst/>
                          <a:latin typeface="맑은 고딕" panose="020B0503020000020004" pitchFamily="50" charset="-127"/>
                          <a:ea typeface="+mn-ea"/>
                        </a:rPr>
                        <a:t>ovsBidPrtcpApfrDtlPage_</a:t>
                      </a:r>
                      <a:r>
                        <a:rPr lang="en-US" altLang="ko-KR" sz="800" dirty="0" smtClean="0">
                          <a:solidFill>
                            <a:schemeClr val="tx1"/>
                          </a:solidFill>
                          <a:latin typeface="+mn-lt"/>
                          <a:ea typeface="+mn-ea"/>
                        </a:rPr>
                        <a:t>Tab3.tsx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8861289"/>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MUI-BD-04-T79</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탭</a:t>
                      </a:r>
                      <a:r>
                        <a:rPr lang="en-US" altLang="ko-KR" sz="800" kern="1200" dirty="0" smtClean="0">
                          <a:solidFill>
                            <a:schemeClr val="tx1"/>
                          </a:solidFill>
                          <a:latin typeface="+mn-ea"/>
                          <a:ea typeface="+mn-ea"/>
                          <a:cs typeface="+mn-cs"/>
                        </a:rPr>
                        <a:t>4-</a:t>
                      </a:r>
                      <a:r>
                        <a:rPr lang="ko-KR" altLang="en-US" sz="800" kern="1200" dirty="0" smtClean="0">
                          <a:solidFill>
                            <a:schemeClr val="tx1"/>
                          </a:solidFill>
                          <a:latin typeface="+mn-ea"/>
                          <a:ea typeface="+mn-ea"/>
                          <a:cs typeface="+mn-cs"/>
                        </a:rPr>
                        <a:t>첨부파일</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mn-lt"/>
                          <a:ea typeface="+mn-ea"/>
                        </a:rPr>
                        <a:t>ovsBidPrtcpApfrDtlPage_Tab4</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smtClean="0">
                          <a:solidFill>
                            <a:srgbClr val="000000"/>
                          </a:solidFill>
                          <a:effectLst/>
                          <a:latin typeface="맑은 고딕" panose="020B0503020000020004" pitchFamily="50" charset="-127"/>
                          <a:ea typeface="+mn-ea"/>
                        </a:rPr>
                        <a:t>ovsBidPrtcpApfrDtlPage_</a:t>
                      </a:r>
                      <a:r>
                        <a:rPr lang="en-US" altLang="ko-KR" sz="800" dirty="0" smtClean="0">
                          <a:solidFill>
                            <a:schemeClr val="tx1"/>
                          </a:solidFill>
                          <a:latin typeface="+mn-lt"/>
                          <a:ea typeface="+mn-ea"/>
                        </a:rPr>
                        <a:t>Tab4</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202093"/>
                  </a:ext>
                </a:extLst>
              </a:tr>
              <a:tr h="180000">
                <a:tc>
                  <a:txBody>
                    <a:bodyPr/>
                    <a:lstStyle/>
                    <a:p>
                      <a:pPr algn="l" fontAlgn="ct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MUI-BD-04-P82</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입찰참가신청서취소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OvsBidPrtcpRtrcnAply</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입찰참가신청 취소를 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rgbClr val="000000"/>
                          </a:solidFill>
                          <a:effectLst/>
                          <a:latin typeface="맑은 고딕" panose="020B0503020000020004" pitchFamily="50" charset="-127"/>
                          <a:ea typeface="+mn-ea"/>
                        </a:rPr>
                        <a:t>UC-BD-02-01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894850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MUI-BD-04-P83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err="1">
                          <a:ln>
                            <a:noFill/>
                          </a:ln>
                          <a:solidFill>
                            <a:prstClr val="black"/>
                          </a:solidFill>
                          <a:effectLst/>
                          <a:uLnTx/>
                          <a:uFillTx/>
                          <a:latin typeface="맑은 고딕" panose="020B0503020000020004" pitchFamily="50" charset="-127"/>
                          <a:ea typeface="+mn-ea"/>
                          <a:cs typeface="+mn-cs"/>
                        </a:rPr>
                        <a:t>사업별입찰등록결과조회</a:t>
                      </a:r>
                      <a:endPar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ea typeface="+mn-ea"/>
                        </a:rPr>
                        <a:t>OvsBidRegRsltByBiz</a:t>
                      </a:r>
                      <a:endParaRPr lang="en-US" altLang="ko-KR" sz="800" b="0" i="0" u="none" strike="noStrike" dirty="0">
                        <a:solidFill>
                          <a:schemeClr val="tx1"/>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사업별로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OvsBidRegRsltByBiz</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37581"/>
                  </a:ext>
                </a:extLst>
              </a:tr>
              <a:tr h="180000">
                <a:tc>
                  <a:txBody>
                    <a:bodyPr/>
                    <a:lstStyle/>
                    <a:p>
                      <a:pPr algn="l" fontAlgn="ctr"/>
                      <a:r>
                        <a:rPr lang="en-US" sz="800" b="0" i="0" u="none" strike="noStrike" kern="1200" dirty="0">
                          <a:solidFill>
                            <a:srgbClr val="000000"/>
                          </a:solidFill>
                          <a:effectLst/>
                          <a:latin typeface="맑은 고딕" panose="020B0503020000020004" pitchFamily="50" charset="-127"/>
                          <a:ea typeface="+mn-ea"/>
                          <a:cs typeface="+mn-cs"/>
                        </a:rPr>
                        <a:t>MUI-BD-06-M71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입찰서제출</a:t>
                      </a:r>
                      <a:endParaRPr lang="en-US" altLang="ko-KR" sz="800" kern="1200" dirty="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OvsTndrSbmsnPage</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2072448"/>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ovsTndrSbmsnPage_Stp1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업체담당자가 일반경쟁 공고에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참가신청한</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품목을 조회하고 각 품목별로 금액 제출 및 필요한 문서를 제출하는 화면 </a:t>
                      </a:r>
                    </a:p>
                    <a:p>
                      <a:pPr marL="0" marR="0" lvl="0" indent="0" algn="l"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rgbClr val="000000"/>
                          </a:solidFill>
                          <a:effectLst/>
                          <a:latin typeface="맑은 고딕" panose="020B0503020000020004" pitchFamily="50" charset="-127"/>
                          <a:ea typeface="+mn-ea"/>
                        </a:rPr>
                        <a:t>ovsTndrSbmsnPage_</a:t>
                      </a:r>
                      <a:r>
                        <a:rPr lang="en-US" altLang="ko-KR" sz="800" dirty="0" err="1" smtClean="0">
                          <a:solidFill>
                            <a:schemeClr val="tx1"/>
                          </a:solidFill>
                          <a:latin typeface="+mn-ea"/>
                          <a:ea typeface="+mn-ea"/>
                        </a:rPr>
                        <a:t>Stp.tsx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0468114"/>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단가제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smtClean="0">
                          <a:solidFill>
                            <a:srgbClr val="000000"/>
                          </a:solidFill>
                          <a:effectLst/>
                          <a:latin typeface="맑은 고딕" panose="020B0503020000020004" pitchFamily="50" charset="-127"/>
                          <a:ea typeface="맑은 고딕" panose="020B0503020000020004" pitchFamily="50" charset="-127"/>
                        </a:rPr>
                        <a:t>ovsTndrSbmsnPage_Stp2a</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smtClean="0">
                          <a:solidFill>
                            <a:srgbClr val="000000"/>
                          </a:solidFill>
                          <a:effectLst/>
                          <a:latin typeface="맑은 고딕" panose="020B0503020000020004" pitchFamily="50" charset="-127"/>
                          <a:ea typeface="+mn-ea"/>
                        </a:rPr>
                        <a:t>ovsTndrSbmsnPage_</a:t>
                      </a:r>
                      <a:r>
                        <a:rPr lang="en-US" altLang="ko-KR" sz="800" dirty="0" smtClean="0">
                          <a:solidFill>
                            <a:schemeClr val="tx1"/>
                          </a:solidFill>
                          <a:latin typeface="+mn-ea"/>
                          <a:ea typeface="+mn-ea"/>
                        </a:rPr>
                        <a:t>Stp2a.tsx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884160"/>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총액제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smtClean="0">
                          <a:solidFill>
                            <a:srgbClr val="000000"/>
                          </a:solidFill>
                          <a:effectLst/>
                          <a:latin typeface="맑은 고딕" panose="020B0503020000020004" pitchFamily="50" charset="-127"/>
                          <a:ea typeface="맑은 고딕" panose="020B0503020000020004" pitchFamily="50" charset="-127"/>
                        </a:rPr>
                        <a:t>ovsTndrSbmsnPage_Stp2b</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smtClean="0">
                          <a:solidFill>
                            <a:srgbClr val="000000"/>
                          </a:solidFill>
                          <a:effectLst/>
                          <a:latin typeface="맑은 고딕" panose="020B0503020000020004" pitchFamily="50" charset="-127"/>
                          <a:ea typeface="+mn-ea"/>
                        </a:rPr>
                        <a:t>ovsTndrSbmsnPage_</a:t>
                      </a:r>
                      <a:r>
                        <a:rPr lang="en-US" altLang="ko-KR" sz="800" dirty="0" smtClean="0">
                          <a:solidFill>
                            <a:schemeClr val="tx1"/>
                          </a:solidFill>
                          <a:latin typeface="+mn-ea"/>
                          <a:ea typeface="+mn-ea"/>
                        </a:rPr>
                        <a:t>Stp2b.tsx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584678"/>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ovsTndrSbmsnPage_Stp3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smtClean="0">
                          <a:solidFill>
                            <a:srgbClr val="000000"/>
                          </a:solidFill>
                          <a:effectLst/>
                          <a:latin typeface="맑은 고딕" panose="020B0503020000020004" pitchFamily="50" charset="-127"/>
                          <a:ea typeface="+mn-ea"/>
                        </a:rPr>
                        <a:t>ovsTndrSbmsnPage_</a:t>
                      </a:r>
                      <a:r>
                        <a:rPr lang="en-US" altLang="ko-KR" sz="800" dirty="0" smtClean="0">
                          <a:solidFill>
                            <a:schemeClr val="tx1"/>
                          </a:solidFill>
                          <a:latin typeface="+mn-ea"/>
                          <a:ea typeface="+mn-ea"/>
                        </a:rPr>
                        <a:t>Stp3.tsx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212286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637728"/>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331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(3/3)</a:t>
            </a:r>
            <a:endParaRPr lang="ko-KR" altLang="en-US" dirty="0"/>
          </a:p>
        </p:txBody>
      </p:sp>
      <p:graphicFrame>
        <p:nvGraphicFramePr>
          <p:cNvPr id="5" name="표 4"/>
          <p:cNvGraphicFramePr>
            <a:graphicFrameLocks noGrp="1"/>
          </p:cNvGraphicFramePr>
          <p:nvPr>
            <p:extLst/>
          </p:nvPr>
        </p:nvGraphicFramePr>
        <p:xfrm>
          <a:off x="635474" y="1413419"/>
          <a:ext cx="8701200" cy="303838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MUI-BD-06-M75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입찰서상세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ovsTndrDtlPage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ovsTndrDtlPage_Tab1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smtClean="0">
                          <a:solidFill>
                            <a:srgbClr val="000000"/>
                          </a:solidFill>
                          <a:effectLst/>
                          <a:latin typeface="맑은 고딕" panose="020B0503020000020004" pitchFamily="50" charset="-127"/>
                          <a:ea typeface="+mn-ea"/>
                        </a:rPr>
                        <a:t>ovsTndrDtlPage</a:t>
                      </a:r>
                      <a:r>
                        <a:rPr lang="en-US" altLang="ko-KR" sz="800" dirty="0" smtClean="0">
                          <a:solidFill>
                            <a:schemeClr val="tx1"/>
                          </a:solidFill>
                          <a:latin typeface="+mn-ea"/>
                          <a:ea typeface="+mn-ea"/>
                        </a:rPr>
                        <a:t>Tab2.tsx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312636"/>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smtClean="0">
                          <a:solidFill>
                            <a:srgbClr val="000000"/>
                          </a:solidFill>
                          <a:effectLst/>
                          <a:latin typeface="맑은 고딕" panose="020B0503020000020004" pitchFamily="50" charset="-127"/>
                          <a:ea typeface="+mn-ea"/>
                        </a:rPr>
                        <a:t>ovsTndrDtlPage</a:t>
                      </a:r>
                      <a:r>
                        <a:rPr lang="en-US" altLang="ko-KR" sz="800" dirty="0" smtClean="0">
                          <a:solidFill>
                            <a:schemeClr val="tx1"/>
                          </a:solidFill>
                          <a:latin typeface="+mn-ea"/>
                          <a:ea typeface="+mn-ea"/>
                        </a:rPr>
                        <a:t>Tab2.tsx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5233118"/>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단가제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ovsTndrDtlPage_Tab3a</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smtClean="0">
                          <a:solidFill>
                            <a:srgbClr val="000000"/>
                          </a:solidFill>
                          <a:effectLst/>
                          <a:latin typeface="맑은 고딕" panose="020B0503020000020004" pitchFamily="50" charset="-127"/>
                          <a:ea typeface="+mn-ea"/>
                        </a:rPr>
                        <a:t>ovsTndrDtlPage</a:t>
                      </a:r>
                      <a:r>
                        <a:rPr lang="en-US" altLang="ko-KR" sz="800" dirty="0" smtClean="0">
                          <a:solidFill>
                            <a:schemeClr val="tx1"/>
                          </a:solidFill>
                          <a:latin typeface="+mn-ea"/>
                          <a:ea typeface="+mn-ea"/>
                        </a:rPr>
                        <a:t>Tab3a.tsx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총액제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ovsTndrDtlPage_Tab3b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smtClean="0">
                          <a:solidFill>
                            <a:srgbClr val="000000"/>
                          </a:solidFill>
                          <a:effectLst/>
                          <a:latin typeface="맑은 고딕" panose="020B0503020000020004" pitchFamily="50" charset="-127"/>
                          <a:ea typeface="+mn-ea"/>
                        </a:rPr>
                        <a:t>ovsTndrDtlPage</a:t>
                      </a:r>
                      <a:r>
                        <a:rPr lang="en-US" altLang="ko-KR" sz="800" dirty="0" smtClean="0">
                          <a:solidFill>
                            <a:schemeClr val="tx1"/>
                          </a:solidFill>
                          <a:latin typeface="+mn-ea"/>
                          <a:ea typeface="+mn-ea"/>
                        </a:rPr>
                        <a:t>Tab3b.tsx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MUI-BD-06-T79</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4-</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ovsTndrDtlPage_Tab4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smtClean="0">
                          <a:solidFill>
                            <a:srgbClr val="000000"/>
                          </a:solidFill>
                          <a:effectLst/>
                          <a:latin typeface="맑은 고딕" panose="020B0503020000020004" pitchFamily="50" charset="-127"/>
                          <a:ea typeface="+mn-ea"/>
                        </a:rPr>
                        <a:t>ovsTndrDtlPage</a:t>
                      </a:r>
                      <a:r>
                        <a:rPr lang="en-US" altLang="ko-KR" sz="800" dirty="0" smtClean="0">
                          <a:solidFill>
                            <a:schemeClr val="tx1"/>
                          </a:solidFill>
                          <a:latin typeface="+mn-ea"/>
                          <a:ea typeface="+mn-ea"/>
                        </a:rPr>
                        <a:t>Tab4.tsx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MUI-BD-06-M80</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입찰등록결과조회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OvsBidRegRslt</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OvsBidRegRslt</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MUI-BD-06-P81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입찰취소신청서작성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OvsBidRtrcnAply</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업체담당자가 입찰 취소신청을 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OvsBidRtrcnAply</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UC-BD-04-01</a:t>
                      </a:r>
                    </a:p>
                    <a:p>
                      <a:pPr algn="l" fontAlgn="ctr"/>
                      <a:r>
                        <a:rPr lang="en-US" altLang="ko-KR" sz="800" dirty="0">
                          <a:latin typeface="+mn-ea"/>
                          <a:ea typeface="+mn-ea"/>
                        </a:rPr>
                        <a:t>UC-BD-07-01</a:t>
                      </a:r>
                      <a:endParaRPr lang="en-US" altLang="ko-KR" sz="800" b="0" i="0" u="none" strike="noStrike" dirty="0">
                        <a:solidFill>
                          <a:srgbClr val="000000"/>
                        </a:solidFill>
                        <a:effectLst/>
                        <a:latin typeface="맑은 고딕" panose="020B0503020000020004" pitchFamily="50" charset="-127"/>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MUI-BD-07-P71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기술평가결과조회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OvsTechEvlRslt</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기술평가 점수 및 결과를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b="0" i="0" u="none" strike="noStrike" dirty="0" err="1" smtClean="0">
                          <a:solidFill>
                            <a:schemeClr val="tx1"/>
                          </a:solidFill>
                          <a:effectLst/>
                          <a:latin typeface="맑은 고딕" panose="020B0503020000020004" pitchFamily="50" charset="-127"/>
                          <a:ea typeface="+mn-ea"/>
                        </a:rPr>
                        <a:t>OvsTechEvlRslt</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UC-BD-09-03</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33813519"/>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35697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입찰서제출</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상세</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6030043"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입찰등록결과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입찰참가신청서취소</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77"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1772964"/>
            <a:ext cx="677804" cy="194077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입찰참가신청서작성</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6030043" y="1918133"/>
            <a:ext cx="963405" cy="8617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서약서동의</a:t>
            </a:r>
            <a:r>
              <a:rPr lang="ko-KR" altLang="en-US" sz="800" dirty="0">
                <a:solidFill>
                  <a:schemeClr val="tx1"/>
                </a:solidFill>
              </a:rPr>
              <a:t> 목록</a:t>
            </a:r>
            <a:endParaRPr lang="en-US" altLang="ko-KR" sz="800" dirty="0">
              <a:solidFill>
                <a:schemeClr val="tx1"/>
              </a:solidFill>
            </a:endParaRPr>
          </a:p>
          <a:p>
            <a:r>
              <a:rPr lang="ko-KR" altLang="en-US" sz="800" dirty="0">
                <a:solidFill>
                  <a:schemeClr val="tx1"/>
                </a:solidFill>
              </a:rPr>
              <a:t>서약서 상세</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endParaRPr lang="en-US" altLang="ko-KR" sz="800" dirty="0">
              <a:solidFill>
                <a:schemeClr val="tx1"/>
              </a:solidFill>
              <a:latin typeface="+mn-ea"/>
            </a:endParaRPr>
          </a:p>
          <a:p>
            <a:r>
              <a:rPr lang="ko-KR" altLang="en-US" sz="800" dirty="0">
                <a:solidFill>
                  <a:schemeClr val="tx1"/>
                </a:solidFill>
                <a:latin typeface="+mn-ea"/>
              </a:rPr>
              <a:t>신청 완료</a:t>
            </a: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3211907"/>
            <a:ext cx="86081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1" name="직사각형 90">
            <a:extLst>
              <a:ext uri="{FF2B5EF4-FFF2-40B4-BE49-F238E27FC236}">
                <a16:creationId xmlns:a16="http://schemas.microsoft.com/office/drawing/2014/main" id="{F249990F-1DE5-C694-BDBD-2DE7009D57EA}"/>
              </a:ext>
            </a:extLst>
          </p:cNvPr>
          <p:cNvSpPr/>
          <p:nvPr/>
        </p:nvSpPr>
        <p:spPr>
          <a:xfrm>
            <a:off x="5236574" y="1599670"/>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latin typeface="+mn-ea"/>
              </a:rPr>
              <a:t>입찰참가신청</a:t>
            </a: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7866587"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입찰보증서선택</a:t>
            </a:r>
            <a:endParaRPr lang="en-US" altLang="ko-KR" sz="800" dirty="0">
              <a:solidFill>
                <a:schemeClr val="tx1"/>
              </a:solidFill>
              <a:latin typeface="+mn-ea"/>
            </a:endParaRPr>
          </a:p>
          <a:p>
            <a:pPr algn="ctr"/>
            <a:r>
              <a:rPr lang="ko-KR" altLang="en-US" sz="800" dirty="0">
                <a:solidFill>
                  <a:schemeClr val="tx1"/>
                </a:solidFill>
                <a:latin typeface="+mn-ea"/>
              </a:rPr>
              <a:t>보증서정보조회</a:t>
            </a:r>
            <a:endParaRPr lang="ko-KR" altLang="en-US" sz="800" dirty="0">
              <a:solidFill>
                <a:schemeClr val="tx1"/>
              </a:solidFill>
            </a:endParaRPr>
          </a:p>
        </p:txBody>
      </p:sp>
      <p:cxnSp>
        <p:nvCxnSpPr>
          <p:cNvPr id="96" name="직선 화살표 연결선 95">
            <a:extLst>
              <a:ext uri="{FF2B5EF4-FFF2-40B4-BE49-F238E27FC236}">
                <a16:creationId xmlns:a16="http://schemas.microsoft.com/office/drawing/2014/main" id="{9A519F08-B829-E35F-09D8-DFCD1F68B911}"/>
              </a:ext>
            </a:extLst>
          </p:cNvPr>
          <p:cNvCxnSpPr>
            <a:cxnSpLocks/>
          </p:cNvCxnSpPr>
          <p:nvPr/>
        </p:nvCxnSpPr>
        <p:spPr>
          <a:xfrm>
            <a:off x="6930043" y="1699143"/>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입찰내역</a:t>
            </a:r>
            <a:r>
              <a:rPr lang="ko-KR" altLang="en-US" sz="800" dirty="0">
                <a:solidFill>
                  <a:schemeClr val="tx1"/>
                </a:solidFill>
                <a:latin typeface="+mn-ea"/>
              </a:rPr>
              <a:t> 작성</a:t>
            </a:r>
          </a:p>
        </p:txBody>
      </p:sp>
      <p:cxnSp>
        <p:nvCxnSpPr>
          <p:cNvPr id="98" name="연결선: 꺾임 7">
            <a:extLst>
              <a:ext uri="{FF2B5EF4-FFF2-40B4-BE49-F238E27FC236}">
                <a16:creationId xmlns:a16="http://schemas.microsoft.com/office/drawing/2014/main" id="{89A2D828-4C18-4F90-6B31-722E89773AA8}"/>
              </a:ext>
            </a:extLst>
          </p:cNvPr>
          <p:cNvCxnSpPr>
            <a:cxnSpLocks/>
            <a:stCxn id="97" idx="3"/>
            <a:endCxn id="60" idx="1"/>
          </p:cNvCxnSpPr>
          <p:nvPr/>
        </p:nvCxnSpPr>
        <p:spPr>
          <a:xfrm flipV="1">
            <a:off x="5093499" y="1772964"/>
            <a:ext cx="93654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en-US" altLang="ko-KR" sz="800" dirty="0">
              <a:solidFill>
                <a:schemeClr val="tx1"/>
              </a:solidFill>
            </a:endParaRPr>
          </a:p>
          <a:p>
            <a:pPr algn="ctr"/>
            <a:r>
              <a:rPr lang="ko-KR" altLang="en-US" sz="800" dirty="0">
                <a:solidFill>
                  <a:schemeClr val="tx1"/>
                </a:solidFill>
              </a:rPr>
              <a:t>보관함</a:t>
            </a:r>
          </a:p>
        </p:txBody>
      </p:sp>
      <p:cxnSp>
        <p:nvCxnSpPr>
          <p:cNvPr id="100" name="연결선: 꺾임 7">
            <a:extLst>
              <a:ext uri="{FF2B5EF4-FFF2-40B4-BE49-F238E27FC236}">
                <a16:creationId xmlns:a16="http://schemas.microsoft.com/office/drawing/2014/main" id="{89A2D828-4C18-4F90-6B31-722E89773AA8}"/>
              </a:ext>
            </a:extLst>
          </p:cNvPr>
          <p:cNvCxnSpPr>
            <a:cxnSpLocks/>
            <a:stCxn id="52" idx="2"/>
            <a:endCxn id="99" idx="0"/>
          </p:cNvCxnSpPr>
          <p:nvPr/>
        </p:nvCxnSpPr>
        <p:spPr>
          <a:xfrm rot="5400000">
            <a:off x="3550318" y="1183255"/>
            <a:ext cx="359472" cy="18268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2420436"/>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사각형: 둥근 모서리 5">
            <a:extLst>
              <a:ext uri="{FF2B5EF4-FFF2-40B4-BE49-F238E27FC236}">
                <a16:creationId xmlns:a16="http://schemas.microsoft.com/office/drawing/2014/main" id="{410E5459-200D-7630-863C-88E5109259DF}"/>
              </a:ext>
            </a:extLst>
          </p:cNvPr>
          <p:cNvSpPr/>
          <p:nvPr/>
        </p:nvSpPr>
        <p:spPr>
          <a:xfrm>
            <a:off x="4193499"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상세</a:t>
            </a:r>
          </a:p>
        </p:txBody>
      </p:sp>
      <p:cxnSp>
        <p:nvCxnSpPr>
          <p:cNvPr id="105" name="연결선: 꺾임 7">
            <a:extLst>
              <a:ext uri="{FF2B5EF4-FFF2-40B4-BE49-F238E27FC236}">
                <a16:creationId xmlns:a16="http://schemas.microsoft.com/office/drawing/2014/main" id="{89A2D828-4C18-4F90-6B31-722E89773AA8}"/>
              </a:ext>
            </a:extLst>
          </p:cNvPr>
          <p:cNvCxnSpPr>
            <a:cxnSpLocks/>
            <a:stCxn id="77" idx="3"/>
            <a:endCxn id="104" idx="1"/>
          </p:cNvCxnSpPr>
          <p:nvPr/>
        </p:nvCxnSpPr>
        <p:spPr>
          <a:xfrm>
            <a:off x="3266608" y="3067907"/>
            <a:ext cx="926891"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6" name="직사각형 105">
            <a:extLst>
              <a:ext uri="{FF2B5EF4-FFF2-40B4-BE49-F238E27FC236}">
                <a16:creationId xmlns:a16="http://schemas.microsoft.com/office/drawing/2014/main" id="{F249990F-1DE5-C694-BDBD-2DE7009D57EA}"/>
              </a:ext>
            </a:extLst>
          </p:cNvPr>
          <p:cNvSpPr/>
          <p:nvPr/>
        </p:nvSpPr>
        <p:spPr>
          <a:xfrm>
            <a:off x="4193499" y="5176062"/>
            <a:ext cx="1346522"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endParaRPr lang="en-US" altLang="ko-KR" sz="800" dirty="0">
              <a:solidFill>
                <a:schemeClr val="tx1"/>
              </a:solidFill>
            </a:endParaRP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pPr lvl="0"/>
            <a:r>
              <a:rPr lang="ko-KR" altLang="en-US" sz="800" dirty="0">
                <a:solidFill>
                  <a:schemeClr val="tx1"/>
                </a:solidFill>
              </a:rPr>
              <a:t>탭 </a:t>
            </a:r>
            <a:r>
              <a:rPr lang="en-US" altLang="ko-KR" sz="800" dirty="0">
                <a:solidFill>
                  <a:schemeClr val="tx1"/>
                </a:solidFill>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단가제</a:t>
            </a:r>
            <a:r>
              <a:rPr lang="en-US" altLang="ko-KR" sz="800" dirty="0">
                <a:solidFill>
                  <a:prstClr val="black"/>
                </a:solidFill>
                <a:latin typeface="맑은 고딕" panose="020B0503020000020004" pitchFamily="50" charset="-127"/>
              </a:rPr>
              <a:t>)</a:t>
            </a:r>
            <a:endParaRPr lang="ko-KR" altLang="en-US" sz="800" dirty="0">
              <a:solidFill>
                <a:schemeClr val="tx1"/>
              </a:solidFill>
            </a:endParaRP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총액제</a:t>
            </a:r>
            <a:r>
              <a:rPr lang="en-US" altLang="ko-KR" sz="800" dirty="0">
                <a:solidFill>
                  <a:prstClr val="black"/>
                </a:solidFill>
                <a:latin typeface="맑은 고딕" panose="020B0503020000020004" pitchFamily="50" charset="-127"/>
              </a:rPr>
              <a:t>)</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107" name="사각형: 둥근 모서리 5">
            <a:extLst>
              <a:ext uri="{FF2B5EF4-FFF2-40B4-BE49-F238E27FC236}">
                <a16:creationId xmlns:a16="http://schemas.microsoft.com/office/drawing/2014/main" id="{410E5459-200D-7630-863C-88E5109259DF}"/>
              </a:ext>
            </a:extLst>
          </p:cNvPr>
          <p:cNvSpPr/>
          <p:nvPr/>
        </p:nvSpPr>
        <p:spPr>
          <a:xfrm>
            <a:off x="6030043" y="550541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prstClr val="black"/>
                </a:solidFill>
                <a:latin typeface="맑은 고딕" panose="020B0503020000020004" pitchFamily="50" charset="-127"/>
              </a:rPr>
              <a:t>입찰취소신청서작성</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6030043" y="61512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기술평가결과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9A519F08-B829-E35F-09D8-DFCD1F68B911}"/>
              </a:ext>
            </a:extLst>
          </p:cNvPr>
          <p:cNvCxnSpPr>
            <a:cxnSpLocks/>
            <a:stCxn id="22" idx="3"/>
            <a:endCxn id="80" idx="2"/>
          </p:cNvCxnSpPr>
          <p:nvPr/>
        </p:nvCxnSpPr>
        <p:spPr>
          <a:xfrm>
            <a:off x="6930043" y="3713734"/>
            <a:ext cx="67780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6930043" y="3713734"/>
            <a:ext cx="677804" cy="12898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연결선: 꺾임 7">
            <a:extLst>
              <a:ext uri="{FF2B5EF4-FFF2-40B4-BE49-F238E27FC236}">
                <a16:creationId xmlns:a16="http://schemas.microsoft.com/office/drawing/2014/main" id="{89A2D828-4C18-4F90-6B31-722E89773AA8}"/>
              </a:ext>
            </a:extLst>
          </p:cNvPr>
          <p:cNvCxnSpPr>
            <a:cxnSpLocks/>
            <a:stCxn id="107" idx="3"/>
            <a:endCxn id="80" idx="2"/>
          </p:cNvCxnSpPr>
          <p:nvPr/>
        </p:nvCxnSpPr>
        <p:spPr>
          <a:xfrm flipV="1">
            <a:off x="6930043" y="3713734"/>
            <a:ext cx="677804"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7">
            <a:extLst>
              <a:ext uri="{FF2B5EF4-FFF2-40B4-BE49-F238E27FC236}">
                <a16:creationId xmlns:a16="http://schemas.microsoft.com/office/drawing/2014/main" id="{89A2D828-4C18-4F90-6B31-722E89773AA8}"/>
              </a:ext>
            </a:extLst>
          </p:cNvPr>
          <p:cNvCxnSpPr>
            <a:cxnSpLocks/>
            <a:stCxn id="108" idx="3"/>
            <a:endCxn id="80" idx="2"/>
          </p:cNvCxnSpPr>
          <p:nvPr/>
        </p:nvCxnSpPr>
        <p:spPr>
          <a:xfrm flipV="1">
            <a:off x="6930043" y="3713734"/>
            <a:ext cx="677804" cy="25815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3067907"/>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04" idx="3"/>
            <a:endCxn id="40" idx="1"/>
          </p:cNvCxnSpPr>
          <p:nvPr/>
        </p:nvCxnSpPr>
        <p:spPr>
          <a:xfrm>
            <a:off x="5093499" y="5003588"/>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a:stCxn id="104" idx="3"/>
            <a:endCxn id="107" idx="1"/>
          </p:cNvCxnSpPr>
          <p:nvPr/>
        </p:nvCxnSpPr>
        <p:spPr>
          <a:xfrm>
            <a:off x="5093499" y="5003588"/>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2" name="사각형: 둥근 모서리 5">
            <a:extLst>
              <a:ext uri="{FF2B5EF4-FFF2-40B4-BE49-F238E27FC236}">
                <a16:creationId xmlns:a16="http://schemas.microsoft.com/office/drawing/2014/main" id="{410E5459-200D-7630-863C-88E5109259DF}"/>
              </a:ext>
            </a:extLst>
          </p:cNvPr>
          <p:cNvSpPr/>
          <p:nvPr/>
        </p:nvSpPr>
        <p:spPr>
          <a:xfrm>
            <a:off x="6030043" y="42155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prstClr val="black"/>
                </a:solidFill>
                <a:latin typeface="맑은 고딕" panose="020B0503020000020004" pitchFamily="50" charset="-127"/>
              </a:rPr>
              <a:t>사업별입찰등록결과조회</a:t>
            </a:r>
            <a:endParaRPr lang="ko-KR" altLang="en-US" sz="800" dirty="0">
              <a:solidFill>
                <a:schemeClr val="tx1"/>
              </a:solidFill>
            </a:endParaRPr>
          </a:p>
        </p:txBody>
      </p:sp>
      <p:cxnSp>
        <p:nvCxnSpPr>
          <p:cNvPr id="143" name="연결선: 꺾임 7">
            <a:extLst>
              <a:ext uri="{FF2B5EF4-FFF2-40B4-BE49-F238E27FC236}">
                <a16:creationId xmlns:a16="http://schemas.microsoft.com/office/drawing/2014/main" id="{89A2D828-4C18-4F90-6B31-722E89773AA8}"/>
              </a:ext>
            </a:extLst>
          </p:cNvPr>
          <p:cNvCxnSpPr>
            <a:cxnSpLocks/>
            <a:stCxn id="53" idx="3"/>
            <a:endCxn id="132" idx="1"/>
          </p:cNvCxnSpPr>
          <p:nvPr/>
        </p:nvCxnSpPr>
        <p:spPr>
          <a:xfrm>
            <a:off x="5093499" y="3067907"/>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연결선: 꺾임 7">
            <a:extLst>
              <a:ext uri="{FF2B5EF4-FFF2-40B4-BE49-F238E27FC236}">
                <a16:creationId xmlns:a16="http://schemas.microsoft.com/office/drawing/2014/main" id="{89A2D828-4C18-4F90-6B31-722E89773AA8}"/>
              </a:ext>
            </a:extLst>
          </p:cNvPr>
          <p:cNvCxnSpPr>
            <a:cxnSpLocks/>
            <a:stCxn id="104" idx="3"/>
            <a:endCxn id="108" idx="1"/>
          </p:cNvCxnSpPr>
          <p:nvPr/>
        </p:nvCxnSpPr>
        <p:spPr>
          <a:xfrm>
            <a:off x="5093499" y="5003588"/>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연결선: 꺾임 7">
            <a:extLst>
              <a:ext uri="{FF2B5EF4-FFF2-40B4-BE49-F238E27FC236}">
                <a16:creationId xmlns:a16="http://schemas.microsoft.com/office/drawing/2014/main" id="{89A2D828-4C18-4F90-6B31-722E89773AA8}"/>
              </a:ext>
            </a:extLst>
          </p:cNvPr>
          <p:cNvCxnSpPr>
            <a:cxnSpLocks/>
            <a:stCxn id="95" idx="0"/>
            <a:endCxn id="60" idx="0"/>
          </p:cNvCxnSpPr>
          <p:nvPr/>
        </p:nvCxnSpPr>
        <p:spPr>
          <a:xfrm rot="16200000" flipV="1">
            <a:off x="7398315" y="710692"/>
            <a:ext cx="12700" cy="183654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2054757"/>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endParaRPr lang="en-US" altLang="ko-KR" sz="1050" dirty="0">
              <a:solidFill>
                <a:schemeClr val="tx1"/>
              </a:solidFill>
            </a:endParaRPr>
          </a:p>
          <a:p>
            <a:pPr algn="ctr">
              <a:lnSpc>
                <a:spcPct val="120000"/>
              </a:lnSpc>
            </a:pPr>
            <a:r>
              <a:rPr lang="en-US" altLang="ko-KR" sz="1050" dirty="0">
                <a:solidFill>
                  <a:schemeClr val="tx1"/>
                </a:solidFill>
              </a:rPr>
              <a:t>ovsBidPrtcpAply.tsx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smtClean="0">
                <a:solidFill>
                  <a:schemeClr val="tx1"/>
                </a:solidFill>
                <a:latin typeface="+mn-ea"/>
              </a:rPr>
              <a:t>서약서동의</a:t>
            </a:r>
            <a:r>
              <a:rPr lang="ko-KR" altLang="en-US" sz="1050" dirty="0" smtClean="0">
                <a:solidFill>
                  <a:schemeClr val="tx1"/>
                </a:solidFill>
                <a:latin typeface="+mn-ea"/>
              </a:rPr>
              <a:t> </a:t>
            </a:r>
            <a:r>
              <a:rPr lang="ko-KR" altLang="en-US" sz="1050" dirty="0">
                <a:solidFill>
                  <a:schemeClr val="tx1"/>
                </a:solidFill>
                <a:latin typeface="+mn-ea"/>
              </a:rPr>
              <a:t>목록</a:t>
            </a:r>
            <a:endParaRPr lang="en-US" altLang="ko-KR" sz="1050" dirty="0">
              <a:solidFill>
                <a:schemeClr val="tx1"/>
              </a:solidFill>
            </a:endParaRPr>
          </a:p>
          <a:p>
            <a:pPr algn="ctr">
              <a:lnSpc>
                <a:spcPct val="120000"/>
              </a:lnSpc>
            </a:pPr>
            <a:r>
              <a:rPr lang="en-US" altLang="ko-KR" sz="1050" dirty="0">
                <a:solidFill>
                  <a:schemeClr val="tx1"/>
                </a:solidFill>
              </a:rPr>
              <a:t>OvsBidPrtcpAplyPage.tsx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스탭</a:t>
            </a:r>
            <a:r>
              <a:rPr lang="en-US" altLang="ko-KR" sz="1050" dirty="0">
                <a:solidFill>
                  <a:schemeClr val="tx1"/>
                </a:solidFill>
                <a:latin typeface="+mn-ea"/>
              </a:rPr>
              <a:t>1-</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ovsBidPrtcpAplyPage_Stp1.tsx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스탭</a:t>
            </a:r>
            <a:r>
              <a:rPr lang="en-US" altLang="ko-KR" sz="1050" dirty="0">
                <a:solidFill>
                  <a:schemeClr val="tx1"/>
                </a:solidFill>
                <a:latin typeface="+mn-ea"/>
              </a:rPr>
              <a:t>2-</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ovsBidPrtcpAplyPage_Stp2.tsx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스탭</a:t>
            </a:r>
            <a:r>
              <a:rPr lang="en-US" altLang="ko-KR" sz="1050" dirty="0">
                <a:solidFill>
                  <a:schemeClr val="tx1"/>
                </a:solidFill>
                <a:latin typeface="+mn-ea"/>
              </a:rPr>
              <a:t>3-</a:t>
            </a:r>
            <a:r>
              <a:rPr lang="ko-KR" altLang="en-US" sz="1050" dirty="0">
                <a:solidFill>
                  <a:schemeClr val="tx1"/>
                </a:solidFill>
                <a:latin typeface="+mn-ea"/>
              </a:rPr>
              <a:t>입찰보증금</a:t>
            </a:r>
            <a:endParaRPr lang="en-US" altLang="ko-KR" sz="1050" dirty="0">
              <a:solidFill>
                <a:schemeClr val="tx1"/>
              </a:solidFill>
            </a:endParaRPr>
          </a:p>
          <a:p>
            <a:pPr algn="ctr">
              <a:lnSpc>
                <a:spcPct val="120000"/>
              </a:lnSpc>
            </a:pPr>
            <a:r>
              <a:rPr lang="en-US" altLang="ko-KR" sz="1050" dirty="0">
                <a:solidFill>
                  <a:schemeClr val="tx1"/>
                </a:solidFill>
              </a:rPr>
              <a:t>ovsBidPrtcpAplyPage_Stp3.tsx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스탭</a:t>
            </a:r>
            <a:r>
              <a:rPr lang="en-US" altLang="ko-KR" sz="1050" dirty="0">
                <a:solidFill>
                  <a:schemeClr val="tx1"/>
                </a:solidFill>
                <a:latin typeface="+mn-ea"/>
              </a:rPr>
              <a:t>4-</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Calibri" panose="020F0502020204030204" pitchFamily="34" charset="0"/>
              </a:rPr>
              <a:t>ovsBidPrtcpAplyPage_AtchDocReg</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입찰보증서선택</a:t>
            </a:r>
            <a:endParaRPr lang="en-US" altLang="ko-KR" sz="1050" dirty="0">
              <a:solidFill>
                <a:schemeClr val="tx1"/>
              </a:solidFill>
            </a:endParaRPr>
          </a:p>
          <a:p>
            <a:pPr algn="ctr">
              <a:lnSpc>
                <a:spcPct val="120000"/>
              </a:lnSpc>
            </a:pPr>
            <a:r>
              <a:rPr lang="en-US" altLang="ko-KR" sz="1050" dirty="0">
                <a:solidFill>
                  <a:schemeClr val="tx1"/>
                </a:solidFill>
              </a:rPr>
              <a:t>OvsBidWtgrInq.tsx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보증서정보조회</a:t>
            </a:r>
            <a:endParaRPr lang="en-US" altLang="ko-KR" sz="1050" dirty="0">
              <a:solidFill>
                <a:schemeClr val="tx1"/>
              </a:solidFill>
            </a:endParaRPr>
          </a:p>
          <a:p>
            <a:pPr algn="ctr">
              <a:lnSpc>
                <a:spcPct val="120000"/>
              </a:lnSpc>
            </a:pPr>
            <a:r>
              <a:rPr lang="en-US" altLang="ko-KR" sz="1050" dirty="0">
                <a:solidFill>
                  <a:schemeClr val="tx1"/>
                </a:solidFill>
              </a:rPr>
              <a:t>OvsBidWtgrDtl.tsx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입찰참가신청서상세</a:t>
            </a:r>
            <a:endParaRPr lang="en-US" altLang="ko-KR" sz="1050" dirty="0">
              <a:solidFill>
                <a:schemeClr val="tx1"/>
              </a:solidFill>
            </a:endParaRPr>
          </a:p>
          <a:p>
            <a:pPr algn="ctr">
              <a:lnSpc>
                <a:spcPct val="120000"/>
              </a:lnSpc>
            </a:pPr>
            <a:r>
              <a:rPr lang="en-US" altLang="ko-KR" sz="1050" dirty="0">
                <a:solidFill>
                  <a:schemeClr val="tx1"/>
                </a:solidFill>
              </a:rPr>
              <a:t>ovsBidPrtcpApfrDtl.tsx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탭</a:t>
            </a:r>
            <a:r>
              <a:rPr lang="en-US" altLang="ko-KR" sz="1050" dirty="0">
                <a:solidFill>
                  <a:schemeClr val="tx1"/>
                </a:solidFill>
                <a:latin typeface="+mn-ea"/>
              </a:rPr>
              <a:t>2-</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ovsBidPrtcpApfrDtlPage_Tab2.tsx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탭</a:t>
            </a:r>
            <a:r>
              <a:rPr lang="en-US" altLang="ko-KR" sz="1050" dirty="0">
                <a:solidFill>
                  <a:schemeClr val="tx1"/>
                </a:solidFill>
                <a:latin typeface="+mn-ea"/>
              </a:rPr>
              <a:t>4-</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ovsBidPrtcpApfrDtlPage_Tab4.tsx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탭</a:t>
            </a:r>
            <a:r>
              <a:rPr lang="en-US" altLang="ko-KR" sz="1050" dirty="0">
                <a:solidFill>
                  <a:schemeClr val="tx1"/>
                </a:solidFill>
                <a:latin typeface="+mn-ea"/>
              </a:rPr>
              <a:t>1-</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ovsBidPrtcpApfrDtlPage.tsx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탭</a:t>
            </a:r>
            <a:r>
              <a:rPr lang="en-US" altLang="ko-KR" sz="1050" dirty="0">
                <a:solidFill>
                  <a:schemeClr val="tx1"/>
                </a:solidFill>
                <a:latin typeface="+mn-ea"/>
              </a:rPr>
              <a:t>3-</a:t>
            </a:r>
            <a:r>
              <a:rPr lang="ko-KR" altLang="en-US" sz="1050" dirty="0">
                <a:solidFill>
                  <a:schemeClr val="tx1"/>
                </a:solidFill>
                <a:latin typeface="+mn-ea"/>
              </a:rPr>
              <a:t>입찰보증금</a:t>
            </a:r>
            <a:endParaRPr lang="en-US" altLang="ko-KR" sz="1050" dirty="0">
              <a:solidFill>
                <a:schemeClr val="tx1"/>
              </a:solidFill>
            </a:endParaRPr>
          </a:p>
          <a:p>
            <a:pPr algn="ctr">
              <a:lnSpc>
                <a:spcPct val="120000"/>
              </a:lnSpc>
            </a:pPr>
            <a:r>
              <a:rPr lang="en-US" altLang="ko-KR" sz="1050" dirty="0">
                <a:solidFill>
                  <a:schemeClr val="tx1"/>
                </a:solidFill>
              </a:rPr>
              <a:t>ovsBidPrtcpApfrDtlPage_Tab3.tsx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8"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stCxn id="9" idx="3"/>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201301519"/>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입찰참가신청서취소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ovsBidPrtcpRtrcnAply</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사업별입찰등록결과조회</a:t>
            </a:r>
            <a:endParaRPr lang="en-US" altLang="ko-KR" sz="1050" dirty="0">
              <a:solidFill>
                <a:schemeClr val="tx1"/>
              </a:solidFill>
            </a:endParaRPr>
          </a:p>
          <a:p>
            <a:pPr algn="ctr">
              <a:lnSpc>
                <a:spcPct val="120000"/>
              </a:lnSpc>
            </a:pPr>
            <a:r>
              <a:rPr lang="en-US" altLang="ko-KR" sz="1050" dirty="0">
                <a:solidFill>
                  <a:schemeClr val="tx1"/>
                </a:solidFill>
                <a:latin typeface="+mn-ea"/>
              </a:rPr>
              <a:t>ovsBidRegRsltByBiz</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endParaRPr lang="en-US" altLang="ko-KR" sz="1050" dirty="0">
              <a:solidFill>
                <a:schemeClr val="tx1"/>
              </a:solidFill>
            </a:endParaRPr>
          </a:p>
          <a:p>
            <a:pPr algn="ctr">
              <a:lnSpc>
                <a:spcPct val="120000"/>
              </a:lnSpc>
            </a:pPr>
            <a:r>
              <a:rPr lang="en-US" altLang="ko-KR" sz="1050" dirty="0">
                <a:solidFill>
                  <a:schemeClr val="tx1"/>
                </a:solidFill>
                <a:latin typeface="+mn-ea"/>
              </a:rPr>
              <a:t>ovsTndrSbmsnPage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스탭</a:t>
            </a:r>
            <a:r>
              <a:rPr lang="en-US" altLang="ko-KR" sz="1050" dirty="0">
                <a:solidFill>
                  <a:schemeClr val="tx1"/>
                </a:solidFill>
                <a:latin typeface="+mn-ea"/>
              </a:rPr>
              <a:t>1-</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ovsTndrSbmsnPage_Stp1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스탭</a:t>
            </a:r>
            <a:r>
              <a:rPr lang="en-US" altLang="ko-KR" sz="1050" dirty="0">
                <a:solidFill>
                  <a:schemeClr val="tx1"/>
                </a:solidFill>
                <a:latin typeface="+mn-ea"/>
              </a:rPr>
              <a:t>2-</a:t>
            </a:r>
            <a:r>
              <a:rPr lang="ko-KR" altLang="en-US" sz="1050" dirty="0">
                <a:solidFill>
                  <a:schemeClr val="tx1"/>
                </a:solidFill>
                <a:latin typeface="+mn-ea"/>
              </a:rPr>
              <a:t>입찰참여품목</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ovsTndrSbmsnPage_Stp2a</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err="1">
                <a:latin typeface="+mn-ea"/>
              </a:rPr>
              <a:t>스탭</a:t>
            </a:r>
            <a:r>
              <a:rPr lang="en-US" altLang="ko-KR" sz="1050" dirty="0">
                <a:latin typeface="+mn-ea"/>
              </a:rPr>
              <a:t>2-</a:t>
            </a:r>
            <a:r>
              <a:rPr lang="ko-KR" altLang="en-US" sz="1050" dirty="0">
                <a:latin typeface="+mn-ea"/>
              </a:rPr>
              <a:t>입찰참여품목</a:t>
            </a:r>
            <a:r>
              <a:rPr lang="en-US" altLang="ko-KR" sz="1050" dirty="0">
                <a:latin typeface="+mn-ea"/>
              </a:rPr>
              <a:t>(</a:t>
            </a:r>
            <a:r>
              <a:rPr lang="ko-KR" altLang="en-US" sz="1050" dirty="0" err="1">
                <a:latin typeface="+mn-ea"/>
              </a:rPr>
              <a:t>총액제</a:t>
            </a:r>
            <a:r>
              <a:rPr lang="en-US" altLang="ko-KR" sz="1050" dirty="0">
                <a:latin typeface="+mn-ea"/>
              </a:rPr>
              <a:t>)</a:t>
            </a:r>
            <a:endParaRPr lang="en-US" altLang="ko-KR" sz="1050" dirty="0"/>
          </a:p>
          <a:p>
            <a:pPr algn="ctr">
              <a:lnSpc>
                <a:spcPct val="120000"/>
              </a:lnSpc>
            </a:pPr>
            <a:r>
              <a:rPr lang="en-US" altLang="ko-KR" sz="1050" dirty="0" smtClean="0"/>
              <a:t>ovsTndrSbmsnPage_Stp2b.tsx</a:t>
            </a:r>
            <a:r>
              <a:rPr lang="en-US" altLang="ko-KR" sz="1050" b="1" baseline="30000" dirty="0" smtClean="0">
                <a:latin typeface="+mn-ea"/>
              </a:rPr>
              <a:t>1</a:t>
            </a:r>
            <a:r>
              <a:rPr lang="en-US" altLang="ko-KR" sz="1050" b="1" baseline="30000" dirty="0">
                <a:latin typeface="+mn-ea"/>
              </a:rPr>
              <a:t>)</a:t>
            </a:r>
            <a:endParaRPr lang="en-US" altLang="ko-KR" sz="1050" dirty="0"/>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err="1">
                <a:latin typeface="+mn-ea"/>
              </a:rPr>
              <a:t>스탭</a:t>
            </a:r>
            <a:r>
              <a:rPr lang="en-US" altLang="ko-KR" sz="1050" dirty="0">
                <a:latin typeface="+mn-ea"/>
              </a:rPr>
              <a:t>3-</a:t>
            </a:r>
            <a:r>
              <a:rPr lang="ko-KR" altLang="en-US" sz="1050" dirty="0">
                <a:latin typeface="+mn-ea"/>
              </a:rPr>
              <a:t>첨부파일</a:t>
            </a:r>
            <a:endParaRPr lang="en-US" altLang="ko-KR" sz="1050" dirty="0"/>
          </a:p>
          <a:p>
            <a:pPr algn="ctr">
              <a:lnSpc>
                <a:spcPct val="120000"/>
              </a:lnSpc>
            </a:pPr>
            <a:r>
              <a:rPr lang="en-US" altLang="ko-KR" sz="1050" dirty="0"/>
              <a:t>ovsTndrSbmsnPage_Stp3.tsx</a:t>
            </a:r>
            <a:r>
              <a:rPr lang="en-US" altLang="ko-KR" sz="1050" b="1" baseline="30000" dirty="0" smtClean="0">
                <a:latin typeface="+mn-ea"/>
              </a:rPr>
              <a:t>1</a:t>
            </a:r>
            <a:r>
              <a:rPr lang="en-US" altLang="ko-KR" sz="1050" b="1" baseline="30000" dirty="0">
                <a:latin typeface="+mn-ea"/>
              </a:rPr>
              <a:t>)</a:t>
            </a:r>
            <a:endParaRPr lang="en-US" altLang="ko-KR" sz="1050" dirty="0"/>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err="1">
                <a:latin typeface="+mn-ea"/>
              </a:rPr>
              <a:t>입찰서상세</a:t>
            </a:r>
            <a:endParaRPr lang="en-US" altLang="ko-KR" sz="1050" dirty="0"/>
          </a:p>
          <a:p>
            <a:pPr algn="ctr">
              <a:lnSpc>
                <a:spcPct val="120000"/>
              </a:lnSpc>
            </a:pPr>
            <a:r>
              <a:rPr lang="en-US" altLang="ko-KR" sz="1050" dirty="0"/>
              <a:t>ovsTndrDtlPage.tsx</a:t>
            </a:r>
            <a:r>
              <a:rPr lang="en-US" altLang="ko-KR" sz="1050" b="1" baseline="30000" dirty="0" smtClean="0">
                <a:latin typeface="+mn-ea"/>
              </a:rPr>
              <a:t>1</a:t>
            </a:r>
            <a:r>
              <a:rPr lang="en-US" altLang="ko-KR" sz="1050" b="1" baseline="30000" dirty="0">
                <a:latin typeface="+mn-ea"/>
              </a:rPr>
              <a:t>)</a:t>
            </a:r>
            <a:endParaRPr lang="en-US" altLang="ko-KR" sz="1050" dirty="0"/>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탭</a:t>
            </a:r>
            <a:r>
              <a:rPr lang="en-US" altLang="ko-KR" sz="1050" dirty="0">
                <a:solidFill>
                  <a:schemeClr val="tx1"/>
                </a:solidFill>
                <a:latin typeface="맑은 고딕" panose="020B0503020000020004" pitchFamily="50" charset="-127"/>
              </a:rPr>
              <a:t>1-</a:t>
            </a:r>
            <a:r>
              <a:rPr lang="ko-KR" altLang="en-US" sz="1050" dirty="0">
                <a:solidFill>
                  <a:schemeClr val="tx1"/>
                </a:solidFill>
                <a:latin typeface="맑은 고딕" panose="020B0503020000020004" pitchFamily="50" charset="-127"/>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ovsTndrDtlPage_Tab1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탭</a:t>
            </a:r>
            <a:r>
              <a:rPr lang="en-US" altLang="ko-KR" sz="1050" dirty="0">
                <a:solidFill>
                  <a:schemeClr val="tx1"/>
                </a:solidFill>
                <a:latin typeface="맑은 고딕" panose="020B0503020000020004" pitchFamily="50" charset="-127"/>
              </a:rPr>
              <a:t>3-</a:t>
            </a:r>
            <a:r>
              <a:rPr lang="ko-KR" altLang="en-US" sz="1050" dirty="0">
                <a:solidFill>
                  <a:schemeClr val="tx1"/>
                </a:solidFill>
                <a:latin typeface="맑은 고딕" panose="020B0503020000020004" pitchFamily="50" charset="-127"/>
              </a:rPr>
              <a:t>입찰참여품목</a:t>
            </a:r>
            <a:r>
              <a:rPr lang="en-US" altLang="ko-KR" sz="1050" dirty="0">
                <a:solidFill>
                  <a:schemeClr val="tx1"/>
                </a:solidFill>
                <a:latin typeface="맑은 고딕" panose="020B0503020000020004" pitchFamily="50" charset="-127"/>
              </a:rPr>
              <a:t>(</a:t>
            </a:r>
            <a:r>
              <a:rPr lang="ko-KR" altLang="en-US" sz="1050" dirty="0" err="1">
                <a:solidFill>
                  <a:schemeClr val="tx1"/>
                </a:solidFill>
                <a:latin typeface="맑은 고딕" panose="020B0503020000020004" pitchFamily="50" charset="-127"/>
              </a:rPr>
              <a:t>단가제</a:t>
            </a:r>
            <a:r>
              <a:rPr lang="en-US" altLang="ko-KR" sz="1050" dirty="0">
                <a:solidFill>
                  <a:schemeClr val="tx1"/>
                </a:solidFill>
                <a:latin typeface="맑은 고딕" panose="020B0503020000020004" pitchFamily="50" charset="-127"/>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ovsTndrDtlPage_Tab3a</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탭</a:t>
            </a:r>
            <a:r>
              <a:rPr lang="en-US" altLang="ko-KR" sz="1050" dirty="0">
                <a:solidFill>
                  <a:schemeClr val="tx1"/>
                </a:solidFill>
                <a:latin typeface="맑은 고딕" panose="020B0503020000020004" pitchFamily="50" charset="-127"/>
              </a:rPr>
              <a:t>4-</a:t>
            </a:r>
            <a:r>
              <a:rPr lang="ko-KR" altLang="en-US" sz="1050" dirty="0">
                <a:solidFill>
                  <a:schemeClr val="tx1"/>
                </a:solidFill>
                <a:latin typeface="맑은 고딕" panose="020B0503020000020004" pitchFamily="50" charset="-127"/>
              </a:rPr>
              <a:t>첨부파일</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ovsTndrDtlPage_Tab4</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탭</a:t>
            </a:r>
            <a:r>
              <a:rPr lang="en-US" altLang="ko-KR" sz="1050" dirty="0">
                <a:solidFill>
                  <a:schemeClr val="tx1"/>
                </a:solidFill>
                <a:latin typeface="맑은 고딕" panose="020B0503020000020004" pitchFamily="50" charset="-127"/>
              </a:rPr>
              <a:t>3-</a:t>
            </a:r>
            <a:r>
              <a:rPr lang="ko-KR" altLang="en-US" sz="1050" dirty="0">
                <a:solidFill>
                  <a:schemeClr val="tx1"/>
                </a:solidFill>
                <a:latin typeface="맑은 고딕" panose="020B0503020000020004" pitchFamily="50" charset="-127"/>
              </a:rPr>
              <a:t>입찰참여품목</a:t>
            </a:r>
            <a:r>
              <a:rPr lang="en-US" altLang="ko-KR" sz="1050" dirty="0">
                <a:solidFill>
                  <a:schemeClr val="tx1"/>
                </a:solidFill>
                <a:latin typeface="맑은 고딕" panose="020B0503020000020004" pitchFamily="50" charset="-127"/>
              </a:rPr>
              <a:t>(</a:t>
            </a:r>
            <a:r>
              <a:rPr lang="ko-KR" altLang="en-US" sz="1050" dirty="0" err="1">
                <a:solidFill>
                  <a:schemeClr val="tx1"/>
                </a:solidFill>
                <a:latin typeface="맑은 고딕" panose="020B0503020000020004" pitchFamily="50" charset="-127"/>
              </a:rPr>
              <a:t>총액제</a:t>
            </a:r>
            <a:r>
              <a:rPr lang="en-US" altLang="ko-KR" sz="1050" dirty="0">
                <a:solidFill>
                  <a:schemeClr val="tx1"/>
                </a:solidFill>
                <a:latin typeface="맑은 고딕" panose="020B0503020000020004" pitchFamily="50" charset="-127"/>
              </a:rPr>
              <a:t>)</a:t>
            </a:r>
            <a:endParaRPr lang="en-US" altLang="ko-KR" sz="1050" dirty="0">
              <a:solidFill>
                <a:schemeClr val="tx1"/>
              </a:solidFill>
            </a:endParaRPr>
          </a:p>
          <a:p>
            <a:pPr algn="ctr">
              <a:lnSpc>
                <a:spcPct val="120000"/>
              </a:lnSpc>
            </a:pPr>
            <a:r>
              <a:rPr lang="en-US" altLang="ko-KR" sz="1050" dirty="0">
                <a:solidFill>
                  <a:schemeClr val="tx1"/>
                </a:solidFill>
              </a:rPr>
              <a:t>ovsTndrDtlPage_Tab3b.tsx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9"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
        <p:nvSpPr>
          <p:cNvPr id="46" name="직사각형 45">
            <a:extLst>
              <a:ext uri="{FF2B5EF4-FFF2-40B4-BE49-F238E27FC236}">
                <a16:creationId xmlns:a16="http://schemas.microsoft.com/office/drawing/2014/main" id="{BE6CF8B0-B538-B16B-F0EB-F1F49287D1E5}"/>
              </a:ext>
            </a:extLst>
          </p:cNvPr>
          <p:cNvSpPr/>
          <p:nvPr/>
        </p:nvSpPr>
        <p:spPr>
          <a:xfrm>
            <a:off x="6913418" y="4619689"/>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기술평가</a:t>
            </a:r>
            <a:r>
              <a:rPr lang="en-US" altLang="ko-KR" sz="900" dirty="0"/>
              <a:t>Controller&gt;&gt;</a:t>
            </a:r>
          </a:p>
          <a:p>
            <a:pPr algn="ctr"/>
            <a:r>
              <a:rPr lang="en-US" altLang="ko-KR" sz="900" dirty="0" err="1"/>
              <a:t>TechEvlController</a:t>
            </a:r>
            <a:endParaRPr lang="en-US" altLang="ko-KR" sz="900" dirty="0"/>
          </a:p>
        </p:txBody>
      </p:sp>
      <p:cxnSp>
        <p:nvCxnSpPr>
          <p:cNvPr id="47" name="직선 연결선 46">
            <a:extLst>
              <a:ext uri="{FF2B5EF4-FFF2-40B4-BE49-F238E27FC236}">
                <a16:creationId xmlns:a16="http://schemas.microsoft.com/office/drawing/2014/main" id="{A8B10782-0A07-A41D-DB15-978B72410A31}"/>
              </a:ext>
            </a:extLst>
          </p:cNvPr>
          <p:cNvCxnSpPr>
            <a:stCxn id="9" idx="3"/>
            <a:endCxn id="46" idx="1"/>
          </p:cNvCxnSpPr>
          <p:nvPr/>
        </p:nvCxnSpPr>
        <p:spPr>
          <a:xfrm>
            <a:off x="5687291" y="2990174"/>
            <a:ext cx="1226127" cy="1872495"/>
          </a:xfrm>
          <a:prstGeom prst="line">
            <a:avLst/>
          </a:prstGeom>
        </p:spPr>
        <p:style>
          <a:lnRef idx="1">
            <a:schemeClr val="dk1"/>
          </a:lnRef>
          <a:fillRef idx="0">
            <a:schemeClr val="dk1"/>
          </a:fillRef>
          <a:effectRef idx="0">
            <a:schemeClr val="dk1"/>
          </a:effectRef>
          <a:fontRef idx="minor">
            <a:schemeClr val="tx1"/>
          </a:fontRef>
        </p:style>
      </p:cxnSp>
      <p:sp>
        <p:nvSpPr>
          <p:cNvPr id="48" name="직사각형 47">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탭</a:t>
            </a:r>
            <a:r>
              <a:rPr lang="en-US" altLang="ko-KR" sz="1050" dirty="0">
                <a:solidFill>
                  <a:schemeClr val="tx1"/>
                </a:solidFill>
                <a:latin typeface="맑은 고딕" panose="020B0503020000020004" pitchFamily="50" charset="-127"/>
              </a:rPr>
              <a:t>2-</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ovsTndrDtlPage_Tab2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Tree>
    <p:extLst>
      <p:ext uri="{BB962C8B-B14F-4D97-AF65-F5344CB8AC3E}">
        <p14:creationId xmlns:p14="http://schemas.microsoft.com/office/powerpoint/2010/main" val="2430311607"/>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입찰등록결과상세</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ovsBidRegRslt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mn-ea"/>
              </a:rPr>
              <a:t>ovsBidRtrcnAply</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기술평가결과조회</a:t>
            </a:r>
            <a:endParaRPr lang="en-US" altLang="ko-KR" sz="1050" dirty="0">
              <a:solidFill>
                <a:schemeClr val="tx1"/>
              </a:solidFill>
            </a:endParaRPr>
          </a:p>
          <a:p>
            <a:pPr algn="ctr">
              <a:lnSpc>
                <a:spcPct val="120000"/>
              </a:lnSpc>
            </a:pPr>
            <a:r>
              <a:rPr lang="en-US" altLang="ko-KR" sz="1050" dirty="0">
                <a:solidFill>
                  <a:schemeClr val="tx1"/>
                </a:solidFill>
                <a:latin typeface="+mn-ea"/>
              </a:rPr>
              <a:t>ovsTechEvlRslt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smtClean="0">
                <a:solidFill>
                  <a:schemeClr val="tx1"/>
                </a:solidFill>
              </a:rPr>
              <a:t>(3/3)</a:t>
            </a:r>
            <a:endParaRPr lang="ko-KR" altLang="en-US" sz="1200" dirty="0">
              <a:solidFill>
                <a:schemeClr val="tx1"/>
              </a:solidFill>
            </a:endParaRPr>
          </a:p>
        </p:txBody>
      </p: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9"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
        <p:nvSpPr>
          <p:cNvPr id="46" name="직사각형 45">
            <a:extLst>
              <a:ext uri="{FF2B5EF4-FFF2-40B4-BE49-F238E27FC236}">
                <a16:creationId xmlns:a16="http://schemas.microsoft.com/office/drawing/2014/main" id="{BE6CF8B0-B538-B16B-F0EB-F1F49287D1E5}"/>
              </a:ext>
            </a:extLst>
          </p:cNvPr>
          <p:cNvSpPr/>
          <p:nvPr/>
        </p:nvSpPr>
        <p:spPr>
          <a:xfrm>
            <a:off x="6913418" y="4619689"/>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기술평가</a:t>
            </a:r>
            <a:r>
              <a:rPr lang="en-US" altLang="ko-KR" sz="900" dirty="0"/>
              <a:t>Controller&gt;&gt;</a:t>
            </a:r>
          </a:p>
          <a:p>
            <a:pPr algn="ctr"/>
            <a:r>
              <a:rPr lang="en-US" altLang="ko-KR" sz="900" dirty="0" err="1"/>
              <a:t>TechEvlController</a:t>
            </a:r>
            <a:endParaRPr lang="en-US" altLang="ko-KR" sz="900" dirty="0"/>
          </a:p>
        </p:txBody>
      </p:sp>
      <p:cxnSp>
        <p:nvCxnSpPr>
          <p:cNvPr id="47" name="직선 연결선 46">
            <a:extLst>
              <a:ext uri="{FF2B5EF4-FFF2-40B4-BE49-F238E27FC236}">
                <a16:creationId xmlns:a16="http://schemas.microsoft.com/office/drawing/2014/main" id="{A8B10782-0A07-A41D-DB15-978B72410A31}"/>
              </a:ext>
            </a:extLst>
          </p:cNvPr>
          <p:cNvCxnSpPr>
            <a:stCxn id="9" idx="3"/>
            <a:endCxn id="46" idx="1"/>
          </p:cNvCxnSpPr>
          <p:nvPr/>
        </p:nvCxnSpPr>
        <p:spPr>
          <a:xfrm>
            <a:off x="5687291" y="2990174"/>
            <a:ext cx="1226127" cy="1872495"/>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46407580"/>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탭 아이디 별도 표시</a:t>
            </a:r>
            <a:endParaRPr lang="en-US" altLang="ko-KR" dirty="0" smtClean="0"/>
          </a:p>
          <a:p>
            <a:pPr marL="228600" indent="-228600">
              <a:buFont typeface="+mj-lt"/>
              <a:buAutoNum type="arabicPeriod"/>
            </a:pPr>
            <a:r>
              <a:rPr lang="ko-KR" altLang="en-US" dirty="0" err="1" smtClean="0"/>
              <a:t>진행단계</a:t>
            </a:r>
            <a:r>
              <a:rPr lang="ko-KR" altLang="en-US" dirty="0" smtClean="0"/>
              <a:t> </a:t>
            </a:r>
            <a:r>
              <a:rPr lang="ko-KR" altLang="en-US" dirty="0"/>
              <a:t>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a:t>
            </a:r>
            <a:r>
              <a:rPr lang="ko-KR" altLang="en-US" dirty="0" smtClean="0"/>
              <a:t>동의</a:t>
            </a:r>
            <a:r>
              <a:rPr lang="en-US" altLang="ko-KR" dirty="0" smtClean="0"/>
              <a:t/>
            </a:r>
            <a:br>
              <a:rPr lang="en-US" altLang="ko-KR" dirty="0" smtClean="0"/>
            </a:br>
            <a:r>
              <a:rPr lang="en-US" altLang="ko-KR" dirty="0" smtClean="0"/>
              <a:t>- </a:t>
            </a:r>
            <a:r>
              <a:rPr lang="en-US" altLang="ko-KR" dirty="0" smtClean="0">
                <a:solidFill>
                  <a:srgbClr val="000000"/>
                </a:solidFill>
                <a:latin typeface="맑은 고딕" panose="020B0503020000020004" pitchFamily="50" charset="-127"/>
              </a:rPr>
              <a:t>MUI-BD-04-P03 </a:t>
            </a:r>
            <a:r>
              <a:rPr lang="ko-KR" altLang="en-US" dirty="0">
                <a:latin typeface="+mn-ea"/>
              </a:rPr>
              <a:t>서약서 </a:t>
            </a:r>
            <a:r>
              <a:rPr lang="en-US" altLang="ko-KR" dirty="0" smtClean="0">
                <a:latin typeface="+mn-ea"/>
              </a:rPr>
              <a:t>2</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8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13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51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647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899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8033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232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27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3" name="그룹 2"/>
          <p:cNvGrpSpPr/>
          <p:nvPr/>
        </p:nvGrpSpPr>
        <p:grpSpPr>
          <a:xfrm>
            <a:off x="747926" y="335664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3087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4067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840675"/>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32" name="모서리가 둥근 직사각형 131"/>
          <p:cNvSpPr/>
          <p:nvPr/>
        </p:nvSpPr>
        <p:spPr>
          <a:xfrm>
            <a:off x="2958909" y="384253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437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1733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6101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711758" y="4228359"/>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0528" y="4326643"/>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796570" y="431699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45391" y="4365490"/>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596013" y="42258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85" name="그룹 84"/>
          <p:cNvGrpSpPr/>
          <p:nvPr/>
        </p:nvGrpSpPr>
        <p:grpSpPr>
          <a:xfrm>
            <a:off x="677960" y="1582647"/>
            <a:ext cx="2714637" cy="686386"/>
            <a:chOff x="677960" y="1582647"/>
            <a:chExt cx="2714637" cy="686386"/>
          </a:xfrm>
        </p:grpSpPr>
        <p:sp>
          <p:nvSpPr>
            <p:cNvPr id="86" name="TextBox 8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입찰참가 신청서 작성</a:t>
              </a:r>
              <a:endParaRPr lang="ko-KR" altLang="en-US" sz="800" dirty="0">
                <a:latin typeface="+mn-ea"/>
              </a:endParaRPr>
            </a:p>
          </p:txBody>
        </p:sp>
        <p:cxnSp>
          <p:nvCxnSpPr>
            <p:cNvPr id="87" name="직선 연결선 86">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8" name="그룹 87"/>
            <p:cNvGrpSpPr/>
            <p:nvPr/>
          </p:nvGrpSpPr>
          <p:grpSpPr>
            <a:xfrm rot="5400000">
              <a:off x="852159" y="2062596"/>
              <a:ext cx="94010" cy="47005"/>
              <a:chOff x="6812560" y="3297172"/>
              <a:chExt cx="94010" cy="47005"/>
            </a:xfrm>
          </p:grpSpPr>
          <p:cxnSp>
            <p:nvCxnSpPr>
              <p:cNvPr id="95" name="직선 연결선 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6" name="직선 연결선 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9" name="그룹 88"/>
            <p:cNvGrpSpPr/>
            <p:nvPr/>
          </p:nvGrpSpPr>
          <p:grpSpPr>
            <a:xfrm>
              <a:off x="677960" y="1582647"/>
              <a:ext cx="2712027" cy="324286"/>
              <a:chOff x="677960" y="1582647"/>
              <a:chExt cx="2712027" cy="324286"/>
            </a:xfrm>
          </p:grpSpPr>
          <p:pic>
            <p:nvPicPr>
              <p:cNvPr id="9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1" name="직선 연결선 9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타원 9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타원 9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타원 9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28" name="텍스트 개체 틀 12">
            <a:extLst>
              <a:ext uri="{FF2B5EF4-FFF2-40B4-BE49-F238E27FC236}">
                <a16:creationId xmlns:a16="http://schemas.microsoft.com/office/drawing/2014/main" id="{0643EE08-B324-56D6-CB41-C4D8C5E38320}"/>
              </a:ext>
            </a:extLst>
          </p:cNvPr>
          <p:cNvSpPr txBox="1">
            <a:spLocks/>
          </p:cNvSpPr>
          <p:nvPr/>
        </p:nvSpPr>
        <p:spPr>
          <a:xfrm>
            <a:off x="675399" y="1278408"/>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MUI-BD-04-T71</a:t>
            </a:r>
            <a:endParaRPr lang="ko-KR" altLang="en-US" dirty="0">
              <a:solidFill>
                <a:srgbClr val="000000"/>
              </a:solidFill>
              <a:latin typeface="맑은 고딕" panose="020B0503020000020004" pitchFamily="50" charset="-127"/>
            </a:endParaRPr>
          </a:p>
        </p:txBody>
      </p:sp>
      <p:sp>
        <p:nvSpPr>
          <p:cNvPr id="129" name="타원 128">
            <a:extLst>
              <a:ext uri="{FF2B5EF4-FFF2-40B4-BE49-F238E27FC236}">
                <a16:creationId xmlns:a16="http://schemas.microsoft.com/office/drawing/2014/main" id="{37A7FF4F-0EAA-1463-560A-D5EC24416103}"/>
              </a:ext>
            </a:extLst>
          </p:cNvPr>
          <p:cNvSpPr/>
          <p:nvPr/>
        </p:nvSpPr>
        <p:spPr>
          <a:xfrm>
            <a:off x="571127" y="1360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11319632"/>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3213716914"/>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1973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서약서 데이터 영역 </a:t>
            </a:r>
            <a:r>
              <a:rPr lang="en-US" altLang="ko-KR" sz="900" b="1" dirty="0">
                <a:solidFill>
                  <a:prstClr val="black"/>
                </a:solidFill>
              </a:rPr>
              <a:t>(</a:t>
            </a:r>
            <a:r>
              <a:rPr lang="en-US" altLang="ko-KR" sz="900" b="1" dirty="0" err="1">
                <a:solidFill>
                  <a:prstClr val="black"/>
                </a:solidFill>
              </a:rPr>
              <a:t>dl_resultInfo</a:t>
            </a:r>
            <a:r>
              <a:rPr lang="en-US" altLang="ko-KR" sz="900" b="1" dirty="0">
                <a:solidFill>
                  <a:prstClr val="black"/>
                </a:solidFill>
              </a:rPr>
              <a:t>)</a:t>
            </a:r>
            <a:endParaRPr lang="ko-KR" altLang="en-US" sz="900" b="1" dirty="0">
              <a:solidFill>
                <a:prstClr val="black"/>
              </a:solidFill>
            </a:endParaRPr>
          </a:p>
        </p:txBody>
      </p:sp>
      <p:sp>
        <p:nvSpPr>
          <p:cNvPr id="23" name="TextBox 22">
            <a:extLst>
              <a:ext uri="{FF2B5EF4-FFF2-40B4-BE49-F238E27FC236}">
                <a16:creationId xmlns:a16="http://schemas.microsoft.com/office/drawing/2014/main" id="{3DE9AA4C-D963-36B3-1B0C-BA042EBA36E5}"/>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2071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wrotAgreYmd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당일일자를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35146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693773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업체명을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prcmRqtInstNm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공고의 발주기관명을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nvGraphicFramePr>
        <p:xfrm>
          <a:off x="453000" y="4428787"/>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발주기관 및 로그인 사용자 </a:t>
                      </a:r>
                      <a:r>
                        <a:rPr lang="ko-KR" altLang="en-US" sz="800">
                          <a:latin typeface="+mn-ea"/>
                          <a:ea typeface="+mn-ea"/>
                        </a:rPr>
                        <a:t>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입찰참가신청서작성</a:t>
                      </a:r>
                      <a:r>
                        <a:rPr lang="ko-KR" altLang="en-US" sz="800" dirty="0">
                          <a:latin typeface="+mn-ea"/>
                          <a:ea typeface="+mn-ea"/>
                        </a:rPr>
                        <a:t> 화면을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동의함 체크 시</a:t>
                      </a:r>
                      <a:r>
                        <a:rPr lang="en-US" altLang="ko-KR" sz="800">
                          <a:latin typeface="+mn-ea"/>
                          <a:ea typeface="+mn-ea"/>
                        </a:rPr>
                        <a:t>, </a:t>
                      </a:r>
                      <a:r>
                        <a:rPr lang="ko-KR" altLang="en-US" sz="800">
                          <a:latin typeface="+mn-ea"/>
                          <a:ea typeface="+mn-ea"/>
                        </a:rPr>
                        <a:t>버튼 </a:t>
                      </a:r>
                      <a:r>
                        <a:rPr lang="ko-KR" altLang="en-US" sz="800" dirty="0">
                          <a:latin typeface="+mn-ea"/>
                          <a:ea typeface="+mn-ea"/>
                        </a:rPr>
                        <a:t>활성화</a:t>
                      </a:r>
                      <a:endParaRPr lang="en-US" altLang="ko-KR" sz="800">
                        <a:latin typeface="+mn-ea"/>
                        <a:ea typeface="+mn-ea"/>
                      </a:endParaRPr>
                    </a:p>
                    <a:p>
                      <a:pPr marL="87313" indent="-87313" algn="l" latinLnBrk="1">
                        <a:buFont typeface="Arial" panose="020B0604020202020204" pitchFamily="34" charset="0"/>
                        <a:buChar char="•"/>
                      </a:pPr>
                      <a:r>
                        <a:rPr lang="ko-KR" altLang="en-US" sz="800">
                          <a:latin typeface="+mn-ea"/>
                          <a:ea typeface="+mn-ea"/>
                        </a:rPr>
                        <a:t>동의함 </a:t>
                      </a:r>
                      <a:r>
                        <a:rPr lang="ko-KR" altLang="en-US" sz="800" dirty="0">
                          <a:latin typeface="+mn-ea"/>
                          <a:ea typeface="+mn-ea"/>
                        </a:rPr>
                        <a:t>미 체크 시</a:t>
                      </a:r>
                      <a:r>
                        <a:rPr lang="en-US" altLang="ko-KR" sz="800" dirty="0">
                          <a:latin typeface="+mn-ea"/>
                          <a:ea typeface="+mn-ea"/>
                        </a:rPr>
                        <a:t>, </a:t>
                      </a:r>
                      <a:r>
                        <a:rPr lang="ko-KR" altLang="en-US" sz="800" dirty="0">
                          <a:latin typeface="+mn-ea"/>
                          <a:ea typeface="+mn-ea"/>
                        </a:rPr>
                        <a:t>버튼 비활성화</a:t>
                      </a:r>
                      <a:endParaRPr lang="en-US" altLang="ko-KR" sz="800">
                        <a:latin typeface="+mn-ea"/>
                        <a:ea typeface="+mn-ea"/>
                      </a:endParaRPr>
                    </a:p>
                    <a:p>
                      <a:pPr marL="87313" indent="-87313" algn="l" latinLnBrk="1">
                        <a:buFont typeface="Arial" panose="020B0604020202020204" pitchFamily="34" charset="0"/>
                        <a:buChar char="•"/>
                      </a:pPr>
                      <a:r>
                        <a:rPr lang="en-US" altLang="ko-KR" sz="800">
                          <a:latin typeface="+mn-ea"/>
                          <a:ea typeface="+mn-ea"/>
                        </a:rPr>
                        <a:t>UI-BD-04-M72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183806"/>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Text Box 73">
            <a:extLst>
              <a:ext uri="{FF2B5EF4-FFF2-40B4-BE49-F238E27FC236}">
                <a16:creationId xmlns:a16="http://schemas.microsoft.com/office/drawing/2014/main" id="{4F32DA2C-5290-3901-9488-3C9FD03E195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8272838"/>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a:t>
            </a:r>
            <a:r>
              <a:rPr lang="ko-KR" altLang="en-US" dirty="0" smtClean="0"/>
              <a:t>탭</a:t>
            </a:r>
            <a:r>
              <a:rPr lang="en-US" altLang="ko-KR" dirty="0"/>
              <a:t/>
            </a:r>
            <a:br>
              <a:rPr lang="en-US" altLang="ko-KR" dirty="0"/>
            </a:br>
            <a:r>
              <a:rPr lang="en-US" altLang="ko-KR" dirty="0"/>
              <a:t>- </a:t>
            </a:r>
            <a:r>
              <a:rPr lang="en-US" altLang="ko-KR" dirty="0" smtClean="0"/>
              <a:t>MUI-BD-04-T72 </a:t>
            </a:r>
            <a:r>
              <a:rPr lang="ko-KR" altLang="en-US" dirty="0" err="1"/>
              <a:t>스탭</a:t>
            </a:r>
            <a:r>
              <a:rPr lang="en-US" altLang="ko-KR" dirty="0"/>
              <a:t>1-</a:t>
            </a:r>
            <a:r>
              <a:rPr lang="ko-KR" altLang="en-US" dirty="0"/>
              <a:t>일반정보</a:t>
            </a:r>
            <a:r>
              <a:rPr lang="en-US" altLang="ko-KR" dirty="0"/>
              <a:t/>
            </a:r>
            <a:br>
              <a:rPr lang="en-US" altLang="ko-KR" dirty="0"/>
            </a:br>
            <a:r>
              <a:rPr lang="en-US" altLang="ko-KR" dirty="0"/>
              <a:t>- </a:t>
            </a:r>
            <a:r>
              <a:rPr lang="en-US" altLang="ko-KR" dirty="0" smtClean="0"/>
              <a:t>MUI-BD-04-T73 </a:t>
            </a:r>
            <a:r>
              <a:rPr lang="ko-KR" altLang="en-US" dirty="0" err="1"/>
              <a:t>스탭</a:t>
            </a:r>
            <a:r>
              <a:rPr lang="en-US" altLang="ko-KR" dirty="0"/>
              <a:t>2-</a:t>
            </a:r>
            <a:r>
              <a:rPr lang="ko-KR" altLang="en-US" dirty="0"/>
              <a:t>업체정보</a:t>
            </a:r>
            <a:r>
              <a:rPr lang="en-US" altLang="ko-KR" dirty="0"/>
              <a:t/>
            </a:r>
            <a:br>
              <a:rPr lang="en-US" altLang="ko-KR" dirty="0"/>
            </a:br>
            <a:r>
              <a:rPr lang="en-US" altLang="ko-KR" dirty="0"/>
              <a:t>- </a:t>
            </a:r>
            <a:r>
              <a:rPr lang="en-US" altLang="ko-KR" dirty="0" smtClean="0"/>
              <a:t>MUI-BD-04-T74 </a:t>
            </a:r>
            <a:r>
              <a:rPr lang="ko-KR" altLang="en-US" dirty="0" err="1"/>
              <a:t>스탭</a:t>
            </a:r>
            <a:r>
              <a:rPr lang="en-US" altLang="ko-KR" dirty="0"/>
              <a:t>3-</a:t>
            </a:r>
            <a:r>
              <a:rPr lang="ko-KR" altLang="en-US" dirty="0"/>
              <a:t>입찰보증금</a:t>
            </a:r>
            <a:r>
              <a:rPr lang="en-US" altLang="ko-KR" dirty="0"/>
              <a:t/>
            </a:r>
            <a:br>
              <a:rPr lang="en-US" altLang="ko-KR" dirty="0"/>
            </a:br>
            <a:r>
              <a:rPr lang="en-US" altLang="ko-KR" dirty="0"/>
              <a:t>- </a:t>
            </a:r>
            <a:r>
              <a:rPr lang="en-US" altLang="ko-KR" dirty="0" smtClean="0"/>
              <a:t>MUI-BD-04-T75 </a:t>
            </a:r>
            <a:r>
              <a:rPr lang="ko-KR" altLang="en-US" dirty="0" err="1"/>
              <a:t>스탭</a:t>
            </a:r>
            <a:r>
              <a:rPr lang="en-US" altLang="ko-KR" dirty="0"/>
              <a:t>4-</a:t>
            </a:r>
            <a:r>
              <a:rPr lang="ko-KR" altLang="en-US" dirty="0"/>
              <a:t>첨부파일</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12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04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217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424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559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7579"/>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21906"/>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36632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673810"/>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6738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673809"/>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673809"/>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9049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118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332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319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10273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10273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10273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10273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31933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06460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44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089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079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414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635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770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9690"/>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61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232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92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266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266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2664"/>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2664"/>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927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454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7164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0022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54363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77407"/>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26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80710"/>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135" name="그룹 134"/>
          <p:cNvGrpSpPr/>
          <p:nvPr/>
        </p:nvGrpSpPr>
        <p:grpSpPr>
          <a:xfrm>
            <a:off x="8223250" y="569392"/>
            <a:ext cx="3365500" cy="634511"/>
            <a:chOff x="8223250" y="569392"/>
            <a:chExt cx="3365500" cy="634511"/>
          </a:xfrm>
        </p:grpSpPr>
        <p:sp>
          <p:nvSpPr>
            <p:cNvPr id="136" name="직사각형 1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37" name="직사각형 1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38" name="그룹 137"/>
          <p:cNvGrpSpPr/>
          <p:nvPr/>
        </p:nvGrpSpPr>
        <p:grpSpPr>
          <a:xfrm>
            <a:off x="677960" y="1582647"/>
            <a:ext cx="2714637" cy="686386"/>
            <a:chOff x="677960" y="1582647"/>
            <a:chExt cx="2714637" cy="686386"/>
          </a:xfrm>
        </p:grpSpPr>
        <p:sp>
          <p:nvSpPr>
            <p:cNvPr id="140" name="TextBox 13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입찰참가 신청서 작성</a:t>
              </a:r>
              <a:endParaRPr lang="ko-KR" altLang="en-US" sz="800" dirty="0">
                <a:latin typeface="+mn-ea"/>
              </a:endParaRP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rot="5400000">
              <a:off x="852159" y="2062596"/>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3" name="그룹 142"/>
            <p:cNvGrpSpPr/>
            <p:nvPr/>
          </p:nvGrpSpPr>
          <p:grpSpPr>
            <a:xfrm>
              <a:off x="677960" y="1582647"/>
              <a:ext cx="2712027" cy="324286"/>
              <a:chOff x="677960" y="1582647"/>
              <a:chExt cx="2712027" cy="324286"/>
            </a:xfrm>
          </p:grpSpPr>
          <p:pic>
            <p:nvPicPr>
              <p:cNvPr id="14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5" name="직선 연결선 14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타원 14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타원 14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타원 16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301611927"/>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 업체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1786116342"/>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a:t>
            </a:r>
            <a:r>
              <a:rPr lang="ko-KR" altLang="en-US" dirty="0" smtClean="0"/>
              <a:t>변경</a:t>
            </a:r>
            <a:r>
              <a:rPr lang="en-US" altLang="ko-KR" dirty="0" smtClean="0"/>
              <a:t/>
            </a:r>
            <a:br>
              <a:rPr lang="en-US" altLang="ko-KR" dirty="0" smtClean="0"/>
            </a:br>
            <a:r>
              <a:rPr lang="en-US" altLang="ko-KR" dirty="0" smtClean="0"/>
              <a:t>- </a:t>
            </a:r>
            <a:r>
              <a:rPr lang="ko-KR" altLang="en-US" dirty="0" smtClean="0"/>
              <a:t>보증금 면제</a:t>
            </a:r>
            <a:r>
              <a:rPr lang="en-US" altLang="ko-KR" dirty="0" smtClean="0"/>
              <a:t>, </a:t>
            </a:r>
            <a:r>
              <a:rPr lang="ko-KR" altLang="en-US" dirty="0" err="1" smtClean="0"/>
              <a:t>비면제에</a:t>
            </a:r>
            <a:r>
              <a:rPr lang="ko-KR" altLang="en-US" dirty="0" smtClean="0"/>
              <a:t> 따라 하단 표시 정보 변경</a:t>
            </a:r>
            <a:r>
              <a:rPr lang="en-US" altLang="ko-KR" dirty="0" smtClean="0"/>
              <a:t>.</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err="1"/>
              <a:t>보증금면제</a:t>
            </a:r>
            <a:r>
              <a:rPr lang="en-US" altLang="ko-KR" dirty="0"/>
              <a:t>)</a:t>
            </a:r>
            <a:r>
              <a:rPr lang="ko-KR" altLang="en-US" dirty="0"/>
              <a:t> 데이터 </a:t>
            </a:r>
            <a:r>
              <a:rPr lang="ko-KR" altLang="en-US" dirty="0" smtClean="0"/>
              <a:t>영역</a:t>
            </a:r>
            <a:endParaRPr lang="en-US" altLang="ko-KR" dirty="0"/>
          </a:p>
          <a:p>
            <a:pPr marL="228600" indent="-228600">
              <a:buFont typeface="+mj-lt"/>
              <a:buAutoNum type="arabicPeriod"/>
            </a:pPr>
            <a:r>
              <a:rPr lang="ko-KR" altLang="en-US" dirty="0" err="1" smtClean="0"/>
              <a:t>연대보증서</a:t>
            </a:r>
            <a:r>
              <a:rPr lang="en-US" altLang="ko-KR" dirty="0" smtClean="0"/>
              <a:t>, </a:t>
            </a:r>
            <a:r>
              <a:rPr lang="ko-KR" altLang="en-US" dirty="0" err="1" smtClean="0"/>
              <a:t>지급각서</a:t>
            </a:r>
            <a:r>
              <a:rPr lang="ko-KR" altLang="en-US" dirty="0" smtClean="0"/>
              <a:t> 파일 선택 업로드</a:t>
            </a:r>
            <a:r>
              <a:rPr lang="en-US" altLang="ko-KR" dirty="0" smtClean="0"/>
              <a:t/>
            </a:r>
            <a:br>
              <a:rPr lang="en-US" altLang="ko-KR" dirty="0" smtClean="0"/>
            </a:br>
            <a:r>
              <a:rPr lang="en-US" altLang="ko-KR" dirty="0" smtClean="0"/>
              <a:t>- </a:t>
            </a:r>
            <a:r>
              <a:rPr lang="ko-KR" altLang="en-US" dirty="0" smtClean="0"/>
              <a:t>삭제 버튼으로 </a:t>
            </a:r>
            <a:r>
              <a:rPr lang="ko-KR" altLang="en-US" dirty="0" err="1" smtClean="0"/>
              <a:t>업로드된</a:t>
            </a:r>
            <a:r>
              <a:rPr lang="ko-KR" altLang="en-US" dirty="0" smtClean="0"/>
              <a:t> 파일 삭제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r>
              <a:rPr lang="en-US" altLang="ko-KR" sz="700" dirty="0">
                <a:latin typeface="+mn-ea"/>
              </a:rPr>
              <a:t>File.pdf</a:t>
            </a:r>
          </a:p>
          <a:p>
            <a:pPr>
              <a:lnSpc>
                <a:spcPct val="200000"/>
              </a:lnSpc>
            </a:pPr>
            <a:r>
              <a:rPr lang="en-US" altLang="ko-KR" sz="700" dirty="0">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6046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9613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49214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3061115" y="513202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타원 181"/>
          <p:cNvSpPr/>
          <p:nvPr/>
        </p:nvSpPr>
        <p:spPr>
          <a:xfrm>
            <a:off x="2843161" y="5139735"/>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a:off x="2887066" y="5174622"/>
            <a:ext cx="58075" cy="58074"/>
            <a:chOff x="6812560" y="3297172"/>
            <a:chExt cx="94010" cy="94010"/>
          </a:xfrm>
        </p:grpSpPr>
        <p:cxnSp>
          <p:nvCxnSpPr>
            <p:cNvPr id="184" name="직선 연결선 18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87" name="타원 186"/>
          <p:cNvSpPr/>
          <p:nvPr/>
        </p:nvSpPr>
        <p:spPr>
          <a:xfrm>
            <a:off x="2843161" y="4920591"/>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8" name="그룹 187"/>
          <p:cNvGrpSpPr/>
          <p:nvPr/>
        </p:nvGrpSpPr>
        <p:grpSpPr>
          <a:xfrm>
            <a:off x="2887066" y="4955478"/>
            <a:ext cx="58075" cy="58074"/>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타원 99">
            <a:extLst>
              <a:ext uri="{FF2B5EF4-FFF2-40B4-BE49-F238E27FC236}">
                <a16:creationId xmlns:a16="http://schemas.microsoft.com/office/drawing/2014/main" id="{37A7FF4F-0EAA-1463-560A-D5EC24416103}"/>
              </a:ext>
            </a:extLst>
          </p:cNvPr>
          <p:cNvSpPr/>
          <p:nvPr/>
        </p:nvSpPr>
        <p:spPr>
          <a:xfrm>
            <a:off x="589334" y="50229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02" name="그룹 101"/>
          <p:cNvGrpSpPr/>
          <p:nvPr/>
        </p:nvGrpSpPr>
        <p:grpSpPr>
          <a:xfrm>
            <a:off x="8223250" y="569392"/>
            <a:ext cx="3365500" cy="634511"/>
            <a:chOff x="8223250" y="569392"/>
            <a:chExt cx="3365500" cy="634511"/>
          </a:xfrm>
        </p:grpSpPr>
        <p:sp>
          <p:nvSpPr>
            <p:cNvPr id="103" name="직사각형 10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설명 추가</a:t>
              </a:r>
              <a:endParaRPr lang="ko-KR" altLang="en-US" dirty="0"/>
            </a:p>
          </p:txBody>
        </p:sp>
        <p:sp>
          <p:nvSpPr>
            <p:cNvPr id="104" name="직사각형 10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844417799"/>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보증금납부방법</a:t>
            </a:r>
            <a:r>
              <a:rPr lang="en-US" altLang="ko-KR" dirty="0" smtClean="0"/>
              <a:t/>
            </a:r>
            <a:br>
              <a:rPr lang="en-US" altLang="ko-KR" dirty="0" smtClean="0"/>
            </a:br>
            <a:r>
              <a:rPr lang="en-US" altLang="ko-KR" dirty="0" smtClean="0"/>
              <a:t>- </a:t>
            </a:r>
            <a:r>
              <a:rPr lang="ko-KR" altLang="en-US" dirty="0" smtClean="0"/>
              <a:t>보증보험</a:t>
            </a:r>
            <a:r>
              <a:rPr lang="en-US" altLang="ko-KR" dirty="0" smtClean="0"/>
              <a:t>, </a:t>
            </a:r>
            <a:r>
              <a:rPr lang="ko-KR" altLang="en-US" dirty="0" err="1" smtClean="0"/>
              <a:t>전자보증서</a:t>
            </a:r>
            <a:endParaRPr lang="en-US" altLang="ko-KR" dirty="0" smtClean="0"/>
          </a:p>
          <a:p>
            <a:pPr marL="228600" indent="-228600">
              <a:buFont typeface="+mj-lt"/>
              <a:buAutoNum type="arabicPeriod"/>
            </a:pPr>
            <a:r>
              <a:rPr lang="ko-KR" altLang="en-US" dirty="0" err="1" smtClean="0"/>
              <a:t>보증서선택</a:t>
            </a:r>
            <a:r>
              <a:rPr lang="ko-KR" altLang="en-US" dirty="0" smtClean="0"/>
              <a:t> </a:t>
            </a:r>
            <a:r>
              <a:rPr lang="ko-KR" altLang="en-US" dirty="0"/>
              <a:t>클릭 이벤트</a:t>
            </a:r>
            <a:r>
              <a:rPr lang="en-US" altLang="ko-KR" dirty="0"/>
              <a:t/>
            </a:r>
            <a:br>
              <a:rPr lang="en-US" altLang="ko-KR" dirty="0"/>
            </a:br>
            <a:r>
              <a:rPr lang="en-US" altLang="ko-KR" dirty="0"/>
              <a:t>- </a:t>
            </a:r>
            <a:r>
              <a:rPr lang="ko-KR" altLang="en-US" dirty="0"/>
              <a:t>전자보증서인 경우 팝업 </a:t>
            </a:r>
            <a:r>
              <a:rPr lang="ko-KR" altLang="en-US" dirty="0" smtClean="0"/>
              <a:t>호출</a:t>
            </a:r>
            <a:r>
              <a:rPr lang="en-US" altLang="ko-KR" dirty="0" smtClean="0"/>
              <a:t/>
            </a:r>
            <a:br>
              <a:rPr lang="en-US" altLang="ko-KR" dirty="0" smtClean="0"/>
            </a:br>
            <a:r>
              <a:rPr lang="en-US" altLang="ko-KR" dirty="0" smtClean="0"/>
              <a:t>  &gt; </a:t>
            </a:r>
            <a:r>
              <a:rPr lang="en-US" altLang="ko-KR" dirty="0" smtClean="0">
                <a:latin typeface="+mn-ea"/>
              </a:rPr>
              <a:t>MUI-BD-04-P75 </a:t>
            </a:r>
            <a:r>
              <a:rPr lang="ko-KR" altLang="en-US" dirty="0">
                <a:latin typeface="+mn-ea"/>
              </a:rPr>
              <a:t>입찰보증서선택</a:t>
            </a:r>
            <a:r>
              <a:rPr lang="en-US" altLang="ko-KR" dirty="0"/>
              <a:t/>
            </a:r>
            <a:br>
              <a:rPr lang="en-US" altLang="ko-KR" dirty="0"/>
            </a:br>
            <a:r>
              <a:rPr lang="en-US" altLang="ko-KR" dirty="0"/>
              <a:t>- </a:t>
            </a:r>
            <a:r>
              <a:rPr lang="ko-KR" altLang="en-US" dirty="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1556765" y="486788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1558785" y="49035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4" name="그룹 103"/>
          <p:cNvGrpSpPr/>
          <p:nvPr/>
        </p:nvGrpSpPr>
        <p:grpSpPr>
          <a:xfrm>
            <a:off x="3136394" y="4961052"/>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5351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8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1065" y="509201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3" name="사각형: 둥근 모서리 15">
            <a:extLst>
              <a:ext uri="{FF2B5EF4-FFF2-40B4-BE49-F238E27FC236}">
                <a16:creationId xmlns:a16="http://schemas.microsoft.com/office/drawing/2014/main" id="{E2B61CFB-AD16-68D0-8752-50D9C5E01971}"/>
              </a:ext>
            </a:extLst>
          </p:cNvPr>
          <p:cNvSpPr/>
          <p:nvPr/>
        </p:nvSpPr>
        <p:spPr>
          <a:xfrm>
            <a:off x="1563085" y="512767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1561065" y="530366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6" name="사각형: 둥근 모서리 15">
            <a:extLst>
              <a:ext uri="{FF2B5EF4-FFF2-40B4-BE49-F238E27FC236}">
                <a16:creationId xmlns:a16="http://schemas.microsoft.com/office/drawing/2014/main" id="{E2B61CFB-AD16-68D0-8752-50D9C5E01971}"/>
              </a:ext>
            </a:extLst>
          </p:cNvPr>
          <p:cNvSpPr/>
          <p:nvPr/>
        </p:nvSpPr>
        <p:spPr>
          <a:xfrm>
            <a:off x="1563085" y="533932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55588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05" name="타원 104"/>
          <p:cNvSpPr/>
          <p:nvPr/>
        </p:nvSpPr>
        <p:spPr>
          <a:xfrm>
            <a:off x="2843161" y="555498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a:off x="2887066" y="5589873"/>
            <a:ext cx="58075" cy="58074"/>
            <a:chOff x="6812560" y="3297172"/>
            <a:chExt cx="94010" cy="94010"/>
          </a:xfrm>
        </p:grpSpPr>
        <p:cxnSp>
          <p:nvCxnSpPr>
            <p:cNvPr id="107" name="직선 연결선 10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09" name="타원 108">
            <a:extLst>
              <a:ext uri="{FF2B5EF4-FFF2-40B4-BE49-F238E27FC236}">
                <a16:creationId xmlns:a16="http://schemas.microsoft.com/office/drawing/2014/main" id="{37A7FF4F-0EAA-1463-560A-D5EC24416103}"/>
              </a:ext>
            </a:extLst>
          </p:cNvPr>
          <p:cNvSpPr/>
          <p:nvPr/>
        </p:nvSpPr>
        <p:spPr>
          <a:xfrm>
            <a:off x="589334" y="492043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76590488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a:t>
            </a:r>
            <a:r>
              <a:rPr lang="ko-KR" altLang="en-US" dirty="0" smtClean="0"/>
              <a:t>첨부</a:t>
            </a:r>
            <a:endParaRPr lang="en-US" altLang="ko-KR" dirty="0" smtClean="0"/>
          </a:p>
          <a:p>
            <a:pPr marL="228600" indent="-228600">
              <a:buFont typeface="+mj-lt"/>
              <a:buAutoNum type="arabicPeriod"/>
            </a:pPr>
            <a:r>
              <a:rPr lang="ko-KR" altLang="en-US" dirty="0" err="1" smtClean="0"/>
              <a:t>신청청하기</a:t>
            </a:r>
            <a:r>
              <a:rPr lang="ko-KR" altLang="en-US" dirty="0" smtClean="0"/>
              <a:t> 클릭 시</a:t>
            </a:r>
            <a:r>
              <a:rPr lang="en-US" altLang="ko-KR" dirty="0" smtClean="0"/>
              <a:t/>
            </a:r>
            <a:br>
              <a:rPr lang="en-US" altLang="ko-KR" dirty="0" smtClean="0"/>
            </a:br>
            <a:r>
              <a:rPr lang="en-US" altLang="ko-KR" dirty="0"/>
              <a:t>- </a:t>
            </a:r>
            <a:r>
              <a:rPr lang="en-US" altLang="ko-KR" dirty="0" smtClean="0"/>
              <a:t>MUI-BD-06-M08 </a:t>
            </a:r>
            <a:r>
              <a:rPr lang="ko-KR" altLang="en-US" dirty="0" smtClean="0"/>
              <a:t>신청 완료</a:t>
            </a:r>
            <a:r>
              <a:rPr lang="en-US" altLang="ko-KR" dirty="0"/>
              <a:t/>
            </a:r>
            <a:br>
              <a:rPr lang="en-US" altLang="ko-KR" dirty="0"/>
            </a:br>
            <a:r>
              <a:rPr lang="en-US" altLang="ko-KR" dirty="0" smtClean="0"/>
              <a:t>- </a:t>
            </a:r>
            <a:r>
              <a:rPr lang="ko-KR" altLang="en-US" dirty="0" smtClean="0"/>
              <a:t>유효성 검사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843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58834"/>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126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909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6552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193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4656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491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2628" y="3049195"/>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491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049" y="36958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049" y="327900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3"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9923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66883"/>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207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3990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735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274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3049" y="45038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3049" y="40870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 버튼 변경</a:t>
              </a:r>
              <a:endParaRPr lang="ko-KR" altLang="en-US" sz="700" dirty="0"/>
            </a:p>
          </p:txBody>
        </p:sp>
      </p:grpSp>
      <p:sp>
        <p:nvSpPr>
          <p:cNvPr id="85" name="타원 84">
            <a:extLst>
              <a:ext uri="{FF2B5EF4-FFF2-40B4-BE49-F238E27FC236}">
                <a16:creationId xmlns:a16="http://schemas.microsoft.com/office/drawing/2014/main" id="{37A7FF4F-0EAA-1463-560A-D5EC24416103}"/>
              </a:ext>
            </a:extLst>
          </p:cNvPr>
          <p:cNvSpPr/>
          <p:nvPr/>
        </p:nvSpPr>
        <p:spPr>
          <a:xfrm>
            <a:off x="3691719" y="58374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69554161"/>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2" name="Text Box 73">
            <a:extLst>
              <a:ext uri="{FF2B5EF4-FFF2-40B4-BE49-F238E27FC236}">
                <a16:creationId xmlns:a16="http://schemas.microsoft.com/office/drawing/2014/main" id="{0383604A-1C6C-743B-6376-DE39CDA61C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14F0C01A-D4D3-F542-732A-5EC23775E5C7}"/>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5" name="TextBox 4">
            <a:extLst>
              <a:ext uri="{FF2B5EF4-FFF2-40B4-BE49-F238E27FC236}">
                <a16:creationId xmlns:a16="http://schemas.microsoft.com/office/drawing/2014/main" id="{94DFA1C3-87C5-6C87-2D34-CB6EF208B31F}"/>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51A0A3FB-EA15-3CE5-70F2-AD3265DD9D26}"/>
              </a:ext>
            </a:extLst>
          </p:cNvPr>
          <p:cNvGraphicFramePr>
            <a:graphicFrameLocks noGrp="1"/>
          </p:cNvGraphicFramePr>
          <p:nvPr>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7" name="표 6">
            <a:extLst>
              <a:ext uri="{FF2B5EF4-FFF2-40B4-BE49-F238E27FC236}">
                <a16:creationId xmlns:a16="http://schemas.microsoft.com/office/drawing/2014/main" id="{22A2E90D-242B-C2AE-215B-F0648565EA35}"/>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830705944"/>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769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err="1">
                          <a:solidFill>
                            <a:srgbClr val="000000"/>
                          </a:solidFill>
                          <a:effectLst/>
                          <a:latin typeface="+mn-ea"/>
                          <a:ea typeface="+mn-ea"/>
                        </a:rPr>
                        <a:t>입찰품목수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입찰보증금</a:t>
                      </a:r>
                      <a:r>
                        <a:rPr lang="en-US" altLang="ko-KR" sz="800" b="0" i="0" u="none" strike="noStrike" dirty="0">
                          <a:solidFill>
                            <a:srgbClr val="000000"/>
                          </a:solidFill>
                          <a:effectLst/>
                          <a:latin typeface="+mn-ea"/>
                          <a:ea typeface="+mn-ea"/>
                        </a:rPr>
                        <a:t>(</a:t>
                      </a:r>
                      <a:r>
                        <a:rPr lang="ko-KR" altLang="en-US" sz="800" b="0" i="0" u="none" strike="noStrike" dirty="0" err="1">
                          <a:solidFill>
                            <a:srgbClr val="000000"/>
                          </a:solidFill>
                          <a:effectLst/>
                          <a:latin typeface="+mn-ea"/>
                          <a:ea typeface="+mn-ea"/>
                        </a:rPr>
                        <a:t>확인입력</a:t>
                      </a:r>
                      <a:r>
                        <a:rPr lang="en-US" altLang="ko-KR" sz="800" b="0" i="0" u="none" strike="noStrike" dirty="0">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보증보험</a:t>
                      </a:r>
                      <a:r>
                        <a:rPr lang="en-US" altLang="ko-KR" sz="800">
                          <a:latin typeface="+mn-ea"/>
                          <a:ea typeface="+mn-ea"/>
                        </a:rPr>
                        <a:t>, </a:t>
                      </a:r>
                      <a:r>
                        <a:rPr lang="ko-KR" altLang="en-US" sz="800">
                          <a:latin typeface="+mn-ea"/>
                          <a:ea typeface="+mn-ea"/>
                        </a:rPr>
                        <a:t>전자보증서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보증금증권번호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dirty="0" err="1">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dirty="0">
                          <a:solidFill>
                            <a:srgbClr val="000000"/>
                          </a:solidFill>
                          <a:effectLst/>
                          <a:latin typeface="+mn-ea"/>
                          <a:ea typeface="+mn-ea"/>
                        </a:rPr>
                        <a:t>입찰보증금납부서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267A0A7B-A28B-1EE4-BC50-81D0FA27F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715472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2" name="Text Box 73">
            <a:extLst>
              <a:ext uri="{FF2B5EF4-FFF2-40B4-BE49-F238E27FC236}">
                <a16:creationId xmlns:a16="http://schemas.microsoft.com/office/drawing/2014/main" id="{35260BFB-837F-4E04-16E1-26ACA0B60E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3F675825-BD2C-2618-2FC5-F703DB5C35B2}"/>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C080D70-70E8-E937-F1C3-F23B73E73650}"/>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50573035"/>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4" name="표 3">
            <a:extLst>
              <a:ext uri="{FF2B5EF4-FFF2-40B4-BE49-F238E27FC236}">
                <a16:creationId xmlns:a16="http://schemas.microsoft.com/office/drawing/2014/main" id="{89E1827E-1988-380A-F9F3-3955A79B0FE9}"/>
              </a:ext>
            </a:extLst>
          </p:cNvPr>
          <p:cNvGraphicFramePr>
            <a:graphicFrameLocks noGrp="1"/>
          </p:cNvGraphicFramePr>
          <p:nvPr>
            <p:extLst/>
          </p:nvPr>
        </p:nvGraphicFramePr>
        <p:xfrm>
          <a:off x="452291" y="799547"/>
          <a:ext cx="8995591" cy="1529280"/>
        </p:xfrm>
        <a:graphic>
          <a:graphicData uri="http://schemas.openxmlformats.org/drawingml/2006/table">
            <a:tbl>
              <a:tblPr>
                <a:tableStyleId>{616DA210-FB5B-4158-B5E0-FEB733F419BA}</a:tableStyleId>
              </a:tblPr>
              <a:tblGrid>
                <a:gridCol w="1538434">
                  <a:extLst>
                    <a:ext uri="{9D8B030D-6E8A-4147-A177-3AD203B41FA5}">
                      <a16:colId xmlns:a16="http://schemas.microsoft.com/office/drawing/2014/main" val="20000"/>
                    </a:ext>
                  </a:extLst>
                </a:gridCol>
                <a:gridCol w="1428750">
                  <a:extLst>
                    <a:ext uri="{9D8B030D-6E8A-4147-A177-3AD203B41FA5}">
                      <a16:colId xmlns:a16="http://schemas.microsoft.com/office/drawing/2014/main" val="3103963203"/>
                    </a:ext>
                  </a:extLst>
                </a:gridCol>
                <a:gridCol w="3867150">
                  <a:extLst>
                    <a:ext uri="{9D8B030D-6E8A-4147-A177-3AD203B41FA5}">
                      <a16:colId xmlns:a16="http://schemas.microsoft.com/office/drawing/2014/main" val="20001"/>
                    </a:ext>
                  </a:extLst>
                </a:gridCol>
                <a:gridCol w="2161257">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입찰참가사업정보 및 업체정보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입찰참가사업목록조회</a:t>
                      </a:r>
                      <a:r>
                        <a:rPr lang="en-US" altLang="ko-KR" sz="800">
                          <a:latin typeface="+mn-ea"/>
                          <a:ea typeface="+mn-ea"/>
                        </a:rPr>
                        <a:t>,</a:t>
                      </a:r>
                      <a:r>
                        <a:rPr lang="ko-KR" altLang="en-US" sz="800">
                          <a:latin typeface="+mn-ea"/>
                          <a:ea typeface="+mn-ea"/>
                        </a:rPr>
                        <a:t> 업체정보조회</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입찰보증금구분값에 따라 입찰참가사업 및 입찰보증금 데이터 영역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958856"/>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scnwin.sbx_depositPaymentType_onchange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보증금증권번호</a:t>
                      </a:r>
                      <a:r>
                        <a:rPr lang="en-US" altLang="ko-KR" sz="800">
                          <a:latin typeface="+mn-ea"/>
                          <a:ea typeface="+mn-ea"/>
                        </a:rPr>
                        <a:t>/</a:t>
                      </a:r>
                      <a:r>
                        <a:rPr lang="ko-KR" altLang="en-US" sz="800">
                          <a:latin typeface="+mn-ea"/>
                          <a:ea typeface="+mn-ea"/>
                        </a:rPr>
                        <a:t>보증기관명 입력 비활성화</a:t>
                      </a:r>
                      <a:r>
                        <a:rPr lang="en-US" altLang="ko-KR" sz="800">
                          <a:latin typeface="+mn-ea"/>
                          <a:ea typeface="+mn-ea"/>
                        </a:rPr>
                        <a:t>. </a:t>
                      </a:r>
                      <a:r>
                        <a:rPr lang="ko-KR" altLang="en-US" sz="800">
                          <a:latin typeface="+mn-ea"/>
                          <a:ea typeface="+mn-ea"/>
                        </a:rPr>
                        <a:t>보증서선택 버튼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881698"/>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보증서선택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scnwin.btn_openBond_onclick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입찰보증서선택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tabLst>
                          <a:tab pos="88900" algn="l"/>
                        </a:tabLst>
                      </a:pPr>
                      <a:r>
                        <a:rPr lang="en-US" altLang="ko-KR" sz="800" dirty="0">
                          <a:latin typeface="+mn-ea"/>
                          <a:ea typeface="+mn-ea"/>
                        </a:rPr>
                        <a:t>UI-BD-04-P73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894045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신청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입찰참가신청서를 등록</a:t>
                      </a:r>
                      <a:r>
                        <a:rPr lang="en-US" altLang="ko-KR" sz="800">
                          <a:latin typeface="+mn-ea"/>
                          <a:ea typeface="+mn-ea"/>
                        </a:rPr>
                        <a:t>. </a:t>
                      </a:r>
                      <a:r>
                        <a:rPr lang="ko-KR" altLang="en-US" sz="800">
                          <a:latin typeface="+mn-ea"/>
                          <a:ea typeface="+mn-ea"/>
                        </a:rPr>
                        <a:t>모의입찰 상태인 경우</a:t>
                      </a:r>
                      <a:r>
                        <a:rPr lang="en-US" altLang="ko-KR" sz="800">
                          <a:latin typeface="+mn-ea"/>
                          <a:ea typeface="+mn-ea"/>
                        </a:rPr>
                        <a:t>, </a:t>
                      </a:r>
                      <a:r>
                        <a:rPr lang="ko-KR" altLang="en-US" sz="800">
                          <a:latin typeface="+mn-ea"/>
                          <a:ea typeface="+mn-ea"/>
                        </a:rPr>
                        <a:t>모의입찰참가신청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dirty="0">
                          <a:latin typeface="+mn-ea"/>
                          <a:ea typeface="+mn-ea"/>
                        </a:rPr>
                        <a:t>입찰참가신청</a:t>
                      </a:r>
                      <a:r>
                        <a:rPr lang="en-US" altLang="ko-KR" sz="800" dirty="0">
                          <a:latin typeface="+mn-ea"/>
                          <a:ea typeface="+mn-ea"/>
                        </a:rPr>
                        <a:t>,</a:t>
                      </a:r>
                      <a:r>
                        <a:rPr lang="ko-KR" altLang="en-US" sz="800" dirty="0">
                          <a:latin typeface="+mn-ea"/>
                          <a:ea typeface="+mn-ea"/>
                        </a:rPr>
                        <a:t> 모의입찰참가신청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5799267"/>
                  </a:ext>
                </a:extLst>
              </a:tr>
            </a:tbl>
          </a:graphicData>
        </a:graphic>
      </p:graphicFrame>
      <p:sp>
        <p:nvSpPr>
          <p:cNvPr id="2" name="Text Box 73">
            <a:extLst>
              <a:ext uri="{FF2B5EF4-FFF2-40B4-BE49-F238E27FC236}">
                <a16:creationId xmlns:a16="http://schemas.microsoft.com/office/drawing/2014/main" id="{4EA101DA-42E2-F567-1DAF-00FB22A4AF3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110267"/>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입찰보증서</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보증서 정보 보기 클릭 </a:t>
            </a:r>
            <a:r>
              <a:rPr lang="en-US" altLang="ko-KR" dirty="0"/>
              <a:t/>
            </a:r>
            <a:br>
              <a:rPr lang="en-US" altLang="ko-KR" dirty="0"/>
            </a:br>
            <a:r>
              <a:rPr lang="en-US" altLang="ko-KR" dirty="0"/>
              <a:t>  &gt; </a:t>
            </a:r>
            <a:r>
              <a:rPr lang="en-US" altLang="ko-KR" dirty="0" smtClean="0"/>
              <a:t>MUI-BD-04-P76 </a:t>
            </a:r>
            <a:r>
              <a:rPr lang="ko-KR" altLang="en-US" dirty="0" err="1" smtClean="0"/>
              <a:t>바텀시트</a:t>
            </a:r>
            <a:r>
              <a:rPr lang="en-US" altLang="ko-KR" dirty="0" smtClean="0"/>
              <a:t/>
            </a:r>
            <a:br>
              <a:rPr lang="en-US" altLang="ko-KR" dirty="0" smtClean="0"/>
            </a:br>
            <a:r>
              <a:rPr lang="en-US" altLang="ko-KR" dirty="0" smtClean="0"/>
              <a:t>- </a:t>
            </a:r>
            <a:r>
              <a:rPr lang="ko-KR" altLang="en-US" dirty="0" smtClean="0"/>
              <a:t>보증서 적용</a:t>
            </a:r>
            <a:r>
              <a:rPr lang="en-US" altLang="ko-KR" dirty="0" smtClean="0"/>
              <a:t/>
            </a:r>
            <a:br>
              <a:rPr lang="en-US" altLang="ko-KR" dirty="0" smtClean="0"/>
            </a:br>
            <a:r>
              <a:rPr lang="en-US" altLang="ko-KR" dirty="0" smtClean="0"/>
              <a:t>  &gt; </a:t>
            </a:r>
            <a:r>
              <a:rPr lang="ko-KR" altLang="en-US" dirty="0" smtClean="0"/>
              <a:t>세부 내용 보이지 않고 이전 화면에 정보 반환</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입찰보증서선택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smtClean="0"/>
              <a:t>입찰보증서</a:t>
            </a:r>
            <a:r>
              <a:rPr lang="ko-KR" altLang="en-US" dirty="0" smtClean="0"/>
              <a:t> 선택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41580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914230"/>
            <a:chOff x="781461" y="3078038"/>
            <a:chExt cx="2473257" cy="9142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보증서번호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00800107204AA2003BJ000111500</a:t>
              </a:r>
              <a:endParaRPr lang="en-US" altLang="ko-KR" sz="700" dirty="0"/>
            </a:p>
            <a:p>
              <a:r>
                <a:rPr lang="en-US" altLang="ko-KR" sz="900" b="1" dirty="0"/>
                <a:t>00</a:t>
              </a:r>
              <a:r>
                <a:rPr lang="ko-KR" altLang="en-US" sz="900" b="1" dirty="0"/>
                <a:t>지역 전기공사</a:t>
              </a:r>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54662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보증금액</a:t>
              </a:r>
              <a:endParaRPr lang="en-US" altLang="ko-KR" sz="600" dirty="0">
                <a:latin typeface="+mn-ea"/>
              </a:endParaRPr>
            </a:p>
            <a:p>
              <a:pPr>
                <a:lnSpc>
                  <a:spcPct val="150000"/>
                </a:lnSpc>
              </a:pPr>
              <a:r>
                <a:rPr lang="ko-KR" altLang="en-US" sz="600" dirty="0" err="1">
                  <a:latin typeface="+mn-ea"/>
                </a:rPr>
                <a:t>보증채권자</a:t>
              </a:r>
              <a:endParaRPr lang="en-US" altLang="ko-KR" sz="600" dirty="0">
                <a:latin typeface="+mn-ea"/>
              </a:endParaRPr>
            </a:p>
            <a:p>
              <a:pPr>
                <a:lnSpc>
                  <a:spcPct val="150000"/>
                </a:lnSpc>
              </a:pPr>
              <a:r>
                <a:rPr lang="ko-KR" altLang="en-US" sz="600" dirty="0">
                  <a:latin typeface="+mn-ea"/>
                </a:rPr>
                <a:t>계약자 </a:t>
              </a:r>
              <a:r>
                <a:rPr lang="en-US" altLang="ko-KR" sz="600" dirty="0">
                  <a:latin typeface="+mn-ea"/>
                </a:rPr>
                <a:t>/ </a:t>
              </a:r>
              <a:r>
                <a:rPr lang="ko-KR" altLang="en-US" sz="600" dirty="0">
                  <a:latin typeface="+mn-ea"/>
                </a:rPr>
                <a:t>발행자</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201965" y="3422881"/>
              <a:ext cx="1008289"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solidFill>
                    <a:prstClr val="black"/>
                  </a:solidFill>
                  <a:latin typeface="+mn-ea"/>
                  <a:cs typeface="Segoe UI" panose="020B0502040204020203" pitchFamily="34" charset="0"/>
                </a:rPr>
                <a:t>2003-09-08</a:t>
              </a:r>
            </a:p>
            <a:p>
              <a:pPr algn="r">
                <a:lnSpc>
                  <a:spcPct val="150000"/>
                </a:lnSpc>
              </a:pPr>
              <a:r>
                <a:rPr lang="en-US" altLang="ko-KR" sz="600" dirty="0">
                  <a:solidFill>
                    <a:prstClr val="black"/>
                  </a:solidFill>
                  <a:latin typeface="+mn-ea"/>
                  <a:cs typeface="Segoe UI" panose="020B0502040204020203" pitchFamily="34" charset="0"/>
                </a:rPr>
                <a:t>3,000,000</a:t>
              </a:r>
            </a:p>
            <a:p>
              <a:pPr lvl="0" algn="r">
                <a:lnSpc>
                  <a:spcPct val="150000"/>
                </a:lnSpc>
              </a:pPr>
              <a:r>
                <a:rPr lang="ko-KR" altLang="en-US" sz="600" dirty="0">
                  <a:solidFill>
                    <a:prstClr val="black"/>
                  </a:solidFill>
                  <a:latin typeface="+mn-ea"/>
                  <a:cs typeface="Segoe UI" panose="020B0502040204020203" pitchFamily="34" charset="0"/>
                </a:rPr>
                <a:t>제</a:t>
              </a:r>
              <a:r>
                <a:rPr lang="en-US" altLang="ko-KR" sz="600" dirty="0">
                  <a:solidFill>
                    <a:prstClr val="black"/>
                  </a:solidFill>
                  <a:latin typeface="+mn-ea"/>
                  <a:cs typeface="Segoe UI" panose="020B0502040204020203" pitchFamily="34" charset="0"/>
                </a:rPr>
                <a:t>6685</a:t>
              </a:r>
              <a:r>
                <a:rPr lang="ko-KR" altLang="en-US" sz="600" dirty="0">
                  <a:solidFill>
                    <a:prstClr val="black"/>
                  </a:solidFill>
                  <a:latin typeface="+mn-ea"/>
                  <a:cs typeface="Segoe UI" panose="020B0502040204020203" pitchFamily="34" charset="0"/>
                </a:rPr>
                <a:t>부대</a:t>
              </a:r>
              <a:endParaRPr lang="en-US" altLang="ko-KR" sz="600" dirty="0">
                <a:solidFill>
                  <a:prstClr val="black"/>
                </a:solidFill>
                <a:latin typeface="+mn-ea"/>
                <a:cs typeface="Segoe UI" panose="020B0502040204020203" pitchFamily="34" charset="0"/>
              </a:endParaRPr>
            </a:p>
            <a:p>
              <a:pPr algn="r">
                <a:lnSpc>
                  <a:spcPct val="150000"/>
                </a:lnSpc>
              </a:pPr>
              <a:r>
                <a:rPr lang="ko-KR" altLang="en-US" sz="600" dirty="0" err="1">
                  <a:solidFill>
                    <a:prstClr val="black"/>
                  </a:solidFill>
                  <a:latin typeface="+mn-ea"/>
                  <a:cs typeface="Segoe UI" panose="020B0502040204020203" pitchFamily="34" charset="0"/>
                </a:rPr>
                <a:t>금동전기</a:t>
              </a:r>
              <a:r>
                <a:rPr lang="ko-KR" altLang="en-US" sz="600" dirty="0">
                  <a:solidFill>
                    <a:prstClr val="black"/>
                  </a:solidFill>
                  <a:latin typeface="+mn-ea"/>
                  <a:cs typeface="Segoe UI" panose="020B0502040204020203" pitchFamily="34" charset="0"/>
                </a:rPr>
                <a:t> </a:t>
              </a:r>
              <a:r>
                <a:rPr lang="en-US" altLang="ko-KR" sz="600" dirty="0">
                  <a:solidFill>
                    <a:prstClr val="black"/>
                  </a:solidFill>
                  <a:latin typeface="+mn-ea"/>
                  <a:cs typeface="Segoe UI" panose="020B0502040204020203" pitchFamily="34" charset="0"/>
                </a:rPr>
                <a:t>/ </a:t>
              </a:r>
              <a:r>
                <a:rPr lang="ko-KR" altLang="en-US" sz="600" dirty="0">
                  <a:solidFill>
                    <a:prstClr val="black"/>
                  </a:solidFill>
                  <a:latin typeface="+mn-ea"/>
                  <a:cs typeface="Segoe UI" panose="020B0502040204020203" pitchFamily="34" charset="0"/>
                </a:rPr>
                <a:t>전기공사공제조합</a:t>
              </a:r>
              <a:endParaRPr lang="en-US" altLang="ko-KR" sz="600" dirty="0">
                <a:latin typeface="+mn-ea"/>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806139"/>
            <a:ext cx="1184875"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보증서 정보 보기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487682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사각형: 둥근 모서리 31">
            <a:extLst>
              <a:ext uri="{FF2B5EF4-FFF2-40B4-BE49-F238E27FC236}">
                <a16:creationId xmlns:a16="http://schemas.microsoft.com/office/drawing/2014/main" id="{2AC143EE-93CF-3518-F0CB-8469E98507E0}"/>
              </a:ext>
            </a:extLst>
          </p:cNvPr>
          <p:cNvSpPr/>
          <p:nvPr/>
        </p:nvSpPr>
        <p:spPr>
          <a:xfrm>
            <a:off x="2069844" y="3806139"/>
            <a:ext cx="1184875" cy="195304"/>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보증서 적용</a:t>
            </a:r>
            <a:endParaRPr kumimoji="1" lang="en-US" sz="8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536575363"/>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입찰보증서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bl>
          </a:graphicData>
        </a:graphic>
      </p:graphicFrame>
      <p:sp>
        <p:nvSpPr>
          <p:cNvPr id="4" name="TextBox 3">
            <a:extLst>
              <a:ext uri="{FF2B5EF4-FFF2-40B4-BE49-F238E27FC236}">
                <a16:creationId xmlns:a16="http://schemas.microsoft.com/office/drawing/2014/main" id="{8F127CFE-2FCF-A183-CCB0-D4DE74416F61}"/>
              </a:ext>
            </a:extLst>
          </p:cNvPr>
          <p:cNvSpPr txBox="1"/>
          <p:nvPr/>
        </p:nvSpPr>
        <p:spPr>
          <a:xfrm>
            <a:off x="458117" y="355999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2291" y="378658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입찰보증서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보증서번호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scwin.btn_openWtgrDetail_onclick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UI-BD-04-P76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7242562"/>
                  </a:ext>
                </a:extLst>
              </a:tr>
              <a:tr h="0">
                <a:tc>
                  <a:txBody>
                    <a:bodyPr/>
                    <a:lstStyle/>
                    <a:p>
                      <a:r>
                        <a:rPr lang="ko-KR" altLang="en-US" sz="800" dirty="0"/>
                        <a:t>확인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scwin.btn_confirm_onclick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선택한 입찰보증서를 부모화면에 적용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2801107"/>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5464775"/>
                  </a:ext>
                </a:extLst>
              </a:tr>
            </a:tbl>
          </a:graphicData>
        </a:graphic>
      </p:graphicFrame>
      <p:sp>
        <p:nvSpPr>
          <p:cNvPr id="6" name="Text Box 73">
            <a:extLst>
              <a:ext uri="{FF2B5EF4-FFF2-40B4-BE49-F238E27FC236}">
                <a16:creationId xmlns:a16="http://schemas.microsoft.com/office/drawing/2014/main" id="{AA67BFD4-4EBA-8F9A-0E08-2EE7A865C3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30990574"/>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보증서 적용</a:t>
            </a:r>
            <a:r>
              <a:rPr lang="en-US" altLang="ko-KR" dirty="0"/>
              <a:t>,</a:t>
            </a:r>
            <a:r>
              <a:rPr lang="ko-KR" altLang="en-US" dirty="0"/>
              <a:t> 닫기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닫기 버튼</a:t>
            </a:r>
            <a:r>
              <a:rPr lang="en-US" altLang="ko-KR" dirty="0" smtClean="0"/>
              <a:t/>
            </a:r>
            <a:br>
              <a:rPr lang="en-US" altLang="ko-KR" dirty="0" smtClean="0"/>
            </a:br>
            <a:r>
              <a:rPr lang="en-US" altLang="ko-KR" dirty="0" smtClean="0"/>
              <a:t>  &gt; </a:t>
            </a:r>
            <a:r>
              <a:rPr lang="ko-KR" altLang="en-US" dirty="0" err="1" smtClean="0"/>
              <a:t>바텀시트만</a:t>
            </a:r>
            <a:r>
              <a:rPr lang="ko-KR" altLang="en-US" dirty="0" smtClean="0"/>
              <a:t> 닫음</a:t>
            </a:r>
            <a:r>
              <a:rPr lang="en-US" altLang="ko-KR" dirty="0" smtClean="0"/>
              <a:t/>
            </a:r>
            <a:br>
              <a:rPr lang="en-US" altLang="ko-KR" dirty="0" smtClean="0"/>
            </a:br>
            <a:r>
              <a:rPr lang="en-US" altLang="ko-KR" dirty="0" smtClean="0"/>
              <a:t>- </a:t>
            </a:r>
            <a:r>
              <a:rPr lang="ko-KR" altLang="en-US" dirty="0" smtClean="0"/>
              <a:t>보증서 적용 버튼</a:t>
            </a:r>
            <a:r>
              <a:rPr lang="en-US" altLang="ko-KR" dirty="0" smtClean="0"/>
              <a:t/>
            </a:r>
            <a:br>
              <a:rPr lang="en-US" altLang="ko-KR" dirty="0" smtClean="0"/>
            </a:br>
            <a:r>
              <a:rPr lang="en-US" altLang="ko-KR" dirty="0" smtClean="0"/>
              <a:t>  &gt; </a:t>
            </a:r>
            <a:r>
              <a:rPr lang="ko-KR" altLang="en-US" dirty="0" err="1" smtClean="0"/>
              <a:t>바텀시트</a:t>
            </a:r>
            <a:r>
              <a:rPr lang="en-US" altLang="ko-KR" dirty="0" smtClean="0"/>
              <a:t>, </a:t>
            </a:r>
            <a:r>
              <a:rPr lang="ko-KR" altLang="en-US" dirty="0" err="1" smtClean="0"/>
              <a:t>풀페이지</a:t>
            </a:r>
            <a:r>
              <a:rPr lang="ko-KR" altLang="en-US" dirty="0" smtClean="0"/>
              <a:t> 팝업 모두 닫음</a:t>
            </a:r>
            <a:r>
              <a:rPr lang="en-US" altLang="ko-KR" dirty="0" smtClean="0"/>
              <a:t>.</a:t>
            </a:r>
            <a:br>
              <a:rPr lang="en-US" altLang="ko-KR" dirty="0" smtClean="0"/>
            </a:br>
            <a:r>
              <a:rPr lang="en-US" altLang="ko-KR" dirty="0" smtClean="0"/>
              <a:t>  &gt; </a:t>
            </a:r>
            <a:r>
              <a:rPr lang="ko-KR" altLang="en-US" dirty="0" smtClean="0"/>
              <a:t>적용된 보증서 정보 </a:t>
            </a:r>
            <a:r>
              <a:rPr lang="en-US" altLang="ko-KR" dirty="0" smtClean="0"/>
              <a:t>MUI-BD-04-T74 </a:t>
            </a:r>
            <a:r>
              <a:rPr lang="ko-KR" altLang="en-US" dirty="0" err="1"/>
              <a:t>스탭</a:t>
            </a:r>
            <a:r>
              <a:rPr lang="en-US" altLang="ko-KR" dirty="0"/>
              <a:t>3-</a:t>
            </a:r>
            <a:r>
              <a:rPr lang="ko-KR" altLang="en-US" dirty="0" smtClean="0"/>
              <a:t>입찰보증금 표시</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t>보증서 정보 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보증서 정보</a:t>
            </a:r>
          </a:p>
        </p:txBody>
      </p:sp>
      <p:sp>
        <p:nvSpPr>
          <p:cNvPr id="82" name="직사각형 81"/>
          <p:cNvSpPr/>
          <p:nvPr/>
        </p:nvSpPr>
        <p:spPr>
          <a:xfrm>
            <a:off x="703268" y="2899796"/>
            <a:ext cx="792000" cy="108285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증권번호</a:t>
            </a:r>
            <a:endParaRPr lang="ko-KR" altLang="en-US" sz="700" dirty="0">
              <a:latin typeface="+mn-ea"/>
            </a:endParaRPr>
          </a:p>
          <a:p>
            <a:pPr>
              <a:lnSpc>
                <a:spcPct val="200000"/>
              </a:lnSpc>
            </a:pPr>
            <a:r>
              <a:rPr lang="ko-KR" altLang="en-US" sz="700" dirty="0">
                <a:latin typeface="+mn-ea"/>
              </a:rPr>
              <a:t>보증금액</a:t>
            </a:r>
          </a:p>
          <a:p>
            <a:pPr>
              <a:lnSpc>
                <a:spcPct val="200000"/>
              </a:lnSpc>
            </a:pPr>
            <a:r>
              <a:rPr lang="ko-KR" altLang="en-US" sz="700" dirty="0">
                <a:latin typeface="+mn-ea"/>
              </a:rPr>
              <a:t>보증기간</a:t>
            </a:r>
          </a:p>
          <a:p>
            <a:pPr>
              <a:lnSpc>
                <a:spcPct val="200000"/>
              </a:lnSpc>
            </a:pPr>
            <a:r>
              <a:rPr lang="ko-KR" altLang="en-US" sz="700" dirty="0" err="1">
                <a:latin typeface="+mn-ea"/>
              </a:rPr>
              <a:t>보증료</a:t>
            </a:r>
            <a:endParaRPr lang="ko-KR" altLang="en-US" sz="700" dirty="0">
              <a:latin typeface="+mn-ea"/>
            </a:endParaRPr>
          </a:p>
          <a:p>
            <a:pPr>
              <a:lnSpc>
                <a:spcPct val="200000"/>
              </a:lnSpc>
            </a:pPr>
            <a:r>
              <a:rPr lang="ko-KR" altLang="en-US" sz="700" dirty="0" err="1">
                <a:latin typeface="+mn-ea"/>
              </a:rPr>
              <a:t>보증금율</a:t>
            </a:r>
            <a:endParaRPr lang="ko-KR" altLang="en-US" sz="700" dirty="0">
              <a:latin typeface="+mn-ea"/>
            </a:endParaRPr>
          </a:p>
        </p:txBody>
      </p:sp>
      <p:grpSp>
        <p:nvGrpSpPr>
          <p:cNvPr id="85" name="그룹 84"/>
          <p:cNvGrpSpPr/>
          <p:nvPr/>
        </p:nvGrpSpPr>
        <p:grpSpPr>
          <a:xfrm>
            <a:off x="701175" y="2899795"/>
            <a:ext cx="2630093" cy="1073700"/>
            <a:chOff x="701175" y="1835481"/>
            <a:chExt cx="2630093" cy="107370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0010011053320031100675611100</a:t>
            </a:r>
          </a:p>
          <a:p>
            <a:pPr>
              <a:lnSpc>
                <a:spcPct val="200000"/>
              </a:lnSpc>
            </a:pPr>
            <a:r>
              <a:rPr lang="en-US" altLang="ko-KR" sz="700" dirty="0">
                <a:latin typeface="+mn-ea"/>
              </a:rPr>
              <a:t>2,700,000 </a:t>
            </a:r>
            <a:r>
              <a:rPr lang="ko-KR" altLang="en-US" sz="700" dirty="0">
                <a:latin typeface="+mn-ea"/>
              </a:rPr>
              <a:t>원</a:t>
            </a:r>
          </a:p>
          <a:p>
            <a:pPr>
              <a:lnSpc>
                <a:spcPct val="200000"/>
              </a:lnSpc>
            </a:pPr>
            <a:r>
              <a:rPr lang="en-US" altLang="ko-KR" sz="700" dirty="0">
                <a:latin typeface="+mn-ea"/>
              </a:rPr>
              <a:t>2003-09-08  </a:t>
            </a:r>
            <a:r>
              <a:rPr lang="ko-KR" altLang="en-US" sz="700" dirty="0">
                <a:latin typeface="+mn-ea"/>
              </a:rPr>
              <a:t>부터 </a:t>
            </a:r>
            <a:r>
              <a:rPr lang="en-US" altLang="ko-KR" sz="700" dirty="0">
                <a:latin typeface="+mn-ea"/>
              </a:rPr>
              <a:t>2003-10-09 </a:t>
            </a:r>
            <a:r>
              <a:rPr lang="ko-KR" altLang="en-US" sz="700" dirty="0">
                <a:latin typeface="+mn-ea"/>
              </a:rPr>
              <a:t>까지</a:t>
            </a:r>
          </a:p>
          <a:p>
            <a:pPr algn="r">
              <a:lnSpc>
                <a:spcPct val="200000"/>
              </a:lnSpc>
            </a:pPr>
            <a:r>
              <a:rPr lang="en-US" altLang="ko-KR" sz="700" dirty="0">
                <a:latin typeface="+mn-ea"/>
              </a:rPr>
              <a:t>15,000 </a:t>
            </a:r>
            <a:r>
              <a:rPr lang="ko-KR" altLang="en-US" sz="700" dirty="0">
                <a:latin typeface="+mn-ea"/>
              </a:rPr>
              <a:t>원</a:t>
            </a:r>
          </a:p>
          <a:p>
            <a:pPr algn="r">
              <a:lnSpc>
                <a:spcPct val="200000"/>
              </a:lnSpc>
            </a:pPr>
            <a:r>
              <a:rPr lang="en-US" altLang="ko-KR" sz="700" dirty="0">
                <a:latin typeface="+mn-ea"/>
              </a:rPr>
              <a:t>0 %</a:t>
            </a: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 name="그룹 6"/>
          <p:cNvGrpSpPr/>
          <p:nvPr/>
        </p:nvGrpSpPr>
        <p:grpSpPr>
          <a:xfrm>
            <a:off x="701175" y="4872432"/>
            <a:ext cx="2630093" cy="1178996"/>
            <a:chOff x="701175" y="4672224"/>
            <a:chExt cx="2630093" cy="1178996"/>
          </a:xfrm>
        </p:grpSpPr>
        <p:sp>
          <p:nvSpPr>
            <p:cNvPr id="109" name="직사각형 108"/>
            <p:cNvSpPr/>
            <p:nvPr/>
          </p:nvSpPr>
          <p:spPr>
            <a:xfrm>
              <a:off x="703268" y="4976266"/>
              <a:ext cx="792000" cy="874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0331" y="4976264"/>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 계약자 상호</a:t>
              </a:r>
            </a:p>
            <a:p>
              <a:pPr>
                <a:lnSpc>
                  <a:spcPct val="200000"/>
                </a:lnSpc>
              </a:pPr>
              <a:endParaRPr lang="en-US" altLang="ko-KR" sz="700" dirty="0">
                <a:latin typeface="+mn-ea"/>
              </a:endParaRPr>
            </a:p>
            <a:p>
              <a:pPr>
                <a:lnSpc>
                  <a:spcPct val="200000"/>
                </a:lnSpc>
              </a:pPr>
              <a:r>
                <a:rPr lang="ko-KR" altLang="en-US" sz="700" dirty="0">
                  <a:latin typeface="+mn-ea"/>
                </a:rPr>
                <a:t>보증 채권자 상호</a:t>
              </a:r>
            </a:p>
            <a:p>
              <a:pPr>
                <a:lnSpc>
                  <a:spcPct val="200000"/>
                </a:lnSpc>
              </a:pPr>
              <a:endParaRPr lang="en-US" altLang="ko-KR" sz="700" dirty="0">
                <a:latin typeface="+mn-ea"/>
              </a:endParaRPr>
            </a:p>
          </p:txBody>
        </p:sp>
        <p:grpSp>
          <p:nvGrpSpPr>
            <p:cNvPr id="111" name="그룹 110"/>
            <p:cNvGrpSpPr/>
            <p:nvPr/>
          </p:nvGrpSpPr>
          <p:grpSpPr>
            <a:xfrm>
              <a:off x="701175" y="4976264"/>
              <a:ext cx="2630093" cy="858960"/>
              <a:chOff x="701175" y="1835481"/>
              <a:chExt cx="2630093" cy="858960"/>
            </a:xfrm>
          </p:grpSpPr>
          <p:cxnSp>
            <p:nvCxnSpPr>
              <p:cNvPr id="112" name="직선 연결선 1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1547180" y="497626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주</a:t>
              </a:r>
              <a:r>
                <a:rPr lang="en-US" altLang="ko-KR" sz="700" dirty="0">
                  <a:latin typeface="+mn-ea"/>
                </a:rPr>
                <a:t>) </a:t>
              </a:r>
              <a:r>
                <a:rPr lang="ko-KR" altLang="en-US" sz="700" dirty="0" err="1">
                  <a:latin typeface="+mn-ea"/>
                </a:rPr>
                <a:t>선일이이앤써사</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ko-KR" altLang="en-US" sz="700" dirty="0" smtClean="0">
                  <a:latin typeface="+mn-ea"/>
                </a:rPr>
                <a:t>제</a:t>
              </a:r>
              <a:r>
                <a:rPr lang="en-US" altLang="ko-KR" sz="700" dirty="0">
                  <a:latin typeface="+mn-ea"/>
                </a:rPr>
                <a:t>6950</a:t>
              </a:r>
              <a:r>
                <a:rPr lang="ko-KR" altLang="en-US" sz="700" dirty="0">
                  <a:latin typeface="+mn-ea"/>
                </a:rPr>
                <a:t>부대</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보증 계약자 </a:t>
              </a:r>
              <a:r>
                <a:rPr lang="en-US" altLang="ko-KR" sz="700" dirty="0">
                  <a:latin typeface="+mn-ea"/>
                </a:rPr>
                <a:t>(</a:t>
              </a:r>
              <a:r>
                <a:rPr lang="ko-KR" altLang="en-US" sz="700" dirty="0" err="1">
                  <a:latin typeface="+mn-ea"/>
                </a:rPr>
                <a:t>피보증인</a:t>
              </a:r>
              <a:r>
                <a:rPr lang="en-US" altLang="ko-KR" sz="700" dirty="0">
                  <a:latin typeface="+mn-ea"/>
                </a:rPr>
                <a:t>) </a:t>
              </a:r>
              <a:r>
                <a:rPr lang="ko-KR" altLang="en-US" sz="700" dirty="0">
                  <a:latin typeface="+mn-ea"/>
                </a:rPr>
                <a:t>및 보증 채권자 </a:t>
              </a:r>
              <a:r>
                <a:rPr lang="en-US" altLang="ko-KR" sz="700" dirty="0">
                  <a:latin typeface="+mn-ea"/>
                </a:rPr>
                <a:t>(</a:t>
              </a:r>
              <a:r>
                <a:rPr lang="ko-KR" altLang="en-US" sz="700" dirty="0">
                  <a:latin typeface="+mn-ea"/>
                </a:rPr>
                <a:t>피보험자</a:t>
              </a:r>
              <a:r>
                <a:rPr lang="en-US" altLang="ko-KR" sz="700" dirty="0">
                  <a:latin typeface="+mn-ea"/>
                </a:rPr>
                <a:t>) </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790331" y="5635776"/>
              <a:ext cx="725552" cy="215444"/>
            </a:xfrm>
            <a:prstGeom prst="rect">
              <a:avLst/>
            </a:prstGeom>
            <a:noFill/>
          </p:spPr>
          <p:txBody>
            <a:bodyPr wrap="square" lIns="0" tIns="0" rIns="0" bIns="0" rtlCol="0">
              <a:spAutoFit/>
            </a:bodyPr>
            <a:lstStyle/>
            <a:p>
              <a:r>
                <a:rPr lang="ko-KR" altLang="en-US" sz="700" dirty="0">
                  <a:latin typeface="+mn-ea"/>
                </a:rPr>
                <a:t>보증 채권자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1" y="5197345"/>
              <a:ext cx="725552" cy="215444"/>
            </a:xfrm>
            <a:prstGeom prst="rect">
              <a:avLst/>
            </a:prstGeom>
            <a:noFill/>
          </p:spPr>
          <p:txBody>
            <a:bodyPr wrap="square" lIns="0" tIns="0" rIns="0" bIns="0" rtlCol="0">
              <a:spAutoFit/>
            </a:bodyPr>
            <a:lstStyle/>
            <a:p>
              <a:r>
                <a:rPr lang="ko-KR" altLang="en-US" sz="700" dirty="0">
                  <a:latin typeface="+mn-ea"/>
                </a:rPr>
                <a:t>보증 계약자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grpSp>
      <p:grpSp>
        <p:nvGrpSpPr>
          <p:cNvPr id="6" name="그룹 5"/>
          <p:cNvGrpSpPr/>
          <p:nvPr/>
        </p:nvGrpSpPr>
        <p:grpSpPr>
          <a:xfrm>
            <a:off x="701175" y="3972865"/>
            <a:ext cx="2631433" cy="870032"/>
            <a:chOff x="3820170" y="3024668"/>
            <a:chExt cx="2631433" cy="870032"/>
          </a:xfrm>
        </p:grpSpPr>
        <p:sp>
          <p:nvSpPr>
            <p:cNvPr id="80" name="직사각형 79"/>
            <p:cNvSpPr/>
            <p:nvPr/>
          </p:nvSpPr>
          <p:spPr>
            <a:xfrm>
              <a:off x="3820170" y="3024668"/>
              <a:ext cx="792000" cy="8700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3024669"/>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특기사항</a:t>
              </a:r>
            </a:p>
            <a:p>
              <a:pPr>
                <a:lnSpc>
                  <a:spcPct val="200000"/>
                </a:lnSpc>
              </a:pPr>
              <a:endParaRPr lang="en-US" altLang="ko-KR" sz="700" dirty="0">
                <a:latin typeface="+mn-ea"/>
              </a:endParaRPr>
            </a:p>
            <a:p>
              <a:pPr>
                <a:lnSpc>
                  <a:spcPct val="200000"/>
                </a:lnSpc>
              </a:pPr>
              <a:endParaRPr lang="ko-KR" altLang="en-US" sz="700" dirty="0">
                <a:latin typeface="+mn-ea"/>
              </a:endParaRPr>
            </a:p>
            <a:p>
              <a:pPr>
                <a:lnSpc>
                  <a:spcPct val="200000"/>
                </a:lnSpc>
              </a:pPr>
              <a:r>
                <a:rPr lang="ko-KR" altLang="en-US" sz="700" dirty="0">
                  <a:latin typeface="+mn-ea"/>
                </a:rPr>
                <a:t>발행일자</a:t>
              </a:r>
            </a:p>
          </p:txBody>
        </p:sp>
        <p:grpSp>
          <p:nvGrpSpPr>
            <p:cNvPr id="126" name="그룹 125"/>
            <p:cNvGrpSpPr/>
            <p:nvPr/>
          </p:nvGrpSpPr>
          <p:grpSpPr>
            <a:xfrm>
              <a:off x="3821510" y="3024669"/>
              <a:ext cx="2630093" cy="870031"/>
              <a:chOff x="701175" y="1835481"/>
              <a:chExt cx="2630093" cy="870031"/>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7055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3024669"/>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해당사항없음	</a:t>
              </a:r>
            </a:p>
            <a:p>
              <a:pPr>
                <a:lnSpc>
                  <a:spcPct val="200000"/>
                </a:lnSpc>
              </a:pPr>
              <a:endParaRPr lang="en-US" altLang="ko-KR" sz="700" dirty="0">
                <a:latin typeface="+mn-ea"/>
              </a:endParaRPr>
            </a:p>
            <a:p>
              <a:pPr>
                <a:lnSpc>
                  <a:spcPct val="200000"/>
                </a:lnSpc>
              </a:pPr>
              <a:r>
                <a:rPr lang="en-US" altLang="ko-KR" sz="700" dirty="0">
                  <a:latin typeface="+mn-ea"/>
                </a:rPr>
                <a:t>	</a:t>
              </a:r>
            </a:p>
            <a:p>
              <a:pPr>
                <a:lnSpc>
                  <a:spcPct val="200000"/>
                </a:lnSpc>
              </a:pPr>
              <a:r>
                <a:rPr lang="en-US" altLang="ko-KR" sz="700" dirty="0">
                  <a:latin typeface="+mn-ea"/>
                </a:rPr>
                <a:t>2024-12-09	</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4667515" y="3292814"/>
              <a:ext cx="1784088" cy="323165"/>
            </a:xfrm>
            <a:prstGeom prst="rect">
              <a:avLst/>
            </a:prstGeom>
            <a:noFill/>
          </p:spPr>
          <p:txBody>
            <a:bodyPr wrap="square" lIns="0" tIns="0" rIns="0" bIns="0" rtlCol="0">
              <a:spAutoFit/>
            </a:bodyPr>
            <a:lstStyle/>
            <a:p>
              <a:r>
                <a:rPr lang="ko-KR" altLang="en-US" sz="700" dirty="0">
                  <a:latin typeface="+mn-ea"/>
                </a:rPr>
                <a:t>위 보증금을 전기공사공제조합법 제</a:t>
              </a:r>
              <a:r>
                <a:rPr lang="en-US" altLang="ko-KR" sz="700" dirty="0">
                  <a:latin typeface="+mn-ea"/>
                </a:rPr>
                <a:t>46</a:t>
              </a:r>
              <a:r>
                <a:rPr lang="ko-KR" altLang="en-US" sz="700" dirty="0">
                  <a:latin typeface="+mn-ea"/>
                </a:rPr>
                <a:t>조 및 제</a:t>
              </a:r>
              <a:r>
                <a:rPr lang="en-US" altLang="ko-KR" sz="700" dirty="0">
                  <a:latin typeface="+mn-ea"/>
                </a:rPr>
                <a:t>47</a:t>
              </a:r>
              <a:r>
                <a:rPr lang="ko-KR" altLang="en-US" sz="700" dirty="0">
                  <a:latin typeface="+mn-ea"/>
                </a:rPr>
                <a:t>조와 첨부된 약관에 의하여 우리 조합이 보증합니다</a:t>
              </a:r>
              <a:r>
                <a:rPr lang="en-US" altLang="ko-KR" sz="700" dirty="0">
                  <a:latin typeface="+mn-ea"/>
                </a:rPr>
                <a:t>. 	</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910666" y="3400535"/>
              <a:ext cx="725552" cy="107722"/>
            </a:xfrm>
            <a:prstGeom prst="rect">
              <a:avLst/>
            </a:prstGeom>
            <a:noFill/>
          </p:spPr>
          <p:txBody>
            <a:bodyPr wrap="square" lIns="0" tIns="0" rIns="0" bIns="0" rtlCol="0">
              <a:spAutoFit/>
            </a:bodyPr>
            <a:lstStyle/>
            <a:p>
              <a:r>
                <a:rPr lang="ko-KR" altLang="en-US" sz="700" dirty="0" err="1">
                  <a:latin typeface="+mn-ea"/>
                </a:rPr>
                <a:t>보증문</a:t>
              </a:r>
              <a:endParaRPr lang="en-US" altLang="ko-KR" sz="700" dirty="0">
                <a:latin typeface="+mn-ea"/>
              </a:endParaRPr>
            </a:p>
          </p:txBody>
        </p:sp>
      </p:grpSp>
      <p:grpSp>
        <p:nvGrpSpPr>
          <p:cNvPr id="157" name="그룹 156"/>
          <p:cNvGrpSpPr/>
          <p:nvPr/>
        </p:nvGrpSpPr>
        <p:grpSpPr>
          <a:xfrm>
            <a:off x="3836701" y="2573569"/>
            <a:ext cx="2630093" cy="950371"/>
            <a:chOff x="701175" y="4672224"/>
            <a:chExt cx="2630093" cy="950371"/>
          </a:xfrm>
        </p:grpSpPr>
        <p:sp>
          <p:nvSpPr>
            <p:cNvPr id="158" name="직사각형 157"/>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1" y="4976264"/>
              <a:ext cx="725552" cy="646331"/>
            </a:xfrm>
            <a:prstGeom prst="rect">
              <a:avLst/>
            </a:prstGeom>
            <a:noFill/>
          </p:spPr>
          <p:txBody>
            <a:bodyPr wrap="square" lIns="0" tIns="0" rIns="0" bIns="0" rtlCol="0">
              <a:spAutoFit/>
            </a:bodyPr>
            <a:lstStyle/>
            <a:p>
              <a:pPr>
                <a:lnSpc>
                  <a:spcPct val="200000"/>
                </a:lnSpc>
              </a:pPr>
              <a:r>
                <a:rPr lang="ko-KR" altLang="en-US" sz="700" dirty="0">
                  <a:latin typeface="+mn-ea"/>
                </a:rPr>
                <a:t>상호</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주소</a:t>
              </a:r>
            </a:p>
          </p:txBody>
        </p:sp>
        <p:grpSp>
          <p:nvGrpSpPr>
            <p:cNvPr id="160" name="그룹 159"/>
            <p:cNvGrpSpPr/>
            <p:nvPr/>
          </p:nvGrpSpPr>
          <p:grpSpPr>
            <a:xfrm>
              <a:off x="701175" y="4976264"/>
              <a:ext cx="2630093" cy="644220"/>
              <a:chOff x="701175" y="1835481"/>
              <a:chExt cx="2630093" cy="644220"/>
            </a:xfrm>
          </p:grpSpPr>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1547180" y="4976264"/>
              <a:ext cx="1784088" cy="612027"/>
            </a:xfrm>
            <a:prstGeom prst="rect">
              <a:avLst/>
            </a:prstGeom>
            <a:noFill/>
          </p:spPr>
          <p:txBody>
            <a:bodyPr wrap="square" lIns="0" tIns="0" rIns="0" bIns="0" rtlCol="0">
              <a:spAutoFit/>
            </a:bodyPr>
            <a:lstStyle/>
            <a:p>
              <a:pPr>
                <a:lnSpc>
                  <a:spcPct val="200000"/>
                </a:lnSpc>
              </a:pPr>
              <a:r>
                <a:rPr lang="ko-KR" altLang="en-US" sz="700" dirty="0">
                  <a:latin typeface="+mn-ea"/>
                </a:rPr>
                <a:t>서울보증보험주식회사</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62146" y="4672224"/>
              <a:ext cx="2010684" cy="181140"/>
            </a:xfrm>
            <a:prstGeom prst="rect">
              <a:avLst/>
            </a:prstGeom>
            <a:noFill/>
          </p:spPr>
          <p:txBody>
            <a:bodyPr wrap="square" lIns="0" tIns="0" rIns="0" bIns="0" rtlCol="0">
              <a:spAutoFit/>
            </a:bodyPr>
            <a:lstStyle/>
            <a:p>
              <a:pPr>
                <a:lnSpc>
                  <a:spcPct val="200000"/>
                </a:lnSpc>
              </a:pPr>
              <a:r>
                <a:rPr lang="ko-KR" altLang="en-US" sz="700" dirty="0">
                  <a:latin typeface="+mn-ea"/>
                </a:rPr>
                <a:t>발행자 정보</a:t>
              </a:r>
            </a:p>
          </p:txBody>
        </p:sp>
      </p:grpSp>
      <p:grpSp>
        <p:nvGrpSpPr>
          <p:cNvPr id="178" name="그룹 177"/>
          <p:cNvGrpSpPr/>
          <p:nvPr/>
        </p:nvGrpSpPr>
        <p:grpSpPr>
          <a:xfrm>
            <a:off x="3836701" y="3634970"/>
            <a:ext cx="2630093" cy="734927"/>
            <a:chOff x="701175" y="4672224"/>
            <a:chExt cx="2630093" cy="734927"/>
          </a:xfrm>
        </p:grpSpPr>
        <p:sp>
          <p:nvSpPr>
            <p:cNvPr id="179" name="직사각형 178"/>
            <p:cNvSpPr/>
            <p:nvPr/>
          </p:nvSpPr>
          <p:spPr>
            <a:xfrm>
              <a:off x="703268" y="4976265"/>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1" y="4976264"/>
              <a:ext cx="725552" cy="43088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부서</a:t>
              </a:r>
            </a:p>
          </p:txBody>
        </p:sp>
        <p:grpSp>
          <p:nvGrpSpPr>
            <p:cNvPr id="181" name="그룹 180"/>
            <p:cNvGrpSpPr/>
            <p:nvPr/>
          </p:nvGrpSpPr>
          <p:grpSpPr>
            <a:xfrm>
              <a:off x="701175" y="4976264"/>
              <a:ext cx="2630093" cy="429480"/>
              <a:chOff x="701175" y="1835481"/>
              <a:chExt cx="2630093" cy="429480"/>
            </a:xfrm>
          </p:grpSpPr>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4" name="TextBox 183">
              <a:extLst>
                <a:ext uri="{FF2B5EF4-FFF2-40B4-BE49-F238E27FC236}">
                  <a16:creationId xmlns:a16="http://schemas.microsoft.com/office/drawing/2014/main" id="{FFC49AEA-2A8F-250C-A86A-A7751D9706C3}"/>
                </a:ext>
              </a:extLst>
            </p:cNvPr>
            <p:cNvSpPr txBox="1"/>
            <p:nvPr/>
          </p:nvSpPr>
          <p:spPr>
            <a:xfrm>
              <a:off x="1547180" y="4976264"/>
              <a:ext cx="1784088" cy="430887"/>
            </a:xfrm>
            <a:prstGeom prst="rect">
              <a:avLst/>
            </a:prstGeom>
            <a:noFill/>
          </p:spPr>
          <p:txBody>
            <a:bodyPr wrap="square" lIns="0" tIns="0" rIns="0" bIns="0" rtlCol="0">
              <a:spAutoFit/>
            </a:bodyPr>
            <a:lstStyle/>
            <a:p>
              <a:pPr>
                <a:lnSpc>
                  <a:spcPct val="200000"/>
                </a:lnSpc>
              </a:pPr>
              <a:r>
                <a:rPr lang="ko-KR" altLang="en-US" sz="700" dirty="0" err="1">
                  <a:latin typeface="+mn-ea"/>
                </a:rPr>
                <a:t>김길동</a:t>
              </a:r>
              <a:endParaRPr lang="en-US" altLang="ko-KR" sz="700" dirty="0">
                <a:latin typeface="+mn-ea"/>
              </a:endParaRPr>
            </a:p>
            <a:p>
              <a:pPr>
                <a:lnSpc>
                  <a:spcPct val="200000"/>
                </a:lnSpc>
              </a:pPr>
              <a:r>
                <a:rPr lang="ko-KR" altLang="en-US" sz="700" dirty="0" err="1">
                  <a:latin typeface="+mn-ea"/>
                </a:rPr>
                <a:t>과천지점</a:t>
              </a:r>
              <a:endParaRPr lang="en-US" altLang="ko-KR"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대리인 정보</a:t>
              </a:r>
            </a:p>
          </p:txBody>
        </p:sp>
      </p:grpSp>
      <p:grpSp>
        <p:nvGrpSpPr>
          <p:cNvPr id="191" name="그룹 190"/>
          <p:cNvGrpSpPr/>
          <p:nvPr/>
        </p:nvGrpSpPr>
        <p:grpSpPr>
          <a:xfrm>
            <a:off x="3836701" y="4477710"/>
            <a:ext cx="2630093" cy="950371"/>
            <a:chOff x="701175" y="4672224"/>
            <a:chExt cx="2630093" cy="950371"/>
          </a:xfrm>
        </p:grpSpPr>
        <p:sp>
          <p:nvSpPr>
            <p:cNvPr id="192" name="직사각형 191"/>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3" name="TextBox 192">
              <a:extLst>
                <a:ext uri="{FF2B5EF4-FFF2-40B4-BE49-F238E27FC236}">
                  <a16:creationId xmlns:a16="http://schemas.microsoft.com/office/drawing/2014/main" id="{FFC49AEA-2A8F-250C-A86A-A7751D9706C3}"/>
                </a:ext>
              </a:extLst>
            </p:cNvPr>
            <p:cNvSpPr txBox="1"/>
            <p:nvPr/>
          </p:nvSpPr>
          <p:spPr>
            <a:xfrm>
              <a:off x="790331" y="4976264"/>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전화</a:t>
              </a:r>
              <a:endParaRPr lang="en-US" altLang="ko-KR" sz="700" dirty="0">
                <a:latin typeface="+mn-ea"/>
              </a:endParaRPr>
            </a:p>
            <a:p>
              <a:pPr>
                <a:lnSpc>
                  <a:spcPct val="200000"/>
                </a:lnSpc>
              </a:pPr>
              <a:r>
                <a:rPr lang="en-US" altLang="ko-KR" sz="700" dirty="0">
                  <a:latin typeface="+mn-ea"/>
                </a:rPr>
                <a:t>FAX</a:t>
              </a:r>
              <a:endParaRPr lang="ko-KR" altLang="en-US" sz="700" dirty="0">
                <a:latin typeface="+mn-ea"/>
              </a:endParaRPr>
            </a:p>
          </p:txBody>
        </p:sp>
        <p:grpSp>
          <p:nvGrpSpPr>
            <p:cNvPr id="194" name="그룹 193"/>
            <p:cNvGrpSpPr/>
            <p:nvPr/>
          </p:nvGrpSpPr>
          <p:grpSpPr>
            <a:xfrm>
              <a:off x="701175" y="4976264"/>
              <a:ext cx="2630093" cy="644220"/>
              <a:chOff x="701175" y="1835481"/>
              <a:chExt cx="2630093" cy="644220"/>
            </a:xfrm>
          </p:grpSpPr>
          <p:cxnSp>
            <p:nvCxnSpPr>
              <p:cNvPr id="197" name="직선 연결선 19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5" name="TextBox 194">
              <a:extLst>
                <a:ext uri="{FF2B5EF4-FFF2-40B4-BE49-F238E27FC236}">
                  <a16:creationId xmlns:a16="http://schemas.microsoft.com/office/drawing/2014/main" id="{FFC49AEA-2A8F-250C-A86A-A7751D9706C3}"/>
                </a:ext>
              </a:extLst>
            </p:cNvPr>
            <p:cNvSpPr txBox="1"/>
            <p:nvPr/>
          </p:nvSpPr>
          <p:spPr>
            <a:xfrm>
              <a:off x="1547180" y="4976264"/>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박길동</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4" name="그룹 103"/>
          <p:cNvGrpSpPr/>
          <p:nvPr/>
        </p:nvGrpSpPr>
        <p:grpSpPr>
          <a:xfrm>
            <a:off x="8223250" y="569392"/>
            <a:ext cx="3365500" cy="634511"/>
            <a:chOff x="8223250" y="569392"/>
            <a:chExt cx="3365500" cy="634511"/>
          </a:xfrm>
        </p:grpSpPr>
        <p:sp>
          <p:nvSpPr>
            <p:cNvPr id="105" name="직사각형 10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6" name="직사각형 10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45840113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보증서 정보 조회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보증계약 </a:t>
            </a:r>
            <a:r>
              <a:rPr lang="en-US" altLang="ko-KR" sz="700" dirty="0">
                <a:latin typeface="+mn-ea"/>
              </a:rPr>
              <a:t>- </a:t>
            </a:r>
            <a:r>
              <a:rPr lang="ko-KR" altLang="en-US" sz="700" dirty="0" err="1">
                <a:latin typeface="+mn-ea"/>
              </a:rPr>
              <a:t>주계약</a:t>
            </a:r>
            <a:endParaRPr lang="ko-KR" altLang="en-US" sz="700" dirty="0">
              <a:latin typeface="+mn-ea"/>
            </a:endParaRPr>
          </a:p>
        </p:txBody>
      </p:sp>
      <p:sp>
        <p:nvSpPr>
          <p:cNvPr id="82" name="직사각형 81"/>
          <p:cNvSpPr/>
          <p:nvPr/>
        </p:nvSpPr>
        <p:spPr>
          <a:xfrm>
            <a:off x="703268" y="2899796"/>
            <a:ext cx="792000" cy="8667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err="1">
                <a:latin typeface="+mn-ea"/>
              </a:rPr>
              <a:t>입찰번호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lvl="0">
              <a:lnSpc>
                <a:spcPct val="200000"/>
              </a:lnSpc>
            </a:pPr>
            <a:r>
              <a:rPr kumimoji="1" lang="en-US" altLang="ko-KR" sz="700" spc="-60" dirty="0">
                <a:latin typeface="+mn-ea"/>
              </a:rPr>
              <a:t>00</a:t>
            </a:r>
            <a:r>
              <a:rPr kumimoji="1" lang="ko-KR" altLang="en-US" sz="700" spc="-60" dirty="0">
                <a:latin typeface="+mn-ea"/>
              </a:rPr>
              <a:t>지역 </a:t>
            </a:r>
            <a:r>
              <a:rPr kumimoji="1" lang="ko-KR" altLang="en-US" sz="700" spc="-60" dirty="0" err="1">
                <a:latin typeface="+mn-ea"/>
              </a:rPr>
              <a:t>내무생활관</a:t>
            </a:r>
            <a:r>
              <a:rPr kumimoji="1" lang="ko-KR" altLang="en-US" sz="700" spc="-60" dirty="0">
                <a:latin typeface="+mn-ea"/>
              </a:rPr>
              <a:t> 전기공사</a:t>
            </a:r>
            <a:endParaRPr lang="en-US" altLang="ko-KR" sz="700" dirty="0">
              <a:latin typeface="+mn-ea"/>
            </a:endParaRPr>
          </a:p>
          <a:p>
            <a:pPr algn="r">
              <a:lnSpc>
                <a:spcPct val="200000"/>
              </a:lnSpc>
            </a:pPr>
            <a:r>
              <a:rPr lang="en-US" altLang="ko-KR" sz="700" dirty="0">
                <a:latin typeface="+mn-ea"/>
              </a:rPr>
              <a:t>2,700,000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0010011053320031100675611100</a:t>
            </a:r>
            <a:endParaRPr lang="ko-KR" altLang="en-US" sz="700" dirty="0">
              <a:latin typeface="+mn-ea"/>
            </a:endParaRPr>
          </a:p>
          <a:p>
            <a:pPr>
              <a:lnSpc>
                <a:spcPct val="200000"/>
              </a:lnSpc>
            </a:pPr>
            <a:r>
              <a:rPr lang="en-US" altLang="ko-KR" sz="700" dirty="0">
                <a:latin typeface="+mn-ea"/>
              </a:rPr>
              <a:t>2003-09-08</a:t>
            </a:r>
          </a:p>
        </p:txBody>
      </p:sp>
      <p:grpSp>
        <p:nvGrpSpPr>
          <p:cNvPr id="3" name="그룹 2"/>
          <p:cNvGrpSpPr/>
          <p:nvPr/>
        </p:nvGrpSpPr>
        <p:grpSpPr>
          <a:xfrm>
            <a:off x="675399"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90331" y="3551099"/>
            <a:ext cx="725552"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a:latin typeface="+mn-ea"/>
              </a:rPr>
              <a:t>마감일자</a:t>
            </a:r>
          </a:p>
        </p:txBody>
      </p:sp>
    </p:spTree>
    <p:extLst>
      <p:ext uri="{BB962C8B-B14F-4D97-AF65-F5344CB8AC3E}">
        <p14:creationId xmlns:p14="http://schemas.microsoft.com/office/powerpoint/2010/main" val="1310642803"/>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446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보증서정보 데이터 영역 </a:t>
            </a:r>
            <a:r>
              <a:rPr lang="en-US" altLang="ko-KR" sz="900" b="1" dirty="0">
                <a:solidFill>
                  <a:prstClr val="black"/>
                </a:solidFill>
              </a:rPr>
              <a:t>(</a:t>
            </a:r>
            <a:r>
              <a:rPr lang="en-US" altLang="ko-KR" sz="900" b="1" dirty="0" err="1">
                <a:solidFill>
                  <a:prstClr val="black"/>
                </a:solidFill>
              </a:rPr>
              <a:t>dl_wtgrInfo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grnteBgngPrd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grfe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grnteAmtDepstRt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보증채권자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spcltMttr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grntePhrsCn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bl>
          </a:graphicData>
        </a:graphic>
      </p:graphicFrame>
      <p:sp>
        <p:nvSpPr>
          <p:cNvPr id="2" name="Text Box 73">
            <a:extLst>
              <a:ext uri="{FF2B5EF4-FFF2-40B4-BE49-F238E27FC236}">
                <a16:creationId xmlns:a16="http://schemas.microsoft.com/office/drawing/2014/main" id="{99E1FD21-60AA-A504-D440-8EA7CA0D60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8388823"/>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194340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발행자 데이터 </a:t>
            </a:r>
            <a:r>
              <a:rPr lang="ko-KR" altLang="en-US" sz="900" b="1">
                <a:solidFill>
                  <a:prstClr val="black"/>
                </a:solidFill>
              </a:rPr>
              <a:t>영역 </a:t>
            </a:r>
            <a:r>
              <a:rPr lang="en-US" altLang="ko-KR" sz="900" b="1">
                <a:solidFill>
                  <a:prstClr val="black"/>
                </a:solidFill>
              </a:rPr>
              <a:t>(dl_IsrInfo)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bl>
          </a:graphicData>
        </a:graphic>
      </p:graphicFrame>
      <p:sp>
        <p:nvSpPr>
          <p:cNvPr id="6" name="TextBox 5">
            <a:extLst>
              <a:ext uri="{FF2B5EF4-FFF2-40B4-BE49-F238E27FC236}">
                <a16:creationId xmlns:a16="http://schemas.microsoft.com/office/drawing/2014/main" id="{0704E1BD-38F5-55DB-BAD3-13B26DEB1EE4}"/>
              </a:ext>
            </a:extLst>
          </p:cNvPr>
          <p:cNvSpPr txBox="1"/>
          <p:nvPr/>
        </p:nvSpPr>
        <p:spPr>
          <a:xfrm>
            <a:off x="458117" y="3250557"/>
            <a:ext cx="21165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보증계약 데이터 </a:t>
            </a:r>
            <a:r>
              <a:rPr lang="ko-KR" altLang="en-US" sz="900" b="1">
                <a:solidFill>
                  <a:prstClr val="black"/>
                </a:solidFill>
              </a:rPr>
              <a:t>영역 </a:t>
            </a:r>
            <a:r>
              <a:rPr lang="en-US" altLang="ko-KR" sz="900" b="1">
                <a:solidFill>
                  <a:prstClr val="black"/>
                </a:solidFill>
              </a:rPr>
              <a:t>(dl_ctrtInfo)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926DE23-EF93-C082-D8E9-074411A05D1A}"/>
              </a:ext>
            </a:extLst>
          </p:cNvPr>
          <p:cNvGraphicFramePr>
            <a:graphicFrameLocks noGrp="1"/>
          </p:cNvGraphicFramePr>
          <p:nvPr/>
        </p:nvGraphicFramePr>
        <p:xfrm>
          <a:off x="452999" y="346176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bl>
          </a:graphicData>
        </a:graphic>
      </p:graphicFrame>
      <p:sp>
        <p:nvSpPr>
          <p:cNvPr id="8" name="Text Box 73">
            <a:extLst>
              <a:ext uri="{FF2B5EF4-FFF2-40B4-BE49-F238E27FC236}">
                <a16:creationId xmlns:a16="http://schemas.microsoft.com/office/drawing/2014/main" id="{4B5C1F74-3735-F84A-FA19-B5C15A37E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7270061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D67880BC-6DDB-6329-4178-180CD551DD2F}"/>
              </a:ext>
            </a:extLst>
          </p:cNvPr>
          <p:cNvSpPr>
            <a:spLocks noGrp="1"/>
          </p:cNvSpPr>
          <p:nvPr>
            <p:ph type="sldNum" sz="quarter" idx="4"/>
          </p:nvPr>
        </p:nvSpPr>
        <p:spPr/>
        <p:txBody>
          <a:bodyPr/>
          <a:lstStyle/>
          <a:p>
            <a:fld id="{34C8E023-7346-48FC-AB24-9A3388C53208}" type="slidenum">
              <a:rPr lang="ko-KR" altLang="en-US" smtClean="0"/>
              <a:pPr/>
              <a:t>354</a:t>
            </a:fld>
            <a:endParaRPr lang="ko-KR" altLang="en-US" dirty="0"/>
          </a:p>
        </p:txBody>
      </p:sp>
      <p:sp>
        <p:nvSpPr>
          <p:cNvPr id="6" name="TextBox 5">
            <a:extLst>
              <a:ext uri="{FF2B5EF4-FFF2-40B4-BE49-F238E27FC236}">
                <a16:creationId xmlns:a16="http://schemas.microsoft.com/office/drawing/2014/main" id="{A308B143-F893-186B-7813-58F5FC716CF0}"/>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83BC0E6E-3934-8737-B0BC-7C980B5993FC}"/>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 정보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0" name="Text Box 73">
            <a:extLst>
              <a:ext uri="{FF2B5EF4-FFF2-40B4-BE49-F238E27FC236}">
                <a16:creationId xmlns:a16="http://schemas.microsoft.com/office/drawing/2014/main" id="{F1EE667B-B3CA-A2DE-0461-57C74A6FDCB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2705615"/>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공지사항</a:t>
            </a:r>
            <a:r>
              <a:rPr lang="en-US" altLang="ko-KR" dirty="0" smtClean="0"/>
              <a:t>, </a:t>
            </a:r>
            <a:r>
              <a:rPr lang="ko-KR" altLang="en-US" dirty="0" err="1" smtClean="0"/>
              <a:t>업무도움이</a:t>
            </a:r>
            <a:r>
              <a:rPr lang="ko-KR" altLang="en-US" dirty="0" smtClean="0"/>
              <a:t> 있는 경우 표시</a:t>
            </a:r>
            <a:endParaRPr lang="en-US" altLang="ko-KR" dirty="0"/>
          </a:p>
          <a:p>
            <a:pPr marL="228600" indent="-228600">
              <a:buFont typeface="+mj-lt"/>
              <a:buAutoNum type="arabicPeriod"/>
            </a:pPr>
            <a:r>
              <a:rPr lang="ko-KR" altLang="en-US" dirty="0" smtClean="0"/>
              <a:t>신청서 </a:t>
            </a:r>
            <a:r>
              <a:rPr lang="ko-KR" altLang="en-US" dirty="0"/>
              <a:t>탭</a:t>
            </a:r>
            <a:endParaRPr lang="en-US" altLang="ko-KR" dirty="0"/>
          </a:p>
          <a:p>
            <a:pPr marL="228600" indent="-228600">
              <a:buFont typeface="+mj-lt"/>
              <a:buAutoNum type="arabicPeriod"/>
            </a:pPr>
            <a:r>
              <a:rPr lang="ko-KR" altLang="en-US" dirty="0"/>
              <a:t>데이터 </a:t>
            </a:r>
            <a:r>
              <a:rPr lang="ko-KR" altLang="en-US" dirty="0" smtClean="0"/>
              <a:t>영역</a:t>
            </a:r>
            <a:endParaRPr lang="en-US" altLang="ko-KR" dirty="0"/>
          </a:p>
          <a:p>
            <a:pPr marL="228600" indent="-228600">
              <a:buFont typeface="+mj-lt"/>
              <a:buAutoNum type="arabicPeriod"/>
            </a:pPr>
            <a:r>
              <a:rPr lang="ko-KR" altLang="en-US" dirty="0" err="1" smtClean="0"/>
              <a:t>더보기</a:t>
            </a:r>
            <a:r>
              <a:rPr lang="ko-KR" altLang="en-US" dirty="0" smtClean="0"/>
              <a:t> 버튼</a:t>
            </a:r>
            <a:r>
              <a:rPr lang="en-US" altLang="ko-KR" dirty="0" smtClean="0"/>
              <a:t/>
            </a:r>
            <a:br>
              <a:rPr lang="en-US" altLang="ko-KR" dirty="0" smtClean="0"/>
            </a:br>
            <a:r>
              <a:rPr lang="en-US" altLang="ko-KR" dirty="0" smtClean="0"/>
              <a:t>- </a:t>
            </a:r>
            <a:r>
              <a:rPr lang="ko-KR" altLang="en-US" dirty="0"/>
              <a:t>입찰결과 </a:t>
            </a:r>
            <a:r>
              <a:rPr lang="en-US" altLang="ko-KR" dirty="0"/>
              <a:t>(MUI-BD-09-M71 </a:t>
            </a:r>
            <a:r>
              <a:rPr lang="ko-KR" altLang="en-US" dirty="0">
                <a:latin typeface="+mn-ea"/>
              </a:rPr>
              <a:t>입찰결과상세조회</a:t>
            </a:r>
            <a:r>
              <a:rPr lang="en-US" altLang="ko-KR" dirty="0" smtClean="0">
                <a:latin typeface="+mn-ea"/>
              </a:rPr>
              <a:t>)</a:t>
            </a:r>
            <a:br>
              <a:rPr lang="en-US" altLang="ko-KR" dirty="0" smtClean="0">
                <a:latin typeface="+mn-ea"/>
              </a:rPr>
            </a:br>
            <a:r>
              <a:rPr lang="en-US" altLang="ko-KR" dirty="0" smtClean="0">
                <a:latin typeface="+mn-ea"/>
              </a:rPr>
              <a:t>- </a:t>
            </a:r>
            <a:r>
              <a:rPr lang="ko-KR" altLang="en-US" dirty="0" smtClean="0">
                <a:latin typeface="+mn-ea"/>
              </a:rPr>
              <a:t>입찰참가신청서 취소 </a:t>
            </a:r>
            <a:r>
              <a:rPr lang="en-US" altLang="ko-KR" dirty="0">
                <a:latin typeface="+mn-ea"/>
              </a:rPr>
              <a:t>MUI-BD-04-P82</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64240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949888"/>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94988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949887"/>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949887"/>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1809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3946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6084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59541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378809"/>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3378809"/>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337880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337880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59541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340686"/>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60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25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5243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378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576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3372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6984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2639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60979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60979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60979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60979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2639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7166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173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47124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94534"/>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97837"/>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93" name="그룹 92"/>
          <p:cNvGrpSpPr/>
          <p:nvPr/>
        </p:nvGrpSpPr>
        <p:grpSpPr>
          <a:xfrm>
            <a:off x="8223250" y="569392"/>
            <a:ext cx="3365500" cy="634511"/>
            <a:chOff x="8223250" y="569392"/>
            <a:chExt cx="3365500" cy="634511"/>
          </a:xfrm>
        </p:grpSpPr>
        <p:sp>
          <p:nvSpPr>
            <p:cNvPr id="94" name="직사각형 9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5" name="직사각형 9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91" name="그룹 90"/>
          <p:cNvGrpSpPr/>
          <p:nvPr/>
        </p:nvGrpSpPr>
        <p:grpSpPr>
          <a:xfrm>
            <a:off x="677960" y="1582647"/>
            <a:ext cx="2714637" cy="686386"/>
            <a:chOff x="677960" y="1582647"/>
            <a:chExt cx="2714637" cy="686386"/>
          </a:xfrm>
        </p:grpSpPr>
        <p:sp>
          <p:nvSpPr>
            <p:cNvPr id="92" name="TextBox 9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상세</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7" name="그룹 96"/>
            <p:cNvGrpSpPr/>
            <p:nvPr/>
          </p:nvGrpSpPr>
          <p:grpSpPr>
            <a:xfrm rot="5400000">
              <a:off x="852159" y="2062596"/>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8" name="그룹 97"/>
            <p:cNvGrpSpPr/>
            <p:nvPr/>
          </p:nvGrpSpPr>
          <p:grpSpPr>
            <a:xfrm>
              <a:off x="677960" y="1582647"/>
              <a:ext cx="2712027" cy="324286"/>
              <a:chOff x="677960" y="1582647"/>
              <a:chExt cx="2712027" cy="324286"/>
            </a:xfrm>
          </p:grpSpPr>
          <p:pic>
            <p:nvPicPr>
              <p:cNvPr id="9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0" name="직선 연결선 99">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타원 10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타원 10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06" name="텍스트 개체 틀 12">
            <a:extLst>
              <a:ext uri="{FF2B5EF4-FFF2-40B4-BE49-F238E27FC236}">
                <a16:creationId xmlns:a16="http://schemas.microsoft.com/office/drawing/2014/main" id="{0643EE08-B324-56D6-CB41-C4D8C5E38320}"/>
              </a:ext>
            </a:extLst>
          </p:cNvPr>
          <p:cNvSpPr txBox="1">
            <a:spLocks/>
          </p:cNvSpPr>
          <p:nvPr/>
        </p:nvSpPr>
        <p:spPr>
          <a:xfrm>
            <a:off x="675399" y="1268834"/>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MUI-BD-04-T76</a:t>
            </a:r>
            <a:endParaRPr lang="ko-KR" altLang="en-US" dirty="0">
              <a:solidFill>
                <a:srgbClr val="000000"/>
              </a:solidFill>
              <a:latin typeface="맑은 고딕" panose="020B0503020000020004" pitchFamily="50" charset="-127"/>
            </a:endParaRPr>
          </a:p>
        </p:txBody>
      </p:sp>
      <p:sp>
        <p:nvSpPr>
          <p:cNvPr id="107" name="타원 10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a:off x="6726256" y="4802272"/>
            <a:ext cx="124144" cy="148935"/>
            <a:chOff x="161606" y="5392781"/>
            <a:chExt cx="97885" cy="117432"/>
          </a:xfrm>
        </p:grpSpPr>
        <p:cxnSp>
          <p:nvCxnSpPr>
            <p:cNvPr id="109" name="직선 연결선 10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2" name="직선 연결선 111"/>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3" name="타원 112"/>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4" name="그룹 113"/>
          <p:cNvGrpSpPr/>
          <p:nvPr/>
        </p:nvGrpSpPr>
        <p:grpSpPr>
          <a:xfrm>
            <a:off x="6726257" y="5299917"/>
            <a:ext cx="124144" cy="124144"/>
            <a:chOff x="162544" y="5299917"/>
            <a:chExt cx="124144" cy="124144"/>
          </a:xfrm>
        </p:grpSpPr>
        <p:cxnSp>
          <p:nvCxnSpPr>
            <p:cNvPr id="115" name="직선 연결선 114"/>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17" name="타원 116">
            <a:extLst>
              <a:ext uri="{FF2B5EF4-FFF2-40B4-BE49-F238E27FC236}">
                <a16:creationId xmlns:a16="http://schemas.microsoft.com/office/drawing/2014/main" id="{37A7FF4F-0EAA-1463-560A-D5EC24416103}"/>
              </a:ext>
            </a:extLst>
          </p:cNvPr>
          <p:cNvSpPr/>
          <p:nvPr/>
        </p:nvSpPr>
        <p:spPr>
          <a:xfrm>
            <a:off x="6405545" y="51704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2027386300"/>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입찰업체</a:t>
            </a:r>
            <a:r>
              <a:rPr lang="ko-KR" altLang="en-US" dirty="0"/>
              <a:t> </a:t>
            </a:r>
            <a:r>
              <a:rPr lang="ko-KR" altLang="en-US" dirty="0" smtClean="0"/>
              <a:t>데이터</a:t>
            </a:r>
            <a:r>
              <a:rPr lang="en-US" altLang="ko-KR" dirty="0" smtClean="0"/>
              <a:t/>
            </a:r>
            <a:br>
              <a:rPr lang="en-US" altLang="ko-KR" dirty="0" smtClean="0"/>
            </a:br>
            <a:r>
              <a:rPr lang="en-US" altLang="ko-KR" dirty="0" smtClean="0"/>
              <a:t>- </a:t>
            </a:r>
            <a:r>
              <a:rPr lang="ko-KR" altLang="en-US" dirty="0" smtClean="0"/>
              <a:t>암호화 </a:t>
            </a:r>
            <a:r>
              <a:rPr lang="ko-KR" altLang="en-US" dirty="0" err="1" smtClean="0"/>
              <a:t>대상항목</a:t>
            </a:r>
            <a:r>
              <a:rPr lang="ko-KR" altLang="en-US" dirty="0" smtClean="0"/>
              <a:t> 암호화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300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13459"/>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13459"/>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1345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1345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3006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575336"/>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1898937"/>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528400041"/>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선택 버튼 </a:t>
            </a:r>
            <a:r>
              <a:rPr lang="en-US" altLang="ko-KR" dirty="0" smtClean="0"/>
              <a:t>(ON/OFF)</a:t>
            </a:r>
          </a:p>
          <a:p>
            <a:pPr marL="228600" indent="-228600">
              <a:buFont typeface="+mj-lt"/>
              <a:buAutoNum type="arabicPeriod"/>
            </a:pPr>
            <a:r>
              <a:rPr lang="ko-KR" altLang="en-US" dirty="0" smtClean="0"/>
              <a:t>입찰 취소</a:t>
            </a:r>
            <a:r>
              <a:rPr lang="en-US" altLang="ko-KR" dirty="0" smtClean="0"/>
              <a:t/>
            </a:r>
            <a:br>
              <a:rPr lang="en-US" altLang="ko-KR" dirty="0" smtClean="0"/>
            </a:br>
            <a:r>
              <a:rPr lang="en-US" altLang="ko-KR" dirty="0" smtClean="0"/>
              <a:t>- </a:t>
            </a:r>
            <a:r>
              <a:rPr lang="ko-KR" altLang="en-US" dirty="0" smtClean="0"/>
              <a:t>개별 건</a:t>
            </a:r>
            <a:r>
              <a:rPr lang="en-US" altLang="ko-KR" dirty="0" smtClean="0"/>
              <a:t>(</a:t>
            </a:r>
            <a:r>
              <a:rPr lang="ko-KR" altLang="en-US" dirty="0" smtClean="0"/>
              <a:t>선택 건</a:t>
            </a:r>
            <a:r>
              <a:rPr lang="en-US" altLang="ko-KR" dirty="0" smtClean="0"/>
              <a:t>)</a:t>
            </a:r>
            <a:r>
              <a:rPr lang="ko-KR" altLang="en-US" dirty="0" smtClean="0"/>
              <a:t> 입찰 </a:t>
            </a:r>
            <a:r>
              <a:rPr lang="ko-KR" altLang="en-US" dirty="0"/>
              <a:t>취소</a:t>
            </a:r>
            <a:r>
              <a:rPr lang="en-US" altLang="ko-KR" dirty="0"/>
              <a:t/>
            </a:r>
            <a:br>
              <a:rPr lang="en-US" altLang="ko-KR" dirty="0"/>
            </a:br>
            <a:r>
              <a:rPr lang="en-US" altLang="ko-KR" dirty="0" smtClean="0"/>
              <a:t>  &gt; </a:t>
            </a:r>
            <a:r>
              <a:rPr lang="ko-KR" altLang="en-US" dirty="0"/>
              <a:t>입찰참가 취소 팝업 </a:t>
            </a:r>
            <a:r>
              <a:rPr lang="ko-KR" altLang="en-US" dirty="0" smtClean="0"/>
              <a:t>호출</a:t>
            </a:r>
            <a:r>
              <a:rPr lang="en-US" altLang="ko-KR" dirty="0"/>
              <a:t/>
            </a:r>
            <a:br>
              <a:rPr lang="en-US" altLang="ko-KR" dirty="0"/>
            </a:br>
            <a:r>
              <a:rPr lang="en-US" altLang="ko-KR" dirty="0"/>
              <a:t>  &gt; MUI-BD-04-P82 </a:t>
            </a:r>
            <a:r>
              <a:rPr lang="ko-KR" altLang="en-US" dirty="0" smtClean="0"/>
              <a:t>입찰참가신청서취소</a:t>
            </a:r>
            <a:r>
              <a:rPr lang="en-US" altLang="ko-KR" dirty="0" smtClean="0"/>
              <a:t/>
            </a:r>
            <a:br>
              <a:rPr lang="en-US" altLang="ko-KR" dirty="0" smtClean="0"/>
            </a:br>
            <a:r>
              <a:rPr lang="en-US" altLang="ko-KR" dirty="0" smtClean="0"/>
              <a:t>- </a:t>
            </a:r>
            <a:r>
              <a:rPr lang="ko-KR" altLang="en-US" dirty="0" smtClean="0"/>
              <a:t>전체 입찰 취소</a:t>
            </a:r>
            <a:r>
              <a:rPr lang="en-US" altLang="ko-KR" dirty="0" smtClean="0"/>
              <a:t/>
            </a:r>
            <a:br>
              <a:rPr lang="en-US" altLang="ko-KR" dirty="0" smtClean="0"/>
            </a:br>
            <a:r>
              <a:rPr lang="en-US" altLang="ko-KR" dirty="0" smtClean="0"/>
              <a:t>  &gt; </a:t>
            </a:r>
            <a:r>
              <a:rPr lang="ko-KR" altLang="en-US" dirty="0" smtClean="0"/>
              <a:t>입찰참가 취소 팝업 호출</a:t>
            </a:r>
            <a:r>
              <a:rPr lang="en-US" altLang="ko-KR" dirty="0" smtClean="0"/>
              <a:t/>
            </a:r>
            <a:br>
              <a:rPr lang="en-US" altLang="ko-KR" dirty="0" smtClean="0"/>
            </a:br>
            <a:r>
              <a:rPr lang="en-US" altLang="ko-KR" dirty="0" smtClean="0"/>
              <a:t>  </a:t>
            </a:r>
            <a:r>
              <a:rPr lang="en-US" altLang="ko-KR" dirty="0"/>
              <a:t>&gt; </a:t>
            </a:r>
            <a:r>
              <a:rPr lang="en-US" altLang="ko-KR" dirty="0" smtClean="0"/>
              <a:t>MUI-BD-04-P82 </a:t>
            </a:r>
            <a:r>
              <a:rPr lang="ko-KR" altLang="en-US" dirty="0" smtClean="0"/>
              <a:t>입찰참가신청서취소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7945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7793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77938"/>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77938"/>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77938"/>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794545"/>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39815"/>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en-US" altLang="ko-KR" sz="700" dirty="0">
                <a:solidFill>
                  <a:srgbClr val="0070C0"/>
                </a:solidFill>
                <a:latin typeface="+mn-ea"/>
              </a:rPr>
              <a:t>File.pdf</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사각형: 둥근 모서리 15">
            <a:extLst>
              <a:ext uri="{FF2B5EF4-FFF2-40B4-BE49-F238E27FC236}">
                <a16:creationId xmlns:a16="http://schemas.microsoft.com/office/drawing/2014/main" id="{E2B61CFB-AD16-68D0-8752-50D9C5E01971}"/>
              </a:ext>
            </a:extLst>
          </p:cNvPr>
          <p:cNvSpPr/>
          <p:nvPr/>
        </p:nvSpPr>
        <p:spPr>
          <a:xfrm>
            <a:off x="2923735" y="5131583"/>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2923735" y="4910914"/>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2976500" y="3411419"/>
            <a:ext cx="36874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a:extLst>
              <a:ext uri="{FF2B5EF4-FFF2-40B4-BE49-F238E27FC236}">
                <a16:creationId xmlns:a16="http://schemas.microsoft.com/office/drawing/2014/main" id="{37A7FF4F-0EAA-1463-560A-D5EC24416103}"/>
              </a:ext>
            </a:extLst>
          </p:cNvPr>
          <p:cNvSpPr/>
          <p:nvPr/>
        </p:nvSpPr>
        <p:spPr>
          <a:xfrm>
            <a:off x="3384808"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3825376" y="528871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84" name="그룹 83"/>
          <p:cNvGrpSpPr/>
          <p:nvPr/>
        </p:nvGrpSpPr>
        <p:grpSpPr>
          <a:xfrm>
            <a:off x="3795734" y="5614711"/>
            <a:ext cx="2712027" cy="617588"/>
            <a:chOff x="675399" y="5614711"/>
            <a:chExt cx="2712027" cy="617588"/>
          </a:xfrm>
        </p:grpSpPr>
        <p:sp>
          <p:nvSpPr>
            <p:cNvPr id="85" name="직사각형 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전체 </a:t>
              </a:r>
              <a:r>
                <a:rPr kumimoji="1" lang="ko-KR" altLang="en-US" sz="1000" kern="0" noProof="0" dirty="0" err="1" smtClean="0">
                  <a:solidFill>
                    <a:srgbClr val="0070C0"/>
                  </a:solidFill>
                  <a:latin typeface="맑은 고딕"/>
                  <a:ea typeface="맑은 고딕" panose="020B0503020000020004" pitchFamily="50" charset="-127"/>
                </a:rPr>
                <a:t>입찰취소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선택 </a:t>
              </a:r>
              <a:r>
                <a:rPr kumimoji="1" lang="ko-KR" altLang="en-US" sz="1000" kern="0" dirty="0" err="1" smtClean="0"/>
                <a:t>입찰취소</a:t>
              </a:r>
              <a:endParaRPr kumimoji="1" lang="en-US" sz="1000" b="0" i="0" u="none" strike="noStrike" kern="0" cap="none" spc="0" normalizeH="0" baseline="0" noProof="0" dirty="0">
                <a:ln>
                  <a:noFill/>
                </a:ln>
                <a:effectLst/>
                <a:uLnTx/>
                <a:uFillTx/>
                <a:latin typeface="맑은 고딕"/>
              </a:endParaRPr>
            </a:p>
          </p:txBody>
        </p:sp>
      </p:grpSp>
      <p:sp>
        <p:nvSpPr>
          <p:cNvPr id="88" name="타원 87">
            <a:extLst>
              <a:ext uri="{FF2B5EF4-FFF2-40B4-BE49-F238E27FC236}">
                <a16:creationId xmlns:a16="http://schemas.microsoft.com/office/drawing/2014/main" id="{37A7FF4F-0EAA-1463-560A-D5EC24416103}"/>
              </a:ext>
            </a:extLst>
          </p:cNvPr>
          <p:cNvSpPr/>
          <p:nvPr/>
        </p:nvSpPr>
        <p:spPr>
          <a:xfrm>
            <a:off x="3669753" y="57865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89" name="그룹 88"/>
          <p:cNvGrpSpPr/>
          <p:nvPr/>
        </p:nvGrpSpPr>
        <p:grpSpPr>
          <a:xfrm>
            <a:off x="8223250" y="569392"/>
            <a:ext cx="3365500" cy="634511"/>
            <a:chOff x="8223250" y="569392"/>
            <a:chExt cx="3365500" cy="634511"/>
          </a:xfrm>
        </p:grpSpPr>
        <p:sp>
          <p:nvSpPr>
            <p:cNvPr id="90" name="직사각형 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smtClean="0"/>
                <a:t>화면 </a:t>
              </a:r>
              <a:r>
                <a:rPr lang="ko-KR" altLang="en-US" dirty="0"/>
                <a:t>수정</a:t>
              </a:r>
            </a:p>
          </p:txBody>
        </p:sp>
        <p:sp>
          <p:nvSpPr>
            <p:cNvPr id="91" name="직사각형 9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선택 </a:t>
              </a:r>
              <a:r>
                <a:rPr lang="ko-KR" altLang="en-US" sz="700" dirty="0" err="1" smtClean="0"/>
                <a:t>입찰취소</a:t>
              </a:r>
              <a:r>
                <a:rPr lang="en-US" altLang="ko-KR" sz="700" dirty="0" smtClean="0"/>
                <a:t>, </a:t>
              </a:r>
              <a:r>
                <a:rPr lang="ko-KR" altLang="en-US" sz="700" dirty="0" smtClean="0"/>
                <a:t>전체 </a:t>
              </a:r>
              <a:r>
                <a:rPr lang="ko-KR" altLang="en-US" sz="700" dirty="0" err="1" smtClean="0"/>
                <a:t>입찰취소</a:t>
              </a:r>
              <a:r>
                <a:rPr lang="ko-KR" altLang="en-US" sz="700" dirty="0" smtClean="0"/>
                <a:t> 버튼 추가</a:t>
              </a:r>
              <a:endParaRPr lang="ko-KR" altLang="en-US" sz="700" dirty="0"/>
            </a:p>
          </p:txBody>
        </p:sp>
      </p:grpSp>
    </p:spTree>
    <p:extLst>
      <p:ext uri="{BB962C8B-B14F-4D97-AF65-F5344CB8AC3E}">
        <p14:creationId xmlns:p14="http://schemas.microsoft.com/office/powerpoint/2010/main" val="2895798038"/>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a:t>선택 버튼 </a:t>
            </a:r>
            <a:r>
              <a:rPr lang="en-US" altLang="ko-KR" dirty="0"/>
              <a:t>(ON/OFF)</a:t>
            </a:r>
          </a:p>
          <a:p>
            <a:pPr marL="228600" indent="-228600">
              <a:buFont typeface="+mj-lt"/>
              <a:buAutoNum type="arabicPeriod"/>
            </a:pPr>
            <a:r>
              <a:rPr lang="ko-KR" altLang="en-US" dirty="0" err="1" smtClean="0"/>
              <a:t>보증서선택</a:t>
            </a:r>
            <a:r>
              <a:rPr lang="ko-KR" altLang="en-US" dirty="0" smtClean="0"/>
              <a:t> </a:t>
            </a:r>
            <a:r>
              <a:rPr lang="ko-KR" altLang="en-US" dirty="0"/>
              <a:t>클릭 이벤트</a:t>
            </a:r>
            <a:r>
              <a:rPr lang="en-US" altLang="ko-KR" dirty="0"/>
              <a:t/>
            </a:r>
            <a:br>
              <a:rPr lang="en-US" altLang="ko-KR" dirty="0"/>
            </a:br>
            <a:r>
              <a:rPr lang="en-US" altLang="ko-KR" dirty="0"/>
              <a:t>- </a:t>
            </a:r>
            <a:r>
              <a:rPr lang="ko-KR" altLang="en-US" dirty="0"/>
              <a:t>전자보증서인 경우 팝업 </a:t>
            </a:r>
            <a:r>
              <a:rPr lang="ko-KR" altLang="en-US" dirty="0" smtClean="0"/>
              <a:t>호출</a:t>
            </a:r>
            <a:r>
              <a:rPr lang="en-US" altLang="ko-KR" dirty="0" smtClean="0"/>
              <a:t/>
            </a:r>
            <a:br>
              <a:rPr lang="en-US" altLang="ko-KR" dirty="0" smtClean="0"/>
            </a:br>
            <a:r>
              <a:rPr lang="en-US" altLang="ko-KR" dirty="0" smtClean="0"/>
              <a:t>  &gt; </a:t>
            </a:r>
            <a:r>
              <a:rPr lang="ko-KR" altLang="en-US" dirty="0" err="1" smtClean="0"/>
              <a:t>버튼명</a:t>
            </a:r>
            <a:r>
              <a:rPr lang="ko-KR" altLang="en-US" dirty="0" smtClean="0"/>
              <a:t> 보기로 표시</a:t>
            </a:r>
            <a:r>
              <a:rPr lang="en-US" altLang="ko-KR" dirty="0"/>
              <a:t/>
            </a:r>
            <a:br>
              <a:rPr lang="en-US" altLang="ko-KR" dirty="0"/>
            </a:br>
            <a:r>
              <a:rPr lang="en-US" altLang="ko-KR" dirty="0"/>
              <a:t>  &gt; </a:t>
            </a:r>
            <a:r>
              <a:rPr lang="en-US" altLang="ko-KR" dirty="0" smtClean="0"/>
              <a:t>MUI-BD-04-P76 </a:t>
            </a:r>
            <a:r>
              <a:rPr lang="ko-KR" altLang="en-US" dirty="0"/>
              <a:t>보증서정보조회</a:t>
            </a:r>
            <a:r>
              <a:rPr lang="en-US" altLang="ko-KR" dirty="0"/>
              <a:t/>
            </a:r>
            <a:br>
              <a:rPr lang="en-US" altLang="ko-KR" dirty="0"/>
            </a:br>
            <a:r>
              <a:rPr lang="en-US" altLang="ko-KR" dirty="0"/>
              <a:t>- </a:t>
            </a:r>
            <a:r>
              <a:rPr lang="ko-KR" altLang="en-US" dirty="0"/>
              <a:t>보증보험인 </a:t>
            </a:r>
            <a:r>
              <a:rPr lang="ko-KR" altLang="en-US" dirty="0" smtClean="0"/>
              <a:t>경우</a:t>
            </a:r>
            <a:r>
              <a:rPr lang="en-US" altLang="ko-KR" dirty="0" smtClean="0"/>
              <a:t/>
            </a:r>
            <a:br>
              <a:rPr lang="en-US" altLang="ko-KR" dirty="0" smtClean="0"/>
            </a:br>
            <a:r>
              <a:rPr lang="en-US" altLang="ko-KR" dirty="0" smtClean="0"/>
              <a:t>  &gt; </a:t>
            </a:r>
            <a:r>
              <a:rPr lang="ko-KR" altLang="en-US" dirty="0" err="1" smtClean="0"/>
              <a:t>버튼명</a:t>
            </a:r>
            <a:r>
              <a:rPr lang="ko-KR" altLang="en-US" dirty="0" smtClean="0"/>
              <a:t> 다운로드로 표시</a:t>
            </a:r>
            <a:r>
              <a:rPr lang="en-US" altLang="ko-KR" dirty="0" smtClean="0"/>
              <a:t/>
            </a:r>
            <a:br>
              <a:rPr lang="en-US" altLang="ko-KR" dirty="0" smtClean="0"/>
            </a:br>
            <a:r>
              <a:rPr lang="en-US" altLang="ko-KR" dirty="0" smtClean="0"/>
              <a:t>  &gt; </a:t>
            </a:r>
            <a:r>
              <a:rPr lang="ko-KR" altLang="en-US" dirty="0" smtClean="0"/>
              <a:t>업로드한 파일 다운로드 실행</a:t>
            </a:r>
            <a:endParaRPr lang="en-US" altLang="ko-KR" dirty="0" smtClean="0"/>
          </a:p>
          <a:p>
            <a:pPr marL="228600" indent="-228600">
              <a:buFont typeface="+mj-lt"/>
              <a:buAutoNum type="arabicPeriod"/>
            </a:pPr>
            <a:r>
              <a:rPr lang="ko-KR" altLang="en-US" dirty="0"/>
              <a:t>입찰 취소</a:t>
            </a:r>
            <a:r>
              <a:rPr lang="en-US" altLang="ko-KR" dirty="0"/>
              <a:t/>
            </a:r>
            <a:br>
              <a:rPr lang="en-US" altLang="ko-KR" dirty="0"/>
            </a:br>
            <a:r>
              <a:rPr lang="en-US" altLang="ko-KR" dirty="0"/>
              <a:t>- </a:t>
            </a:r>
            <a:r>
              <a:rPr lang="ko-KR" altLang="en-US" dirty="0"/>
              <a:t>개별 건</a:t>
            </a:r>
            <a:r>
              <a:rPr lang="en-US" altLang="ko-KR" dirty="0"/>
              <a:t>(</a:t>
            </a:r>
            <a:r>
              <a:rPr lang="ko-KR" altLang="en-US" dirty="0"/>
              <a:t>선택 건</a:t>
            </a:r>
            <a:r>
              <a:rPr lang="en-US" altLang="ko-KR" dirty="0"/>
              <a:t>)</a:t>
            </a:r>
            <a:r>
              <a:rPr lang="ko-KR" altLang="en-US" dirty="0"/>
              <a:t> 입찰참가 취소</a:t>
            </a:r>
            <a:r>
              <a:rPr lang="en-US" altLang="ko-KR" dirty="0"/>
              <a:t/>
            </a:r>
            <a:br>
              <a:rPr lang="en-US" altLang="ko-KR" dirty="0"/>
            </a:br>
            <a:r>
              <a:rPr lang="en-US" altLang="ko-KR" dirty="0"/>
              <a:t>  &gt; </a:t>
            </a:r>
            <a:r>
              <a:rPr lang="ko-KR" altLang="en-US" dirty="0"/>
              <a:t>입찰참가 취소 팝업 호출</a:t>
            </a:r>
            <a:r>
              <a:rPr lang="en-US" altLang="ko-KR" dirty="0"/>
              <a:t/>
            </a:r>
            <a:br>
              <a:rPr lang="en-US" altLang="ko-KR" dirty="0"/>
            </a:br>
            <a:r>
              <a:rPr lang="en-US" altLang="ko-KR" dirty="0"/>
              <a:t>  &gt; </a:t>
            </a:r>
            <a:r>
              <a:rPr lang="ko-KR" altLang="en-US" dirty="0" err="1"/>
              <a:t>플로팅</a:t>
            </a:r>
            <a:r>
              <a:rPr lang="ko-KR" altLang="en-US" dirty="0"/>
              <a:t> 버튼의 </a:t>
            </a:r>
            <a:r>
              <a:rPr lang="en-US" altLang="ko-KR" dirty="0"/>
              <a:t>(+) </a:t>
            </a:r>
            <a:r>
              <a:rPr lang="ko-KR" altLang="en-US" dirty="0"/>
              <a:t>버튼으로 전체 입찰참가 취소 진입</a:t>
            </a:r>
            <a:r>
              <a:rPr lang="en-US" altLang="ko-KR" dirty="0"/>
              <a:t/>
            </a:r>
            <a:br>
              <a:rPr lang="en-US" altLang="ko-KR" dirty="0"/>
            </a:br>
            <a:r>
              <a:rPr lang="en-US" altLang="ko-KR" dirty="0"/>
              <a:t>- </a:t>
            </a:r>
            <a:r>
              <a:rPr lang="ko-KR" altLang="en-US" dirty="0"/>
              <a:t>전체 입찰 취소</a:t>
            </a:r>
            <a:r>
              <a:rPr lang="en-US" altLang="ko-KR" dirty="0"/>
              <a:t/>
            </a:r>
            <a:br>
              <a:rPr lang="en-US" altLang="ko-KR" dirty="0"/>
            </a:br>
            <a:r>
              <a:rPr lang="en-US" altLang="ko-KR" dirty="0"/>
              <a:t>  &gt; </a:t>
            </a:r>
            <a:r>
              <a:rPr lang="ko-KR" altLang="en-US" dirty="0"/>
              <a:t>입찰참가 취소 팝업 호출</a:t>
            </a:r>
            <a:r>
              <a:rPr lang="en-US" altLang="ko-KR" dirty="0"/>
              <a:t/>
            </a:r>
            <a:br>
              <a:rPr lang="en-US" altLang="ko-KR" dirty="0"/>
            </a:br>
            <a:r>
              <a:rPr lang="en-US" altLang="ko-KR" dirty="0"/>
              <a:t>  &gt; MUI-BD-04-P82 </a:t>
            </a:r>
            <a:r>
              <a:rPr lang="ko-KR" altLang="en-US" dirty="0"/>
              <a:t>입찰참가신청서취소</a:t>
            </a:r>
            <a:endParaRPr lang="en-US" altLang="ko-KR" dirty="0"/>
          </a:p>
          <a:p>
            <a:pPr marL="228600" indent="-228600">
              <a:buFont typeface="+mj-lt"/>
              <a:buAutoNum type="arabicPeriod"/>
            </a:pP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8871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126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96042"/>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96042"/>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96042"/>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96042"/>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12649"/>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57919"/>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ko-KR" altLang="en-US" sz="700" dirty="0">
                <a:latin typeface="+mn-ea"/>
              </a:rPr>
              <a:t>보증보험</a:t>
            </a:r>
            <a:endParaRPr lang="en-US" altLang="ko-KR" sz="700" dirty="0">
              <a:latin typeface="+mn-ea"/>
            </a:endParaRPr>
          </a:p>
          <a:p>
            <a:pPr>
              <a:lnSpc>
                <a:spcPct val="200000"/>
              </a:lnSpc>
            </a:pPr>
            <a:r>
              <a:rPr lang="en-US" altLang="ko-KR" sz="700" dirty="0">
                <a:latin typeface="+mn-ea"/>
              </a:rPr>
              <a:t>1234567890abcedfg</a:t>
            </a:r>
          </a:p>
          <a:p>
            <a:pPr>
              <a:lnSpc>
                <a:spcPct val="200000"/>
              </a:lnSpc>
            </a:pPr>
            <a:r>
              <a:rPr lang="en-US" altLang="ko-KR" sz="700" dirty="0">
                <a:latin typeface="+mn-ea"/>
              </a:rPr>
              <a:t>1015375183999</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2923735" y="5562051"/>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2985824" y="3411419"/>
            <a:ext cx="359417"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397065" y="3420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4" name="그룹 83"/>
          <p:cNvGrpSpPr/>
          <p:nvPr/>
        </p:nvGrpSpPr>
        <p:grpSpPr>
          <a:xfrm>
            <a:off x="3795734" y="5614711"/>
            <a:ext cx="2712027" cy="617588"/>
            <a:chOff x="675399" y="5614711"/>
            <a:chExt cx="2712027" cy="617588"/>
          </a:xfrm>
        </p:grpSpPr>
        <p:sp>
          <p:nvSpPr>
            <p:cNvPr id="85" name="직사각형 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전체 </a:t>
              </a:r>
              <a:r>
                <a:rPr kumimoji="1" lang="ko-KR" altLang="en-US" sz="1000" kern="0" noProof="0" dirty="0" err="1" smtClean="0">
                  <a:solidFill>
                    <a:srgbClr val="0070C0"/>
                  </a:solidFill>
                  <a:latin typeface="맑은 고딕"/>
                  <a:ea typeface="맑은 고딕" panose="020B0503020000020004" pitchFamily="50" charset="-127"/>
                </a:rPr>
                <a:t>입찰취소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선택 </a:t>
              </a:r>
              <a:r>
                <a:rPr kumimoji="1" lang="ko-KR" altLang="en-US" sz="1000" kern="0" dirty="0" err="1" smtClean="0"/>
                <a:t>입찰취소</a:t>
              </a:r>
              <a:endParaRPr kumimoji="1" lang="en-US" sz="1000" b="0" i="0" u="none" strike="noStrike" kern="0" cap="none" spc="0" normalizeH="0" baseline="0" noProof="0" dirty="0">
                <a:ln>
                  <a:noFill/>
                </a:ln>
                <a:effectLst/>
                <a:uLnTx/>
                <a:uFillTx/>
                <a:latin typeface="맑은 고딕"/>
              </a:endParaRPr>
            </a:p>
          </p:txBody>
        </p:sp>
      </p:grpSp>
      <p:grpSp>
        <p:nvGrpSpPr>
          <p:cNvPr id="88" name="그룹 87"/>
          <p:cNvGrpSpPr/>
          <p:nvPr/>
        </p:nvGrpSpPr>
        <p:grpSpPr>
          <a:xfrm>
            <a:off x="8223250" y="569392"/>
            <a:ext cx="3365500" cy="634511"/>
            <a:chOff x="8223250" y="569392"/>
            <a:chExt cx="3365500" cy="634511"/>
          </a:xfrm>
        </p:grpSpPr>
        <p:sp>
          <p:nvSpPr>
            <p:cNvPr id="89" name="직사각형 8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smtClean="0"/>
                <a:t>화면 </a:t>
              </a:r>
              <a:r>
                <a:rPr lang="ko-KR" altLang="en-US" dirty="0"/>
                <a:t>수정</a:t>
              </a:r>
            </a:p>
          </p:txBody>
        </p:sp>
        <p:sp>
          <p:nvSpPr>
            <p:cNvPr id="90" name="직사각형 8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선택 </a:t>
              </a:r>
              <a:r>
                <a:rPr lang="ko-KR" altLang="en-US" sz="700" dirty="0" err="1" smtClean="0"/>
                <a:t>입찰취소</a:t>
              </a:r>
              <a:r>
                <a:rPr lang="en-US" altLang="ko-KR" sz="700" dirty="0" smtClean="0"/>
                <a:t>, </a:t>
              </a:r>
              <a:r>
                <a:rPr lang="ko-KR" altLang="en-US" sz="700" dirty="0" smtClean="0"/>
                <a:t>전체 </a:t>
              </a:r>
              <a:r>
                <a:rPr lang="ko-KR" altLang="en-US" sz="700" dirty="0" err="1" smtClean="0"/>
                <a:t>입찰취소</a:t>
              </a:r>
              <a:r>
                <a:rPr lang="ko-KR" altLang="en-US" sz="700" dirty="0" smtClean="0"/>
                <a:t> 버튼 추가</a:t>
              </a:r>
              <a:endParaRPr lang="ko-KR" altLang="en-US" sz="700" dirty="0"/>
            </a:p>
          </p:txBody>
        </p:sp>
      </p:grpSp>
      <p:sp>
        <p:nvSpPr>
          <p:cNvPr id="91" name="타원 90">
            <a:extLst>
              <a:ext uri="{FF2B5EF4-FFF2-40B4-BE49-F238E27FC236}">
                <a16:creationId xmlns:a16="http://schemas.microsoft.com/office/drawing/2014/main" id="{37A7FF4F-0EAA-1463-560A-D5EC24416103}"/>
              </a:ext>
            </a:extLst>
          </p:cNvPr>
          <p:cNvSpPr/>
          <p:nvPr/>
        </p:nvSpPr>
        <p:spPr>
          <a:xfrm>
            <a:off x="3704798" y="58178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17065503"/>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첨부파일 건수 표시</a:t>
            </a:r>
            <a:r>
              <a:rPr lang="en-US" altLang="ko-KR" dirty="0" smtClean="0"/>
              <a:t/>
            </a:r>
            <a:br>
              <a:rPr lang="en-US" altLang="ko-KR" dirty="0" smtClean="0"/>
            </a:br>
            <a:r>
              <a:rPr lang="en-US" altLang="ko-KR" dirty="0" smtClean="0"/>
              <a:t>- </a:t>
            </a:r>
            <a:r>
              <a:rPr lang="ko-KR" altLang="en-US" dirty="0" smtClean="0"/>
              <a:t>항목 선택 시 뷰어 솔루션 호출</a:t>
            </a:r>
            <a:r>
              <a:rPr lang="en-US" altLang="ko-KR" dirty="0" smtClean="0"/>
              <a:t/>
            </a:r>
            <a:br>
              <a:rPr lang="en-US" altLang="ko-KR" dirty="0" smtClean="0"/>
            </a:br>
            <a:r>
              <a:rPr lang="en-US" altLang="ko-KR" dirty="0" smtClean="0"/>
              <a:t>- </a:t>
            </a:r>
            <a:r>
              <a:rPr lang="ko-KR" altLang="en-US" dirty="0" smtClean="0"/>
              <a:t>다운로드 아이콘 클릭 시 다운로드 실행</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81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81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332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81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81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830704934"/>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57173212-2A31-2CDA-DA99-1173127D2BDD}"/>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360</a:t>
            </a:fld>
            <a:endParaRPr lang="ko-KR" altLang="en-US" dirty="0"/>
          </a:p>
        </p:txBody>
      </p:sp>
      <p:sp>
        <p:nvSpPr>
          <p:cNvPr id="5" name="TextBox 4">
            <a:extLst>
              <a:ext uri="{FF2B5EF4-FFF2-40B4-BE49-F238E27FC236}">
                <a16:creationId xmlns:a16="http://schemas.microsoft.com/office/drawing/2014/main" id="{BB82F638-FAE8-B513-A2FF-ED713A4A871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8" name="TextBox 7">
            <a:extLst>
              <a:ext uri="{FF2B5EF4-FFF2-40B4-BE49-F238E27FC236}">
                <a16:creationId xmlns:a16="http://schemas.microsoft.com/office/drawing/2014/main" id="{9EED3274-A590-A70C-B372-FCD9D7855AD4}"/>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096B890-7217-D769-3AA6-5A4DC3AFB8E7}"/>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10" name="Text Box 73">
            <a:extLst>
              <a:ext uri="{FF2B5EF4-FFF2-40B4-BE49-F238E27FC236}">
                <a16:creationId xmlns:a16="http://schemas.microsoft.com/office/drawing/2014/main" id="{706CF0EE-3332-F1F6-CDAF-CBEE97C8928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AD0BC6FD-9BF4-CC9F-0C84-718E40C8813E}"/>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12" name="TextBox 11">
            <a:extLst>
              <a:ext uri="{FF2B5EF4-FFF2-40B4-BE49-F238E27FC236}">
                <a16:creationId xmlns:a16="http://schemas.microsoft.com/office/drawing/2014/main" id="{1A6EE07D-8818-6382-73E6-3B66AF62E86C}"/>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5F40EC03-1B71-131D-33EC-9CD9BAEA1BCD}"/>
              </a:ext>
            </a:extLst>
          </p:cNvPr>
          <p:cNvGraphicFramePr>
            <a:graphicFrameLocks noGrp="1"/>
          </p:cNvGraphicFramePr>
          <p:nvPr>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4" name="표 13">
            <a:extLst>
              <a:ext uri="{FF2B5EF4-FFF2-40B4-BE49-F238E27FC236}">
                <a16:creationId xmlns:a16="http://schemas.microsoft.com/office/drawing/2014/main" id="{81473B5E-D952-96D2-4714-429B801E749E}"/>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60884186"/>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2">
            <a:extLst>
              <a:ext uri="{FF2B5EF4-FFF2-40B4-BE49-F238E27FC236}">
                <a16:creationId xmlns:a16="http://schemas.microsoft.com/office/drawing/2014/main" id="{EADF6B28-6495-3BB2-E99F-C95ABCFEB3B4}"/>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361</a:t>
            </a:fld>
            <a:endParaRPr lang="ko-KR" altLang="en-US" dirty="0"/>
          </a:p>
        </p:txBody>
      </p:sp>
      <p:sp>
        <p:nvSpPr>
          <p:cNvPr id="5" name="TextBox 4">
            <a:extLst>
              <a:ext uri="{FF2B5EF4-FFF2-40B4-BE49-F238E27FC236}">
                <a16:creationId xmlns:a16="http://schemas.microsoft.com/office/drawing/2014/main" id="{374C37C3-3D9C-C39F-A787-D914DCD5ECD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8" name="TextBox 7">
            <a:extLst>
              <a:ext uri="{FF2B5EF4-FFF2-40B4-BE49-F238E27FC236}">
                <a16:creationId xmlns:a16="http://schemas.microsoft.com/office/drawing/2014/main" id="{58EF83F8-382F-1F9E-01D7-8F12C93D382B}"/>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9" name="TextBox 8">
            <a:extLst>
              <a:ext uri="{FF2B5EF4-FFF2-40B4-BE49-F238E27FC236}">
                <a16:creationId xmlns:a16="http://schemas.microsoft.com/office/drawing/2014/main" id="{7485602E-6EF2-FEE0-0585-58A51A6D6259}"/>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0912E143-C26F-CEA0-EBA7-8196D2D8FBBD}"/>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a:solidFill>
                            <a:srgbClr val="000000"/>
                          </a:solidFill>
                          <a:effectLst/>
                          <a:latin typeface="+mn-ea"/>
                          <a:ea typeface="+mn-ea"/>
                        </a:rPr>
                        <a:t>입찰보증금납부서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11" name="표 10">
            <a:extLst>
              <a:ext uri="{FF2B5EF4-FFF2-40B4-BE49-F238E27FC236}">
                <a16:creationId xmlns:a16="http://schemas.microsoft.com/office/drawing/2014/main" id="{CD24AF3B-2F7D-B9FB-BE59-0DCB171F56FB}"/>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12" name="Text Box 73">
            <a:extLst>
              <a:ext uri="{FF2B5EF4-FFF2-40B4-BE49-F238E27FC236}">
                <a16:creationId xmlns:a16="http://schemas.microsoft.com/office/drawing/2014/main" id="{BB0BD2A9-5C30-9253-867D-4DD0B85EC49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81833222"/>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7CDEDB8-0A7B-012F-9DFC-76C8BAC18A72}"/>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362</a:t>
            </a:fld>
            <a:endParaRPr lang="ko-KR" altLang="en-US" dirty="0"/>
          </a:p>
        </p:txBody>
      </p:sp>
      <p:sp>
        <p:nvSpPr>
          <p:cNvPr id="5" name="TextBox 4">
            <a:extLst>
              <a:ext uri="{FF2B5EF4-FFF2-40B4-BE49-F238E27FC236}">
                <a16:creationId xmlns:a16="http://schemas.microsoft.com/office/drawing/2014/main" id="{D57566C7-DDEC-1239-BBFD-695049E589A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599796C5-68AE-CD84-A57F-6F565BC0472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7" name="TextBox 6">
            <a:extLst>
              <a:ext uri="{FF2B5EF4-FFF2-40B4-BE49-F238E27FC236}">
                <a16:creationId xmlns:a16="http://schemas.microsoft.com/office/drawing/2014/main" id="{0A197180-876D-2974-1D53-55DE1C688016}"/>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1D6820-0DCA-1658-FE75-0998ABF16C59}"/>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837547703"/>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2" name="표 1">
            <a:extLst>
              <a:ext uri="{FF2B5EF4-FFF2-40B4-BE49-F238E27FC236}">
                <a16:creationId xmlns:a16="http://schemas.microsoft.com/office/drawing/2014/main" id="{4E4C9296-2F7C-C186-3149-368715FAEC96}"/>
              </a:ext>
            </a:extLst>
          </p:cNvPr>
          <p:cNvGraphicFramePr>
            <a:graphicFrameLocks noGrp="1"/>
          </p:cNvGraphicFramePr>
          <p:nvPr>
            <p:extLst/>
          </p:nvPr>
        </p:nvGraphicFramePr>
        <p:xfrm>
          <a:off x="452291" y="796562"/>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4371">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입찰참가신청조회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입찰참가취소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UI-BD-04-P78 </a:t>
                      </a:r>
                      <a:r>
                        <a:rPr lang="ko-KR" altLang="en-US" sz="800">
                          <a:latin typeface="+mn-ea"/>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r h="0">
                <a:tc>
                  <a:txBody>
                    <a:bodyPr/>
                    <a:lstStyle/>
                    <a:p>
                      <a:r>
                        <a:rPr lang="ko-KR" altLang="en-US" sz="800"/>
                        <a:t>입찰등록결과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t>사업별입찰등록결과조회</a:t>
                      </a:r>
                      <a:r>
                        <a:rPr lang="ko-KR" altLang="en-US" sz="800">
                          <a:latin typeface="+mn-ea"/>
                          <a:ea typeface="+mn-ea"/>
                        </a:rPr>
                        <a:t> 화면으로 이동</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UI-BD-04-P79 </a:t>
                      </a:r>
                      <a:r>
                        <a:rPr lang="ko-KR" altLang="en-US" sz="800" b="0" i="0" u="none" strike="noStrike">
                          <a:solidFill>
                            <a:srgbClr val="000000"/>
                          </a:solidFill>
                          <a:effectLst/>
                          <a:latin typeface="맑은 고딕" panose="020B0503020000020004" pitchFamily="50" charset="-127"/>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9973157"/>
                  </a:ext>
                </a:extLst>
              </a:tr>
              <a:tr h="0">
                <a:tc>
                  <a:txBody>
                    <a:bodyPr/>
                    <a:lstStyle/>
                    <a:p>
                      <a:r>
                        <a:rPr lang="ko-KR" altLang="en-US" sz="800"/>
                        <a:t>전체입찰참가취소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전체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UI-BD-04-P78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7689514"/>
                  </a:ext>
                </a:extLst>
              </a:tr>
            </a:tbl>
          </a:graphicData>
        </a:graphic>
      </p:graphicFrame>
      <p:sp>
        <p:nvSpPr>
          <p:cNvPr id="4" name="Text Box 73">
            <a:extLst>
              <a:ext uri="{FF2B5EF4-FFF2-40B4-BE49-F238E27FC236}">
                <a16:creationId xmlns:a16="http://schemas.microsoft.com/office/drawing/2014/main" id="{86E3B3BA-AC35-FA83-66A2-E135AE5C2B2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8519940"/>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필수 입력</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입찰참가신청서취소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입찰참가신청서취소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a:latin typeface="+mn-ea"/>
              </a:rPr>
              <a:t>입찰참가신청서취소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606948"/>
            <a:chOff x="701175" y="2592310"/>
            <a:chExt cx="2630093" cy="1606948"/>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12983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취소신청품목수</a:t>
              </a:r>
            </a:p>
          </p:txBody>
        </p:sp>
        <p:grpSp>
          <p:nvGrpSpPr>
            <p:cNvPr id="85" name="그룹 84"/>
            <p:cNvGrpSpPr/>
            <p:nvPr/>
          </p:nvGrpSpPr>
          <p:grpSpPr>
            <a:xfrm>
              <a:off x="701175" y="2899795"/>
              <a:ext cx="2630093" cy="1299463"/>
              <a:chOff x="701175" y="1835481"/>
              <a:chExt cx="2630093" cy="1299463"/>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1349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2025-03-13</a:t>
              </a:r>
            </a:p>
            <a:p>
              <a:pPr>
                <a:lnSpc>
                  <a:spcPct val="200000"/>
                </a:lnSpc>
              </a:pPr>
              <a:r>
                <a:rPr lang="en-US" altLang="ko-KR" sz="700" dirty="0">
                  <a:latin typeface="+mn-ea"/>
                </a:rPr>
                <a:t>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4263520"/>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84228"/>
            <a:chOff x="3791188" y="2611009"/>
            <a:chExt cx="2630093" cy="1184228"/>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6109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42591927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mn-ea"/>
                          <a:ea typeface="+mn-ea"/>
                        </a:rPr>
                        <a:t>취소신청품목수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rtrcnItemQty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입찰참가취소 신청할 품목 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mn-ea"/>
                          <a:ea typeface="+mn-ea"/>
                        </a:rPr>
                        <a:t>입찰업체 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입찰업체 사업자번호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Box 5">
            <a:extLst>
              <a:ext uri="{FF2B5EF4-FFF2-40B4-BE49-F238E27FC236}">
                <a16:creationId xmlns:a16="http://schemas.microsoft.com/office/drawing/2014/main" id="{27987DD4-854F-30B9-F4A0-220B1CD0AC82}"/>
              </a:ext>
            </a:extLst>
          </p:cNvPr>
          <p:cNvSpPr txBox="1"/>
          <p:nvPr/>
        </p:nvSpPr>
        <p:spPr>
          <a:xfrm>
            <a:off x="458117" y="5034456"/>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2DC32904-139C-D979-06E0-1EF887892900}"/>
              </a:ext>
            </a:extLst>
          </p:cNvPr>
          <p:cNvGraphicFramePr>
            <a:graphicFrameLocks noGrp="1"/>
          </p:cNvGraphicFramePr>
          <p:nvPr/>
        </p:nvGraphicFramePr>
        <p:xfrm>
          <a:off x="452999" y="5245659"/>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 Box 73">
            <a:extLst>
              <a:ext uri="{FF2B5EF4-FFF2-40B4-BE49-F238E27FC236}">
                <a16:creationId xmlns:a16="http://schemas.microsoft.com/office/drawing/2014/main" id="{6C7AA30B-6AE9-D838-590D-718356DCD3C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5483441"/>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 name="표 1">
            <a:extLst>
              <a:ext uri="{FF2B5EF4-FFF2-40B4-BE49-F238E27FC236}">
                <a16:creationId xmlns:a16="http://schemas.microsoft.com/office/drawing/2014/main" id="{0DB94E96-F279-C1D0-427D-FF5F0AE1FFC1}"/>
              </a:ext>
            </a:extLst>
          </p:cNvPr>
          <p:cNvGraphicFramePr>
            <a:graphicFrameLocks noGrp="1"/>
          </p:cNvGraphicFramePr>
          <p:nvPr>
            <p:extLst/>
          </p:nvPr>
        </p:nvGraphicFramePr>
        <p:xfrm>
          <a:off x="455204" y="799547"/>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제출하기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bl>
          </a:graphicData>
        </a:graphic>
      </p:graphicFrame>
      <p:sp>
        <p:nvSpPr>
          <p:cNvPr id="4" name="Text Box 73">
            <a:extLst>
              <a:ext uri="{FF2B5EF4-FFF2-40B4-BE49-F238E27FC236}">
                <a16:creationId xmlns:a16="http://schemas.microsoft.com/office/drawing/2014/main" id="{B6DF3E90-230E-A900-2B7D-A9EF62F2176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999319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공고일반</a:t>
            </a:r>
            <a:r>
              <a:rPr lang="ko-KR" altLang="en-US" dirty="0"/>
              <a:t> 데이터 영역</a:t>
            </a:r>
          </a:p>
          <a:p>
            <a:pPr marL="228600" indent="-228600">
              <a:buFont typeface="+mj-lt"/>
              <a:buAutoNum type="arabicPeriod"/>
            </a:pPr>
            <a:r>
              <a:rPr lang="ko-KR" altLang="en-US" dirty="0"/>
              <a:t>업체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739270"/>
            <a:chOff x="701175" y="2592310"/>
            <a:chExt cx="2630093" cy="739270"/>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공고 일반정보</a:t>
              </a:r>
            </a:p>
          </p:txBody>
        </p:sp>
        <p:sp>
          <p:nvSpPr>
            <p:cNvPr id="82" name="직사각형 81"/>
            <p:cNvSpPr/>
            <p:nvPr/>
          </p:nvSpPr>
          <p:spPr>
            <a:xfrm>
              <a:off x="703268" y="2899796"/>
              <a:ext cx="792000" cy="431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grpSp>
          <p:nvGrpSpPr>
            <p:cNvPr id="85" name="그룹 84"/>
            <p:cNvGrpSpPr/>
            <p:nvPr/>
          </p:nvGrpSpPr>
          <p:grpSpPr>
            <a:xfrm>
              <a:off x="701175" y="2899795"/>
              <a:ext cx="2630093" cy="429480"/>
              <a:chOff x="701175" y="1835481"/>
              <a:chExt cx="2630093" cy="42948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430887"/>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2025-03-13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577496" y="34866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5" name="그룹 74"/>
          <p:cNvGrpSpPr/>
          <p:nvPr/>
        </p:nvGrpSpPr>
        <p:grpSpPr>
          <a:xfrm>
            <a:off x="716366" y="3404560"/>
            <a:ext cx="2630093" cy="1815590"/>
            <a:chOff x="3791188" y="2611009"/>
            <a:chExt cx="2630093" cy="1815590"/>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77" name="직사각형 7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0" name="그룹 99"/>
          <p:cNvGrpSpPr/>
          <p:nvPr/>
        </p:nvGrpSpPr>
        <p:grpSpPr>
          <a:xfrm>
            <a:off x="3836701" y="2592310"/>
            <a:ext cx="2630093" cy="2031034"/>
            <a:chOff x="3791188" y="2611009"/>
            <a:chExt cx="2630093" cy="2031034"/>
          </a:xfrm>
        </p:grpSpPr>
        <p:sp>
          <p:nvSpPr>
            <p:cNvPr id="101" name="TextBox 1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02" name="직사각형 1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9" name="TextBox 11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69" name="그룹 68"/>
          <p:cNvGrpSpPr/>
          <p:nvPr/>
        </p:nvGrpSpPr>
        <p:grpSpPr>
          <a:xfrm>
            <a:off x="8223250" y="569392"/>
            <a:ext cx="3365500" cy="634511"/>
            <a:chOff x="8223250" y="569392"/>
            <a:chExt cx="3365500" cy="634511"/>
          </a:xfrm>
        </p:grpSpPr>
        <p:sp>
          <p:nvSpPr>
            <p:cNvPr id="70" name="직사각형 6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71" name="직사각형 7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979205438"/>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사업별등록결과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75" name="그룹 74"/>
          <p:cNvGrpSpPr/>
          <p:nvPr/>
        </p:nvGrpSpPr>
        <p:grpSpPr>
          <a:xfrm>
            <a:off x="716366" y="2592310"/>
            <a:ext cx="2630093" cy="1607126"/>
            <a:chOff x="3791188" y="2611009"/>
            <a:chExt cx="2630093" cy="1607126"/>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1186691" cy="215444"/>
            </a:xfrm>
            <a:prstGeom prst="rect">
              <a:avLst/>
            </a:prstGeom>
            <a:noFill/>
          </p:spPr>
          <p:txBody>
            <a:bodyPr wrap="square" lIns="0" tIns="0" rIns="0" bIns="0" rtlCol="0">
              <a:spAutoFit/>
            </a:bodyPr>
            <a:lstStyle/>
            <a:p>
              <a:pPr>
                <a:lnSpc>
                  <a:spcPct val="200000"/>
                </a:lnSpc>
              </a:pPr>
              <a:r>
                <a:rPr lang="ko-KR" altLang="en-US" sz="700" dirty="0">
                  <a:latin typeface="+mn-ea"/>
                </a:rPr>
                <a:t>사업별등록결과</a:t>
              </a:r>
            </a:p>
          </p:txBody>
        </p:sp>
        <p:sp>
          <p:nvSpPr>
            <p:cNvPr id="77" name="직사각형 76"/>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BDC23453-001</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endParaRPr lang="ko-KR" altLang="en-US" sz="700" dirty="0">
                <a:latin typeface="+mn-ea"/>
              </a:endParaRPr>
            </a:p>
            <a:p>
              <a:pPr>
                <a:lnSpc>
                  <a:spcPct val="200000"/>
                </a:lnSpc>
              </a:pPr>
              <a:r>
                <a:rPr lang="ko-KR" altLang="en-US" sz="700" dirty="0" err="1">
                  <a:latin typeface="+mn-ea"/>
                </a:rPr>
                <a:t>등록심사중</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0" name="그룹 69"/>
          <p:cNvGrpSpPr/>
          <p:nvPr/>
        </p:nvGrpSpPr>
        <p:grpSpPr>
          <a:xfrm>
            <a:off x="716366" y="4308385"/>
            <a:ext cx="2630093" cy="1299641"/>
            <a:chOff x="3791188" y="2918494"/>
            <a:chExt cx="2630093" cy="1299641"/>
          </a:xfrm>
        </p:grpSpPr>
        <p:sp>
          <p:nvSpPr>
            <p:cNvPr id="72" name="직사각형 71"/>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3" name="직선 연결선 7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TextBox 73">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BDC23453-002</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r>
                <a:rPr lang="ko-KR" altLang="en-US" sz="700" dirty="0">
                  <a:latin typeface="+mn-ea"/>
                </a:rPr>
                <a:t> </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0" name="그룹 119">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121" name="타원 12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2" name="타원 121">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사각형: 둥근 모서리 15">
            <a:extLst>
              <a:ext uri="{FF2B5EF4-FFF2-40B4-BE49-F238E27FC236}">
                <a16:creationId xmlns:a16="http://schemas.microsoft.com/office/drawing/2014/main" id="{E2B61CFB-AD16-68D0-8752-50D9C5E01971}"/>
              </a:ext>
            </a:extLst>
          </p:cNvPr>
          <p:cNvSpPr/>
          <p:nvPr/>
        </p:nvSpPr>
        <p:spPr>
          <a:xfrm>
            <a:off x="3825376" y="526552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2411784124"/>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8628418"/>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14B9E18-8370-82BF-6FF1-2BF59AD83A65}"/>
              </a:ext>
            </a:extLst>
          </p:cNvPr>
          <p:cNvSpPr txBox="1"/>
          <p:nvPr/>
        </p:nvSpPr>
        <p:spPr>
          <a:xfrm>
            <a:off x="458117" y="19737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3C8C0F55-53BA-811A-AE86-BF9603714E45}"/>
              </a:ext>
            </a:extLst>
          </p:cNvPr>
          <p:cNvGraphicFramePr>
            <a:graphicFrameLocks noGrp="1"/>
          </p:cNvGraphicFramePr>
          <p:nvPr>
            <p:extLst/>
          </p:nvPr>
        </p:nvGraphicFramePr>
        <p:xfrm>
          <a:off x="452999" y="21849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63329AAB-17D3-0F22-F460-85676E4330B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F7C8E8F-E382-7B13-9296-3993B70E3B45}"/>
              </a:ext>
            </a:extLst>
          </p:cNvPr>
          <p:cNvSpPr txBox="1"/>
          <p:nvPr/>
        </p:nvSpPr>
        <p:spPr>
          <a:xfrm>
            <a:off x="458117" y="4278014"/>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5F23F511-62F4-2C8C-ADB1-9F5C0BC72DE2}"/>
              </a:ext>
            </a:extLst>
          </p:cNvPr>
          <p:cNvGraphicFramePr>
            <a:graphicFrameLocks noGrp="1"/>
          </p:cNvGraphicFramePr>
          <p:nvPr>
            <p:extLst/>
          </p:nvPr>
        </p:nvGraphicFramePr>
        <p:xfrm>
          <a:off x="452999" y="4489217"/>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3133931616"/>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8941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사업별등록결과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2314043"/>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036380"/>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6879692"/>
                  </a:ext>
                </a:extLst>
              </a:tr>
              <a:tr h="0">
                <a:tc>
                  <a:txBody>
                    <a:bodyPr/>
                    <a:lstStyle/>
                    <a:p>
                      <a:pPr algn="l" fontAlgn="ctr"/>
                      <a:r>
                        <a:rPr lang="ko-KR" altLang="en-US" sz="800" b="0" i="0" u="none" strike="noStrike">
                          <a:solidFill>
                            <a:srgbClr val="000000"/>
                          </a:solidFill>
                          <a:effectLst/>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 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C27DC7BC-6A09-C354-B70A-EB381929B6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10988379"/>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B208F9F9-6ABE-41C6-390A-0656DE7E5EB5}"/>
              </a:ext>
            </a:extLst>
          </p:cNvPr>
          <p:cNvSpPr>
            <a:spLocks noGrp="1"/>
          </p:cNvSpPr>
          <p:nvPr>
            <p:ph type="sldNum" sz="quarter" idx="4"/>
          </p:nvPr>
        </p:nvSpPr>
        <p:spPr/>
        <p:txBody>
          <a:bodyPr/>
          <a:lstStyle/>
          <a:p>
            <a:fld id="{34C8E023-7346-48FC-AB24-9A3388C53208}" type="slidenum">
              <a:rPr lang="ko-KR" altLang="en-US" smtClean="0"/>
              <a:pPr/>
              <a:t>371</a:t>
            </a:fld>
            <a:endParaRPr lang="ko-KR" altLang="en-US" dirty="0"/>
          </a:p>
        </p:txBody>
      </p:sp>
      <p:sp>
        <p:nvSpPr>
          <p:cNvPr id="3" name="TextBox 2">
            <a:extLst>
              <a:ext uri="{FF2B5EF4-FFF2-40B4-BE49-F238E27FC236}">
                <a16:creationId xmlns:a16="http://schemas.microsoft.com/office/drawing/2014/main" id="{18AFABCF-67E3-D442-8A32-B597790BE182}"/>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02552709-63E3-D17D-BFDB-CA54709D354C}"/>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이벤트명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사업별입찰등록결과 상세조회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사업별입찰등록결과조회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9A4B47C0-D81A-D4B4-6973-6C10AA9F2C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62161842"/>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82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5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206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41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399"/>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3390205"/>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3319726"/>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3319726"/>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3319726"/>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979997"/>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235871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9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417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52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510"/>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589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0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6946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754432"/>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4360000"/>
            <a:ext cx="2630093" cy="1872299"/>
            <a:chOff x="701175" y="1527996"/>
            <a:chExt cx="2630093" cy="1872299"/>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15648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smtClean="0">
                  <a:latin typeface="+mn-ea"/>
                </a:rPr>
                <a:t>일반경쟁</a:t>
              </a:r>
              <a:endParaRPr lang="en-US" altLang="ko-KR" sz="700" dirty="0">
                <a:latin typeface="+mn-ea"/>
              </a:endParaRPr>
            </a:p>
          </p:txBody>
        </p:sp>
        <p:grpSp>
          <p:nvGrpSpPr>
            <p:cNvPr id="214" name="그룹 213"/>
            <p:cNvGrpSpPr/>
            <p:nvPr/>
          </p:nvGrpSpPr>
          <p:grpSpPr>
            <a:xfrm>
              <a:off x="701175" y="1835481"/>
              <a:ext cx="2630093" cy="1288440"/>
              <a:chOff x="701175" y="1835481"/>
              <a:chExt cx="2630093" cy="128844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155" name="그룹 154"/>
          <p:cNvGrpSpPr/>
          <p:nvPr/>
        </p:nvGrpSpPr>
        <p:grpSpPr>
          <a:xfrm>
            <a:off x="677960" y="1582647"/>
            <a:ext cx="2714637" cy="686386"/>
            <a:chOff x="677960" y="1582647"/>
            <a:chExt cx="2714637" cy="686386"/>
          </a:xfrm>
        </p:grpSpPr>
        <p:sp>
          <p:nvSpPr>
            <p:cNvPr id="156" name="TextBox 15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제출</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8" name="그룹 157"/>
            <p:cNvGrpSpPr/>
            <p:nvPr/>
          </p:nvGrpSpPr>
          <p:grpSpPr>
            <a:xfrm rot="5400000">
              <a:off x="852159" y="2062596"/>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9" name="그룹 158"/>
            <p:cNvGrpSpPr/>
            <p:nvPr/>
          </p:nvGrpSpPr>
          <p:grpSpPr>
            <a:xfrm>
              <a:off x="677960" y="1582647"/>
              <a:ext cx="2712027" cy="324286"/>
              <a:chOff x="677960" y="1582647"/>
              <a:chExt cx="2712027" cy="324286"/>
            </a:xfrm>
          </p:grpSpPr>
          <p:pic>
            <p:nvPicPr>
              <p:cNvPr id="16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62" name="직선 연결선 16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타원 16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타원 16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7" name="타원 16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70" name="그룹 169"/>
          <p:cNvGrpSpPr/>
          <p:nvPr/>
        </p:nvGrpSpPr>
        <p:grpSpPr>
          <a:xfrm>
            <a:off x="3858829" y="1840758"/>
            <a:ext cx="2630093" cy="865332"/>
            <a:chOff x="701175" y="1835481"/>
            <a:chExt cx="2630093" cy="865332"/>
          </a:xfrm>
        </p:grpSpPr>
        <p:sp>
          <p:nvSpPr>
            <p:cNvPr id="173" name="직사각형 172"/>
            <p:cNvSpPr/>
            <p:nvPr/>
          </p:nvSpPr>
          <p:spPr>
            <a:xfrm>
              <a:off x="703268" y="1835483"/>
              <a:ext cx="792000" cy="8653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smtClean="0">
                  <a:latin typeface="+mn-ea"/>
                </a:rPr>
                <a:t>2025-03-02 </a:t>
              </a:r>
              <a:r>
                <a:rPr lang="en-US" altLang="ko-KR" sz="700" dirty="0">
                  <a:latin typeface="+mn-ea"/>
                </a:rPr>
                <a:t>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6" name="그룹 175"/>
            <p:cNvGrpSpPr/>
            <p:nvPr/>
          </p:nvGrpSpPr>
          <p:grpSpPr>
            <a:xfrm>
              <a:off x="701175" y="1835481"/>
              <a:ext cx="2630093" cy="858960"/>
              <a:chOff x="701175" y="1835481"/>
              <a:chExt cx="2630093" cy="858960"/>
            </a:xfrm>
          </p:grpSpPr>
          <p:cxnSp>
            <p:nvCxnSpPr>
              <p:cNvPr id="228" name="직선 연결선 2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3" name="직선 연결선 25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790330" y="1849766"/>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790330" y="2066854"/>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0" y="2253674"/>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40" name="그룹 139"/>
          <p:cNvGrpSpPr/>
          <p:nvPr/>
        </p:nvGrpSpPr>
        <p:grpSpPr>
          <a:xfrm>
            <a:off x="3795734" y="1500228"/>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9" name="텍스트 개체 틀 12">
            <a:extLst>
              <a:ext uri="{FF2B5EF4-FFF2-40B4-BE49-F238E27FC236}">
                <a16:creationId xmlns:a16="http://schemas.microsoft.com/office/drawing/2014/main" id="{0643EE08-B324-56D6-CB41-C4D8C5E38320}"/>
              </a:ext>
            </a:extLst>
          </p:cNvPr>
          <p:cNvSpPr txBox="1">
            <a:spLocks/>
          </p:cNvSpPr>
          <p:nvPr/>
        </p:nvSpPr>
        <p:spPr>
          <a:xfrm>
            <a:off x="676047" y="1288145"/>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MUI-BD-06-T71</a:t>
            </a:r>
            <a:endParaRPr lang="ko-KR" altLang="en-US" dirty="0">
              <a:solidFill>
                <a:srgbClr val="000000"/>
              </a:solidFill>
              <a:latin typeface="맑은 고딕" panose="020B0503020000020004" pitchFamily="50" charset="-127"/>
            </a:endParaRPr>
          </a:p>
        </p:txBody>
      </p:sp>
    </p:spTree>
    <p:extLst>
      <p:ext uri="{BB962C8B-B14F-4D97-AF65-F5344CB8AC3E}">
        <p14:creationId xmlns:p14="http://schemas.microsoft.com/office/powerpoint/2010/main" val="80355776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smtClean="0"/>
              <a:t>품목대체첨부문서</a:t>
            </a:r>
            <a:r>
              <a:rPr lang="en-US" altLang="ko-KR" dirty="0" smtClean="0"/>
              <a:t>, MOQ </a:t>
            </a:r>
            <a:r>
              <a:rPr lang="ko-KR" altLang="en-US" dirty="0" smtClean="0"/>
              <a:t>문서</a:t>
            </a:r>
            <a:r>
              <a:rPr lang="en-US" altLang="ko-KR" dirty="0" smtClean="0"/>
              <a:t/>
            </a:r>
            <a:br>
              <a:rPr lang="en-US" altLang="ko-KR" dirty="0" smtClean="0"/>
            </a:br>
            <a:r>
              <a:rPr lang="en-US" altLang="ko-KR" dirty="0" smtClean="0"/>
              <a:t>- O, X</a:t>
            </a:r>
            <a:r>
              <a:rPr lang="ko-KR" altLang="en-US" dirty="0" smtClean="0"/>
              <a:t>로 표시되고</a:t>
            </a:r>
            <a:r>
              <a:rPr lang="en-US" altLang="ko-KR" dirty="0" smtClean="0"/>
              <a:t>, O</a:t>
            </a:r>
            <a:r>
              <a:rPr lang="ko-KR" altLang="en-US" dirty="0" smtClean="0"/>
              <a:t>인 경우 버튼 표시</a:t>
            </a:r>
            <a:r>
              <a:rPr lang="en-US" altLang="ko-KR" dirty="0" smtClean="0"/>
              <a:t/>
            </a:r>
            <a:br>
              <a:rPr lang="en-US" altLang="ko-KR" dirty="0" smtClean="0"/>
            </a:br>
            <a:r>
              <a:rPr lang="en-US" altLang="ko-KR" dirty="0" smtClean="0"/>
              <a:t>- </a:t>
            </a:r>
            <a:r>
              <a:rPr lang="ko-KR" altLang="en-US" dirty="0" smtClean="0"/>
              <a:t>첨부파일조회 </a:t>
            </a:r>
            <a:r>
              <a:rPr lang="en-US" altLang="ko-KR" dirty="0" smtClean="0"/>
              <a:t>MUI-BD-01-P76 </a:t>
            </a:r>
            <a:r>
              <a:rPr lang="ko-KR" altLang="en-US" dirty="0" smtClean="0"/>
              <a:t>팝업 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33058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59552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0" name="그룹 99"/>
          <p:cNvGrpSpPr/>
          <p:nvPr/>
        </p:nvGrpSpPr>
        <p:grpSpPr>
          <a:xfrm>
            <a:off x="3795734" y="2083489"/>
            <a:ext cx="2712027" cy="337161"/>
            <a:chOff x="675399" y="3557901"/>
            <a:chExt cx="2712027" cy="337161"/>
          </a:xfrm>
        </p:grpSpPr>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7" name="그룹 106"/>
            <p:cNvGrpSpPr/>
            <p:nvPr/>
          </p:nvGrpSpPr>
          <p:grpSpPr>
            <a:xfrm>
              <a:off x="2924086" y="3640332"/>
              <a:ext cx="422853" cy="187961"/>
              <a:chOff x="3641308" y="2234886"/>
              <a:chExt cx="422853" cy="187961"/>
            </a:xfrm>
          </p:grpSpPr>
          <p:sp>
            <p:nvSpPr>
              <p:cNvPr id="110" name="타원 1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1" name="그룹 110"/>
              <p:cNvGrpSpPr/>
              <p:nvPr/>
            </p:nvGrpSpPr>
            <p:grpSpPr>
              <a:xfrm rot="5400000" flipH="1">
                <a:off x="3679895" y="2305364"/>
                <a:ext cx="94010" cy="47005"/>
                <a:chOff x="6812560" y="3297172"/>
                <a:chExt cx="94010" cy="47005"/>
              </a:xfrm>
            </p:grpSpPr>
            <p:cxnSp>
              <p:nvCxnSpPr>
                <p:cNvPr id="116" name="직선 연결선 1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2" name="타원 1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rot="16200000">
                <a:off x="3931564" y="2305364"/>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18" name="그룹 117"/>
          <p:cNvGrpSpPr/>
          <p:nvPr/>
        </p:nvGrpSpPr>
        <p:grpSpPr>
          <a:xfrm>
            <a:off x="675399" y="2083489"/>
            <a:ext cx="2712027" cy="337161"/>
            <a:chOff x="675399" y="3557901"/>
            <a:chExt cx="2712027" cy="337161"/>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24" name="그룹 123"/>
            <p:cNvGrpSpPr/>
            <p:nvPr/>
          </p:nvGrpSpPr>
          <p:grpSpPr>
            <a:xfrm>
              <a:off x="2924086" y="3640332"/>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5400000" flipH="1">
                <a:off x="3679895" y="2305364"/>
                <a:ext cx="94010" cy="47005"/>
                <a:chOff x="6812560" y="3297172"/>
                <a:chExt cx="94010" cy="47005"/>
              </a:xfrm>
            </p:grpSpPr>
            <p:cxnSp>
              <p:nvCxnSpPr>
                <p:cNvPr id="157" name="직선 연결선 1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8" name="직선 연결선 1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5" name="직선 연결선 12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4672608" y="295020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0" name="타원 129">
            <a:extLst>
              <a:ext uri="{FF2B5EF4-FFF2-40B4-BE49-F238E27FC236}">
                <a16:creationId xmlns:a16="http://schemas.microsoft.com/office/drawing/2014/main" id="{37A7FF4F-0EAA-1463-560A-D5EC24416103}"/>
              </a:ext>
            </a:extLst>
          </p:cNvPr>
          <p:cNvSpPr/>
          <p:nvPr/>
        </p:nvSpPr>
        <p:spPr>
          <a:xfrm>
            <a:off x="589334" y="45416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1" name="타원 130">
            <a:extLst>
              <a:ext uri="{FF2B5EF4-FFF2-40B4-BE49-F238E27FC236}">
                <a16:creationId xmlns:a16="http://schemas.microsoft.com/office/drawing/2014/main" id="{37A7FF4F-0EAA-1463-560A-D5EC24416103}"/>
              </a:ext>
            </a:extLst>
          </p:cNvPr>
          <p:cNvSpPr/>
          <p:nvPr/>
        </p:nvSpPr>
        <p:spPr>
          <a:xfrm>
            <a:off x="589334" y="55955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2" name="타원 131">
            <a:extLst>
              <a:ext uri="{FF2B5EF4-FFF2-40B4-BE49-F238E27FC236}">
                <a16:creationId xmlns:a16="http://schemas.microsoft.com/office/drawing/2014/main" id="{37A7FF4F-0EAA-1463-560A-D5EC24416103}"/>
              </a:ext>
            </a:extLst>
          </p:cNvPr>
          <p:cNvSpPr/>
          <p:nvPr/>
        </p:nvSpPr>
        <p:spPr>
          <a:xfrm>
            <a:off x="3698869" y="29390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3647300594"/>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smtClean="0">
                <a:latin typeface="+mn-ea"/>
              </a:rPr>
              <a:t>(</a:t>
            </a:r>
            <a:r>
              <a:rPr lang="ko-KR" altLang="en-US" dirty="0" err="1" smtClean="0">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9" name="그룹 108"/>
          <p:cNvGrpSpPr/>
          <p:nvPr/>
        </p:nvGrpSpPr>
        <p:grpSpPr>
          <a:xfrm>
            <a:off x="3795734" y="2083489"/>
            <a:ext cx="2712027" cy="337161"/>
            <a:chOff x="675399" y="3557901"/>
            <a:chExt cx="2712027" cy="337161"/>
          </a:xfrm>
        </p:grpSpPr>
        <p:cxnSp>
          <p:nvCxnSpPr>
            <p:cNvPr id="113" name="직선 연결선 11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2924086" y="3640332"/>
              <a:ext cx="422853" cy="187961"/>
              <a:chOff x="3641308" y="2234886"/>
              <a:chExt cx="422853" cy="187961"/>
            </a:xfrm>
          </p:grpSpPr>
          <p:sp>
            <p:nvSpPr>
              <p:cNvPr id="121" name="타원 12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rot="5400000" flipH="1">
                <a:off x="3679895" y="2305364"/>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타원 12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rot="16200000">
                <a:off x="3931564" y="2305364"/>
                <a:ext cx="94010" cy="47005"/>
                <a:chOff x="6812560" y="3297172"/>
                <a:chExt cx="94010" cy="47005"/>
              </a:xfrm>
            </p:grpSpPr>
            <p:cxnSp>
              <p:nvCxnSpPr>
                <p:cNvPr id="125" name="직선 연결선 12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3" name="그룹 152"/>
          <p:cNvGrpSpPr/>
          <p:nvPr/>
        </p:nvGrpSpPr>
        <p:grpSpPr>
          <a:xfrm>
            <a:off x="675399" y="2083489"/>
            <a:ext cx="2712027" cy="337161"/>
            <a:chOff x="675399" y="3557901"/>
            <a:chExt cx="2712027" cy="337161"/>
          </a:xfrm>
        </p:grpSpPr>
        <p:cxnSp>
          <p:nvCxnSpPr>
            <p:cNvPr id="154" name="직선 연결선 15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3" name="그룹 182"/>
            <p:cNvGrpSpPr/>
            <p:nvPr/>
          </p:nvGrpSpPr>
          <p:grpSpPr>
            <a:xfrm>
              <a:off x="2924086" y="3640332"/>
              <a:ext cx="422853" cy="187961"/>
              <a:chOff x="3641308" y="2234886"/>
              <a:chExt cx="422853" cy="187961"/>
            </a:xfrm>
          </p:grpSpPr>
          <p:sp>
            <p:nvSpPr>
              <p:cNvPr id="186" name="타원 185"/>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7" name="그룹 186"/>
              <p:cNvGrpSpPr/>
              <p:nvPr/>
            </p:nvGrpSpPr>
            <p:grpSpPr>
              <a:xfrm rot="5400000" flipH="1">
                <a:off x="3679895" y="2305364"/>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타원 18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9" name="그룹 188"/>
              <p:cNvGrpSpPr/>
              <p:nvPr/>
            </p:nvGrpSpPr>
            <p:grpSpPr>
              <a:xfrm rot="16200000">
                <a:off x="3931564" y="2305364"/>
                <a:ext cx="94010" cy="47005"/>
                <a:chOff x="6812560" y="3297172"/>
                <a:chExt cx="94010" cy="47005"/>
              </a:xfrm>
            </p:grpSpPr>
            <p:cxnSp>
              <p:nvCxnSpPr>
                <p:cNvPr id="190" name="직선 연결선 1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사각형: 둥근 모서리 15">
            <a:extLst>
              <a:ext uri="{FF2B5EF4-FFF2-40B4-BE49-F238E27FC236}">
                <a16:creationId xmlns:a16="http://schemas.microsoft.com/office/drawing/2014/main" id="{E2B61CFB-AD16-68D0-8752-50D9C5E01971}"/>
              </a:ext>
            </a:extLst>
          </p:cNvPr>
          <p:cNvSpPr/>
          <p:nvPr/>
        </p:nvSpPr>
        <p:spPr>
          <a:xfrm>
            <a:off x="1561065" y="322036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10,000</a:t>
            </a:r>
            <a:endParaRPr kumimoji="1" lang="en-US" sz="700" b="0" i="0" u="none" strike="noStrike" kern="0" cap="none" spc="0" normalizeH="0" baseline="0" noProof="0" dirty="0">
              <a:ln>
                <a:noFill/>
              </a:ln>
              <a:effectLst/>
              <a:uLnTx/>
              <a:uFillTx/>
              <a:latin typeface="맑은 고딕"/>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28958860"/>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입찰서제출</a:t>
            </a:r>
            <a:r>
              <a:rPr lang="ko-KR" altLang="en-US" dirty="0" smtClean="0">
                <a:latin typeface="+mn-ea"/>
              </a:rPr>
              <a:t>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2097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8429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381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6164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909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448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5917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7465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24170" y="307465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7465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44591" y="372125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44591" y="330446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675399"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401782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9234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462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42450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9902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5288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44591" y="45293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44591" y="411251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0" name="그룹 149"/>
          <p:cNvGrpSpPr/>
          <p:nvPr/>
        </p:nvGrpSpPr>
        <p:grpSpPr>
          <a:xfrm>
            <a:off x="675399" y="2083489"/>
            <a:ext cx="2712027" cy="337161"/>
            <a:chOff x="675399" y="3557901"/>
            <a:chExt cx="2712027" cy="337161"/>
          </a:xfrm>
        </p:grpSpPr>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첨부파일</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2234484" y="3895062"/>
              <a:ext cx="4965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56" name="그룹 155"/>
            <p:cNvGrpSpPr/>
            <p:nvPr/>
          </p:nvGrpSpPr>
          <p:grpSpPr>
            <a:xfrm>
              <a:off x="2924086" y="3640332"/>
              <a:ext cx="422853" cy="187961"/>
              <a:chOff x="3641308" y="2234886"/>
              <a:chExt cx="422853" cy="187961"/>
            </a:xfrm>
          </p:grpSpPr>
          <p:sp>
            <p:nvSpPr>
              <p:cNvPr id="159" name="타원 15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0" name="그룹 159"/>
              <p:cNvGrpSpPr/>
              <p:nvPr/>
            </p:nvGrpSpPr>
            <p:grpSpPr>
              <a:xfrm rot="5400000" flipH="1">
                <a:off x="3679895"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타원 16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16200000">
                <a:off x="3931564" y="2305364"/>
                <a:ext cx="94010" cy="47005"/>
                <a:chOff x="6812560" y="3297172"/>
                <a:chExt cx="94010" cy="47005"/>
              </a:xfrm>
            </p:grpSpPr>
            <p:cxnSp>
              <p:nvCxnSpPr>
                <p:cNvPr id="163" name="직선 연결선 1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4" name="직선 연결선 1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57" name="직선 연결선 15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0" name="그룹 59"/>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4008578957"/>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3077036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(2/4)</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091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입찰업체</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065627"/>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42248086"/>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378</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(3/4)</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863608745"/>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9FBAE9F6-BB22-00F0-039C-E68728BB4EC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0857194"/>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380</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nvGraphicFramePr>
        <p:xfrm>
          <a:off x="458117" y="799547"/>
          <a:ext cx="8995591" cy="16732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dirty="0">
                          <a:latin typeface="+mn-ea"/>
                          <a:ea typeface="+mn-ea"/>
                        </a:rPr>
                        <a:t>, </a:t>
                      </a:r>
                      <a:r>
                        <a:rPr lang="ko-KR" altLang="en-US" sz="800" dirty="0">
                          <a:latin typeface="+mn-ea"/>
                          <a:ea typeface="+mn-ea"/>
                        </a:rPr>
                        <a:t>신청업체</a:t>
                      </a:r>
                      <a:r>
                        <a:rPr lang="en-US" altLang="ko-KR" sz="800" dirty="0">
                          <a:latin typeface="+mn-ea"/>
                          <a:ea typeface="+mn-ea"/>
                        </a:rPr>
                        <a:t>, </a:t>
                      </a:r>
                      <a:r>
                        <a:rPr lang="ko-KR" altLang="en-US" sz="800" dirty="0">
                          <a:latin typeface="+mn-ea"/>
                          <a:ea typeface="+mn-ea"/>
                        </a:rPr>
                        <a:t>입찰업체</a:t>
                      </a:r>
                      <a:r>
                        <a:rPr lang="en-US" altLang="ko-KR" sz="800" dirty="0">
                          <a:latin typeface="+mn-ea"/>
                          <a:ea typeface="+mn-ea"/>
                        </a:rPr>
                        <a:t>, </a:t>
                      </a:r>
                      <a:r>
                        <a:rPr lang="ko-KR" altLang="en-US" sz="800" dirty="0">
                          <a:latin typeface="+mn-ea"/>
                          <a:ea typeface="+mn-ea"/>
                        </a:rPr>
                        <a:t>입찰참여품목 조회</a:t>
                      </a:r>
                      <a:r>
                        <a:rPr lang="en-US" altLang="ko-KR" sz="800" dirty="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입찰단가 변경</a:t>
                      </a:r>
                      <a:r>
                        <a:rPr lang="en-US" altLang="ko-KR" sz="800" dirty="0">
                          <a:latin typeface="+mn-ea"/>
                          <a:ea typeface="+mn-ea"/>
                        </a:rPr>
                        <a:t> </a:t>
                      </a:r>
                      <a:r>
                        <a:rPr lang="ko-KR" altLang="en-US" sz="800" dirty="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달러단가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917941"/>
                  </a:ext>
                </a:extLst>
              </a:tr>
              <a:tr h="0">
                <a:tc>
                  <a:txBody>
                    <a:bodyPr/>
                    <a:lstStyle/>
                    <a:p>
                      <a:r>
                        <a:rPr lang="ko-KR" altLang="en-US" sz="800"/>
                        <a:t>투찰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scwin.btn_submitBid_onclick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dirty="0">
                          <a:latin typeface="+mn-ea"/>
                          <a:ea typeface="+mn-ea"/>
                        </a:rPr>
                        <a:t>. </a:t>
                      </a:r>
                      <a:r>
                        <a:rPr lang="ko-KR" altLang="en-US" sz="800" dirty="0">
                          <a:latin typeface="+mn-ea"/>
                          <a:ea typeface="+mn-ea"/>
                        </a:rPr>
                        <a:t>모의입찰 상태인 경우</a:t>
                      </a:r>
                      <a:r>
                        <a:rPr lang="en-US" altLang="ko-KR" sz="800" dirty="0">
                          <a:latin typeface="+mn-ea"/>
                          <a:ea typeface="+mn-ea"/>
                        </a:rPr>
                        <a:t>, </a:t>
                      </a:r>
                      <a:r>
                        <a:rPr lang="ko-KR" altLang="en-US" sz="800" dirty="0" err="1">
                          <a:latin typeface="+mn-ea"/>
                          <a:ea typeface="+mn-ea"/>
                        </a:rPr>
                        <a:t>모의투찰</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입찰서제출</a:t>
                      </a:r>
                      <a:r>
                        <a:rPr lang="en-US" altLang="ko-KR" sz="800">
                          <a:latin typeface="+mn-ea"/>
                          <a:ea typeface="+mn-ea"/>
                        </a:rPr>
                        <a:t>, </a:t>
                      </a:r>
                      <a:r>
                        <a:rPr lang="ko-KR" altLang="en-US" sz="800">
                          <a:latin typeface="+mn-ea"/>
                          <a:ea typeface="+mn-ea"/>
                        </a:rPr>
                        <a:t>모의입찰서제출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r h="0">
                <a:tc>
                  <a:txBody>
                    <a:bodyPr/>
                    <a:lstStyle/>
                    <a:p>
                      <a:r>
                        <a:rPr lang="ko-KR" altLang="en-US" sz="800" dirty="0"/>
                        <a:t>목록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scwin.btn_moveList_onclick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입찰진행</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UI-BD-03-M01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64363204"/>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70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62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0" name="그룹 239"/>
          <p:cNvGrpSpPr/>
          <p:nvPr/>
        </p:nvGrpSpPr>
        <p:grpSpPr>
          <a:xfrm>
            <a:off x="675399" y="2366764"/>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95696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83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70297"/>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3417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7029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7751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642787"/>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55" name="그룹 154"/>
          <p:cNvGrpSpPr/>
          <p:nvPr/>
        </p:nvGrpSpPr>
        <p:grpSpPr>
          <a:xfrm>
            <a:off x="675399" y="3262784"/>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2" name="그룹 161"/>
            <p:cNvGrpSpPr/>
            <p:nvPr/>
          </p:nvGrpSpPr>
          <p:grpSpPr>
            <a:xfrm>
              <a:off x="2924086" y="3640332"/>
              <a:ext cx="422853" cy="187961"/>
              <a:chOff x="3641308" y="2234886"/>
              <a:chExt cx="422853" cy="187961"/>
            </a:xfrm>
          </p:grpSpPr>
          <p:sp>
            <p:nvSpPr>
              <p:cNvPr id="168" name="타원 16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9" name="그룹 168"/>
              <p:cNvGrpSpPr/>
              <p:nvPr/>
            </p:nvGrpSpPr>
            <p:grpSpPr>
              <a:xfrm rot="5400000" flipH="1">
                <a:off x="3679895"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타원 16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rot="16200000">
                <a:off x="3931564" y="230536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76" name="그룹 175"/>
          <p:cNvGrpSpPr/>
          <p:nvPr/>
        </p:nvGrpSpPr>
        <p:grpSpPr>
          <a:xfrm>
            <a:off x="3795734" y="2084581"/>
            <a:ext cx="2712027" cy="337161"/>
            <a:chOff x="675399" y="3557901"/>
            <a:chExt cx="2712027" cy="337161"/>
          </a:xfrm>
        </p:grpSpPr>
        <p:cxnSp>
          <p:nvCxnSpPr>
            <p:cNvPr id="177" name="직선 연결선 176">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52" name="직선 연결선 251">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53" name="그룹 252"/>
            <p:cNvGrpSpPr/>
            <p:nvPr/>
          </p:nvGrpSpPr>
          <p:grpSpPr>
            <a:xfrm>
              <a:off x="2924086" y="3640332"/>
              <a:ext cx="422853" cy="187961"/>
              <a:chOff x="3641308" y="2234886"/>
              <a:chExt cx="422853" cy="187961"/>
            </a:xfrm>
          </p:grpSpPr>
          <p:sp>
            <p:nvSpPr>
              <p:cNvPr id="262" name="타원 26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3" name="그룹 262"/>
              <p:cNvGrpSpPr/>
              <p:nvPr/>
            </p:nvGrpSpPr>
            <p:grpSpPr>
              <a:xfrm rot="5400000" flipH="1">
                <a:off x="3679895" y="2305364"/>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타원 26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5" name="그룹 264"/>
              <p:cNvGrpSpPr/>
              <p:nvPr/>
            </p:nvGrpSpPr>
            <p:grpSpPr>
              <a:xfrm rot="16200000">
                <a:off x="3931564" y="2305364"/>
                <a:ext cx="94010" cy="47005"/>
                <a:chOff x="6812560" y="3297172"/>
                <a:chExt cx="94010" cy="47005"/>
              </a:xfrm>
            </p:grpSpPr>
            <p:cxnSp>
              <p:nvCxnSpPr>
                <p:cNvPr id="266" name="직선 연결선 2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7" name="직선 연결선 2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1" name="TextBox 260">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0" name="그룹 109"/>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a:t>
              </a:r>
              <a:r>
                <a:rPr lang="ko-KR" altLang="en-US" sz="800" dirty="0" smtClean="0">
                  <a:latin typeface="+mn-ea"/>
                </a:rPr>
                <a:t>상세</a:t>
              </a:r>
              <a:endParaRPr lang="ko-KR" altLang="en-US" sz="8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3" name="그룹 112"/>
            <p:cNvGrpSpPr/>
            <p:nvPr/>
          </p:nvGrpSpPr>
          <p:grpSpPr>
            <a:xfrm rot="5400000">
              <a:off x="852159" y="2062596"/>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4" name="그룹 113"/>
            <p:cNvGrpSpPr/>
            <p:nvPr/>
          </p:nvGrpSpPr>
          <p:grpSpPr>
            <a:xfrm>
              <a:off x="677960" y="1582647"/>
              <a:ext cx="2712027" cy="324286"/>
              <a:chOff x="677960" y="1582647"/>
              <a:chExt cx="2712027" cy="324286"/>
            </a:xfrm>
          </p:grpSpPr>
          <p:pic>
            <p:nvPicPr>
              <p:cNvPr id="11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16" name="직선 연결선 11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타원 11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타원 11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타원 11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22" name="텍스트 개체 틀 12">
            <a:extLst>
              <a:ext uri="{FF2B5EF4-FFF2-40B4-BE49-F238E27FC236}">
                <a16:creationId xmlns:a16="http://schemas.microsoft.com/office/drawing/2014/main" id="{0643EE08-B324-56D6-CB41-C4D8C5E38320}"/>
              </a:ext>
            </a:extLst>
          </p:cNvPr>
          <p:cNvSpPr txBox="1">
            <a:spLocks/>
          </p:cNvSpPr>
          <p:nvPr/>
        </p:nvSpPr>
        <p:spPr>
          <a:xfrm>
            <a:off x="686684" y="1277429"/>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MUI-BD-06-T75</a:t>
            </a:r>
            <a:endParaRPr lang="ko-KR" altLang="en-US" dirty="0">
              <a:solidFill>
                <a:srgbClr val="000000"/>
              </a:solidFill>
              <a:latin typeface="맑은 고딕" panose="020B0503020000020004" pitchFamily="50" charset="-127"/>
            </a:endParaRPr>
          </a:p>
        </p:txBody>
      </p:sp>
    </p:spTree>
    <p:extLst>
      <p:ext uri="{BB962C8B-B14F-4D97-AF65-F5344CB8AC3E}">
        <p14:creationId xmlns:p14="http://schemas.microsoft.com/office/powerpoint/2010/main" val="3773663262"/>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2" name="그룹 161"/>
          <p:cNvGrpSpPr/>
          <p:nvPr/>
        </p:nvGrpSpPr>
        <p:grpSpPr>
          <a:xfrm>
            <a:off x="3795734" y="2084581"/>
            <a:ext cx="2712027" cy="337161"/>
            <a:chOff x="675399" y="3557901"/>
            <a:chExt cx="2712027" cy="337161"/>
          </a:xfrm>
        </p:grpSpPr>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131942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70" name="그룹 169"/>
            <p:cNvGrpSpPr/>
            <p:nvPr/>
          </p:nvGrpSpPr>
          <p:grpSpPr>
            <a:xfrm>
              <a:off x="2924086" y="3640332"/>
              <a:ext cx="422853" cy="187961"/>
              <a:chOff x="3641308" y="2234886"/>
              <a:chExt cx="422853" cy="187961"/>
            </a:xfrm>
          </p:grpSpPr>
          <p:sp>
            <p:nvSpPr>
              <p:cNvPr id="174" name="타원 1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5" name="그룹 174"/>
              <p:cNvGrpSpPr/>
              <p:nvPr/>
            </p:nvGrpSpPr>
            <p:grpSpPr>
              <a:xfrm rot="5400000" flipH="1">
                <a:off x="3679895"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2" name="직선 연결선 2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6" name="타원 1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7" name="그룹 176"/>
              <p:cNvGrpSpPr/>
              <p:nvPr/>
            </p:nvGrpSpPr>
            <p:grpSpPr>
              <a:xfrm rot="16200000">
                <a:off x="3931564" y="2305364"/>
                <a:ext cx="94010" cy="47005"/>
                <a:chOff x="6812560" y="3297172"/>
                <a:chExt cx="94010" cy="47005"/>
              </a:xfrm>
            </p:grpSpPr>
            <p:cxnSp>
              <p:nvCxnSpPr>
                <p:cNvPr id="179" name="직선 연결선 1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0" name="직선 연결선 1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2485990"/>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test@test.com</a:t>
              </a: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96840409"/>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a:t>품목대체첨부문서</a:t>
            </a:r>
            <a:r>
              <a:rPr lang="en-US" altLang="ko-KR" dirty="0"/>
              <a:t>, MOQ </a:t>
            </a:r>
            <a:r>
              <a:rPr lang="ko-KR" altLang="en-US" dirty="0"/>
              <a:t>문서</a:t>
            </a:r>
            <a:r>
              <a:rPr lang="en-US" altLang="ko-KR" dirty="0"/>
              <a:t/>
            </a:r>
            <a:br>
              <a:rPr lang="en-US" altLang="ko-KR" dirty="0"/>
            </a:br>
            <a:r>
              <a:rPr lang="en-US" altLang="ko-KR" dirty="0"/>
              <a:t>- O, X</a:t>
            </a:r>
            <a:r>
              <a:rPr lang="ko-KR" altLang="en-US" dirty="0"/>
              <a:t>로 표시되고</a:t>
            </a:r>
            <a:r>
              <a:rPr lang="en-US" altLang="ko-KR" dirty="0"/>
              <a:t>, O</a:t>
            </a:r>
            <a:r>
              <a:rPr lang="ko-KR" altLang="en-US" dirty="0"/>
              <a:t>인 경우 버튼 표시</a:t>
            </a:r>
            <a:r>
              <a:rPr lang="en-US" altLang="ko-KR" dirty="0"/>
              <a:t/>
            </a:r>
            <a:br>
              <a:rPr lang="en-US" altLang="ko-KR" dirty="0"/>
            </a:br>
            <a:r>
              <a:rPr lang="en-US" altLang="ko-KR" dirty="0"/>
              <a:t>- </a:t>
            </a:r>
            <a:r>
              <a:rPr lang="ko-KR" altLang="en-US" dirty="0"/>
              <a:t>첨부파일조회 </a:t>
            </a:r>
            <a:r>
              <a:rPr lang="en-US" altLang="ko-KR" dirty="0"/>
              <a:t>MUI-BD-01-P76 </a:t>
            </a:r>
            <a:r>
              <a:rPr lang="ko-KR" altLang="en-US" dirty="0"/>
              <a:t>팝업 호출</a:t>
            </a:r>
            <a:endParaRPr lang="en-US" altLang="ko-KR" dirty="0"/>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56250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7508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grpSp>
        <p:nvGrpSpPr>
          <p:cNvPr id="130" name="그룹 129"/>
          <p:cNvGrpSpPr/>
          <p:nvPr/>
        </p:nvGrpSpPr>
        <p:grpSpPr>
          <a:xfrm>
            <a:off x="3795734"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675400"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16" name="타원 115">
            <a:extLst>
              <a:ext uri="{FF2B5EF4-FFF2-40B4-BE49-F238E27FC236}">
                <a16:creationId xmlns:a16="http://schemas.microsoft.com/office/drawing/2014/main" id="{37A7FF4F-0EAA-1463-560A-D5EC24416103}"/>
              </a:ext>
            </a:extLst>
          </p:cNvPr>
          <p:cNvSpPr/>
          <p:nvPr/>
        </p:nvSpPr>
        <p:spPr>
          <a:xfrm>
            <a:off x="589334" y="45724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17" name="타원 116">
            <a:extLst>
              <a:ext uri="{FF2B5EF4-FFF2-40B4-BE49-F238E27FC236}">
                <a16:creationId xmlns:a16="http://schemas.microsoft.com/office/drawing/2014/main" id="{37A7FF4F-0EAA-1463-560A-D5EC24416103}"/>
              </a:ext>
            </a:extLst>
          </p:cNvPr>
          <p:cNvSpPr/>
          <p:nvPr/>
        </p:nvSpPr>
        <p:spPr>
          <a:xfrm>
            <a:off x="589334" y="56009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74814447"/>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95" name="그룹 94"/>
          <p:cNvGrpSpPr/>
          <p:nvPr/>
        </p:nvGrpSpPr>
        <p:grpSpPr>
          <a:xfrm>
            <a:off x="3795734" y="2084581"/>
            <a:ext cx="2712027" cy="337161"/>
            <a:chOff x="675399" y="3557901"/>
            <a:chExt cx="2712027" cy="33716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9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8" name="TextBox 9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99" name="TextBox 9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2924086" y="3640332"/>
              <a:ext cx="422853" cy="187961"/>
              <a:chOff x="3641308" y="2234886"/>
              <a:chExt cx="422853" cy="187961"/>
            </a:xfrm>
          </p:grpSpPr>
          <p:sp>
            <p:nvSpPr>
              <p:cNvPr id="105" name="타원 10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rot="5400000" flipH="1">
                <a:off x="3679895" y="230536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7" name="타원 10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rot="16200000">
                <a:off x="3931564" y="2305364"/>
                <a:ext cx="94010" cy="47005"/>
                <a:chOff x="6812560" y="3297172"/>
                <a:chExt cx="94010" cy="47005"/>
              </a:xfrm>
            </p:grpSpPr>
            <p:cxnSp>
              <p:nvCxnSpPr>
                <p:cNvPr id="112" name="직선 연결선 1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33" name="그룹 132"/>
          <p:cNvGrpSpPr/>
          <p:nvPr/>
        </p:nvGrpSpPr>
        <p:grpSpPr>
          <a:xfrm>
            <a:off x="675400"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9" name="그룹 138"/>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0" name="직선 연결선 13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2339234498"/>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3" name="그룹 62"/>
          <p:cNvGrpSpPr/>
          <p:nvPr/>
        </p:nvGrpSpPr>
        <p:grpSpPr>
          <a:xfrm>
            <a:off x="675400" y="2084581"/>
            <a:ext cx="2712027" cy="337161"/>
            <a:chOff x="675399" y="3557901"/>
            <a:chExt cx="2712027" cy="337161"/>
          </a:xfrm>
        </p:grpSpPr>
        <p:cxnSp>
          <p:nvCxnSpPr>
            <p:cNvPr id="64" name="직선 연결선 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66" name="TextBox 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67" name="TextBox 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9" name="그룹 68"/>
            <p:cNvGrpSpPr/>
            <p:nvPr/>
          </p:nvGrpSpPr>
          <p:grpSpPr>
            <a:xfrm>
              <a:off x="2924086" y="3640332"/>
              <a:ext cx="422853" cy="187961"/>
              <a:chOff x="3641308" y="2234886"/>
              <a:chExt cx="422853" cy="187961"/>
            </a:xfrm>
          </p:grpSpPr>
          <p:sp>
            <p:nvSpPr>
              <p:cNvPr id="73" name="타원 7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4" name="그룹 73"/>
              <p:cNvGrpSpPr/>
              <p:nvPr/>
            </p:nvGrpSpPr>
            <p:grpSpPr>
              <a:xfrm rot="5400000" flipH="1">
                <a:off x="3679895"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타원 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6" name="그룹 75"/>
              <p:cNvGrpSpPr/>
              <p:nvPr/>
            </p:nvGrpSpPr>
            <p:grpSpPr>
              <a:xfrm rot="16200000">
                <a:off x="3931564" y="2305364"/>
                <a:ext cx="94010" cy="47005"/>
                <a:chOff x="6812560" y="3297172"/>
                <a:chExt cx="94010" cy="47005"/>
              </a:xfrm>
            </p:grpSpPr>
            <p:cxnSp>
              <p:nvCxnSpPr>
                <p:cNvPr id="77" name="직선 연결선 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8" name="직선 연결선 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2" name="TextBox 7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4036894105"/>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6EC1DB6F-756B-3ECF-DF5B-01F7E95AC086}"/>
              </a:ext>
            </a:extLst>
          </p:cNvPr>
          <p:cNvSpPr txBox="1"/>
          <p:nvPr/>
        </p:nvSpPr>
        <p:spPr>
          <a:xfrm>
            <a:off x="458117" y="425709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446829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8760619"/>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336451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8760337"/>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0910159"/>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EE135505-43F6-C8AA-BD12-23164516F4E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05257500"/>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00CCF613-0C5E-A1C5-2F5D-E8D53127C3F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4252167"/>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(3/5)</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4897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 </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65F701-0081-CABA-3317-C510CF9DBA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75827463"/>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389</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(4/5)</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702450867"/>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(5/5)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1.7.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A99AA0B8-076C-8C26-20E0-2CF398D5400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99741295"/>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F20DDAC-86E5-B924-A032-6F934EE4D118}"/>
              </a:ext>
            </a:extLst>
          </p:cNvPr>
          <p:cNvSpPr>
            <a:spLocks noGrp="1"/>
          </p:cNvSpPr>
          <p:nvPr>
            <p:ph type="sldNum" sz="quarter" idx="4"/>
          </p:nvPr>
        </p:nvSpPr>
        <p:spPr/>
        <p:txBody>
          <a:bodyPr/>
          <a:lstStyle/>
          <a:p>
            <a:fld id="{34C8E023-7346-48FC-AB24-9A3388C53208}" type="slidenum">
              <a:rPr lang="ko-KR" altLang="en-US" smtClean="0"/>
              <a:pPr/>
              <a:t>391</a:t>
            </a:fld>
            <a:endParaRPr lang="ko-KR" altLang="en-US" dirty="0"/>
          </a:p>
        </p:txBody>
      </p:sp>
      <p:sp>
        <p:nvSpPr>
          <p:cNvPr id="3" name="TextBox 2">
            <a:extLst>
              <a:ext uri="{FF2B5EF4-FFF2-40B4-BE49-F238E27FC236}">
                <a16:creationId xmlns:a16="http://schemas.microsoft.com/office/drawing/2014/main" id="{76A8809E-D65E-49DE-4DB4-07EAE9803EB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9B714E3-F1E0-CB09-40E2-CC9553957C58}"/>
              </a:ext>
            </a:extLst>
          </p:cNvPr>
          <p:cNvGraphicFramePr>
            <a:graphicFrameLocks noGrp="1"/>
          </p:cNvGraphicFramePr>
          <p:nvPr>
            <p:extLst/>
          </p:nvPr>
        </p:nvGraphicFramePr>
        <p:xfrm>
          <a:off x="458117" y="799547"/>
          <a:ext cx="8995591" cy="1091520"/>
        </p:xfrm>
        <a:graphic>
          <a:graphicData uri="http://schemas.openxmlformats.org/drawingml/2006/table">
            <a:tbl>
              <a:tblPr>
                <a:tableStyleId>{616DA210-FB5B-4158-B5E0-FEB733F419BA}</a:tableStyleId>
              </a:tblPr>
              <a:tblGrid>
                <a:gridCol w="1465933">
                  <a:extLst>
                    <a:ext uri="{9D8B030D-6E8A-4147-A177-3AD203B41FA5}">
                      <a16:colId xmlns:a16="http://schemas.microsoft.com/office/drawing/2014/main" val="20000"/>
                    </a:ext>
                  </a:extLst>
                </a:gridCol>
                <a:gridCol w="1504950">
                  <a:extLst>
                    <a:ext uri="{9D8B030D-6E8A-4147-A177-3AD203B41FA5}">
                      <a16:colId xmlns:a16="http://schemas.microsoft.com/office/drawing/2014/main" val="624624882"/>
                    </a:ext>
                  </a:extLst>
                </a:gridCol>
                <a:gridCol w="2933700">
                  <a:extLst>
                    <a:ext uri="{9D8B030D-6E8A-4147-A177-3AD203B41FA5}">
                      <a16:colId xmlns:a16="http://schemas.microsoft.com/office/drawing/2014/main" val="20001"/>
                    </a:ext>
                  </a:extLst>
                </a:gridCol>
                <a:gridCol w="3091008">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입찰서조회</a:t>
                      </a:r>
                      <a:r>
                        <a:rPr lang="en-US" altLang="ko-KR" sz="800">
                          <a:latin typeface="+mn-ea"/>
                          <a:ea typeface="+mn-ea"/>
                        </a:rPr>
                        <a:t>, </a:t>
                      </a:r>
                      <a:r>
                        <a:rPr lang="ko-KR" altLang="en-US" sz="800">
                          <a:latin typeface="+mn-ea"/>
                          <a:ea typeface="+mn-ea"/>
                        </a:rPr>
                        <a:t>입찰서품목조회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7463526"/>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308018"/>
                  </a:ext>
                </a:extLst>
              </a:tr>
              <a:tr h="0">
                <a:tc>
                  <a:txBody>
                    <a:bodyPr/>
                    <a:lstStyle/>
                    <a:p>
                      <a:r>
                        <a:rPr lang="ko-KR" altLang="en-US" sz="800" dirty="0" err="1"/>
                        <a:t>투찰취소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입찰취소신청서작성</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UI-BD-06-P74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738773"/>
                  </a:ext>
                </a:extLst>
              </a:tr>
            </a:tbl>
          </a:graphicData>
        </a:graphic>
      </p:graphicFrame>
      <p:sp>
        <p:nvSpPr>
          <p:cNvPr id="5" name="Text Box 73">
            <a:extLst>
              <a:ext uri="{FF2B5EF4-FFF2-40B4-BE49-F238E27FC236}">
                <a16:creationId xmlns:a16="http://schemas.microsoft.com/office/drawing/2014/main" id="{FAEFD060-8A5E-317B-E449-391A17D23A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4522824"/>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t>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12027"/>
            </a:xfrm>
            <a:prstGeom prst="rect">
              <a:avLst/>
            </a:prstGeom>
            <a:noFill/>
          </p:spPr>
          <p:txBody>
            <a:bodyPr wrap="square" lIns="0" tIns="0" rIns="0" bIns="0" rtlCol="0">
              <a:spAutoFit/>
            </a:bodyPr>
            <a:lstStyle/>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29303405"/>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a:solidFill>
                  <a:prstClr val="black"/>
                </a:solidFill>
              </a:rPr>
              <a:t>1. </a:t>
            </a:r>
            <a:r>
              <a:rPr lang="ko-KR" altLang="en-US" sz="1000" b="1">
                <a:solidFill>
                  <a:prstClr val="black"/>
                </a:solidFill>
              </a:rPr>
              <a:t>항목 설명 </a:t>
            </a:r>
            <a:r>
              <a:rPr lang="en-US" altLang="ko-KR" sz="1000" b="1">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공고일반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9269149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273148"/>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8908815"/>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0541765"/>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D68F501D-B70F-F31D-D54D-85FA46FAA104}"/>
              </a:ext>
            </a:extLst>
          </p:cNvPr>
          <p:cNvSpPr txBox="1"/>
          <p:nvPr/>
        </p:nvSpPr>
        <p:spPr>
          <a:xfrm>
            <a:off x="458117" y="29643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AA5DB000-44F6-7049-9830-F1A341D4A9D1}"/>
              </a:ext>
            </a:extLst>
          </p:cNvPr>
          <p:cNvGraphicFramePr>
            <a:graphicFrameLocks noGrp="1"/>
          </p:cNvGraphicFramePr>
          <p:nvPr>
            <p:extLst/>
          </p:nvPr>
        </p:nvGraphicFramePr>
        <p:xfrm>
          <a:off x="452999" y="31755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3007547627"/>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4B4A1045-46F0-1D1D-A586-BF9C3203A725}"/>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9DF8E3FD-B4FB-473B-BCAD-C4534B9A9D97}" type="slidenum">
              <a:rPr lang="ko-KR" altLang="en-US" smtClean="0"/>
              <a:pPr/>
              <a:t>394</a:t>
            </a:fld>
            <a:endParaRPr lang="ko-KR" altLang="en-US" dirty="0"/>
          </a:p>
        </p:txBody>
      </p:sp>
      <p:sp>
        <p:nvSpPr>
          <p:cNvPr id="4" name="TextBox 3">
            <a:extLst>
              <a:ext uri="{FF2B5EF4-FFF2-40B4-BE49-F238E27FC236}">
                <a16:creationId xmlns:a16="http://schemas.microsoft.com/office/drawing/2014/main" id="{D08BF167-F639-9C0A-B763-78467E58807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r>
              <a:rPr lang="en-US" altLang="ko-KR" sz="1000" b="1" dirty="0">
                <a:solidFill>
                  <a:prstClr val="black"/>
                </a:solidFill>
              </a:rPr>
              <a:t>)</a:t>
            </a:r>
            <a:endParaRPr lang="ko-KR" altLang="en-US" sz="1000" b="1" dirty="0">
              <a:solidFill>
                <a:prstClr val="black"/>
              </a:solidFill>
            </a:endParaRPr>
          </a:p>
        </p:txBody>
      </p:sp>
      <p:sp>
        <p:nvSpPr>
          <p:cNvPr id="7" name="TextBox 6">
            <a:extLst>
              <a:ext uri="{FF2B5EF4-FFF2-40B4-BE49-F238E27FC236}">
                <a16:creationId xmlns:a16="http://schemas.microsoft.com/office/drawing/2014/main" id="{66917E2D-833E-D0F7-67A3-343B7671F0FE}"/>
              </a:ext>
            </a:extLst>
          </p:cNvPr>
          <p:cNvSpPr txBox="1"/>
          <p:nvPr/>
        </p:nvSpPr>
        <p:spPr>
          <a:xfrm>
            <a:off x="458117" y="80215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데이터 영역 </a:t>
            </a:r>
            <a:r>
              <a:rPr lang="en-US" altLang="ko-KR" sz="900" b="1">
                <a:solidFill>
                  <a:prstClr val="black"/>
                </a:solidFill>
              </a:rPr>
              <a:t>(dm_splyInfo)</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8F0E4BB-634F-0539-DE1E-BFF7239092F4}"/>
              </a:ext>
            </a:extLst>
          </p:cNvPr>
          <p:cNvGraphicFramePr>
            <a:graphicFrameLocks noGrp="1"/>
          </p:cNvGraphicFramePr>
          <p:nvPr>
            <p:extLst/>
          </p:nvPr>
        </p:nvGraphicFramePr>
        <p:xfrm>
          <a:off x="452999" y="1013360"/>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splyBzentyCd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9" name="Text Box 73">
            <a:extLst>
              <a:ext uri="{FF2B5EF4-FFF2-40B4-BE49-F238E27FC236}">
                <a16:creationId xmlns:a16="http://schemas.microsoft.com/office/drawing/2014/main" id="{FDB94FB0-A796-6CBE-A555-D05F8AA2C6E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32AEBDAA-6E52-BB67-E659-9DD24CB93629}"/>
              </a:ext>
            </a:extLst>
          </p:cNvPr>
          <p:cNvSpPr txBox="1"/>
          <p:nvPr/>
        </p:nvSpPr>
        <p:spPr>
          <a:xfrm>
            <a:off x="458117" y="3106439"/>
            <a:ext cx="2243169"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등록결과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1A9AC4A5-C661-7F31-B255-44DA50D2B0A4}"/>
              </a:ext>
            </a:extLst>
          </p:cNvPr>
          <p:cNvGraphicFramePr>
            <a:graphicFrameLocks noGrp="1"/>
          </p:cNvGraphicFramePr>
          <p:nvPr/>
        </p:nvGraphicFramePr>
        <p:xfrm>
          <a:off x="452999" y="331764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bl>
          </a:graphicData>
        </a:graphic>
      </p:graphicFrame>
    </p:spTree>
    <p:extLst>
      <p:ext uri="{BB962C8B-B14F-4D97-AF65-F5344CB8AC3E}">
        <p14:creationId xmlns:p14="http://schemas.microsoft.com/office/powerpoint/2010/main" val="922514060"/>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395</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716885037"/>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입찰취소신청서작성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79712"/>
            <a:chOff x="3791188" y="2611009"/>
            <a:chExt cx="2630093" cy="1179712"/>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취소 </a:t>
              </a:r>
              <a:r>
                <a:rPr lang="ko-KR" altLang="en-US" sz="700" dirty="0" err="1">
                  <a:latin typeface="+mn-ea"/>
                </a:rPr>
                <a:t>신청건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p>
            <a:p>
              <a:pPr>
                <a:lnSpc>
                  <a:spcPct val="200000"/>
                </a:lnSpc>
              </a:pPr>
              <a:r>
                <a:rPr lang="en-US" altLang="ko-KR" sz="700" dirty="0">
                  <a:solidFill>
                    <a:schemeClr val="tx1">
                      <a:lumMod val="85000"/>
                      <a:lumOff val="15000"/>
                    </a:schemeClr>
                  </a:solidFill>
                  <a:latin typeface="맑은 고딕" panose="020B0503020000020004" pitchFamily="50" charset="-127"/>
                  <a:cs typeface="Segoe UI" panose="020B0502040204020203" pitchFamily="34" charset="0"/>
                </a:rPr>
                <a:t>2A46MSB07</a:t>
              </a:r>
            </a:p>
            <a:p>
              <a:pPr>
                <a:lnSpc>
                  <a:spcPct val="200000"/>
                </a:lnSpc>
              </a:pPr>
              <a:r>
                <a:rPr lang="ko-KR" altLang="en-US" sz="700" dirty="0">
                  <a:solidFill>
                    <a:schemeClr val="tx1">
                      <a:lumMod val="85000"/>
                      <a:lumOff val="15000"/>
                    </a:schemeClr>
                  </a:solidFill>
                  <a:latin typeface="맑은 고딕" panose="020B0503020000020004" pitchFamily="50" charset="-127"/>
                  <a:cs typeface="Segoe UI" panose="020B0502040204020203" pitchFamily="34" charset="0"/>
                </a:rPr>
                <a:t>품명 표시</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53398"/>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28" name="그룹 127">
            <a:extLst>
              <a:ext uri="{FF2B5EF4-FFF2-40B4-BE49-F238E27FC236}">
                <a16:creationId xmlns:a16="http://schemas.microsoft.com/office/drawing/2014/main" id="{22BC05EE-C648-7CA2-4CCC-6E1C1A7E9BDA}"/>
              </a:ext>
            </a:extLst>
          </p:cNvPr>
          <p:cNvGrpSpPr/>
          <p:nvPr/>
        </p:nvGrpSpPr>
        <p:grpSpPr>
          <a:xfrm>
            <a:off x="5113316" y="3786104"/>
            <a:ext cx="76863" cy="292489"/>
            <a:chOff x="3750067" y="4683795"/>
            <a:chExt cx="76863" cy="292489"/>
          </a:xfrm>
        </p:grpSpPr>
        <p:sp>
          <p:nvSpPr>
            <p:cNvPr id="129" name="타원 12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296764753"/>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2999" y="576522"/>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490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3727826"/>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4561915"/>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60973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6966361"/>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8688069"/>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0879488"/>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94243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202406"/>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101673"/>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8711047"/>
                  </a:ext>
                </a:extLst>
              </a:tr>
              <a:tr h="0">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4994190"/>
                  </a:ext>
                </a:extLst>
              </a:tr>
              <a:tr h="0">
                <a:tc>
                  <a:txBody>
                    <a:bodyPr/>
                    <a:lstStyle/>
                    <a:p>
                      <a:pPr algn="l" fontAlgn="ctr"/>
                      <a:r>
                        <a:rPr lang="ko-KR" altLang="en-US" sz="800" b="0" i="0" u="none" strike="noStrike">
                          <a:solidFill>
                            <a:srgbClr val="000000"/>
                          </a:solidFill>
                          <a:effectLst/>
                          <a:latin typeface="+mn-ea"/>
                          <a:ea typeface="+mn-ea"/>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104340"/>
                  </a:ext>
                </a:extLst>
              </a:tr>
              <a:tr h="0">
                <a:tc>
                  <a:txBody>
                    <a:bodyPr/>
                    <a:lstStyle/>
                    <a:p>
                      <a:pPr algn="l" fontAlgn="ctr"/>
                      <a:r>
                        <a:rPr lang="ko-KR" altLang="en-US" sz="800" b="0" i="0" u="none" strike="noStrike">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931638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176376"/>
                  </a:ext>
                </a:extLst>
              </a:tr>
              <a:tr h="0">
                <a:tc>
                  <a:txBody>
                    <a:bodyPr/>
                    <a:lstStyle/>
                    <a:p>
                      <a:pPr algn="l" fontAlgn="ctr"/>
                      <a:r>
                        <a:rPr lang="ko-KR" altLang="en-US" sz="800" b="0" i="0" u="none" strike="noStrike" dirty="0">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0BBC3CC-4D13-297D-D7EA-92D6015D35F4}"/>
              </a:ext>
            </a:extLst>
          </p:cNvPr>
          <p:cNvSpPr txBox="1"/>
          <p:nvPr/>
        </p:nvSpPr>
        <p:spPr>
          <a:xfrm>
            <a:off x="458117" y="5393770"/>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EA2A2B-59C1-89BB-53C6-2191652642C5}"/>
              </a:ext>
            </a:extLst>
          </p:cNvPr>
          <p:cNvGraphicFramePr>
            <a:graphicFrameLocks noGrp="1"/>
          </p:cNvGraphicFramePr>
          <p:nvPr/>
        </p:nvGraphicFramePr>
        <p:xfrm>
          <a:off x="452999" y="560497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4" name="Text Box 73">
            <a:extLst>
              <a:ext uri="{FF2B5EF4-FFF2-40B4-BE49-F238E27FC236}">
                <a16:creationId xmlns:a16="http://schemas.microsoft.com/office/drawing/2014/main" id="{11211737-99CA-DABB-C3A8-C6A77F61DD2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79725974"/>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5204"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신청업체</a:t>
                      </a:r>
                      <a:r>
                        <a:rPr lang="en-US" altLang="ko-KR" sz="800">
                          <a:latin typeface="+mn-ea"/>
                          <a:ea typeface="+mn-ea"/>
                        </a:rPr>
                        <a:t>, </a:t>
                      </a:r>
                      <a:r>
                        <a:rPr lang="ko-KR" altLang="en-US" sz="800">
                          <a:latin typeface="+mn-ea"/>
                          <a:ea typeface="+mn-ea"/>
                        </a:rPr>
                        <a:t>입찰업체 정보 표시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a:latin typeface="+mn-ea"/>
                          <a:ea typeface="+mn-ea"/>
                        </a:rPr>
                        <a:t>투찰취소신청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bl>
          </a:graphicData>
        </a:graphic>
      </p:graphicFrame>
      <p:sp>
        <p:nvSpPr>
          <p:cNvPr id="2" name="Text Box 73">
            <a:extLst>
              <a:ext uri="{FF2B5EF4-FFF2-40B4-BE49-F238E27FC236}">
                <a16:creationId xmlns:a16="http://schemas.microsoft.com/office/drawing/2014/main" id="{0DA3C2B3-73A2-F5C6-1A06-468BBD1823C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01094299"/>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MUI-BD-07-P71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참여 </a:t>
              </a:r>
              <a:r>
                <a:rPr lang="ko-KR" altLang="en-US" sz="700" dirty="0" err="1">
                  <a:latin typeface="+mn-ea"/>
                </a:rPr>
                <a:t>품목수</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기술평과결과</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건</a:t>
              </a:r>
              <a:endParaRPr lang="en-US" altLang="ko-KR" sz="700" dirty="0">
                <a:latin typeface="+mn-ea"/>
              </a:endParaRP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abcde@abc.com</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2" name="그룹 81"/>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5" name="직사각형 8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561060288"/>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dm_bscPbancInfo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6684623"/>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1099610"/>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0256742"/>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571596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8577761"/>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8447953"/>
                  </a:ext>
                </a:extLst>
              </a:tr>
            </a:tbl>
          </a:graphicData>
        </a:graphic>
      </p:graphicFrame>
      <p:sp>
        <p:nvSpPr>
          <p:cNvPr id="2" name="TextBox 1">
            <a:extLst>
              <a:ext uri="{FF2B5EF4-FFF2-40B4-BE49-F238E27FC236}">
                <a16:creationId xmlns:a16="http://schemas.microsoft.com/office/drawing/2014/main" id="{DAD16FEC-7D25-9461-A9BD-1D17ABA59B5C}"/>
              </a:ext>
            </a:extLst>
          </p:cNvPr>
          <p:cNvSpPr txBox="1"/>
          <p:nvPr/>
        </p:nvSpPr>
        <p:spPr>
          <a:xfrm>
            <a:off x="458117" y="3355907"/>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85CE7719-1ECA-40F2-D468-F0E6FA62F8E9}"/>
              </a:ext>
            </a:extLst>
          </p:cNvPr>
          <p:cNvGraphicFramePr>
            <a:graphicFrameLocks noGrp="1"/>
          </p:cNvGraphicFramePr>
          <p:nvPr>
            <p:extLst/>
          </p:nvPr>
        </p:nvGraphicFramePr>
        <p:xfrm>
          <a:off x="452999" y="3567110"/>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173457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6391048"/>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715961"/>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2583604"/>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F3173C2B-B636-75FC-7909-6BC1D7479EC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125370"/>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3717763"/>
            <a:ext cx="2235155"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dirty="0">
                <a:solidFill>
                  <a:prstClr val="black"/>
                </a:solidFill>
              </a:rPr>
              <a:t>평가결과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392896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참여품목수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입찰참가신청한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2454789"/>
                  </a:ext>
                </a:extLst>
              </a:tr>
              <a:tr h="0">
                <a:tc>
                  <a:txBody>
                    <a:bodyPr/>
                    <a:lstStyle/>
                    <a:p>
                      <a:pPr algn="l" fontAlgn="ctr"/>
                      <a:r>
                        <a:rPr lang="ko-KR" altLang="en-US" sz="800" b="0" i="0" u="none" strike="noStrike" dirty="0">
                          <a:solidFill>
                            <a:srgbClr val="000000"/>
                          </a:solidFill>
                          <a:effectLst/>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techEvlRslt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 Box 73">
            <a:extLst>
              <a:ext uri="{FF2B5EF4-FFF2-40B4-BE49-F238E27FC236}">
                <a16:creationId xmlns:a16="http://schemas.microsoft.com/office/drawing/2014/main" id="{4E7D816A-5161-B4E7-F1FB-2E40D8BBD40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3A1B9097-B564-E1C7-F98C-30B008D9CD82}"/>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E650B0E-C631-3C6F-9BFA-F4D2987B1B88}"/>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1643680702"/>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6C72FC8-5D61-438A-12CC-220C9991D1B5}"/>
              </a:ext>
            </a:extLst>
          </p:cNvPr>
          <p:cNvSpPr>
            <a:spLocks noGrp="1"/>
          </p:cNvSpPr>
          <p:nvPr>
            <p:ph type="sldNum" sz="quarter" idx="4"/>
          </p:nvPr>
        </p:nvSpPr>
        <p:spPr/>
        <p:txBody>
          <a:bodyPr/>
          <a:lstStyle/>
          <a:p>
            <a:fld id="{34C8E023-7346-48FC-AB24-9A3388C53208}" type="slidenum">
              <a:rPr lang="ko-KR" altLang="en-US" smtClean="0"/>
              <a:pPr/>
              <a:t>402</a:t>
            </a:fld>
            <a:endParaRPr lang="ko-KR" altLang="en-US" dirty="0"/>
          </a:p>
        </p:txBody>
      </p:sp>
      <p:sp>
        <p:nvSpPr>
          <p:cNvPr id="3" name="TextBox 2">
            <a:extLst>
              <a:ext uri="{FF2B5EF4-FFF2-40B4-BE49-F238E27FC236}">
                <a16:creationId xmlns:a16="http://schemas.microsoft.com/office/drawing/2014/main" id="{D38B8307-DF34-E6D2-E525-929008B1F8E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3041B98-E042-1BC8-2EC5-CC5BF413D70F}"/>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 정보 </a:t>
                      </a:r>
                      <a:r>
                        <a:rPr lang="ko-KR" altLang="en-US" sz="800">
                          <a:latin typeface="+mn-ea"/>
                          <a:ea typeface="+mn-ea"/>
                        </a:rPr>
                        <a:t>및 평가결과 </a:t>
                      </a:r>
                      <a:r>
                        <a:rPr lang="ko-KR" altLang="en-US" sz="800" dirty="0">
                          <a:latin typeface="+mn-ea"/>
                          <a:ea typeface="+mn-ea"/>
                        </a:rPr>
                        <a:t>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5725" indent="-85725" algn="l" latinLnBrk="1">
                        <a:buFont typeface="Arial" panose="020B0604020202020204" pitchFamily="34" charset="0"/>
                        <a:buChar char="•"/>
                      </a:pPr>
                      <a:r>
                        <a:rPr lang="ko-KR" altLang="en-US" sz="800" dirty="0">
                          <a:latin typeface="+mn-ea"/>
                          <a:ea typeface="+mn-ea"/>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D59FFB1E-0D9D-A528-F9CA-6F306A5316A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00558082"/>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403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a:t>
            </a:r>
            <a:r>
              <a:rPr lang="en-US" altLang="ko-KR" dirty="0" smtClean="0"/>
              <a:t>1/3)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942531115"/>
              </p:ext>
            </p:extLst>
          </p:nvPr>
        </p:nvGraphicFramePr>
        <p:xfrm>
          <a:off x="635474" y="1413419"/>
          <a:ext cx="8701200" cy="43795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50" kern="1200" dirty="0">
                          <a:solidFill>
                            <a:schemeClr val="tx1"/>
                          </a:solidFill>
                          <a:latin typeface="+mn-lt"/>
                          <a:ea typeface="+mn-ea"/>
                          <a:cs typeface="+mn-cs"/>
                        </a:rPr>
                        <a:t>MUI-BD-08-M01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lt"/>
                          <a:ea typeface="+mn-ea"/>
                        </a:rPr>
                        <a:t>개찰목록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rPr>
                        <a:t>BdopnListPage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lt"/>
                          <a:ea typeface="+mn-ea"/>
                        </a:rPr>
                        <a:t>개찰 목록 조회 화면</a:t>
                      </a:r>
                      <a:endParaRPr lang="en-US" altLang="ko-KR" sz="800" dirty="0">
                        <a:latin typeface="+mn-lt"/>
                        <a:ea typeface="+mn-ea"/>
                      </a:endParaRPr>
                    </a:p>
                    <a:p>
                      <a:pPr algn="l" latinLnBrk="1"/>
                      <a:r>
                        <a:rPr lang="ko-KR" altLang="en-US" sz="800" dirty="0">
                          <a:latin typeface="+mn-lt"/>
                          <a:ea typeface="+mn-ea"/>
                        </a:rPr>
                        <a:t>국내 화면과 동일함</a:t>
                      </a:r>
                      <a:r>
                        <a:rPr lang="en-US" altLang="ko-KR" sz="800" dirty="0">
                          <a:latin typeface="+mn-lt"/>
                          <a:ea typeface="+mn-ea"/>
                        </a:rPr>
                        <a:t>.</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rPr>
                        <a:t>bdopnList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BdopnListPage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lt"/>
                          <a:ea typeface="+mn-ea"/>
                        </a:rPr>
                        <a:t>UC-BD-10-01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UC-BD-11-02</a:t>
                      </a:r>
                    </a:p>
                    <a:p>
                      <a:pPr algn="l" latinLnBrk="1">
                        <a:defRPr/>
                      </a:pPr>
                      <a:r>
                        <a:rPr lang="en-US" altLang="ko-KR" sz="800" dirty="0">
                          <a:latin typeface="+mn-lt"/>
                          <a:ea typeface="+mn-ea"/>
                        </a:rPr>
                        <a:t>UC-BD-12-01</a:t>
                      </a:r>
                    </a:p>
                    <a:p>
                      <a:pPr algn="l" latinLnBrk="1">
                        <a:defRPr/>
                      </a:pPr>
                      <a:r>
                        <a:rPr lang="en-US" altLang="ko-KR" sz="800" dirty="0">
                          <a:latin typeface="+mn-lt"/>
                          <a:ea typeface="+mn-ea"/>
                        </a:rPr>
                        <a:t>UC-BD-12-02</a:t>
                      </a:r>
                    </a:p>
                    <a:p>
                      <a:pPr algn="l" latinLnBrk="1">
                        <a:defRPr/>
                      </a:pPr>
                      <a:r>
                        <a:rPr lang="en-US" altLang="ko-KR" sz="800" dirty="0">
                          <a:latin typeface="+mn-lt"/>
                          <a:ea typeface="+mn-ea"/>
                        </a:rPr>
                        <a:t>UC-BD-13-01</a:t>
                      </a:r>
                    </a:p>
                    <a:p>
                      <a:pPr algn="l" latinLnBrk="1">
                        <a:defRPr/>
                      </a:pPr>
                      <a:r>
                        <a:rPr lang="en-US" altLang="ko-KR" sz="800" dirty="0">
                          <a:latin typeface="+mn-lt"/>
                          <a:ea typeface="+mn-ea"/>
                        </a:rPr>
                        <a:t>UC-BD-14-01</a:t>
                      </a:r>
                    </a:p>
                    <a:p>
                      <a:pPr algn="l" latinLnBrk="1">
                        <a:defRPr/>
                      </a:pPr>
                      <a:r>
                        <a:rPr lang="en-US" altLang="ko-KR" sz="800" dirty="0">
                          <a:latin typeface="+mn-lt"/>
                          <a:ea typeface="+mn-ea"/>
                        </a:rPr>
                        <a:t>UC-BD-14-02</a:t>
                      </a:r>
                    </a:p>
                    <a:p>
                      <a:pPr algn="l" latinLnBrk="1">
                        <a:defRPr/>
                      </a:pPr>
                      <a:r>
                        <a:rPr lang="en-US" altLang="ko-KR" sz="800" dirty="0">
                          <a:latin typeface="+mn-lt"/>
                          <a:ea typeface="+mn-ea"/>
                        </a:rPr>
                        <a:t>UC-BD-15-01</a:t>
                      </a:r>
                    </a:p>
                    <a:p>
                      <a:pPr algn="l" latinLnBrk="1">
                        <a:defRPr/>
                      </a:pPr>
                      <a:r>
                        <a:rPr lang="en-US" altLang="ko-KR" sz="800" dirty="0">
                          <a:latin typeface="+mn-lt"/>
                          <a:ea typeface="+mn-ea"/>
                        </a:rPr>
                        <a:t>UC-BD-15-02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MUI-BD-09-M71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입찰결과상세</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ovsBidRsltDtlPage</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공고의 입찰결과를 조회하는 화면</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ovsBidRsltDtl</a:t>
                      </a:r>
                      <a:r>
                        <a:rPr lang="en-US" altLang="ko-KR" sz="800" b="0" i="0" u="none" strike="noStrike" dirty="0" smtClean="0">
                          <a:solidFill>
                            <a:schemeClr val="tx1"/>
                          </a:solidFill>
                          <a:effectLst/>
                          <a:latin typeface="+mn-lt"/>
                          <a:ea typeface="+mn-ea"/>
                        </a:rPr>
                        <a:t>/</a:t>
                      </a:r>
                      <a:r>
                        <a:rPr lang="en-US" altLang="ko-KR" sz="800" dirty="0" err="1" smtClean="0">
                          <a:solidFill>
                            <a:schemeClr val="tx1"/>
                          </a:solidFill>
                          <a:latin typeface="+mn-lt"/>
                          <a:ea typeface="+mn-ea"/>
                        </a:rPr>
                        <a:t>ovsBidRsltDtlPage.tsx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UC-BD-13-01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3335985"/>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MUI-BD-09-T71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ovsBidRsltDtl1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공고의 입찰결과를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ovsBidRsltDtl</a:t>
                      </a:r>
                      <a:r>
                        <a:rPr lang="en-US" altLang="ko-KR" sz="800" b="0" i="0" u="none" strike="noStrike" dirty="0" smtClean="0">
                          <a:solidFill>
                            <a:schemeClr val="tx1"/>
                          </a:solidFill>
                          <a:effectLst/>
                          <a:latin typeface="+mn-lt"/>
                          <a:ea typeface="+mn-ea"/>
                        </a:rPr>
                        <a:t>/</a:t>
                      </a:r>
                      <a:r>
                        <a:rPr lang="en-US" altLang="ko-KR" sz="800" b="0" i="0" u="none" strike="noStrike" dirty="0" smtClean="0">
                          <a:solidFill>
                            <a:srgbClr val="000000"/>
                          </a:solidFill>
                          <a:effectLst/>
                          <a:latin typeface="+mn-lt"/>
                          <a:ea typeface="+mn-ea"/>
                        </a:rPr>
                        <a:t>ovsBidRsltDtl1</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UC-BD-13-01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MUI-BD-09-T72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입찰결과</a:t>
                      </a:r>
                      <a:r>
                        <a:rPr lang="en-US" altLang="ko-KR" sz="800" b="0" i="0" u="none" strike="noStrike">
                          <a:solidFill>
                            <a:srgbClr val="000000"/>
                          </a:solidFill>
                          <a:effectLst/>
                          <a:latin typeface="+mn-lt"/>
                          <a:ea typeface="맑은 고딕" panose="020B0503020000020004" pitchFamily="50" charset="-127"/>
                        </a:rPr>
                        <a:t>(</a:t>
                      </a:r>
                      <a:r>
                        <a:rPr lang="ko-KR" altLang="en-US" sz="800" b="0" i="0" u="none" strike="noStrike">
                          <a:solidFill>
                            <a:srgbClr val="000000"/>
                          </a:solidFill>
                          <a:effectLst/>
                          <a:latin typeface="+mn-lt"/>
                          <a:ea typeface="맑은 고딕" panose="020B0503020000020004" pitchFamily="50" charset="-127"/>
                        </a:rPr>
                        <a:t>단가제</a:t>
                      </a:r>
                      <a:r>
                        <a:rPr lang="en-US" altLang="ko-KR" sz="800" b="0" i="0" u="none" strike="noStrike">
                          <a:solidFill>
                            <a:srgbClr val="000000"/>
                          </a:solidFill>
                          <a:effectLst/>
                          <a:latin typeface="+mn-lt"/>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ovsBidRsltDtl2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공고의 입찰결과를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ovsBidRsltDtl</a:t>
                      </a:r>
                      <a:r>
                        <a:rPr lang="en-US" altLang="ko-KR" sz="800" b="0" i="0" u="none" strike="noStrike" dirty="0">
                          <a:solidFill>
                            <a:schemeClr val="tx1"/>
                          </a:solidFill>
                          <a:effectLst/>
                          <a:latin typeface="+mn-lt"/>
                          <a:ea typeface="+mn-ea"/>
                        </a:rPr>
                        <a:t>/OvsBidRsltDtl2</a:t>
                      </a:r>
                      <a:r>
                        <a:rPr lang="en-US" altLang="ko-KR" sz="800" dirty="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UC-BD-13-01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MUI-BD-09-T73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입찰결과</a:t>
                      </a:r>
                      <a:r>
                        <a:rPr lang="en-US" altLang="ko-KR" sz="800" b="0" i="0" u="none" strike="noStrike">
                          <a:solidFill>
                            <a:srgbClr val="000000"/>
                          </a:solidFill>
                          <a:effectLst/>
                          <a:latin typeface="+mn-lt"/>
                          <a:ea typeface="맑은 고딕" panose="020B0503020000020004" pitchFamily="50" charset="-127"/>
                        </a:rPr>
                        <a:t>(</a:t>
                      </a:r>
                      <a:r>
                        <a:rPr lang="ko-KR" altLang="en-US" sz="800" b="0" i="0" u="none" strike="noStrike">
                          <a:solidFill>
                            <a:srgbClr val="000000"/>
                          </a:solidFill>
                          <a:effectLst/>
                          <a:latin typeface="+mn-lt"/>
                          <a:ea typeface="맑은 고딕" panose="020B0503020000020004" pitchFamily="50" charset="-127"/>
                        </a:rPr>
                        <a:t>총액제</a:t>
                      </a:r>
                      <a:r>
                        <a:rPr lang="en-US" altLang="ko-KR" sz="800" b="0" i="0" u="none" strike="noStrike">
                          <a:solidFill>
                            <a:srgbClr val="000000"/>
                          </a:solidFill>
                          <a:effectLst/>
                          <a:latin typeface="+mn-lt"/>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ovsBidRsltDtl3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공고의 입찰결과를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ovsBidRsltDtl</a:t>
                      </a:r>
                      <a:r>
                        <a:rPr lang="en-US" altLang="ko-KR" sz="800" b="0" i="0" u="none" strike="noStrike" dirty="0">
                          <a:solidFill>
                            <a:schemeClr val="tx1"/>
                          </a:solidFill>
                          <a:effectLst/>
                          <a:latin typeface="+mn-lt"/>
                          <a:ea typeface="+mn-ea"/>
                        </a:rPr>
                        <a:t>/OvsBidRsltDtl3</a:t>
                      </a:r>
                      <a:r>
                        <a:rPr lang="en-US" altLang="ko-KR" sz="800" dirty="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UC-BD-13-01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공개수의협상계획상세</a:t>
                      </a:r>
                      <a:endParaRPr lang="ko-KR" alt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ovsRlsVltrnsNgtnPlanDtl</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공개수의협상 상세정보를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kern="1200" dirty="0" err="1">
                          <a:solidFill>
                            <a:schemeClr val="tx1"/>
                          </a:solidFill>
                          <a:effectLst/>
                          <a:latin typeface="+mn-lt"/>
                          <a:ea typeface="+mn-ea"/>
                          <a:cs typeface="+mn-cs"/>
                        </a:rPr>
                        <a:t>ovsRlsVltrnsNgtnPlanDtl</a:t>
                      </a:r>
                      <a:r>
                        <a:rPr lang="en-US" altLang="ko-KR" sz="800" b="0" i="0" u="none" strike="noStrike" kern="1200" dirty="0">
                          <a:solidFill>
                            <a:schemeClr val="tx1"/>
                          </a:solidFill>
                          <a:effectLst/>
                          <a:latin typeface="+mn-lt"/>
                          <a:ea typeface="+mn-ea"/>
                          <a:cs typeface="+mn-cs"/>
                        </a:rPr>
                        <a:t>/</a:t>
                      </a:r>
                      <a:r>
                        <a:rPr lang="en-US" altLang="ko-KR" sz="800" b="0" i="0" u="none" strike="noStrike" kern="1200" dirty="0" err="1">
                          <a:solidFill>
                            <a:schemeClr val="tx1"/>
                          </a:solidFill>
                          <a:effectLst/>
                          <a:latin typeface="+mn-lt"/>
                          <a:ea typeface="+mn-ea"/>
                          <a:cs typeface="+mn-cs"/>
                        </a:rPr>
                        <a:t>OvsRlsVltrnsNgtnPlanDtlPage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2603775"/>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ovsRlsVltrnsNgtnPlanDtl1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chemeClr val="tx1"/>
                          </a:solidFill>
                          <a:effectLst/>
                          <a:latin typeface="+mn-lt"/>
                          <a:ea typeface="+mn-ea"/>
                          <a:cs typeface="+mn-cs"/>
                        </a:rPr>
                        <a:t>ovsRlsVltrnsNgtnPlanDtl</a:t>
                      </a:r>
                      <a:r>
                        <a:rPr lang="en-US" altLang="ko-KR" sz="800" b="0" i="0" u="none" strike="noStrike" kern="1200" dirty="0" smtClean="0">
                          <a:solidFill>
                            <a:schemeClr val="tx1"/>
                          </a:solidFill>
                          <a:effectLst/>
                          <a:latin typeface="+mn-lt"/>
                          <a:ea typeface="+mn-ea"/>
                          <a:cs typeface="+mn-cs"/>
                        </a:rPr>
                        <a:t>/OvsRlsVltrnsNgtnPlanDtl1</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970412"/>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품목정보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ovsRlsVltrnsNgtnPlanDtl2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공개수의협상 상세정보를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kern="1200" dirty="0" err="1">
                          <a:solidFill>
                            <a:schemeClr val="tx1"/>
                          </a:solidFill>
                          <a:effectLst/>
                          <a:latin typeface="+mn-lt"/>
                          <a:ea typeface="+mn-ea"/>
                          <a:cs typeface="+mn-cs"/>
                        </a:rPr>
                        <a:t>ovsRlsVltrnsNgtnPlanDtl</a:t>
                      </a:r>
                      <a:r>
                        <a:rPr lang="en-US" altLang="ko-KR" sz="800" b="0" i="0" u="none" strike="noStrike" kern="1200" dirty="0">
                          <a:solidFill>
                            <a:schemeClr val="tx1"/>
                          </a:solidFill>
                          <a:effectLst/>
                          <a:latin typeface="+mn-lt"/>
                          <a:ea typeface="+mn-ea"/>
                          <a:cs typeface="+mn-cs"/>
                        </a:rPr>
                        <a:t>/OvsRlsVltrnsNgtnPlanDtl2</a:t>
                      </a:r>
                      <a:r>
                        <a:rPr lang="en-US" altLang="ko-KR" sz="800" dirty="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960235"/>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MUI-BD-12-T73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첨부서류</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ovsRlsVltrnsNgtnPlanDtl3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kern="1200" dirty="0" err="1">
                          <a:solidFill>
                            <a:schemeClr val="tx1"/>
                          </a:solidFill>
                          <a:effectLst/>
                          <a:latin typeface="+mn-lt"/>
                          <a:ea typeface="+mn-ea"/>
                          <a:cs typeface="+mn-cs"/>
                        </a:rPr>
                        <a:t>ovsRlsVltrnsNgtnPlanDtl</a:t>
                      </a:r>
                      <a:r>
                        <a:rPr lang="en-US" altLang="ko-KR" sz="800" b="0" i="0" u="none" strike="noStrike" kern="1200" dirty="0">
                          <a:solidFill>
                            <a:schemeClr val="tx1"/>
                          </a:solidFill>
                          <a:effectLst/>
                          <a:latin typeface="+mn-lt"/>
                          <a:ea typeface="+mn-ea"/>
                          <a:cs typeface="+mn-cs"/>
                        </a:rPr>
                        <a:t>/OvsRlsVltrnsNgtnPlanDtl3</a:t>
                      </a:r>
                      <a:r>
                        <a:rPr lang="en-US" altLang="ko-KR" sz="800" dirty="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UC-BD-01-02</a:t>
                      </a:r>
                      <a:b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b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UC-BD-12-01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4115334"/>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80819300"/>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404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a:t>
            </a:r>
            <a:r>
              <a:rPr lang="en-US" altLang="ko-KR" dirty="0" smtClean="0"/>
              <a:t>2/3)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083981327"/>
              </p:ext>
            </p:extLst>
          </p:nvPr>
        </p:nvGraphicFramePr>
        <p:xfrm>
          <a:off x="635474" y="1413419"/>
          <a:ext cx="8701200" cy="4573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MUI-BD-12-M74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공개수의협상견적서제출</a:t>
                      </a:r>
                      <a:endParaRPr lang="ko-KR" alt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ovsRlsVltrnsNgtnEtdcSbmsnPage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공개수의협상 견적서를 제출하는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chemeClr val="tx1"/>
                          </a:solidFill>
                          <a:effectLst/>
                          <a:latin typeface="+mn-lt"/>
                          <a:ea typeface="+mn-ea"/>
                          <a:cs typeface="+mn-cs"/>
                        </a:rPr>
                        <a:t>ovsRlsVltrnsNgtnEtdcSbmsnPage</a:t>
                      </a:r>
                      <a:r>
                        <a:rPr lang="en-US" altLang="ko-KR" sz="800" b="0" i="0" u="none" strike="noStrike" kern="1200" dirty="0" smtClean="0">
                          <a:solidFill>
                            <a:schemeClr val="tx1"/>
                          </a:solidFill>
                          <a:effectLst/>
                          <a:latin typeface="+mn-lt"/>
                          <a:ea typeface="+mn-ea"/>
                          <a:cs typeface="+mn-cs"/>
                        </a:rPr>
                        <a:t>/</a:t>
                      </a:r>
                      <a:r>
                        <a:rPr lang="en-US" altLang="ko-KR" sz="800" b="0" i="0" u="none" strike="noStrike" dirty="0" err="1" smtClean="0">
                          <a:solidFill>
                            <a:srgbClr val="000000"/>
                          </a:solidFill>
                          <a:effectLst/>
                          <a:latin typeface="+mn-lt"/>
                          <a:ea typeface="+mn-ea"/>
                        </a:rPr>
                        <a:t>ovsRlsVltrnsNgtnEtdcSbmsnPage.tsx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smtClean="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6739173"/>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스탭</a:t>
                      </a:r>
                      <a:r>
                        <a:rPr lang="en-US" altLang="ko-KR" sz="800" b="0" i="0" u="none" strike="noStrike">
                          <a:solidFill>
                            <a:srgbClr val="000000"/>
                          </a:solidFill>
                          <a:effectLst/>
                          <a:latin typeface="+mn-lt"/>
                          <a:ea typeface="맑은 고딕" panose="020B0503020000020004" pitchFamily="50" charset="-127"/>
                        </a:rPr>
                        <a:t>1-</a:t>
                      </a:r>
                      <a:r>
                        <a:rPr lang="ko-KR" altLang="en-US" sz="800" b="0" i="0" u="none" strike="noStrike">
                          <a:solidFill>
                            <a:srgbClr val="000000"/>
                          </a:solidFill>
                          <a:effectLst/>
                          <a:latin typeface="+mn-lt"/>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ovsRlsVltrnsNgtnEtdcSbmsn1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공개수의협상 견적서를 제출하는 화면</a:t>
                      </a:r>
                      <a:endParaRPr kumimoji="0" lang="ko-KR" altLang="en-US" sz="800" b="0" i="0" u="none" strike="noStrike" kern="1200" cap="none" spc="0" normalizeH="0" baseline="0" noProof="0" dirty="0" smtClean="0">
                        <a:ln>
                          <a:noFill/>
                        </a:ln>
                        <a:solidFill>
                          <a:srgbClr val="000000"/>
                        </a:solidFill>
                        <a:effectLst/>
                        <a:uLnTx/>
                        <a:uFillTx/>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chemeClr val="tx1"/>
                          </a:solidFill>
                          <a:effectLst/>
                          <a:latin typeface="+mn-lt"/>
                          <a:ea typeface="+mn-ea"/>
                          <a:cs typeface="+mn-cs"/>
                        </a:rPr>
                        <a:t>ovsRlsVltrnsNgtnEtdcSbmsnPage</a:t>
                      </a:r>
                      <a:r>
                        <a:rPr lang="en-US" altLang="ko-KR" sz="800" b="0" i="0" u="none" strike="noStrike" kern="1200" dirty="0" smtClean="0">
                          <a:solidFill>
                            <a:schemeClr val="tx1"/>
                          </a:solidFill>
                          <a:effectLst/>
                          <a:latin typeface="+mn-lt"/>
                          <a:ea typeface="+mn-ea"/>
                          <a:cs typeface="+mn-cs"/>
                        </a:rPr>
                        <a:t>/</a:t>
                      </a:r>
                      <a:r>
                        <a:rPr lang="en-US" altLang="ko-KR" sz="800" b="0" i="0" u="none" strike="noStrike" dirty="0" smtClean="0">
                          <a:solidFill>
                            <a:srgbClr val="000000"/>
                          </a:solidFill>
                          <a:effectLst/>
                          <a:latin typeface="+mn-lt"/>
                          <a:ea typeface="+mn-ea"/>
                        </a:rPr>
                        <a:t>ovsRlsVltrnsNgtnEtdcSbmsn1.tsx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smtClean="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609364"/>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2-</a:t>
                      </a:r>
                      <a:r>
                        <a:rPr lang="ko-KR" altLang="en-US" sz="800" b="0" i="0" u="none" strike="noStrike" dirty="0">
                          <a:solidFill>
                            <a:srgbClr val="000000"/>
                          </a:solidFill>
                          <a:effectLst/>
                          <a:latin typeface="+mn-lt"/>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ovsRlsVltrnsNgtnEtdcSbmsn2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공개수의협상 견적서를 제출하는 화면</a:t>
                      </a: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chemeClr val="tx1"/>
                          </a:solidFill>
                          <a:effectLst/>
                          <a:latin typeface="+mn-lt"/>
                          <a:ea typeface="+mn-ea"/>
                          <a:cs typeface="+mn-cs"/>
                        </a:rPr>
                        <a:t>ovsRlsVltrnsNgtnEtdcSbmsnPage</a:t>
                      </a:r>
                      <a:r>
                        <a:rPr lang="en-US" altLang="ko-KR" sz="800" b="0" i="0" u="none" strike="noStrike" kern="1200" dirty="0" smtClean="0">
                          <a:solidFill>
                            <a:schemeClr val="tx1"/>
                          </a:solidFill>
                          <a:effectLst/>
                          <a:latin typeface="+mn-lt"/>
                          <a:ea typeface="+mn-ea"/>
                          <a:cs typeface="+mn-cs"/>
                        </a:rPr>
                        <a:t>/OvsRlsVltrnsNgtnEtdcSbmsn2.</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5677601"/>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스탭</a:t>
                      </a:r>
                      <a:r>
                        <a:rPr lang="en-US" altLang="ko-KR" sz="800" b="0" i="0" u="none" strike="noStrike">
                          <a:solidFill>
                            <a:srgbClr val="000000"/>
                          </a:solidFill>
                          <a:effectLst/>
                          <a:latin typeface="+mn-lt"/>
                          <a:ea typeface="맑은 고딕" panose="020B0503020000020004" pitchFamily="50" charset="-127"/>
                        </a:rPr>
                        <a:t>3-</a:t>
                      </a:r>
                      <a:r>
                        <a:rPr lang="ko-KR" altLang="en-US" sz="800" b="0" i="0" u="none" strike="noStrike">
                          <a:solidFill>
                            <a:srgbClr val="000000"/>
                          </a:solidFill>
                          <a:effectLst/>
                          <a:latin typeface="+mn-lt"/>
                          <a:ea typeface="맑은 고딕" panose="020B0503020000020004" pitchFamily="50" charset="-127"/>
                        </a:rPr>
                        <a:t>입찰품목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ovsRlsVltrnsNgtnEtdcSbmsn3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공개수의협상 견적서를 제출하는 화면</a:t>
                      </a: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chemeClr val="tx1"/>
                          </a:solidFill>
                          <a:effectLst/>
                          <a:latin typeface="+mn-lt"/>
                          <a:ea typeface="+mn-ea"/>
                          <a:cs typeface="+mn-cs"/>
                        </a:rPr>
                        <a:t>ovsRlsVltrnsNgtnEtdcSbmsnPage</a:t>
                      </a:r>
                      <a:r>
                        <a:rPr lang="en-US" altLang="ko-KR" sz="800" b="0" i="0" u="none" strike="noStrike" kern="1200" dirty="0" smtClean="0">
                          <a:solidFill>
                            <a:schemeClr val="tx1"/>
                          </a:solidFill>
                          <a:effectLst/>
                          <a:latin typeface="+mn-lt"/>
                          <a:ea typeface="+mn-ea"/>
                          <a:cs typeface="+mn-cs"/>
                        </a:rPr>
                        <a:t>/OvsRlsVltrnsNgtnEtdcSbmsn3.</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959960"/>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스탭</a:t>
                      </a:r>
                      <a:r>
                        <a:rPr lang="en-US" altLang="ko-KR" sz="800" b="0" i="0" u="none" strike="noStrike">
                          <a:solidFill>
                            <a:srgbClr val="000000"/>
                          </a:solidFill>
                          <a:effectLst/>
                          <a:latin typeface="+mn-lt"/>
                          <a:ea typeface="맑은 고딕" panose="020B0503020000020004" pitchFamily="50" charset="-127"/>
                        </a:rPr>
                        <a:t>4-</a:t>
                      </a:r>
                      <a:r>
                        <a:rPr lang="ko-KR" altLang="en-US" sz="800" b="0" i="0" u="none" strike="noStrike">
                          <a:solidFill>
                            <a:srgbClr val="000000"/>
                          </a:solidFill>
                          <a:effectLst/>
                          <a:latin typeface="+mn-lt"/>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ovsRlsVltrnsNgtnEtdcSbmsn4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F0502020204030204"/>
                          <a:ea typeface="맑은 고딕" panose="020B0503020000020004" pitchFamily="50" charset="-127"/>
                          <a:cs typeface="+mn-cs"/>
                        </a:rPr>
                        <a:t>공개수의협상 견적서를 제출하는 화면</a:t>
                      </a:r>
                      <a:endParaRPr kumimoji="0" lang="ko-KR" altLang="en-US" sz="800" b="0" i="0" u="none" strike="noStrike" kern="1200" cap="none" spc="0" normalizeH="0" baseline="0" noProof="0" dirty="0">
                        <a:ln>
                          <a:noFill/>
                        </a:ln>
                        <a:solidFill>
                          <a:srgbClr val="000000"/>
                        </a:solidFill>
                        <a:effectLst/>
                        <a:uLnTx/>
                        <a:uFillTx/>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chemeClr val="tx1"/>
                          </a:solidFill>
                          <a:effectLst/>
                          <a:latin typeface="+mn-lt"/>
                          <a:ea typeface="+mn-ea"/>
                          <a:cs typeface="+mn-cs"/>
                        </a:rPr>
                        <a:t>ovsRlsVltrnsNgtnEtdcSbmsnPage</a:t>
                      </a:r>
                      <a:r>
                        <a:rPr lang="en-US" altLang="ko-KR" sz="800" b="0" i="0" u="none" strike="noStrike" kern="1200" dirty="0" smtClean="0">
                          <a:solidFill>
                            <a:schemeClr val="tx1"/>
                          </a:solidFill>
                          <a:effectLst/>
                          <a:latin typeface="+mn-lt"/>
                          <a:ea typeface="+mn-ea"/>
                          <a:cs typeface="+mn-cs"/>
                        </a:rPr>
                        <a:t>/OvsRlsVltrnsNgtnEtdcSbmsn4.</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rgbClr val="000000"/>
                          </a:solidFill>
                          <a:effectLst/>
                          <a:latin typeface="+mn-lt"/>
                          <a:ea typeface="+mn-ea"/>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MUI-BD-12-M78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공개수의협상견적서상세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ovsRlsVltrnsNgtnEtdcDtlPage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맑은 고딕" panose="020B0503020000020004" pitchFamily="50" charset="-127"/>
                          <a:cs typeface="+mn-cs"/>
                        </a:rPr>
                        <a:t>제출한 </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공개수의협상 견적서를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rPr>
                        <a:t>ovsRlsVltrnsNgtnEtdcDtl</a:t>
                      </a:r>
                      <a:r>
                        <a:rPr lang="en-US" altLang="ko-KR" sz="800" b="0" i="0" u="none" strike="noStrike" dirty="0" smtClean="0">
                          <a:solidFill>
                            <a:schemeClr val="tx1"/>
                          </a:solidFill>
                          <a:effectLst/>
                          <a:latin typeface="+mn-lt"/>
                        </a:rPr>
                        <a:t>/</a:t>
                      </a:r>
                      <a:r>
                        <a:rPr lang="en-US" altLang="ko-KR" sz="800" b="0" i="0" u="none" strike="noStrike" dirty="0" err="1" smtClean="0">
                          <a:solidFill>
                            <a:schemeClr val="tx1"/>
                          </a:solidFill>
                          <a:effectLst/>
                          <a:latin typeface="+mn-lt"/>
                        </a:rPr>
                        <a:t>OvsRlsVltrnsNgtnEtdcDtlPage</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ovsRlsVltrnsNgtnEtdcDtl1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rPr>
                        <a:t>ovsRlsVltrnsNgtnEtdcDtl</a:t>
                      </a:r>
                      <a:r>
                        <a:rPr lang="en-US" altLang="ko-KR" sz="800" b="0" i="0" u="none" strike="noStrike" dirty="0" smtClean="0">
                          <a:solidFill>
                            <a:schemeClr val="tx1"/>
                          </a:solidFill>
                          <a:effectLst/>
                          <a:latin typeface="+mn-lt"/>
                        </a:rPr>
                        <a:t>/OvsRlsVltrnsNgtnEtdcDtl1</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MUI-BD-12-T79</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ovsRlsVltrnsNgtnEtdcDtl2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rPr>
                        <a:t>ovsRlsVltrnsNgtnEtdcDtl</a:t>
                      </a:r>
                      <a:r>
                        <a:rPr lang="en-US" altLang="ko-KR" sz="800" b="0" i="0" u="none" strike="noStrike" dirty="0" smtClean="0">
                          <a:solidFill>
                            <a:schemeClr val="tx1"/>
                          </a:solidFill>
                          <a:effectLst/>
                          <a:latin typeface="+mn-lt"/>
                        </a:rPr>
                        <a:t>/OvsRlsVltrnsNgtnEtdcDtl2</a:t>
                      </a:r>
                      <a:r>
                        <a:rPr lang="en-US" altLang="ko-KR" sz="800" dirty="0"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l" fontAlgn="ctr"/>
                      <a:r>
                        <a:rPr lang="en-US" sz="750" b="0" i="0" u="none" strike="noStrike">
                          <a:solidFill>
                            <a:srgbClr val="000000"/>
                          </a:solidFill>
                          <a:effectLst/>
                          <a:latin typeface="+mn-lt"/>
                          <a:ea typeface="맑은 고딕" panose="020B0503020000020004" pitchFamily="50" charset="-127"/>
                        </a:rPr>
                        <a:t>MUI-BD-12-T80</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입찰품목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ovsRlsVltrnsNgtnEtdcDtl3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제출한 공개수의협상 견적서를 조회하는 화면</a:t>
                      </a:r>
                      <a:endParaRPr lang="ko-KR" altLang="en-US" sz="800" b="0" i="0" u="none" strike="noStrike" dirty="0">
                        <a:solidFill>
                          <a:srgbClr val="000000"/>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ovsRlsVltrnsNgtnEtdcDtl</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/OvsRlsVltrnsNgtnEtdcDtl3.tsx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rgbClr val="000000"/>
                          </a:solidFill>
                          <a:effectLst/>
                          <a:latin typeface="+mn-lt"/>
                          <a:ea typeface="+mn-ea"/>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8881036"/>
                  </a:ext>
                </a:extLst>
              </a:tr>
              <a:tr h="180000">
                <a:tc>
                  <a:txBody>
                    <a:bodyPr/>
                    <a:lstStyle/>
                    <a:p>
                      <a:pPr algn="l" fontAlgn="ctr"/>
                      <a:r>
                        <a:rPr lang="en-US" sz="750" b="0" i="0" u="none" strike="noStrike" dirty="0">
                          <a:solidFill>
                            <a:srgbClr val="000000"/>
                          </a:solidFill>
                          <a:effectLst/>
                          <a:latin typeface="+mn-lt"/>
                          <a:ea typeface="맑은 고딕" panose="020B0503020000020004" pitchFamily="50" charset="-127"/>
                        </a:rPr>
                        <a:t>MUI-BD-12-T81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ovsRlsVltrnsNgtnEtdcDtl4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F0502020204030204"/>
                          <a:ea typeface="맑은 고딕" panose="020B0503020000020004" pitchFamily="50" charset="-127"/>
                          <a:cs typeface="+mn-cs"/>
                        </a:rPr>
                        <a:t>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ovsRlsVltrnsNgtnEtdcDtl</a:t>
                      </a:r>
                      <a:r>
                        <a:rPr kumimoji="0" lang="en-US" altLang="ko-KR" sz="8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/OvsRlsVltrnsNgtnEtdcDtl4.tsx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lt"/>
                          <a:ea typeface="+mn-ea"/>
                        </a:rPr>
                        <a:t>UC-BD-12-02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0667681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72164419"/>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405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smtClean="0"/>
              <a:t>(3/3)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121822620"/>
              </p:ext>
            </p:extLst>
          </p:nvPr>
        </p:nvGraphicFramePr>
        <p:xfrm>
          <a:off x="635474" y="1413419"/>
          <a:ext cx="8701200" cy="206878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900" b="0" i="0" u="none" strike="noStrike" dirty="0">
                          <a:solidFill>
                            <a:srgbClr val="000000"/>
                          </a:solidFill>
                          <a:effectLst/>
                          <a:latin typeface="맑은 고딕" panose="020B0503020000020004" pitchFamily="50" charset="-127"/>
                          <a:ea typeface="맑은 고딕" panose="020B0503020000020004" pitchFamily="50" charset="-127"/>
                        </a:rPr>
                        <a:t>MUI-BD-12-P82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err="1">
                          <a:solidFill>
                            <a:srgbClr val="000000"/>
                          </a:solidFill>
                          <a:effectLst/>
                          <a:latin typeface="+mn-lt"/>
                          <a:ea typeface="맑은 고딕" panose="020B0503020000020004" pitchFamily="50" charset="-127"/>
                          <a:cs typeface="+mn-cs"/>
                        </a:rPr>
                        <a:t>공개수의협상견적서취소신청서작성</a:t>
                      </a:r>
                      <a:endParaRPr lang="ko-KR" altLang="en-US" sz="800" b="0" i="0" u="none" strike="noStrike" kern="1200" dirty="0">
                        <a:solidFill>
                          <a:srgbClr val="000000"/>
                        </a:solidFill>
                        <a:effectLst/>
                        <a:latin typeface="+mn-lt"/>
                        <a:ea typeface="맑은 고딕" panose="020B0503020000020004" pitchFamily="50"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rgbClr val="000000"/>
                          </a:solidFill>
                          <a:effectLst/>
                          <a:latin typeface="+mn-lt"/>
                          <a:ea typeface="맑은 고딕" panose="020B0503020000020004" pitchFamily="50" charset="-127"/>
                          <a:cs typeface="+mn-cs"/>
                        </a:rPr>
                        <a:t>ovsRlsVltrnsNgtnEtdcRtrcnApfrWrt</a:t>
                      </a:r>
                      <a:endParaRPr lang="en-US" sz="800" b="0" i="0" u="none" strike="noStrike" kern="1200" dirty="0">
                        <a:solidFill>
                          <a:srgbClr val="000000"/>
                        </a:solidFill>
                        <a:effectLst/>
                        <a:latin typeface="+mn-lt"/>
                        <a:ea typeface="맑은 고딕" panose="020B0503020000020004" pitchFamily="50"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공개수의협상 견적서 취소</a:t>
                      </a: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 </a:t>
                      </a: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신청서를 제출하는 화면</a:t>
                      </a:r>
                      <a:endParaRPr kumimoji="0" lang="ko-KR" altLang="en-US" sz="800" b="0" i="0" u="none" strike="noStrike" kern="1200" cap="none" spc="0" normalizeH="0" baseline="0" noProof="0" dirty="0">
                        <a:ln>
                          <a:noFill/>
                        </a:ln>
                        <a:solidFill>
                          <a:srgbClr val="000000"/>
                        </a:solidFill>
                        <a:effectLst/>
                        <a:uLnTx/>
                        <a:uFillTx/>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rgbClr val="000000"/>
                          </a:solidFill>
                          <a:effectLst/>
                          <a:latin typeface="+mn-lt"/>
                          <a:ea typeface="+mn-ea"/>
                          <a:cs typeface="+mn-cs"/>
                        </a:rPr>
                        <a:t>ovsRlsVltrnsNgtnEtdcRtrcnApfrWrt</a:t>
                      </a:r>
                      <a:r>
                        <a:rPr lang="en-US" altLang="ko-KR" sz="800" b="0" i="0" u="none" strike="noStrike" kern="1200" dirty="0" smtClean="0">
                          <a:solidFill>
                            <a:schemeClr val="tx1"/>
                          </a:solidFill>
                          <a:effectLst/>
                          <a:latin typeface="+mn-lt"/>
                          <a:ea typeface="+mn-ea"/>
                          <a:cs typeface="+mn-cs"/>
                        </a:rPr>
                        <a:t>/</a:t>
                      </a:r>
                      <a:r>
                        <a:rPr lang="en-US" altLang="ko-KR" sz="800" b="0" i="0" u="none" strike="noStrike" kern="1200" dirty="0" err="1" smtClean="0">
                          <a:solidFill>
                            <a:srgbClr val="000000"/>
                          </a:solidFill>
                          <a:effectLst/>
                          <a:latin typeface="+mn-lt"/>
                          <a:ea typeface="+mn-ea"/>
                          <a:cs typeface="+mn-cs"/>
                        </a:rPr>
                        <a:t>ovsRlsVltrnsNgtnEtdcRtrcnApfrWrt</a:t>
                      </a:r>
                      <a:r>
                        <a:rPr lang="en-US" altLang="ko-KR" sz="800" b="0" i="0" u="none" strike="noStrike" dirty="0" err="1" smtClean="0">
                          <a:solidFill>
                            <a:srgbClr val="000000"/>
                          </a:solidFill>
                          <a:effectLst/>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smtClean="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6739173"/>
                  </a:ext>
                </a:extLst>
              </a:tr>
              <a:tr h="180000">
                <a:tc>
                  <a:txBody>
                    <a:bodyPr/>
                    <a:lstStyle/>
                    <a:p>
                      <a:pPr algn="ctr" fontAlgn="ctr"/>
                      <a:r>
                        <a:rPr lang="en-US" sz="900" b="0" i="0" u="none" strike="noStrike">
                          <a:solidFill>
                            <a:srgbClr val="000000"/>
                          </a:solidFill>
                          <a:effectLst/>
                          <a:latin typeface="맑은 고딕" panose="020B0503020000020004" pitchFamily="50" charset="-127"/>
                          <a:ea typeface="맑은 고딕" panose="020B0503020000020004" pitchFamily="50" charset="-127"/>
                        </a:rPr>
                        <a:t>MUI-BD-12-M83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a:solidFill>
                            <a:srgbClr val="000000"/>
                          </a:solidFill>
                          <a:effectLst/>
                          <a:latin typeface="+mn-lt"/>
                          <a:ea typeface="맑은 고딕" panose="020B0503020000020004" pitchFamily="50" charset="-127"/>
                          <a:cs typeface="+mn-cs"/>
                        </a:rPr>
                        <a:t>공개수의협상결과상세</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rgbClr val="000000"/>
                          </a:solidFill>
                          <a:effectLst/>
                          <a:latin typeface="+mn-lt"/>
                          <a:ea typeface="맑은 고딕" panose="020B0503020000020004" pitchFamily="50" charset="-127"/>
                          <a:cs typeface="+mn-cs"/>
                        </a:rPr>
                        <a:t>ovsRlsVltrnsNgtnSrngRsltPage</a:t>
                      </a:r>
                      <a:endParaRPr lang="en-US" sz="800" b="0" i="0" u="none" strike="noStrike" kern="1200" dirty="0">
                        <a:solidFill>
                          <a:srgbClr val="000000"/>
                        </a:solidFill>
                        <a:effectLst/>
                        <a:latin typeface="+mn-lt"/>
                        <a:ea typeface="맑은 고딕" panose="020B0503020000020004" pitchFamily="50"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공개수의협상 결과</a:t>
                      </a: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 </a:t>
                      </a: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조회 화면</a:t>
                      </a:r>
                      <a:endParaRPr kumimoji="0" lang="ko-KR" altLang="en-US" sz="800" b="0" i="0" u="none" strike="noStrike" kern="1200" cap="none" spc="0" normalizeH="0" baseline="0" noProof="0" dirty="0">
                        <a:ln>
                          <a:noFill/>
                        </a:ln>
                        <a:solidFill>
                          <a:srgbClr val="000000"/>
                        </a:solidFill>
                        <a:effectLst/>
                        <a:uLnTx/>
                        <a:uFillTx/>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rgbClr val="000000"/>
                          </a:solidFill>
                          <a:effectLst/>
                          <a:latin typeface="+mn-lt"/>
                          <a:ea typeface="+mn-ea"/>
                          <a:cs typeface="+mn-cs"/>
                        </a:rPr>
                        <a:t>ovsRlsVltrnsNgtnSrngRsltPage</a:t>
                      </a:r>
                      <a:r>
                        <a:rPr lang="en-US" altLang="ko-KR" sz="800" b="0" i="0" u="none" strike="noStrike" kern="1200" dirty="0" smtClean="0">
                          <a:solidFill>
                            <a:schemeClr val="tx1"/>
                          </a:solidFill>
                          <a:effectLst/>
                          <a:latin typeface="+mn-lt"/>
                          <a:ea typeface="+mn-ea"/>
                          <a:cs typeface="+mn-cs"/>
                        </a:rPr>
                        <a:t>/</a:t>
                      </a:r>
                      <a:r>
                        <a:rPr lang="en-US" altLang="ko-KR" sz="800" b="0" i="0" u="none" strike="noStrike" kern="1200" dirty="0" err="1" smtClean="0">
                          <a:solidFill>
                            <a:srgbClr val="000000"/>
                          </a:solidFill>
                          <a:effectLst/>
                          <a:latin typeface="+mn-lt"/>
                          <a:ea typeface="+mn-ea"/>
                          <a:cs typeface="+mn-cs"/>
                        </a:rPr>
                        <a:t>ovsRlsVltrnsNgtnSrngRsltPage</a:t>
                      </a:r>
                      <a:r>
                        <a:rPr lang="en-US" altLang="ko-KR" sz="800" b="0" i="0" u="none" strike="noStrike" dirty="0" err="1" smtClean="0">
                          <a:solidFill>
                            <a:srgbClr val="000000"/>
                          </a:solidFill>
                          <a:effectLst/>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smtClean="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609364"/>
                  </a:ext>
                </a:extLst>
              </a:tr>
              <a:tr h="180000">
                <a:tc>
                  <a:txBody>
                    <a:bodyPr/>
                    <a:lstStyle/>
                    <a:p>
                      <a:pPr algn="ctr" fontAlgn="ctr"/>
                      <a:r>
                        <a:rPr lang="en-US" sz="900" b="0" i="0" u="none" strike="noStrike">
                          <a:solidFill>
                            <a:srgbClr val="000000"/>
                          </a:solidFill>
                          <a:effectLst/>
                          <a:latin typeface="맑은 고딕" panose="020B0503020000020004" pitchFamily="50" charset="-127"/>
                          <a:ea typeface="맑은 고딕" panose="020B0503020000020004" pitchFamily="50" charset="-127"/>
                        </a:rPr>
                        <a:t>MUI-BD-12-T82</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kern="1200">
                          <a:solidFill>
                            <a:srgbClr val="000000"/>
                          </a:solidFill>
                          <a:effectLst/>
                          <a:latin typeface="+mn-lt"/>
                          <a:ea typeface="맑은 고딕" panose="020B0503020000020004" pitchFamily="50" charset="-127"/>
                          <a:cs typeface="+mn-cs"/>
                        </a:rPr>
                        <a:t>-</a:t>
                      </a:r>
                      <a:r>
                        <a:rPr lang="ko-KR" altLang="en-US" sz="800" b="0" i="0" u="none" strike="noStrike" kern="1200">
                          <a:solidFill>
                            <a:srgbClr val="000000"/>
                          </a:solidFill>
                          <a:effectLst/>
                          <a:latin typeface="+mn-lt"/>
                          <a:ea typeface="맑은 고딕" panose="020B0503020000020004" pitchFamily="50" charset="-127"/>
                          <a:cs typeface="+mn-cs"/>
                        </a:rPr>
                        <a:t>일반정보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a:solidFill>
                            <a:srgbClr val="000000"/>
                          </a:solidFill>
                          <a:effectLst/>
                          <a:latin typeface="+mn-lt"/>
                          <a:ea typeface="맑은 고딕" panose="020B0503020000020004" pitchFamily="50" charset="-127"/>
                          <a:cs typeface="+mn-cs"/>
                        </a:rPr>
                        <a:t>ovsRlsVltrnsNgtnSrngRslt1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공개수의협상 결과</a:t>
                      </a:r>
                      <a:r>
                        <a:rPr kumimoji="0" lang="en-US" altLang="ko-KR"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 </a:t>
                      </a:r>
                      <a:r>
                        <a:rPr kumimoji="0" lang="ko-KR" altLang="en-US" sz="800" b="0" i="0" u="none" strike="noStrike" kern="1200" cap="none" spc="0" normalizeH="0" baseline="0" noProof="0" smtClean="0">
                          <a:ln>
                            <a:noFill/>
                          </a:ln>
                          <a:solidFill>
                            <a:srgbClr val="000000"/>
                          </a:solidFill>
                          <a:effectLst/>
                          <a:uLnTx/>
                          <a:uFillTx/>
                          <a:latin typeface="맑은 고딕" panose="020F0502020204030204"/>
                          <a:ea typeface="맑은 고딕" panose="020B0503020000020004" pitchFamily="50" charset="-127"/>
                          <a:cs typeface="+mn-cs"/>
                        </a:rPr>
                        <a:t>조회 화면</a:t>
                      </a:r>
                      <a:endParaRPr kumimoji="0" lang="ko-KR" altLang="en-US" sz="80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rgbClr val="000000"/>
                          </a:solidFill>
                          <a:effectLst/>
                          <a:latin typeface="+mn-lt"/>
                          <a:ea typeface="+mn-ea"/>
                          <a:cs typeface="+mn-cs"/>
                        </a:rPr>
                        <a:t>ovsRlsVltrnsNgtnSrngRsltPage</a:t>
                      </a:r>
                      <a:r>
                        <a:rPr lang="en-US" altLang="ko-KR" sz="800" b="0" i="0" u="none" strike="noStrike" kern="1200" dirty="0" smtClean="0">
                          <a:solidFill>
                            <a:schemeClr val="tx1"/>
                          </a:solidFill>
                          <a:effectLst/>
                          <a:latin typeface="+mn-lt"/>
                          <a:ea typeface="+mn-ea"/>
                          <a:cs typeface="+mn-cs"/>
                        </a:rPr>
                        <a:t>/</a:t>
                      </a:r>
                      <a:r>
                        <a:rPr lang="en-US" altLang="ko-KR" sz="800" b="0" i="0" u="none" strike="noStrike" kern="1200" dirty="0" smtClean="0">
                          <a:solidFill>
                            <a:srgbClr val="000000"/>
                          </a:solidFill>
                          <a:effectLst/>
                          <a:latin typeface="+mn-lt"/>
                          <a:ea typeface="+mn-ea"/>
                          <a:cs typeface="+mn-cs"/>
                        </a:rPr>
                        <a:t>ovsRlsVltrnsNgtnSrngRslt1</a:t>
                      </a:r>
                      <a:r>
                        <a:rPr lang="en-US" altLang="ko-KR" sz="800" b="0" i="0" u="none" strike="noStrike" dirty="0" smtClean="0">
                          <a:solidFill>
                            <a:srgbClr val="000000"/>
                          </a:solidFill>
                          <a:effectLst/>
                          <a:latin typeface="+mn-lt"/>
                          <a:ea typeface="+mn-ea"/>
                        </a:rPr>
                        <a:t>.tsx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5677601"/>
                  </a:ext>
                </a:extLst>
              </a:tr>
              <a:tr h="180000">
                <a:tc>
                  <a:txBody>
                    <a:bodyPr/>
                    <a:lstStyle/>
                    <a:p>
                      <a:pPr algn="ctr" fontAlgn="ctr"/>
                      <a:r>
                        <a:rPr lang="en-US" sz="900" b="0" i="0" u="none" strike="noStrike" dirty="0">
                          <a:solidFill>
                            <a:srgbClr val="000000"/>
                          </a:solidFill>
                          <a:effectLst/>
                          <a:latin typeface="맑은 고딕" panose="020B0503020000020004" pitchFamily="50" charset="-127"/>
                          <a:ea typeface="맑은 고딕" panose="020B0503020000020004" pitchFamily="50" charset="-127"/>
                        </a:rPr>
                        <a:t>MUI-BD-12-T83</a:t>
                      </a:r>
                    </a:p>
                  </a:txBody>
                  <a:tcPr marL="0" marR="0" marT="0"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kern="1200" dirty="0">
                          <a:solidFill>
                            <a:srgbClr val="000000"/>
                          </a:solidFill>
                          <a:effectLst/>
                          <a:latin typeface="+mn-lt"/>
                          <a:ea typeface="맑은 고딕" panose="020B0503020000020004" pitchFamily="50" charset="-127"/>
                          <a:cs typeface="+mn-cs"/>
                        </a:rPr>
                        <a:t>-</a:t>
                      </a:r>
                      <a:r>
                        <a:rPr lang="ko-KR" altLang="en-US" sz="800" b="0" i="0" u="none" strike="noStrike" kern="1200" dirty="0">
                          <a:solidFill>
                            <a:srgbClr val="000000"/>
                          </a:solidFill>
                          <a:effectLst/>
                          <a:latin typeface="+mn-lt"/>
                          <a:ea typeface="맑은 고딕" panose="020B0503020000020004" pitchFamily="50" charset="-127"/>
                          <a:cs typeface="+mn-cs"/>
                        </a:rPr>
                        <a:t>조회결과</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rgbClr val="000000"/>
                          </a:solidFill>
                          <a:effectLst/>
                          <a:latin typeface="+mn-lt"/>
                          <a:ea typeface="맑은 고딕" panose="020B0503020000020004" pitchFamily="50" charset="-127"/>
                          <a:cs typeface="+mn-cs"/>
                        </a:rPr>
                        <a:t>ovsRlsVltrnsNgtnSrngRslt2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F0502020204030204"/>
                          <a:ea typeface="맑은 고딕" panose="020B0503020000020004" pitchFamily="50" charset="-127"/>
                          <a:cs typeface="+mn-cs"/>
                        </a:rPr>
                        <a:t>공개수의협상 결과</a:t>
                      </a:r>
                      <a:r>
                        <a:rPr kumimoji="0" lang="en-US" altLang="ko-KR" sz="800" b="0" i="0" u="none" strike="noStrike" kern="1200" cap="none" spc="0" normalizeH="0" baseline="0" noProof="0" dirty="0" smtClean="0">
                          <a:ln>
                            <a:noFill/>
                          </a:ln>
                          <a:solidFill>
                            <a:srgbClr val="000000"/>
                          </a:solidFill>
                          <a:effectLst/>
                          <a:uLnTx/>
                          <a:uFillTx/>
                          <a:latin typeface="맑은 고딕" panose="020F0502020204030204"/>
                          <a:ea typeface="맑은 고딕" panose="020B0503020000020004" pitchFamily="50" charset="-127"/>
                          <a:cs typeface="+mn-cs"/>
                        </a:rPr>
                        <a:t> </a:t>
                      </a:r>
                      <a:r>
                        <a:rPr kumimoji="0" lang="ko-KR" altLang="en-US" sz="800" b="0" i="0" u="none" strike="noStrike" kern="1200" cap="none" spc="0" normalizeH="0" baseline="0" noProof="0" dirty="0" smtClean="0">
                          <a:ln>
                            <a:noFill/>
                          </a:ln>
                          <a:solidFill>
                            <a:srgbClr val="000000"/>
                          </a:solidFill>
                          <a:effectLst/>
                          <a:uLnTx/>
                          <a:uFillTx/>
                          <a:latin typeface="맑은 고딕" panose="020F0502020204030204"/>
                          <a:ea typeface="맑은 고딕" panose="020B0503020000020004" pitchFamily="50" charset="-127"/>
                          <a:cs typeface="+mn-cs"/>
                        </a:rPr>
                        <a:t>조회 화면</a:t>
                      </a:r>
                      <a:endParaRPr kumimoji="0" lang="ko-KR" altLang="en-US" sz="80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kern="1200" dirty="0" err="1" smtClean="0">
                          <a:solidFill>
                            <a:srgbClr val="000000"/>
                          </a:solidFill>
                          <a:effectLst/>
                          <a:latin typeface="+mn-lt"/>
                          <a:ea typeface="+mn-ea"/>
                          <a:cs typeface="+mn-cs"/>
                        </a:rPr>
                        <a:t>ovsRlsVltrnsNgtnSrngRsltPage</a:t>
                      </a:r>
                      <a:r>
                        <a:rPr lang="en-US" altLang="ko-KR" sz="800" b="0" i="0" u="none" strike="noStrike" kern="1200" dirty="0" smtClean="0">
                          <a:solidFill>
                            <a:schemeClr val="tx1"/>
                          </a:solidFill>
                          <a:effectLst/>
                          <a:latin typeface="+mn-lt"/>
                          <a:ea typeface="+mn-ea"/>
                          <a:cs typeface="+mn-cs"/>
                        </a:rPr>
                        <a:t>/</a:t>
                      </a:r>
                      <a:r>
                        <a:rPr lang="en-US" altLang="ko-KR" sz="800" b="0" i="0" u="none" strike="noStrike" kern="1200" dirty="0" smtClean="0">
                          <a:solidFill>
                            <a:srgbClr val="000000"/>
                          </a:solidFill>
                          <a:effectLst/>
                          <a:latin typeface="+mn-lt"/>
                          <a:ea typeface="+mn-ea"/>
                          <a:cs typeface="+mn-cs"/>
                        </a:rPr>
                        <a:t>ovsRlsVltrnsNgtnSrngRslt2</a:t>
                      </a:r>
                      <a:r>
                        <a:rPr lang="en-US" altLang="ko-KR" sz="800" b="0" i="0" u="none" strike="noStrike" dirty="0" smtClean="0">
                          <a:solidFill>
                            <a:srgbClr val="000000"/>
                          </a:solidFill>
                          <a:effectLst/>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UC-BD-01-02</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95996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93703746"/>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 name="연결선: 꺾임 7">
            <a:extLst>
              <a:ext uri="{FF2B5EF4-FFF2-40B4-BE49-F238E27FC236}">
                <a16:creationId xmlns:a16="http://schemas.microsoft.com/office/drawing/2014/main" id="{89A2D828-4C18-4F90-6B31-722E89773AA8}"/>
              </a:ext>
            </a:extLst>
          </p:cNvPr>
          <p:cNvCxnSpPr>
            <a:cxnSpLocks/>
            <a:stCxn id="52" idx="3"/>
            <a:endCxn id="53" idx="0"/>
          </p:cNvCxnSpPr>
          <p:nvPr/>
        </p:nvCxnSpPr>
        <p:spPr>
          <a:xfrm flipH="1">
            <a:off x="4643499" y="1772964"/>
            <a:ext cx="450000" cy="2442267"/>
          </a:xfrm>
          <a:prstGeom prst="bentConnector4">
            <a:avLst>
              <a:gd name="adj1" fmla="val -50800"/>
              <a:gd name="adj2" fmla="val 7826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5248141" y="3000536"/>
            <a:ext cx="128789" cy="12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486105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공개수의협상결과조회</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a:t>
            </a:r>
            <a:r>
              <a:rPr lang="ko-KR" altLang="en-US" sz="800" dirty="0" err="1">
                <a:solidFill>
                  <a:schemeClr val="tx1"/>
                </a:solidFill>
              </a:rPr>
              <a:t>상세</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공개수의협상견적서취소신청서작성</a:t>
            </a:r>
            <a:endParaRPr lang="ko-KR" altLang="en-US" sz="800" dirty="0">
              <a:solidFill>
                <a:schemeClr val="tx1"/>
              </a:solidFill>
            </a:endParaRP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435923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견적서제출</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4193498" y="1918609"/>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a:solidFill>
                  <a:schemeClr val="tx1"/>
                </a:solidFill>
              </a:rPr>
              <a:t>입찰결과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a:solidFill>
                  <a:schemeClr val="tx1"/>
                </a:solidFill>
                <a:latin typeface="+mn-ea"/>
              </a:rPr>
              <a:t>입찰결과 </a:t>
            </a:r>
            <a:r>
              <a:rPr lang="en-US" altLang="ko-KR" sz="800" dirty="0">
                <a:solidFill>
                  <a:schemeClr val="tx1"/>
                </a:solidFill>
                <a:latin typeface="+mn-ea"/>
              </a:rPr>
              <a:t>(</a:t>
            </a:r>
            <a:r>
              <a:rPr lang="ko-KR" altLang="en-US" sz="800" dirty="0" err="1">
                <a:solidFill>
                  <a:schemeClr val="tx1"/>
                </a:solidFill>
                <a:latin typeface="+mn-ea"/>
              </a:rPr>
              <a:t>총액제</a:t>
            </a:r>
            <a:r>
              <a:rPr lang="en-US" altLang="ko-KR" sz="800" dirty="0">
                <a:solidFill>
                  <a:schemeClr val="tx1"/>
                </a:solidFill>
                <a:latin typeface="+mn-ea"/>
              </a:rPr>
              <a:t>)</a:t>
            </a:r>
            <a:endParaRPr lang="ko-KR" altLang="en-US" sz="800" dirty="0">
              <a:solidFill>
                <a:schemeClr val="tx1"/>
              </a:solidFill>
              <a:latin typeface="+mn-ea"/>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4503231"/>
            <a:ext cx="73257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err="1">
                <a:solidFill>
                  <a:prstClr val="black"/>
                </a:solidFill>
                <a:latin typeface="맑은 고딕" panose="020B0503020000020004" pitchFamily="50" charset="-127"/>
              </a:rPr>
              <a:t>입찰품목</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공개수의협상</a:t>
            </a:r>
            <a:endParaRPr lang="en-US" altLang="ko-KR" sz="800" dirty="0">
              <a:solidFill>
                <a:schemeClr val="tx1"/>
              </a:solidFill>
            </a:endParaRPr>
          </a:p>
          <a:p>
            <a:pPr algn="ctr"/>
            <a:r>
              <a:rPr lang="ko-KR" altLang="en-US" sz="800" dirty="0" err="1">
                <a:solidFill>
                  <a:schemeClr val="tx1"/>
                </a:solidFill>
              </a:rPr>
              <a:t>계획상세</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p:txBody>
      </p: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99" idx="3"/>
            <a:endCxn id="53" idx="1"/>
          </p:cNvCxnSpPr>
          <p:nvPr/>
        </p:nvCxnSpPr>
        <p:spPr>
          <a:xfrm>
            <a:off x="3266608" y="3067907"/>
            <a:ext cx="926891"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4359231"/>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9A519F08-B829-E35F-09D8-DFCD1F68B911}"/>
              </a:ext>
            </a:extLst>
          </p:cNvPr>
          <p:cNvCxnSpPr>
            <a:cxnSpLocks/>
            <a:stCxn id="97" idx="3"/>
            <a:endCxn id="60"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9A519F08-B829-E35F-09D8-DFCD1F68B911}"/>
              </a:ext>
            </a:extLst>
          </p:cNvPr>
          <p:cNvCxnSpPr>
            <a:cxnSpLocks/>
            <a:stCxn id="52" idx="2"/>
            <a:endCxn id="97" idx="0"/>
          </p:cNvCxnSpPr>
          <p:nvPr/>
        </p:nvCxnSpPr>
        <p:spPr>
          <a:xfrm>
            <a:off x="4643499" y="1916964"/>
            <a:ext cx="0" cy="1006943"/>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직사각형 66">
            <a:extLst>
              <a:ext uri="{FF2B5EF4-FFF2-40B4-BE49-F238E27FC236}">
                <a16:creationId xmlns:a16="http://schemas.microsoft.com/office/drawing/2014/main" id="{F249990F-1DE5-C694-BDBD-2DE7009D57EA}"/>
              </a:ext>
            </a:extLst>
          </p:cNvPr>
          <p:cNvSpPr/>
          <p:nvPr/>
        </p:nvSpPr>
        <p:spPr>
          <a:xfrm>
            <a:off x="6030043" y="3221125"/>
            <a:ext cx="835165"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err="1">
                <a:solidFill>
                  <a:schemeClr val="tx1"/>
                </a:solidFill>
                <a:latin typeface="+mn-ea"/>
              </a:rPr>
              <a:t>입찰품목</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p>
        </p:txBody>
      </p:sp>
      <p:cxnSp>
        <p:nvCxnSpPr>
          <p:cNvPr id="111"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flipV="1">
            <a:off x="6930043" y="3713734"/>
            <a:ext cx="677804" cy="6454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F249990F-1DE5-C694-BDBD-2DE7009D57EA}"/>
              </a:ext>
            </a:extLst>
          </p:cNvPr>
          <p:cNvSpPr/>
          <p:nvPr/>
        </p:nvSpPr>
        <p:spPr>
          <a:xfrm>
            <a:off x="4193498" y="3225426"/>
            <a:ext cx="410369"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품목정보</a:t>
            </a:r>
            <a:endParaRPr lang="ko-KR" altLang="en-US" sz="800" dirty="0">
              <a:solidFill>
                <a:schemeClr val="tx1"/>
              </a:solidFill>
            </a:endParaRPr>
          </a:p>
          <a:p>
            <a:r>
              <a:rPr lang="ko-KR" altLang="en-US" sz="800" dirty="0">
                <a:solidFill>
                  <a:schemeClr val="tx1"/>
                </a:solidFill>
                <a:latin typeface="+mn-ea"/>
              </a:rPr>
              <a:t>입찰결과</a:t>
            </a:r>
          </a:p>
        </p:txBody>
      </p:sp>
      <p:cxnSp>
        <p:nvCxnSpPr>
          <p:cNvPr id="120" name="연결선: 꺾임 7">
            <a:extLst>
              <a:ext uri="{FF2B5EF4-FFF2-40B4-BE49-F238E27FC236}">
                <a16:creationId xmlns:a16="http://schemas.microsoft.com/office/drawing/2014/main" id="{89A2D828-4C18-4F90-6B31-722E89773AA8}"/>
              </a:ext>
            </a:extLst>
          </p:cNvPr>
          <p:cNvCxnSpPr>
            <a:cxnSpLocks/>
            <a:stCxn id="22" idx="3"/>
            <a:endCxn id="80" idx="2"/>
          </p:cNvCxnSpPr>
          <p:nvPr/>
        </p:nvCxnSpPr>
        <p:spPr>
          <a:xfrm flipV="1">
            <a:off x="6930043" y="3713734"/>
            <a:ext cx="677804"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7922375"/>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smtClean="0">
                <a:solidFill>
                  <a:schemeClr val="tx1"/>
                </a:solidFill>
                <a:latin typeface="+mn-ea"/>
              </a:rPr>
              <a:t>일반정보</a:t>
            </a:r>
            <a:endParaRPr lang="en-US" altLang="ko-KR" sz="1050" dirty="0" smtClean="0">
              <a:solidFill>
                <a:schemeClr val="tx1"/>
              </a:solidFill>
              <a:latin typeface="+mn-ea"/>
            </a:endParaRPr>
          </a:p>
          <a:p>
            <a:pPr algn="ctr">
              <a:lnSpc>
                <a:spcPct val="120000"/>
              </a:lnSpc>
            </a:pPr>
            <a:r>
              <a:rPr lang="en-US" altLang="ko-KR" sz="1050" dirty="0">
                <a:solidFill>
                  <a:schemeClr val="tx1"/>
                </a:solidFill>
                <a:latin typeface="맑은 고딕" panose="020B0503020000020004" pitchFamily="50" charset="-127"/>
              </a:rPr>
              <a:t>ovsBidRsltDtl1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rPr>
              <a:t>입찰결과</a:t>
            </a:r>
            <a:r>
              <a:rPr lang="en-US" altLang="ko-KR" sz="1050" dirty="0">
                <a:solidFill>
                  <a:schemeClr val="tx1"/>
                </a:solidFill>
              </a:rPr>
              <a:t>(</a:t>
            </a:r>
            <a:r>
              <a:rPr lang="ko-KR" altLang="en-US" sz="1050" dirty="0" err="1">
                <a:solidFill>
                  <a:schemeClr val="tx1"/>
                </a:solidFill>
              </a:rPr>
              <a:t>단가제</a:t>
            </a:r>
            <a:r>
              <a:rPr lang="en-US" altLang="ko-KR" sz="1050" dirty="0">
                <a:solidFill>
                  <a:schemeClr val="tx1"/>
                </a:solidFill>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품목정보</a:t>
            </a:r>
            <a:endParaRPr lang="en-US" altLang="ko-KR" sz="1050" dirty="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ovsRlsVltrnsNgtnPlanDtl2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첨부서류</a:t>
            </a:r>
            <a:endParaRPr lang="en-US" altLang="ko-KR" sz="1050" dirty="0">
              <a:solidFill>
                <a:schemeClr val="tx1"/>
              </a:solidFill>
            </a:endParaRPr>
          </a:p>
          <a:p>
            <a:pPr algn="ctr">
              <a:lnSpc>
                <a:spcPct val="120000"/>
              </a:lnSpc>
            </a:pPr>
            <a:r>
              <a:rPr lang="en-US" altLang="ko-KR" sz="1050" dirty="0" smtClean="0">
                <a:solidFill>
                  <a:schemeClr val="tx1"/>
                </a:solidFill>
                <a:latin typeface="맑은 고딕" panose="020B0503020000020004" pitchFamily="50" charset="-127"/>
              </a:rPr>
              <a:t>ovsRlsVltrnsNgtnPlanDtl3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endParaRPr lang="en-US" altLang="ko-KR" sz="1050" dirty="0"/>
          </a:p>
          <a:p>
            <a:pPr algn="ctr">
              <a:lnSpc>
                <a:spcPct val="120000"/>
              </a:lnSpc>
            </a:pPr>
            <a:r>
              <a:rPr lang="en-US" altLang="ko-KR" sz="1050" dirty="0" err="1"/>
              <a:t>ovsRlsVltrnsNgtnEtdcSbmsnPage</a:t>
            </a:r>
            <a:r>
              <a:rPr lang="en-US" altLang="ko-KR" sz="1050" dirty="0"/>
              <a:t> </a:t>
            </a:r>
            <a:r>
              <a:rPr lang="en-US" altLang="ko-KR" sz="1050" dirty="0"/>
              <a:t>.tsx</a:t>
            </a:r>
            <a:r>
              <a:rPr lang="en-US" altLang="ko-KR" sz="1050" b="1" baseline="30000" dirty="0">
                <a:latin typeface="+mn-ea"/>
              </a:rPr>
              <a:t>1)</a:t>
            </a:r>
            <a:endParaRPr lang="en-US" altLang="ko-KR" sz="1050" dirty="0"/>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891586"/>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스탭</a:t>
            </a:r>
            <a:r>
              <a:rPr lang="en-US" altLang="ko-KR" sz="1050" dirty="0">
                <a:solidFill>
                  <a:prstClr val="black"/>
                </a:solidFill>
                <a:latin typeface="맑은 고딕" panose="020B0503020000020004" pitchFamily="50" charset="-127"/>
              </a:rPr>
              <a:t>2-</a:t>
            </a:r>
            <a:r>
              <a:rPr lang="ko-KR" altLang="en-US" sz="1050" dirty="0">
                <a:solidFill>
                  <a:prstClr val="black"/>
                </a:solidFill>
                <a:latin typeface="맑은 고딕" panose="020B0503020000020004" pitchFamily="50" charset="-127"/>
              </a:rPr>
              <a:t>업체정보</a:t>
            </a:r>
            <a:endParaRPr lang="en-US" altLang="ko-KR" sz="1050" dirty="0"/>
          </a:p>
          <a:p>
            <a:pPr algn="ctr">
              <a:lnSpc>
                <a:spcPct val="120000"/>
              </a:lnSpc>
            </a:pPr>
            <a:r>
              <a:rPr lang="en-US" altLang="ko-KR" sz="1050" dirty="0" smtClean="0"/>
              <a:t>ovsRlsVltrnsNgtnEtdcSbmsn2.tsx</a:t>
            </a:r>
            <a:r>
              <a:rPr lang="en-US" altLang="ko-KR" sz="1050" b="1" baseline="30000" dirty="0" smtClean="0">
                <a:latin typeface="+mn-ea"/>
              </a:rPr>
              <a:t>1</a:t>
            </a:r>
            <a:r>
              <a:rPr lang="en-US" altLang="ko-KR" sz="1050" b="1" baseline="30000" dirty="0">
                <a:latin typeface="+mn-ea"/>
              </a:rPr>
              <a:t>)</a:t>
            </a:r>
            <a:endParaRPr lang="en-US" altLang="ko-KR" sz="1050" dirty="0"/>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20813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6" name="직선 연결선 35">
            <a:extLst>
              <a:ext uri="{FF2B5EF4-FFF2-40B4-BE49-F238E27FC236}">
                <a16:creationId xmlns:a16="http://schemas.microsoft.com/office/drawing/2014/main" id="{A8B10782-0A07-A41D-DB15-978B72410A31}"/>
              </a:ext>
            </a:extLst>
          </p:cNvPr>
          <p:cNvCxnSpPr>
            <a:stCxn id="9" idx="3"/>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40" name="직선 연결선 39">
            <a:extLst>
              <a:ext uri="{FF2B5EF4-FFF2-40B4-BE49-F238E27FC236}">
                <a16:creationId xmlns:a16="http://schemas.microsoft.com/office/drawing/2014/main" id="{A8B10782-0A07-A41D-DB15-978B72410A31}"/>
              </a:ext>
            </a:extLst>
          </p:cNvPr>
          <p:cNvCxnSpPr>
            <a:stCxn id="9" idx="3"/>
            <a:endCxn id="38"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스탭</a:t>
            </a:r>
            <a:r>
              <a:rPr lang="en-US" altLang="ko-KR" sz="1050" dirty="0">
                <a:solidFill>
                  <a:prstClr val="black"/>
                </a:solidFill>
                <a:latin typeface="맑은 고딕" panose="020B0503020000020004" pitchFamily="50" charset="-127"/>
              </a:rPr>
              <a:t>4-</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en-US" altLang="ko-KR" sz="1050" dirty="0" smtClean="0"/>
              <a:t>ovsRlsVltrnsNgtnEtdcSbmsn4.tsx</a:t>
            </a:r>
            <a:r>
              <a:rPr lang="en-US" altLang="ko-KR" sz="1050" b="1" baseline="30000" dirty="0" smtClean="0">
                <a:latin typeface="+mn-ea"/>
              </a:rPr>
              <a:t>1</a:t>
            </a:r>
            <a:r>
              <a:rPr lang="en-US" altLang="ko-KR" sz="1050" b="1" baseline="30000" dirty="0">
                <a:latin typeface="+mn-ea"/>
              </a:rPr>
              <a:t>)</a:t>
            </a:r>
            <a:endParaRPr lang="en-US" altLang="ko-KR" sz="1050" dirty="0"/>
          </a:p>
        </p:txBody>
      </p:sp>
      <p:sp>
        <p:nvSpPr>
          <p:cNvPr id="42" name="직사각형 4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스탭</a:t>
            </a:r>
            <a:r>
              <a:rPr lang="en-US" altLang="ko-KR" sz="1050" dirty="0">
                <a:solidFill>
                  <a:prstClr val="black"/>
                </a:solidFill>
                <a:latin typeface="맑은 고딕" panose="020B0503020000020004" pitchFamily="50" charset="-127"/>
              </a:rPr>
              <a:t>3-</a:t>
            </a:r>
            <a:r>
              <a:rPr lang="ko-KR" altLang="en-US" sz="1050" dirty="0" err="1">
                <a:solidFill>
                  <a:prstClr val="black"/>
                </a:solidFill>
                <a:latin typeface="맑은 고딕" panose="020B0503020000020004" pitchFamily="50" charset="-127"/>
              </a:rPr>
              <a:t>입찰품목</a:t>
            </a:r>
            <a:endParaRPr lang="en-US" altLang="ko-KR" sz="1050" dirty="0"/>
          </a:p>
          <a:p>
            <a:pPr algn="ctr">
              <a:lnSpc>
                <a:spcPct val="120000"/>
              </a:lnSpc>
            </a:pPr>
            <a:r>
              <a:rPr lang="en-US" altLang="ko-KR" sz="1050" dirty="0" smtClean="0"/>
              <a:t>ovsRlsVltrnsNgtnEtdcSbmsn3.tsx</a:t>
            </a:r>
            <a:r>
              <a:rPr lang="en-US" altLang="ko-KR" sz="1050" b="1" baseline="30000" dirty="0" smtClean="0">
                <a:latin typeface="+mn-ea"/>
              </a:rPr>
              <a:t>1</a:t>
            </a:r>
            <a:r>
              <a:rPr lang="en-US" altLang="ko-KR" sz="1050" b="1" baseline="30000" dirty="0">
                <a:latin typeface="+mn-ea"/>
              </a:rPr>
              <a:t>)</a:t>
            </a:r>
            <a:endParaRPr lang="en-US" altLang="ko-KR" sz="1050" dirty="0"/>
          </a:p>
        </p:txBody>
      </p:sp>
      <p:sp>
        <p:nvSpPr>
          <p:cNvPr id="43" name="직사각형 42">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스탭</a:t>
            </a:r>
            <a:r>
              <a:rPr lang="en-US" altLang="ko-KR" sz="1050" dirty="0">
                <a:solidFill>
                  <a:prstClr val="black"/>
                </a:solidFill>
                <a:latin typeface="맑은 고딕" panose="020B0503020000020004" pitchFamily="50" charset="-127"/>
              </a:rPr>
              <a:t>1-</a:t>
            </a:r>
            <a:r>
              <a:rPr lang="ko-KR" altLang="en-US" sz="1050" dirty="0">
                <a:solidFill>
                  <a:prstClr val="black"/>
                </a:solidFill>
                <a:latin typeface="맑은 고딕" panose="020B0503020000020004" pitchFamily="50" charset="-127"/>
              </a:rPr>
              <a:t>일반정보</a:t>
            </a:r>
            <a:endParaRPr lang="en-US" altLang="ko-KR" sz="1050" dirty="0"/>
          </a:p>
          <a:p>
            <a:pPr algn="ctr">
              <a:lnSpc>
                <a:spcPct val="120000"/>
              </a:lnSpc>
            </a:pPr>
            <a:r>
              <a:rPr lang="en-US" altLang="ko-KR" sz="1050" dirty="0"/>
              <a:t>ovsRlsVltrnsNgtnEtdcSbmsn1.tsx</a:t>
            </a:r>
            <a:r>
              <a:rPr lang="en-US" altLang="ko-KR" sz="1050" b="1" baseline="30000" dirty="0">
                <a:latin typeface="+mn-ea"/>
              </a:rPr>
              <a:t>1)</a:t>
            </a:r>
            <a:endParaRPr lang="en-US" altLang="ko-KR" sz="1050" dirty="0"/>
          </a:p>
        </p:txBody>
      </p:sp>
    </p:spTree>
    <p:extLst>
      <p:ext uri="{BB962C8B-B14F-4D97-AF65-F5344CB8AC3E}">
        <p14:creationId xmlns:p14="http://schemas.microsoft.com/office/powerpoint/2010/main" val="97278610"/>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공개수의협상견적서상세</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일반정보</a:t>
            </a:r>
            <a:endParaRPr lang="en-US" altLang="ko-KR" sz="1050" dirty="0">
              <a:solidFill>
                <a:schemeClr val="tx1"/>
              </a:solidFill>
            </a:endParaRPr>
          </a:p>
          <a:p>
            <a:pPr algn="ctr">
              <a:lnSpc>
                <a:spcPct val="120000"/>
              </a:lnSpc>
            </a:pPr>
            <a:r>
              <a:rPr lang="en-US" altLang="ko-KR" sz="1050" dirty="0" smtClean="0">
                <a:solidFill>
                  <a:schemeClr val="tx1"/>
                </a:solidFill>
                <a:latin typeface="+mn-ea"/>
              </a:rPr>
              <a:t>OvsRlsVltrnsNgtnEtdcDtl1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smtClean="0">
                <a:solidFill>
                  <a:schemeClr val="tx1"/>
                </a:solidFill>
                <a:latin typeface="+mn-ea"/>
              </a:rPr>
              <a:t>OvsRlsVltrnsNgtnEtdcDtl2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입찰품목</a:t>
            </a:r>
            <a:endParaRPr lang="en-US" altLang="ko-KR" sz="1050" dirty="0">
              <a:solidFill>
                <a:schemeClr val="tx1"/>
              </a:solidFill>
            </a:endParaRPr>
          </a:p>
          <a:p>
            <a:pPr algn="ctr">
              <a:lnSpc>
                <a:spcPct val="120000"/>
              </a:lnSpc>
            </a:pPr>
            <a:r>
              <a:rPr lang="en-US" altLang="ko-KR" sz="1050" dirty="0" smtClean="0">
                <a:solidFill>
                  <a:schemeClr val="tx1"/>
                </a:solidFill>
                <a:latin typeface="+mn-ea"/>
              </a:rPr>
              <a:t>OvsRlsVltrnsNgtnEtdcDtl3</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ovsRlsVltrnsNgtnEtdcDtl4</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ovsRlsVltrnsNgtnEtdcRtrcnApfrWrt</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(2/2)</a:t>
            </a:r>
            <a:endParaRPr lang="ko-KR" altLang="en-US" sz="1200" dirty="0">
              <a:solidFill>
                <a:schemeClr val="tx1"/>
              </a:solidFill>
            </a:endParaRPr>
          </a:p>
        </p:txBody>
      </p:sp>
      <p:sp>
        <p:nvSpPr>
          <p:cNvPr id="23" name="직사각형 22">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29" name="직선 연결선 28">
            <a:extLst>
              <a:ext uri="{FF2B5EF4-FFF2-40B4-BE49-F238E27FC236}">
                <a16:creationId xmlns:a16="http://schemas.microsoft.com/office/drawing/2014/main" id="{A8B10782-0A07-A41D-DB15-978B72410A31}"/>
              </a:ext>
            </a:extLst>
          </p:cNvPr>
          <p:cNvCxnSpPr>
            <a:endCxn id="23"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3" name="직선 연결선 32">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5" name="직사각형 34">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36" name="직선 연결선 35">
            <a:extLst>
              <a:ext uri="{FF2B5EF4-FFF2-40B4-BE49-F238E27FC236}">
                <a16:creationId xmlns:a16="http://schemas.microsoft.com/office/drawing/2014/main" id="{A8B10782-0A07-A41D-DB15-978B72410A31}"/>
              </a:ext>
            </a:extLst>
          </p:cNvPr>
          <p:cNvCxnSpPr>
            <a:endCxn id="35"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공개수의협상결과상세</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ovsRlsVltrnsNgtnSrngRsltPage</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8" name="직사각형 37">
            <a:extLst>
              <a:ext uri="{FF2B5EF4-FFF2-40B4-BE49-F238E27FC236}">
                <a16:creationId xmlns:a16="http://schemas.microsoft.com/office/drawing/2014/main" id="{326CB017-8967-4DC4-0EAD-ADB3B9EAB841}"/>
              </a:ext>
            </a:extLst>
          </p:cNvPr>
          <p:cNvSpPr/>
          <p:nvPr/>
        </p:nvSpPr>
        <p:spPr>
          <a:xfrm>
            <a:off x="1038044" y="5387464"/>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en-US" altLang="ko-KR" sz="1050" dirty="0">
                <a:solidFill>
                  <a:schemeClr val="tx1"/>
                </a:solidFill>
                <a:latin typeface="+mn-ea"/>
              </a:rPr>
              <a:t>-</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smtClean="0">
                <a:solidFill>
                  <a:schemeClr val="tx1"/>
                </a:solidFill>
                <a:latin typeface="+mn-ea"/>
              </a:rPr>
              <a:t>ovsRlsVltrnsNgtnSrngRslt1</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
        <p:nvSpPr>
          <p:cNvPr id="39" name="직사각형 38">
            <a:extLst>
              <a:ext uri="{FF2B5EF4-FFF2-40B4-BE49-F238E27FC236}">
                <a16:creationId xmlns:a16="http://schemas.microsoft.com/office/drawing/2014/main" id="{326CB017-8967-4DC4-0EAD-ADB3B9EAB841}"/>
              </a:ext>
            </a:extLst>
          </p:cNvPr>
          <p:cNvSpPr/>
          <p:nvPr/>
        </p:nvSpPr>
        <p:spPr>
          <a:xfrm>
            <a:off x="1038044" y="589271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en-US" altLang="ko-KR" sz="1050" dirty="0">
                <a:solidFill>
                  <a:schemeClr val="tx1"/>
                </a:solidFill>
                <a:latin typeface="+mn-ea"/>
              </a:rPr>
              <a:t>-</a:t>
            </a:r>
            <a:r>
              <a:rPr lang="ko-KR" altLang="en-US" sz="1050" dirty="0">
                <a:solidFill>
                  <a:schemeClr val="tx1"/>
                </a:solidFill>
                <a:latin typeface="+mn-ea"/>
              </a:rPr>
              <a:t>조회결과</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ovsRlsVltrnsNgtnSrngRslt2</a:t>
            </a:r>
            <a:r>
              <a:rPr lang="en-US" altLang="ko-KR" sz="1050" dirty="0" smtClean="0">
                <a:solidFill>
                  <a:schemeClr val="tx1"/>
                </a:solidFill>
              </a:rPr>
              <a:t>.tsx</a:t>
            </a:r>
            <a:r>
              <a:rPr lang="en-US" altLang="ko-KR" sz="1050" b="1" baseline="30000" dirty="0" smtClean="0">
                <a:solidFill>
                  <a:schemeClr val="tx1"/>
                </a:solidFill>
                <a:latin typeface="+mn-ea"/>
              </a:rPr>
              <a:t>1</a:t>
            </a:r>
            <a:r>
              <a:rPr lang="en-US" altLang="ko-KR" sz="1050" b="1" baseline="30000" dirty="0">
                <a:solidFill>
                  <a:schemeClr val="tx1"/>
                </a:solidFill>
                <a:latin typeface="+mn-ea"/>
              </a:rPr>
              <a:t>)</a:t>
            </a:r>
            <a:endParaRPr lang="en-US" altLang="ko-KR" sz="1050" dirty="0">
              <a:solidFill>
                <a:schemeClr val="tx1"/>
              </a:solidFill>
            </a:endParaRPr>
          </a:p>
        </p:txBody>
      </p:sp>
    </p:spTree>
    <p:extLst>
      <p:ext uri="{BB962C8B-B14F-4D97-AF65-F5344CB8AC3E}">
        <p14:creationId xmlns:p14="http://schemas.microsoft.com/office/powerpoint/2010/main" val="3989746357"/>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060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0506"/>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5571"/>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86685" y="2900182"/>
            <a:ext cx="618759"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7647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1191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0253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0253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11913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864409"/>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87032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2396175"/>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239617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2396175"/>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225470"/>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 결과 조회</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5" name="그룹 124"/>
            <p:cNvGrpSpPr/>
            <p:nvPr/>
          </p:nvGrpSpPr>
          <p:grpSpPr>
            <a:xfrm rot="5400000">
              <a:off x="852159" y="2062596"/>
              <a:ext cx="94010" cy="47005"/>
              <a:chOff x="6812560" y="3297172"/>
              <a:chExt cx="94010" cy="47005"/>
            </a:xfrm>
          </p:grpSpPr>
          <p:cxnSp>
            <p:nvCxnSpPr>
              <p:cNvPr id="133" name="직선 연결선 13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4" name="직선 연결선 13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6" name="그룹 125"/>
            <p:cNvGrpSpPr/>
            <p:nvPr/>
          </p:nvGrpSpPr>
          <p:grpSpPr>
            <a:xfrm>
              <a:off x="677960" y="1582647"/>
              <a:ext cx="2712027" cy="324286"/>
              <a:chOff x="677960" y="1582647"/>
              <a:chExt cx="2712027" cy="324286"/>
            </a:xfrm>
          </p:grpSpPr>
          <p:pic>
            <p:nvPicPr>
              <p:cNvPr id="12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9" name="직선 연결선 12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692547146"/>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67229"/>
            <a:chOff x="701175" y="1527996"/>
            <a:chExt cx="2630093" cy="376722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59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a:latin typeface="+mn-ea"/>
                </a:rPr>
                <a:t>공고 </a:t>
              </a:r>
              <a:r>
                <a:rPr lang="ko-KR" altLang="en-US" sz="700" dirty="0" err="1">
                  <a:latin typeface="+mn-ea"/>
                </a:rPr>
                <a:t>품목수</a:t>
              </a:r>
              <a:endParaRPr lang="ko-KR" altLang="en-US"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ko-KR" altLang="en-US" sz="700" dirty="0" err="1">
                  <a:latin typeface="+mn-ea"/>
                </a:rPr>
                <a:t>일반투찰</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3459744"/>
              <a:chOff x="701175" y="1835481"/>
              <a:chExt cx="2630093" cy="3459744"/>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529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624077122"/>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입찰결과현황</a:t>
            </a:r>
            <a:r>
              <a:rPr lang="en-US" altLang="ko-KR" dirty="0"/>
              <a:t>(</a:t>
            </a:r>
            <a:r>
              <a:rPr lang="ko-KR" altLang="en-US" dirty="0" err="1"/>
              <a:t>단가제</a:t>
            </a:r>
            <a:r>
              <a:rPr lang="en-US" altLang="ko-KR" dirty="0"/>
              <a:t>) </a:t>
            </a:r>
            <a:r>
              <a:rPr lang="ko-KR" altLang="en-US" dirty="0"/>
              <a:t>데이터 영역</a:t>
            </a:r>
          </a:p>
          <a:p>
            <a:pPr>
              <a:buFont typeface="+mj-lt"/>
              <a:buAutoNum type="arabicPeriod"/>
            </a:pPr>
            <a:r>
              <a:rPr lang="ko-KR" altLang="en-US" dirty="0"/>
              <a:t>입찰결과</a:t>
            </a:r>
            <a:r>
              <a:rPr lang="en-US" altLang="ko-KR" dirty="0"/>
              <a:t>(</a:t>
            </a:r>
            <a:r>
              <a:rPr lang="ko-KR" altLang="en-US" dirty="0" err="1"/>
              <a:t>단가제</a:t>
            </a:r>
            <a:r>
              <a:rPr lang="en-US" altLang="ko-KR" dirty="0"/>
              <a:t>) </a:t>
            </a:r>
            <a:r>
              <a:rPr lang="ko-KR" altLang="en-US" dirty="0"/>
              <a:t>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필터 정보</a:t>
            </a:r>
            <a:r>
              <a:rPr lang="en-US" altLang="ko-KR" dirty="0" smtClean="0"/>
              <a:t/>
            </a:r>
            <a:br>
              <a:rPr lang="en-US" altLang="ko-KR" dirty="0" smtClean="0"/>
            </a:br>
            <a:r>
              <a:rPr lang="en-US" altLang="ko-KR" dirty="0" smtClean="0"/>
              <a:t>- </a:t>
            </a:r>
            <a:r>
              <a:rPr lang="ko-KR" altLang="en-US" dirty="0" smtClean="0"/>
              <a:t>결과 전체</a:t>
            </a:r>
            <a:r>
              <a:rPr lang="en-US" altLang="ko-KR" dirty="0"/>
              <a:t>/</a:t>
            </a:r>
            <a:r>
              <a:rPr lang="ko-KR" altLang="en-US" dirty="0"/>
              <a:t>낙찰</a:t>
            </a:r>
            <a:r>
              <a:rPr lang="en-US" altLang="ko-KR" dirty="0"/>
              <a:t>/</a:t>
            </a:r>
            <a:r>
              <a:rPr lang="ko-KR" altLang="en-US" dirty="0" err="1"/>
              <a:t>조건부낙찰</a:t>
            </a:r>
            <a:r>
              <a:rPr lang="en-US" altLang="ko-KR" dirty="0"/>
              <a:t>/</a:t>
            </a:r>
            <a:r>
              <a:rPr lang="ko-KR" altLang="en-US" dirty="0" err="1"/>
              <a:t>동가낙찰</a:t>
            </a:r>
            <a:r>
              <a:rPr lang="en-US" altLang="ko-KR" dirty="0"/>
              <a:t>/</a:t>
            </a:r>
            <a:r>
              <a:rPr lang="ko-KR" altLang="en-US" dirty="0" smtClean="0"/>
              <a:t>유찰</a:t>
            </a:r>
            <a:r>
              <a:rPr lang="en-US" altLang="ko-KR" dirty="0" smtClean="0"/>
              <a:t/>
            </a:r>
            <a:br>
              <a:rPr lang="en-US" altLang="ko-KR" dirty="0" smtClean="0"/>
            </a:b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738372"/>
            <a:chOff x="701175" y="1527996"/>
            <a:chExt cx="2630093" cy="738372"/>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현황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60" name="직사각형 159"/>
            <p:cNvSpPr/>
            <p:nvPr/>
          </p:nvSpPr>
          <p:spPr>
            <a:xfrm>
              <a:off x="703268" y="1835482"/>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96583"/>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ko-KR" altLang="en-US" sz="700" dirty="0" err="1">
                  <a:latin typeface="+mn-ea"/>
                </a:rPr>
                <a:t>참여품목수</a:t>
              </a:r>
              <a:endParaRPr lang="en-US" altLang="ko-KR" sz="700" dirty="0">
                <a:latin typeface="+mn-ea"/>
              </a:endParaRPr>
            </a:p>
            <a:p>
              <a:pPr>
                <a:lnSpc>
                  <a:spcPct val="200000"/>
                </a:lnSpc>
              </a:pPr>
              <a:r>
                <a:rPr lang="ko-KR" altLang="en-US" sz="700" dirty="0">
                  <a:latin typeface="+mn-ea"/>
                </a:rPr>
                <a:t>총 낙찰</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a:latin typeface="+mn-ea"/>
                </a:rPr>
                <a:t>5</a:t>
              </a:r>
            </a:p>
            <a:p>
              <a:pPr>
                <a:lnSpc>
                  <a:spcPct val="200000"/>
                </a:lnSpc>
              </a:pPr>
              <a:r>
                <a:rPr lang="en-US" altLang="ko-KR" sz="700" dirty="0">
                  <a:latin typeface="+mn-ea"/>
                </a:rPr>
                <a:t>3</a:t>
              </a:r>
            </a:p>
          </p:txBody>
        </p:sp>
        <p:grpSp>
          <p:nvGrpSpPr>
            <p:cNvPr id="17" name="그룹 16"/>
            <p:cNvGrpSpPr/>
            <p:nvPr/>
          </p:nvGrpSpPr>
          <p:grpSpPr>
            <a:xfrm>
              <a:off x="701175" y="1835481"/>
              <a:ext cx="2630093" cy="430887"/>
              <a:chOff x="701175" y="1835481"/>
              <a:chExt cx="2630093" cy="430887"/>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4" name="그룹 53"/>
          <p:cNvGrpSpPr/>
          <p:nvPr/>
        </p:nvGrpSpPr>
        <p:grpSpPr>
          <a:xfrm>
            <a:off x="701175" y="2615478"/>
            <a:ext cx="2630093" cy="861774"/>
            <a:chOff x="701175" y="1835481"/>
            <a:chExt cx="2630093" cy="861774"/>
          </a:xfrm>
        </p:grpSpPr>
        <p:sp>
          <p:nvSpPr>
            <p:cNvPr id="58" name="직사각형 57"/>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smtClean="0">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smtClean="0">
                  <a:latin typeface="+mn-ea"/>
                </a:rPr>
                <a:t>4</a:t>
              </a:r>
              <a:endParaRPr lang="en-US" altLang="ko-KR" sz="700" dirty="0">
                <a:latin typeface="+mn-ea"/>
              </a:endParaRPr>
            </a:p>
          </p:txBody>
        </p:sp>
        <p:grpSp>
          <p:nvGrpSpPr>
            <p:cNvPr id="61" name="그룹 60"/>
            <p:cNvGrpSpPr/>
            <p:nvPr/>
          </p:nvGrpSpPr>
          <p:grpSpPr>
            <a:xfrm>
              <a:off x="701175" y="1835481"/>
              <a:ext cx="2630093" cy="858960"/>
              <a:chOff x="701175" y="1835481"/>
              <a:chExt cx="2630093" cy="858960"/>
            </a:xfrm>
          </p:grpSpPr>
          <p:cxnSp>
            <p:nvCxnSpPr>
              <p:cNvPr id="62" name="직선 연결선 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TextBox 95">
            <a:extLst>
              <a:ext uri="{FF2B5EF4-FFF2-40B4-BE49-F238E27FC236}">
                <a16:creationId xmlns:a16="http://schemas.microsoft.com/office/drawing/2014/main" id="{FFC49AEA-2A8F-250C-A86A-A7751D9706C3}"/>
              </a:ext>
            </a:extLst>
          </p:cNvPr>
          <p:cNvSpPr txBox="1"/>
          <p:nvPr/>
        </p:nvSpPr>
        <p:spPr>
          <a:xfrm>
            <a:off x="762146" y="232294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결과품목</a:t>
            </a:r>
            <a:endParaRPr lang="ko-KR" altLang="en-US" sz="700" dirty="0">
              <a:latin typeface="+mn-ea"/>
            </a:endParaRPr>
          </a:p>
        </p:txBody>
      </p:sp>
      <p:grpSp>
        <p:nvGrpSpPr>
          <p:cNvPr id="98" name="그룹 97"/>
          <p:cNvGrpSpPr/>
          <p:nvPr/>
        </p:nvGrpSpPr>
        <p:grpSpPr>
          <a:xfrm>
            <a:off x="701175" y="3871328"/>
            <a:ext cx="2630093" cy="861774"/>
            <a:chOff x="701175" y="1835481"/>
            <a:chExt cx="2630093" cy="861774"/>
          </a:xfrm>
        </p:grpSpPr>
        <p:sp>
          <p:nvSpPr>
            <p:cNvPr id="99" name="직사각형 98"/>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p:txBody>
        </p:sp>
        <p:grpSp>
          <p:nvGrpSpPr>
            <p:cNvPr id="102" name="그룹 101"/>
            <p:cNvGrpSpPr/>
            <p:nvPr/>
          </p:nvGrpSpPr>
          <p:grpSpPr>
            <a:xfrm>
              <a:off x="701175" y="1835481"/>
              <a:ext cx="2630093" cy="858960"/>
              <a:chOff x="701175" y="1835481"/>
              <a:chExt cx="2630093" cy="85896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08" name="TextBox 107">
            <a:extLst>
              <a:ext uri="{FF2B5EF4-FFF2-40B4-BE49-F238E27FC236}">
                <a16:creationId xmlns:a16="http://schemas.microsoft.com/office/drawing/2014/main" id="{FFC49AEA-2A8F-250C-A86A-A7751D9706C3}"/>
              </a:ext>
            </a:extLst>
          </p:cNvPr>
          <p:cNvSpPr txBox="1"/>
          <p:nvPr/>
        </p:nvSpPr>
        <p:spPr>
          <a:xfrm>
            <a:off x="762146" y="357879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화폐금액</a:t>
            </a:r>
            <a:endParaRPr lang="ko-KR" altLang="en-US" sz="700" dirty="0">
              <a:latin typeface="+mn-ea"/>
            </a:endParaRPr>
          </a:p>
        </p:txBody>
      </p:sp>
      <p:grpSp>
        <p:nvGrpSpPr>
          <p:cNvPr id="109" name="그룹 108"/>
          <p:cNvGrpSpPr/>
          <p:nvPr/>
        </p:nvGrpSpPr>
        <p:grpSpPr>
          <a:xfrm>
            <a:off x="701175" y="5121227"/>
            <a:ext cx="2630093" cy="861774"/>
            <a:chOff x="701175" y="1835481"/>
            <a:chExt cx="2630093" cy="861774"/>
          </a:xfrm>
        </p:grpSpPr>
        <p:sp>
          <p:nvSpPr>
            <p:cNvPr id="110" name="직사각형 109"/>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 USD</a:t>
              </a:r>
            </a:p>
            <a:p>
              <a:pPr algn="r">
                <a:lnSpc>
                  <a:spcPct val="200000"/>
                </a:lnSpc>
              </a:pPr>
              <a:r>
                <a:rPr lang="en-US" altLang="ko-KR" sz="700" dirty="0">
                  <a:latin typeface="+mn-ea"/>
                </a:rPr>
                <a:t>000,000,000.00 USD</a:t>
              </a:r>
            </a:p>
            <a:p>
              <a:pPr algn="r">
                <a:lnSpc>
                  <a:spcPct val="200000"/>
                </a:lnSpc>
              </a:pPr>
              <a:r>
                <a:rPr lang="en-US" altLang="ko-KR" sz="700" dirty="0">
                  <a:latin typeface="+mn-ea"/>
                </a:rPr>
                <a:t>0.00 USD</a:t>
              </a:r>
            </a:p>
            <a:p>
              <a:pPr algn="r">
                <a:lnSpc>
                  <a:spcPct val="200000"/>
                </a:lnSpc>
              </a:pPr>
              <a:r>
                <a:rPr lang="en-US" altLang="ko-KR" sz="700" dirty="0">
                  <a:latin typeface="+mn-ea"/>
                </a:rPr>
                <a:t>000,000,000.00 USD</a:t>
              </a:r>
            </a:p>
          </p:txBody>
        </p:sp>
        <p:grpSp>
          <p:nvGrpSpPr>
            <p:cNvPr id="113" name="그룹 112"/>
            <p:cNvGrpSpPr/>
            <p:nvPr/>
          </p:nvGrpSpPr>
          <p:grpSpPr>
            <a:xfrm>
              <a:off x="701175" y="1835481"/>
              <a:ext cx="2630093" cy="858960"/>
              <a:chOff x="701175" y="1835481"/>
              <a:chExt cx="2630093" cy="858960"/>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9" name="TextBox 118">
            <a:extLst>
              <a:ext uri="{FF2B5EF4-FFF2-40B4-BE49-F238E27FC236}">
                <a16:creationId xmlns:a16="http://schemas.microsoft.com/office/drawing/2014/main" id="{FFC49AEA-2A8F-250C-A86A-A7751D9706C3}"/>
              </a:ext>
            </a:extLst>
          </p:cNvPr>
          <p:cNvSpPr txBox="1"/>
          <p:nvPr/>
        </p:nvSpPr>
        <p:spPr>
          <a:xfrm>
            <a:off x="762146" y="4828696"/>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달러금액</a:t>
            </a:r>
            <a:endParaRPr lang="ko-KR" altLang="en-US" sz="700" dirty="0">
              <a:latin typeface="+mn-ea"/>
            </a:endParaRPr>
          </a:p>
        </p:txBody>
      </p:sp>
      <p:grpSp>
        <p:nvGrpSpPr>
          <p:cNvPr id="120" name="그룹 119"/>
          <p:cNvGrpSpPr/>
          <p:nvPr/>
        </p:nvGrpSpPr>
        <p:grpSpPr>
          <a:xfrm>
            <a:off x="3836701" y="1527996"/>
            <a:ext cx="2630093" cy="2677365"/>
            <a:chOff x="701175" y="1527996"/>
            <a:chExt cx="2630093" cy="2677365"/>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23" name="직사각형 122"/>
            <p:cNvSpPr/>
            <p:nvPr/>
          </p:nvSpPr>
          <p:spPr>
            <a:xfrm>
              <a:off x="703268" y="1835482"/>
              <a:ext cx="792000" cy="2369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36988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지시단가</a:t>
              </a:r>
              <a:endParaRPr lang="en-US" altLang="ko-KR" sz="700" dirty="0">
                <a:latin typeface="+mn-ea"/>
              </a:endParaRPr>
            </a:p>
            <a:p>
              <a:pPr>
                <a:lnSpc>
                  <a:spcPct val="200000"/>
                </a:lnSpc>
              </a:pPr>
              <a:r>
                <a:rPr lang="ko-KR" altLang="en-US" sz="700" dirty="0" err="1">
                  <a:latin typeface="+mn-ea"/>
                </a:rPr>
                <a:t>입찰단가</a:t>
              </a:r>
              <a:endParaRPr lang="en-US" altLang="ko-KR" sz="700" dirty="0">
                <a:latin typeface="+mn-ea"/>
              </a:endParaRPr>
            </a:p>
            <a:p>
              <a:pPr>
                <a:lnSpc>
                  <a:spcPct val="200000"/>
                </a:lnSpc>
              </a:pPr>
              <a:r>
                <a:rPr lang="ko-KR" altLang="en-US" sz="700" dirty="0" err="1">
                  <a:latin typeface="+mn-ea"/>
                </a:rPr>
                <a:t>달러단가</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500MD</a:t>
              </a:r>
            </a:p>
            <a:p>
              <a:pPr>
                <a:lnSpc>
                  <a:spcPct val="200000"/>
                </a:lnSpc>
              </a:pPr>
              <a:r>
                <a:rPr lang="en-US" altLang="ko-KR" sz="700" dirty="0">
                  <a:latin typeface="+mn-ea"/>
                </a:rPr>
                <a:t>000 000 0000</a:t>
              </a:r>
            </a:p>
            <a:p>
              <a:pPr>
                <a:lnSpc>
                  <a:spcPct val="200000"/>
                </a:lnSpc>
              </a:pPr>
              <a:r>
                <a:rPr lang="en-US" altLang="ko-KR" sz="700" dirty="0">
                  <a:latin typeface="+mn-ea"/>
                </a:rPr>
                <a:t>0000</a:t>
              </a:r>
            </a:p>
            <a:p>
              <a:pPr>
                <a:lnSpc>
                  <a:spcPct val="200000"/>
                </a:lnSpc>
              </a:pPr>
              <a:r>
                <a:rPr lang="en-US" altLang="ko-KR" sz="700" dirty="0">
                  <a:latin typeface="+mn-ea"/>
                </a:rPr>
                <a:t>EA</a:t>
              </a:r>
            </a:p>
            <a:p>
              <a:pPr>
                <a:lnSpc>
                  <a:spcPct val="200000"/>
                </a:lnSpc>
              </a:pPr>
              <a:r>
                <a:rPr lang="en-US" altLang="ko-KR" sz="700" dirty="0">
                  <a:latin typeface="+mn-ea"/>
                </a:rPr>
                <a:t>5</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gn="r">
                <a:lnSpc>
                  <a:spcPct val="200000"/>
                </a:lnSpc>
              </a:pPr>
              <a:r>
                <a:rPr lang="en-US" altLang="ko-KR" sz="700" dirty="0">
                  <a:latin typeface="+mn-ea"/>
                </a:rPr>
                <a:t>1,000.00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2361170"/>
              <a:chOff x="701175" y="1835481"/>
              <a:chExt cx="2630093" cy="2361170"/>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453541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681839"/>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4535413"/>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p:txBody>
      </p:sp>
      <p:grpSp>
        <p:nvGrpSpPr>
          <p:cNvPr id="151" name="그룹 150"/>
          <p:cNvGrpSpPr/>
          <p:nvPr/>
        </p:nvGrpSpPr>
        <p:grpSpPr>
          <a:xfrm>
            <a:off x="3821510" y="4535413"/>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453541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542091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23603" y="4195427"/>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422196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5754600"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6285240"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1" name="타원 190">
            <a:extLst>
              <a:ext uri="{FF2B5EF4-FFF2-40B4-BE49-F238E27FC236}">
                <a16:creationId xmlns:a16="http://schemas.microsoft.com/office/drawing/2014/main" id="{37A7FF4F-0EAA-1463-560A-D5EC24416103}"/>
              </a:ext>
            </a:extLst>
          </p:cNvPr>
          <p:cNvSpPr/>
          <p:nvPr/>
        </p:nvSpPr>
        <p:spPr>
          <a:xfrm>
            <a:off x="3674573"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310932128"/>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a:t>
            </a:r>
            <a:r>
              <a:rPr lang="ko-KR" altLang="en-US" dirty="0" smtClean="0"/>
              <a:t>영역</a:t>
            </a:r>
            <a:r>
              <a:rPr lang="en-US" altLang="ko-KR" dirty="0"/>
              <a:t/>
            </a:r>
            <a:br>
              <a:rPr lang="en-US" altLang="ko-KR" dirty="0"/>
            </a:br>
            <a:r>
              <a:rPr lang="en-US" altLang="ko-KR" dirty="0" smtClean="0"/>
              <a:t>- </a:t>
            </a:r>
            <a:r>
              <a:rPr lang="ko-KR" altLang="en-US" dirty="0"/>
              <a:t>필터 정보</a:t>
            </a:r>
            <a:r>
              <a:rPr lang="en-US" altLang="ko-KR" dirty="0"/>
              <a:t/>
            </a:r>
            <a:br>
              <a:rPr lang="en-US" altLang="ko-KR" dirty="0"/>
            </a:br>
            <a:r>
              <a:rPr lang="en-US" altLang="ko-KR" dirty="0"/>
              <a:t>- </a:t>
            </a:r>
            <a:r>
              <a:rPr lang="ko-KR" altLang="en-US" dirty="0"/>
              <a:t>결과 전체</a:t>
            </a:r>
            <a:r>
              <a:rPr lang="en-US" altLang="ko-KR" dirty="0"/>
              <a:t>/</a:t>
            </a:r>
            <a:r>
              <a:rPr lang="ko-KR" altLang="en-US" dirty="0"/>
              <a:t>낙찰</a:t>
            </a:r>
            <a:r>
              <a:rPr lang="en-US" altLang="ko-KR" dirty="0"/>
              <a:t>/</a:t>
            </a:r>
            <a:r>
              <a:rPr lang="ko-KR" altLang="en-US" dirty="0" err="1"/>
              <a:t>조건부낙찰</a:t>
            </a:r>
            <a:r>
              <a:rPr lang="en-US" altLang="ko-KR" dirty="0"/>
              <a:t>/</a:t>
            </a:r>
            <a:r>
              <a:rPr lang="ko-KR" altLang="en-US" dirty="0" err="1"/>
              <a:t>동가낙찰</a:t>
            </a:r>
            <a:r>
              <a:rPr lang="en-US" altLang="ko-KR" dirty="0"/>
              <a:t>/</a:t>
            </a:r>
            <a:r>
              <a:rPr lang="ko-KR" altLang="en-US" dirty="0"/>
              <a:t>유찰</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1607397"/>
            <a:chOff x="701175" y="1527996"/>
            <a:chExt cx="2630093" cy="1607397"/>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총액제</a:t>
              </a:r>
              <a:endParaRPr lang="ko-KR" altLang="en-US" sz="700" dirty="0">
                <a:latin typeface="+mn-ea"/>
              </a:endParaRPr>
            </a:p>
          </p:txBody>
        </p:sp>
        <p:sp>
          <p:nvSpPr>
            <p:cNvPr id="123" name="직사각형 122"/>
            <p:cNvSpPr/>
            <p:nvPr/>
          </p:nvSpPr>
          <p:spPr>
            <a:xfrm>
              <a:off x="703268" y="1835482"/>
              <a:ext cx="792000" cy="1299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1299912"/>
              <a:chOff x="701175" y="1835481"/>
              <a:chExt cx="2630093" cy="1299912"/>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790330" y="2048035"/>
              <a:ext cx="728979"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808106"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1992981"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3134448"/>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316098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2642807"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3178564"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15696" y="3474433"/>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3688103"/>
              <a:ext cx="725552"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Tree>
    <p:extLst>
      <p:ext uri="{BB962C8B-B14F-4D97-AF65-F5344CB8AC3E}">
        <p14:creationId xmlns:p14="http://schemas.microsoft.com/office/powerpoint/2010/main" val="3525846749"/>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188296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098135"/>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52481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1412260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54242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0582332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17673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355004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015800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13063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72055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01101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9210485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206156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953094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96946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91234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813889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개찰일시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0934530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267422"/>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3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결과품목수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CC5CA5F-A56C-947E-3DA0-50BEC1B4EB71}"/>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414</a:t>
            </a:fld>
            <a:endParaRPr lang="ko-KR" altLang="en-US"/>
          </a:p>
        </p:txBody>
      </p:sp>
    </p:spTree>
    <p:extLst>
      <p:ext uri="{BB962C8B-B14F-4D97-AF65-F5344CB8AC3E}">
        <p14:creationId xmlns:p14="http://schemas.microsoft.com/office/powerpoint/2010/main" val="1996407742"/>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443059"/>
            <a:ext cx="3140851"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mn-ea"/>
                        </a:rPr>
                        <a:t>조건부낙찰</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동가낙찰 제외</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한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품목수</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동가낙찰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낙찰품목수소계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품목수 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유찰품목수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flbdItemQty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유찰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657920"/>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44771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92821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15928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4961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415281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78473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1C12B8AE-5B19-18BA-D496-3D089AB6925F}"/>
              </a:ext>
            </a:extLst>
          </p:cNvPr>
          <p:cNvSpPr txBox="1"/>
          <p:nvPr/>
        </p:nvSpPr>
        <p:spPr>
          <a:xfrm>
            <a:off x="458117" y="486118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06BB5DAA-99C5-BA21-5A3C-6F00793397F1}"/>
              </a:ext>
            </a:extLst>
          </p:cNvPr>
          <p:cNvGraphicFramePr>
            <a:graphicFrameLocks noGrp="1"/>
          </p:cNvGraphicFramePr>
          <p:nvPr/>
        </p:nvGraphicFramePr>
        <p:xfrm>
          <a:off x="452999" y="507239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대표자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 </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성명</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Tree>
    <p:extLst>
      <p:ext uri="{BB962C8B-B14F-4D97-AF65-F5344CB8AC3E}">
        <p14:creationId xmlns:p14="http://schemas.microsoft.com/office/powerpoint/2010/main" val="1680648147"/>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18252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118124">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E7CF87E-2DAB-D141-F31D-820DE47E7484}"/>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416</a:t>
            </a:fld>
            <a:endParaRPr lang="ko-KR" altLang="en-US"/>
          </a:p>
        </p:txBody>
      </p:sp>
      <p:sp>
        <p:nvSpPr>
          <p:cNvPr id="3" name="TextBox 2">
            <a:extLst>
              <a:ext uri="{FF2B5EF4-FFF2-40B4-BE49-F238E27FC236}">
                <a16:creationId xmlns:a16="http://schemas.microsoft.com/office/drawing/2014/main" id="{1419C45B-659A-1634-F61C-734ECF2B62B4}"/>
              </a:ext>
            </a:extLst>
          </p:cNvPr>
          <p:cNvSpPr txBox="1"/>
          <p:nvPr/>
        </p:nvSpPr>
        <p:spPr>
          <a:xfrm>
            <a:off x="458117" y="368099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7B091E4-EF5E-BBA1-BB46-5D38DD32D237}"/>
              </a:ext>
            </a:extLst>
          </p:cNvPr>
          <p:cNvGraphicFramePr>
            <a:graphicFrameLocks noGrp="1"/>
          </p:cNvGraphicFramePr>
          <p:nvPr/>
        </p:nvGraphicFramePr>
        <p:xfrm>
          <a:off x="452999" y="389220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b="0" i="0" u="none" strike="noStrike">
                          <a:solidFill>
                            <a:srgbClr val="000000"/>
                          </a:solidFill>
                          <a:effectLst/>
                          <a:latin typeface="맑은 고딕" panose="020B0503020000020004" pitchFamily="50" charset="-127"/>
                          <a:ea typeface="+mn-ea"/>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bdngTccrAmt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bdngUsdAmt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bidRslt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bl>
          </a:graphicData>
        </a:graphic>
      </p:graphicFrame>
    </p:spTree>
    <p:extLst>
      <p:ext uri="{BB962C8B-B14F-4D97-AF65-F5344CB8AC3E}">
        <p14:creationId xmlns:p14="http://schemas.microsoft.com/office/powerpoint/2010/main" val="1885907383"/>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4503872-DC52-2719-594F-B132D1F61CBD}"/>
              </a:ext>
            </a:extLst>
          </p:cNvPr>
          <p:cNvSpPr>
            <a:spLocks noGrp="1"/>
          </p:cNvSpPr>
          <p:nvPr>
            <p:ph type="sldNum" sz="quarter" idx="4"/>
          </p:nvPr>
        </p:nvSpPr>
        <p:spPr/>
        <p:txBody>
          <a:bodyPr/>
          <a:lstStyle/>
          <a:p>
            <a:fld id="{34C8E023-7346-48FC-AB24-9A3388C53208}" type="slidenum">
              <a:rPr lang="ko-KR" altLang="en-US" smtClean="0"/>
              <a:pPr/>
              <a:t>417</a:t>
            </a:fld>
            <a:endParaRPr lang="ko-KR" altLang="en-US" dirty="0"/>
          </a:p>
        </p:txBody>
      </p:sp>
      <p:sp>
        <p:nvSpPr>
          <p:cNvPr id="3" name="TextBox 2">
            <a:extLst>
              <a:ext uri="{FF2B5EF4-FFF2-40B4-BE49-F238E27FC236}">
                <a16:creationId xmlns:a16="http://schemas.microsoft.com/office/drawing/2014/main" id="{B0C640B7-6606-C01A-7E64-B6327FC84E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DAC90FD-3651-F4AA-9B00-0621ACA72A51}"/>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1475458">
                  <a:extLst>
                    <a:ext uri="{9D8B030D-6E8A-4147-A177-3AD203B41FA5}">
                      <a16:colId xmlns:a16="http://schemas.microsoft.com/office/drawing/2014/main" val="20000"/>
                    </a:ext>
                  </a:extLst>
                </a:gridCol>
                <a:gridCol w="1485900">
                  <a:extLst>
                    <a:ext uri="{9D8B030D-6E8A-4147-A177-3AD203B41FA5}">
                      <a16:colId xmlns:a16="http://schemas.microsoft.com/office/drawing/2014/main" val="624624882"/>
                    </a:ext>
                  </a:extLst>
                </a:gridCol>
                <a:gridCol w="3067050">
                  <a:extLst>
                    <a:ext uri="{9D8B030D-6E8A-4147-A177-3AD203B41FA5}">
                      <a16:colId xmlns:a16="http://schemas.microsoft.com/office/drawing/2014/main" val="20001"/>
                    </a:ext>
                  </a:extLst>
                </a:gridCol>
                <a:gridCol w="296718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및 입찰결과현황</a:t>
                      </a:r>
                      <a:r>
                        <a:rPr lang="en-US" altLang="ko-KR" sz="800" dirty="0">
                          <a:latin typeface="+mn-ea"/>
                          <a:ea typeface="+mn-ea"/>
                        </a:rPr>
                        <a:t>, </a:t>
                      </a:r>
                      <a:r>
                        <a:rPr lang="ko-KR" altLang="en-US" sz="800" dirty="0">
                          <a:latin typeface="+mn-ea"/>
                          <a:ea typeface="+mn-ea"/>
                        </a:rPr>
                        <a:t>품목별입찰결과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항목별입찰내역목록</a:t>
                      </a:r>
                      <a:r>
                        <a:rPr lang="en-US" altLang="ko-KR" sz="800" dirty="0">
                          <a:latin typeface="+mn-ea"/>
                          <a:ea typeface="+mn-ea"/>
                        </a:rPr>
                        <a:t>, </a:t>
                      </a:r>
                      <a:r>
                        <a:rPr lang="ko-KR" altLang="en-US" sz="800" dirty="0">
                          <a:latin typeface="+mn-ea"/>
                          <a:ea typeface="+mn-ea"/>
                        </a:rPr>
                        <a:t>입찰결과현황조회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6D42CA82-C372-AB60-2BE8-BE0015D2F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5868897"/>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err="1" smtClean="0"/>
              <a:t>뒤로가기</a:t>
            </a:r>
            <a:r>
              <a:rPr lang="ko-KR" altLang="en-US" dirty="0" smtClean="0"/>
              <a:t> 버튼 클릭</a:t>
            </a:r>
            <a:r>
              <a:rPr lang="en-US" altLang="ko-KR" dirty="0" smtClean="0"/>
              <a:t/>
            </a:r>
            <a:br>
              <a:rPr lang="en-US" altLang="ko-KR" dirty="0" smtClean="0"/>
            </a:br>
            <a:r>
              <a:rPr lang="en-US" altLang="ko-KR" dirty="0" smtClean="0"/>
              <a:t>- </a:t>
            </a:r>
            <a:r>
              <a:rPr lang="ko-KR" altLang="en-US" dirty="0" smtClean="0"/>
              <a:t>진입한 공고 목록으로 이동</a:t>
            </a:r>
            <a:endParaRPr lang="en-US" altLang="ko-KR" dirty="0" smtClean="0"/>
          </a:p>
          <a:p>
            <a:pPr marL="88900" indent="-88900">
              <a:buFont typeface="+mj-lt"/>
              <a:buAutoNum type="arabicPeriod"/>
            </a:pPr>
            <a:r>
              <a:rPr lang="ko-KR" altLang="en-US" dirty="0" smtClean="0"/>
              <a:t>타이틀 </a:t>
            </a:r>
            <a:r>
              <a:rPr lang="ko-KR" altLang="en-US" dirty="0"/>
              <a:t>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a:t>
            </a:r>
            <a:r>
              <a:rPr lang="ko-KR" altLang="en-US" dirty="0" smtClean="0"/>
              <a:t>표시</a:t>
            </a:r>
            <a:endParaRPr lang="en-US" altLang="ko-KR" dirty="0" smtClean="0"/>
          </a:p>
          <a:p>
            <a:pPr marL="88900" indent="-88900">
              <a:buFont typeface="+mj-lt"/>
              <a:buAutoNum type="arabicPeriod"/>
            </a:pPr>
            <a:r>
              <a:rPr lang="en-US" altLang="ko-KR" dirty="0" smtClean="0"/>
              <a:t>+ </a:t>
            </a:r>
            <a:r>
              <a:rPr lang="ko-KR" altLang="en-US" dirty="0" err="1" smtClean="0"/>
              <a:t>더보기</a:t>
            </a:r>
            <a:r>
              <a:rPr lang="ko-KR" altLang="en-US" dirty="0"/>
              <a:t> </a:t>
            </a:r>
            <a:r>
              <a:rPr lang="ko-KR" altLang="en-US" dirty="0" smtClean="0"/>
              <a:t>버튼</a:t>
            </a:r>
            <a:r>
              <a:rPr lang="en-US" altLang="ko-KR" dirty="0" smtClean="0"/>
              <a:t/>
            </a:r>
            <a:br>
              <a:rPr lang="en-US" altLang="ko-KR" dirty="0" smtClean="0"/>
            </a:br>
            <a:r>
              <a:rPr lang="en-US" altLang="ko-KR" dirty="0" smtClean="0"/>
              <a:t>- </a:t>
            </a:r>
            <a:r>
              <a:rPr lang="ko-KR" altLang="en-US" dirty="0" smtClean="0"/>
              <a:t>견적서 작성 </a:t>
            </a:r>
            <a:r>
              <a:rPr lang="en-US" altLang="ko-KR" dirty="0" smtClean="0"/>
              <a:t>(MUI-BD-12-M74 </a:t>
            </a:r>
            <a:r>
              <a:rPr lang="ko-KR" altLang="en-US" dirty="0" err="1" smtClean="0"/>
              <a:t>공개수의협상견적서제출</a:t>
            </a:r>
            <a:r>
              <a:rPr lang="en-US" altLang="ko-KR" dirty="0" smtClean="0"/>
              <a:t>)</a:t>
            </a:r>
            <a:br>
              <a:rPr lang="en-US" altLang="ko-KR" dirty="0" smtClean="0"/>
            </a:br>
            <a:r>
              <a:rPr lang="en-US" altLang="ko-KR" dirty="0" smtClean="0"/>
              <a:t>  &gt; </a:t>
            </a:r>
            <a:r>
              <a:rPr lang="ko-KR" altLang="en-US" dirty="0" smtClean="0"/>
              <a:t>협상 대상이 아닌 경우 토스트 메시지</a:t>
            </a:r>
            <a:r>
              <a:rPr lang="en-US" altLang="ko-KR" dirty="0" smtClean="0"/>
              <a:t/>
            </a:r>
            <a:br>
              <a:rPr lang="en-US" altLang="ko-KR" dirty="0" smtClean="0"/>
            </a:br>
            <a:r>
              <a:rPr lang="en-US" altLang="ko-KR" dirty="0" smtClean="0"/>
              <a:t>  &gt; </a:t>
            </a:r>
            <a:r>
              <a:rPr lang="ko-KR" altLang="en-US" dirty="0" smtClean="0"/>
              <a:t>견적서 작성을 할 수 없습니다</a:t>
            </a:r>
            <a:r>
              <a:rPr lang="en-US" altLang="ko-KR" dirty="0" smtClean="0"/>
              <a:t>.</a:t>
            </a:r>
            <a:br>
              <a:rPr lang="en-US" altLang="ko-KR" dirty="0" smtClean="0"/>
            </a:br>
            <a:r>
              <a:rPr lang="en-US" altLang="ko-KR" dirty="0" smtClean="0"/>
              <a:t>- </a:t>
            </a:r>
            <a:r>
              <a:rPr lang="ko-KR" altLang="en-US" dirty="0" smtClean="0"/>
              <a:t>견적서 조회 (</a:t>
            </a:r>
            <a:r>
              <a:rPr lang="en-US" altLang="ko-KR" dirty="0" smtClean="0"/>
              <a:t>MUI-BD-12-M78 </a:t>
            </a:r>
            <a:r>
              <a:rPr lang="ko-KR" altLang="en-US" dirty="0" err="1"/>
              <a:t>공개수의협상견적서상세</a:t>
            </a:r>
            <a:r>
              <a:rPr lang="en-US" altLang="ko-KR" dirty="0" smtClean="0"/>
              <a:t>)</a:t>
            </a:r>
            <a:br>
              <a:rPr lang="en-US" altLang="ko-KR" dirty="0" smtClean="0"/>
            </a:br>
            <a:r>
              <a:rPr lang="en-US" altLang="ko-KR" dirty="0" smtClean="0"/>
              <a:t>  &gt; </a:t>
            </a:r>
            <a:r>
              <a:rPr lang="ko-KR" altLang="en-US" dirty="0" smtClean="0"/>
              <a:t>작성된 견적서가 없는 경우 토스트 메시지</a:t>
            </a:r>
            <a:r>
              <a:rPr lang="en-US" altLang="ko-KR" dirty="0" smtClean="0"/>
              <a:t/>
            </a:r>
            <a:br>
              <a:rPr lang="en-US" altLang="ko-KR" dirty="0" smtClean="0"/>
            </a:br>
            <a:r>
              <a:rPr lang="en-US" altLang="ko-KR" dirty="0" smtClean="0"/>
              <a:t>  &gt; </a:t>
            </a:r>
            <a:r>
              <a:rPr lang="ko-KR" altLang="en-US" dirty="0" smtClean="0"/>
              <a:t>조회할 견적서가 없습니다</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2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36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3581"/>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8646"/>
            <a:ext cx="692497"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a:latin typeface="+mn-ea"/>
              </a:rPr>
              <a:t>총 금액</a:t>
            </a:r>
            <a:endParaRPr lang="en-US" altLang="ko-KR" sz="600" dirty="0">
              <a:latin typeface="+mn-ea"/>
            </a:endParaRPr>
          </a:p>
          <a:p>
            <a:pPr>
              <a:lnSpc>
                <a:spcPct val="150000"/>
              </a:lnSpc>
            </a:pPr>
            <a:r>
              <a:rPr lang="ko-KR" altLang="en-US" sz="600" dirty="0">
                <a:latin typeface="+mn-ea"/>
              </a:rPr>
              <a:t>견적서제출마감일시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623357" y="290325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$ 126,000.18</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614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15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69929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699294"/>
            <a:ext cx="447776" cy="107722"/>
          </a:xfrm>
          <a:prstGeom prst="rect">
            <a:avLst/>
          </a:prstGeom>
          <a:noFill/>
        </p:spPr>
        <p:txBody>
          <a:bodyPr wrap="square" lIns="0" tIns="0" rIns="0" bIns="0" rtlCol="0">
            <a:spAutoFit/>
          </a:bodyPr>
          <a:lstStyle/>
          <a:p>
            <a:pPr algn="ctr"/>
            <a:r>
              <a:rPr lang="ko-KR" altLang="en-US" sz="700" dirty="0" smtClean="0">
                <a:latin typeface="+mn-ea"/>
              </a:rPr>
              <a:t>품목 목록</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1590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66117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66709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0" name="모서리가 둥근 직사각형 149"/>
          <p:cNvSpPr/>
          <p:nvPr/>
        </p:nvSpPr>
        <p:spPr>
          <a:xfrm>
            <a:off x="1057559" y="239925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2399250"/>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022232"/>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1890743" y="3699294"/>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994275" y="2250612"/>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432020" y="3699294"/>
            <a:ext cx="447776" cy="107722"/>
          </a:xfrm>
          <a:prstGeom prst="rect">
            <a:avLst/>
          </a:prstGeom>
          <a:noFill/>
        </p:spPr>
        <p:txBody>
          <a:bodyPr wrap="square" lIns="0" tIns="0" rIns="0" bIns="0" rtlCol="0">
            <a:spAutoFit/>
          </a:bodyPr>
          <a:lstStyle/>
          <a:p>
            <a:pPr algn="ctr"/>
            <a:r>
              <a:rPr lang="ko-KR" altLang="en-US" sz="700" smtClean="0">
                <a:latin typeface="+mn-ea"/>
              </a:rPr>
              <a:t>견적서목록</a:t>
            </a:r>
            <a:endParaRPr lang="ko-KR" altLang="en-US" sz="700" dirty="0">
              <a:latin typeface="+mn-ea"/>
            </a:endParaRPr>
          </a:p>
        </p:txBody>
      </p:sp>
      <p:grpSp>
        <p:nvGrpSpPr>
          <p:cNvPr id="125" name="그룹 124"/>
          <p:cNvGrpSpPr/>
          <p:nvPr/>
        </p:nvGrpSpPr>
        <p:grpSpPr>
          <a:xfrm>
            <a:off x="677960" y="1582647"/>
            <a:ext cx="2714637" cy="686386"/>
            <a:chOff x="677960" y="1582647"/>
            <a:chExt cx="2714637" cy="686386"/>
          </a:xfrm>
        </p:grpSpPr>
        <p:sp>
          <p:nvSpPr>
            <p:cNvPr id="126" name="TextBox 12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공개수의협상 </a:t>
              </a:r>
              <a:r>
                <a:rPr lang="ko-KR" altLang="en-US" sz="800" dirty="0" err="1">
                  <a:latin typeface="+mn-ea"/>
                </a:rPr>
                <a:t>계획상세</a:t>
              </a:r>
              <a:endParaRPr lang="ko-KR" altLang="en-US" sz="8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9" name="그룹 128"/>
            <p:cNvGrpSpPr/>
            <p:nvPr/>
          </p:nvGrpSpPr>
          <p:grpSpPr>
            <a:xfrm rot="5400000">
              <a:off x="852159" y="2062596"/>
              <a:ext cx="94010" cy="47005"/>
              <a:chOff x="6812560" y="3297172"/>
              <a:chExt cx="94010" cy="47005"/>
            </a:xfrm>
          </p:grpSpPr>
          <p:cxnSp>
            <p:nvCxnSpPr>
              <p:cNvPr id="136" name="직선 연결선 1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7" name="직선 연결선 1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0" name="그룹 129"/>
            <p:cNvGrpSpPr/>
            <p:nvPr/>
          </p:nvGrpSpPr>
          <p:grpSpPr>
            <a:xfrm>
              <a:off x="677960" y="1582647"/>
              <a:ext cx="2712027" cy="324286"/>
              <a:chOff x="677960" y="1582647"/>
              <a:chExt cx="2712027" cy="324286"/>
            </a:xfrm>
          </p:grpSpPr>
          <p:pic>
            <p:nvPicPr>
              <p:cNvPr id="13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2" name="직선 연결선 13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타원 13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8" name="타원 137">
            <a:extLst>
              <a:ext uri="{FF2B5EF4-FFF2-40B4-BE49-F238E27FC236}">
                <a16:creationId xmlns:a16="http://schemas.microsoft.com/office/drawing/2014/main" id="{37A7FF4F-0EAA-1463-560A-D5EC24416103}"/>
              </a:ext>
            </a:extLst>
          </p:cNvPr>
          <p:cNvSpPr/>
          <p:nvPr/>
        </p:nvSpPr>
        <p:spPr>
          <a:xfrm>
            <a:off x="571127" y="192428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9" name="타원 138">
            <a:extLst>
              <a:ext uri="{FF2B5EF4-FFF2-40B4-BE49-F238E27FC236}">
                <a16:creationId xmlns:a16="http://schemas.microsoft.com/office/drawing/2014/main" id="{37A7FF4F-0EAA-1463-560A-D5EC24416103}"/>
              </a:ext>
            </a:extLst>
          </p:cNvPr>
          <p:cNvSpPr/>
          <p:nvPr/>
        </p:nvSpPr>
        <p:spPr>
          <a:xfrm>
            <a:off x="6719458" y="569551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277941956"/>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8"/>
            <a:chOff x="701175" y="1527996"/>
            <a:chExt cx="2630093" cy="2892808"/>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3" name="TextBox 82">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400" y="4520145"/>
            <a:ext cx="2712026" cy="965915"/>
            <a:chOff x="3795735" y="1461535"/>
            <a:chExt cx="2712026" cy="965915"/>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54" name="직선 연결선 53">
              <a:extLst>
                <a:ext uri="{FF2B5EF4-FFF2-40B4-BE49-F238E27FC236}">
                  <a16:creationId xmlns:a16="http://schemas.microsoft.com/office/drawing/2014/main" id="{E9293055-D5CD-4B9E-7F64-64B2D2CA7A52}"/>
                </a:ext>
              </a:extLst>
            </p:cNvPr>
            <p:cNvCxnSpPr/>
            <p:nvPr/>
          </p:nvCxnSpPr>
          <p:spPr>
            <a:xfrm>
              <a:off x="3795735" y="146153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100887522"/>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smtClean="0"/>
          </a:p>
          <a:p>
            <a:pPr>
              <a:buFont typeface="+mj-lt"/>
              <a:buAutoNum type="arabicPeriod"/>
            </a:pPr>
            <a:r>
              <a:rPr lang="ko-KR" altLang="en-US" dirty="0" err="1"/>
              <a:t>첨부문서</a:t>
            </a:r>
            <a:r>
              <a:rPr lang="ko-KR" altLang="en-US" dirty="0"/>
              <a:t> 클릭 이벤트</a:t>
            </a:r>
            <a:r>
              <a:rPr lang="en-US" altLang="ko-KR" dirty="0"/>
              <a:t/>
            </a:r>
            <a:br>
              <a:rPr lang="en-US" altLang="ko-KR" dirty="0"/>
            </a:br>
            <a:r>
              <a:rPr lang="en-US" altLang="ko-KR" dirty="0">
                <a:solidFill>
                  <a:srgbClr val="FF0000"/>
                </a:solidFill>
              </a:rPr>
              <a:t>- </a:t>
            </a:r>
            <a:r>
              <a:rPr lang="ko-KR" altLang="en-US" dirty="0">
                <a:solidFill>
                  <a:srgbClr val="FF0000"/>
                </a:solidFill>
              </a:rPr>
              <a:t>첨부파일 조회 </a:t>
            </a:r>
            <a:r>
              <a:rPr lang="en-US" altLang="ko-KR" dirty="0">
                <a:solidFill>
                  <a:srgbClr val="FF0000"/>
                </a:solidFill>
                <a:latin typeface="맑은 고딕" panose="020B0503020000020004" pitchFamily="50" charset="-127"/>
              </a:rPr>
              <a:t>MUI-BD-01-P76 </a:t>
            </a:r>
            <a:r>
              <a:rPr lang="ko-KR" altLang="en-US" dirty="0">
                <a:solidFill>
                  <a:srgbClr val="FF0000"/>
                </a:solidFill>
                <a:latin typeface="맑은 고딕" panose="020B0503020000020004" pitchFamily="50" charset="-127"/>
              </a:rPr>
              <a:t>팝업 호출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a:t>
            </a:r>
            <a:r>
              <a:rPr lang="ko-KR" altLang="en-US" dirty="0">
                <a:solidFill>
                  <a:srgbClr val="FF0000"/>
                </a:solidFill>
              </a:rPr>
              <a:t> 유무를 </a:t>
            </a:r>
            <a:r>
              <a:rPr lang="en-US" altLang="ko-KR" dirty="0">
                <a:solidFill>
                  <a:srgbClr val="FF0000"/>
                </a:solidFill>
              </a:rPr>
              <a:t>O, X</a:t>
            </a:r>
            <a:r>
              <a:rPr lang="ko-KR" altLang="en-US" dirty="0">
                <a:solidFill>
                  <a:srgbClr val="FF0000"/>
                </a:solidFill>
              </a:rPr>
              <a:t>로 표시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첨부문서가</a:t>
            </a:r>
            <a:r>
              <a:rPr lang="ko-KR" altLang="en-US" dirty="0">
                <a:solidFill>
                  <a:srgbClr val="FF0000"/>
                </a:solidFill>
              </a:rPr>
              <a:t> 있는 경우 보기 버튼 표시</a:t>
            </a:r>
            <a:r>
              <a:rPr lang="en-US" altLang="ko-KR" dirty="0">
                <a:solidFill>
                  <a:srgbClr val="FF0000"/>
                </a:solidFill>
              </a:rPr>
              <a:t/>
            </a:r>
            <a:br>
              <a:rPr lang="en-US" altLang="ko-KR" dirty="0">
                <a:solidFill>
                  <a:srgbClr val="FF0000"/>
                </a:solidFill>
              </a:rPr>
            </a:br>
            <a:r>
              <a:rPr lang="en-US" altLang="ko-KR" dirty="0">
                <a:solidFill>
                  <a:srgbClr val="FF0000"/>
                </a:solidFill>
              </a:rPr>
              <a:t>  &gt; </a:t>
            </a:r>
            <a:r>
              <a:rPr lang="ko-KR" altLang="en-US" dirty="0">
                <a:solidFill>
                  <a:srgbClr val="FF0000"/>
                </a:solidFill>
              </a:rPr>
              <a:t>클릭 시 해당 품목의 첨부파일을 </a:t>
            </a:r>
            <a:r>
              <a:rPr lang="ko-KR" altLang="en-US" dirty="0" err="1">
                <a:solidFill>
                  <a:srgbClr val="FF0000"/>
                </a:solidFill>
              </a:rPr>
              <a:t>바텀</a:t>
            </a:r>
            <a:r>
              <a:rPr lang="ko-KR" altLang="en-US" dirty="0">
                <a:solidFill>
                  <a:srgbClr val="FF0000"/>
                </a:solidFill>
              </a:rPr>
              <a:t> 시트로 표시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첨부문서가</a:t>
            </a:r>
            <a:r>
              <a:rPr lang="ko-KR" altLang="en-US" dirty="0">
                <a:solidFill>
                  <a:srgbClr val="FF0000"/>
                </a:solidFill>
              </a:rPr>
              <a:t> </a:t>
            </a:r>
            <a:r>
              <a:rPr lang="en-US" altLang="ko-KR" dirty="0">
                <a:solidFill>
                  <a:srgbClr val="FF0000"/>
                </a:solidFill>
              </a:rPr>
              <a:t>X</a:t>
            </a:r>
            <a:r>
              <a:rPr lang="ko-KR" altLang="en-US" dirty="0">
                <a:solidFill>
                  <a:srgbClr val="FF0000"/>
                </a:solidFill>
              </a:rPr>
              <a:t>인 경우 버튼 숨김</a:t>
            </a:r>
            <a:r>
              <a:rPr lang="en-US" altLang="ko-KR" dirty="0">
                <a:solidFill>
                  <a:srgbClr val="FF0000"/>
                </a:solidFill>
              </a:rPr>
              <a:t>.</a:t>
            </a:r>
          </a:p>
          <a:p>
            <a:pPr>
              <a:buFont typeface="+mj-lt"/>
              <a:buAutoNum type="arabicPeriod"/>
            </a:pPr>
            <a:r>
              <a:rPr lang="ko-KR" altLang="en-US" dirty="0" err="1"/>
              <a:t>재고번호</a:t>
            </a:r>
            <a:r>
              <a:rPr lang="ko-KR" altLang="en-US" dirty="0"/>
              <a:t> 클릭 이벤트</a:t>
            </a:r>
            <a:r>
              <a:rPr lang="en-US" altLang="ko-KR" dirty="0"/>
              <a:t/>
            </a:r>
            <a:br>
              <a:rPr lang="en-US" altLang="ko-KR" dirty="0"/>
            </a:br>
            <a:r>
              <a:rPr lang="en-US" altLang="ko-KR" dirty="0">
                <a:solidFill>
                  <a:srgbClr val="FF0000"/>
                </a:solidFill>
              </a:rPr>
              <a:t>- </a:t>
            </a:r>
            <a:r>
              <a:rPr lang="ko-KR" altLang="en-US" dirty="0">
                <a:solidFill>
                  <a:srgbClr val="FF0000"/>
                </a:solidFill>
              </a:rPr>
              <a:t>목록정보조회 </a:t>
            </a:r>
            <a:r>
              <a:rPr lang="en-US" altLang="ko-KR" dirty="0">
                <a:solidFill>
                  <a:srgbClr val="FF0000"/>
                </a:solidFill>
              </a:rPr>
              <a:t>MUI-OP-01-P76 </a:t>
            </a:r>
            <a:r>
              <a:rPr lang="ko-KR" altLang="en-US" dirty="0">
                <a:solidFill>
                  <a:srgbClr val="FF0000"/>
                </a:solidFill>
              </a:rPr>
              <a:t>호출</a:t>
            </a:r>
            <a:endParaRPr lang="en-US" altLang="ko-KR" dirty="0">
              <a:solidFill>
                <a:srgbClr val="FF0000"/>
              </a:solidFill>
            </a:endParaRPr>
          </a:p>
          <a:p>
            <a:pPr>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r>
              <a:rPr lang="ko-KR" altLang="en-US" dirty="0" err="1"/>
              <a:t>공개수의협상계획상세</a:t>
            </a:r>
            <a:r>
              <a:rPr lang="ko-KR" altLang="en-US" dirty="0">
                <a:latin typeface="+mn-ea"/>
              </a:rPr>
              <a:t> </a:t>
            </a:r>
            <a:r>
              <a:rPr lang="en-US" altLang="ko-KR" dirty="0">
                <a:latin typeface="+mn-ea"/>
              </a:rPr>
              <a:t>– </a:t>
            </a:r>
            <a:r>
              <a:rPr lang="ko-KR" altLang="en-US" dirty="0" err="1">
                <a:latin typeface="+mn-ea"/>
              </a:rPr>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20" name="그룹 119"/>
          <p:cNvGrpSpPr/>
          <p:nvPr/>
        </p:nvGrpSpPr>
        <p:grpSpPr>
          <a:xfrm>
            <a:off x="716366" y="1527996"/>
            <a:ext cx="2630093" cy="4697491"/>
            <a:chOff x="701175" y="1527996"/>
            <a:chExt cx="2630093" cy="4697491"/>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4390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p>
            <a:p>
              <a:pPr>
                <a:lnSpc>
                  <a:spcPct val="200000"/>
                </a:lnSpc>
              </a:pPr>
              <a:r>
                <a:rPr lang="en-US" altLang="ko-KR" sz="700" dirty="0">
                  <a:solidFill>
                    <a:srgbClr val="0070C0"/>
                  </a:solidFill>
                  <a:latin typeface="+mn-ea"/>
                </a:rPr>
                <a:t>156037A017759</a:t>
              </a:r>
            </a:p>
            <a:p>
              <a:pPr>
                <a:lnSpc>
                  <a:spcPct val="200000"/>
                </a:lnSpc>
              </a:pPr>
              <a:r>
                <a:rPr lang="en-US" altLang="ko-KR" sz="700" dirty="0">
                  <a:latin typeface="+mn-ea"/>
                </a:rPr>
                <a:t>369A2093-2</a:t>
              </a:r>
            </a:p>
            <a:p>
              <a:pPr>
                <a:lnSpc>
                  <a:spcPct val="200000"/>
                </a:lnSpc>
              </a:pPr>
              <a:r>
                <a:rPr lang="en-US" altLang="ko-KR" sz="700" dirty="0">
                  <a:latin typeface="+mn-ea"/>
                </a:rPr>
                <a:t>1560-D0001</a:t>
              </a:r>
            </a:p>
            <a:p>
              <a:pPr>
                <a:lnSpc>
                  <a:spcPct val="200000"/>
                </a:lnSpc>
              </a:pPr>
              <a:r>
                <a:rPr lang="en-US" altLang="ko-KR" sz="700" dirty="0">
                  <a:latin typeface="+mn-ea"/>
                </a:rPr>
                <a:t>500MD</a:t>
              </a:r>
            </a:p>
            <a:p>
              <a:pPr>
                <a:lnSpc>
                  <a:spcPct val="200000"/>
                </a:lnSpc>
              </a:pPr>
              <a:r>
                <a:rPr lang="en-US" altLang="ko-KR" sz="700" dirty="0">
                  <a:latin typeface="+mn-ea"/>
                </a:rPr>
                <a:t>2025-03-02</a:t>
              </a:r>
            </a:p>
            <a:p>
              <a:pPr>
                <a:lnSpc>
                  <a:spcPct val="200000"/>
                </a:lnSpc>
              </a:pPr>
              <a:r>
                <a:rPr lang="en-US" altLang="ko-KR" sz="700" dirty="0">
                  <a:latin typeface="+mn-ea"/>
                </a:rPr>
                <a:t>EA</a:t>
              </a:r>
            </a:p>
            <a:p>
              <a:pPr>
                <a:lnSpc>
                  <a:spcPct val="200000"/>
                </a:lnSpc>
              </a:pPr>
              <a:r>
                <a:rPr lang="en-US" altLang="ko-KR" sz="700" dirty="0">
                  <a:latin typeface="+mn-ea"/>
                </a:rPr>
                <a:t>5</a:t>
              </a:r>
            </a:p>
            <a:p>
              <a:pPr>
                <a:lnSpc>
                  <a:spcPct val="200000"/>
                </a:lnSpc>
              </a:pPr>
              <a:r>
                <a:rPr lang="en-US" altLang="ko-KR" sz="700" dirty="0">
                  <a:latin typeface="+mn-ea"/>
                </a:rPr>
                <a:t>3</a:t>
              </a:r>
            </a:p>
            <a:p>
              <a:pPr>
                <a:lnSpc>
                  <a:spcPct val="200000"/>
                </a:lnSpc>
              </a:pPr>
              <a:r>
                <a:rPr lang="en-US" altLang="ko-KR" sz="700" dirty="0">
                  <a:latin typeface="+mn-ea"/>
                </a:rPr>
                <a:t>2</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10</a:t>
              </a:r>
            </a:p>
            <a:p>
              <a:pPr algn="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145.58</a:t>
              </a:r>
            </a:p>
            <a:p>
              <a:pPr algn="r">
                <a:lnSpc>
                  <a:spcPct val="200000"/>
                </a:lnSpc>
              </a:pPr>
              <a:r>
                <a:rPr lang="en-US" altLang="ko-KR" sz="700" dirty="0">
                  <a:latin typeface="+mn-ea"/>
                </a:rPr>
                <a:t>2,473.16</a:t>
              </a:r>
            </a:p>
            <a:p>
              <a:pPr>
                <a:lnSpc>
                  <a:spcPct val="200000"/>
                </a:lnSpc>
              </a:pPr>
              <a:r>
                <a:rPr lang="en-US" altLang="ko-KR" sz="700" dirty="0">
                  <a:latin typeface="+mn-ea"/>
                </a:rPr>
                <a:t>30310201</a:t>
              </a:r>
            </a:p>
          </p:txBody>
        </p:sp>
        <p:grpSp>
          <p:nvGrpSpPr>
            <p:cNvPr id="126" name="그룹 125"/>
            <p:cNvGrpSpPr/>
            <p:nvPr/>
          </p:nvGrpSpPr>
          <p:grpSpPr>
            <a:xfrm>
              <a:off x="701175" y="1835481"/>
              <a:ext cx="2630093" cy="4290528"/>
              <a:chOff x="701175" y="1835481"/>
              <a:chExt cx="2630093" cy="4290528"/>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44073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46268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48416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50577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1175" y="52572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5471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5688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5909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61260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20895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4299652"/>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2089518"/>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p:txBody>
      </p:sp>
      <p:grpSp>
        <p:nvGrpSpPr>
          <p:cNvPr id="151" name="그룹 150"/>
          <p:cNvGrpSpPr/>
          <p:nvPr/>
        </p:nvGrpSpPr>
        <p:grpSpPr>
          <a:xfrm>
            <a:off x="3821510" y="2089518"/>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20895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29750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19892" y="177190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892730" y="179844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22" name="직사각형 121"/>
          <p:cNvSpPr/>
          <p:nvPr/>
        </p:nvSpPr>
        <p:spPr>
          <a:xfrm>
            <a:off x="3820170" y="1500365"/>
            <a:ext cx="792000" cy="2739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1556024"/>
            <a:ext cx="725552" cy="181140"/>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4667515" y="1556024"/>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특수 추진기</a:t>
            </a:r>
          </a:p>
        </p:txBody>
      </p:sp>
      <p:grpSp>
        <p:nvGrpSpPr>
          <p:cNvPr id="142" name="그룹 141"/>
          <p:cNvGrpSpPr/>
          <p:nvPr/>
        </p:nvGrpSpPr>
        <p:grpSpPr>
          <a:xfrm>
            <a:off x="3821510" y="1554929"/>
            <a:ext cx="2630093" cy="214740"/>
            <a:chOff x="701175" y="1835481"/>
            <a:chExt cx="2630093" cy="214740"/>
          </a:xfrm>
        </p:grpSpPr>
        <p:cxnSp>
          <p:nvCxnSpPr>
            <p:cNvPr id="143" name="직선 연결선 14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사각형: 둥근 모서리 15">
            <a:extLst>
              <a:ext uri="{FF2B5EF4-FFF2-40B4-BE49-F238E27FC236}">
                <a16:creationId xmlns:a16="http://schemas.microsoft.com/office/drawing/2014/main" id="{E2B61CFB-AD16-68D0-8752-50D9C5E01971}"/>
              </a:ext>
            </a:extLst>
          </p:cNvPr>
          <p:cNvSpPr/>
          <p:nvPr/>
        </p:nvSpPr>
        <p:spPr>
          <a:xfrm>
            <a:off x="2836921" y="2292738"/>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2" name="사각형: 둥근 모서리 15">
            <a:extLst>
              <a:ext uri="{FF2B5EF4-FFF2-40B4-BE49-F238E27FC236}">
                <a16:creationId xmlns:a16="http://schemas.microsoft.com/office/drawing/2014/main" id="{E2B61CFB-AD16-68D0-8752-50D9C5E01971}"/>
              </a:ext>
            </a:extLst>
          </p:cNvPr>
          <p:cNvSpPr/>
          <p:nvPr/>
        </p:nvSpPr>
        <p:spPr>
          <a:xfrm>
            <a:off x="2836921" y="251447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1" name="타원 190">
            <a:extLst>
              <a:ext uri="{FF2B5EF4-FFF2-40B4-BE49-F238E27FC236}">
                <a16:creationId xmlns:a16="http://schemas.microsoft.com/office/drawing/2014/main" id="{37A7FF4F-0EAA-1463-560A-D5EC24416103}"/>
              </a:ext>
            </a:extLst>
          </p:cNvPr>
          <p:cNvSpPr/>
          <p:nvPr/>
        </p:nvSpPr>
        <p:spPr>
          <a:xfrm>
            <a:off x="3674573" y="15830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8" name="타원 67">
            <a:extLst>
              <a:ext uri="{FF2B5EF4-FFF2-40B4-BE49-F238E27FC236}">
                <a16:creationId xmlns:a16="http://schemas.microsoft.com/office/drawing/2014/main" id="{37A7FF4F-0EAA-1463-560A-D5EC24416103}"/>
              </a:ext>
            </a:extLst>
          </p:cNvPr>
          <p:cNvSpPr/>
          <p:nvPr/>
        </p:nvSpPr>
        <p:spPr>
          <a:xfrm>
            <a:off x="571127" y="22826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69" name="타원 68">
            <a:extLst>
              <a:ext uri="{FF2B5EF4-FFF2-40B4-BE49-F238E27FC236}">
                <a16:creationId xmlns:a16="http://schemas.microsoft.com/office/drawing/2014/main" id="{37A7FF4F-0EAA-1463-560A-D5EC24416103}"/>
              </a:ext>
            </a:extLst>
          </p:cNvPr>
          <p:cNvSpPr/>
          <p:nvPr/>
        </p:nvSpPr>
        <p:spPr>
          <a:xfrm>
            <a:off x="571127" y="25084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175643897"/>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첨부서류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MUI-BD-12-T73</a:t>
            </a:r>
            <a:endParaRPr lang="ko-KR" altLang="en-US" dirty="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55090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19492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02381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공고문안</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07767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05953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35597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43049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일반조건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48436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246622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18141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18141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18141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581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275734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283186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특수조건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288572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286758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16402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238548"/>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기타첨부</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29240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327427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38535056"/>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0865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75529"/>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27446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pbancType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744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pbancRqstYmd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37745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prchsDmndNo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958255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통합참조번호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019054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bizNm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99289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262648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79740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495567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etdcDdlnDt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63412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exchrtAplcnYmd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51953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499972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981428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99116951"/>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044066"/>
            <a:ext cx="218546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품목목록 데이터 영역 </a:t>
            </a:r>
            <a:r>
              <a:rPr lang="en-US" altLang="ko-KR" sz="900" b="1" dirty="0">
                <a:solidFill>
                  <a:prstClr val="black"/>
                </a:solidFill>
              </a:rPr>
              <a:t>(</a:t>
            </a:r>
            <a:r>
              <a:rPr lang="en-US" altLang="ko-KR" sz="900" b="1" dirty="0" err="1">
                <a:solidFill>
                  <a:prstClr val="black"/>
                </a:solidFill>
              </a:rPr>
              <a:t>dl_itemList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atchDocNm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7483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279560"/>
          <a:ext cx="8994883" cy="4266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1586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첨부 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03213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207581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24743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747328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308218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91601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018760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96591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086774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93037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6449233"/>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27527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002352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본조수량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당국수량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7695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93283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01054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71288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57868991"/>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0667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견적제출목록 데이터 영역 </a:t>
            </a:r>
            <a:r>
              <a:rPr lang="en-US" altLang="ko-KR" sz="900" b="1" dirty="0">
                <a:solidFill>
                  <a:prstClr val="black"/>
                </a:solidFill>
              </a:rPr>
              <a:t>(</a:t>
            </a:r>
            <a:r>
              <a:rPr lang="en-US" altLang="ko-KR" sz="900" b="1">
                <a:solidFill>
                  <a:prstClr val="black"/>
                </a:solidFill>
              </a:rPr>
              <a:t>dl_</a:t>
            </a:r>
            <a:r>
              <a:rPr lang="en-US" altLang="ko-KR" sz="900" b="1" dirty="0" err="1">
                <a:solidFill>
                  <a:prstClr val="black"/>
                </a:solidFill>
              </a:rPr>
              <a:t>etdcList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aplyBzentyRegCfmtnYmd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78873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aplyBzentyUjstYn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312728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92736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입찰참가신청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94699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bidBzentyUjstYn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135837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bidBzentyBzmnRegYmd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438682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업체가 제출한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25,3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9005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crncUnit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824422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낙찰율</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scsbdRate</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08142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906121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smdoc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구분 </a:t>
                      </a:r>
                      <a:r>
                        <a:rPr lang="en-US" altLang="ko-KR" sz="800" dirty="0">
                          <a:latin typeface="+mn-ea"/>
                          <a:ea typeface="+mn-ea"/>
                        </a:rPr>
                        <a:t>(O/X)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471068"/>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CE542789-D9EF-B9D8-7A24-6D5B3646CAB9}"/>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424</a:t>
            </a:fld>
            <a:endParaRPr lang="ko-KR" altLang="en-US"/>
          </a:p>
        </p:txBody>
      </p:sp>
      <p:sp>
        <p:nvSpPr>
          <p:cNvPr id="7" name="직사각형 6"/>
          <p:cNvSpPr/>
          <p:nvPr/>
        </p:nvSpPr>
        <p:spPr>
          <a:xfrm>
            <a:off x="461554" y="1264286"/>
            <a:ext cx="6598187" cy="5200693"/>
          </a:xfrm>
          <a:prstGeom prst="rect">
            <a:avLst/>
          </a:prstGeom>
          <a:solidFill>
            <a:srgbClr val="000000">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조달업무 담당자</a:t>
            </a:r>
            <a:r>
              <a:rPr lang="en-US" altLang="ko-KR" dirty="0" smtClean="0"/>
              <a:t>(</a:t>
            </a:r>
            <a:r>
              <a:rPr lang="ko-KR" altLang="en-US" dirty="0" smtClean="0"/>
              <a:t>관리자</a:t>
            </a:r>
            <a:r>
              <a:rPr lang="en-US" altLang="ko-KR" dirty="0" smtClean="0"/>
              <a:t>) </a:t>
            </a:r>
            <a:r>
              <a:rPr lang="ko-KR" altLang="en-US" dirty="0" smtClean="0"/>
              <a:t>화면으로</a:t>
            </a:r>
            <a:endParaRPr lang="en-US" altLang="ko-KR" dirty="0" smtClean="0"/>
          </a:p>
          <a:p>
            <a:pPr algn="ctr"/>
            <a:r>
              <a:rPr lang="ko-KR" altLang="en-US" dirty="0" smtClean="0"/>
              <a:t>모바일에서는 제공되지 않는 화면이</a:t>
            </a:r>
            <a:endParaRPr lang="en-US" altLang="ko-KR" dirty="0" smtClean="0"/>
          </a:p>
          <a:p>
            <a:pPr algn="ctr"/>
            <a:r>
              <a:rPr lang="ko-KR" altLang="en-US" dirty="0" err="1" smtClean="0"/>
              <a:t>설계화면에</a:t>
            </a:r>
            <a:r>
              <a:rPr lang="ko-KR" altLang="en-US" dirty="0" smtClean="0"/>
              <a:t> 잘못 포함되었음</a:t>
            </a:r>
            <a:r>
              <a:rPr lang="en-US" altLang="ko-KR" dirty="0" smtClean="0"/>
              <a:t>.</a:t>
            </a:r>
            <a:endParaRPr lang="ko-KR" altLang="en-US" dirty="0"/>
          </a:p>
        </p:txBody>
      </p:sp>
    </p:spTree>
    <p:extLst>
      <p:ext uri="{BB962C8B-B14F-4D97-AF65-F5344CB8AC3E}">
        <p14:creationId xmlns:p14="http://schemas.microsoft.com/office/powerpoint/2010/main" val="1778353851"/>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extLst/>
          </p:nvPr>
        </p:nvGraphicFramePr>
        <p:xfrm>
          <a:off x="453000" y="806012"/>
          <a:ext cx="8995591" cy="2526720"/>
        </p:xfrm>
        <a:graphic>
          <a:graphicData uri="http://schemas.openxmlformats.org/drawingml/2006/table">
            <a:tbl>
              <a:tblPr>
                <a:tableStyleId>{616DA210-FB5B-4158-B5E0-FEB733F419BA}</a:tableStyleId>
              </a:tblPr>
              <a:tblGrid>
                <a:gridCol w="1318650">
                  <a:extLst>
                    <a:ext uri="{9D8B030D-6E8A-4147-A177-3AD203B41FA5}">
                      <a16:colId xmlns:a16="http://schemas.microsoft.com/office/drawing/2014/main" val="20000"/>
                    </a:ext>
                  </a:extLst>
                </a:gridCol>
                <a:gridCol w="1343025">
                  <a:extLst>
                    <a:ext uri="{9D8B030D-6E8A-4147-A177-3AD203B41FA5}">
                      <a16:colId xmlns:a16="http://schemas.microsoft.com/office/drawing/2014/main" val="3103963203"/>
                    </a:ext>
                  </a:extLst>
                </a:gridCol>
                <a:gridCol w="3324225">
                  <a:extLst>
                    <a:ext uri="{9D8B030D-6E8A-4147-A177-3AD203B41FA5}">
                      <a16:colId xmlns:a16="http://schemas.microsoft.com/office/drawing/2014/main" val="20001"/>
                    </a:ext>
                  </a:extLst>
                </a:gridCol>
                <a:gridCol w="300969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상세</a:t>
                      </a:r>
                      <a:r>
                        <a:rPr lang="en-US" altLang="ko-KR" sz="800" dirty="0">
                          <a:latin typeface="+mn-ea"/>
                          <a:ea typeface="+mn-ea"/>
                        </a:rPr>
                        <a:t>, </a:t>
                      </a:r>
                      <a:r>
                        <a:rPr lang="ko-KR" altLang="en-US" sz="800" dirty="0">
                          <a:latin typeface="+mn-ea"/>
                          <a:ea typeface="+mn-ea"/>
                        </a:rPr>
                        <a:t>품목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983474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재고번호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목록정보조회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UI-OP-01-P75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87920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98812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scwin.btn_exchrtInfo_onclick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9439186"/>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견적서작성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scwin.btn_etdcWrt_onclick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공개수의협상견적서제출</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작성하지 않은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7927878"/>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공개수의협상견적서상세 </a:t>
                      </a:r>
                      <a:r>
                        <a:rPr lang="ko-KR" altLang="en-US" sz="800" dirty="0">
                          <a:latin typeface="+mn-ea"/>
                          <a:ea typeface="+mn-ea"/>
                        </a:rPr>
                        <a:t>화면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작성한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604225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26215160"/>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70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62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276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2011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5146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3344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3398253"/>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3327774"/>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3327774"/>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3327774"/>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988045"/>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2366764"/>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6000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8222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1357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9555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670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81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7751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3990"/>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1495163"/>
            <a:ext cx="2712027" cy="334927"/>
            <a:chOff x="675399" y="3560135"/>
            <a:chExt cx="2712027" cy="334927"/>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4387356"/>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0" name="그룹 129"/>
          <p:cNvGrpSpPr/>
          <p:nvPr/>
        </p:nvGrpSpPr>
        <p:grpSpPr>
          <a:xfrm>
            <a:off x="677960" y="1582647"/>
            <a:ext cx="2714637" cy="686386"/>
            <a:chOff x="677960" y="1582647"/>
            <a:chExt cx="2714637" cy="686386"/>
          </a:xfrm>
        </p:grpSpPr>
        <p:sp>
          <p:nvSpPr>
            <p:cNvPr id="131" name="TextBox 13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입찰서 제출</a:t>
              </a:r>
              <a:endParaRPr lang="ko-KR" altLang="en-US" sz="800" dirty="0">
                <a:latin typeface="+mn-ea"/>
              </a:endParaRP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5" name="그룹 134"/>
            <p:cNvGrpSpPr/>
            <p:nvPr/>
          </p:nvGrpSpPr>
          <p:grpSpPr>
            <a:xfrm rot="5400000">
              <a:off x="852159" y="2062596"/>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6" name="그룹 135"/>
            <p:cNvGrpSpPr/>
            <p:nvPr/>
          </p:nvGrpSpPr>
          <p:grpSpPr>
            <a:xfrm>
              <a:off x="677960" y="1582647"/>
              <a:ext cx="2712027" cy="324286"/>
              <a:chOff x="677960" y="1582647"/>
              <a:chExt cx="2712027" cy="324286"/>
            </a:xfrm>
          </p:grpSpPr>
          <p:pic>
            <p:nvPicPr>
              <p:cNvPr id="13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타원 13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타원 16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107619791"/>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6661"/>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540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6661"/>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366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120" name="그룹 119"/>
          <p:cNvGrpSpPr/>
          <p:nvPr/>
        </p:nvGrpSpPr>
        <p:grpSpPr>
          <a:xfrm>
            <a:off x="701175" y="1898358"/>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4396"/>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222887474"/>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2 -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77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2037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875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8383"/>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338277"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7558"/>
            <a:ext cx="2630093" cy="1815590"/>
            <a:chOff x="3791188" y="2611009"/>
            <a:chExt cx="2630093" cy="1815590"/>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7558"/>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endParaRPr lang="en-US" altLang="ko-KR" sz="700" dirty="0">
                <a:latin typeface="+mn-ea"/>
              </a:endParaRP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8757"/>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8383"/>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3511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16" name="사각형: 둥근 모서리 15">
            <a:extLst>
              <a:ext uri="{FF2B5EF4-FFF2-40B4-BE49-F238E27FC236}">
                <a16:creationId xmlns:a16="http://schemas.microsoft.com/office/drawing/2014/main" id="{E2B61CFB-AD16-68D0-8752-50D9C5E01971}"/>
              </a:ext>
            </a:extLst>
          </p:cNvPr>
          <p:cNvSpPr/>
          <p:nvPr/>
        </p:nvSpPr>
        <p:spPr>
          <a:xfrm>
            <a:off x="4672608" y="2244786"/>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lang="en-US" altLang="ko-KR" sz="700" dirty="0">
                <a:latin typeface="+mn-ea"/>
              </a:rPr>
              <a:t>7004F</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17" name="그룹 116"/>
          <p:cNvGrpSpPr/>
          <p:nvPr/>
        </p:nvGrpSpPr>
        <p:grpSpPr>
          <a:xfrm>
            <a:off x="6279313" y="230228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139249542"/>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품목대체구분</a:t>
            </a:r>
            <a:r>
              <a:rPr lang="en-US" altLang="ko-KR" dirty="0"/>
              <a:t>, </a:t>
            </a:r>
            <a:r>
              <a:rPr lang="ko-KR" altLang="en-US" dirty="0"/>
              <a:t>수정재고번호</a:t>
            </a:r>
            <a:r>
              <a:rPr lang="en-US" altLang="ko-KR" dirty="0"/>
              <a:t>, </a:t>
            </a:r>
            <a:r>
              <a:rPr lang="ko-KR" altLang="en-US" dirty="0"/>
              <a:t>수정부품번호</a:t>
            </a:r>
            <a:r>
              <a:rPr lang="en-US" altLang="ko-KR" dirty="0"/>
              <a:t/>
            </a:r>
            <a:br>
              <a:rPr lang="en-US" altLang="ko-KR" dirty="0"/>
            </a:br>
            <a:r>
              <a:rPr lang="en-US" altLang="ko-KR" dirty="0"/>
              <a:t>- </a:t>
            </a:r>
            <a:r>
              <a:rPr lang="ko-KR" altLang="en-US" dirty="0"/>
              <a:t>개발 시 추가 확인 필요사항</a:t>
            </a:r>
            <a:r>
              <a:rPr lang="en-US" altLang="ko-KR" dirty="0"/>
              <a:t>.</a:t>
            </a:r>
            <a:br>
              <a:rPr lang="en-US" altLang="ko-KR" dirty="0"/>
            </a:br>
            <a:r>
              <a:rPr lang="en-US" altLang="ko-KR" dirty="0"/>
              <a:t>  &gt; </a:t>
            </a:r>
            <a:r>
              <a:rPr lang="ko-KR" altLang="en-US" dirty="0"/>
              <a:t>관리자만 수정 가능한 항목으로 보이는데</a:t>
            </a:r>
            <a:r>
              <a:rPr lang="en-US" altLang="ko-KR" dirty="0"/>
              <a:t>, </a:t>
            </a:r>
            <a:r>
              <a:rPr lang="ko-KR" altLang="en-US" dirty="0" err="1"/>
              <a:t>응용팀</a:t>
            </a:r>
            <a:r>
              <a:rPr lang="ko-KR" altLang="en-US" dirty="0"/>
              <a:t> 설계에 별도 명시된 수정 가능 사용자 정의 </a:t>
            </a:r>
            <a:r>
              <a:rPr lang="ko-KR" altLang="en-US" dirty="0" smtClean="0"/>
              <a:t>없음</a:t>
            </a:r>
            <a:r>
              <a:rPr lang="en-US" altLang="ko-KR" dirty="0" smtClean="0"/>
              <a:t/>
            </a:r>
            <a:br>
              <a:rPr lang="en-US" altLang="ko-KR" dirty="0" smtClean="0"/>
            </a:br>
            <a:r>
              <a:rPr lang="en-US" altLang="ko-KR" dirty="0" smtClean="0"/>
              <a:t>- </a:t>
            </a:r>
            <a:r>
              <a:rPr lang="ko-KR" altLang="en-US" dirty="0" smtClean="0"/>
              <a:t>수정</a:t>
            </a:r>
            <a:r>
              <a:rPr lang="en-US" altLang="ko-KR" dirty="0"/>
              <a:t> </a:t>
            </a:r>
            <a:r>
              <a:rPr lang="ko-KR" altLang="en-US" dirty="0" smtClean="0"/>
              <a:t>가능한 </a:t>
            </a:r>
            <a:r>
              <a:rPr lang="ko-KR" altLang="en-US" dirty="0" err="1" smtClean="0"/>
              <a:t>상태인경우</a:t>
            </a:r>
            <a:r>
              <a:rPr lang="ko-KR" altLang="en-US" dirty="0" smtClean="0"/>
              <a:t> 현재 화면 그대로 사용</a:t>
            </a:r>
            <a:r>
              <a:rPr lang="en-US" altLang="ko-KR" dirty="0" smtClean="0"/>
              <a:t/>
            </a:r>
            <a:br>
              <a:rPr lang="en-US" altLang="ko-KR" dirty="0" smtClean="0"/>
            </a:br>
            <a:r>
              <a:rPr lang="en-US" altLang="ko-KR" dirty="0" smtClean="0"/>
              <a:t>- </a:t>
            </a:r>
            <a:r>
              <a:rPr lang="ko-KR" altLang="en-US" dirty="0" smtClean="0"/>
              <a:t>수정이 불가능한 상태인 경우 </a:t>
            </a:r>
            <a:r>
              <a:rPr lang="ko-KR" altLang="en-US" dirty="0" err="1" smtClean="0"/>
              <a:t>상세화면과</a:t>
            </a:r>
            <a:r>
              <a:rPr lang="ko-KR" altLang="en-US" dirty="0" smtClean="0"/>
              <a:t> 같이 정보 표시</a:t>
            </a:r>
            <a:r>
              <a:rPr lang="en-US" altLang="ko-KR" dirty="0" smtClean="0"/>
              <a:t/>
            </a:r>
            <a:br>
              <a:rPr lang="en-US" altLang="ko-KR" dirty="0" smtClean="0"/>
            </a:br>
            <a:r>
              <a:rPr lang="en-US" altLang="ko-KR" dirty="0" smtClean="0"/>
              <a:t>  &gt; </a:t>
            </a:r>
            <a:r>
              <a:rPr lang="ko-KR" altLang="en-US" dirty="0" err="1" smtClean="0"/>
              <a:t>첨부문서는</a:t>
            </a:r>
            <a:r>
              <a:rPr lang="ko-KR" altLang="en-US" dirty="0" smtClean="0"/>
              <a:t> 보기 버튼 표시하고</a:t>
            </a:r>
            <a:r>
              <a:rPr lang="en-US" altLang="ko-KR" dirty="0" smtClean="0"/>
              <a:t>, </a:t>
            </a:r>
            <a:r>
              <a:rPr lang="ko-KR" altLang="en-US" dirty="0" smtClean="0"/>
              <a:t>클릭 시 </a:t>
            </a:r>
            <a:r>
              <a:rPr lang="en-US" altLang="ko-KR" dirty="0" smtClean="0"/>
              <a:t>MUI-BD-01-P76 </a:t>
            </a:r>
            <a:r>
              <a:rPr lang="ko-KR" altLang="en-US" dirty="0" smtClean="0"/>
              <a:t>첨부파일조회 호출</a:t>
            </a:r>
            <a:endParaRPr lang="en-US" altLang="ko-KR" dirty="0"/>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3</a:t>
            </a:r>
            <a:r>
              <a:rPr lang="ko-KR" altLang="en-US" dirty="0">
                <a:latin typeface="+mn-ea"/>
              </a:rPr>
              <a:t> </a:t>
            </a:r>
            <a:r>
              <a:rPr lang="en-US" altLang="ko-KR" dirty="0">
                <a:latin typeface="+mn-ea"/>
              </a:rPr>
              <a:t>- </a:t>
            </a:r>
            <a:r>
              <a:rPr lang="ko-KR" altLang="en-US" dirty="0" err="1">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535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3144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6467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5044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90484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solidFill>
                    <a:srgbClr val="0070C0"/>
                  </a:solidFill>
                  <a:latin typeface="+mn-ea"/>
                </a:rPr>
                <a:t>File.pdf</a:t>
              </a:r>
            </a:p>
            <a:p>
              <a:pPr>
                <a:lnSpc>
                  <a:spcPct val="200000"/>
                </a:lnSpc>
              </a:pPr>
              <a:endParaRPr lang="en-US" altLang="ko-KR" sz="700" dirty="0" smtClean="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608,000.00</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1556922" y="459892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19751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511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511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51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606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9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50220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9853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50220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200398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79" name="사각형: 둥근 모서리 15">
            <a:extLst>
              <a:ext uri="{FF2B5EF4-FFF2-40B4-BE49-F238E27FC236}">
                <a16:creationId xmlns:a16="http://schemas.microsoft.com/office/drawing/2014/main" id="{E2B61CFB-AD16-68D0-8752-50D9C5E01971}"/>
              </a:ext>
            </a:extLst>
          </p:cNvPr>
          <p:cNvSpPr/>
          <p:nvPr/>
        </p:nvSpPr>
        <p:spPr>
          <a:xfrm>
            <a:off x="1556922" y="503555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미 달러</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163627" y="5086956"/>
            <a:ext cx="94010" cy="47005"/>
            <a:chOff x="6812560" y="3297172"/>
            <a:chExt cx="94010" cy="47005"/>
          </a:xfrm>
        </p:grpSpPr>
        <p:cxnSp>
          <p:nvCxnSpPr>
            <p:cNvPr id="181" name="직선 연결선 1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2" name="직선 연결선 1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5459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파일첨부</a:t>
            </a:r>
            <a:endParaRPr kumimoji="1" lang="en-US" sz="700" b="0" i="0" u="none" strike="noStrike" kern="0" cap="none" spc="0" normalizeH="0" baseline="0" noProof="0" dirty="0">
              <a:ln>
                <a:noFill/>
              </a:ln>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1556922" y="37452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smtClean="0">
                <a:ln>
                  <a:noFill/>
                </a:ln>
                <a:effectLst/>
                <a:uLnTx/>
                <a:uFillTx/>
                <a:latin typeface="맑은 고딕"/>
              </a:rPr>
              <a:t>Y</a:t>
            </a:r>
            <a:endParaRPr kumimoji="1" lang="en-US" sz="700" b="0" i="0" u="none" strike="noStrike" kern="0" cap="none" spc="0" normalizeH="0" baseline="0" noProof="0" dirty="0">
              <a:ln>
                <a:noFill/>
              </a:ln>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1556922" y="417143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dirty="0" smtClean="0">
                <a:latin typeface="맑은 고딕"/>
                <a:ea typeface="맑은 고딕" panose="020B0503020000020004" pitchFamily="50" charset="-127"/>
              </a:rPr>
              <a:t>12345678</a:t>
            </a:r>
            <a:endParaRPr kumimoji="1" lang="en-US" sz="700" b="0" i="0" u="none" strike="noStrike" kern="0" cap="none" spc="0" normalizeH="0" baseline="0" noProof="0" dirty="0">
              <a:ln>
                <a:noFill/>
              </a:ln>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1556922" y="43894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noProof="0" dirty="0" smtClean="0">
                <a:latin typeface="맑은 고딕"/>
                <a:ea typeface="맑은 고딕" panose="020B0503020000020004" pitchFamily="50" charset="-127"/>
              </a:rPr>
              <a:t>23456789</a:t>
            </a:r>
            <a:endParaRPr kumimoji="1" lang="en-US" sz="700" b="0" i="0" u="none" strike="noStrike" kern="0" cap="none" spc="0" normalizeH="0" baseline="0" noProof="0" dirty="0">
              <a:ln>
                <a:noFill/>
              </a:ln>
              <a:effectLst/>
              <a:uLnTx/>
              <a:uFillTx/>
              <a:latin typeface="맑은 고딕"/>
            </a:endParaRPr>
          </a:p>
        </p:txBody>
      </p:sp>
      <p:grpSp>
        <p:nvGrpSpPr>
          <p:cNvPr id="113" name="그룹 112"/>
          <p:cNvGrpSpPr/>
          <p:nvPr/>
        </p:nvGrpSpPr>
        <p:grpSpPr>
          <a:xfrm>
            <a:off x="8223250" y="569392"/>
            <a:ext cx="3365500" cy="634511"/>
            <a:chOff x="8223250" y="569392"/>
            <a:chExt cx="3365500" cy="634511"/>
          </a:xfrm>
        </p:grpSpPr>
        <p:sp>
          <p:nvSpPr>
            <p:cNvPr id="114" name="직사각형 11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15" name="직사각형 11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품목대체구분</a:t>
              </a:r>
              <a:r>
                <a:rPr lang="en-US" altLang="ko-KR" sz="700" dirty="0" smtClean="0"/>
                <a:t>, </a:t>
              </a:r>
              <a:r>
                <a:rPr lang="ko-KR" altLang="en-US" sz="700" dirty="0" smtClean="0"/>
                <a:t>수정재고번호</a:t>
              </a:r>
              <a:r>
                <a:rPr lang="en-US" altLang="ko-KR" sz="700" dirty="0" smtClean="0"/>
                <a:t>, </a:t>
              </a:r>
              <a:r>
                <a:rPr lang="ko-KR" altLang="en-US" sz="700" dirty="0" smtClean="0"/>
                <a:t>수정부품번호 </a:t>
              </a:r>
              <a:r>
                <a:rPr lang="ko-KR" altLang="en-US" sz="700" dirty="0" err="1" smtClean="0"/>
                <a:t>입력폼으로</a:t>
              </a:r>
              <a:r>
                <a:rPr lang="ko-KR" altLang="en-US" sz="700" dirty="0" smtClean="0"/>
                <a:t> 변경</a:t>
              </a:r>
              <a:endParaRPr lang="en-US" altLang="ko-KR" sz="700" dirty="0"/>
            </a:p>
          </p:txBody>
        </p:sp>
      </p:grpSp>
      <p:sp>
        <p:nvSpPr>
          <p:cNvPr id="104" name="타원 103">
            <a:extLst>
              <a:ext uri="{FF2B5EF4-FFF2-40B4-BE49-F238E27FC236}">
                <a16:creationId xmlns:a16="http://schemas.microsoft.com/office/drawing/2014/main" id="{37A7FF4F-0EAA-1463-560A-D5EC24416103}"/>
              </a:ext>
            </a:extLst>
          </p:cNvPr>
          <p:cNvSpPr/>
          <p:nvPr/>
        </p:nvSpPr>
        <p:spPr>
          <a:xfrm>
            <a:off x="589334" y="37398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5" name="타원 104">
            <a:extLst>
              <a:ext uri="{FF2B5EF4-FFF2-40B4-BE49-F238E27FC236}">
                <a16:creationId xmlns:a16="http://schemas.microsoft.com/office/drawing/2014/main" id="{37A7FF4F-0EAA-1463-560A-D5EC24416103}"/>
              </a:ext>
            </a:extLst>
          </p:cNvPr>
          <p:cNvSpPr/>
          <p:nvPr/>
        </p:nvSpPr>
        <p:spPr>
          <a:xfrm>
            <a:off x="589334" y="42804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6" name="타원 105">
            <a:extLst>
              <a:ext uri="{FF2B5EF4-FFF2-40B4-BE49-F238E27FC236}">
                <a16:creationId xmlns:a16="http://schemas.microsoft.com/office/drawing/2014/main" id="{37A7FF4F-0EAA-1463-560A-D5EC24416103}"/>
              </a:ext>
            </a:extLst>
          </p:cNvPr>
          <p:cNvSpPr/>
          <p:nvPr/>
        </p:nvSpPr>
        <p:spPr>
          <a:xfrm>
            <a:off x="589334" y="479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600530307"/>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4 -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6130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68758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7414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0197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0942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1481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17006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47794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5549" y="247794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47794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5970" y="31245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5970" y="27077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4"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34211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49563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5494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38277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90231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9561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5970" y="393259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5970" y="35158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435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75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73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90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24543551"/>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978679524"/>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20113"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unitNm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2724028"/>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27699"/>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89438"/>
                  </a:ext>
                </a:extLst>
              </a:tr>
            </a:tbl>
          </a:graphicData>
        </a:graphic>
      </p:graphicFrame>
    </p:spTree>
    <p:extLst>
      <p:ext uri="{BB962C8B-B14F-4D97-AF65-F5344CB8AC3E}">
        <p14:creationId xmlns:p14="http://schemas.microsoft.com/office/powerpoint/2010/main" val="2422159642"/>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199366049"/>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C011E71-56E8-0410-125E-29CDFA4E3108}"/>
              </a:ext>
            </a:extLst>
          </p:cNvPr>
          <p:cNvSpPr txBox="1"/>
          <p:nvPr/>
        </p:nvSpPr>
        <p:spPr>
          <a:xfrm>
            <a:off x="458117" y="791868"/>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D406058-FA67-CF0F-0967-F6F181BADC3B}"/>
              </a:ext>
            </a:extLst>
          </p:cNvPr>
          <p:cNvGraphicFramePr>
            <a:graphicFrameLocks noGrp="1"/>
          </p:cNvGraphicFramePr>
          <p:nvPr/>
        </p:nvGraphicFramePr>
        <p:xfrm>
          <a:off x="452999" y="1001040"/>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제출해야할</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497560215"/>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2D13A0E-00F3-6F78-B391-CC7201CC1270}"/>
              </a:ext>
            </a:extLst>
          </p:cNvPr>
          <p:cNvSpPr>
            <a:spLocks noGrp="1"/>
          </p:cNvSpPr>
          <p:nvPr>
            <p:ph type="sldNum" sz="quarter" idx="4"/>
          </p:nvPr>
        </p:nvSpPr>
        <p:spPr/>
        <p:txBody>
          <a:bodyPr/>
          <a:lstStyle/>
          <a:p>
            <a:fld id="{34C8E023-7346-48FC-AB24-9A3388C53208}" type="slidenum">
              <a:rPr lang="ko-KR" altLang="en-US" smtClean="0"/>
              <a:pPr/>
              <a:t>435</a:t>
            </a:fld>
            <a:endParaRPr lang="ko-KR" altLang="en-US" dirty="0"/>
          </a:p>
        </p:txBody>
      </p:sp>
      <p:sp>
        <p:nvSpPr>
          <p:cNvPr id="3" name="TextBox 2">
            <a:extLst>
              <a:ext uri="{FF2B5EF4-FFF2-40B4-BE49-F238E27FC236}">
                <a16:creationId xmlns:a16="http://schemas.microsoft.com/office/drawing/2014/main" id="{7FEF0C39-651E-4D6E-7071-76558B4D5BC5}"/>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BD4846-8DF2-C10D-46E8-6FDBA8FE9212}"/>
              </a:ext>
            </a:extLst>
          </p:cNvPr>
          <p:cNvGraphicFramePr>
            <a:graphicFrameLocks noGrp="1"/>
          </p:cNvGraphicFramePr>
          <p:nvPr>
            <p:extLst/>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및 입찰업체 목록 조회</a:t>
                      </a:r>
                      <a:r>
                        <a:rPr lang="en-US" altLang="ko-KR" sz="800" dirty="0">
                          <a:latin typeface="+mn-ea"/>
                          <a:ea typeface="+mn-ea"/>
                        </a:rPr>
                        <a:t>, </a:t>
                      </a:r>
                      <a:r>
                        <a:rPr lang="ko-KR" altLang="en-US" sz="800" dirty="0">
                          <a:latin typeface="+mn-ea"/>
                          <a:ea typeface="+mn-ea"/>
                        </a:rPr>
                        <a:t>화폐단위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scwin.sbx_bzentyCd_onchange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업체코드 변경 시</a:t>
                      </a:r>
                      <a:r>
                        <a:rPr lang="en-US" altLang="ko-KR" sz="800" dirty="0">
                          <a:latin typeface="+mn-ea"/>
                          <a:ea typeface="+mn-ea"/>
                        </a:rPr>
                        <a:t>, </a:t>
                      </a:r>
                      <a:r>
                        <a:rPr lang="ko-KR" altLang="en-US" sz="800" dirty="0">
                          <a:latin typeface="+mn-ea"/>
                          <a:ea typeface="+mn-ea"/>
                        </a:rPr>
                        <a:t>입찰업체 영역에 업체 상세정보를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1177219"/>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scwin.ibx_estmtUntprc_onchange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 시</a:t>
                      </a:r>
                      <a:r>
                        <a:rPr lang="en-US" altLang="ko-KR" sz="800" dirty="0">
                          <a:latin typeface="+mn-ea"/>
                          <a:ea typeface="+mn-ea"/>
                        </a:rPr>
                        <a:t>, </a:t>
                      </a:r>
                      <a:r>
                        <a:rPr lang="ko-KR" altLang="en-US" sz="800" dirty="0">
                          <a:latin typeface="+mn-ea"/>
                          <a:ea typeface="+mn-ea"/>
                        </a:rPr>
                        <a:t>견적금액 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268653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견적서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6757591"/>
                  </a:ext>
                </a:extLst>
              </a:tr>
            </a:tbl>
          </a:graphicData>
        </a:graphic>
      </p:graphicFrame>
      <p:sp>
        <p:nvSpPr>
          <p:cNvPr id="5" name="Text Box 73">
            <a:extLst>
              <a:ext uri="{FF2B5EF4-FFF2-40B4-BE49-F238E27FC236}">
                <a16:creationId xmlns:a16="http://schemas.microsoft.com/office/drawing/2014/main" id="{56F8988B-B064-FFF2-E74D-5B7A527924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1753619"/>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견적서 상세는 개찰 목록에서 표시되고</a:t>
            </a:r>
            <a:r>
              <a:rPr lang="en-US" altLang="ko-KR" dirty="0" smtClean="0"/>
              <a:t>, </a:t>
            </a:r>
            <a:r>
              <a:rPr lang="ko-KR" altLang="en-US" dirty="0" smtClean="0"/>
              <a:t>뒤로 가기 버튼으로 개찰 목록 이동</a:t>
            </a:r>
            <a:endParaRPr lang="en-US" altLang="ko-KR" dirty="0" smtClean="0"/>
          </a:p>
          <a:p>
            <a:pPr marL="228600" indent="-228600">
              <a:buFont typeface="+mj-lt"/>
              <a:buAutoNum type="arabicPeriod"/>
            </a:pPr>
            <a:r>
              <a:rPr lang="ko-KR" altLang="en-US" dirty="0" smtClean="0"/>
              <a:t>공지사항 표시 영역</a:t>
            </a:r>
            <a:endParaRPr lang="en-US" altLang="ko-KR" dirty="0"/>
          </a:p>
          <a:p>
            <a:pPr marL="228600" indent="-228600">
              <a:buFont typeface="+mj-lt"/>
              <a:buAutoNum type="arabicPeriod"/>
            </a:pPr>
            <a:r>
              <a:rPr lang="ko-KR" altLang="en-US" dirty="0" smtClean="0"/>
              <a:t>신청서 </a:t>
            </a:r>
            <a:r>
              <a:rPr lang="ko-KR" altLang="en-US" dirty="0"/>
              <a:t>내역 탭</a:t>
            </a:r>
            <a:endParaRPr lang="en-US" altLang="ko-KR" dirty="0"/>
          </a:p>
          <a:p>
            <a:pPr marL="228600" indent="-228600">
              <a:buFont typeface="+mj-lt"/>
              <a:buAutoNum type="arabicPeriod"/>
            </a:pPr>
            <a:r>
              <a:rPr lang="ko-KR" altLang="en-US" dirty="0"/>
              <a:t>데이터 </a:t>
            </a:r>
            <a:r>
              <a:rPr lang="ko-KR" altLang="en-US" dirty="0" smtClean="0"/>
              <a:t>영역</a:t>
            </a:r>
            <a:endParaRPr lang="en-US" altLang="ko-KR" dirty="0" smtClean="0"/>
          </a:p>
          <a:p>
            <a:pPr marL="228600" indent="-228600">
              <a:buFont typeface="+mj-lt"/>
              <a:buAutoNum type="arabicPeriod"/>
            </a:pPr>
            <a:r>
              <a:rPr lang="en-US" altLang="ko-KR" dirty="0" smtClean="0"/>
              <a:t>(+) </a:t>
            </a:r>
            <a:r>
              <a:rPr lang="ko-KR" altLang="en-US" dirty="0" err="1" smtClean="0"/>
              <a:t>더보기</a:t>
            </a:r>
            <a:r>
              <a:rPr lang="ko-KR" altLang="en-US" dirty="0" smtClean="0"/>
              <a:t> 버튼</a:t>
            </a:r>
            <a:r>
              <a:rPr lang="en-US" altLang="ko-KR" dirty="0" smtClean="0"/>
              <a:t/>
            </a:r>
            <a:br>
              <a:rPr lang="en-US" altLang="ko-KR" dirty="0" smtClean="0"/>
            </a:br>
            <a:r>
              <a:rPr lang="en-US" altLang="ko-KR" dirty="0"/>
              <a:t>- </a:t>
            </a:r>
            <a:r>
              <a:rPr lang="en-US" altLang="ko-KR" dirty="0" smtClean="0"/>
              <a:t>MUI-BD-12-P82 </a:t>
            </a:r>
            <a:r>
              <a:rPr lang="ko-KR" altLang="en-US" dirty="0" err="1" smtClean="0"/>
              <a:t>공개수의협상견적서취소신청서작성</a:t>
            </a:r>
            <a:r>
              <a:rPr lang="en-US" altLang="ko-KR" dirty="0" smtClean="0"/>
              <a:t/>
            </a:r>
            <a:br>
              <a:rPr lang="en-US" altLang="ko-KR" dirty="0" smtClean="0"/>
            </a:br>
            <a:r>
              <a:rPr lang="en-US" altLang="ko-KR" dirty="0"/>
              <a:t>- </a:t>
            </a:r>
            <a:r>
              <a:rPr lang="en-US" altLang="ko-KR" dirty="0" smtClean="0"/>
              <a:t>MUI-BD-12-M83 </a:t>
            </a:r>
            <a:r>
              <a:rPr lang="ko-KR" altLang="en-US" dirty="0" err="1" smtClean="0"/>
              <a:t>공개수의협상결과조회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675399" y="3263657"/>
            <a:ext cx="2712027" cy="334927"/>
            <a:chOff x="675399" y="3560135"/>
            <a:chExt cx="2712027" cy="334927"/>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883385"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a:latin typeface="+mn-ea"/>
                </a:rPr>
                <a:t>입찰품목</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61805"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1297396"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en-US" altLang="ko-KR" sz="700">
                  <a:latin typeface="+mn-ea"/>
                </a:rPr>
                <a:t>.</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240" name="그룹 239"/>
          <p:cNvGrpSpPr/>
          <p:nvPr/>
        </p:nvGrpSpPr>
        <p:grpSpPr>
          <a:xfrm>
            <a:off x="675399" y="2365403"/>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95560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695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8936"/>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모서리가 둥근 직사각형 150"/>
          <p:cNvSpPr/>
          <p:nvPr/>
        </p:nvSpPr>
        <p:spPr>
          <a:xfrm rot="5400000">
            <a:off x="2662242" y="317615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6593"/>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660734"/>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6" name="그룹 95"/>
          <p:cNvGrpSpPr/>
          <p:nvPr/>
        </p:nvGrpSpPr>
        <p:grpSpPr>
          <a:xfrm>
            <a:off x="677960" y="1582647"/>
            <a:ext cx="2714637" cy="686386"/>
            <a:chOff x="677960" y="1582647"/>
            <a:chExt cx="2714637" cy="686386"/>
          </a:xfrm>
        </p:grpSpPr>
        <p:sp>
          <p:nvSpPr>
            <p:cNvPr id="97" name="TextBox 96">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공개수의협상 견적서 상세</a:t>
              </a:r>
              <a:endParaRPr lang="ko-KR" altLang="en-US" sz="800" dirty="0">
                <a:latin typeface="+mn-ea"/>
              </a:endParaRP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9" name="그룹 98"/>
            <p:cNvGrpSpPr/>
            <p:nvPr/>
          </p:nvGrpSpPr>
          <p:grpSpPr>
            <a:xfrm rot="5400000">
              <a:off x="852159" y="206259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677960" y="1582647"/>
              <a:ext cx="2712027" cy="324286"/>
              <a:chOff x="677960" y="1582647"/>
              <a:chExt cx="2712027" cy="324286"/>
            </a:xfrm>
          </p:grpSpPr>
          <p:pic>
            <p:nvPicPr>
              <p:cNvPr id="10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2" name="직선 연결선 10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타원 10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타원 10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타원 10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09" name="그룹 108"/>
          <p:cNvGrpSpPr/>
          <p:nvPr/>
        </p:nvGrpSpPr>
        <p:grpSpPr>
          <a:xfrm>
            <a:off x="3795734" y="1493927"/>
            <a:ext cx="2712027" cy="334927"/>
            <a:chOff x="675399" y="3560135"/>
            <a:chExt cx="2712027" cy="334927"/>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883385"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a:latin typeface="+mn-ea"/>
                </a:rPr>
                <a:t>입찰품목</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2561805"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5" name="그룹 114"/>
            <p:cNvGrpSpPr/>
            <p:nvPr/>
          </p:nvGrpSpPr>
          <p:grpSpPr>
            <a:xfrm>
              <a:off x="2924086" y="3640332"/>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6" name="직선 연결선 115">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297396"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en-US" altLang="ko-KR" sz="700">
                  <a:latin typeface="+mn-ea"/>
                </a:rPr>
                <a:t>.</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9749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718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68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7" name="타원 126">
            <a:extLst>
              <a:ext uri="{FF2B5EF4-FFF2-40B4-BE49-F238E27FC236}">
                <a16:creationId xmlns:a16="http://schemas.microsoft.com/office/drawing/2014/main" id="{37A7FF4F-0EAA-1463-560A-D5EC24416103}"/>
              </a:ext>
            </a:extLst>
          </p:cNvPr>
          <p:cNvSpPr/>
          <p:nvPr/>
        </p:nvSpPr>
        <p:spPr>
          <a:xfrm>
            <a:off x="571127" y="198356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8" name="타원 127"/>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9" name="그룹 128"/>
          <p:cNvGrpSpPr/>
          <p:nvPr/>
        </p:nvGrpSpPr>
        <p:grpSpPr>
          <a:xfrm>
            <a:off x="6726256" y="4802272"/>
            <a:ext cx="124144" cy="148935"/>
            <a:chOff x="161606" y="5392781"/>
            <a:chExt cx="97885" cy="117432"/>
          </a:xfrm>
        </p:grpSpPr>
        <p:cxnSp>
          <p:nvCxnSpPr>
            <p:cNvPr id="130" name="직선 연결선 129"/>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35" name="타원 134"/>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6" name="그룹 135"/>
          <p:cNvGrpSpPr/>
          <p:nvPr/>
        </p:nvGrpSpPr>
        <p:grpSpPr>
          <a:xfrm>
            <a:off x="6726257" y="5299917"/>
            <a:ext cx="124144" cy="124144"/>
            <a:chOff x="162544" y="5299917"/>
            <a:chExt cx="124144" cy="124144"/>
          </a:xfrm>
        </p:grpSpPr>
        <p:cxnSp>
          <p:nvCxnSpPr>
            <p:cNvPr id="137" name="직선 연결선 136"/>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8" name="직선 연결선 137"/>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a:extLst>
              <a:ext uri="{FF2B5EF4-FFF2-40B4-BE49-F238E27FC236}">
                <a16:creationId xmlns:a16="http://schemas.microsoft.com/office/drawing/2014/main" id="{37A7FF4F-0EAA-1463-560A-D5EC24416103}"/>
              </a:ext>
            </a:extLst>
          </p:cNvPr>
          <p:cNvSpPr/>
          <p:nvPr/>
        </p:nvSpPr>
        <p:spPr>
          <a:xfrm>
            <a:off x="6701701" y="56590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543200406"/>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3256"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4953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20" name="그룹 119"/>
          <p:cNvGrpSpPr/>
          <p:nvPr/>
        </p:nvGrpSpPr>
        <p:grpSpPr>
          <a:xfrm>
            <a:off x="701175" y="1895624"/>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1662"/>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663899888"/>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1591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4301"/>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3102"/>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3102"/>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4301"/>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309923035"/>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err="1">
                <a:latin typeface="+mn-ea"/>
              </a:rPr>
              <a:t>입찰품목</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484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64174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4674977"/>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453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392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89975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Y</a:t>
              </a:r>
            </a:p>
            <a:p>
              <a:pPr>
                <a:lnSpc>
                  <a:spcPct val="200000"/>
                </a:lnSpc>
              </a:pPr>
              <a:r>
                <a:rPr lang="en-US" altLang="ko-KR" sz="700" dirty="0">
                  <a:solidFill>
                    <a:srgbClr val="0070C0"/>
                  </a:solidFill>
                  <a:latin typeface="+mn-ea"/>
                </a:rPr>
                <a:t>File.pdf</a:t>
              </a:r>
            </a:p>
            <a:p>
              <a:pPr>
                <a:lnSpc>
                  <a:spcPct val="200000"/>
                </a:lnSpc>
              </a:pPr>
              <a:r>
                <a:rPr lang="en-US" altLang="ko-KR" sz="700" dirty="0">
                  <a:latin typeface="+mn-ea"/>
                </a:rPr>
                <a:t>1</a:t>
              </a:r>
            </a:p>
            <a:p>
              <a:pPr>
                <a:lnSpc>
                  <a:spcPct val="200000"/>
                </a:lnSpc>
              </a:pPr>
              <a:r>
                <a:rPr lang="en-US" altLang="ko-KR" sz="700" dirty="0">
                  <a:latin typeface="+mn-ea"/>
                </a:rPr>
                <a:t>2</a:t>
              </a:r>
            </a:p>
            <a:p>
              <a:pPr algn="r">
                <a:lnSpc>
                  <a:spcPct val="200000"/>
                </a:lnSpc>
              </a:pPr>
              <a:r>
                <a:rPr lang="en-US" altLang="ko-KR" sz="700" dirty="0">
                  <a:latin typeface="+mn-ea"/>
                </a:rPr>
                <a:t>10,000.00</a:t>
              </a:r>
            </a:p>
            <a:p>
              <a:pPr algn="r">
                <a:lnSpc>
                  <a:spcPct val="200000"/>
                </a:lnSpc>
              </a:pPr>
              <a:r>
                <a:rPr lang="en-US" altLang="ko-KR" sz="700" dirty="0">
                  <a:latin typeface="+mn-ea"/>
                </a:rPr>
                <a:t>608,000.00</a:t>
              </a:r>
            </a:p>
            <a:p>
              <a:pPr>
                <a:lnSpc>
                  <a:spcPct val="200000"/>
                </a:lnSpc>
              </a:pPr>
              <a:r>
                <a:rPr lang="en-US" altLang="ko-KR" sz="700" dirty="0">
                  <a:latin typeface="+mn-ea"/>
                </a:rPr>
                <a:t>USD (</a:t>
              </a:r>
              <a:r>
                <a:rPr lang="ko-KR" altLang="en-US" sz="700" dirty="0">
                  <a:latin typeface="+mn-ea"/>
                </a:rPr>
                <a:t>미 달러</a:t>
              </a:r>
              <a:r>
                <a:rPr lang="en-US" altLang="ko-KR" sz="700" dirty="0">
                  <a:latin typeface="+mn-ea"/>
                </a:rPr>
                <a:t>)</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197002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002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002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002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5552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411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49711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7278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49711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98466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4950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보기</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4277461947"/>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290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36464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418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078" y="2400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6968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77132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8251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078" y="28070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1550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2594" y="215500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1550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0981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17269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2265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078" y="320841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5048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5793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6332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078" y="361510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38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24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22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39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269943048"/>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30658983"/>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314720267"/>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90F8167D-94A1-7E70-59CE-62A4154E3531}"/>
              </a:ext>
            </a:extLst>
          </p:cNvPr>
          <p:cNvSpPr txBox="1"/>
          <p:nvPr/>
        </p:nvSpPr>
        <p:spPr>
          <a:xfrm>
            <a:off x="458117" y="812160"/>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EB558C93-AD38-A7F1-7F37-F59D6CF7A991}"/>
              </a:ext>
            </a:extLst>
          </p:cNvPr>
          <p:cNvGraphicFramePr>
            <a:graphicFrameLocks noGrp="1"/>
          </p:cNvGraphicFramePr>
          <p:nvPr/>
        </p:nvGraphicFramePr>
        <p:xfrm>
          <a:off x="452999" y="102133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974207196"/>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A383B8FF-BF72-FAEC-B935-96AD09469C93}"/>
              </a:ext>
            </a:extLst>
          </p:cNvPr>
          <p:cNvSpPr>
            <a:spLocks noGrp="1"/>
          </p:cNvSpPr>
          <p:nvPr>
            <p:ph type="sldNum" sz="quarter" idx="4"/>
          </p:nvPr>
        </p:nvSpPr>
        <p:spPr/>
        <p:txBody>
          <a:bodyPr/>
          <a:lstStyle/>
          <a:p>
            <a:fld id="{34C8E023-7346-48FC-AB24-9A3388C53208}" type="slidenum">
              <a:rPr lang="ko-KR" altLang="en-US" smtClean="0"/>
              <a:pPr/>
              <a:t>444</a:t>
            </a:fld>
            <a:endParaRPr lang="ko-KR" altLang="en-US" dirty="0"/>
          </a:p>
        </p:txBody>
      </p:sp>
      <p:sp>
        <p:nvSpPr>
          <p:cNvPr id="3" name="TextBox 2">
            <a:extLst>
              <a:ext uri="{FF2B5EF4-FFF2-40B4-BE49-F238E27FC236}">
                <a16:creationId xmlns:a16="http://schemas.microsoft.com/office/drawing/2014/main" id="{38C9FAC3-4D08-59EF-A1B3-F9D03D84391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4043D04A-F39E-2FE6-C9DE-A0E40C96F1F1}"/>
              </a:ext>
            </a:extLst>
          </p:cNvPr>
          <p:cNvGraphicFramePr>
            <a:graphicFrameLocks noGrp="1"/>
          </p:cNvGraphicFramePr>
          <p:nvPr>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견적서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제출취소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scwin.btn_sbmsnCancel_onclick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t>공개수의협상견적서취소신청서작성</a:t>
                      </a:r>
                      <a:r>
                        <a:rPr lang="ko-KR" altLang="en-US" sz="800" dirty="0"/>
                        <a:t>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7541491"/>
                  </a:ext>
                </a:extLst>
              </a:tr>
            </a:tbl>
          </a:graphicData>
        </a:graphic>
      </p:graphicFrame>
      <p:sp>
        <p:nvSpPr>
          <p:cNvPr id="5" name="Text Box 73">
            <a:extLst>
              <a:ext uri="{FF2B5EF4-FFF2-40B4-BE49-F238E27FC236}">
                <a16:creationId xmlns:a16="http://schemas.microsoft.com/office/drawing/2014/main" id="{98B82457-D774-A4D7-3E44-7AFE0E2763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3461202"/>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공개수의협상견적서취소신청서작성</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공개수의협상견적서취소신청서작성</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0000" lnSpcReduction="20000"/>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r>
              <a:rPr lang="ko-KR" altLang="en-US" dirty="0">
                <a:latin typeface="+mn-ea"/>
              </a:rPr>
              <a:t> </a:t>
            </a:r>
            <a:r>
              <a:rPr lang="en-US" altLang="ko-KR" dirty="0">
                <a:latin typeface="+mn-ea"/>
              </a:rPr>
              <a:t>&gt; </a:t>
            </a:r>
            <a:r>
              <a:rPr lang="ko-KR" altLang="en-US" dirty="0" err="1">
                <a:latin typeface="+mn-ea"/>
              </a:rPr>
              <a:t>공개수의협상견적서취소신청서작성</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MUI-BD-12-P82</a:t>
            </a:r>
            <a:endParaRPr lang="ko-KR" altLang="en-US" dirty="0">
              <a:solidFill>
                <a:srgbClr val="000000"/>
              </a:solidFill>
              <a:latin typeface="맑은 고딕" panose="020B0503020000020004" pitchFamily="50" charset="-127"/>
            </a:endParaRPr>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3632749"/>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3795834"/>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284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3539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2848196"/>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2849069"/>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2591531"/>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0690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r>
                <a:rPr lang="ko-KR" altLang="en-US" sz="700" dirty="0">
                  <a:latin typeface="+mn-ea"/>
                </a:rPr>
                <a:t> </a:t>
              </a:r>
              <a:r>
                <a:rPr lang="en-US" altLang="ko-KR" sz="700" dirty="0">
                  <a:latin typeface="+mn-ea"/>
                </a:rPr>
                <a:t>- </a:t>
              </a:r>
              <a:r>
                <a:rPr lang="ko-KR" altLang="en-US" sz="700" dirty="0">
                  <a:latin typeface="+mn-ea"/>
                </a:rPr>
                <a:t>제작자</a:t>
              </a:r>
              <a:r>
                <a:rPr lang="en-US" altLang="ko-KR" sz="700" dirty="0">
                  <a:latin typeface="+mn-ea"/>
                </a:rPr>
                <a:t>/</a:t>
              </a:r>
              <a:r>
                <a:rPr lang="ko-KR" altLang="en-US" sz="700" dirty="0">
                  <a:latin typeface="+mn-ea"/>
                </a:rPr>
                <a:t>공급자</a:t>
              </a: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Tree>
    <p:extLst>
      <p:ext uri="{BB962C8B-B14F-4D97-AF65-F5344CB8AC3E}">
        <p14:creationId xmlns:p14="http://schemas.microsoft.com/office/powerpoint/2010/main" val="1584413077"/>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82986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34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848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2832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25064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8448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120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6203264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3342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0437984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84504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350062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0253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64536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560019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8159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4513D15-2F4E-0EE7-F0BD-C110EFB04F0F}"/>
              </a:ext>
            </a:extLst>
          </p:cNvPr>
          <p:cNvSpPr txBox="1"/>
          <p:nvPr/>
        </p:nvSpPr>
        <p:spPr>
          <a:xfrm>
            <a:off x="458117" y="4834793"/>
            <a:ext cx="259903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1D0E72C4-031D-C63C-A8DF-C69F1B46579C}"/>
              </a:ext>
            </a:extLst>
          </p:cNvPr>
          <p:cNvGraphicFramePr>
            <a:graphicFrameLocks noGrp="1"/>
          </p:cNvGraphicFramePr>
          <p:nvPr/>
        </p:nvGraphicFramePr>
        <p:xfrm>
          <a:off x="452999" y="504599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311973172"/>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447</a:t>
            </a:fld>
            <a:endParaRPr lang="ko-KR" altLang="en-US" dirty="0"/>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E852C9A-4179-76CD-4D9E-624EA33E5343}"/>
              </a:ext>
            </a:extLst>
          </p:cNvPr>
          <p:cNvSpPr txBox="1"/>
          <p:nvPr/>
        </p:nvSpPr>
        <p:spPr>
          <a:xfrm>
            <a:off x="458117" y="56919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86DE8E7D-3FE9-C898-83CD-B26727BFFE9D}"/>
              </a:ext>
            </a:extLst>
          </p:cNvPr>
          <p:cNvGraphicFramePr>
            <a:graphicFrameLocks noGrp="1"/>
          </p:cNvGraphicFramePr>
          <p:nvPr>
            <p:extLst/>
          </p:nvPr>
        </p:nvGraphicFramePr>
        <p:xfrm>
          <a:off x="453000" y="803483"/>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scwin.btn_save_onclick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취소신청서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4036305"/>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scwin.btn_cancel_onclick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512506965"/>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49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65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642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1490"/>
            <a:ext cx="46166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702101" y="2906101"/>
            <a:ext cx="503343" cy="5361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a:t>
            </a:r>
          </a:p>
          <a:p>
            <a:pPr algn="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510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054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68882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688829"/>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0543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650706"/>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6566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94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53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877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8774"/>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538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0651"/>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534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2402094"/>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240209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2402094"/>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011767"/>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3688"/>
            <a:ext cx="2660475" cy="2430887"/>
            <a:chOff x="720490" y="3803374"/>
            <a:chExt cx="2660475" cy="2430887"/>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2340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2340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5737"/>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공개수의협상 결과 조회</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5" name="그룹 124"/>
            <p:cNvGrpSpPr/>
            <p:nvPr/>
          </p:nvGrpSpPr>
          <p:grpSpPr>
            <a:xfrm rot="5400000">
              <a:off x="852159" y="2062596"/>
              <a:ext cx="94010" cy="47005"/>
              <a:chOff x="6812560" y="3297172"/>
              <a:chExt cx="94010" cy="47005"/>
            </a:xfrm>
          </p:grpSpPr>
          <p:cxnSp>
            <p:nvCxnSpPr>
              <p:cNvPr id="133" name="직선 연결선 13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4" name="직선 연결선 13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6" name="그룹 125"/>
            <p:cNvGrpSpPr/>
            <p:nvPr/>
          </p:nvGrpSpPr>
          <p:grpSpPr>
            <a:xfrm>
              <a:off x="677960" y="1582647"/>
              <a:ext cx="2712027" cy="324286"/>
              <a:chOff x="677960" y="1582647"/>
              <a:chExt cx="2712027" cy="324286"/>
            </a:xfrm>
          </p:grpSpPr>
          <p:pic>
            <p:nvPicPr>
              <p:cNvPr id="12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9" name="직선 연결선 12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418602647"/>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MUI-BD-12-T82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9"/>
            <a:chOff x="701175" y="1527996"/>
            <a:chExt cx="2630093" cy="289280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3"/>
              <a:ext cx="792000" cy="25853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773761"/>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15077526"/>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a:t>
            </a:r>
            <a:r>
              <a:rPr lang="ko-KR" altLang="en-US" dirty="0" smtClean="0"/>
              <a:t>영역</a:t>
            </a:r>
            <a:endParaRPr lang="en-US" altLang="ko-KR" dirty="0" smtClean="0"/>
          </a:p>
          <a:p>
            <a:pPr>
              <a:buFont typeface="+mj-lt"/>
              <a:buAutoNum type="arabicPeriod"/>
            </a:pPr>
            <a:r>
              <a:rPr lang="ko-KR" altLang="en-US" dirty="0" smtClean="0"/>
              <a:t>제출서류</a:t>
            </a:r>
            <a:r>
              <a:rPr lang="en-US" altLang="ko-KR" dirty="0" smtClean="0"/>
              <a:t/>
            </a:r>
            <a:br>
              <a:rPr lang="en-US" altLang="ko-KR" dirty="0" smtClean="0"/>
            </a:br>
            <a:r>
              <a:rPr lang="en-US" altLang="ko-KR" dirty="0"/>
              <a:t>- </a:t>
            </a:r>
            <a:r>
              <a:rPr lang="en-US" altLang="ko-KR" dirty="0" smtClean="0"/>
              <a:t>MUI-BD-01-P76 </a:t>
            </a:r>
            <a:r>
              <a:rPr lang="ko-KR" altLang="en-US" dirty="0" smtClean="0"/>
              <a:t>첨부파일조회 화면에서 사용자가 제출한 서류 항목 표시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MUI-BD-12-T83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3108252"/>
            <a:chOff x="701175" y="1527996"/>
            <a:chExt cx="2630093" cy="3108252"/>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조회 결과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27877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766463"/>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a:p>
              <a:pPr>
                <a:lnSpc>
                  <a:spcPct val="200000"/>
                </a:lnSpc>
              </a:pPr>
              <a:r>
                <a:rPr lang="ko-KR" altLang="en-US" sz="700" dirty="0" err="1">
                  <a:latin typeface="+mn-ea"/>
                </a:rPr>
                <a:t>입찰업체명</a:t>
              </a:r>
              <a:endParaRPr lang="ko-KR" altLang="en-US" sz="700" dirty="0">
                <a:latin typeface="+mn-ea"/>
              </a:endParaRPr>
            </a:p>
            <a:p>
              <a:pPr>
                <a:lnSpc>
                  <a:spcPct val="200000"/>
                </a:lnSpc>
              </a:pPr>
              <a:r>
                <a:rPr lang="ko-KR" altLang="en-US" sz="700" dirty="0">
                  <a:latin typeface="+mn-ea"/>
                </a:rPr>
                <a:t>제출서류</a:t>
              </a: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a:latin typeface="+mn-ea"/>
                </a:rPr>
                <a:t>순위</a:t>
              </a:r>
            </a:p>
            <a:p>
              <a:pPr>
                <a:lnSpc>
                  <a:spcPct val="200000"/>
                </a:lnSpc>
              </a:pPr>
              <a:r>
                <a:rPr lang="ko-KR" altLang="en-US" sz="700" dirty="0" err="1">
                  <a:latin typeface="+mn-ea"/>
                </a:rPr>
                <a:t>낙찰여부</a:t>
              </a:r>
              <a:endParaRPr lang="ko-KR" altLang="en-US" sz="700" dirty="0">
                <a:latin typeface="+mn-ea"/>
              </a:endParaRPr>
            </a:p>
            <a:p>
              <a:pPr>
                <a:lnSpc>
                  <a:spcPct val="200000"/>
                </a:lnSpc>
              </a:pPr>
              <a:r>
                <a:rPr lang="ko-KR" altLang="en-US" sz="700" dirty="0" err="1">
                  <a:latin typeface="+mn-ea"/>
                </a:rPr>
                <a:t>탈락사유</a:t>
              </a:r>
              <a:endParaRPr lang="ko-KR" altLang="en-US" sz="700" dirty="0">
                <a:latin typeface="+mn-ea"/>
              </a:endParaRPr>
            </a:p>
            <a:p>
              <a:pPr>
                <a:lnSpc>
                  <a:spcPct val="200000"/>
                </a:lnSpc>
              </a:pPr>
              <a:r>
                <a:rPr lang="ko-KR" altLang="en-US" sz="700" dirty="0">
                  <a:latin typeface="+mn-ea"/>
                </a:rPr>
                <a:t>계약포기일자</a:t>
              </a:r>
            </a:p>
            <a:p>
              <a:pPr>
                <a:lnSpc>
                  <a:spcPct val="200000"/>
                </a:lnSpc>
              </a:pPr>
              <a:r>
                <a:rPr lang="ko-KR" altLang="en-US" sz="700" dirty="0">
                  <a:latin typeface="+mn-ea"/>
                </a:rPr>
                <a:t>계약포기사유</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a:p>
              <a:pPr>
                <a:lnSpc>
                  <a:spcPct val="200000"/>
                </a:lnSpc>
              </a:pPr>
              <a:r>
                <a:rPr lang="en-US" altLang="ko-KR" sz="700" dirty="0">
                  <a:latin typeface="맑은 고딕" panose="020B0503020000020004" pitchFamily="50" charset="-127"/>
                  <a:cs typeface="Segoe UI" panose="020B0502040204020203" pitchFamily="34" charset="0"/>
                </a:rPr>
                <a:t>B </a:t>
              </a:r>
              <a:r>
                <a:rPr lang="ko-KR" altLang="en-US" sz="700" dirty="0">
                  <a:latin typeface="맑은 고딕" panose="020B0503020000020004" pitchFamily="50" charset="-127"/>
                  <a:cs typeface="Segoe UI" panose="020B0502040204020203" pitchFamily="34" charset="0"/>
                </a:rPr>
                <a:t>해외업체</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solidFill>
                    <a:srgbClr val="0070C0"/>
                  </a:solidFill>
                  <a:latin typeface="맑은 고딕" panose="020B0503020000020004" pitchFamily="50" charset="-127"/>
                  <a:cs typeface="Segoe UI" panose="020B0502040204020203" pitchFamily="34" charset="0"/>
                </a:rPr>
                <a:t>O</a:t>
              </a:r>
            </a:p>
            <a:p>
              <a:pPr algn="r">
                <a:lnSpc>
                  <a:spcPct val="200000"/>
                </a:lnSpc>
              </a:pPr>
              <a:r>
                <a:rPr lang="en-US" altLang="ko-KR" sz="700" dirty="0">
                  <a:latin typeface="맑은 고딕" panose="020B0503020000020004" pitchFamily="50" charset="-127"/>
                  <a:cs typeface="Segoe UI" panose="020B0502040204020203" pitchFamily="34" charset="0"/>
                </a:rPr>
                <a:t>98,000,000.00</a:t>
              </a:r>
            </a:p>
            <a:p>
              <a:pPr>
                <a:lnSpc>
                  <a:spcPct val="200000"/>
                </a:lnSpc>
              </a:pPr>
              <a:r>
                <a:rPr lang="en-US" altLang="ko-KR" sz="700" dirty="0">
                  <a:latin typeface="맑은 고딕" panose="020B0503020000020004" pitchFamily="50" charset="-127"/>
                  <a:cs typeface="Segoe UI" panose="020B0502040204020203" pitchFamily="34" charset="0"/>
                </a:rPr>
                <a:t>USD</a:t>
              </a:r>
            </a:p>
            <a:p>
              <a:pPr>
                <a:lnSpc>
                  <a:spcPct val="200000"/>
                </a:lnSpc>
              </a:pPr>
              <a:r>
                <a:rPr lang="en-US" altLang="ko-KR" sz="700" dirty="0">
                  <a:latin typeface="맑은 고딕" panose="020B0503020000020004" pitchFamily="50" charset="-127"/>
                  <a:cs typeface="Segoe UI" panose="020B0502040204020203" pitchFamily="34" charset="0"/>
                </a:rPr>
                <a:t>1</a:t>
              </a:r>
            </a:p>
            <a:p>
              <a:pPr>
                <a:lnSpc>
                  <a:spcPct val="200000"/>
                </a:lnSpc>
              </a:pPr>
              <a:r>
                <a:rPr lang="ko-KR" altLang="en-US" sz="700" dirty="0">
                  <a:latin typeface="맑은 고딕" panose="020B0503020000020004" pitchFamily="50" charset="-127"/>
                  <a:cs typeface="Segoe UI" panose="020B0502040204020203" pitchFamily="34" charset="0"/>
                </a:rPr>
                <a:t>낙찰</a:t>
              </a:r>
              <a:endParaRPr lang="en-US" altLang="ko-KR" sz="700" dirty="0">
                <a:latin typeface="맑은 고딕" panose="020B0503020000020004" pitchFamily="50" charset="-127"/>
                <a:cs typeface="Segoe UI" panose="020B0502040204020203" pitchFamily="34" charset="0"/>
              </a:endParaRPr>
            </a:p>
            <a:p>
              <a:pPr>
                <a:lnSpc>
                  <a:spcPct val="200000"/>
                </a:lnSpc>
              </a:pP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맑은 고딕" panose="020B0503020000020004" pitchFamily="50" charset="-127"/>
                  <a:cs typeface="Segoe UI" panose="020B0502040204020203" pitchFamily="34" charset="0"/>
                </a:rPr>
                <a:t>2025-12-11</a:t>
              </a:r>
            </a:p>
            <a:p>
              <a:pPr>
                <a:lnSpc>
                  <a:spcPct val="200000"/>
                </a:lnSpc>
              </a:pPr>
              <a:r>
                <a:rPr lang="ko-KR" altLang="en-US" sz="700" dirty="0">
                  <a:latin typeface="맑은 고딕" panose="020B0503020000020004" pitchFamily="50" charset="-127"/>
                  <a:cs typeface="Segoe UI" panose="020B0502040204020203" pitchFamily="34" charset="0"/>
                </a:rPr>
                <a:t>계약 포기 사유 표시</a:t>
              </a:r>
              <a:endParaRPr lang="en-US" altLang="ko-KR" sz="700" dirty="0">
                <a:latin typeface="+mn-ea"/>
              </a:endParaRPr>
            </a:p>
          </p:txBody>
        </p:sp>
        <p:grpSp>
          <p:nvGrpSpPr>
            <p:cNvPr id="126" name="그룹 125"/>
            <p:cNvGrpSpPr/>
            <p:nvPr/>
          </p:nvGrpSpPr>
          <p:grpSpPr>
            <a:xfrm>
              <a:off x="701175" y="1835481"/>
              <a:ext cx="2630093" cy="2787779"/>
              <a:chOff x="701175" y="1835481"/>
              <a:chExt cx="2630093" cy="2787779"/>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2" name="직선 연결선 51">
                <a:extLst>
                  <a:ext uri="{FF2B5EF4-FFF2-40B4-BE49-F238E27FC236}">
                    <a16:creationId xmlns:a16="http://schemas.microsoft.com/office/drawing/2014/main" id="{E9293055-D5CD-4B9E-7F64-64B2D2CA7A52}"/>
                  </a:ext>
                </a:extLst>
              </p:cNvPr>
              <p:cNvCxnSpPr/>
              <p:nvPr/>
            </p:nvCxnSpPr>
            <p:spPr>
              <a:xfrm>
                <a:off x="703268" y="33354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3551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701175" y="37702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39850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703268" y="42011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442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1175" y="4623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462539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4651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grpSp>
        <p:nvGrpSpPr>
          <p:cNvPr id="3" name="그룹 2"/>
          <p:cNvGrpSpPr/>
          <p:nvPr/>
        </p:nvGrpSpPr>
        <p:grpSpPr>
          <a:xfrm>
            <a:off x="3836031" y="3218712"/>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sp>
        <p:nvSpPr>
          <p:cNvPr id="50" name="직사각형 4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9" name="그룹 58">
            <a:extLst>
              <a:ext uri="{FF2B5EF4-FFF2-40B4-BE49-F238E27FC236}">
                <a16:creationId xmlns:a16="http://schemas.microsoft.com/office/drawing/2014/main" id="{22BC05EE-C648-7CA2-4CCC-6E1C1A7E9BDA}"/>
              </a:ext>
            </a:extLst>
          </p:cNvPr>
          <p:cNvGrpSpPr/>
          <p:nvPr/>
        </p:nvGrpSpPr>
        <p:grpSpPr>
          <a:xfrm>
            <a:off x="5113316" y="2388597"/>
            <a:ext cx="76863" cy="292489"/>
            <a:chOff x="3750067" y="4683795"/>
            <a:chExt cx="76863" cy="292489"/>
          </a:xfrm>
        </p:grpSpPr>
        <p:sp>
          <p:nvSpPr>
            <p:cNvPr id="60" name="타원 5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1" name="타원 6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2" name="타원 6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63" name="사각형: 둥근 모서리 15">
            <a:extLst>
              <a:ext uri="{FF2B5EF4-FFF2-40B4-BE49-F238E27FC236}">
                <a16:creationId xmlns:a16="http://schemas.microsoft.com/office/drawing/2014/main" id="{E2B61CFB-AD16-68D0-8752-50D9C5E01971}"/>
              </a:ext>
            </a:extLst>
          </p:cNvPr>
          <p:cNvSpPr/>
          <p:nvPr/>
        </p:nvSpPr>
        <p:spPr>
          <a:xfrm>
            <a:off x="2836921" y="295400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64" name="타원 63">
            <a:extLst>
              <a:ext uri="{FF2B5EF4-FFF2-40B4-BE49-F238E27FC236}">
                <a16:creationId xmlns:a16="http://schemas.microsoft.com/office/drawing/2014/main" id="{37A7FF4F-0EAA-1463-560A-D5EC24416103}"/>
              </a:ext>
            </a:extLst>
          </p:cNvPr>
          <p:cNvSpPr/>
          <p:nvPr/>
        </p:nvSpPr>
        <p:spPr>
          <a:xfrm>
            <a:off x="571127" y="29438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713292159"/>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80311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90042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92264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756792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615514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76108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0690520"/>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3716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24794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168734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22780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489028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784464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39210768"/>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7522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 데이터 영역 </a:t>
            </a:r>
            <a:r>
              <a:rPr lang="en-US" altLang="ko-KR" sz="900" b="1" dirty="0">
                <a:solidFill>
                  <a:prstClr val="black"/>
                </a:solidFill>
              </a:rPr>
              <a:t>(</a:t>
            </a:r>
            <a:r>
              <a:rPr lang="en-US" altLang="ko-KR" sz="900" b="1" dirty="0" err="1">
                <a:solidFill>
                  <a:prstClr val="black"/>
                </a:solidFill>
              </a:rPr>
              <a:t>dl_bidRsltList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714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54320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683915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537837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5239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docSbmsnYn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서류 유무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237321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96893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761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13820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t>
                      </a:r>
                      <a:r>
                        <a:rPr lang="ko-KR" altLang="en-US" sz="800" b="0" i="0" u="none" strike="noStrike" dirty="0">
                          <a:solidFill>
                            <a:srgbClr val="000000"/>
                          </a:solidFill>
                          <a:effectLst/>
                          <a:latin typeface="맑은 고딕" panose="020B0503020000020004" pitchFamily="50" charset="-127"/>
                          <a:ea typeface="+mn-ea"/>
                        </a:rPr>
                        <a:t>낙찰</a:t>
                      </a:r>
                      <a:r>
                        <a:rPr lang="en-US" altLang="ko-KR" sz="800" b="0" i="0" u="none" strike="noStrike" dirty="0">
                          <a:solidFill>
                            <a:srgbClr val="000000"/>
                          </a:solidFill>
                          <a:effectLst/>
                          <a:latin typeface="맑은 고딕" panose="020B0503020000020004" pitchFamily="50" charset="-127"/>
                          <a:ea typeface="+mn-ea"/>
                        </a:rPr>
                        <a:t>/</a:t>
                      </a:r>
                      <a:r>
                        <a:rPr lang="ko-KR" altLang="en-US" sz="800" b="0" i="0" u="none" strike="noStrike" dirty="0">
                          <a:solidFill>
                            <a:srgbClr val="000000"/>
                          </a:solidFill>
                          <a:effectLst/>
                          <a:latin typeface="맑은 고딕" panose="020B0503020000020004" pitchFamily="50" charset="-127"/>
                          <a:ea typeface="+mn-ea"/>
                        </a:rPr>
                        <a:t>탈락</a:t>
                      </a:r>
                      <a:r>
                        <a:rPr lang="en-US" altLang="ko-KR" sz="800" b="0" i="0" u="none" strike="noStrike" dirty="0">
                          <a:solidFill>
                            <a:srgbClr val="000000"/>
                          </a:solidFill>
                          <a:effectLst/>
                          <a:latin typeface="맑은 고딕" panose="020B0503020000020004" pitchFamily="50" charset="-127"/>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83686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48433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0004826"/>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97FA44C3-68D2-A790-27CD-BBA5F8FEB82E}"/>
              </a:ext>
            </a:extLst>
          </p:cNvPr>
          <p:cNvSpPr>
            <a:spLocks noGrp="1"/>
          </p:cNvSpPr>
          <p:nvPr>
            <p:ph type="sldNum" sz="quarter" idx="4"/>
          </p:nvPr>
        </p:nvSpPr>
        <p:spPr/>
        <p:txBody>
          <a:bodyPr/>
          <a:lstStyle/>
          <a:p>
            <a:fld id="{34C8E023-7346-48FC-AB24-9A3388C53208}" type="slidenum">
              <a:rPr lang="ko-KR" altLang="en-US" smtClean="0"/>
              <a:pPr/>
              <a:t>453</a:t>
            </a:fld>
            <a:endParaRPr lang="ko-KR" altLang="en-US" dirty="0"/>
          </a:p>
        </p:txBody>
      </p:sp>
      <p:sp>
        <p:nvSpPr>
          <p:cNvPr id="3" name="TextBox 2">
            <a:extLst>
              <a:ext uri="{FF2B5EF4-FFF2-40B4-BE49-F238E27FC236}">
                <a16:creationId xmlns:a16="http://schemas.microsoft.com/office/drawing/2014/main" id="{BC1631CE-45D9-95D4-010F-992F6EC1140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9442E0F-14EC-B5E0-ED68-80781A841AF9}"/>
              </a:ext>
            </a:extLst>
          </p:cNvPr>
          <p:cNvGraphicFramePr>
            <a:graphicFrameLocks noGrp="1"/>
          </p:cNvGraphicFramePr>
          <p:nvPr>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견적제출 목록</a:t>
                      </a:r>
                      <a:r>
                        <a:rPr lang="en-US" altLang="ko-KR" sz="800" dirty="0">
                          <a:latin typeface="+mn-ea"/>
                          <a:ea typeface="+mn-ea"/>
                        </a:rPr>
                        <a:t>, </a:t>
                      </a:r>
                      <a:r>
                        <a:rPr lang="ko-KR" altLang="en-US" sz="800" dirty="0">
                          <a:latin typeface="+mn-ea"/>
                          <a:ea typeface="+mn-ea"/>
                        </a:rPr>
                        <a:t>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5601265"/>
                  </a:ext>
                </a:extLst>
              </a:tr>
            </a:tbl>
          </a:graphicData>
        </a:graphic>
      </p:graphicFrame>
      <p:sp>
        <p:nvSpPr>
          <p:cNvPr id="5" name="Text Box 73">
            <a:extLst>
              <a:ext uri="{FF2B5EF4-FFF2-40B4-BE49-F238E27FC236}">
                <a16:creationId xmlns:a16="http://schemas.microsoft.com/office/drawing/2014/main" id="{990CC872-50A4-2401-9C22-88A8F5411F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97881184"/>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22266</TotalTime>
  <Words>76122</Words>
  <Application>Microsoft Office PowerPoint</Application>
  <PresentationFormat>A4 용지(210x297mm)</PresentationFormat>
  <Paragraphs>31748</Paragraphs>
  <Slides>454</Slides>
  <Notes>10</Notes>
  <HiddenSlides>0</HiddenSlides>
  <MMClips>0</MMClips>
  <ScaleCrop>false</ScaleCrop>
  <HeadingPairs>
    <vt:vector size="6" baseType="variant">
      <vt:variant>
        <vt:lpstr>사용한 글꼴</vt:lpstr>
      </vt:variant>
      <vt:variant>
        <vt:i4>12</vt:i4>
      </vt:variant>
      <vt:variant>
        <vt:lpstr>테마</vt:lpstr>
      </vt:variant>
      <vt:variant>
        <vt:i4>1</vt:i4>
      </vt:variant>
      <vt:variant>
        <vt:lpstr>슬라이드 제목</vt:lpstr>
      </vt:variant>
      <vt:variant>
        <vt:i4>454</vt:i4>
      </vt:variant>
    </vt:vector>
  </HeadingPairs>
  <TitlesOfParts>
    <vt:vector size="467" baseType="lpstr">
      <vt:lpstr>Pretendard Medium</vt:lpstr>
      <vt:lpstr>나눔고딕</vt:lpstr>
      <vt:lpstr>맑은 고딕</vt:lpstr>
      <vt:lpstr>휴먼명조</vt:lpstr>
      <vt:lpstr>Arial</vt:lpstr>
      <vt:lpstr>Calibri</vt:lpstr>
      <vt:lpstr>Consolas</vt:lpstr>
      <vt:lpstr>Segoe UI</vt:lpstr>
      <vt:lpstr>Times New Roman</vt:lpstr>
      <vt:lpstr>Verdana</vt:lpstr>
      <vt:lpstr>Wingdings</vt:lpstr>
      <vt:lpstr>Wingdings 2</vt:lpstr>
      <vt:lpstr>Office 테마</vt:lpstr>
      <vt:lpstr>사용자인터페이스 설계서 - 모바일</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LIG SYSTEM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표준서식-PPTX-A4-Landscape</dc:title>
  <dc:subject>프로젝트 명</dc:subject>
  <dc:creator>LIG SYSTEM</dc:creator>
  <cp:keywords>표준서식-PPTX-A4-Landscape</cp:keywords>
  <cp:lastModifiedBy>User</cp:lastModifiedBy>
  <cp:revision>1106</cp:revision>
  <cp:lastPrinted>2016-10-27T08:57:39Z</cp:lastPrinted>
  <dcterms:created xsi:type="dcterms:W3CDTF">2016-10-27T07:41:55Z</dcterms:created>
  <dcterms:modified xsi:type="dcterms:W3CDTF">2026-07-10T08:11:22Z</dcterms:modified>
  <cp:category>서브시스템/업무명</cp:category>
  <cp:contentStatus>0.1</cp:contentStatus>
</cp:coreProperties>
</file>