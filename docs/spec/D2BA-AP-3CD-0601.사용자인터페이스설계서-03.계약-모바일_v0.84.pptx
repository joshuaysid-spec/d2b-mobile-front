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660" r:id="rId1"/>
  </p:sldMasterIdLst>
  <p:notesMasterIdLst>
    <p:notesMasterId r:id="rId196"/>
  </p:notesMasterIdLst>
  <p:handoutMasterIdLst>
    <p:handoutMasterId r:id="rId197"/>
  </p:handoutMasterIdLst>
  <p:sldIdLst>
    <p:sldId id="861" r:id="rId2"/>
    <p:sldId id="886" r:id="rId3"/>
    <p:sldId id="888" r:id="rId4"/>
    <p:sldId id="863" r:id="rId5"/>
    <p:sldId id="864" r:id="rId6"/>
    <p:sldId id="865" r:id="rId7"/>
    <p:sldId id="889" r:id="rId8"/>
    <p:sldId id="866" r:id="rId9"/>
    <p:sldId id="893" r:id="rId10"/>
    <p:sldId id="867" r:id="rId11"/>
    <p:sldId id="894" r:id="rId12"/>
    <p:sldId id="890" r:id="rId13"/>
    <p:sldId id="895" r:id="rId14"/>
    <p:sldId id="868" r:id="rId15"/>
    <p:sldId id="869" r:id="rId16"/>
    <p:sldId id="870" r:id="rId17"/>
    <p:sldId id="907" r:id="rId18"/>
    <p:sldId id="908" r:id="rId19"/>
    <p:sldId id="909" r:id="rId20"/>
    <p:sldId id="910" r:id="rId21"/>
    <p:sldId id="911" r:id="rId22"/>
    <p:sldId id="912" r:id="rId23"/>
    <p:sldId id="913" r:id="rId24"/>
    <p:sldId id="621" r:id="rId25"/>
    <p:sldId id="292" r:id="rId26"/>
    <p:sldId id="891" r:id="rId27"/>
    <p:sldId id="892" r:id="rId28"/>
    <p:sldId id="778" r:id="rId29"/>
    <p:sldId id="630" r:id="rId30"/>
    <p:sldId id="631" r:id="rId31"/>
    <p:sldId id="633" r:id="rId32"/>
    <p:sldId id="632" r:id="rId33"/>
    <p:sldId id="634" r:id="rId34"/>
    <p:sldId id="779" r:id="rId35"/>
    <p:sldId id="780" r:id="rId36"/>
    <p:sldId id="781" r:id="rId37"/>
    <p:sldId id="782" r:id="rId38"/>
    <p:sldId id="784" r:id="rId39"/>
    <p:sldId id="640" r:id="rId40"/>
    <p:sldId id="785" r:id="rId41"/>
    <p:sldId id="786" r:id="rId42"/>
    <p:sldId id="787" r:id="rId43"/>
    <p:sldId id="788" r:id="rId44"/>
    <p:sldId id="645" r:id="rId45"/>
    <p:sldId id="646" r:id="rId46"/>
    <p:sldId id="647" r:id="rId47"/>
    <p:sldId id="648" r:id="rId48"/>
    <p:sldId id="649" r:id="rId49"/>
    <p:sldId id="789" r:id="rId50"/>
    <p:sldId id="790" r:id="rId51"/>
    <p:sldId id="791" r:id="rId52"/>
    <p:sldId id="792" r:id="rId53"/>
    <p:sldId id="794" r:id="rId54"/>
    <p:sldId id="655" r:id="rId55"/>
    <p:sldId id="656" r:id="rId56"/>
    <p:sldId id="657" r:id="rId57"/>
    <p:sldId id="658" r:id="rId58"/>
    <p:sldId id="795" r:id="rId59"/>
    <p:sldId id="796" r:id="rId60"/>
    <p:sldId id="797" r:id="rId61"/>
    <p:sldId id="798" r:id="rId62"/>
    <p:sldId id="663" r:id="rId63"/>
    <p:sldId id="664" r:id="rId64"/>
    <p:sldId id="874" r:id="rId65"/>
    <p:sldId id="875" r:id="rId66"/>
    <p:sldId id="799" r:id="rId67"/>
    <p:sldId id="800" r:id="rId68"/>
    <p:sldId id="801" r:id="rId69"/>
    <p:sldId id="668" r:id="rId70"/>
    <p:sldId id="873" r:id="rId71"/>
    <p:sldId id="669" r:id="rId72"/>
    <p:sldId id="802" r:id="rId73"/>
    <p:sldId id="803" r:id="rId74"/>
    <p:sldId id="804" r:id="rId75"/>
    <p:sldId id="674" r:id="rId76"/>
    <p:sldId id="675" r:id="rId77"/>
    <p:sldId id="676" r:id="rId78"/>
    <p:sldId id="677" r:id="rId79"/>
    <p:sldId id="805" r:id="rId80"/>
    <p:sldId id="806" r:id="rId81"/>
    <p:sldId id="807" r:id="rId82"/>
    <p:sldId id="681" r:id="rId83"/>
    <p:sldId id="682" r:id="rId84"/>
    <p:sldId id="683" r:id="rId85"/>
    <p:sldId id="684" r:id="rId86"/>
    <p:sldId id="876" r:id="rId87"/>
    <p:sldId id="877" r:id="rId88"/>
    <p:sldId id="878" r:id="rId89"/>
    <p:sldId id="879" r:id="rId90"/>
    <p:sldId id="702" r:id="rId91"/>
    <p:sldId id="811" r:id="rId92"/>
    <p:sldId id="896" r:id="rId93"/>
    <p:sldId id="689" r:id="rId94"/>
    <p:sldId id="808" r:id="rId95"/>
    <p:sldId id="809" r:id="rId96"/>
    <p:sldId id="810" r:id="rId97"/>
    <p:sldId id="693" r:id="rId98"/>
    <p:sldId id="812" r:id="rId99"/>
    <p:sldId id="695" r:id="rId100"/>
    <p:sldId id="696" r:id="rId101"/>
    <p:sldId id="813" r:id="rId102"/>
    <p:sldId id="814" r:id="rId103"/>
    <p:sldId id="815" r:id="rId104"/>
    <p:sldId id="700" r:id="rId105"/>
    <p:sldId id="816" r:id="rId106"/>
    <p:sldId id="857" r:id="rId107"/>
    <p:sldId id="906" r:id="rId108"/>
    <p:sldId id="855" r:id="rId109"/>
    <p:sldId id="854" r:id="rId110"/>
    <p:sldId id="856" r:id="rId111"/>
    <p:sldId id="704" r:id="rId112"/>
    <p:sldId id="705" r:id="rId113"/>
    <p:sldId id="817" r:id="rId114"/>
    <p:sldId id="818" r:id="rId115"/>
    <p:sldId id="708" r:id="rId116"/>
    <p:sldId id="709" r:id="rId117"/>
    <p:sldId id="710" r:id="rId118"/>
    <p:sldId id="711" r:id="rId119"/>
    <p:sldId id="819" r:id="rId120"/>
    <p:sldId id="820" r:id="rId121"/>
    <p:sldId id="821" r:id="rId122"/>
    <p:sldId id="715" r:id="rId123"/>
    <p:sldId id="716" r:id="rId124"/>
    <p:sldId id="717" r:id="rId125"/>
    <p:sldId id="718" r:id="rId126"/>
    <p:sldId id="822" r:id="rId127"/>
    <p:sldId id="823" r:id="rId128"/>
    <p:sldId id="824" r:id="rId129"/>
    <p:sldId id="825" r:id="rId130"/>
    <p:sldId id="723" r:id="rId131"/>
    <p:sldId id="881" r:id="rId132"/>
    <p:sldId id="882" r:id="rId133"/>
    <p:sldId id="883" r:id="rId134"/>
    <p:sldId id="826" r:id="rId135"/>
    <p:sldId id="827" r:id="rId136"/>
    <p:sldId id="828" r:id="rId137"/>
    <p:sldId id="829" r:id="rId138"/>
    <p:sldId id="728" r:id="rId139"/>
    <p:sldId id="729" r:id="rId140"/>
    <p:sldId id="730" r:id="rId141"/>
    <p:sldId id="731" r:id="rId142"/>
    <p:sldId id="830" r:id="rId143"/>
    <p:sldId id="831" r:id="rId144"/>
    <p:sldId id="832" r:id="rId145"/>
    <p:sldId id="833" r:id="rId146"/>
    <p:sldId id="736" r:id="rId147"/>
    <p:sldId id="884" r:id="rId148"/>
    <p:sldId id="737" r:id="rId149"/>
    <p:sldId id="738" r:id="rId150"/>
    <p:sldId id="834" r:id="rId151"/>
    <p:sldId id="835" r:id="rId152"/>
    <p:sldId id="742" r:id="rId153"/>
    <p:sldId id="897" r:id="rId154"/>
    <p:sldId id="743" r:id="rId155"/>
    <p:sldId id="744" r:id="rId156"/>
    <p:sldId id="914" r:id="rId157"/>
    <p:sldId id="745" r:id="rId158"/>
    <p:sldId id="746" r:id="rId159"/>
    <p:sldId id="748" r:id="rId160"/>
    <p:sldId id="836" r:id="rId161"/>
    <p:sldId id="837" r:id="rId162"/>
    <p:sldId id="838" r:id="rId163"/>
    <p:sldId id="840" r:id="rId164"/>
    <p:sldId id="755" r:id="rId165"/>
    <p:sldId id="841" r:id="rId166"/>
    <p:sldId id="842" r:id="rId167"/>
    <p:sldId id="843" r:id="rId168"/>
    <p:sldId id="759" r:id="rId169"/>
    <p:sldId id="844" r:id="rId170"/>
    <p:sldId id="761" r:id="rId171"/>
    <p:sldId id="845" r:id="rId172"/>
    <p:sldId id="763" r:id="rId173"/>
    <p:sldId id="846" r:id="rId174"/>
    <p:sldId id="847" r:id="rId175"/>
    <p:sldId id="747" r:id="rId176"/>
    <p:sldId id="848" r:id="rId177"/>
    <p:sldId id="754" r:id="rId178"/>
    <p:sldId id="899" r:id="rId179"/>
    <p:sldId id="898" r:id="rId180"/>
    <p:sldId id="900" r:id="rId181"/>
    <p:sldId id="901" r:id="rId182"/>
    <p:sldId id="902" r:id="rId183"/>
    <p:sldId id="903" r:id="rId184"/>
    <p:sldId id="904" r:id="rId185"/>
    <p:sldId id="905" r:id="rId186"/>
    <p:sldId id="766" r:id="rId187"/>
    <p:sldId id="767" r:id="rId188"/>
    <p:sldId id="768" r:id="rId189"/>
    <p:sldId id="769" r:id="rId190"/>
    <p:sldId id="849" r:id="rId191"/>
    <p:sldId id="850" r:id="rId192"/>
    <p:sldId id="851" r:id="rId193"/>
    <p:sldId id="773" r:id="rId194"/>
    <p:sldId id="852" r:id="rId195"/>
  </p:sldIdLst>
  <p:sldSz cx="9906000" cy="6858000" type="A4"/>
  <p:notesSz cx="6797675" cy="99266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E17E9566-FE8C-4BF9-8A43-99A4B4FC8091}">
          <p14:sldIdLst>
            <p14:sldId id="861"/>
            <p14:sldId id="886"/>
            <p14:sldId id="888"/>
            <p14:sldId id="863"/>
            <p14:sldId id="864"/>
          </p14:sldIdLst>
        </p14:section>
        <p14:section name="목록" id="{A88D8C4A-42D5-488C-851B-9A15CEB54A60}">
          <p14:sldIdLst>
            <p14:sldId id="865"/>
            <p14:sldId id="889"/>
            <p14:sldId id="866"/>
            <p14:sldId id="893"/>
            <p14:sldId id="867"/>
            <p14:sldId id="894"/>
            <p14:sldId id="890"/>
            <p14:sldId id="895"/>
            <p14:sldId id="868"/>
            <p14:sldId id="869"/>
            <p14:sldId id="870"/>
            <p14:sldId id="907"/>
            <p14:sldId id="908"/>
            <p14:sldId id="909"/>
            <p14:sldId id="910"/>
            <p14:sldId id="911"/>
            <p14:sldId id="912"/>
            <p14:sldId id="913"/>
          </p14:sldIdLst>
        </p14:section>
        <p14:section name="1.계약통합목록" id="{BB5718C8-07C1-4018-9189-79486BE9C0C5}">
          <p14:sldIdLst>
            <p14:sldId id="621"/>
            <p14:sldId id="292"/>
            <p14:sldId id="891"/>
            <p14:sldId id="892"/>
            <p14:sldId id="778"/>
            <p14:sldId id="630"/>
            <p14:sldId id="631"/>
            <p14:sldId id="633"/>
            <p14:sldId id="632"/>
            <p14:sldId id="634"/>
            <p14:sldId id="779"/>
            <p14:sldId id="780"/>
            <p14:sldId id="781"/>
            <p14:sldId id="782"/>
            <p14:sldId id="784"/>
            <p14:sldId id="640"/>
            <p14:sldId id="785"/>
            <p14:sldId id="786"/>
            <p14:sldId id="787"/>
            <p14:sldId id="788"/>
            <p14:sldId id="645"/>
            <p14:sldId id="646"/>
            <p14:sldId id="647"/>
            <p14:sldId id="648"/>
            <p14:sldId id="649"/>
            <p14:sldId id="789"/>
            <p14:sldId id="790"/>
            <p14:sldId id="791"/>
            <p14:sldId id="792"/>
            <p14:sldId id="794"/>
            <p14:sldId id="655"/>
            <p14:sldId id="656"/>
            <p14:sldId id="657"/>
            <p14:sldId id="658"/>
            <p14:sldId id="795"/>
            <p14:sldId id="796"/>
            <p14:sldId id="797"/>
            <p14:sldId id="798"/>
            <p14:sldId id="663"/>
            <p14:sldId id="664"/>
            <p14:sldId id="874"/>
            <p14:sldId id="875"/>
            <p14:sldId id="799"/>
            <p14:sldId id="800"/>
            <p14:sldId id="801"/>
            <p14:sldId id="668"/>
            <p14:sldId id="873"/>
            <p14:sldId id="669"/>
            <p14:sldId id="802"/>
            <p14:sldId id="803"/>
            <p14:sldId id="804"/>
            <p14:sldId id="674"/>
            <p14:sldId id="675"/>
            <p14:sldId id="676"/>
            <p14:sldId id="677"/>
            <p14:sldId id="805"/>
            <p14:sldId id="806"/>
            <p14:sldId id="807"/>
            <p14:sldId id="681"/>
            <p14:sldId id="682"/>
            <p14:sldId id="683"/>
            <p14:sldId id="684"/>
            <p14:sldId id="876"/>
            <p14:sldId id="877"/>
            <p14:sldId id="878"/>
            <p14:sldId id="879"/>
            <p14:sldId id="702"/>
            <p14:sldId id="811"/>
            <p14:sldId id="896"/>
            <p14:sldId id="689"/>
            <p14:sldId id="808"/>
            <p14:sldId id="809"/>
            <p14:sldId id="810"/>
            <p14:sldId id="693"/>
            <p14:sldId id="812"/>
            <p14:sldId id="695"/>
            <p14:sldId id="696"/>
            <p14:sldId id="813"/>
            <p14:sldId id="814"/>
            <p14:sldId id="815"/>
            <p14:sldId id="700"/>
            <p14:sldId id="816"/>
            <p14:sldId id="857"/>
            <p14:sldId id="906"/>
            <p14:sldId id="855"/>
            <p14:sldId id="854"/>
            <p14:sldId id="856"/>
          </p14:sldIdLst>
        </p14:section>
        <p14:section name="2.해지해제목록" id="{ADA4911A-617C-45D8-B34E-F8DEC2891795}">
          <p14:sldIdLst>
            <p14:sldId id="704"/>
            <p14:sldId id="705"/>
            <p14:sldId id="817"/>
            <p14:sldId id="818"/>
            <p14:sldId id="708"/>
            <p14:sldId id="709"/>
            <p14:sldId id="710"/>
            <p14:sldId id="711"/>
            <p14:sldId id="819"/>
            <p14:sldId id="820"/>
            <p14:sldId id="821"/>
            <p14:sldId id="715"/>
            <p14:sldId id="716"/>
            <p14:sldId id="717"/>
            <p14:sldId id="718"/>
            <p14:sldId id="822"/>
            <p14:sldId id="823"/>
            <p14:sldId id="824"/>
            <p14:sldId id="825"/>
            <p14:sldId id="723"/>
            <p14:sldId id="881"/>
            <p14:sldId id="882"/>
            <p14:sldId id="883"/>
            <p14:sldId id="826"/>
            <p14:sldId id="827"/>
            <p14:sldId id="828"/>
            <p14:sldId id="829"/>
            <p14:sldId id="728"/>
            <p14:sldId id="729"/>
            <p14:sldId id="730"/>
            <p14:sldId id="731"/>
            <p14:sldId id="830"/>
            <p14:sldId id="831"/>
            <p14:sldId id="832"/>
            <p14:sldId id="833"/>
            <p14:sldId id="736"/>
            <p14:sldId id="884"/>
            <p14:sldId id="737"/>
            <p14:sldId id="738"/>
            <p14:sldId id="834"/>
            <p14:sldId id="835"/>
          </p14:sldIdLst>
        </p14:section>
        <p14:section name="[국외] 전자계약 상세" id="{424AC961-1D86-485E-99C9-7ED55C62E3A6}">
          <p14:sldIdLst>
            <p14:sldId id="742"/>
            <p14:sldId id="897"/>
            <p14:sldId id="743"/>
            <p14:sldId id="744"/>
            <p14:sldId id="914"/>
            <p14:sldId id="745"/>
            <p14:sldId id="746"/>
            <p14:sldId id="748"/>
            <p14:sldId id="836"/>
            <p14:sldId id="837"/>
            <p14:sldId id="838"/>
            <p14:sldId id="840"/>
            <p14:sldId id="755"/>
            <p14:sldId id="841"/>
            <p14:sldId id="842"/>
            <p14:sldId id="843"/>
            <p14:sldId id="759"/>
            <p14:sldId id="844"/>
            <p14:sldId id="761"/>
            <p14:sldId id="845"/>
            <p14:sldId id="763"/>
            <p14:sldId id="846"/>
            <p14:sldId id="847"/>
            <p14:sldId id="747"/>
            <p14:sldId id="848"/>
            <p14:sldId id="754"/>
            <p14:sldId id="899"/>
            <p14:sldId id="898"/>
            <p14:sldId id="900"/>
            <p14:sldId id="901"/>
            <p14:sldId id="902"/>
            <p14:sldId id="903"/>
            <p14:sldId id="904"/>
            <p14:sldId id="905"/>
            <p14:sldId id="766"/>
            <p14:sldId id="767"/>
            <p14:sldId id="768"/>
            <p14:sldId id="769"/>
            <p14:sldId id="849"/>
            <p14:sldId id="850"/>
            <p14:sldId id="851"/>
            <p14:sldId id="773"/>
            <p14:sldId id="852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12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F4294"/>
    <a:srgbClr val="000000"/>
    <a:srgbClr val="0D0D0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812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1446" y="102"/>
      </p:cViewPr>
      <p:guideLst>
        <p:guide orient="horz" pos="2160"/>
        <p:guide pos="3120"/>
      </p:guideLst>
    </p:cSldViewPr>
  </p:slideViewPr>
  <p:notesTextViewPr>
    <p:cViewPr>
      <p:scale>
        <a:sx n="3" d="2"/>
        <a:sy n="3" d="2"/>
      </p:scale>
      <p:origin x="0" y="0"/>
    </p:cViewPr>
  </p:notesTextViewPr>
  <p:notesViewPr>
    <p:cSldViewPr snapToGrid="0">
      <p:cViewPr varScale="1">
        <p:scale>
          <a:sx n="81" d="100"/>
          <a:sy n="81" d="100"/>
        </p:scale>
        <p:origin x="3996" y="8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199" Type="http://schemas.openxmlformats.org/officeDocument/2006/relationships/viewProps" Target="viewProp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190" Type="http://schemas.openxmlformats.org/officeDocument/2006/relationships/slide" Target="slides/slide189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notesMaster" Target="notesMasters/notesMaster1.xml"/><Relationship Id="rId200" Type="http://schemas.openxmlformats.org/officeDocument/2006/relationships/theme" Target="theme/theme1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handoutMaster" Target="handoutMasters/handoutMaster1.xml"/><Relationship Id="rId201" Type="http://schemas.openxmlformats.org/officeDocument/2006/relationships/tableStyles" Target="tableStyles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presProps" Target="presProps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1" Type="http://schemas.openxmlformats.org/officeDocument/2006/relationships/slide" Target="slides/slide70.xml"/><Relationship Id="rId92" Type="http://schemas.openxmlformats.org/officeDocument/2006/relationships/slide" Target="slides/slide9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F486772-663E-498C-98A4-55676C0C79D5}" type="datetimeFigureOut">
              <a:rPr lang="ko-KR" altLang="en-US" smtClean="0"/>
              <a:t>2026-08-04 (Tuesday)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688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728BB6-27BE-4996-B82F-8E6CE98335C9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190483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9880DED-BD55-4631-A63F-CC2459F192F4}" type="datetimeFigureOut">
              <a:rPr lang="ko-KR" altLang="en-US" smtClean="0"/>
              <a:t>2026-08-04 (Tuesday)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81075" y="1241425"/>
            <a:ext cx="48355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1E14ED1-D705-4645-B89F-2D03A70CCA7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77305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1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5920900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4937303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5209261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5318688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91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7019220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1802406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5200297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0129469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1417738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8575509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900301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295444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335076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9074449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7839277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9416895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2682399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3372544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3664098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0905805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5770977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77225494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189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8753821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190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1828417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193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097366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>
            <a:extLst>
              <a:ext uri="{FF2B5EF4-FFF2-40B4-BE49-F238E27FC236}">
                <a16:creationId xmlns:a16="http://schemas.microsoft.com/office/drawing/2014/main" id="{D56036D5-DD5F-441E-9594-5002CA0E85B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4295427" y="5938279"/>
            <a:ext cx="1331674" cy="164897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46694" y="1306235"/>
            <a:ext cx="8640000" cy="612000"/>
          </a:xfrm>
          <a:prstGeom prst="rect">
            <a:avLst/>
          </a:prstGeom>
          <a:ln w="12700">
            <a:noFill/>
          </a:ln>
        </p:spPr>
        <p:txBody>
          <a:bodyPr anchor="b"/>
          <a:lstStyle>
            <a:lvl1pPr algn="r">
              <a:lnSpc>
                <a:spcPct val="100000"/>
              </a:lnSpc>
              <a:defRPr sz="2400" b="1" u="none"/>
            </a:lvl1pPr>
          </a:lstStyle>
          <a:p>
            <a:r>
              <a:rPr lang="ko-KR" altLang="en-US" dirty="0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37669" y="1942226"/>
            <a:ext cx="8649025" cy="396376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buNone/>
              <a:defRPr sz="1600" b="1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 dirty="0"/>
              <a:t>마스터 부제목 스타일 편집</a:t>
            </a:r>
            <a:endParaRPr lang="en-US" dirty="0"/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637669" y="1925053"/>
            <a:ext cx="864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13922239"/>
              </p:ext>
            </p:extLst>
          </p:nvPr>
        </p:nvGraphicFramePr>
        <p:xfrm>
          <a:off x="4551204" y="3815479"/>
          <a:ext cx="4744543" cy="952503"/>
        </p:xfrm>
        <a:graphic>
          <a:graphicData uri="http://schemas.openxmlformats.org/drawingml/2006/table">
            <a:tbl>
              <a:tblPr firstRow="1" firstCol="1" bandRow="1"/>
              <a:tblGrid>
                <a:gridCol w="9713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731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프로젝트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문서번호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000" b="1" kern="100" dirty="0" err="1">
                          <a:effectLst/>
                          <a:latin typeface="맑은 고딕" panose="020B0503020000020004" pitchFamily="50" charset="-127"/>
                          <a:ea typeface="+mn-ea"/>
                          <a:cs typeface="Times New Roman" panose="02020603050405020304" pitchFamily="18" charset="0"/>
                        </a:rPr>
                        <a:t>제개정이력</a:t>
                      </a:r>
                      <a:endParaRPr lang="ko-KR" sz="1000" b="1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183031"/>
                  </a:ext>
                </a:extLst>
              </a:tr>
            </a:tbl>
          </a:graphicData>
        </a:graphic>
      </p:graphicFrame>
      <p:sp>
        <p:nvSpPr>
          <p:cNvPr id="14" name="텍스트 개체 틀 12"/>
          <p:cNvSpPr>
            <a:spLocks noGrp="1"/>
          </p:cNvSpPr>
          <p:nvPr>
            <p:ph type="body" sz="quarter" idx="11"/>
          </p:nvPr>
        </p:nvSpPr>
        <p:spPr>
          <a:xfrm>
            <a:off x="5540722" y="3848071"/>
            <a:ext cx="3736946" cy="252000"/>
          </a:xfrm>
          <a:prstGeom prst="rect">
            <a:avLst/>
          </a:prstGeom>
        </p:spPr>
        <p:txBody>
          <a:bodyPr anchor="ctr"/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ko-KR" altLang="ko-KR" sz="1000" kern="100" dirty="0">
              <a:effectLst/>
              <a:latin typeface="맑은 고딕" panose="020B0503020000020004" pitchFamily="50" charset="-127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텍스트 개체 틀 12"/>
          <p:cNvSpPr>
            <a:spLocks noGrp="1"/>
          </p:cNvSpPr>
          <p:nvPr>
            <p:ph type="body" sz="quarter" idx="12"/>
          </p:nvPr>
        </p:nvSpPr>
        <p:spPr>
          <a:xfrm>
            <a:off x="5540722" y="416352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직사각형 12"/>
          <p:cNvSpPr/>
          <p:nvPr userDrawn="1"/>
        </p:nvSpPr>
        <p:spPr>
          <a:xfrm>
            <a:off x="1527804" y="6225242"/>
            <a:ext cx="6858548" cy="408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en-US" altLang="ko-KR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Copyright © 2025 by </a:t>
            </a: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</a:t>
            </a:r>
            <a:endParaRPr lang="en-US" altLang="ko-KR" sz="900" kern="100" dirty="0">
              <a:effectLst/>
              <a:latin typeface="+mn-ea"/>
              <a:ea typeface="+mn-ea"/>
              <a:cs typeface="Times New Roman" panose="02020603050405020304" pitchFamily="18" charset="0"/>
            </a:endParaRPr>
          </a:p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방위사업청의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사전 승인 없이 본 내용의 전부 또는 일부에 대한 복사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전재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배포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사용을 금합니다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.</a:t>
            </a:r>
            <a:endParaRPr lang="ko-KR" altLang="en-US" sz="900" dirty="0">
              <a:latin typeface="+mn-ea"/>
              <a:ea typeface="+mn-ea"/>
            </a:endParaRPr>
          </a:p>
        </p:txBody>
      </p:sp>
      <p:sp>
        <p:nvSpPr>
          <p:cNvPr id="12" name="텍스트 개체 틀 12"/>
          <p:cNvSpPr>
            <a:spLocks noGrp="1"/>
          </p:cNvSpPr>
          <p:nvPr>
            <p:ph type="body" sz="quarter" idx="13"/>
          </p:nvPr>
        </p:nvSpPr>
        <p:spPr>
          <a:xfrm>
            <a:off x="5540722" y="447994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pic>
        <p:nvPicPr>
          <p:cNvPr id="17" name="그림 16" descr="그래픽, 폰트, 그래픽 디자인, 로고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A9D3F7C-59D2-46B0-9671-095C3D9268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37641" y="465349"/>
            <a:ext cx="1005840" cy="3400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43035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개정이력/목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622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20" name="텍스트 개체 틀 12"/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buNone/>
              <a:defRPr sz="1400" b="1" u="sng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757759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4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266025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&amp;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734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67025" y="612000"/>
            <a:ext cx="9000000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2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1038808"/>
            <a:ext cx="9000000" cy="5424196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0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10315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내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7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612000"/>
            <a:ext cx="9000000" cy="5851004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1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039650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서식없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54753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인터페이스 이미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72137626"/>
              </p:ext>
            </p:extLst>
          </p:nvPr>
        </p:nvGraphicFramePr>
        <p:xfrm>
          <a:off x="458167" y="719999"/>
          <a:ext cx="8988374" cy="57554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89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51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59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680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42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33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3765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</a:t>
                      </a:r>
                      <a:r>
                        <a:rPr lang="en-US" altLang="ko-KR" sz="900" b="1" baseline="0" dirty="0"/>
                        <a:t> ID</a:t>
                      </a:r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 </a:t>
                      </a:r>
                      <a:r>
                        <a:rPr lang="ko-KR" altLang="en-US" sz="900" b="1" dirty="0"/>
                        <a:t>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화면경로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개요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322">
                <a:tc rowSpan="2"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설명 및 특이사항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81007">
                <a:tc gridSpan="6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텍스트 개체 틀 5"/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7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9DF8E3FD-B4FB-473B-BCAD-C4534B9A9D97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11" name="텍스트 개체 틀 10"/>
          <p:cNvSpPr>
            <a:spLocks noGrp="1"/>
          </p:cNvSpPr>
          <p:nvPr>
            <p:ph type="body" sz="quarter" idx="12"/>
          </p:nvPr>
        </p:nvSpPr>
        <p:spPr>
          <a:xfrm>
            <a:off x="3390640" y="755764"/>
            <a:ext cx="2101850" cy="162201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2" name="텍스트 개체 틀 10"/>
          <p:cNvSpPr>
            <a:spLocks noGrp="1"/>
          </p:cNvSpPr>
          <p:nvPr>
            <p:ph type="body" sz="quarter" idx="13"/>
          </p:nvPr>
        </p:nvSpPr>
        <p:spPr>
          <a:xfrm>
            <a:off x="956623" y="1010025"/>
            <a:ext cx="8434506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텍스트 개체 틀 10"/>
          <p:cNvSpPr>
            <a:spLocks noGrp="1"/>
          </p:cNvSpPr>
          <p:nvPr>
            <p:ph type="body" sz="quarter" idx="14"/>
          </p:nvPr>
        </p:nvSpPr>
        <p:spPr>
          <a:xfrm>
            <a:off x="6238614" y="755764"/>
            <a:ext cx="3140076" cy="177622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10"/>
          <p:cNvSpPr>
            <a:spLocks noGrp="1"/>
          </p:cNvSpPr>
          <p:nvPr>
            <p:ph type="body" sz="quarter" idx="15"/>
          </p:nvPr>
        </p:nvSpPr>
        <p:spPr>
          <a:xfrm>
            <a:off x="956623" y="755764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97163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2.png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D11E9F2C-2481-4ADA-BED0-11F45689328C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8685200" y="6640342"/>
            <a:ext cx="738733" cy="91480"/>
          </a:xfrm>
          <a:prstGeom prst="rect">
            <a:avLst/>
          </a:prstGeom>
        </p:spPr>
      </p:pic>
      <p:cxnSp>
        <p:nvCxnSpPr>
          <p:cNvPr id="8" name="직선 연결선 7"/>
          <p:cNvCxnSpPr/>
          <p:nvPr userDrawn="1"/>
        </p:nvCxnSpPr>
        <p:spPr>
          <a:xfrm>
            <a:off x="445168" y="540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 userDrawn="1"/>
        </p:nvCxnSpPr>
        <p:spPr>
          <a:xfrm>
            <a:off x="465216" y="6588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/>
          <p:cNvSpPr/>
          <p:nvPr userDrawn="1"/>
        </p:nvSpPr>
        <p:spPr>
          <a:xfrm>
            <a:off x="4950372" y="376754"/>
            <a:ext cx="4519928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ko-KR" altLang="en-US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사용자인터페이스설계서 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– </a:t>
            </a:r>
            <a:r>
              <a:rPr lang="en-US" altLang="ko-KR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03.</a:t>
            </a:r>
            <a:r>
              <a:rPr lang="ko-KR" altLang="en-US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계약</a:t>
            </a:r>
            <a:r>
              <a:rPr lang="en-US" altLang="ko-KR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-</a:t>
            </a:r>
            <a:r>
              <a:rPr lang="ko-KR" altLang="en-US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모바일</a:t>
            </a:r>
            <a:endParaRPr lang="ko-KR" altLang="en-US" sz="1000" dirty="0"/>
          </a:p>
        </p:txBody>
      </p:sp>
      <p:sp>
        <p:nvSpPr>
          <p:cNvPr id="10" name="직사각형 9"/>
          <p:cNvSpPr/>
          <p:nvPr userDrawn="1"/>
        </p:nvSpPr>
        <p:spPr>
          <a:xfrm>
            <a:off x="445168" y="376754"/>
            <a:ext cx="3939450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ko-KR" altLang="en-US" sz="1000" b="1" kern="100" dirty="0">
                <a:effectLst/>
              </a:rPr>
              <a:t>국방전자조달시스템 고도화 구축사업</a:t>
            </a:r>
          </a:p>
        </p:txBody>
      </p:sp>
      <p:pic>
        <p:nvPicPr>
          <p:cNvPr id="11" name="Picture 1">
            <a:extLst>
              <a:ext uri="{FF2B5EF4-FFF2-40B4-BE49-F238E27FC236}">
                <a16:creationId xmlns:a16="http://schemas.microsoft.com/office/drawing/2014/main" id="{3BECD7E0-1778-4975-BFA0-E9C4CE243F54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474463" y="6577231"/>
            <a:ext cx="668534" cy="233715"/>
          </a:xfrm>
          <a:prstGeom prst="rect">
            <a:avLst/>
          </a:prstGeom>
          <a:noFill/>
          <a:ln>
            <a:noFill/>
          </a:ln>
          <a:effectLst/>
        </p:spPr>
      </p:pic>
    </p:spTree>
    <p:extLst>
      <p:ext uri="{BB962C8B-B14F-4D97-AF65-F5344CB8AC3E}">
        <p14:creationId xmlns:p14="http://schemas.microsoft.com/office/powerpoint/2010/main" val="37140121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7" r:id="rId3"/>
    <p:sldLayoutId id="2147483664" r:id="rId4"/>
    <p:sldLayoutId id="2147483665" r:id="rId5"/>
    <p:sldLayoutId id="2147483666" r:id="rId6"/>
    <p:sldLayoutId id="2147483668" r:id="rId7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1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1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제목 52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ko-KR" altLang="en-US" dirty="0"/>
              <a:t>사용자인터페이스 설계서 </a:t>
            </a:r>
            <a:r>
              <a:rPr lang="en-US" altLang="ko-KR" dirty="0"/>
              <a:t>- </a:t>
            </a:r>
            <a:r>
              <a:rPr lang="ko-KR" altLang="en-US" dirty="0"/>
              <a:t>모바일</a:t>
            </a:r>
          </a:p>
        </p:txBody>
      </p:sp>
      <p:sp>
        <p:nvSpPr>
          <p:cNvPr id="54" name="부제목 5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altLang="ko-KR" dirty="0"/>
              <a:t>03.</a:t>
            </a:r>
            <a:r>
              <a:rPr lang="ko-KR" altLang="en-US" dirty="0"/>
              <a:t>계약</a:t>
            </a:r>
          </a:p>
        </p:txBody>
      </p:sp>
      <p:sp>
        <p:nvSpPr>
          <p:cNvPr id="56" name="텍스트 개체 틀 55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국방전자조달시스템 고도화 구축사업</a:t>
            </a:r>
          </a:p>
        </p:txBody>
      </p:sp>
      <p:sp>
        <p:nvSpPr>
          <p:cNvPr id="57" name="텍스트 개체 틀 56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D2BA-AP-3CD-0601</a:t>
            </a:r>
            <a:endParaRPr lang="ko-KR" altLang="en-US" dirty="0"/>
          </a:p>
        </p:txBody>
      </p:sp>
      <p:sp>
        <p:nvSpPr>
          <p:cNvPr id="6" name="텍스트 개체 틀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2026.06.18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3385545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F21A837-6853-B5CA-5641-F9A516F3B3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</a:t>
            </a:fld>
            <a:endParaRPr lang="ko-KR" altLang="en-US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CF8D2BE-3FE8-714A-457C-A4A1521A282B}"/>
              </a:ext>
            </a:extLst>
          </p:cNvPr>
          <p:cNvSpPr/>
          <p:nvPr/>
        </p:nvSpPr>
        <p:spPr>
          <a:xfrm>
            <a:off x="3079266" y="1809750"/>
            <a:ext cx="3771900" cy="3400425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국방전자조달시스템 고도화 구축 사업 이외의 어떠한 목적에도 사용을 금하며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사업관리기관 및 개발업체  요원 이외의 열람을 통제한다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</a:p>
          <a:p>
            <a:pPr marL="342900" indent="-342900">
              <a:buAutoNum type="arabicPeriod"/>
            </a:pPr>
            <a:endParaRPr lang="en-US" altLang="ko-KR" sz="1400" dirty="0">
              <a:solidFill>
                <a:schemeClr val="tx1"/>
              </a:solidFill>
            </a:endParaRPr>
          </a:p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방위사업청의 승인없이 발췌 및 복사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배포를 금지하며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방위사업청  문서관리규정에 의하여 관리한다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id="{B3A35A62-3F88-2F9F-9F03-E16DFE92E11E}"/>
              </a:ext>
            </a:extLst>
          </p:cNvPr>
          <p:cNvSpPr txBox="1">
            <a:spLocks/>
          </p:cNvSpPr>
          <p:nvPr/>
        </p:nvSpPr>
        <p:spPr>
          <a:xfrm>
            <a:off x="2265216" y="978498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600"/>
              <a:t>경 고 문</a:t>
            </a:r>
            <a:endParaRPr lang="ko-KR" altLang="en-US" sz="1600" dirty="0"/>
          </a:p>
        </p:txBody>
      </p:sp>
    </p:spTree>
    <p:extLst>
      <p:ext uri="{BB962C8B-B14F-4D97-AF65-F5344CB8AC3E}">
        <p14:creationId xmlns:p14="http://schemas.microsoft.com/office/powerpoint/2010/main" val="257628989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</a:t>
            </a:fld>
            <a:endParaRPr lang="ko-KR" altLang="en-US"/>
          </a:p>
        </p:txBody>
      </p:sp>
      <p:sp>
        <p:nvSpPr>
          <p:cNvPr id="4" name="텍스트 개체 틀 15">
            <a:extLst>
              <a:ext uri="{FF2B5EF4-FFF2-40B4-BE49-F238E27FC236}">
                <a16:creationId xmlns:a16="http://schemas.microsoft.com/office/drawing/2014/main" id="{44A815B9-A3EA-BA0B-410C-A69AB9D1A04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</p:spPr>
        <p:txBody>
          <a:bodyPr/>
          <a:lstStyle/>
          <a:p>
            <a:r>
              <a:rPr lang="ko-KR" altLang="en-US" dirty="0" err="1"/>
              <a:t>제</a:t>
            </a:r>
            <a:r>
              <a:rPr lang="ko-KR" altLang="en-US" dirty="0" err="1">
                <a:sym typeface="Wingdings" panose="05000000000000000000" pitchFamily="2" charset="2"/>
              </a:rPr>
              <a:t></a:t>
            </a:r>
            <a:r>
              <a:rPr lang="ko-KR" altLang="en-US" dirty="0" err="1"/>
              <a:t>개</a:t>
            </a:r>
            <a:r>
              <a:rPr lang="ko-KR" altLang="en-US" dirty="0"/>
              <a:t> 정 이 력</a:t>
            </a:r>
          </a:p>
        </p:txBody>
      </p:sp>
      <p:graphicFrame>
        <p:nvGraphicFramePr>
          <p:cNvPr id="7" name="Group 759">
            <a:extLst>
              <a:ext uri="{FF2B5EF4-FFF2-40B4-BE49-F238E27FC236}">
                <a16:creationId xmlns:a16="http://schemas.microsoft.com/office/drawing/2014/main" id="{2831990E-7701-AF86-804F-42A7268A904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652374" y="1286787"/>
          <a:ext cx="8782571" cy="3743598"/>
        </p:xfrm>
        <a:graphic>
          <a:graphicData uri="http://schemas.openxmlformats.org/drawingml/2006/table">
            <a:tbl>
              <a:tblPr/>
              <a:tblGrid>
                <a:gridCol w="7848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098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561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19745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제개정일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버전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제개정내용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작성자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승인자 및 관련근거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2025.11.03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작성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</a:rPr>
                        <a:t>신미영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2026.03.16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0.3.2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수정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김민재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2026.04.23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차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0.4.1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작성 완료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0.5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내부 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0.6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PL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황종서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0.7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품질 검토</a:t>
                      </a:r>
                    </a:p>
                  </a:txBody>
                  <a:tcPr marL="53975" marR="53975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김민재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2026.06.18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0.8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PM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박재욱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2026.06.18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</a:t>
                      </a:r>
                      <a:r>
                        <a:rPr lang="en-US" sz="900" b="0" i="0" u="none" strike="noStrike" kern="120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.9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PMO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 및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TF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검토요청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김민재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31071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94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1319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5073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90010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221317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6553030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</a:t>
            </a:fld>
            <a:endParaRPr lang="ko-KR" altLang="en-US"/>
          </a:p>
        </p:txBody>
      </p:sp>
      <p:sp>
        <p:nvSpPr>
          <p:cNvPr id="7" name="텍스트 개체 틀 15">
            <a:extLst>
              <a:ext uri="{FF2B5EF4-FFF2-40B4-BE49-F238E27FC236}">
                <a16:creationId xmlns:a16="http://schemas.microsoft.com/office/drawing/2014/main" id="{74E68DA1-2E20-231A-31AD-28EAC2F24FE9}"/>
              </a:ext>
            </a:extLst>
          </p:cNvPr>
          <p:cNvSpPr txBox="1">
            <a:spLocks/>
          </p:cNvSpPr>
          <p:nvPr/>
        </p:nvSpPr>
        <p:spPr>
          <a:xfrm>
            <a:off x="2250485" y="959912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dirty="0"/>
              <a:t>신구 변경 </a:t>
            </a:r>
            <a:r>
              <a:rPr lang="ko-KR" altLang="en-US" dirty="0" err="1"/>
              <a:t>내용표</a:t>
            </a:r>
            <a:endParaRPr lang="ko-KR" altLang="en-US" dirty="0"/>
          </a:p>
        </p:txBody>
      </p:sp>
      <p:graphicFrame>
        <p:nvGraphicFramePr>
          <p:cNvPr id="2" name="Group 759">
            <a:extLst>
              <a:ext uri="{FF2B5EF4-FFF2-40B4-BE49-F238E27FC236}">
                <a16:creationId xmlns:a16="http://schemas.microsoft.com/office/drawing/2014/main" id="{2D87D75F-48CB-BAC6-E8EC-9D54A13E8BC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652374" y="1416776"/>
          <a:ext cx="8782571" cy="491472"/>
        </p:xfrm>
        <a:graphic>
          <a:graphicData uri="http://schemas.openxmlformats.org/drawingml/2006/table">
            <a:tbl>
              <a:tblPr/>
              <a:tblGrid>
                <a:gridCol w="590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0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05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684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44489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  <a:gridCol w="938150">
                  <a:extLst>
                    <a:ext uri="{9D8B030D-6E8A-4147-A177-3AD203B41FA5}">
                      <a16:colId xmlns:a16="http://schemas.microsoft.com/office/drawing/2014/main" val="392641555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순번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구버전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신버전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변경 항목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변경 내용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340589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4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988586" y="1265003"/>
          <a:ext cx="7926814" cy="510224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102241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계약통합목록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국외 계약 통합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4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4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7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133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5911785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1/6)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1658976"/>
              </p:ext>
            </p:extLst>
          </p:nvPr>
        </p:nvGraphicFramePr>
        <p:xfrm>
          <a:off x="635474" y="1413419"/>
          <a:ext cx="8701200" cy="46732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MUI-CT-01-M01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계약통합목록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통합 목록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MUI-CT-01-P02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검색필터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계약통합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CtrtIntgList_SrchFilter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검색을 위한 검색 필터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CtrtIntgList_SrchFilter.tsx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MUI-CT-01-M03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물품전자계약진행상세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계약 진행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UC-CT-01-06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UC-CT-03-01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UC-CT-03-02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2086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상세내용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_Cn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1852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계약업체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_Artcl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CmdtyElctrCtrtPrgrsDtl-Artcl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3957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</a:rPr>
                        <a:t>-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lt"/>
                        </a:rPr>
                        <a:t>반송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+mn-lt"/>
                        </a:rPr>
                        <a:t>취소사유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_Rsn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CmdtyElctrCtrtPrgrsDtl_Rsn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057406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MUI-CT-01-T04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</a:rPr>
                        <a:t>-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lt"/>
                        </a:rPr>
                        <a:t>첨부서류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_Adoc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CmdtyElctrCtrtPrgrsDtl-Adoc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6930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MUI-CT-01-M04</a:t>
                      </a:r>
                      <a:endParaRPr lang="en-US" altLang="ko-KR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물품전자계약확정상세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CmdtyElctrCtrtCfmtnDtlPage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계약 확정 조회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화면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탭은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진행상세와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동일함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CmdtyElctrCtrtCfmtnDtlPage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40808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4091981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(2/6)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5614089"/>
              </p:ext>
            </p:extLst>
          </p:nvPr>
        </p:nvGraphicFramePr>
        <p:xfrm>
          <a:off x="635474" y="1413419"/>
          <a:ext cx="8701200" cy="5011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5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MUI-CT-01-M05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물품일반계약서상세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CmdtyGnrlCtrdocDtl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일반 계약서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cmdtyGnrlCtrdocDt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CmdtyGnrlCtrdocDtl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397847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5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MUI-CT-01-M06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물품수정계약서상세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수정 계약서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41479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MUI-CT-01-T22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상세정보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CmdtyMdfcnCtrdocDtl_Cn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수정 계약서 탭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cmdtyMdfcnCtrdocDtl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CmdtyMdfcnCtrdocDtl_Cn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861732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MUI-CT-01-T23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수정계약명세서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CmdtyMdfcnCtrdocDtl_MdfcnCtrt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물품 수정 계약서 탭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cmdtyMdfcnCtrdocDtl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CmdtyMdfcnCtrdocDtl_MdfcnCtrt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9462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MUI-CT-01-T24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특수조건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CmdtyMdfcnCtrdocDtl_Spcl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물품 수정 계약서 탭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cmdtyMdfcnCtrdocDtl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CmdtyMdfcnCtrdocDtl_Spcl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403295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MUI-CT-01-M07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물품총액계약서상세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총액제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계약서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4358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상세정보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CmdtyGramtCtrdocDtl_Cn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물품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계약서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cmdtyGramtCtrdocDtl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CmdtyGramtCtrdocDtl_Cn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87666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계약명세서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CmdtyGramtCtrdocDtl_Ctrt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물품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계약서 탭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cmdtyGramtCtrdocDtl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CmdtyGramtCtrdocDtl_Ctrt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239592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특수조건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CmdtyGramtCtrdocDtl_Spcl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물품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계약서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cmdtyGramtCtrdocDtl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CmdtyGramtCtrdocDtl_Spcl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91703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MUI-CT-01-M08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물품단가계약서상세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CmdtyUntprcCtrdocDtl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계약서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7834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MUI-CT-01-T16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상세정보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CmdtyUntprcCtrdocDtl_Cn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계약서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탭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CmdtyUntprcCtrdocDtl_Cn.tsx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523606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277081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 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(3/6)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7672635"/>
              </p:ext>
            </p:extLst>
          </p:nvPr>
        </p:nvGraphicFramePr>
        <p:xfrm>
          <a:off x="635474" y="1413419"/>
          <a:ext cx="8701200" cy="49891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계약명세서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CmdtyUntprcCtrdocDtl_Ctrt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계약서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탭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CmdtyUntprcCtrdocDtl_Ctrt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79316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특수조건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CmdtyUntprcCtrdocDtl_Spcl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계약서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탭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CmdtyUntprcCtrdocDtl_Spcl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30978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MUI-CT-01-M09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공사전자계약진행상세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CstrnElctrCtrtPrgrsDtlPage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공사 계약 진행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cstrnElctrCtrtPrgrsDtl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CstrnElctrCtrtPrgrsDtlPage.tsx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UC-CT-01-06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UC-CT-03-01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UC-CT-03-02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993972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MUI-CT-01-T09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상세내용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CstrnElctrCtrtPrgrsDtl_Cn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공사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계약 진행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cstrnElctrCtrtPrgrsDtl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CstrnElctrCtrtPrgrsDtl_Cn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89521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CstrnElctrCtrtPrgrsDtl_Artcl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공사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계약 진행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cstrnElctrCtrtPrgrsDtl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CstrnElctrCtrtPrgrsDtl_Artcl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85596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하자담보책임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CstrnElctrCtrtPrgrsDtl_Flw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공사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계약 진행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cstrnElctrCtrtPrgrsDtl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CstrnElctrCtrtPrgrsDtl_Flw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5558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첨부서류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CstrnElctrCtrtPrgrsDtl_Adoc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공사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계약 진행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cstrnElctrCtrtPrgrsDtl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CstrnElctrCtrtPrgrsDtl_Adoc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5738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MUI-CT-01-M10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공사계약서상세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공사 계약서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733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CstrnCtrdocDtl_Cn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공사 계약서 탭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CstrnCtrdocDtl_Cn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95756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4037527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 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(4/6)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6265309"/>
              </p:ext>
            </p:extLst>
          </p:nvPr>
        </p:nvGraphicFramePr>
        <p:xfrm>
          <a:off x="635474" y="1413419"/>
          <a:ext cx="8701200" cy="34761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MUI-CT-01-T20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하자담보책임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CstrnCtrdocDtl_Flw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공사 계약서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CstrnCtrdocDtl_Flw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46739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MUI-CT-01-T21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연대보증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CstrnCtrdocDtl_Grnte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공사 계약서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CstrnCtrdocDtl_Grnte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640905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MUI-CT-01-P11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CmdtyCtrtDtst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계약의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CmdtyCtrtDtst.tsx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74943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MUI-CT-01-P12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물품최종계약명세서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CmdtyLastCtrdocDtst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최종계약의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CmdtyLastCtrdocDtst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63393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MUI-CT-01-P13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물품수정계약명세서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CmdtyMdfcnCtrdocDtst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수정계약의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CmdtyMdfcnCtrdocDtst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5428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MUI-CT-01-P14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물품일반계약명세서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CmdtyGnrlCtrdocDtst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일반계약의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CmdtyMdfcnCtrdocDtst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873144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대금지불정보목록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계약 </a:t>
                      </a:r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건별로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대금지불 정보 목록 조회 화면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PymtDfryInfoListPage.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99108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MUI-CT-01-P18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검색필터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대금지불정보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PymtDfryInfoList_SrchFilter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대금지불 정보 검색 필터 화면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PymtDfryInfoList_SrchFilter.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035463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MUI-CT-01-P16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대금지불정보조회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PymtDfryInfoInq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계약 건의 대금지불 상세 정보 조회 화면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PymtDfryInfoInq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3641743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50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MUI-CT-01-P17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계약진행상태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CtrtPrgrsSttsInq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진행 상태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CtrtPrgrsSttsInq.tsx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UC-CT-07-01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21436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2665467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 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(5/6)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2780469"/>
              </p:ext>
            </p:extLst>
          </p:nvPr>
        </p:nvGraphicFramePr>
        <p:xfrm>
          <a:off x="635474" y="1413419"/>
          <a:ext cx="8701200" cy="4592121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해제목록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CtrtCncltnRmvListPage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목록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UC-CT-04-01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75728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MUI-CT-03-P07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검색필터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CtrtCncltnRmvList_SrchFilter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검색을 위한 검색 필터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CtrtCncltnRmvList_SrchFilter.tsx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UC-CT-04-01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03461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해제일반계약상세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일반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94971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상세정보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-Cn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CmdtyCtrtCncltnRmvDtl-Cn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847625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-Artcl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탭 조회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CmdtyCtrtCncltnRmvDtl-Artcl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1108115"/>
                  </a:ext>
                </a:extLst>
              </a:tr>
              <a:tr h="456456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해지해제정보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-SpclCnd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CmdtyCtrtCncltnRmvDtl-SpclCnd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5631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MUI-CT-03-M03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해제일반총액제계약상세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일반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총액제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1773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CncltnRmvGnrlCtrtGramtDtl_Cn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CncltnRmvGnrlCtrtGramtDtl_Cn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5918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계약명세서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CncltnRmvGnrlCtrtGramtDtl_Artcl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해제 일반 총액제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CncltnRmvGnrlCtrtGramtDtl_Artcl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468747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특수조건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CncltnRmvGnrlCtrtGramtDtl_Spcl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CncltnRmvGnrlCtrtGramtDtl_Spcl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687169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1504234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 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(6/6)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4360672"/>
              </p:ext>
            </p:extLst>
          </p:nvPr>
        </p:nvGraphicFramePr>
        <p:xfrm>
          <a:off x="635474" y="1413419"/>
          <a:ext cx="8701200" cy="5011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MUI-CT-03-M04</a:t>
                      </a:r>
                      <a:endParaRPr lang="en-US" altLang="ko-KR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 dirty="0" err="1" smtClean="0">
                          <a:latin typeface="+mn-lt"/>
                          <a:ea typeface="+mn-ea"/>
                        </a:rPr>
                        <a:t>해제일반단가제계약상세</a:t>
                      </a:r>
                      <a:endParaRPr lang="en-US" altLang="ko-KR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CncltnRmvGnrlCtrtUntprcDtl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일반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cncltnRmvGnrlCtrtUntprcDtl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CncltnRmvGnrlCtrtUntprcDtlPage.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38395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MUI-CT-03-T07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CncltnRmvGnrlCtrtUntprcDtl_Cn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단가제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cncltnRmvGnrlCtrtUntprcDtl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CncltnRmvGnrlCtrtUntprcDtl_Cn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73613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MUI-CT-03-T08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계약명세서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CncltnRmvGnrlCtrtUntprcDtl_Artcl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단가제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cncltnRmvGnrlCtrtUntprcDtl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CncltnRmvGnrlCtrtUntprcDtl_Artcl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64372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MUI-CT-03-T09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특수조건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CncltnRmvGnrlCtrtUntprcDtl_Spcl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단가제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cncltnRmvGnrlCtrtUntprcDtl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CncltnRmvGnrlCtrtUntprcDtl_Spcl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813117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MUI-CT-03-M05</a:t>
                      </a:r>
                      <a:endParaRPr lang="en-US" altLang="ko-KR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latin typeface="+mn-lt"/>
                          <a:ea typeface="+mn-ea"/>
                        </a:rPr>
                        <a:t>해제수정계약상세</a:t>
                      </a:r>
                      <a:endParaRPr lang="en-US" altLang="ko-KR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CncltnRmvMdfcnCtrtDtl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수정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cncltnRmvMdfcnCtrtDtlPage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CncltnRmvMdfcnCtrtDtlPage.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95472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CncltnRmvMdfcnCtrtDtl_Cn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수정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cncltnRmvMdfcnCtrtDtlPage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CncltnRmvMdfcnCtrtDtl_Cn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758429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MUI-CT-03-T11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계약명세서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CncltnRmvMdfcnCtrtDtl_Ctrt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수정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cncltnRmvMdfcnCtrtDtlPage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CncltnRmvMdfcnCtrtDtl_Ctrt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149109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MUI-CT-03-T12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특수조건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CncltnRmvMdfcnCtrtDtl_Spcl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수정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cncltnRmvMdfcnCtrtDtlPage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CncltnRmvMdfcnCtrtDtl_Spcl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403509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MUI-CT-03-M06</a:t>
                      </a:r>
                      <a:endParaRPr lang="en-US" altLang="ko-KR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latin typeface="+mn-lt"/>
                          <a:ea typeface="+mn-ea"/>
                        </a:rPr>
                        <a:t>해제공사계약상세</a:t>
                      </a:r>
                      <a:endParaRPr lang="en-US" altLang="ko-KR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CstrnCtrtCncltnRmvDtl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공사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cstrnCtrtCncltnRmvDtlPage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CstrnCtrtCncltnRmvDtlPage.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41184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MUI-CT-03-T13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CstrnCtrtCncltnRmvDtl_Cn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공사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cstrnCtrtCncltnRmvDtlPage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CstrnCtrtCncltnRmvDtl_Cn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4571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첨부서류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CstrnCtrtCncltnRmvDtl_Adoc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공사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cstrnCtrtCncltnRmvDtlPage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CstrnCtrtCncltnRmvDtl_Adoc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63196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1846352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071925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계약통합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목록조회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93266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700126" y="1772964"/>
            <a:ext cx="371799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77742" y="6257756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계약 상세 화면은 계약과 상태에 따라 상세 탭 화면이 분기되어 표시되며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일부 상세 탭 화면은 중복되어 사용됨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dirty="0">
              <a:solidFill>
                <a:srgbClr val="0000FF"/>
              </a:solidFill>
              <a:latin typeface="+mn-ea"/>
            </a:endParaRPr>
          </a:p>
        </p:txBody>
      </p: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53010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검색필터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 smtClean="0">
                <a:solidFill>
                  <a:schemeClr val="tx1"/>
                </a:solidFill>
              </a:rPr>
              <a:t>-</a:t>
            </a:r>
            <a:r>
              <a:rPr lang="ko-KR" altLang="en-US" sz="800" dirty="0" err="1">
                <a:solidFill>
                  <a:schemeClr val="tx1"/>
                </a:solidFill>
              </a:rPr>
              <a:t>계약통합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284441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636921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9" idx="0"/>
            <a:endCxn id="6" idx="0"/>
          </p:cNvCxnSpPr>
          <p:nvPr/>
        </p:nvCxnSpPr>
        <p:spPr>
          <a:xfrm rot="16200000" flipV="1">
            <a:off x="2162468" y="988421"/>
            <a:ext cx="12700" cy="1281085"/>
          </a:xfrm>
          <a:prstGeom prst="bentConnector3">
            <a:avLst>
              <a:gd name="adj1" fmla="val 180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456237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05" name="직선 화살표 연결선 10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69" idx="1"/>
          </p:cNvCxnSpPr>
          <p:nvPr/>
        </p:nvCxnSpPr>
        <p:spPr>
          <a:xfrm>
            <a:off x="1971925" y="1772964"/>
            <a:ext cx="381085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1862964"/>
            <a:ext cx="4419152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212369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3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21305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반송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 err="1">
                <a:solidFill>
                  <a:schemeClr val="tx1"/>
                </a:solidFill>
              </a:rPr>
              <a:t>취소사유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212369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계약업체</a:t>
            </a:r>
          </a:p>
        </p:txBody>
      </p:sp>
      <p:sp>
        <p:nvSpPr>
          <p:cNvPr id="13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470447" y="21305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첨부서류</a:t>
            </a:r>
          </a:p>
        </p:txBody>
      </p:sp>
      <p:cxnSp>
        <p:nvCxnSpPr>
          <p:cNvPr id="1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3"/>
            <a:endCxn id="140" idx="1"/>
          </p:cNvCxnSpPr>
          <p:nvPr/>
        </p:nvCxnSpPr>
        <p:spPr>
          <a:xfrm flipV="1">
            <a:off x="2754976" y="2199418"/>
            <a:ext cx="1308021" cy="25511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8" name="그룹 87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89" name="그룹 88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9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계약상세</a:t>
            </a:r>
            <a:r>
              <a:rPr lang="ko-KR" altLang="en-US" sz="1200" dirty="0">
                <a:solidFill>
                  <a:schemeClr val="tx1"/>
                </a:solidFill>
              </a:rPr>
              <a:t> 정보 조회</a:t>
            </a:r>
          </a:p>
        </p:txBody>
      </p: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497898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공사전자계약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272567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확정상세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1408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물품일반계약서상세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55593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물품수정계약서상세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97473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물품총액계약서상세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439303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물품단가계약서상세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743306" y="2081941"/>
            <a:ext cx="1125417" cy="2663975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계약에 따른 분기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cxnSp>
        <p:nvCxnSpPr>
          <p:cNvPr id="11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114" idx="1"/>
          </p:cNvCxnSpPr>
          <p:nvPr/>
        </p:nvCxnSpPr>
        <p:spPr>
          <a:xfrm rot="16200000" flipH="1">
            <a:off x="884133" y="2554755"/>
            <a:ext cx="1496965" cy="22138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743306" y="4779438"/>
            <a:ext cx="1125417" cy="99513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smtClean="0">
                <a:solidFill>
                  <a:schemeClr val="tx1"/>
                </a:solidFill>
              </a:rPr>
              <a:t>계약에 따른 분기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538951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공사계약서상세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2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119" idx="1"/>
          </p:cNvCxnSpPr>
          <p:nvPr/>
        </p:nvCxnSpPr>
        <p:spPr>
          <a:xfrm rot="16200000" flipH="1">
            <a:off x="-47406" y="3486294"/>
            <a:ext cx="3360043" cy="22138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4" idx="3"/>
            <a:endCxn id="140" idx="1"/>
          </p:cNvCxnSpPr>
          <p:nvPr/>
        </p:nvCxnSpPr>
        <p:spPr>
          <a:xfrm flipV="1">
            <a:off x="2754976" y="2199418"/>
            <a:ext cx="1308021" cy="67025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3898280"/>
            <a:ext cx="3339289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3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415900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3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416586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특수조건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415900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4699392"/>
            <a:ext cx="4419152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4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49601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4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496698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하자담보책임</a:t>
            </a:r>
          </a:p>
        </p:txBody>
      </p:sp>
      <p:sp>
        <p:nvSpPr>
          <p:cNvPr id="1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49601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계약업체</a:t>
            </a:r>
          </a:p>
        </p:txBody>
      </p:sp>
      <p:sp>
        <p:nvSpPr>
          <p:cNvPr id="14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470447" y="496698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첨부서류</a:t>
            </a:r>
          </a:p>
        </p:txBody>
      </p:sp>
      <p:sp>
        <p:nvSpPr>
          <p:cNvPr id="14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5506169"/>
            <a:ext cx="3339289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4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57668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5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577375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연대보증</a:t>
            </a: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57668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하자담보책임</a:t>
            </a:r>
          </a:p>
        </p:txBody>
      </p:sp>
      <p:cxnSp>
        <p:nvCxnSpPr>
          <p:cNvPr id="15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1" idx="3"/>
            <a:endCxn id="142" idx="1"/>
          </p:cNvCxnSpPr>
          <p:nvPr/>
        </p:nvCxnSpPr>
        <p:spPr>
          <a:xfrm flipV="1">
            <a:off x="2754976" y="5035846"/>
            <a:ext cx="1308021" cy="8714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2" idx="3"/>
            <a:endCxn id="148" idx="1"/>
          </p:cNvCxnSpPr>
          <p:nvPr/>
        </p:nvCxnSpPr>
        <p:spPr>
          <a:xfrm>
            <a:off x="2754976" y="5533510"/>
            <a:ext cx="1308021" cy="30911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2" idx="3"/>
            <a:endCxn id="135" idx="1"/>
          </p:cNvCxnSpPr>
          <p:nvPr/>
        </p:nvCxnSpPr>
        <p:spPr>
          <a:xfrm>
            <a:off x="2754976" y="4118735"/>
            <a:ext cx="1308021" cy="11599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3" idx="3"/>
            <a:endCxn id="135" idx="1"/>
          </p:cNvCxnSpPr>
          <p:nvPr/>
        </p:nvCxnSpPr>
        <p:spPr>
          <a:xfrm flipV="1">
            <a:off x="2754976" y="4234734"/>
            <a:ext cx="1308021" cy="30230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3097168"/>
            <a:ext cx="3339289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6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335789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336475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특수조건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335789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수정계약명세서</a:t>
            </a:r>
          </a:p>
        </p:txBody>
      </p:sp>
      <p:cxnSp>
        <p:nvCxnSpPr>
          <p:cNvPr id="1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0" idx="3"/>
            <a:endCxn id="164" idx="1"/>
          </p:cNvCxnSpPr>
          <p:nvPr/>
        </p:nvCxnSpPr>
        <p:spPr>
          <a:xfrm flipV="1">
            <a:off x="2754976" y="3433622"/>
            <a:ext cx="1308021" cy="26631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0" idx="3"/>
            <a:endCxn id="158" idx="2"/>
          </p:cNvCxnSpPr>
          <p:nvPr/>
        </p:nvCxnSpPr>
        <p:spPr>
          <a:xfrm>
            <a:off x="8482149" y="2199418"/>
            <a:ext cx="767178" cy="52750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4" idx="3"/>
            <a:endCxn id="158" idx="2"/>
          </p:cNvCxnSpPr>
          <p:nvPr/>
        </p:nvCxnSpPr>
        <p:spPr>
          <a:xfrm flipV="1">
            <a:off x="7402286" y="2726921"/>
            <a:ext cx="1847041" cy="706701"/>
          </a:xfrm>
          <a:prstGeom prst="bentConnector3">
            <a:avLst>
              <a:gd name="adj1" fmla="val 79232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5" idx="3"/>
            <a:endCxn id="158" idx="2"/>
          </p:cNvCxnSpPr>
          <p:nvPr/>
        </p:nvCxnSpPr>
        <p:spPr>
          <a:xfrm flipV="1">
            <a:off x="7402286" y="2726921"/>
            <a:ext cx="1847041" cy="1507813"/>
          </a:xfrm>
          <a:prstGeom prst="bentConnector3">
            <a:avLst>
              <a:gd name="adj1" fmla="val 79232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2" idx="3"/>
            <a:endCxn id="158" idx="2"/>
          </p:cNvCxnSpPr>
          <p:nvPr/>
        </p:nvCxnSpPr>
        <p:spPr>
          <a:xfrm flipV="1">
            <a:off x="8482149" y="2726921"/>
            <a:ext cx="767178" cy="23089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8" idx="3"/>
            <a:endCxn id="158" idx="2"/>
          </p:cNvCxnSpPr>
          <p:nvPr/>
        </p:nvCxnSpPr>
        <p:spPr>
          <a:xfrm flipV="1">
            <a:off x="7402286" y="2726921"/>
            <a:ext cx="1847041" cy="3115702"/>
          </a:xfrm>
          <a:prstGeom prst="bentConnector3">
            <a:avLst>
              <a:gd name="adj1" fmla="val 79232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9" idx="3"/>
            <a:endCxn id="158" idx="2"/>
          </p:cNvCxnSpPr>
          <p:nvPr/>
        </p:nvCxnSpPr>
        <p:spPr>
          <a:xfrm flipV="1">
            <a:off x="2754976" y="2726921"/>
            <a:ext cx="6494351" cy="557882"/>
          </a:xfrm>
          <a:prstGeom prst="bentConnector3">
            <a:avLst>
              <a:gd name="adj1" fmla="val 1553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/>
          <p:cNvSpPr txBox="1"/>
          <p:nvPr/>
        </p:nvSpPr>
        <p:spPr>
          <a:xfrm>
            <a:off x="1867433" y="5800032"/>
            <a:ext cx="87716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 smtClean="0"/>
              <a:t>전자계약상세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9228706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071925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계약통합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목록조회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93266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700126" y="1772964"/>
            <a:ext cx="371799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77742" y="6257756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계약 상세 화면에서 상태에 따라 팝업 화면을 표시함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dirty="0">
              <a:solidFill>
                <a:srgbClr val="0000FF"/>
              </a:solidFill>
              <a:latin typeface="+mn-ea"/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284441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636921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456237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2310537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76" idx="1"/>
          </p:cNvCxnSpPr>
          <p:nvPr/>
        </p:nvCxnSpPr>
        <p:spPr>
          <a:xfrm flipV="1">
            <a:off x="2873679" y="5246245"/>
            <a:ext cx="1312977" cy="7977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8" name="그룹 87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89" name="그룹 88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9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계약상세</a:t>
            </a:r>
            <a:r>
              <a:rPr lang="ko-KR" altLang="en-US" sz="1200" dirty="0">
                <a:solidFill>
                  <a:schemeClr val="tx1"/>
                </a:solidFill>
              </a:rPr>
              <a:t> 정보 조회</a:t>
            </a:r>
          </a:p>
        </p:txBody>
      </p: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4978988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공사전자계약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272567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확정상세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140803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물품일반계약서상세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555935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물품수정계약서상세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974735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물품총액계약서상세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439303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물품단가계약서상세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743306" y="2081941"/>
            <a:ext cx="1125417" cy="2663975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smtClean="0">
                <a:solidFill>
                  <a:schemeClr val="tx1"/>
                </a:solidFill>
              </a:rPr>
              <a:t>계약에 따른 분기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cxnSp>
        <p:nvCxnSpPr>
          <p:cNvPr id="11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114" idx="1"/>
          </p:cNvCxnSpPr>
          <p:nvPr/>
        </p:nvCxnSpPr>
        <p:spPr>
          <a:xfrm rot="16200000" flipH="1">
            <a:off x="884133" y="2554755"/>
            <a:ext cx="1496965" cy="22138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743306" y="4779438"/>
            <a:ext cx="1125417" cy="99513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smtClean="0">
                <a:solidFill>
                  <a:schemeClr val="tx1"/>
                </a:solidFill>
              </a:rPr>
              <a:t>계약에 따른 분기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538951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공사계약서상세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2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119" idx="1"/>
          </p:cNvCxnSpPr>
          <p:nvPr/>
        </p:nvCxnSpPr>
        <p:spPr>
          <a:xfrm rot="16200000" flipH="1">
            <a:off x="-47406" y="3486294"/>
            <a:ext cx="3360043" cy="22138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7" idx="3"/>
            <a:endCxn id="158" idx="2"/>
          </p:cNvCxnSpPr>
          <p:nvPr/>
        </p:nvCxnSpPr>
        <p:spPr>
          <a:xfrm>
            <a:off x="5086656" y="2454537"/>
            <a:ext cx="4162671" cy="2723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8" idx="3"/>
            <a:endCxn id="158" idx="2"/>
          </p:cNvCxnSpPr>
          <p:nvPr/>
        </p:nvCxnSpPr>
        <p:spPr>
          <a:xfrm flipV="1">
            <a:off x="5086656" y="2726921"/>
            <a:ext cx="4162671" cy="32161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9" idx="3"/>
            <a:endCxn id="158" idx="2"/>
          </p:cNvCxnSpPr>
          <p:nvPr/>
        </p:nvCxnSpPr>
        <p:spPr>
          <a:xfrm flipV="1">
            <a:off x="5086656" y="2726921"/>
            <a:ext cx="4162671" cy="91560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0" idx="3"/>
            <a:endCxn id="158" idx="2"/>
          </p:cNvCxnSpPr>
          <p:nvPr/>
        </p:nvCxnSpPr>
        <p:spPr>
          <a:xfrm flipV="1">
            <a:off x="5086656" y="2726921"/>
            <a:ext cx="4162671" cy="150959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6" idx="3"/>
            <a:endCxn id="158" idx="2"/>
          </p:cNvCxnSpPr>
          <p:nvPr/>
        </p:nvCxnSpPr>
        <p:spPr>
          <a:xfrm flipV="1">
            <a:off x="5086656" y="2726921"/>
            <a:ext cx="4162671" cy="251932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76" idx="1"/>
          </p:cNvCxnSpPr>
          <p:nvPr/>
        </p:nvCxnSpPr>
        <p:spPr>
          <a:xfrm>
            <a:off x="2873679" y="4567056"/>
            <a:ext cx="1312977" cy="67918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510224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계약진행상태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물품계약명세서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290453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물품최종계약명세서</a:t>
            </a: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349852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물품수정계약명세서</a:t>
            </a:r>
          </a:p>
        </p:txBody>
      </p: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40925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물품일반계약명세서</a:t>
            </a:r>
          </a:p>
        </p:txBody>
      </p:sp>
      <p:cxnSp>
        <p:nvCxnSpPr>
          <p:cNvPr id="9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77" idx="1"/>
          </p:cNvCxnSpPr>
          <p:nvPr/>
        </p:nvCxnSpPr>
        <p:spPr>
          <a:xfrm flipV="1">
            <a:off x="2868723" y="2454537"/>
            <a:ext cx="1317933" cy="95939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78" idx="1"/>
          </p:cNvCxnSpPr>
          <p:nvPr/>
        </p:nvCxnSpPr>
        <p:spPr>
          <a:xfrm flipV="1">
            <a:off x="2868723" y="3048531"/>
            <a:ext cx="1317933" cy="36539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79" idx="1"/>
          </p:cNvCxnSpPr>
          <p:nvPr/>
        </p:nvCxnSpPr>
        <p:spPr>
          <a:xfrm>
            <a:off x="2868723" y="3413929"/>
            <a:ext cx="1317933" cy="2285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80" idx="1"/>
          </p:cNvCxnSpPr>
          <p:nvPr/>
        </p:nvCxnSpPr>
        <p:spPr>
          <a:xfrm>
            <a:off x="2868723" y="3413929"/>
            <a:ext cx="1317933" cy="82258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1867433" y="5800032"/>
            <a:ext cx="87716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smtClean="0"/>
              <a:t>전자계약상세</a:t>
            </a:r>
            <a:endParaRPr lang="ko-KR" altLang="en-US" sz="900" b="1"/>
          </a:p>
        </p:txBody>
      </p:sp>
    </p:spTree>
    <p:extLst>
      <p:ext uri="{BB962C8B-B14F-4D97-AF65-F5344CB8AC3E}">
        <p14:creationId xmlns:p14="http://schemas.microsoft.com/office/powerpoint/2010/main" val="302643480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869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대금지불정보목록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2362692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245269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05085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대금지불정보조회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7634561" y="331272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7663558" y="3105237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1191586" y="2194581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9" idx="3"/>
            <a:endCxn id="158" idx="2"/>
          </p:cNvCxnSpPr>
          <p:nvPr/>
        </p:nvCxnSpPr>
        <p:spPr>
          <a:xfrm>
            <a:off x="5097742" y="3194856"/>
            <a:ext cx="2565816" cy="38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 smtClean="0">
                <a:solidFill>
                  <a:schemeClr val="tx1"/>
                </a:solidFill>
              </a:rPr>
              <a:t>1.2.2 </a:t>
            </a:r>
            <a:r>
              <a:rPr lang="ko-KR" altLang="en-US" sz="1200" dirty="0" smtClean="0">
                <a:solidFill>
                  <a:schemeClr val="tx1"/>
                </a:solidFill>
              </a:rPr>
              <a:t>대금지불 </a:t>
            </a:r>
            <a:r>
              <a:rPr lang="ko-KR" altLang="en-US" sz="1200" dirty="0">
                <a:solidFill>
                  <a:schemeClr val="tx1"/>
                </a:solidFill>
              </a:rPr>
              <a:t>정보 조회</a:t>
            </a:r>
          </a:p>
        </p:txBody>
      </p:sp>
      <p:grpSp>
        <p:nvGrpSpPr>
          <p:cNvPr id="21" name="그룹 20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22" name="그룹 21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27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8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0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3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869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검색필터</a:t>
            </a:r>
            <a:r>
              <a:rPr lang="en-US" altLang="ko-KR" sz="800" dirty="0">
                <a:solidFill>
                  <a:schemeClr val="tx1"/>
                </a:solidFill>
              </a:rPr>
              <a:t>-</a:t>
            </a:r>
            <a:r>
              <a:rPr lang="ko-KR" altLang="en-US" sz="800" dirty="0">
                <a:solidFill>
                  <a:schemeClr val="tx1"/>
                </a:solidFill>
              </a:rPr>
              <a:t>대금지불정보</a:t>
            </a:r>
          </a:p>
        </p:txBody>
      </p:sp>
      <p:cxnSp>
        <p:nvCxnSpPr>
          <p:cNvPr id="3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1" idx="0"/>
            <a:endCxn id="6" idx="0"/>
          </p:cNvCxnSpPr>
          <p:nvPr/>
        </p:nvCxnSpPr>
        <p:spPr>
          <a:xfrm rot="16200000" flipV="1">
            <a:off x="3732175" y="1393125"/>
            <a:ext cx="12700" cy="1831134"/>
          </a:xfrm>
          <a:prstGeom prst="bentConnector3">
            <a:avLst>
              <a:gd name="adj1" fmla="val 180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31" idx="1"/>
          </p:cNvCxnSpPr>
          <p:nvPr/>
        </p:nvCxnSpPr>
        <p:spPr>
          <a:xfrm>
            <a:off x="3266608" y="245269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69" idx="1"/>
          </p:cNvCxnSpPr>
          <p:nvPr/>
        </p:nvCxnSpPr>
        <p:spPr>
          <a:xfrm rot="16200000" flipH="1">
            <a:off x="3208093" y="2205207"/>
            <a:ext cx="598164" cy="138113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9515569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632221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해지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 err="1">
                <a:solidFill>
                  <a:schemeClr val="tx1"/>
                </a:solidFill>
              </a:rPr>
              <a:t>해제목록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94227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701087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90472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검색필터</a:t>
            </a:r>
            <a:r>
              <a:rPr lang="en-US" altLang="ko-KR" sz="800" dirty="0">
                <a:solidFill>
                  <a:schemeClr val="tx1"/>
                </a:solidFill>
              </a:rPr>
              <a:t>-</a:t>
            </a:r>
            <a:r>
              <a:rPr lang="ko-KR" altLang="en-US" sz="800" dirty="0">
                <a:solidFill>
                  <a:schemeClr val="tx1"/>
                </a:solidFill>
              </a:rPr>
              <a:t>해지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해제</a:t>
            </a:r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69" idx="1"/>
          </p:cNvCxnSpPr>
          <p:nvPr/>
        </p:nvCxnSpPr>
        <p:spPr>
          <a:xfrm>
            <a:off x="2532221" y="1772964"/>
            <a:ext cx="372502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2570565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363073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904723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해지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해제일반계약상세</a:t>
            </a:r>
          </a:p>
        </p:txBody>
      </p:sp>
      <p:cxnSp>
        <p:nvCxnSpPr>
          <p:cNvPr id="1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54" idx="1"/>
          </p:cNvCxnSpPr>
          <p:nvPr/>
        </p:nvCxnSpPr>
        <p:spPr>
          <a:xfrm rot="16200000" flipH="1">
            <a:off x="1691020" y="2308164"/>
            <a:ext cx="1496965" cy="714563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9" idx="0"/>
            <a:endCxn id="6" idx="0"/>
          </p:cNvCxnSpPr>
          <p:nvPr/>
        </p:nvCxnSpPr>
        <p:spPr>
          <a:xfrm rot="16200000" flipV="1">
            <a:off x="2718472" y="992713"/>
            <a:ext cx="12700" cy="1272502"/>
          </a:xfrm>
          <a:prstGeom prst="bentConnector3">
            <a:avLst>
              <a:gd name="adj1" fmla="val 180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457199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48B079CE-B424-1DB0-3CB7-D0BB4F1E60F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 smtClean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계약 해지해제 조회</a:t>
            </a:r>
          </a:p>
        </p:txBody>
      </p:sp>
      <p:grpSp>
        <p:nvGrpSpPr>
          <p:cNvPr id="35" name="그룹 34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36" name="그룹 35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4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8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4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294703" y="1635759"/>
            <a:ext cx="3330580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5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418362" y="189648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상세정보</a:t>
            </a:r>
          </a:p>
        </p:txBody>
      </p:sp>
      <p:sp>
        <p:nvSpPr>
          <p:cNvPr id="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607556" y="19033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해지해제정보</a:t>
            </a:r>
          </a:p>
        </p:txBody>
      </p:sp>
      <p:sp>
        <p:nvSpPr>
          <p:cNvPr id="5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512959" y="189648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계약업체</a:t>
            </a:r>
          </a:p>
        </p:txBody>
      </p:sp>
      <p:sp>
        <p:nvSpPr>
          <p:cNvPr id="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796784" y="2081941"/>
            <a:ext cx="1125417" cy="2663975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계약에 따른 분기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5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904723" y="276351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해지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 err="1">
                <a:solidFill>
                  <a:schemeClr val="tx1"/>
                </a:solidFill>
              </a:rPr>
              <a:t>해제일반총액제계약상세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904723" y="32164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해지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 err="1">
                <a:solidFill>
                  <a:schemeClr val="tx1"/>
                </a:solidFill>
              </a:rPr>
              <a:t>해제일반단가제계약상세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904723" y="366946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해지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해제수정계약상세</a:t>
            </a:r>
          </a:p>
        </p:txBody>
      </p:sp>
      <p:sp>
        <p:nvSpPr>
          <p:cNvPr id="5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904723" y="412244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해지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해제공사계약상세</a:t>
            </a:r>
          </a:p>
        </p:txBody>
      </p:sp>
      <p:sp>
        <p:nvSpPr>
          <p:cNvPr id="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294703" y="2456567"/>
            <a:ext cx="3330580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6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418362" y="271729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상세정보</a:t>
            </a:r>
          </a:p>
        </p:txBody>
      </p:sp>
      <p:sp>
        <p:nvSpPr>
          <p:cNvPr id="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607556" y="272415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특수조건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512959" y="271729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294703" y="3280475"/>
            <a:ext cx="3330580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6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418362" y="354120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상세정보</a:t>
            </a:r>
          </a:p>
        </p:txBody>
      </p:sp>
      <p:sp>
        <p:nvSpPr>
          <p:cNvPr id="6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607556" y="35480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특수조건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512959" y="354120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294703" y="4103653"/>
            <a:ext cx="3330580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418362" y="436437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상세정보</a:t>
            </a:r>
          </a:p>
        </p:txBody>
      </p:sp>
      <p:sp>
        <p:nvSpPr>
          <p:cNvPr id="7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607556" y="437124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특수조건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512959" y="436437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294703" y="4933723"/>
            <a:ext cx="2312853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418362" y="519444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상세정보</a:t>
            </a:r>
          </a:p>
        </p:txBody>
      </p: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512959" y="519444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첨부서류</a:t>
            </a:r>
          </a:p>
        </p:txBody>
      </p: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49" idx="1"/>
          </p:cNvCxnSpPr>
          <p:nvPr/>
        </p:nvCxnSpPr>
        <p:spPr>
          <a:xfrm flipV="1">
            <a:off x="3804723" y="1972213"/>
            <a:ext cx="489980" cy="48232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5" idx="3"/>
            <a:endCxn id="60" idx="1"/>
          </p:cNvCxnSpPr>
          <p:nvPr/>
        </p:nvCxnSpPr>
        <p:spPr>
          <a:xfrm flipV="1">
            <a:off x="3804723" y="2793021"/>
            <a:ext cx="489980" cy="11449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6" idx="3"/>
            <a:endCxn id="64" idx="1"/>
          </p:cNvCxnSpPr>
          <p:nvPr/>
        </p:nvCxnSpPr>
        <p:spPr>
          <a:xfrm>
            <a:off x="3804723" y="3360489"/>
            <a:ext cx="489980" cy="25644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7" idx="3"/>
            <a:endCxn id="71" idx="1"/>
          </p:cNvCxnSpPr>
          <p:nvPr/>
        </p:nvCxnSpPr>
        <p:spPr>
          <a:xfrm>
            <a:off x="3804723" y="3813465"/>
            <a:ext cx="489980" cy="62664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9" idx="2"/>
            <a:endCxn id="77" idx="1"/>
          </p:cNvCxnSpPr>
          <p:nvPr/>
        </p:nvCxnSpPr>
        <p:spPr>
          <a:xfrm rot="16200000" flipH="1">
            <a:off x="3394845" y="4370319"/>
            <a:ext cx="859736" cy="939980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49" idx="3"/>
            <a:endCxn id="158" idx="2"/>
          </p:cNvCxnSpPr>
          <p:nvPr/>
        </p:nvCxnSpPr>
        <p:spPr>
          <a:xfrm>
            <a:off x="7625283" y="1972213"/>
            <a:ext cx="1624044" cy="48086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0" idx="3"/>
            <a:endCxn id="158" idx="2"/>
          </p:cNvCxnSpPr>
          <p:nvPr/>
        </p:nvCxnSpPr>
        <p:spPr>
          <a:xfrm flipV="1">
            <a:off x="7625283" y="2453073"/>
            <a:ext cx="1624044" cy="33994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4" idx="3"/>
            <a:endCxn id="158" idx="2"/>
          </p:cNvCxnSpPr>
          <p:nvPr/>
        </p:nvCxnSpPr>
        <p:spPr>
          <a:xfrm flipV="1">
            <a:off x="7625283" y="2453073"/>
            <a:ext cx="1624044" cy="116385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1" idx="3"/>
            <a:endCxn id="158" idx="2"/>
          </p:cNvCxnSpPr>
          <p:nvPr/>
        </p:nvCxnSpPr>
        <p:spPr>
          <a:xfrm flipV="1">
            <a:off x="7625283" y="2453073"/>
            <a:ext cx="1624044" cy="19870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7" idx="3"/>
            <a:endCxn id="155" idx="2"/>
          </p:cNvCxnSpPr>
          <p:nvPr/>
        </p:nvCxnSpPr>
        <p:spPr>
          <a:xfrm flipV="1">
            <a:off x="6607556" y="2693676"/>
            <a:ext cx="2731771" cy="257650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94884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072904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계약통합목록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CtrtIntgListPage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072904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검색필터</a:t>
            </a:r>
            <a:r>
              <a:rPr lang="en-US" altLang="ko-KR" sz="1000" dirty="0">
                <a:solidFill>
                  <a:schemeClr val="tx1"/>
                </a:solidFill>
              </a:rPr>
              <a:t>-</a:t>
            </a:r>
            <a:r>
              <a:rPr lang="ko-KR" altLang="en-US" sz="1000" dirty="0" err="1">
                <a:solidFill>
                  <a:schemeClr val="tx1"/>
                </a:solidFill>
              </a:rPr>
              <a:t>계약통합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CtrtIntgList_SrchFilter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물품전자계약진행상세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CmdtyElctrCtrtPrgrsDtlPage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50" dirty="0"/>
              <a:t>&lt;&lt;</a:t>
            </a:r>
            <a:r>
              <a:rPr lang="ko-KR" altLang="en-US" sz="1050" dirty="0" err="1"/>
              <a:t>계약정보</a:t>
            </a:r>
            <a:r>
              <a:rPr lang="en-US" altLang="ko-KR" sz="1050" dirty="0"/>
              <a:t>Controller&gt;&gt;</a:t>
            </a:r>
          </a:p>
          <a:p>
            <a:pPr algn="ctr"/>
            <a:r>
              <a:rPr lang="en-US" altLang="ko-KR" sz="1050" dirty="0" err="1"/>
              <a:t>CtrtInfoController</a:t>
            </a:r>
            <a:endParaRPr lang="en-US" altLang="ko-KR" sz="105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800104" y="1865266"/>
            <a:ext cx="1159987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800104" y="2465584"/>
            <a:ext cx="1159987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800104" y="2990174"/>
            <a:ext cx="1159987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상세내용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CmdtyElctrCtrtPrgrsDtl_Cn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계약업체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CmdtyElctrCtrtPrgrsDtl_Artcl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반송</a:t>
            </a:r>
            <a:r>
              <a:rPr lang="en-US" altLang="ko-KR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취소사유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CmdtyElctrCtrtPrgrsDtl_Rsn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</a:t>
            </a:r>
            <a:r>
              <a:rPr lang="en-US" altLang="ko-KR" sz="1000" dirty="0" smtClean="0">
                <a:solidFill>
                  <a:schemeClr val="tx1"/>
                </a:solidFill>
              </a:rPr>
              <a:t>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첨부서류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CmdtyElctrCtrtPrgrsDtl_Adoc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800104" y="2990174"/>
            <a:ext cx="1159987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800104" y="2990174"/>
            <a:ext cx="1159987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800104" y="2990174"/>
            <a:ext cx="1159987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800104" y="2990174"/>
            <a:ext cx="1159987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물품전자계약확정상세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CmdtyElctrCtrtCfmtnDtlPage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3"/>
            <a:endCxn id="9" idx="1"/>
          </p:cNvCxnSpPr>
          <p:nvPr/>
        </p:nvCxnSpPr>
        <p:spPr>
          <a:xfrm flipV="1">
            <a:off x="2800104" y="2990174"/>
            <a:ext cx="1159987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</a:rPr>
              <a:t>1/8)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430039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072904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물품일반계약서상세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CmdtyGnrlCtrdocDtlPage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072904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물품수정계약서상세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CmdtyMdfcnCtrdocDtlPage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상세정보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CmdtyMdfcnCtrdocDtl_Cn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50" dirty="0"/>
              <a:t>&lt;&lt;</a:t>
            </a:r>
            <a:r>
              <a:rPr lang="ko-KR" altLang="en-US" sz="1050" dirty="0" err="1"/>
              <a:t>계약정보</a:t>
            </a:r>
            <a:r>
              <a:rPr lang="en-US" altLang="ko-KR" sz="1050" dirty="0"/>
              <a:t>Controller&gt;&gt;</a:t>
            </a:r>
          </a:p>
          <a:p>
            <a:pPr algn="ctr"/>
            <a:r>
              <a:rPr lang="en-US" altLang="ko-KR" sz="1050" dirty="0" err="1"/>
              <a:t>CtrtInfoController</a:t>
            </a:r>
            <a:endParaRPr lang="en-US" altLang="ko-KR" sz="105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800104" y="1865266"/>
            <a:ext cx="1159987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800104" y="2465584"/>
            <a:ext cx="1159987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800104" y="2990174"/>
            <a:ext cx="1159987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수정계약명세서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CmdtyMdfcnCtrdocDtl_MdfcnCtrt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특수조건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CmdtyMdfcnCtrdocDtl_Spcl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물품총액계약서상세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CmdtyGramtCtrdocDtlPage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</a:t>
            </a:r>
            <a:r>
              <a:rPr lang="en-US" altLang="ko-KR" sz="1000" dirty="0" smtClean="0">
                <a:solidFill>
                  <a:schemeClr val="tx1"/>
                </a:solidFill>
              </a:rPr>
              <a:t>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상세정보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CmdtyGramtCtrdocDtl_Cn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800104" y="2990174"/>
            <a:ext cx="1159987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800104" y="2990174"/>
            <a:ext cx="1159987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800104" y="2990174"/>
            <a:ext cx="1159987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800104" y="2990174"/>
            <a:ext cx="1159987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CmdtyGramtCtrdocDtl_Ctrt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3"/>
            <a:endCxn id="9" idx="1"/>
          </p:cNvCxnSpPr>
          <p:nvPr/>
        </p:nvCxnSpPr>
        <p:spPr>
          <a:xfrm flipV="1">
            <a:off x="2800104" y="2990174"/>
            <a:ext cx="1159987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 smtClean="0">
                <a:solidFill>
                  <a:schemeClr val="tx1"/>
                </a:solidFill>
              </a:rPr>
              <a:t>(2/8)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2884286" y="5846371"/>
            <a:ext cx="1513997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특수조건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CmdtyGramtCtrdocDtl_Spcl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564746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072904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물품단가계약서상세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CmdtyUntprcCtrdocDtlPage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072904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상세정보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CmdtyUntprcCtrdocDtl_Cn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CmdtyUntprcCtrdocDtl_Ctrt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50" dirty="0"/>
              <a:t>&lt;&lt;</a:t>
            </a:r>
            <a:r>
              <a:rPr lang="ko-KR" altLang="en-US" sz="1050" dirty="0" err="1"/>
              <a:t>계약정보</a:t>
            </a:r>
            <a:r>
              <a:rPr lang="en-US" altLang="ko-KR" sz="1050" dirty="0"/>
              <a:t>Controller&gt;&gt;</a:t>
            </a:r>
          </a:p>
          <a:p>
            <a:pPr algn="ctr"/>
            <a:r>
              <a:rPr lang="en-US" altLang="ko-KR" sz="1050" dirty="0" err="1"/>
              <a:t>CtrtInfoController</a:t>
            </a:r>
            <a:endParaRPr lang="en-US" altLang="ko-KR" sz="105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800104" y="1865266"/>
            <a:ext cx="1159987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800104" y="2465584"/>
            <a:ext cx="1159987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800104" y="2990174"/>
            <a:ext cx="1159987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특수조건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CmdtyUntprcCtrdocDtl_Spcl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공사전자계약진행상세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CstrnElctrCtrtPrgrsDtlPage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상세내용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CstrnElctrCtrtPrgrsDtl_Cn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</a:t>
            </a:r>
            <a:r>
              <a:rPr lang="en-US" altLang="ko-KR" sz="1000" dirty="0" smtClean="0">
                <a:solidFill>
                  <a:schemeClr val="tx1"/>
                </a:solidFill>
              </a:rPr>
              <a:t>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계약업체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CstrnElctrCtrtPrgrsDtl_Artcl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800104" y="2990174"/>
            <a:ext cx="1159987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800104" y="2990174"/>
            <a:ext cx="1159987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800104" y="2990174"/>
            <a:ext cx="1159987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800104" y="2990174"/>
            <a:ext cx="1159987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하자담보책임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CstrnElctrCtrtPrgrsDtl_Flw.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3"/>
            <a:endCxn id="9" idx="1"/>
          </p:cNvCxnSpPr>
          <p:nvPr/>
        </p:nvCxnSpPr>
        <p:spPr>
          <a:xfrm flipV="1">
            <a:off x="2800104" y="2990174"/>
            <a:ext cx="1159987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 smtClean="0">
                <a:solidFill>
                  <a:schemeClr val="tx1"/>
                </a:solidFill>
              </a:rPr>
              <a:t>(3/8)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2884286" y="5846371"/>
            <a:ext cx="1513997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첨부서류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CstrnElctrCtrtPrgrsDtl_Adoc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9719464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072904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공사계약서상세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072904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상세정보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CstrnCtrdocDtl_Cn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하자담보책임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CstrnCtrdocDtl_Flw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50" dirty="0"/>
              <a:t>&lt;&lt;</a:t>
            </a:r>
            <a:r>
              <a:rPr lang="ko-KR" altLang="en-US" sz="1050" dirty="0" err="1"/>
              <a:t>계약정보</a:t>
            </a:r>
            <a:r>
              <a:rPr lang="en-US" altLang="ko-KR" sz="1050" dirty="0"/>
              <a:t>Controller&gt;&gt;</a:t>
            </a:r>
          </a:p>
          <a:p>
            <a:pPr algn="ctr"/>
            <a:r>
              <a:rPr lang="en-US" altLang="ko-KR" sz="1050" dirty="0" err="1"/>
              <a:t>CtrtInfoController</a:t>
            </a:r>
            <a:endParaRPr lang="en-US" altLang="ko-KR" sz="105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800104" y="1865266"/>
            <a:ext cx="1159987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800104" y="2465584"/>
            <a:ext cx="1159987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800104" y="2990174"/>
            <a:ext cx="1159987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연대보증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CstrnCtrdocDtl_Grnte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물품계약명세서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CmdtyCtrtDtst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물품최종계약명세서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CmdtyLastCtrdocDtst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</a:t>
            </a:r>
            <a:r>
              <a:rPr lang="en-US" altLang="ko-KR" sz="1000" dirty="0" smtClean="0">
                <a:solidFill>
                  <a:schemeClr val="tx1"/>
                </a:solidFill>
              </a:rPr>
              <a:t>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물품수정계약명세서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CmdtyMdfcnCtrdocDtst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800104" y="2990174"/>
            <a:ext cx="1159987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800104" y="2990174"/>
            <a:ext cx="1159987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800104" y="2990174"/>
            <a:ext cx="1159987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800104" y="2990174"/>
            <a:ext cx="1159987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물품일반계약명세서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CmdtyGnrlCtrdocDtst.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3"/>
            <a:endCxn id="9" idx="1"/>
          </p:cNvCxnSpPr>
          <p:nvPr/>
        </p:nvCxnSpPr>
        <p:spPr>
          <a:xfrm flipV="1">
            <a:off x="2800104" y="2990174"/>
            <a:ext cx="1159987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 smtClean="0">
                <a:solidFill>
                  <a:schemeClr val="tx1"/>
                </a:solidFill>
              </a:rPr>
              <a:t>(4/8)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2884286" y="5846371"/>
            <a:ext cx="1513997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계약진행상태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CtrtPrgrsSttsInq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178616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072904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대금지불정보목록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PymtDfryInfoListPage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072904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검색필터</a:t>
            </a:r>
            <a:r>
              <a:rPr lang="en-US" altLang="ko-KR" sz="1000" dirty="0">
                <a:solidFill>
                  <a:schemeClr val="tx1"/>
                </a:solidFill>
              </a:rPr>
              <a:t>-</a:t>
            </a:r>
            <a:r>
              <a:rPr lang="ko-KR" altLang="en-US" sz="1000" dirty="0">
                <a:solidFill>
                  <a:schemeClr val="tx1"/>
                </a:solidFill>
              </a:rPr>
              <a:t>대금지불정보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PymtDfryInfoList_SrchFilter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대금지불정보조회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PymtDfryInfoInq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/>
            <a:r>
              <a:rPr lang="en-US" altLang="ko-KR" sz="1050" dirty="0"/>
              <a:t>&lt;&lt;</a:t>
            </a:r>
            <a:r>
              <a:rPr lang="ko-KR" altLang="en-US" sz="1050" dirty="0" err="1"/>
              <a:t>계약정보</a:t>
            </a:r>
            <a:r>
              <a:rPr lang="en-US" altLang="ko-KR" sz="1050" dirty="0"/>
              <a:t>Controller&gt;&gt;</a:t>
            </a:r>
          </a:p>
          <a:p>
            <a:pPr algn="ctr"/>
            <a:r>
              <a:rPr lang="en-US" altLang="ko-KR" sz="1050" dirty="0" err="1"/>
              <a:t>CtrtInfoController</a:t>
            </a:r>
            <a:endParaRPr lang="en-US" altLang="ko-KR" sz="105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800104" y="1865266"/>
            <a:ext cx="1159987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800104" y="2465584"/>
            <a:ext cx="1159987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800104" y="2990174"/>
            <a:ext cx="1159987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 smtClean="0">
                <a:solidFill>
                  <a:schemeClr val="tx1"/>
                </a:solidFill>
              </a:rPr>
              <a:t>(5/8)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079721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072904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해지</a:t>
            </a:r>
            <a:r>
              <a:rPr lang="en-US" altLang="ko-KR" sz="1000" dirty="0">
                <a:solidFill>
                  <a:schemeClr val="tx1"/>
                </a:solidFill>
              </a:rPr>
              <a:t>/</a:t>
            </a:r>
            <a:r>
              <a:rPr lang="ko-KR" altLang="en-US" sz="1000" dirty="0" err="1">
                <a:solidFill>
                  <a:schemeClr val="tx1"/>
                </a:solidFill>
              </a:rPr>
              <a:t>해제목록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CtrtCncltnRmvListPage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072904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검색필터</a:t>
            </a:r>
            <a:r>
              <a:rPr lang="en-US" altLang="ko-KR" sz="1000" dirty="0">
                <a:solidFill>
                  <a:schemeClr val="tx1"/>
                </a:solidFill>
              </a:rPr>
              <a:t>-</a:t>
            </a:r>
            <a:r>
              <a:rPr lang="ko-KR" altLang="en-US" sz="1000" dirty="0">
                <a:solidFill>
                  <a:schemeClr val="tx1"/>
                </a:solidFill>
              </a:rPr>
              <a:t>해지</a:t>
            </a:r>
            <a:r>
              <a:rPr lang="en-US" altLang="ko-KR" sz="1000" dirty="0">
                <a:solidFill>
                  <a:schemeClr val="tx1"/>
                </a:solidFill>
              </a:rPr>
              <a:t>/</a:t>
            </a:r>
            <a:r>
              <a:rPr lang="ko-KR" altLang="en-US" sz="1000" dirty="0">
                <a:solidFill>
                  <a:schemeClr val="tx1"/>
                </a:solidFill>
              </a:rPr>
              <a:t>해제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CtrtCncltnRmvList_SrchFilter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해지</a:t>
            </a:r>
            <a:r>
              <a:rPr lang="en-US" altLang="ko-KR" sz="1000" dirty="0">
                <a:solidFill>
                  <a:schemeClr val="tx1"/>
                </a:solidFill>
              </a:rPr>
              <a:t>/</a:t>
            </a:r>
            <a:r>
              <a:rPr lang="ko-KR" altLang="en-US" sz="1000" dirty="0">
                <a:solidFill>
                  <a:schemeClr val="tx1"/>
                </a:solidFill>
              </a:rPr>
              <a:t>해제일반계약상세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CmdtyCtrtCncltnRmvDtlPage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/>
            <a:r>
              <a:rPr lang="en-US" altLang="ko-KR" sz="800" dirty="0"/>
              <a:t>&lt;&lt;</a:t>
            </a:r>
            <a:r>
              <a:rPr lang="ko-KR" altLang="en-US" sz="800" dirty="0"/>
              <a:t> 계약해지해제</a:t>
            </a:r>
            <a:r>
              <a:rPr lang="en-US" altLang="ko-KR" sz="800" dirty="0"/>
              <a:t>Controller&gt;&gt;</a:t>
            </a:r>
          </a:p>
          <a:p>
            <a:pPr algn="ctr"/>
            <a:r>
              <a:rPr lang="en-US" altLang="ko-KR" sz="800" dirty="0" err="1"/>
              <a:t>CtrtCncltnRmvController</a:t>
            </a:r>
            <a:endParaRPr lang="en-US" altLang="ko-KR" sz="8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800104" y="1865266"/>
            <a:ext cx="1159987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800104" y="2465584"/>
            <a:ext cx="1159987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800104" y="2990174"/>
            <a:ext cx="1159987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상세정보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CmdtyCtrtCncltnRmvDtl_Cn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계약업체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CmdtyCtrtCncltnRmvDtl_Artcl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해지해제정보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CmdtyCtrtCncltnRmvDtl_Info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</a:t>
            </a:r>
            <a:r>
              <a:rPr lang="en-US" altLang="ko-KR" sz="1000" dirty="0" smtClean="0">
                <a:solidFill>
                  <a:schemeClr val="tx1"/>
                </a:solidFill>
              </a:rPr>
              <a:t>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해제일반총액제계약상세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CncltnRmvGnrlCtrtGramtDtlPage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800104" y="2990174"/>
            <a:ext cx="1159987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800104" y="2990174"/>
            <a:ext cx="1159987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800104" y="2990174"/>
            <a:ext cx="1159987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800104" y="2990174"/>
            <a:ext cx="1159987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상세정보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CncltnRmvGnrlCtrtGramtDtl_Cn.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3"/>
            <a:endCxn id="9" idx="1"/>
          </p:cNvCxnSpPr>
          <p:nvPr/>
        </p:nvCxnSpPr>
        <p:spPr>
          <a:xfrm flipV="1">
            <a:off x="2800104" y="2990174"/>
            <a:ext cx="1159987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 smtClean="0">
                <a:solidFill>
                  <a:schemeClr val="tx1"/>
                </a:solidFill>
              </a:rPr>
              <a:t>(6/8)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2884286" y="5846371"/>
            <a:ext cx="1513997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CncltnRmvGnrlCtrtGramtDtl_Artcl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480906" y="5846371"/>
            <a:ext cx="1513997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특수조건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CncltnRmvGnrlCtrtGramtDtl_Spcl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5958505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072904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해지</a:t>
            </a:r>
            <a:r>
              <a:rPr lang="en-US" altLang="ko-KR" sz="1000" dirty="0">
                <a:solidFill>
                  <a:schemeClr val="tx1"/>
                </a:solidFill>
              </a:rPr>
              <a:t>/</a:t>
            </a:r>
            <a:r>
              <a:rPr lang="ko-KR" altLang="en-US" sz="1000" dirty="0" err="1">
                <a:solidFill>
                  <a:schemeClr val="tx1"/>
                </a:solidFill>
              </a:rPr>
              <a:t>해제일반단가제계약상세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CncltnRmvGnrlCtrtUntprcDtlPage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072904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상세정보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CncltnRmvGnrlCtrtUntprcDtl_Cn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CncltnRmvGnrlCtrtUntprcDtl_Artcl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/>
            <a:r>
              <a:rPr lang="en-US" altLang="ko-KR" sz="800" dirty="0"/>
              <a:t>&lt;&lt;</a:t>
            </a:r>
            <a:r>
              <a:rPr lang="ko-KR" altLang="en-US" sz="800" dirty="0"/>
              <a:t> 계약해지해제</a:t>
            </a:r>
            <a:r>
              <a:rPr lang="en-US" altLang="ko-KR" sz="800" dirty="0"/>
              <a:t>Controller&gt;&gt;</a:t>
            </a:r>
          </a:p>
          <a:p>
            <a:pPr algn="ctr"/>
            <a:r>
              <a:rPr lang="en-US" altLang="ko-KR" sz="800" dirty="0" err="1"/>
              <a:t>CtrtCncltnRmvController</a:t>
            </a:r>
            <a:endParaRPr lang="en-US" altLang="ko-KR" sz="8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800104" y="1865266"/>
            <a:ext cx="1159987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800104" y="2465584"/>
            <a:ext cx="1159987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800104" y="2990174"/>
            <a:ext cx="1159987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특수조건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CncltnRmvGnrlCtrtUntprcDtl_Spcl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해지</a:t>
            </a:r>
            <a:r>
              <a:rPr lang="en-US" altLang="ko-KR" sz="1000" dirty="0">
                <a:solidFill>
                  <a:schemeClr val="tx1"/>
                </a:solidFill>
              </a:rPr>
              <a:t>/</a:t>
            </a:r>
            <a:r>
              <a:rPr lang="ko-KR" altLang="en-US" sz="1000" dirty="0">
                <a:solidFill>
                  <a:schemeClr val="tx1"/>
                </a:solidFill>
              </a:rPr>
              <a:t>해제수정계약상세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CncltnRmvMdfcnCtrtDtlPage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상세정보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CncltnRmvMdfcnCtrtDtl_Cn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</a:t>
            </a:r>
            <a:r>
              <a:rPr lang="en-US" altLang="ko-KR" sz="1000" dirty="0" smtClean="0">
                <a:solidFill>
                  <a:schemeClr val="tx1"/>
                </a:solidFill>
              </a:rPr>
              <a:t>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CncltnRmvMdfcnCtrtDtl_Ctrt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800104" y="2990174"/>
            <a:ext cx="1159987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800104" y="2990174"/>
            <a:ext cx="1159987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800104" y="2990174"/>
            <a:ext cx="1159987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800104" y="2990174"/>
            <a:ext cx="1159987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특수조건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CncltnRmvMdfcnCtrtDtl_Spcl.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3"/>
            <a:endCxn id="9" idx="1"/>
          </p:cNvCxnSpPr>
          <p:nvPr/>
        </p:nvCxnSpPr>
        <p:spPr>
          <a:xfrm flipV="1">
            <a:off x="2800104" y="2990174"/>
            <a:ext cx="1159987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 smtClean="0">
                <a:solidFill>
                  <a:schemeClr val="tx1"/>
                </a:solidFill>
              </a:rPr>
              <a:t>(7/8)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535864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072904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해지</a:t>
            </a:r>
            <a:r>
              <a:rPr lang="en-US" altLang="ko-KR" sz="1000" dirty="0">
                <a:solidFill>
                  <a:schemeClr val="tx1"/>
                </a:solidFill>
              </a:rPr>
              <a:t>/</a:t>
            </a:r>
            <a:r>
              <a:rPr lang="ko-KR" altLang="en-US" sz="1000" dirty="0">
                <a:solidFill>
                  <a:schemeClr val="tx1"/>
                </a:solidFill>
              </a:rPr>
              <a:t>해제공사계약상세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CstrnCtrtCncltnRmvDtlPage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072904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상세정보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CstrnCtrtCncltnRmvDtl_Cn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첨부서류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CstrnCtrtCncltnRmvDtl_Adoc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/>
            <a:r>
              <a:rPr lang="en-US" altLang="ko-KR" sz="800" dirty="0"/>
              <a:t>&lt;&lt;</a:t>
            </a:r>
            <a:r>
              <a:rPr lang="ko-KR" altLang="en-US" sz="800" dirty="0"/>
              <a:t> 계약해지해제</a:t>
            </a:r>
            <a:r>
              <a:rPr lang="en-US" altLang="ko-KR" sz="800" dirty="0"/>
              <a:t>Controller&gt;&gt;</a:t>
            </a:r>
          </a:p>
          <a:p>
            <a:pPr algn="ctr"/>
            <a:r>
              <a:rPr lang="en-US" altLang="ko-KR" sz="800" dirty="0" err="1"/>
              <a:t>CtrtCncltnRmvController</a:t>
            </a:r>
            <a:endParaRPr lang="en-US" altLang="ko-KR" sz="8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800104" y="1865266"/>
            <a:ext cx="1159987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800104" y="2465584"/>
            <a:ext cx="1159987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800104" y="2990174"/>
            <a:ext cx="1159987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 smtClean="0">
                <a:solidFill>
                  <a:schemeClr val="tx1"/>
                </a:solidFill>
              </a:rPr>
              <a:t>(8/8)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119847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상단 </a:t>
            </a:r>
            <a:r>
              <a:rPr lang="ko-KR" altLang="en-US" sz="700" dirty="0" err="1" smtClean="0"/>
              <a:t>업무도움은</a:t>
            </a:r>
            <a:r>
              <a:rPr lang="ko-KR" altLang="en-US" sz="700" dirty="0" smtClean="0"/>
              <a:t> 기본 값으로 접힘 상태로 정보 제공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/>
              <a:t>- </a:t>
            </a:r>
            <a:r>
              <a:rPr lang="ko-KR" altLang="en-US" sz="700" dirty="0"/>
              <a:t>기본값 </a:t>
            </a:r>
            <a:r>
              <a:rPr lang="en-US" altLang="ko-KR" sz="700" dirty="0"/>
              <a:t>: </a:t>
            </a:r>
            <a:r>
              <a:rPr lang="ko-KR" altLang="en-US" sz="700" dirty="0"/>
              <a:t>접힘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사용자 </a:t>
            </a:r>
            <a:r>
              <a:rPr lang="ko-KR" altLang="en-US" sz="700" dirty="0" err="1"/>
              <a:t>클릭시</a:t>
            </a:r>
            <a:r>
              <a:rPr lang="ko-KR" altLang="en-US" sz="700" dirty="0"/>
              <a:t> 확장하여 정보 표시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 err="1" smtClean="0"/>
              <a:t>업무도움</a:t>
            </a:r>
            <a:r>
              <a:rPr lang="en-US" altLang="ko-KR" sz="700" dirty="0" smtClean="0"/>
              <a:t> &gt; </a:t>
            </a:r>
            <a:r>
              <a:rPr lang="ko-KR" altLang="en-US" sz="700" dirty="0"/>
              <a:t>내역이 있는 경우 표시</a:t>
            </a:r>
            <a:r>
              <a:rPr lang="en-US" altLang="ko-KR" sz="700" dirty="0"/>
              <a:t>, </a:t>
            </a:r>
            <a:r>
              <a:rPr lang="ko-KR" altLang="en-US" sz="700" dirty="0"/>
              <a:t>내역이 없으면 항목을 표시하지 않음</a:t>
            </a:r>
            <a:r>
              <a:rPr lang="en-US" altLang="ko-KR" sz="700" dirty="0"/>
              <a:t>.</a:t>
            </a:r>
            <a:br>
              <a:rPr lang="en-US" altLang="ko-KR" sz="700" dirty="0"/>
            </a:b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검색필터</a:t>
            </a:r>
            <a:r>
              <a:rPr lang="ko-KR" altLang="en-US" sz="700" dirty="0" smtClean="0"/>
              <a:t> 항목 참고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>
                <a:latin typeface="+mn-ea"/>
              </a:rPr>
              <a:t>검색 필터 </a:t>
            </a:r>
            <a:r>
              <a:rPr lang="en-US" altLang="ko-KR" sz="700" dirty="0" smtClean="0">
                <a:latin typeface="+mn-ea"/>
              </a:rPr>
              <a:t>– </a:t>
            </a:r>
            <a:r>
              <a:rPr lang="ko-KR" altLang="en-US" sz="700" dirty="0" smtClean="0">
                <a:latin typeface="+mn-ea"/>
              </a:rPr>
              <a:t>계약 </a:t>
            </a:r>
            <a:r>
              <a:rPr lang="en-US" altLang="ko-KR" sz="700" dirty="0" smtClean="0">
                <a:latin typeface="+mn-ea"/>
              </a:rPr>
              <a:t>(</a:t>
            </a:r>
            <a:r>
              <a:rPr lang="en-US" altLang="ko-KR" sz="800" dirty="0">
                <a:latin typeface="+mn-ea"/>
              </a:rPr>
              <a:t>MUI-CT-01-P02</a:t>
            </a:r>
            <a:r>
              <a:rPr lang="en-US" altLang="ko-KR" sz="700" dirty="0" smtClean="0">
                <a:latin typeface="+mn-ea"/>
              </a:rPr>
              <a:t>)</a:t>
            </a:r>
            <a:r>
              <a:rPr lang="ko-KR" altLang="en-US" sz="700" dirty="0" smtClean="0">
                <a:latin typeface="+mn-ea"/>
              </a:rPr>
              <a:t> 참고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표시 개수 영역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총 개수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표시 개수 </a:t>
            </a:r>
            <a:r>
              <a:rPr lang="en-US" altLang="ko-KR" sz="700" dirty="0" smtClean="0"/>
              <a:t>(</a:t>
            </a:r>
            <a:r>
              <a:rPr lang="ko-KR" altLang="en-US" sz="700" dirty="0" smtClean="0"/>
              <a:t>선택한 건수 만큼 보여주고 </a:t>
            </a:r>
            <a:r>
              <a:rPr lang="ko-KR" altLang="en-US" sz="700" dirty="0" err="1" smtClean="0"/>
              <a:t>더보기시</a:t>
            </a:r>
            <a:r>
              <a:rPr lang="ko-KR" altLang="en-US" sz="700" dirty="0" smtClean="0"/>
              <a:t> 추가로 불러옴</a:t>
            </a:r>
            <a:r>
              <a:rPr lang="en-US" altLang="ko-KR" sz="700" dirty="0" smtClean="0"/>
              <a:t>)</a:t>
            </a:r>
            <a:br>
              <a:rPr lang="en-US" altLang="ko-KR" sz="700" dirty="0" smtClean="0"/>
            </a:br>
            <a:r>
              <a:rPr lang="ko-KR" altLang="en-US" sz="700" dirty="0" smtClean="0"/>
              <a:t>목록 카드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카드 </a:t>
            </a:r>
            <a:r>
              <a:rPr lang="ko-KR" altLang="en-US" sz="700" dirty="0" err="1" smtClean="0"/>
              <a:t>클릭시</a:t>
            </a:r>
            <a:r>
              <a:rPr lang="ko-KR" altLang="en-US" sz="700" dirty="0" smtClean="0"/>
              <a:t> 상세 페이지 이동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3-1] </a:t>
            </a:r>
            <a:r>
              <a:rPr lang="ko-KR" altLang="en-US" sz="700" dirty="0" err="1"/>
              <a:t>계약번호</a:t>
            </a:r>
            <a:r>
              <a:rPr lang="en-US" altLang="ko-KR" sz="700" dirty="0"/>
              <a:t>+</a:t>
            </a:r>
            <a:r>
              <a:rPr lang="ko-KR" altLang="en-US" sz="700" dirty="0" smtClean="0"/>
              <a:t>계약번호차수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sz="700" dirty="0" smtClean="0"/>
              <a:t>- </a:t>
            </a:r>
            <a:r>
              <a:rPr lang="ko-KR" altLang="en-US" sz="700" dirty="0" smtClean="0"/>
              <a:t>레이블이 화면을 넘치는 경우 드래그하여 확인 가능 </a:t>
            </a:r>
            <a:r>
              <a:rPr lang="en-US" altLang="ko-KR" sz="700" dirty="0" smtClean="0"/>
              <a:t>(</a:t>
            </a:r>
            <a:r>
              <a:rPr lang="ko-KR" altLang="en-US" sz="700" dirty="0" err="1" smtClean="0"/>
              <a:t>스와이프기능</a:t>
            </a:r>
            <a:r>
              <a:rPr lang="ko-KR" altLang="en-US" sz="700" dirty="0" smtClean="0"/>
              <a:t> 반영 필요</a:t>
            </a:r>
            <a:r>
              <a:rPr lang="en-US" altLang="ko-KR" sz="700" dirty="0" smtClean="0"/>
              <a:t>)</a:t>
            </a:r>
            <a:br>
              <a:rPr lang="en-US" altLang="ko-KR" sz="700" dirty="0" smtClean="0"/>
            </a:br>
            <a:r>
              <a:rPr lang="en-US" altLang="ko-KR" sz="700" dirty="0" smtClean="0"/>
              <a:t>4-1</a:t>
            </a:r>
            <a:r>
              <a:rPr lang="en-US" altLang="ko-KR" sz="700" dirty="0"/>
              <a:t>] </a:t>
            </a:r>
            <a:r>
              <a:rPr lang="ko-KR" altLang="en-US" sz="700" dirty="0" err="1"/>
              <a:t>표시레이블</a:t>
            </a:r>
            <a:r>
              <a:rPr lang="ko-KR" altLang="en-US" sz="700" dirty="0"/>
              <a:t> 영역 </a:t>
            </a:r>
            <a:r>
              <a:rPr lang="ko-KR" altLang="en-US" sz="700" dirty="0" smtClean="0"/>
              <a:t>항목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ko-KR" altLang="en-US" sz="700" dirty="0" smtClean="0"/>
              <a:t>표시 레이블 참조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b="1" dirty="0" smtClean="0"/>
              <a:t>- AS-IS </a:t>
            </a:r>
            <a:r>
              <a:rPr lang="ko-KR" altLang="en-US" sz="700" b="1" dirty="0" smtClean="0"/>
              <a:t>항목은 기존 공고에 노출되어야 하는 항목</a:t>
            </a:r>
            <a:r>
              <a:rPr lang="en-US" altLang="ko-KR" sz="700" b="1" dirty="0" smtClean="0"/>
              <a:t/>
            </a:r>
            <a:br>
              <a:rPr lang="en-US" altLang="ko-KR" sz="700" b="1" dirty="0" smtClean="0"/>
            </a:br>
            <a:r>
              <a:rPr lang="en-US" altLang="ko-KR" sz="700" b="1" dirty="0" smtClean="0"/>
              <a:t>- TO-BE </a:t>
            </a:r>
            <a:r>
              <a:rPr lang="ko-KR" altLang="en-US" sz="700" b="1" dirty="0" smtClean="0"/>
              <a:t>항목은 고도화 이후 공고에 노출되어야 하는 항목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>
                <a:solidFill>
                  <a:srgbClr val="FF0000"/>
                </a:solidFill>
              </a:rPr>
              <a:t>4-2] </a:t>
            </a:r>
            <a:r>
              <a:rPr lang="ko-KR" altLang="en-US" sz="700" dirty="0" smtClean="0">
                <a:solidFill>
                  <a:srgbClr val="FF0000"/>
                </a:solidFill>
              </a:rPr>
              <a:t>항목 설명에 </a:t>
            </a:r>
            <a:r>
              <a:rPr lang="ko-KR" altLang="en-US" sz="700" dirty="0" err="1" smtClean="0">
                <a:solidFill>
                  <a:srgbClr val="FF0000"/>
                </a:solidFill>
              </a:rPr>
              <a:t>낙찰방법이</a:t>
            </a:r>
            <a:r>
              <a:rPr lang="ko-KR" altLang="en-US" sz="700" dirty="0" smtClean="0">
                <a:solidFill>
                  <a:srgbClr val="FF0000"/>
                </a:solidFill>
              </a:rPr>
              <a:t> 없으나</a:t>
            </a:r>
            <a:r>
              <a:rPr lang="en-US" altLang="ko-KR" sz="700" dirty="0" smtClean="0">
                <a:solidFill>
                  <a:srgbClr val="FF0000"/>
                </a:solidFill>
              </a:rPr>
              <a:t>, To-Be</a:t>
            </a:r>
            <a:r>
              <a:rPr lang="ko-KR" altLang="en-US" sz="700" dirty="0" smtClean="0">
                <a:solidFill>
                  <a:srgbClr val="FF0000"/>
                </a:solidFill>
              </a:rPr>
              <a:t>에 대한 개발 시 고려가 필요함</a:t>
            </a:r>
            <a:r>
              <a:rPr lang="en-US" altLang="ko-KR" sz="700" dirty="0" smtClean="0">
                <a:solidFill>
                  <a:srgbClr val="FF0000"/>
                </a:solidFill>
              </a:rPr>
              <a:t>. </a:t>
            </a:r>
            <a:r>
              <a:rPr lang="ko-KR" altLang="en-US" sz="700" dirty="0" smtClean="0">
                <a:solidFill>
                  <a:srgbClr val="FF0000"/>
                </a:solidFill>
              </a:rPr>
              <a:t>변경 가능성이 있음</a:t>
            </a:r>
            <a:r>
              <a:rPr lang="en-US" altLang="ko-KR" sz="700" dirty="0" smtClean="0">
                <a:solidFill>
                  <a:srgbClr val="FF0000"/>
                </a:solidFill>
              </a:rPr>
              <a:t>. </a:t>
            </a:r>
            <a:r>
              <a:rPr lang="en-US" altLang="ko-KR" sz="700" dirty="0">
                <a:solidFill>
                  <a:srgbClr val="FF0000"/>
                </a:solidFill>
              </a:rPr>
              <a:t>- 1. </a:t>
            </a:r>
            <a:r>
              <a:rPr lang="ko-KR" altLang="en-US" sz="700" dirty="0" err="1">
                <a:solidFill>
                  <a:srgbClr val="FF0000"/>
                </a:solidFill>
              </a:rPr>
              <a:t>대응개발</a:t>
            </a:r>
            <a:r>
              <a:rPr lang="ko-KR" altLang="en-US" sz="700" dirty="0">
                <a:solidFill>
                  <a:srgbClr val="FF0000"/>
                </a:solidFill>
              </a:rPr>
              <a:t> 관련 정리</a:t>
            </a:r>
            <a:r>
              <a:rPr lang="en-US" altLang="ko-KR" sz="700" dirty="0">
                <a:solidFill>
                  <a:srgbClr val="FF0000"/>
                </a:solidFill>
              </a:rPr>
              <a:t>_</a:t>
            </a:r>
            <a:r>
              <a:rPr lang="ko-KR" altLang="en-US" sz="700" dirty="0">
                <a:solidFill>
                  <a:srgbClr val="FF0000"/>
                </a:solidFill>
              </a:rPr>
              <a:t>통합사업관리</a:t>
            </a:r>
            <a:r>
              <a:rPr lang="en-US" altLang="ko-KR" sz="700" dirty="0">
                <a:solidFill>
                  <a:srgbClr val="FF0000"/>
                </a:solidFill>
              </a:rPr>
              <a:t>(</a:t>
            </a:r>
            <a:r>
              <a:rPr lang="ko-KR" altLang="en-US" sz="700" dirty="0">
                <a:solidFill>
                  <a:srgbClr val="FF0000"/>
                </a:solidFill>
              </a:rPr>
              <a:t>국내</a:t>
            </a:r>
            <a:r>
              <a:rPr lang="en-US" altLang="ko-KR" sz="700" dirty="0">
                <a:solidFill>
                  <a:srgbClr val="FF0000"/>
                </a:solidFill>
              </a:rPr>
              <a:t>).</a:t>
            </a:r>
            <a:r>
              <a:rPr lang="en-US" altLang="ko-KR" sz="700" dirty="0" err="1" smtClean="0">
                <a:solidFill>
                  <a:srgbClr val="FF0000"/>
                </a:solidFill>
              </a:rPr>
              <a:t>pptx</a:t>
            </a:r>
            <a:r>
              <a:rPr lang="en-US" altLang="ko-KR" sz="700" dirty="0" smtClean="0">
                <a:solidFill>
                  <a:srgbClr val="FF0000"/>
                </a:solidFill>
              </a:rPr>
              <a:t> </a:t>
            </a:r>
            <a:r>
              <a:rPr lang="ko-KR" altLang="en-US" sz="700" dirty="0" smtClean="0">
                <a:solidFill>
                  <a:srgbClr val="FF0000"/>
                </a:solidFill>
              </a:rPr>
              <a:t>파일의 </a:t>
            </a:r>
            <a:r>
              <a:rPr lang="en-US" altLang="ko-KR" sz="700" dirty="0" smtClean="0">
                <a:solidFill>
                  <a:srgbClr val="FF0000"/>
                </a:solidFill>
              </a:rPr>
              <a:t>[</a:t>
            </a:r>
            <a:r>
              <a:rPr lang="ko-KR" altLang="en-US" sz="700" dirty="0">
                <a:solidFill>
                  <a:srgbClr val="FF0000"/>
                </a:solidFill>
              </a:rPr>
              <a:t>계약방법</a:t>
            </a:r>
            <a:r>
              <a:rPr lang="en-US" altLang="ko-KR" sz="700" dirty="0">
                <a:solidFill>
                  <a:srgbClr val="FF0000"/>
                </a:solidFill>
              </a:rPr>
              <a:t>/</a:t>
            </a:r>
            <a:r>
              <a:rPr lang="ko-KR" altLang="en-US" sz="700" dirty="0" err="1">
                <a:solidFill>
                  <a:srgbClr val="FF0000"/>
                </a:solidFill>
              </a:rPr>
              <a:t>낙찰방법</a:t>
            </a:r>
            <a:r>
              <a:rPr lang="en-US" altLang="ko-KR" sz="700" dirty="0" smtClean="0">
                <a:solidFill>
                  <a:srgbClr val="FF0000"/>
                </a:solidFill>
              </a:rPr>
              <a:t>] </a:t>
            </a:r>
            <a:r>
              <a:rPr lang="ko-KR" altLang="en-US" sz="700" dirty="0" smtClean="0">
                <a:solidFill>
                  <a:srgbClr val="FF0000"/>
                </a:solidFill>
              </a:rPr>
              <a:t>참조 필요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4-3] </a:t>
            </a:r>
            <a:r>
              <a:rPr lang="ko-KR" altLang="en-US" sz="700" dirty="0" smtClean="0"/>
              <a:t>문서 정보 영역 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판단번호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,  </a:t>
            </a:r>
            <a:r>
              <a:rPr lang="ko-KR" altLang="en-US" sz="700" dirty="0" err="1" smtClean="0"/>
              <a:t>계약번호</a:t>
            </a:r>
            <a:r>
              <a:rPr lang="ko-KR" altLang="en-US" sz="700" dirty="0" smtClean="0"/>
              <a:t> 노출 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판단번호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전체노출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/ </a:t>
            </a:r>
            <a:r>
              <a:rPr lang="ko-KR" altLang="en-US" sz="700" dirty="0" err="1" smtClean="0"/>
              <a:t>계약번호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노출시</a:t>
            </a:r>
            <a:r>
              <a:rPr lang="ko-KR" altLang="en-US" sz="700" dirty="0" smtClean="0"/>
              <a:t> 해당 라인을 넘어가면 </a:t>
            </a:r>
            <a:r>
              <a:rPr lang="en-US" altLang="ko-KR" sz="700" dirty="0" smtClean="0"/>
              <a:t>(…) </a:t>
            </a:r>
            <a:r>
              <a:rPr lang="ko-KR" altLang="en-US" sz="700" dirty="0" err="1" smtClean="0"/>
              <a:t>말줄임</a:t>
            </a:r>
            <a:r>
              <a:rPr lang="ko-KR" altLang="en-US" sz="700" dirty="0" smtClean="0"/>
              <a:t>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계약번호</a:t>
            </a:r>
            <a:r>
              <a:rPr lang="en-US" altLang="ko-KR" sz="700" dirty="0" smtClean="0"/>
              <a:t>: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계약번호</a:t>
            </a:r>
            <a:r>
              <a:rPr lang="en-US" altLang="ko-KR" sz="700" dirty="0" smtClean="0"/>
              <a:t>+</a:t>
            </a:r>
            <a:r>
              <a:rPr lang="ko-KR" altLang="en-US" sz="700" dirty="0" smtClean="0"/>
              <a:t>계약번호차수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문서 제목 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제목은 </a:t>
            </a:r>
            <a:r>
              <a:rPr lang="en-US" altLang="ko-KR" sz="700" dirty="0" smtClean="0"/>
              <a:t>2</a:t>
            </a:r>
            <a:r>
              <a:rPr lang="ko-KR" altLang="en-US" sz="700" dirty="0" smtClean="0"/>
              <a:t>줄 까지 노출 이후</a:t>
            </a:r>
            <a:r>
              <a:rPr lang="en-US" altLang="ko-KR" sz="700" dirty="0" smtClean="0"/>
              <a:t>(…) </a:t>
            </a:r>
            <a:r>
              <a:rPr lang="ko-KR" altLang="en-US" sz="700" dirty="0" err="1" smtClean="0"/>
              <a:t>말줄임</a:t>
            </a:r>
            <a:r>
              <a:rPr lang="ko-KR" altLang="en-US" sz="700" dirty="0" smtClean="0"/>
              <a:t>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수정계약사유가 있는 경우 노출</a:t>
            </a:r>
            <a:r>
              <a:rPr lang="en-US" altLang="ko-KR" sz="700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더보기</a:t>
            </a:r>
            <a:r>
              <a:rPr lang="ko-KR" altLang="en-US" sz="700" dirty="0" smtClean="0"/>
              <a:t> 기능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- 3</a:t>
            </a:r>
            <a:r>
              <a:rPr lang="ko-KR" altLang="en-US" sz="700" dirty="0" err="1" smtClean="0"/>
              <a:t>번항목</a:t>
            </a:r>
            <a:r>
              <a:rPr lang="ko-KR" altLang="en-US" sz="700" dirty="0" smtClean="0"/>
              <a:t> 표시 개수 영역에서 선택한 개수로 증가</a:t>
            </a:r>
            <a:r>
              <a:rPr lang="en-US" altLang="ko-KR" sz="700" dirty="0" smtClean="0"/>
              <a:t>.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ko-KR" altLang="en-US" sz="700" dirty="0" smtClean="0"/>
              <a:t>예</a:t>
            </a:r>
            <a:r>
              <a:rPr lang="en-US" altLang="ko-KR" sz="700" dirty="0" smtClean="0"/>
              <a:t>) </a:t>
            </a:r>
            <a:r>
              <a:rPr lang="en-US" altLang="ko-KR" sz="700" dirty="0"/>
              <a:t>10</a:t>
            </a:r>
            <a:r>
              <a:rPr lang="ko-KR" altLang="en-US" sz="700" dirty="0"/>
              <a:t>개 노출 이후 </a:t>
            </a:r>
            <a:r>
              <a:rPr lang="ko-KR" altLang="en-US" sz="700" dirty="0" err="1"/>
              <a:t>더보기</a:t>
            </a:r>
            <a:r>
              <a:rPr lang="ko-KR" altLang="en-US" sz="700" dirty="0"/>
              <a:t> 버튼 클릭으로 </a:t>
            </a:r>
            <a:r>
              <a:rPr lang="en-US" altLang="ko-KR" sz="700" dirty="0"/>
              <a:t>10</a:t>
            </a:r>
            <a:r>
              <a:rPr lang="ko-KR" altLang="en-US" sz="700" dirty="0"/>
              <a:t>개씩 추가 </a:t>
            </a:r>
            <a:r>
              <a:rPr lang="ko-KR" altLang="en-US" sz="700" dirty="0" smtClean="0"/>
              <a:t>로드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endParaRPr lang="en-US" altLang="ko-KR" sz="7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계약통합목록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 err="1" smtClean="0"/>
              <a:t>통합목록</a:t>
            </a:r>
            <a:r>
              <a:rPr lang="ko-KR" altLang="en-US" dirty="0" smtClean="0"/>
              <a:t>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681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통합목록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046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81461" y="3369299"/>
            <a:ext cx="2473257" cy="1189941"/>
            <a:chOff x="781461" y="3087955"/>
            <a:chExt cx="2473257" cy="1189941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3272286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 smtClean="0"/>
                <a:t>판단번호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99001 / </a:t>
              </a:r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2025000000 - 01</a:t>
              </a:r>
            </a:p>
            <a:p>
              <a:r>
                <a:rPr lang="ko-KR" altLang="en-US" sz="900" b="1" dirty="0" smtClean="0"/>
                <a:t>물품구매</a:t>
              </a:r>
              <a:endParaRPr lang="ko-KR" altLang="en-US" sz="900" b="1" dirty="0"/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585399"/>
              <a:ext cx="461665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계약일자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발주기관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계약금액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수정계약사유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전자서명</a:t>
              </a: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208752" y="3585399"/>
              <a:ext cx="968214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2026-02-10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제</a:t>
              </a:r>
              <a:r>
                <a:rPr lang="en-US" altLang="ko-KR" sz="600" dirty="0" smtClean="0">
                  <a:latin typeface="+mn-ea"/>
                </a:rPr>
                <a:t>8385</a:t>
              </a:r>
              <a:r>
                <a:rPr lang="ko-KR" altLang="en-US" sz="600" dirty="0" smtClean="0">
                  <a:latin typeface="+mn-ea"/>
                </a:rPr>
                <a:t>부대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11,616,000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수정계약사유가 표시됩니다</a:t>
              </a:r>
              <a:r>
                <a:rPr lang="en-US" altLang="ko-KR" sz="600" dirty="0" smtClean="0">
                  <a:latin typeface="+mn-ea"/>
                </a:rPr>
                <a:t>.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 1 / 4 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1075655" y="3087955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수의계약</a:t>
              </a:r>
              <a:endParaRPr lang="ko-KR" altLang="en-US" sz="600" dirty="0"/>
            </a:p>
          </p:txBody>
        </p:sp>
        <p:sp>
          <p:nvSpPr>
            <p:cNvPr id="141" name="모서리가 둥근 직사각형 140"/>
            <p:cNvSpPr/>
            <p:nvPr/>
          </p:nvSpPr>
          <p:spPr>
            <a:xfrm>
              <a:off x="2426808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첨언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642663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778515" y="4693033"/>
            <a:ext cx="2534331" cy="1083172"/>
            <a:chOff x="778515" y="2610063"/>
            <a:chExt cx="2534331" cy="1083172"/>
          </a:xfrm>
        </p:grpSpPr>
        <p:sp>
          <p:nvSpPr>
            <p:cNvPr id="7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99001 /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2025000000 - 01</a:t>
              </a:r>
            </a:p>
            <a:p>
              <a:r>
                <a:rPr lang="en-US" altLang="ko-KR" sz="900" b="1" dirty="0" smtClean="0"/>
                <a:t>000</a:t>
              </a:r>
              <a:r>
                <a:rPr lang="ko-KR" altLang="en-US" sz="900" b="1" dirty="0" smtClean="0"/>
                <a:t>시설공사</a:t>
              </a:r>
              <a:endParaRPr lang="ko-KR" altLang="en-US" sz="900" b="1" dirty="0"/>
            </a:p>
          </p:txBody>
        </p:sp>
        <p:sp>
          <p:nvSpPr>
            <p:cNvPr id="7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계약일자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전자서명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716543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2026-01-03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국군재정관리단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2,596,060,616,000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 1 / 4 </a:t>
              </a:r>
            </a:p>
          </p:txBody>
        </p:sp>
        <p:sp>
          <p:nvSpPr>
            <p:cNvPr id="77" name="모서리가 둥근 직사각형 76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제한경쟁</a:t>
              </a:r>
              <a:endParaRPr lang="ko-KR" altLang="en-US" sz="600" dirty="0"/>
            </a:p>
          </p:txBody>
        </p:sp>
        <p:sp>
          <p:nvSpPr>
            <p:cNvPr id="191" name="모서리가 둥근 직사각형 190"/>
            <p:cNvSpPr/>
            <p:nvPr/>
          </p:nvSpPr>
          <p:spPr>
            <a:xfrm>
              <a:off x="1988604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첨부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5745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9248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01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53358" y="450755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10036" y="134936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표시 레이블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42020" y="12706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4-1</a:t>
            </a:r>
            <a:endParaRPr lang="ko-KR" altLang="en-US" sz="600" b="1" dirty="0"/>
          </a:p>
        </p:txBody>
      </p:sp>
      <p:sp>
        <p:nvSpPr>
          <p:cNvPr id="119" name="모서리가 둥근 직사각형 118"/>
          <p:cNvSpPr/>
          <p:nvPr/>
        </p:nvSpPr>
        <p:spPr>
          <a:xfrm>
            <a:off x="1525063" y="3364160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sp>
        <p:nvSpPr>
          <p:cNvPr id="124" name="모서리가 둥근 직사각형 123"/>
          <p:cNvSpPr/>
          <p:nvPr/>
        </p:nvSpPr>
        <p:spPr>
          <a:xfrm>
            <a:off x="1980118" y="3364160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서류요청</a:t>
            </a:r>
            <a:endParaRPr lang="ko-KR" altLang="en-US" sz="600" dirty="0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1533959" y="4693033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9021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210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 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3143548" y="2992033"/>
            <a:ext cx="94010" cy="47005"/>
            <a:chOff x="6812560" y="3297172"/>
            <a:chExt cx="94010" cy="47005"/>
          </a:xfrm>
        </p:grpSpPr>
        <p:cxnSp>
          <p:nvCxnSpPr>
            <p:cNvPr id="136" name="직선 연결선 1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252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9" name="그룹 138"/>
          <p:cNvGrpSpPr/>
          <p:nvPr/>
        </p:nvGrpSpPr>
        <p:grpSpPr>
          <a:xfrm>
            <a:off x="3004764" y="3105654"/>
            <a:ext cx="776938" cy="1131139"/>
            <a:chOff x="3004764" y="2490533"/>
            <a:chExt cx="776938" cy="1131139"/>
          </a:xfrm>
        </p:grpSpPr>
        <p:sp>
          <p:nvSpPr>
            <p:cNvPr id="140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004764" y="2833887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2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004764" y="2490533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43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063151" y="2833887"/>
              <a:ext cx="641770" cy="6740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kern="0" dirty="0" smtClean="0">
                  <a:solidFill>
                    <a:prstClr val="black"/>
                  </a:solidFill>
                </a:rPr>
                <a:t>30</a:t>
              </a:r>
              <a:r>
                <a:rPr lang="ko-KR" altLang="en-US" sz="700" kern="0" dirty="0">
                  <a:solidFill>
                    <a:prstClr val="black"/>
                  </a:solidFill>
                </a:rPr>
                <a:t> </a:t>
              </a:r>
              <a:r>
                <a:rPr lang="ko-KR" altLang="en-US" sz="700" kern="0" dirty="0" smtClean="0">
                  <a:solidFill>
                    <a:prstClr val="black"/>
                  </a:solidFill>
                </a:rPr>
                <a:t>개</a:t>
              </a:r>
              <a:endParaRPr lang="en-US" altLang="ko-KR" sz="700" kern="0" dirty="0" smtClean="0">
                <a:solidFill>
                  <a:prstClr val="black"/>
                </a:solidFill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50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144" name="그룹 143"/>
            <p:cNvGrpSpPr/>
            <p:nvPr/>
          </p:nvGrpSpPr>
          <p:grpSpPr>
            <a:xfrm flipV="1">
              <a:off x="3584851" y="2638708"/>
              <a:ext cx="94010" cy="47005"/>
              <a:chOff x="661571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6" name="직선 연결선 155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94264"/>
            <a:ext cx="14904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71" name="그룹 170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176" name="모서리가 둥근 직사각형 175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7" name="타원 176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79" name="그룹 178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189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계약명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190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latin typeface="맑은 고딕"/>
                    <a:ea typeface="맑은 고딕" panose="020B0503020000020004" pitchFamily="50" charset="-127"/>
                  </a:rPr>
                  <a:t>계약번호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82" name="타원 181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 smtClean="0"/>
                <a:t>V</a:t>
              </a:r>
              <a:endParaRPr lang="ko-KR" altLang="en-US" sz="600" dirty="0"/>
            </a:p>
          </p:txBody>
        </p:sp>
        <p:sp>
          <p:nvSpPr>
            <p:cNvPr id="18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85" name="타원 184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6" name="그룹 185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87" name="직선 연결선 186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8" name="직선 연결선 187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670286" y="21800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3" name="직사각형 2"/>
          <p:cNvSpPr/>
          <p:nvPr/>
        </p:nvSpPr>
        <p:spPr>
          <a:xfrm>
            <a:off x="7099526" y="6107754"/>
            <a:ext cx="230404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260617 -  </a:t>
            </a:r>
            <a:r>
              <a:rPr lang="ko-KR" altLang="en-US" sz="500" dirty="0" smtClean="0"/>
              <a:t>전체 특이사항 내용 수정</a:t>
            </a:r>
            <a:r>
              <a:rPr lang="en-US" altLang="ko-KR" sz="500" dirty="0" smtClean="0"/>
              <a:t/>
            </a:r>
            <a:br>
              <a:rPr lang="en-US" altLang="ko-KR" sz="500" dirty="0" smtClean="0"/>
            </a:br>
            <a:r>
              <a:rPr lang="en-US" altLang="ko-KR" sz="500" dirty="0" smtClean="0"/>
              <a:t>3-1,4-2,4-3, </a:t>
            </a:r>
            <a:r>
              <a:rPr lang="ko-KR" altLang="en-US" sz="500" dirty="0" smtClean="0"/>
              <a:t>전자서명항목추가 </a:t>
            </a:r>
            <a:endParaRPr lang="en-US" altLang="ko-KR" sz="500" dirty="0" smtClean="0"/>
          </a:p>
        </p:txBody>
      </p:sp>
      <p:sp>
        <p:nvSpPr>
          <p:cNvPr id="193" name="타원 1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73506" y="461272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4-1</a:t>
            </a:r>
            <a:endParaRPr lang="ko-KR" altLang="en-US" sz="600" b="1" dirty="0"/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81637" y="49942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4-3</a:t>
            </a:r>
            <a:endParaRPr lang="ko-KR" altLang="en-US" sz="600" b="1" dirty="0"/>
          </a:p>
        </p:txBody>
      </p:sp>
      <p:sp>
        <p:nvSpPr>
          <p:cNvPr id="201" name="타원 2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17061" y="33960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3-1</a:t>
            </a:r>
          </a:p>
        </p:txBody>
      </p:sp>
      <p:grpSp>
        <p:nvGrpSpPr>
          <p:cNvPr id="7" name="그룹 6"/>
          <p:cNvGrpSpPr/>
          <p:nvPr/>
        </p:nvGrpSpPr>
        <p:grpSpPr>
          <a:xfrm>
            <a:off x="11675403" y="728496"/>
            <a:ext cx="3644276" cy="1597126"/>
            <a:chOff x="3400784" y="3079596"/>
            <a:chExt cx="3644276" cy="1597126"/>
          </a:xfrm>
        </p:grpSpPr>
        <p:sp>
          <p:nvSpPr>
            <p:cNvPr id="106" name="모서리가 둥근 직사각형 105"/>
            <p:cNvSpPr/>
            <p:nvPr/>
          </p:nvSpPr>
          <p:spPr>
            <a:xfrm>
              <a:off x="4318634" y="321739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계약진행</a:t>
              </a:r>
              <a:endParaRPr lang="ko-KR" altLang="en-US" sz="600" dirty="0"/>
            </a:p>
          </p:txBody>
        </p:sp>
        <p:sp>
          <p:nvSpPr>
            <p:cNvPr id="107" name="모서리가 둥근 직사각형 106"/>
            <p:cNvSpPr/>
            <p:nvPr/>
          </p:nvSpPr>
          <p:spPr>
            <a:xfrm>
              <a:off x="4762118" y="3218847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계약수정</a:t>
              </a:r>
              <a:endParaRPr lang="ko-KR" altLang="en-US" sz="600" dirty="0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701349" y="3223238"/>
              <a:ext cx="54734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 err="1" smtClean="0">
                  <a:latin typeface="+mn-ea"/>
                </a:rPr>
                <a:t>계약상태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9" name="모서리가 둥근 직사각형 108"/>
            <p:cNvSpPr/>
            <p:nvPr/>
          </p:nvSpPr>
          <p:spPr>
            <a:xfrm>
              <a:off x="5221341" y="3218847"/>
              <a:ext cx="40339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계약최종</a:t>
              </a:r>
              <a:endParaRPr lang="ko-KR" altLang="en-US" sz="600" dirty="0"/>
            </a:p>
          </p:txBody>
        </p:sp>
        <p:sp>
          <p:nvSpPr>
            <p:cNvPr id="110" name="모서리가 둥근 직사각형 109"/>
            <p:cNvSpPr/>
            <p:nvPr/>
          </p:nvSpPr>
          <p:spPr>
            <a:xfrm>
              <a:off x="6169583" y="3218847"/>
              <a:ext cx="40339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계약해지</a:t>
              </a:r>
              <a:endParaRPr lang="ko-KR" altLang="en-US" sz="600" dirty="0"/>
            </a:p>
          </p:txBody>
        </p:sp>
        <p:sp>
          <p:nvSpPr>
            <p:cNvPr id="111" name="모서리가 둥근 직사각형 110"/>
            <p:cNvSpPr/>
            <p:nvPr/>
          </p:nvSpPr>
          <p:spPr>
            <a:xfrm>
              <a:off x="6641670" y="3218847"/>
              <a:ext cx="40339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계약해제</a:t>
              </a:r>
              <a:endParaRPr lang="ko-KR" altLang="en-US" sz="600" dirty="0"/>
            </a:p>
          </p:txBody>
        </p:sp>
        <p:sp>
          <p:nvSpPr>
            <p:cNvPr id="112" name="모서리가 둥근 직사각형 111"/>
            <p:cNvSpPr/>
            <p:nvPr/>
          </p:nvSpPr>
          <p:spPr>
            <a:xfrm>
              <a:off x="4318634" y="3553817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서류요청</a:t>
              </a:r>
              <a:endParaRPr lang="ko-KR" altLang="en-US" sz="600" dirty="0"/>
            </a:p>
          </p:txBody>
        </p:sp>
        <p:sp>
          <p:nvSpPr>
            <p:cNvPr id="113" name="모서리가 둥근 직사각형 112"/>
            <p:cNvSpPr/>
            <p:nvPr/>
          </p:nvSpPr>
          <p:spPr>
            <a:xfrm>
              <a:off x="4762118" y="3555265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서류등록</a:t>
              </a:r>
              <a:endParaRPr lang="ko-KR" altLang="en-US" sz="600" dirty="0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701349" y="3559656"/>
              <a:ext cx="54734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 smtClean="0">
                  <a:latin typeface="+mn-ea"/>
                </a:rPr>
                <a:t>진행상태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5" name="모서리가 둥근 직사각형 114"/>
            <p:cNvSpPr/>
            <p:nvPr/>
          </p:nvSpPr>
          <p:spPr>
            <a:xfrm>
              <a:off x="5221341" y="3555265"/>
              <a:ext cx="40339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서류반려</a:t>
              </a:r>
              <a:endParaRPr lang="ko-KR" altLang="en-US" sz="600" dirty="0"/>
            </a:p>
          </p:txBody>
        </p:sp>
        <p:sp>
          <p:nvSpPr>
            <p:cNvPr id="118" name="모서리가 둥근 직사각형 117"/>
            <p:cNvSpPr/>
            <p:nvPr/>
          </p:nvSpPr>
          <p:spPr>
            <a:xfrm>
              <a:off x="5691577" y="3555265"/>
              <a:ext cx="40339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체결의뢰</a:t>
              </a:r>
              <a:endParaRPr lang="ko-KR" altLang="en-US" sz="600" dirty="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67300" y="3079596"/>
              <a:ext cx="753411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계약해지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err="1" smtClean="0">
                  <a:latin typeface="+mn-ea"/>
                </a:rPr>
                <a:t>해제목록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3" name="모서리가 둥근 직사각형 132"/>
            <p:cNvSpPr/>
            <p:nvPr/>
          </p:nvSpPr>
          <p:spPr>
            <a:xfrm>
              <a:off x="5682205" y="3218847"/>
              <a:ext cx="40339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계약확정</a:t>
              </a:r>
              <a:endParaRPr lang="ko-KR" altLang="en-US" sz="600" dirty="0"/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400784" y="3904394"/>
              <a:ext cx="84791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 smtClean="0">
                  <a:latin typeface="+mn-ea"/>
                </a:rPr>
                <a:t>수정계약요청수신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00" name="모서리가 둥근 직사각형 199"/>
            <p:cNvSpPr/>
            <p:nvPr/>
          </p:nvSpPr>
          <p:spPr>
            <a:xfrm>
              <a:off x="4318555" y="3900003"/>
              <a:ext cx="1975904" cy="112113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r>
                <a:rPr lang="en-US" altLang="ko-KR" sz="700" dirty="0" err="1">
                  <a:latin typeface="+mn-ea"/>
                </a:rPr>
                <a:t>mdfcnCtrtDmndrcofc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400784" y="4124313"/>
              <a:ext cx="84791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 smtClean="0">
                  <a:latin typeface="+mn-ea"/>
                </a:rPr>
                <a:t>수정계약사유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04" name="모서리가 둥근 직사각형 203"/>
            <p:cNvSpPr/>
            <p:nvPr/>
          </p:nvSpPr>
          <p:spPr>
            <a:xfrm>
              <a:off x="4318555" y="4119922"/>
              <a:ext cx="1975904" cy="112113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r>
                <a:rPr lang="en-US" altLang="ko-KR" sz="700" dirty="0" err="1" smtClean="0">
                  <a:latin typeface="+mn-ea"/>
                </a:rPr>
                <a:t>mdfcnRncd</a:t>
              </a:r>
              <a:r>
                <a:rPr lang="en-US" altLang="ko-KR" sz="700" dirty="0" smtClean="0">
                  <a:latin typeface="+mn-ea"/>
                </a:rPr>
                <a:t> , </a:t>
              </a:r>
              <a:r>
                <a:rPr lang="ko-KR" altLang="en-US" sz="700" dirty="0" err="1">
                  <a:latin typeface="+mn-ea"/>
                </a:rPr>
                <a:t>상위코드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en-US" altLang="ko-KR" sz="700" dirty="0" smtClean="0">
                  <a:latin typeface="+mn-ea"/>
                </a:rPr>
                <a:t>MRC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" name="직사각형 5"/>
            <p:cNvSpPr/>
            <p:nvPr/>
          </p:nvSpPr>
          <p:spPr>
            <a:xfrm>
              <a:off x="3451189" y="3799851"/>
              <a:ext cx="3104851" cy="571521"/>
            </a:xfrm>
            <a:prstGeom prst="rect">
              <a:avLst/>
            </a:prstGeom>
            <a:noFill/>
            <a:ln w="12700">
              <a:solidFill>
                <a:srgbClr val="FF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4308589" y="4556396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첨부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4752286" y="4556396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smtClean="0"/>
                <a:t>첨언</a:t>
              </a:r>
              <a:endParaRPr lang="ko-KR" altLang="en-US" sz="600" dirty="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701349" y="4569000"/>
              <a:ext cx="54734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 smtClean="0">
                  <a:latin typeface="+mn-ea"/>
                </a:rPr>
                <a:t>기타</a:t>
              </a:r>
              <a:endParaRPr lang="ko-KR" altLang="en-US" sz="700" dirty="0">
                <a:latin typeface="+mn-ea"/>
              </a:endParaRPr>
            </a:p>
          </p:txBody>
        </p:sp>
      </p:grpSp>
      <p:graphicFrame>
        <p:nvGraphicFramePr>
          <p:cNvPr id="194" name="표 19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5628347"/>
              </p:ext>
            </p:extLst>
          </p:nvPr>
        </p:nvGraphicFramePr>
        <p:xfrm>
          <a:off x="3801286" y="1616448"/>
          <a:ext cx="3069778" cy="4841240"/>
        </p:xfrm>
        <a:graphic>
          <a:graphicData uri="http://schemas.openxmlformats.org/drawingml/2006/table">
            <a:tbl>
              <a:tblPr firstRow="1" bandRow="1">
                <a:tableStyleId>{7E9639D4-E3E2-4D34-9284-5A2195B3D0D7}</a:tableStyleId>
              </a:tblPr>
              <a:tblGrid>
                <a:gridCol w="1534889">
                  <a:extLst>
                    <a:ext uri="{9D8B030D-6E8A-4147-A177-3AD203B41FA5}">
                      <a16:colId xmlns:a16="http://schemas.microsoft.com/office/drawing/2014/main" val="3115782702"/>
                    </a:ext>
                  </a:extLst>
                </a:gridCol>
                <a:gridCol w="1534889">
                  <a:extLst>
                    <a:ext uri="{9D8B030D-6E8A-4147-A177-3AD203B41FA5}">
                      <a16:colId xmlns:a16="http://schemas.microsoft.com/office/drawing/2014/main" val="39358220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항목명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표시 값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97094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latin typeface="+mn-ea"/>
                        </a:rPr>
                        <a:t>업무구분</a:t>
                      </a:r>
                      <a:r>
                        <a:rPr lang="ko-KR" altLang="en-US" sz="700" dirty="0" smtClean="0"/>
                        <a:t> 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en-US" altLang="ko-KR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taskSecd</a:t>
                      </a:r>
                      <a:r>
                        <a:rPr lang="en-US" altLang="ko-KR" sz="700" dirty="0" smtClean="0"/>
                        <a:t>)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물품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용역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공사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국외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6046842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계약방법 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700" dirty="0" err="1" smtClean="0">
                          <a:latin typeface="+mn-ea"/>
                          <a:ea typeface="+mn-ea"/>
                        </a:rPr>
                        <a:t>ctrtMthdCd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700" dirty="0" smtClean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As-Is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일반경쟁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지명경쟁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제한경쟁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수의계약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역경매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복수경쟁</a:t>
                      </a:r>
                      <a:r>
                        <a:rPr lang="en-US" altLang="ko-KR" sz="700" dirty="0" smtClean="0"/>
                        <a:t>, 2</a:t>
                      </a:r>
                      <a:r>
                        <a:rPr lang="ko-KR" altLang="en-US" sz="700" dirty="0" err="1" smtClean="0"/>
                        <a:t>단계경쟁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동시</a:t>
                      </a:r>
                      <a:r>
                        <a:rPr lang="en-US" altLang="ko-KR" sz="700" dirty="0" smtClean="0"/>
                        <a:t>), 2</a:t>
                      </a:r>
                      <a:r>
                        <a:rPr lang="ko-KR" altLang="en-US" sz="700" dirty="0" err="1" smtClean="0"/>
                        <a:t>단계경쟁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분리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협상에의한계약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서류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협상에의한계약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전자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종합낙찰제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2908724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계약방법 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700" dirty="0" err="1" smtClean="0">
                          <a:latin typeface="+mn-ea"/>
                          <a:ea typeface="+mn-ea"/>
                        </a:rPr>
                        <a:t>ctrtMthdCd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700" dirty="0" smtClean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To-Be</a:t>
                      </a:r>
                      <a:endParaRPr lang="ko-KR" altLang="en-US" sz="700" dirty="0" smtClean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/>
                        <a:t>일반경쟁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지명경쟁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제한경쟁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수의계약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75356529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/>
                        <a:t>입찰방법 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en-US" altLang="ko-KR" sz="700" dirty="0" err="1" smtClean="0">
                          <a:latin typeface="+mn-ea"/>
                          <a:ea typeface="+mn-ea"/>
                        </a:rPr>
                        <a:t>bidMthdCd</a:t>
                      </a:r>
                      <a:r>
                        <a:rPr lang="en-US" altLang="ko-KR" sz="700" dirty="0" smtClean="0"/>
                        <a:t>)</a:t>
                      </a:r>
                      <a:endParaRPr lang="ko-KR" altLang="en-US" sz="700" dirty="0" smtClean="0"/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As-Is</a:t>
                      </a:r>
                      <a:endParaRPr lang="ko-KR" altLang="en-US" sz="700" dirty="0" smtClean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/>
                        <a:t>총액제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단가제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리스입찰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단가제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최저가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내역입찰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최저가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내역입찰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적격심사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내역입찰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err="1" smtClean="0"/>
                        <a:t>종합심사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내역입찰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설계시공일괄입찰</a:t>
                      </a:r>
                      <a:r>
                        <a:rPr lang="en-US" altLang="ko-KR" sz="700" dirty="0" smtClean="0"/>
                        <a:t>)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5755228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/>
                        <a:t>입찰방법 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en-US" altLang="ko-KR" sz="700" dirty="0" err="1" smtClean="0">
                          <a:latin typeface="+mn-ea"/>
                          <a:ea typeface="+mn-ea"/>
                        </a:rPr>
                        <a:t>bidMthdCd</a:t>
                      </a:r>
                      <a:r>
                        <a:rPr lang="en-US" altLang="ko-KR" sz="700" dirty="0" smtClean="0"/>
                        <a:t>)</a:t>
                      </a:r>
                      <a:endParaRPr lang="ko-KR" altLang="en-US" sz="700" dirty="0" smtClean="0"/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To-Be</a:t>
                      </a:r>
                      <a:endParaRPr lang="ko-KR" altLang="en-US" sz="700" dirty="0" smtClean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/>
                        <a:t>총액제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단가제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리스입찰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5764016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/>
                        <a:t>낙찰방법</a:t>
                      </a:r>
                      <a:endParaRPr lang="en-US" altLang="ko-KR" sz="700" dirty="0" smtClean="0"/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As-Is</a:t>
                      </a:r>
                      <a:endParaRPr lang="ko-KR" altLang="en-US" sz="700" dirty="0" smtClean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제한적최저가격제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적격심사제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협상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최저가격제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0728975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/>
                        <a:t>낙찰방법</a:t>
                      </a:r>
                      <a:endParaRPr lang="en-US" altLang="ko-KR" sz="700" dirty="0" smtClean="0"/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To-Be</a:t>
                      </a:r>
                      <a:endParaRPr lang="ko-KR" altLang="en-US" sz="700" dirty="0" smtClean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제한적최저가격제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적격심사제</a:t>
                      </a:r>
                      <a:r>
                        <a:rPr lang="en-US" altLang="ko-KR" sz="700" dirty="0" smtClean="0"/>
                        <a:t>, 2</a:t>
                      </a:r>
                      <a:r>
                        <a:rPr lang="ko-KR" altLang="en-US" sz="700" dirty="0" err="1" smtClean="0"/>
                        <a:t>단계경쟁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동시</a:t>
                      </a:r>
                      <a:r>
                        <a:rPr lang="en-US" altLang="ko-KR" sz="700" dirty="0" smtClean="0"/>
                        <a:t>), 2</a:t>
                      </a:r>
                      <a:r>
                        <a:rPr lang="ko-KR" altLang="en-US" sz="700" dirty="0" err="1" smtClean="0"/>
                        <a:t>단계경쟁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분리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역경매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협상에의한계약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서류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협상에의한계약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전자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종합낙찰제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종합심사제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설계시공일괄입찰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공개수의협상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가칭</a:t>
                      </a:r>
                      <a:r>
                        <a:rPr lang="en-US" altLang="ko-KR" sz="700" dirty="0" smtClean="0"/>
                        <a:t>)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9405199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진행상태 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700" dirty="0" err="1" smtClean="0">
                          <a:latin typeface="+mn-ea"/>
                          <a:ea typeface="+mn-ea"/>
                        </a:rPr>
                        <a:t>ctrtPrgrsStcd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/>
                        <a:t>서류요청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서류등록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서류반려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체결의뢰</a:t>
                      </a:r>
                      <a:r>
                        <a:rPr lang="ko-KR" altLang="en-US" sz="700" dirty="0" smtClean="0"/>
                        <a:t> 등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8667507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첨언 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700" dirty="0" err="1" smtClean="0">
                          <a:latin typeface="+mn-ea"/>
                          <a:ea typeface="+mn-ea"/>
                        </a:rPr>
                        <a:t>addCn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ctr" latinLnBrk="1"/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700" baseline="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+mn-ea"/>
                          <a:ea typeface="+mn-ea"/>
                        </a:rPr>
                        <a:t>값이 있는 경우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첨언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5251234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700" dirty="0" err="1" smtClean="0">
                          <a:latin typeface="+mn-ea"/>
                          <a:ea typeface="+mn-ea"/>
                        </a:rPr>
                        <a:t>docId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ctr" latinLnBrk="1"/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700" baseline="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+mn-ea"/>
                          <a:ea typeface="+mn-ea"/>
                        </a:rPr>
                        <a:t>값이 있는 경우</a:t>
                      </a:r>
                      <a:endParaRPr lang="ko-KR" altLang="en-US" sz="700" dirty="0" smtClean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첨부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00407882"/>
                  </a:ext>
                </a:extLst>
              </a:tr>
            </a:tbl>
          </a:graphicData>
        </a:graphic>
      </p:graphicFrame>
      <p:graphicFrame>
        <p:nvGraphicFramePr>
          <p:cNvPr id="197" name="표 196">
            <a:extLst>
              <a:ext uri="{FF2B5EF4-FFF2-40B4-BE49-F238E27FC236}">
                <a16:creationId xmlns:a16="http://schemas.microsoft.com/office/drawing/2014/main" id="{B522DA37-28F9-9CCB-AF10-E2C7941DD5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7134719"/>
              </p:ext>
            </p:extLst>
          </p:nvPr>
        </p:nvGraphicFramePr>
        <p:xfrm>
          <a:off x="10179512" y="3920563"/>
          <a:ext cx="2995706" cy="27687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14674">
                  <a:extLst>
                    <a:ext uri="{9D8B030D-6E8A-4147-A177-3AD203B41FA5}">
                      <a16:colId xmlns:a16="http://schemas.microsoft.com/office/drawing/2014/main" val="4063926960"/>
                    </a:ext>
                  </a:extLst>
                </a:gridCol>
                <a:gridCol w="966358">
                  <a:extLst>
                    <a:ext uri="{9D8B030D-6E8A-4147-A177-3AD203B41FA5}">
                      <a16:colId xmlns:a16="http://schemas.microsoft.com/office/drawing/2014/main" val="2948377824"/>
                    </a:ext>
                  </a:extLst>
                </a:gridCol>
                <a:gridCol w="1014674">
                  <a:extLst>
                    <a:ext uri="{9D8B030D-6E8A-4147-A177-3AD203B41FA5}">
                      <a16:colId xmlns:a16="http://schemas.microsoft.com/office/drawing/2014/main" val="3761576444"/>
                    </a:ext>
                  </a:extLst>
                </a:gridCol>
              </a:tblGrid>
              <a:tr h="2206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계약방법</a:t>
                      </a:r>
                      <a:r>
                        <a:rPr lang="en-US" altLang="ko-KR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(CTMC)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입찰방법</a:t>
                      </a:r>
                      <a:r>
                        <a:rPr lang="en-US" altLang="ko-KR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(BDTC)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낙찰방법</a:t>
                      </a:r>
                      <a:r>
                        <a:rPr lang="en-US" altLang="ko-KR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(CCMT)</a:t>
                      </a:r>
                      <a:endParaRPr lang="ko-KR" altLang="en-US" sz="10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876900"/>
                  </a:ext>
                </a:extLst>
              </a:tr>
              <a:tr h="154786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일반경쟁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총액제</a:t>
                      </a: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제한적최저가격제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23699"/>
                  </a:ext>
                </a:extLst>
              </a:tr>
              <a:tr h="212833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지명경쟁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단가제</a:t>
                      </a: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적격심사제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1304345"/>
                  </a:ext>
                </a:extLst>
              </a:tr>
              <a:tr h="212833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제한경쟁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리스입찰</a:t>
                      </a: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협상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7243502"/>
                  </a:ext>
                </a:extLst>
              </a:tr>
              <a:tr h="212833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수의계약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단가제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최저가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최저가격제</a:t>
                      </a: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9888237"/>
                  </a:ext>
                </a:extLst>
              </a:tr>
              <a:tr h="272344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8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역경매</a:t>
                      </a: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내역입찰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최저가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2588190"/>
                  </a:ext>
                </a:extLst>
              </a:tr>
              <a:tr h="272344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복수경쟁</a:t>
                      </a: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내역입찰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적격심사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550853"/>
                  </a:ext>
                </a:extLst>
              </a:tr>
              <a:tr h="239581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2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단계경쟁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동시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내역입찰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종합심사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613884"/>
                  </a:ext>
                </a:extLst>
              </a:tr>
              <a:tr h="272480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2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단계경쟁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분리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내역입찰</a:t>
                      </a: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설계시공일괄입찰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2759089"/>
                  </a:ext>
                </a:extLst>
              </a:tr>
              <a:tr h="212833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8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협상에의한계약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서류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1829222"/>
                  </a:ext>
                </a:extLst>
              </a:tr>
              <a:tr h="272344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8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협상에의한계약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전자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8270891"/>
                  </a:ext>
                </a:extLst>
              </a:tr>
              <a:tr h="212833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종합낙찰제</a:t>
                      </a: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93422"/>
                  </a:ext>
                </a:extLst>
              </a:tr>
            </a:tbl>
          </a:graphicData>
        </a:graphic>
      </p:graphicFrame>
      <p:graphicFrame>
        <p:nvGraphicFramePr>
          <p:cNvPr id="199" name="표 198">
            <a:extLst>
              <a:ext uri="{FF2B5EF4-FFF2-40B4-BE49-F238E27FC236}">
                <a16:creationId xmlns:a16="http://schemas.microsoft.com/office/drawing/2014/main" id="{7CCF8D95-8489-327A-F2B5-78561D8A93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0765973"/>
              </p:ext>
            </p:extLst>
          </p:nvPr>
        </p:nvGraphicFramePr>
        <p:xfrm>
          <a:off x="13190302" y="3920563"/>
          <a:ext cx="2995705" cy="276872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80203">
                  <a:extLst>
                    <a:ext uri="{9D8B030D-6E8A-4147-A177-3AD203B41FA5}">
                      <a16:colId xmlns:a16="http://schemas.microsoft.com/office/drawing/2014/main" val="4063926960"/>
                    </a:ext>
                  </a:extLst>
                </a:gridCol>
                <a:gridCol w="880203">
                  <a:extLst>
                    <a:ext uri="{9D8B030D-6E8A-4147-A177-3AD203B41FA5}">
                      <a16:colId xmlns:a16="http://schemas.microsoft.com/office/drawing/2014/main" val="2948377824"/>
                    </a:ext>
                  </a:extLst>
                </a:gridCol>
                <a:gridCol w="1235299">
                  <a:extLst>
                    <a:ext uri="{9D8B030D-6E8A-4147-A177-3AD203B41FA5}">
                      <a16:colId xmlns:a16="http://schemas.microsoft.com/office/drawing/2014/main" val="3761576444"/>
                    </a:ext>
                  </a:extLst>
                </a:gridCol>
              </a:tblGrid>
              <a:tr h="2229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계약방법</a:t>
                      </a:r>
                      <a:r>
                        <a:rPr lang="en-US" altLang="ko-KR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(CTMC)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입찰방법</a:t>
                      </a:r>
                      <a:r>
                        <a:rPr lang="en-US" altLang="ko-KR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(BDTC)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낙찰방법</a:t>
                      </a:r>
                      <a:r>
                        <a:rPr lang="en-US" altLang="ko-KR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(CCMT)</a:t>
                      </a:r>
                      <a:endParaRPr lang="ko-KR" altLang="en-US" sz="10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876900"/>
                  </a:ext>
                </a:extLst>
              </a:tr>
              <a:tr h="1578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일반경쟁</a:t>
                      </a:r>
                      <a:endParaRPr lang="en-US" altLang="ko-KR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총액제</a:t>
                      </a:r>
                      <a:endParaRPr lang="en-US" altLang="ko-KR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제한적최저가격제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23699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지명경쟁</a:t>
                      </a:r>
                      <a:endParaRPr lang="en-US" altLang="ko-KR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단가제</a:t>
                      </a:r>
                      <a:endParaRPr lang="en-US" altLang="ko-KR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적격심사제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1304345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제한경쟁</a:t>
                      </a:r>
                      <a:endParaRPr lang="en-US" altLang="ko-KR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리스입찰</a:t>
                      </a:r>
                      <a:endParaRPr lang="en-US" altLang="ko-KR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2</a:t>
                      </a: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단계경쟁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동시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7243502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수의계약</a:t>
                      </a:r>
                      <a:endParaRPr lang="en-US" altLang="ko-KR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2</a:t>
                      </a: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단계경쟁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분리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9888237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+</a:t>
                      </a: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산출내역서적용여부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역경매</a:t>
                      </a:r>
                      <a:endParaRPr lang="en-US" altLang="ko-KR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2588190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협상에의한계약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서류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550853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협상에의한계약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전자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613884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종합낙찰제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2759089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종합심사제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1829222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설계시공일괄입찰</a:t>
                      </a:r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8270891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공개수의협상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가칭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93422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비공개수의협상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가칭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7014058"/>
                  </a:ext>
                </a:extLst>
              </a:tr>
            </a:tbl>
          </a:graphicData>
        </a:graphic>
      </p:graphicFrame>
      <p:sp>
        <p:nvSpPr>
          <p:cNvPr id="202" name="타원 2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42020" y="45245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4-2</a:t>
            </a:r>
            <a:endParaRPr lang="ko-KR" altLang="en-US" sz="600" b="1" dirty="0"/>
          </a:p>
        </p:txBody>
      </p:sp>
      <p:sp>
        <p:nvSpPr>
          <p:cNvPr id="9" name="TextBox 8"/>
          <p:cNvSpPr txBox="1"/>
          <p:nvPr/>
        </p:nvSpPr>
        <p:spPr>
          <a:xfrm>
            <a:off x="11270650" y="3601752"/>
            <a:ext cx="74411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/>
              <a:t>AS-IS</a:t>
            </a:r>
            <a:endParaRPr lang="ko-KR" altLang="en-US" dirty="0"/>
          </a:p>
        </p:txBody>
      </p:sp>
      <p:sp>
        <p:nvSpPr>
          <p:cNvPr id="210" name="TextBox 209"/>
          <p:cNvSpPr txBox="1"/>
          <p:nvPr/>
        </p:nvSpPr>
        <p:spPr>
          <a:xfrm>
            <a:off x="14182526" y="3601752"/>
            <a:ext cx="82272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/>
              <a:t>TO-BE</a:t>
            </a:r>
            <a:endParaRPr lang="ko-KR" altLang="en-US" dirty="0"/>
          </a:p>
        </p:txBody>
      </p:sp>
      <p:grpSp>
        <p:nvGrpSpPr>
          <p:cNvPr id="211" name="그룹 21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212" name="직사각형 21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2026-08-03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213" name="직사각형 21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레이블</a:t>
              </a:r>
              <a:r>
                <a:rPr lang="en-US" altLang="ko-KR" sz="700" dirty="0" smtClean="0"/>
                <a:t>(</a:t>
              </a:r>
              <a:r>
                <a:rPr lang="ko-KR" altLang="en-US" sz="700" dirty="0" err="1" smtClean="0"/>
                <a:t>뱃지</a:t>
              </a:r>
              <a:r>
                <a:rPr lang="en-US" altLang="ko-KR" sz="700" dirty="0" smtClean="0"/>
                <a:t>)</a:t>
              </a:r>
              <a:r>
                <a:rPr lang="ko-KR" altLang="en-US" sz="700" dirty="0" smtClean="0"/>
                <a:t> 설명 추가</a:t>
              </a:r>
              <a:r>
                <a:rPr lang="en-US" altLang="ko-KR" sz="700" dirty="0" smtClean="0"/>
                <a:t>,</a:t>
              </a:r>
              <a:r>
                <a:rPr lang="ko-KR" altLang="en-US" sz="700" dirty="0" smtClean="0"/>
                <a:t> 변경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카드 목록 </a:t>
              </a:r>
              <a:r>
                <a:rPr lang="en-US" altLang="ko-KR" sz="700" dirty="0" smtClean="0"/>
                <a:t>-</a:t>
              </a:r>
              <a:r>
                <a:rPr lang="ko-KR" altLang="en-US" sz="700" dirty="0" smtClean="0"/>
                <a:t> </a:t>
              </a:r>
              <a:r>
                <a:rPr lang="ko-KR" altLang="en-US" sz="700" dirty="0" err="1" smtClean="0"/>
                <a:t>수정계약</a:t>
              </a:r>
              <a:r>
                <a:rPr lang="ko-KR" altLang="en-US" sz="700" dirty="0" smtClean="0"/>
                <a:t> 사유 추가</a:t>
              </a:r>
              <a:endParaRPr lang="ko-KR" altLang="en-US" sz="700" dirty="0"/>
            </a:p>
          </p:txBody>
        </p:sp>
      </p:grpSp>
      <p:sp>
        <p:nvSpPr>
          <p:cNvPr id="15" name="직사각형 14"/>
          <p:cNvSpPr/>
          <p:nvPr/>
        </p:nvSpPr>
        <p:spPr>
          <a:xfrm>
            <a:off x="9999345" y="3148635"/>
            <a:ext cx="212269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dirty="0"/>
              <a:t>계약방법</a:t>
            </a:r>
            <a:r>
              <a:rPr lang="en-US" altLang="ko-KR" dirty="0"/>
              <a:t>/</a:t>
            </a:r>
            <a:r>
              <a:rPr lang="ko-KR" altLang="en-US" dirty="0" err="1"/>
              <a:t>낙찰방법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847443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검색필터</a:t>
            </a:r>
            <a:r>
              <a:rPr lang="ko-KR" altLang="en-US" sz="700" dirty="0" smtClean="0"/>
              <a:t> 페이지 타이틀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1-1] </a:t>
            </a:r>
            <a:r>
              <a:rPr lang="ko-KR" altLang="en-US" sz="700" dirty="0" smtClean="0"/>
              <a:t>초기화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1-2] </a:t>
            </a:r>
            <a:r>
              <a:rPr lang="ko-KR" altLang="en-US" sz="700" dirty="0" smtClean="0"/>
              <a:t>창 닫기 버튼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ko-KR" altLang="en-US" sz="700" dirty="0" smtClean="0"/>
              <a:t>각 </a:t>
            </a:r>
            <a:r>
              <a:rPr lang="ko-KR" altLang="en-US" sz="700" dirty="0" err="1"/>
              <a:t>섹션명</a:t>
            </a:r>
            <a:r>
              <a:rPr lang="ko-KR" altLang="en-US" sz="700" dirty="0"/>
              <a:t> 클릭 시 아코디언 </a:t>
            </a:r>
            <a:r>
              <a:rPr lang="ko-KR" altLang="en-US" sz="700" dirty="0" smtClean="0"/>
              <a:t>동작</a:t>
            </a:r>
            <a:endParaRPr lang="en-US" altLang="ko-KR" sz="7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업무 구분</a:t>
            </a:r>
            <a:r>
              <a:rPr lang="en-US" altLang="ko-KR" sz="700" dirty="0" smtClean="0"/>
              <a:t>(</a:t>
            </a:r>
            <a:r>
              <a:rPr lang="ko-KR" altLang="en-US" sz="700" dirty="0" err="1" smtClean="0"/>
              <a:t>필수값</a:t>
            </a:r>
            <a:r>
              <a:rPr lang="en-US" altLang="ko-KR" sz="700" dirty="0" smtClean="0"/>
              <a:t>)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항목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ko-KR" altLang="en-US" sz="700" dirty="0" smtClean="0"/>
              <a:t>전체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물품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용역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공사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국외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default) </a:t>
            </a:r>
            <a:r>
              <a:rPr lang="ko-KR" altLang="en-US" sz="700" dirty="0" smtClean="0"/>
              <a:t>전체</a:t>
            </a:r>
            <a:endParaRPr lang="en-US" altLang="ko-KR" sz="7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검색 설정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서류요청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수신일자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/ </a:t>
            </a:r>
            <a:r>
              <a:rPr lang="ko-KR" altLang="en-US" sz="700" dirty="0" err="1" smtClean="0"/>
              <a:t>계약일자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- default) </a:t>
            </a:r>
            <a:r>
              <a:rPr lang="ko-KR" altLang="en-US" sz="700" dirty="0" smtClean="0"/>
              <a:t>당일 포함 과거 </a:t>
            </a:r>
            <a:r>
              <a:rPr lang="en-US" altLang="ko-KR" sz="700" dirty="0" smtClean="0"/>
              <a:t>1</a:t>
            </a:r>
            <a:r>
              <a:rPr lang="ko-KR" altLang="en-US" sz="700" dirty="0" smtClean="0"/>
              <a:t>개월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>
                <a:sym typeface="Wingdings" panose="05000000000000000000" pitchFamily="2" charset="2"/>
              </a:rPr>
              <a:t>선택 날짜 즉시 </a:t>
            </a:r>
            <a:r>
              <a:rPr lang="ko-KR" altLang="en-US" sz="700" dirty="0" smtClean="0">
                <a:sym typeface="Wingdings" panose="05000000000000000000" pitchFamily="2" charset="2"/>
              </a:rPr>
              <a:t>업데이트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3-1)</a:t>
            </a:r>
            <a:r>
              <a:rPr lang="ko-KR" altLang="en-US" sz="700" dirty="0" smtClean="0"/>
              <a:t>직접 입력 가능 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/>
              <a:t>좌</a:t>
            </a:r>
            <a:r>
              <a:rPr lang="en-US" altLang="ko-KR" sz="700" dirty="0" smtClean="0"/>
              <a:t>)</a:t>
            </a:r>
            <a:r>
              <a:rPr lang="ko-KR" altLang="en-US" sz="700" dirty="0" smtClean="0"/>
              <a:t>과거 우</a:t>
            </a:r>
            <a:r>
              <a:rPr lang="en-US" altLang="ko-KR" sz="700" dirty="0" smtClean="0"/>
              <a:t>)</a:t>
            </a:r>
            <a:r>
              <a:rPr lang="ko-KR" altLang="en-US" sz="700" dirty="0" err="1" smtClean="0"/>
              <a:t>현재로한다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우</a:t>
            </a:r>
            <a:r>
              <a:rPr lang="en-US" altLang="ko-KR" sz="700" dirty="0" smtClean="0"/>
              <a:t>)</a:t>
            </a:r>
            <a:r>
              <a:rPr lang="ko-KR" altLang="en-US" sz="700" dirty="0" smtClean="0"/>
              <a:t> 값은 미래를 선택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입력 할 </a:t>
            </a:r>
            <a:r>
              <a:rPr lang="ko-KR" altLang="en-US" sz="700" dirty="0" err="1" smtClean="0"/>
              <a:t>수없다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우</a:t>
            </a:r>
            <a:r>
              <a:rPr lang="en-US" altLang="ko-KR" sz="700" dirty="0" smtClean="0"/>
              <a:t>) </a:t>
            </a:r>
            <a:r>
              <a:rPr lang="ko-KR" altLang="en-US" sz="700" dirty="0" smtClean="0"/>
              <a:t>값이 미래를 입력한 경우 오늘로 자동 변경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당일 기준 최대 </a:t>
            </a:r>
            <a:r>
              <a:rPr lang="en-US" altLang="ko-KR" sz="700" dirty="0"/>
              <a:t>1</a:t>
            </a:r>
            <a:r>
              <a:rPr lang="ko-KR" altLang="en-US" sz="700" dirty="0" smtClean="0"/>
              <a:t>년</a:t>
            </a:r>
            <a:r>
              <a:rPr lang="en-US" altLang="ko-KR" sz="700" dirty="0" smtClean="0"/>
              <a:t>(365</a:t>
            </a:r>
            <a:r>
              <a:rPr lang="ko-KR" altLang="en-US" sz="700" dirty="0" smtClean="0"/>
              <a:t>일</a:t>
            </a:r>
            <a:r>
              <a:rPr lang="en-US" altLang="ko-KR" sz="700" dirty="0" smtClean="0"/>
              <a:t>)</a:t>
            </a:r>
            <a:r>
              <a:rPr lang="ko-KR" altLang="en-US" sz="700" dirty="0" smtClean="0"/>
              <a:t>까지 조회 가능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3-2) </a:t>
            </a:r>
            <a:r>
              <a:rPr lang="ko-KR" altLang="en-US" sz="700" dirty="0" smtClean="0"/>
              <a:t>아이콘 </a:t>
            </a:r>
            <a:r>
              <a:rPr lang="en-US" altLang="ko-KR" sz="700" dirty="0" smtClean="0">
                <a:sym typeface="Wingdings" panose="05000000000000000000" pitchFamily="2" charset="2"/>
              </a:rPr>
              <a:t> </a:t>
            </a:r>
            <a:r>
              <a:rPr lang="ko-KR" altLang="en-US" sz="700" dirty="0" smtClean="0">
                <a:sym typeface="Wingdings" panose="05000000000000000000" pitchFamily="2" charset="2"/>
              </a:rPr>
              <a:t>데이트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피커</a:t>
            </a:r>
            <a:r>
              <a:rPr lang="ko-KR" altLang="en-US" sz="700" dirty="0" smtClean="0">
                <a:sym typeface="Wingdings" panose="05000000000000000000" pitchFamily="2" charset="2"/>
              </a:rPr>
              <a:t> 호출</a:t>
            </a:r>
            <a:r>
              <a:rPr lang="en-US" altLang="ko-KR" sz="700" dirty="0" smtClean="0">
                <a:sym typeface="Wingdings" panose="05000000000000000000" pitchFamily="2" charset="2"/>
              </a:rPr>
              <a:t>(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미래불가</a:t>
            </a:r>
            <a:r>
              <a:rPr lang="en-US" altLang="ko-KR" sz="700" dirty="0" smtClean="0">
                <a:sym typeface="Wingdings" panose="05000000000000000000" pitchFamily="2" charset="2"/>
              </a:rPr>
              <a:t>)</a:t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3-3) </a:t>
            </a:r>
            <a:r>
              <a:rPr lang="ko-KR" altLang="en-US" sz="700" dirty="0" smtClean="0">
                <a:sym typeface="Wingdings" panose="05000000000000000000" pitchFamily="2" charset="2"/>
              </a:rPr>
              <a:t>최근</a:t>
            </a:r>
            <a:r>
              <a:rPr lang="en-US" altLang="ko-KR" sz="700" dirty="0" smtClean="0">
                <a:sym typeface="Wingdings" panose="05000000000000000000" pitchFamily="2" charset="2"/>
              </a:rPr>
              <a:t>1,3,6</a:t>
            </a:r>
            <a:r>
              <a:rPr lang="ko-KR" altLang="en-US" sz="700" dirty="0" smtClean="0">
                <a:sym typeface="Wingdings" panose="05000000000000000000" pitchFamily="2" charset="2"/>
              </a:rPr>
              <a:t>개월 버튼으로 당일 포함하여 </a:t>
            </a:r>
            <a:r>
              <a:rPr lang="en-US" altLang="ko-KR" sz="700" dirty="0" smtClean="0">
                <a:sym typeface="Wingdings" panose="05000000000000000000" pitchFamily="2" charset="2"/>
              </a:rPr>
              <a:t>30</a:t>
            </a:r>
            <a:r>
              <a:rPr lang="ko-KR" altLang="en-US" sz="700" dirty="0" smtClean="0">
                <a:sym typeface="Wingdings" panose="05000000000000000000" pitchFamily="2" charset="2"/>
              </a:rPr>
              <a:t>일</a:t>
            </a:r>
            <a:r>
              <a:rPr lang="en-US" altLang="ko-KR" sz="700" dirty="0" smtClean="0">
                <a:sym typeface="Wingdings" panose="05000000000000000000" pitchFamily="2" charset="2"/>
              </a:rPr>
              <a:t>, 90</a:t>
            </a:r>
            <a:r>
              <a:rPr lang="ko-KR" altLang="en-US" sz="700" dirty="0" smtClean="0">
                <a:sym typeface="Wingdings" panose="05000000000000000000" pitchFamily="2" charset="2"/>
              </a:rPr>
              <a:t>일</a:t>
            </a:r>
            <a:r>
              <a:rPr lang="en-US" altLang="ko-KR" sz="700" dirty="0" smtClean="0">
                <a:sym typeface="Wingdings" panose="05000000000000000000" pitchFamily="2" charset="2"/>
              </a:rPr>
              <a:t>,180</a:t>
            </a:r>
            <a:r>
              <a:rPr lang="ko-KR" altLang="en-US" sz="700" dirty="0" smtClean="0">
                <a:sym typeface="Wingdings" panose="05000000000000000000" pitchFamily="2" charset="2"/>
              </a:rPr>
              <a:t>일 이전 값을 표시</a:t>
            </a:r>
            <a:r>
              <a:rPr lang="en-US" altLang="ko-KR" sz="700" dirty="0" smtClean="0">
                <a:sym typeface="Wingdings" panose="05000000000000000000" pitchFamily="2" charset="2"/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>
                <a:sym typeface="Wingdings" panose="05000000000000000000" pitchFamily="2" charset="2"/>
              </a:rPr>
              <a:t>검색어</a:t>
            </a:r>
            <a:r>
              <a:rPr lang="ko-KR" altLang="en-US" sz="700" dirty="0" smtClean="0">
                <a:sym typeface="Wingdings" panose="05000000000000000000" pitchFamily="2" charset="2"/>
              </a:rPr>
              <a:t> 영역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smtClean="0">
                <a:sym typeface="Wingdings" panose="05000000000000000000" pitchFamily="2" charset="2"/>
              </a:rPr>
              <a:t>사용자가 입력하고자 하는 내역만 입력 후 검색 가능</a:t>
            </a:r>
            <a:r>
              <a:rPr lang="en-US" altLang="ko-KR" sz="700" dirty="0">
                <a:sym typeface="Wingdings" panose="05000000000000000000" pitchFamily="2" charset="2"/>
              </a:rPr>
              <a:t/>
            </a:r>
            <a:br>
              <a:rPr lang="en-US" altLang="ko-KR" sz="700" dirty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strike="sngStrike" dirty="0" err="1" smtClean="0">
                <a:sym typeface="Wingdings" panose="05000000000000000000" pitchFamily="2" charset="2"/>
              </a:rPr>
              <a:t>계약건명</a:t>
            </a:r>
            <a:r>
              <a:rPr lang="en-US" altLang="ko-KR" sz="700" strike="sngStrike" dirty="0" smtClean="0">
                <a:sym typeface="Wingdings" panose="05000000000000000000" pitchFamily="2" charset="2"/>
              </a:rPr>
              <a:t>, </a:t>
            </a:r>
            <a:r>
              <a:rPr lang="ko-KR" altLang="en-US" sz="700" strike="sngStrike" dirty="0" err="1" smtClean="0">
                <a:sym typeface="Wingdings" panose="05000000000000000000" pitchFamily="2" charset="2"/>
              </a:rPr>
              <a:t>판단번호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계약번호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dirty="0" smtClean="0">
                <a:sym typeface="Wingdings" panose="05000000000000000000" pitchFamily="2" charset="2"/>
              </a:rPr>
              <a:t>발주기관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strike="sngStrike" dirty="0" smtClean="0">
                <a:sym typeface="Wingdings" panose="05000000000000000000" pitchFamily="2" charset="2"/>
              </a:rPr>
              <a:t>담당자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strike="sngStrike" dirty="0" err="1" smtClean="0">
                <a:sym typeface="Wingdings" panose="05000000000000000000" pitchFamily="2" charset="2"/>
              </a:rPr>
              <a:t>글자검색</a:t>
            </a:r>
            <a:r>
              <a:rPr lang="en-US" altLang="ko-KR" sz="700" strike="sngStrike" dirty="0" smtClean="0">
                <a:sym typeface="Wingdings" panose="05000000000000000000" pitchFamily="2" charset="2"/>
              </a:rPr>
              <a:t>: </a:t>
            </a:r>
            <a:r>
              <a:rPr lang="ko-KR" altLang="en-US" sz="700" strike="sngStrike" dirty="0" err="1" smtClean="0">
                <a:sym typeface="Wingdings" panose="05000000000000000000" pitchFamily="2" charset="2"/>
              </a:rPr>
              <a:t>계약건명</a:t>
            </a:r>
            <a:r>
              <a:rPr lang="en-US" altLang="ko-KR" sz="700" strike="sngStrike" dirty="0" smtClean="0">
                <a:sym typeface="Wingdings" panose="05000000000000000000" pitchFamily="2" charset="2"/>
              </a:rPr>
              <a:t>, </a:t>
            </a:r>
            <a:r>
              <a:rPr lang="ko-KR" altLang="en-US" sz="700" strike="sngStrike" dirty="0" smtClean="0">
                <a:sym typeface="Wingdings" panose="05000000000000000000" pitchFamily="2" charset="2"/>
              </a:rPr>
              <a:t>담당자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숫자검색</a:t>
            </a:r>
            <a:r>
              <a:rPr lang="en-US" altLang="ko-KR" sz="700" dirty="0" smtClean="0">
                <a:sym typeface="Wingdings" panose="05000000000000000000" pitchFamily="2" charset="2"/>
              </a:rPr>
              <a:t>: </a:t>
            </a:r>
            <a:r>
              <a:rPr lang="ko-KR" altLang="en-US" sz="700" dirty="0" smtClean="0">
                <a:sym typeface="Wingdings" panose="05000000000000000000" pitchFamily="2" charset="2"/>
              </a:rPr>
              <a:t> </a:t>
            </a:r>
            <a:r>
              <a:rPr lang="ko-KR" altLang="en-US" sz="700" strike="sngStrike" dirty="0" err="1" smtClean="0">
                <a:sym typeface="Wingdings" panose="05000000000000000000" pitchFamily="2" charset="2"/>
              </a:rPr>
              <a:t>판단번호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dirty="0" smtClean="0">
                <a:sym typeface="Wingdings" panose="05000000000000000000" pitchFamily="2" charset="2"/>
              </a:rPr>
              <a:t>계약 번호 </a:t>
            </a:r>
            <a:r>
              <a:rPr lang="en-US" altLang="ko-KR" sz="700" dirty="0">
                <a:sym typeface="Wingdings" panose="05000000000000000000" pitchFamily="2" charset="2"/>
              </a:rPr>
              <a:t>(MUI-EX-02-P79)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smtClean="0">
                <a:sym typeface="Wingdings" panose="05000000000000000000" pitchFamily="2" charset="2"/>
              </a:rPr>
              <a:t>발주기관</a:t>
            </a:r>
            <a:r>
              <a:rPr lang="en-US" altLang="ko-KR" sz="700" dirty="0" smtClean="0">
                <a:sym typeface="Wingdings" panose="05000000000000000000" pitchFamily="2" charset="2"/>
              </a:rPr>
              <a:t>: </a:t>
            </a:r>
            <a:r>
              <a:rPr lang="ko-KR" altLang="en-US" sz="700" dirty="0" smtClean="0">
                <a:sym typeface="Wingdings" panose="05000000000000000000" pitchFamily="2" charset="2"/>
              </a:rPr>
              <a:t>입찰 발주부서기관 검색</a:t>
            </a:r>
            <a:r>
              <a:rPr lang="en-US" altLang="ko-KR" sz="700" dirty="0" smtClean="0">
                <a:sym typeface="Wingdings" panose="05000000000000000000" pitchFamily="2" charset="2"/>
              </a:rPr>
              <a:t>(MUI-BD-01-P04)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>
                <a:sym typeface="Wingdings" panose="05000000000000000000" pitchFamily="2" charset="2"/>
              </a:rPr>
              <a:t>구분 설정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smtClean="0">
                <a:sym typeface="Wingdings" panose="05000000000000000000" pitchFamily="2" charset="2"/>
              </a:rPr>
              <a:t>드롭 다운으로 각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구분값</a:t>
            </a:r>
            <a:r>
              <a:rPr lang="ko-KR" altLang="en-US" sz="700" dirty="0" smtClean="0">
                <a:sym typeface="Wingdings" panose="05000000000000000000" pitchFamily="2" charset="2"/>
              </a:rPr>
              <a:t> 설정</a:t>
            </a:r>
            <a:r>
              <a:rPr lang="en-US" altLang="ko-KR" sz="700" dirty="0">
                <a:sym typeface="Wingdings" panose="05000000000000000000" pitchFamily="2" charset="2"/>
              </a:rPr>
              <a:t/>
            </a:r>
            <a:br>
              <a:rPr lang="en-US" altLang="ko-KR" sz="700" dirty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>
                <a:solidFill>
                  <a:prstClr val="black"/>
                </a:solidFill>
              </a:rPr>
              <a:t>항목 설명 </a:t>
            </a:r>
            <a:r>
              <a:rPr lang="ko-KR" altLang="en-US" sz="700" dirty="0" smtClean="0">
                <a:solidFill>
                  <a:prstClr val="black"/>
                </a:solidFill>
              </a:rPr>
              <a:t>페이지 참고</a:t>
            </a:r>
            <a:endParaRPr lang="en-US" altLang="ko-KR" sz="700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>
                <a:sym typeface="Wingdings" panose="05000000000000000000" pitchFamily="2" charset="2"/>
              </a:rPr>
              <a:t>검색 버튼 영역은 화면 하단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플로팅</a:t>
            </a:r>
            <a:r>
              <a:rPr lang="ko-KR" altLang="en-US" sz="700" dirty="0" smtClean="0">
                <a:sym typeface="Wingdings" panose="05000000000000000000" pitchFamily="2" charset="2"/>
              </a:rPr>
              <a:t> 처리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endParaRPr lang="en-US" altLang="ko-KR" sz="700" dirty="0" smtClean="0">
              <a:sym typeface="Wingdings" panose="05000000000000000000" pitchFamily="2" charset="2"/>
            </a:endParaRPr>
          </a:p>
          <a:p>
            <a:pPr marL="0" indent="0">
              <a:buNone/>
            </a:pPr>
            <a:endParaRPr lang="en-US" altLang="ko-KR" sz="700" dirty="0"/>
          </a:p>
          <a:p>
            <a:pPr marL="228600" indent="-228600">
              <a:buFont typeface="+mj-lt"/>
              <a:buAutoNum type="arabicPeriod"/>
            </a:pPr>
            <a:endParaRPr lang="en-US" altLang="ko-KR" sz="700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검색필터</a:t>
            </a:r>
            <a:r>
              <a:rPr lang="en-US" altLang="ko-KR" dirty="0">
                <a:latin typeface="+mn-ea"/>
              </a:rPr>
              <a:t>-</a:t>
            </a:r>
            <a:r>
              <a:rPr lang="ko-KR" altLang="en-US" dirty="0" err="1">
                <a:latin typeface="+mn-ea"/>
              </a:rPr>
              <a:t>계약통합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상세 검색을 위한 검색 필터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계약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검색 필터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MUI-CT-01-P02</a:t>
            </a:r>
            <a:endParaRPr lang="ko-KR" altLang="en-US" sz="1000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9708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350745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9078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8" name="그룹 117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119" name="직선 연결선 11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7" name="타원 126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8224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473730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검색 설정 </a:t>
            </a:r>
            <a:r>
              <a:rPr lang="en-US" altLang="ko-KR" sz="700" b="1" dirty="0" smtClean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696268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서류요청</a:t>
            </a:r>
            <a:r>
              <a:rPr lang="ko-KR" altLang="en-US" sz="700" dirty="0" smtClean="0">
                <a:latin typeface="+mn-ea"/>
              </a:rPr>
              <a:t> 수신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59" name="그룹 158"/>
          <p:cNvGrpSpPr/>
          <p:nvPr/>
        </p:nvGrpSpPr>
        <p:grpSpPr>
          <a:xfrm flipV="1">
            <a:off x="3140949" y="3571420"/>
            <a:ext cx="91438" cy="45719"/>
            <a:chOff x="6812560" y="3297172"/>
            <a:chExt cx="94010" cy="47005"/>
          </a:xfrm>
        </p:grpSpPr>
        <p:cxnSp>
          <p:nvCxnSpPr>
            <p:cNvPr id="160" name="직선 연결선 1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1" name="직선 연결선 1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3723899"/>
            <a:ext cx="859319" cy="188244"/>
            <a:chOff x="5613534" y="2854836"/>
            <a:chExt cx="804671" cy="188244"/>
          </a:xfrm>
        </p:grpSpPr>
        <p:sp>
          <p:nvSpPr>
            <p:cNvPr id="181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2025-10-15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82" name="그림 181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78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3743846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1464781" y="3954568"/>
            <a:ext cx="1845146" cy="188135"/>
            <a:chOff x="1430277" y="4057651"/>
            <a:chExt cx="1845146" cy="188135"/>
          </a:xfrm>
        </p:grpSpPr>
        <p:sp>
          <p:nvSpPr>
            <p:cNvPr id="189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91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3723899"/>
            <a:ext cx="859319" cy="188244"/>
            <a:chOff x="5613534" y="2854836"/>
            <a:chExt cx="804671" cy="188244"/>
          </a:xfrm>
        </p:grpSpPr>
        <p:sp>
          <p:nvSpPr>
            <p:cNvPr id="196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2026-01-16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97" name="그림 196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80005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1" name="그룹 220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2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" name="그룹 6"/>
          <p:cNvGrpSpPr/>
          <p:nvPr/>
        </p:nvGrpSpPr>
        <p:grpSpPr>
          <a:xfrm>
            <a:off x="3795734" y="3417355"/>
            <a:ext cx="2712027" cy="728026"/>
            <a:chOff x="3795734" y="1919434"/>
            <a:chExt cx="2712027" cy="728026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1956832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smtClean="0">
                  <a:latin typeface="+mn-ea"/>
                </a:rPr>
                <a:t>구분 설정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226" name="그룹 225"/>
            <p:cNvGrpSpPr/>
            <p:nvPr/>
          </p:nvGrpSpPr>
          <p:grpSpPr>
            <a:xfrm flipV="1">
              <a:off x="6261284" y="2054522"/>
              <a:ext cx="91438" cy="45719"/>
              <a:chOff x="6812560" y="3297172"/>
              <a:chExt cx="94010" cy="47005"/>
            </a:xfrm>
          </p:grpSpPr>
          <p:cxnSp>
            <p:nvCxnSpPr>
              <p:cNvPr id="227" name="직선 연결선 22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8" name="직선 연결선 22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9" name="모서리가 둥근 직사각형 228"/>
            <p:cNvSpPr/>
            <p:nvPr/>
          </p:nvSpPr>
          <p:spPr>
            <a:xfrm>
              <a:off x="4569619" y="2237323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2185197"/>
              <a:ext cx="670770" cy="4524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10000"/>
                </a:lnSpc>
              </a:pPr>
              <a:r>
                <a:rPr lang="ko-KR" altLang="en-US" sz="700" dirty="0" smtClean="0">
                  <a:latin typeface="+mn-ea"/>
                </a:rPr>
                <a:t>진행상태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31" name="모서리가 둥근 직사각형 230"/>
            <p:cNvSpPr/>
            <p:nvPr/>
          </p:nvSpPr>
          <p:spPr>
            <a:xfrm>
              <a:off x="4569619" y="2460260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grpSp>
          <p:nvGrpSpPr>
            <p:cNvPr id="244" name="그룹 243"/>
            <p:cNvGrpSpPr/>
            <p:nvPr/>
          </p:nvGrpSpPr>
          <p:grpSpPr>
            <a:xfrm>
              <a:off x="6261284" y="2538745"/>
              <a:ext cx="91438" cy="45719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47" name="그룹 246"/>
            <p:cNvGrpSpPr/>
            <p:nvPr/>
          </p:nvGrpSpPr>
          <p:grpSpPr>
            <a:xfrm>
              <a:off x="6261284" y="2308063"/>
              <a:ext cx="91438" cy="45719"/>
              <a:chOff x="6812560" y="3297172"/>
              <a:chExt cx="94010" cy="47005"/>
            </a:xfrm>
          </p:grpSpPr>
          <p:cxnSp>
            <p:nvCxnSpPr>
              <p:cNvPr id="248" name="직선 연결선 2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191943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92" name="타원 2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3517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0461" y="1977748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업무구분</a:t>
            </a:r>
            <a:r>
              <a:rPr lang="ko-KR" altLang="en-US" sz="700" b="1" dirty="0">
                <a:latin typeface="+mn-ea"/>
              </a:rPr>
              <a:t>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*</a:t>
            </a:r>
          </a:p>
        </p:txBody>
      </p:sp>
      <p:grpSp>
        <p:nvGrpSpPr>
          <p:cNvPr id="283" name="그룹 282"/>
          <p:cNvGrpSpPr/>
          <p:nvPr/>
        </p:nvGrpSpPr>
        <p:grpSpPr>
          <a:xfrm flipV="1">
            <a:off x="3162895" y="2075438"/>
            <a:ext cx="91438" cy="45719"/>
            <a:chOff x="6812560" y="3297172"/>
            <a:chExt cx="94010" cy="47005"/>
          </a:xfrm>
        </p:grpSpPr>
        <p:cxnSp>
          <p:nvCxnSpPr>
            <p:cNvPr id="284" name="직선 연결선 28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5" name="직선 연결선 28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9" name="TextBox 2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63566" y="2221573"/>
            <a:ext cx="2305144" cy="104291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물품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용역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국외</a:t>
            </a:r>
            <a:endParaRPr lang="en-US" altLang="ko-KR" sz="700" dirty="0">
              <a:latin typeface="+mn-ea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622" y="1956581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검색어</a:t>
            </a:r>
            <a:r>
              <a:rPr lang="ko-KR" altLang="en-US" sz="700" b="1" dirty="0" smtClean="0">
                <a:latin typeface="+mn-ea"/>
              </a:rPr>
              <a:t> </a:t>
            </a:r>
            <a:r>
              <a:rPr lang="en-US" altLang="ko-KR" sz="700" b="1" dirty="0" smtClean="0">
                <a:latin typeface="+mn-ea"/>
              </a:rPr>
              <a:t>(</a:t>
            </a:r>
            <a:r>
              <a:rPr lang="ko-KR" altLang="en-US" sz="700" b="1" dirty="0" smtClean="0">
                <a:latin typeface="+mn-ea"/>
              </a:rPr>
              <a:t>일부 입력 가능</a:t>
            </a:r>
            <a:r>
              <a:rPr lang="en-US" altLang="ko-KR" sz="700" b="1" dirty="0" smtClean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01" name="그룹 200"/>
          <p:cNvGrpSpPr/>
          <p:nvPr/>
        </p:nvGrpSpPr>
        <p:grpSpPr>
          <a:xfrm flipV="1">
            <a:off x="6266056" y="2054271"/>
            <a:ext cx="91438" cy="45719"/>
            <a:chOff x="6812560" y="3297172"/>
            <a:chExt cx="94010" cy="47005"/>
          </a:xfrm>
        </p:grpSpPr>
        <p:cxnSp>
          <p:nvCxnSpPr>
            <p:cNvPr id="202" name="직선 연결선 2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3" name="직선 연결선 20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6" name="TextBox 2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622" y="2193572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08" name="모서리가 둥근 직사각형 207"/>
          <p:cNvSpPr/>
          <p:nvPr/>
        </p:nvSpPr>
        <p:spPr>
          <a:xfrm>
            <a:off x="4574391" y="2459897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</a:rPr>
              <a:t>발주기관을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700" dirty="0" smtClean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66" name="모서리가 둥근 직사각형 265"/>
          <p:cNvSpPr/>
          <p:nvPr/>
        </p:nvSpPr>
        <p:spPr>
          <a:xfrm>
            <a:off x="4574391" y="2237253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번호를 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grpSp>
        <p:nvGrpSpPr>
          <p:cNvPr id="141" name="그룹 140"/>
          <p:cNvGrpSpPr/>
          <p:nvPr/>
        </p:nvGrpSpPr>
        <p:grpSpPr>
          <a:xfrm rot="16200000">
            <a:off x="6266058" y="2530637"/>
            <a:ext cx="91438" cy="45719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5751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222174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4249805"/>
            <a:ext cx="859319" cy="188244"/>
            <a:chOff x="5613534" y="2854836"/>
            <a:chExt cx="804671" cy="188244"/>
          </a:xfrm>
        </p:grpSpPr>
        <p:sp>
          <p:nvSpPr>
            <p:cNvPr id="122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2025-10-15</a:t>
              </a:r>
            </a:p>
          </p:txBody>
        </p:sp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25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4269752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126" name="그룹 125"/>
          <p:cNvGrpSpPr/>
          <p:nvPr/>
        </p:nvGrpSpPr>
        <p:grpSpPr>
          <a:xfrm>
            <a:off x="1464781" y="4480474"/>
            <a:ext cx="1845146" cy="188135"/>
            <a:chOff x="1430277" y="4057651"/>
            <a:chExt cx="1845146" cy="188135"/>
          </a:xfrm>
        </p:grpSpPr>
        <p:sp>
          <p:nvSpPr>
            <p:cNvPr id="145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46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47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4249805"/>
            <a:ext cx="859319" cy="188244"/>
            <a:chOff x="5613534" y="2854836"/>
            <a:chExt cx="804671" cy="188244"/>
          </a:xfrm>
        </p:grpSpPr>
        <p:sp>
          <p:nvSpPr>
            <p:cNvPr id="149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2026-01-16</a:t>
              </a:r>
            </a:p>
          </p:txBody>
        </p:sp>
        <p:pic>
          <p:nvPicPr>
            <p:cNvPr id="150" name="그림 149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grpSp>
        <p:nvGrpSpPr>
          <p:cNvPr id="169" name="그룹 168"/>
          <p:cNvGrpSpPr/>
          <p:nvPr/>
        </p:nvGrpSpPr>
        <p:grpSpPr>
          <a:xfrm>
            <a:off x="772169" y="2297325"/>
            <a:ext cx="107950" cy="963362"/>
            <a:chOff x="772169" y="2297325"/>
            <a:chExt cx="107950" cy="963362"/>
          </a:xfrm>
        </p:grpSpPr>
        <p:sp>
          <p:nvSpPr>
            <p:cNvPr id="170" name="직사각형 169"/>
            <p:cNvSpPr/>
            <p:nvPr/>
          </p:nvSpPr>
          <p:spPr>
            <a:xfrm>
              <a:off x="772169" y="2297325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3" name="직사각형 172"/>
            <p:cNvSpPr/>
            <p:nvPr/>
          </p:nvSpPr>
          <p:spPr>
            <a:xfrm>
              <a:off x="772169" y="2514551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4" name="직사각형 173"/>
            <p:cNvSpPr/>
            <p:nvPr/>
          </p:nvSpPr>
          <p:spPr>
            <a:xfrm>
              <a:off x="772169" y="2711641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772169" y="2926302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5" name="직사각형 184"/>
            <p:cNvSpPr/>
            <p:nvPr/>
          </p:nvSpPr>
          <p:spPr>
            <a:xfrm>
              <a:off x="772169" y="3152737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7" name="TextBox 176"/>
          <p:cNvSpPr txBox="1"/>
          <p:nvPr/>
        </p:nvSpPr>
        <p:spPr>
          <a:xfrm>
            <a:off x="712771" y="2469709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 smtClean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51" name="직사각형 150"/>
          <p:cNvSpPr/>
          <p:nvPr/>
        </p:nvSpPr>
        <p:spPr>
          <a:xfrm>
            <a:off x="7100725" y="6106561"/>
            <a:ext cx="229040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/>
              <a:t>260617 -  </a:t>
            </a:r>
            <a:r>
              <a:rPr lang="ko-KR" altLang="en-US" sz="500" dirty="0"/>
              <a:t>전체 특이사항 내용 </a:t>
            </a:r>
            <a:r>
              <a:rPr lang="ko-KR" altLang="en-US" sz="500" dirty="0" smtClean="0"/>
              <a:t>수정</a:t>
            </a:r>
            <a:r>
              <a:rPr lang="en-US" altLang="ko-KR" sz="500" dirty="0" smtClean="0"/>
              <a:t>4-1~3 </a:t>
            </a:r>
            <a:r>
              <a:rPr lang="ko-KR" altLang="en-US" sz="500" dirty="0" smtClean="0"/>
              <a:t>추가</a:t>
            </a:r>
            <a:endParaRPr lang="en-US" altLang="ko-KR" sz="500" dirty="0"/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08364" y="36438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3-1</a:t>
            </a:r>
            <a:endParaRPr lang="ko-KR" altLang="en-US" sz="500" b="1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219722" y="36438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3-2</a:t>
            </a:r>
            <a:endParaRPr lang="ko-KR" altLang="en-US" sz="500" b="1" dirty="0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361392" y="151997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64" name="타원 1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70821" y="15232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08364" y="39109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3-3</a:t>
            </a:r>
            <a:endParaRPr lang="ko-KR" altLang="en-US" sz="500" b="1" dirty="0"/>
          </a:p>
        </p:txBody>
      </p:sp>
      <p:grpSp>
        <p:nvGrpSpPr>
          <p:cNvPr id="167" name="그룹 16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68" name="직사각형 16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171" name="직사각형 17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en-US" altLang="ko-KR" sz="700" dirty="0" smtClean="0"/>
                <a:t>PC</a:t>
              </a:r>
              <a:r>
                <a:rPr lang="ko-KR" altLang="en-US" sz="700" dirty="0" smtClean="0"/>
                <a:t>화면과 일치 수정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err="1" smtClean="0"/>
                <a:t>검색유형</a:t>
              </a:r>
              <a:r>
                <a:rPr lang="ko-KR" altLang="en-US" sz="700" dirty="0" smtClean="0"/>
                <a:t> 구분 삭제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err="1" smtClean="0"/>
                <a:t>검색어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구분 설정 일부 삭제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팝업 시트 검색 추가</a:t>
              </a:r>
              <a:endParaRPr lang="ko-KR" altLang="en-US" sz="700" dirty="0"/>
            </a:p>
          </p:txBody>
        </p:sp>
      </p:grpSp>
      <p:grpSp>
        <p:nvGrpSpPr>
          <p:cNvPr id="186" name="그룹 185"/>
          <p:cNvGrpSpPr/>
          <p:nvPr/>
        </p:nvGrpSpPr>
        <p:grpSpPr>
          <a:xfrm rot="16200000">
            <a:off x="6266061" y="2303330"/>
            <a:ext cx="91438" cy="45719"/>
            <a:chOff x="6812560" y="3297172"/>
            <a:chExt cx="94010" cy="47005"/>
          </a:xfrm>
        </p:grpSpPr>
        <p:cxnSp>
          <p:nvCxnSpPr>
            <p:cNvPr id="187" name="직선 연결선 18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8" name="직선 연결선 18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2" name="직사각형 191"/>
          <p:cNvSpPr/>
          <p:nvPr/>
        </p:nvSpPr>
        <p:spPr>
          <a:xfrm>
            <a:off x="7100725" y="5852989"/>
            <a:ext cx="2290404" cy="219919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260714 </a:t>
            </a:r>
            <a:r>
              <a:rPr lang="en-US" altLang="ko-KR" sz="500" dirty="0"/>
              <a:t>-  </a:t>
            </a:r>
            <a:r>
              <a:rPr lang="en-US" altLang="ko-KR" sz="500" dirty="0" smtClean="0"/>
              <a:t>AS-IS </a:t>
            </a:r>
            <a:r>
              <a:rPr lang="ko-KR" altLang="en-US" sz="500" dirty="0" smtClean="0"/>
              <a:t>화면에서는 검색 </a:t>
            </a:r>
            <a:r>
              <a:rPr lang="ko-KR" altLang="en-US" sz="500" dirty="0" err="1" smtClean="0"/>
              <a:t>계약건명이</a:t>
            </a:r>
            <a:r>
              <a:rPr lang="ko-KR" altLang="en-US" sz="500" dirty="0" smtClean="0"/>
              <a:t> 존재하여 유지함</a:t>
            </a:r>
            <a:r>
              <a:rPr lang="en-US" altLang="ko-KR" sz="500" dirty="0" smtClean="0"/>
              <a:t>.</a:t>
            </a:r>
            <a:endParaRPr lang="en-US" altLang="ko-KR" sz="500" dirty="0"/>
          </a:p>
        </p:txBody>
      </p:sp>
      <p:grpSp>
        <p:nvGrpSpPr>
          <p:cNvPr id="128" name="그룹 127"/>
          <p:cNvGrpSpPr/>
          <p:nvPr/>
        </p:nvGrpSpPr>
        <p:grpSpPr>
          <a:xfrm>
            <a:off x="8223250" y="921395"/>
            <a:ext cx="3365500" cy="634511"/>
            <a:chOff x="8223250" y="569392"/>
            <a:chExt cx="3365500" cy="634511"/>
          </a:xfrm>
        </p:grpSpPr>
        <p:sp>
          <p:nvSpPr>
            <p:cNvPr id="131" name="직사각형 13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32" name="직사각형 13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계약건명</a:t>
              </a:r>
              <a:r>
                <a:rPr lang="ko-KR" altLang="en-US" sz="700" dirty="0" smtClean="0"/>
                <a:t> 검색 삭제 </a:t>
              </a:r>
              <a:r>
                <a:rPr lang="en-US" altLang="ko-KR" sz="700" dirty="0" smtClean="0"/>
                <a:t>– PC </a:t>
              </a:r>
              <a:r>
                <a:rPr lang="ko-KR" altLang="en-US" sz="700" dirty="0" smtClean="0"/>
                <a:t>버전과 일치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8711815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0123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/>
              <a:t>계약통합목록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3468854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/>
              <a:t> 계약통합목록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2111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서류요청 수신일자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dcMntDmndRcptnDt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서류요청 수신일자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79098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42407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 진행 상태를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통합사업관리시스템과 부대조달정보체계의 진행상태 코드 값 별도 처리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= ‘UA22’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‘UB57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49496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계약방법을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84579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계약번호를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3448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발주기관을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수정계약요청수신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mdfcnCtrtDmndrcofc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수정계약요청수신 여부를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688810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자료 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taskSecd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업무구분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9349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진행상태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계약번호차수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ctrtCycl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계약번호차수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:MRC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F7B2A1CC-269C-839D-D48A-3A2600ABC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6201723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계약통합목록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addCn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elsgnVl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4813472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3106201"/>
              </p:ext>
            </p:extLst>
          </p:nvPr>
        </p:nvGraphicFramePr>
        <p:xfrm>
          <a:off x="453000" y="1037328"/>
          <a:ext cx="8995591" cy="33580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서류요청 수신일자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계약일자를 현재일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M,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하도급계약목록을 조회조건에 맞게 조회한다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886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조회조건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계약번호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scwin.btn_ctrtNo_onclick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조달업체의 계약번호 선택 팝업화면이 호출되고 계약번호를 선택하면 조회조건에 선택한 계약번호가 설정된다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MUI-EX-02-P79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계약번호조회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789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조회조건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발주기관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scwin.btn_orderInst_onclick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선택 팝업화면이 호출되고 발주기관을 선택 하면 조회조건에 선택한 발주기관이 설정된다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MUI-BD-01-P04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발주부서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기관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검색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8034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/>
                        <a:t>카드 목록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scwin.grd_ctrtNo_ctrtList_onclick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업무구분과 진행상태에 따라 계약에 해당하는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계약상세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내역 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서류요청</a:t>
                      </a:r>
                      <a:r>
                        <a:rPr lang="en-US" altLang="ko-KR" sz="800" dirty="0"/>
                        <a:t>, </a:t>
                      </a:r>
                      <a:r>
                        <a:rPr lang="ko-KR" altLang="en-US" sz="800" dirty="0"/>
                        <a:t>계약체결의뢰 상태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물품</a:t>
                      </a:r>
                      <a:r>
                        <a:rPr lang="en-US" altLang="ko-KR" sz="800" dirty="0"/>
                        <a:t>: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 smtClean="0"/>
                        <a:t>(MUI-CT-01-M03) </a:t>
                      </a:r>
                      <a:r>
                        <a:rPr lang="ko-KR" altLang="en-US" sz="800" dirty="0" smtClean="0"/>
                        <a:t>물품 </a:t>
                      </a:r>
                      <a:r>
                        <a:rPr lang="ko-KR" altLang="en-US" sz="800" dirty="0" err="1" smtClean="0"/>
                        <a:t>전자계약</a:t>
                      </a:r>
                      <a:r>
                        <a:rPr lang="ko-KR" altLang="en-US" sz="800" dirty="0" smtClean="0"/>
                        <a:t> 진행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공사</a:t>
                      </a:r>
                      <a:r>
                        <a:rPr lang="en-US" altLang="ko-KR" sz="800" dirty="0"/>
                        <a:t>: </a:t>
                      </a:r>
                      <a:r>
                        <a:rPr lang="en-US" altLang="ko-KR" sz="800" dirty="0" smtClean="0"/>
                        <a:t>(MUI-CT-01-M09) </a:t>
                      </a:r>
                      <a:r>
                        <a:rPr lang="ko-KR" altLang="en-US" sz="800" dirty="0" smtClean="0"/>
                        <a:t>공사 </a:t>
                      </a:r>
                      <a:r>
                        <a:rPr lang="ko-KR" altLang="en-US" sz="800" dirty="0"/>
                        <a:t>전자계약 진행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국외</a:t>
                      </a:r>
                      <a:r>
                        <a:rPr lang="en-US" altLang="ko-KR" sz="800" dirty="0"/>
                        <a:t>: </a:t>
                      </a:r>
                      <a:r>
                        <a:rPr lang="en-US" altLang="ko-KR" sz="800" dirty="0" smtClean="0"/>
                        <a:t>(MUI-CT-01-M71) </a:t>
                      </a:r>
                      <a:r>
                        <a:rPr lang="ko-KR" altLang="en-US" sz="800" dirty="0" err="1" smtClean="0"/>
                        <a:t>국외전자계약진행상세</a:t>
                      </a:r>
                      <a:endParaRPr lang="en-US" altLang="ko-KR" sz="800" dirty="0"/>
                    </a:p>
                    <a:p>
                      <a:endParaRPr lang="en-US" altLang="ko-KR" sz="800" dirty="0"/>
                    </a:p>
                    <a:p>
                      <a:r>
                        <a:rPr lang="en-US" altLang="ko-KR" sz="800" dirty="0" smtClean="0"/>
                        <a:t>- </a:t>
                      </a:r>
                      <a:r>
                        <a:rPr lang="ko-KR" altLang="en-US" sz="800" dirty="0"/>
                        <a:t>계약 확정 상태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물품</a:t>
                      </a:r>
                      <a:r>
                        <a:rPr lang="en-US" altLang="ko-KR" sz="800" dirty="0"/>
                        <a:t>: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 smtClean="0"/>
                        <a:t>(MUI-CT-01-M04) </a:t>
                      </a:r>
                      <a:r>
                        <a:rPr lang="ko-KR" altLang="en-US" sz="800" dirty="0" smtClean="0"/>
                        <a:t>물품 전자계약확정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물품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수정有</a:t>
                      </a:r>
                      <a:r>
                        <a:rPr lang="en-US" altLang="ko-KR" sz="800" dirty="0"/>
                        <a:t>): </a:t>
                      </a:r>
                      <a:r>
                        <a:rPr lang="en-US" altLang="ko-KR" sz="800" dirty="0" smtClean="0"/>
                        <a:t>(MUI-CT-01-M06) </a:t>
                      </a:r>
                      <a:r>
                        <a:rPr lang="ko-KR" altLang="en-US" sz="800" dirty="0" smtClean="0"/>
                        <a:t>물품 </a:t>
                      </a:r>
                      <a:r>
                        <a:rPr lang="ko-KR" altLang="en-US" sz="800" dirty="0"/>
                        <a:t>수정 계약서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공사</a:t>
                      </a:r>
                      <a:r>
                        <a:rPr lang="en-US" altLang="ko-KR" sz="800" dirty="0"/>
                        <a:t>: </a:t>
                      </a:r>
                      <a:r>
                        <a:rPr lang="en-US" altLang="ko-KR" sz="800" dirty="0" smtClean="0"/>
                        <a:t>(MUI-CT-01-M10) </a:t>
                      </a:r>
                      <a:r>
                        <a:rPr lang="ko-KR" altLang="en-US" sz="800" dirty="0" smtClean="0"/>
                        <a:t>공사 </a:t>
                      </a:r>
                      <a:r>
                        <a:rPr lang="ko-KR" altLang="en-US" sz="800" dirty="0"/>
                        <a:t>계약서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800" dirty="0"/>
                        <a:t>.</a:t>
                      </a:r>
                      <a:r>
                        <a:rPr lang="ko-KR" altLang="en-US" sz="800" dirty="0"/>
                        <a:t>국외</a:t>
                      </a:r>
                      <a:r>
                        <a:rPr lang="en-US" altLang="ko-KR" sz="800" dirty="0"/>
                        <a:t>: </a:t>
                      </a:r>
                      <a:r>
                        <a:rPr lang="en-US" altLang="ko-KR" sz="800" dirty="0" smtClean="0"/>
                        <a:t>(MUI-CT-01-M72) </a:t>
                      </a:r>
                      <a:r>
                        <a:rPr lang="ko-KR" altLang="en-US" sz="800" dirty="0" err="1" smtClean="0"/>
                        <a:t>국외전자계약확정상세</a:t>
                      </a:r>
                      <a:endParaRPr lang="en-US" altLang="ko-KR" sz="800" dirty="0" smtClean="0"/>
                    </a:p>
                    <a:p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타 계약서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    . MUI-CT-01-M05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물품일반계약서상세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    .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MUI-CT-01-M07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물품총액계약서상세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    . MUI-CT-01-M08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물품단가계약서상세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933730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2109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93EC4AE5-D69A-364F-5367-88A0A82869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9604142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/>
              <a:t>레이블이 </a:t>
            </a:r>
            <a:r>
              <a:rPr lang="ko-KR" altLang="en-US" sz="800" dirty="0" smtClean="0"/>
              <a:t>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</a:t>
            </a:r>
            <a:r>
              <a:rPr lang="ko-KR" altLang="en-US" sz="800" dirty="0"/>
              <a:t>경우 드래그하여 확인 가능 </a:t>
            </a:r>
            <a:r>
              <a:rPr lang="en-US" altLang="ko-KR" sz="800" dirty="0"/>
              <a:t>(</a:t>
            </a:r>
            <a:r>
              <a:rPr lang="ko-KR" altLang="en-US" sz="800" dirty="0" err="1"/>
              <a:t>스와이프기능</a:t>
            </a:r>
            <a:r>
              <a:rPr lang="ko-KR" altLang="en-US" sz="800" dirty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/>
              <a:t>- </a:t>
            </a:r>
            <a:r>
              <a:rPr lang="ko-KR" altLang="en-US" sz="800" dirty="0" err="1"/>
              <a:t>판단번호</a:t>
            </a:r>
            <a:r>
              <a:rPr lang="ko-KR" altLang="en-US" sz="800" dirty="0"/>
              <a:t> </a:t>
            </a:r>
            <a:r>
              <a:rPr lang="en-US" altLang="ko-KR" sz="800" dirty="0"/>
              <a:t>,  </a:t>
            </a:r>
            <a:r>
              <a:rPr lang="ko-KR" altLang="en-US" sz="800" dirty="0" err="1"/>
              <a:t>계약번호</a:t>
            </a:r>
            <a:r>
              <a:rPr lang="ko-KR" altLang="en-US" sz="800" dirty="0"/>
              <a:t> 노출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 err="1"/>
              <a:t>판단번호</a:t>
            </a:r>
            <a:r>
              <a:rPr lang="ko-KR" altLang="en-US" sz="800" dirty="0"/>
              <a:t> </a:t>
            </a:r>
            <a:r>
              <a:rPr lang="ko-KR" altLang="en-US" sz="800" dirty="0" err="1"/>
              <a:t>전체노출</a:t>
            </a:r>
            <a:r>
              <a:rPr lang="ko-KR" altLang="en-US" sz="800" dirty="0"/>
              <a:t> </a:t>
            </a:r>
            <a:r>
              <a:rPr lang="en-US" altLang="ko-KR" sz="800" dirty="0"/>
              <a:t>/ </a:t>
            </a:r>
            <a:r>
              <a:rPr lang="ko-KR" altLang="en-US" sz="800" dirty="0" err="1"/>
              <a:t>계약번호</a:t>
            </a:r>
            <a:r>
              <a:rPr lang="ko-KR" altLang="en-US" sz="800" dirty="0"/>
              <a:t> </a:t>
            </a:r>
            <a:r>
              <a:rPr lang="ko-KR" altLang="en-US" sz="800" dirty="0" err="1"/>
              <a:t>노출시</a:t>
            </a:r>
            <a:r>
              <a:rPr lang="ko-KR" altLang="en-US" sz="800" dirty="0"/>
              <a:t> 해당 라인을 넘어가면 </a:t>
            </a:r>
            <a:r>
              <a:rPr lang="en-US" altLang="ko-KR" sz="800" dirty="0"/>
              <a:t>(…) </a:t>
            </a:r>
            <a:r>
              <a:rPr lang="ko-KR" altLang="en-US" sz="800" dirty="0" err="1"/>
              <a:t>말줄임</a:t>
            </a:r>
            <a:r>
              <a:rPr lang="ko-KR" altLang="en-US" sz="800" dirty="0"/>
              <a:t> </a:t>
            </a:r>
            <a:r>
              <a:rPr lang="ko-KR" altLang="en-US" sz="800" dirty="0" smtClean="0"/>
              <a:t>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/>
              <a:t>문서 제목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제목은 </a:t>
            </a:r>
            <a:r>
              <a:rPr lang="en-US" altLang="ko-KR" sz="800" dirty="0"/>
              <a:t>2</a:t>
            </a:r>
            <a:r>
              <a:rPr lang="ko-KR" altLang="en-US" sz="800" dirty="0"/>
              <a:t>줄 까지 노출 이후</a:t>
            </a:r>
            <a:r>
              <a:rPr lang="en-US" altLang="ko-KR" sz="800" dirty="0"/>
              <a:t>(…) </a:t>
            </a:r>
            <a:r>
              <a:rPr lang="ko-KR" altLang="en-US" sz="800" dirty="0" err="1"/>
              <a:t>말줄임</a:t>
            </a:r>
            <a:r>
              <a:rPr lang="ko-KR" altLang="en-US" sz="800" dirty="0"/>
              <a:t> </a:t>
            </a:r>
            <a:r>
              <a:rPr lang="ko-KR" altLang="en-US" sz="800" dirty="0" smtClean="0"/>
              <a:t>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/>
              <a:t>접힘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</a:t>
            </a:r>
            <a:r>
              <a:rPr lang="ko-KR" altLang="en-US" sz="800" dirty="0"/>
              <a:t>확장하여 정보 표시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 smtClean="0"/>
              <a:t>&gt; </a:t>
            </a:r>
            <a:r>
              <a:rPr lang="ko-KR" altLang="en-US" sz="800" dirty="0"/>
              <a:t>내역이 있는 경우 </a:t>
            </a:r>
            <a:r>
              <a:rPr lang="ko-KR" altLang="en-US" sz="800" dirty="0" smtClean="0"/>
              <a:t>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/>
              <a:t>- </a:t>
            </a:r>
            <a:r>
              <a:rPr lang="ko-KR" altLang="en-US" sz="800" dirty="0"/>
              <a:t>상세내용 </a:t>
            </a:r>
            <a:r>
              <a:rPr lang="en-US" altLang="ko-KR" sz="800" dirty="0"/>
              <a:t>Tab</a:t>
            </a:r>
            <a:r>
              <a:rPr lang="ko-KR" altLang="en-US" sz="800" dirty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계약업체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반송</a:t>
            </a:r>
            <a:r>
              <a:rPr lang="en-US" altLang="ko-KR" sz="800" dirty="0" smtClean="0"/>
              <a:t>/</a:t>
            </a:r>
            <a:r>
              <a:rPr lang="ko-KR" altLang="en-US" sz="800" dirty="0" err="1" smtClean="0"/>
              <a:t>취소사유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첨부서류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/>
              <a:t>&gt; </a:t>
            </a:r>
            <a:r>
              <a:rPr lang="ko-KR" altLang="en-US" sz="800" dirty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</a:t>
            </a:r>
            <a:r>
              <a:rPr lang="ko-KR" altLang="en-US" sz="800" dirty="0"/>
              <a:t>포함된 정보 </a:t>
            </a:r>
            <a:r>
              <a:rPr lang="ko-KR" altLang="en-US" sz="800" dirty="0" smtClean="0"/>
              <a:t>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상단 이동 버튼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sz="800" dirty="0" smtClean="0"/>
              <a:t>+</a:t>
            </a:r>
            <a:r>
              <a:rPr lang="ko-KR" altLang="en-US" sz="800" dirty="0" smtClean="0"/>
              <a:t>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해당 페이지에서 호출되는 이벤트 목록 표시</a:t>
            </a:r>
            <a:r>
              <a:rPr lang="en-US" altLang="ko-KR" sz="800" dirty="0" smtClean="0"/>
              <a:t> (</a:t>
            </a:r>
            <a:r>
              <a:rPr lang="ko-KR" altLang="en-US" sz="800" dirty="0" smtClean="0"/>
              <a:t>항목설명페이지 참고</a:t>
            </a:r>
            <a:r>
              <a:rPr lang="en-US" altLang="ko-KR" sz="800" dirty="0"/>
              <a:t>)</a:t>
            </a:r>
            <a:br>
              <a:rPr lang="en-US" altLang="ko-KR" sz="800" dirty="0"/>
            </a:br>
            <a:r>
              <a:rPr lang="en-US" altLang="ko-KR" sz="800" dirty="0">
                <a:solidFill>
                  <a:srgbClr val="FF0000"/>
                </a:solidFill>
              </a:rPr>
              <a:t>- [</a:t>
            </a:r>
            <a:r>
              <a:rPr lang="ko-KR" altLang="en-US" sz="800" dirty="0">
                <a:solidFill>
                  <a:srgbClr val="FF0000"/>
                </a:solidFill>
              </a:rPr>
              <a:t>계약진행상태 조회</a:t>
            </a:r>
            <a:r>
              <a:rPr lang="en-US" altLang="ko-KR" sz="800" dirty="0">
                <a:solidFill>
                  <a:srgbClr val="FF0000"/>
                </a:solidFill>
              </a:rPr>
              <a:t>], [</a:t>
            </a:r>
            <a:r>
              <a:rPr lang="ko-KR" altLang="en-US" sz="800" dirty="0" err="1">
                <a:solidFill>
                  <a:srgbClr val="FF0000"/>
                </a:solidFill>
              </a:rPr>
              <a:t>계약명세서</a:t>
            </a:r>
            <a:r>
              <a:rPr lang="ko-KR" altLang="en-US" sz="800" dirty="0">
                <a:solidFill>
                  <a:srgbClr val="FF0000"/>
                </a:solidFill>
              </a:rPr>
              <a:t> 조회</a:t>
            </a:r>
            <a:r>
              <a:rPr lang="en-US" altLang="ko-KR" sz="800" dirty="0">
                <a:solidFill>
                  <a:srgbClr val="FF0000"/>
                </a:solidFill>
              </a:rPr>
              <a:t>], [</a:t>
            </a:r>
            <a:r>
              <a:rPr lang="ko-KR" altLang="en-US" sz="800" dirty="0">
                <a:solidFill>
                  <a:srgbClr val="FF0000"/>
                </a:solidFill>
              </a:rPr>
              <a:t>계약서 표지 출력</a:t>
            </a:r>
            <a:r>
              <a:rPr lang="en-US" altLang="ko-KR" sz="800" dirty="0">
                <a:solidFill>
                  <a:srgbClr val="FF0000"/>
                </a:solidFill>
              </a:rPr>
              <a:t>] </a:t>
            </a:r>
            <a:r>
              <a:rPr lang="ko-KR" altLang="en-US" sz="800" dirty="0" smtClean="0">
                <a:solidFill>
                  <a:srgbClr val="FF0000"/>
                </a:solidFill>
              </a:rPr>
              <a:t>버튼 </a:t>
            </a:r>
            <a:r>
              <a:rPr lang="ko-KR" altLang="en-US" sz="800" dirty="0" err="1" smtClean="0">
                <a:solidFill>
                  <a:srgbClr val="FF0000"/>
                </a:solidFill>
              </a:rPr>
              <a:t>바텀시트</a:t>
            </a:r>
            <a:r>
              <a:rPr lang="ko-KR" altLang="en-US" sz="800" dirty="0" smtClean="0">
                <a:solidFill>
                  <a:srgbClr val="FF0000"/>
                </a:solidFill>
              </a:rPr>
              <a:t> 노출</a:t>
            </a:r>
            <a:endParaRPr lang="en-US" altLang="ko-KR" sz="800" dirty="0" smtClean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물품전자계약진행상세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/>
              <a:t>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물품구매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계약서 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구매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2068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1604074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167" name="평행 사변형 166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1604074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20681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65951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1846937"/>
            <a:ext cx="2630093" cy="1777166"/>
            <a:chOff x="3865118" y="2694619"/>
            <a:chExt cx="2630093" cy="1777166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2480267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69047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72200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3835337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05272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05272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17572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29426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294269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97946" y="4142235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반송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smtClean="0">
                <a:latin typeface="+mn-ea"/>
              </a:rPr>
              <a:t>취소 사유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01478" y="1604074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반송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취소 사유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16546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첨부서류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20078" y="1604074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grpSp>
        <p:nvGrpSpPr>
          <p:cNvPr id="155" name="그룹 154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7" name="그룹 15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1" name="그룹 160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2" name="타원 16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3" name="그룹 16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64" name="직선 연결선 1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5" name="직선 연결선 1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69" name="TextBox 168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  <p:sp>
        <p:nvSpPr>
          <p:cNvPr id="149" name="타원 1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47328" y="56881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53" name="직사각형 152"/>
          <p:cNvSpPr/>
          <p:nvPr/>
        </p:nvSpPr>
        <p:spPr>
          <a:xfrm>
            <a:off x="7066443" y="6232299"/>
            <a:ext cx="2337127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/>
              <a:t>전체 특이사항 내용 수정</a:t>
            </a:r>
            <a:endParaRPr lang="en-US" altLang="ko-KR" sz="500" dirty="0"/>
          </a:p>
        </p:txBody>
      </p:sp>
      <p:grpSp>
        <p:nvGrpSpPr>
          <p:cNvPr id="156" name="그룹 15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66" name="직사각형 16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2026-08-03 </a:t>
              </a:r>
              <a:r>
                <a:rPr lang="ko-KR" altLang="en-US" dirty="0" smtClean="0"/>
                <a:t>설명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68" name="직사각형 16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en-US" altLang="ko-KR" sz="700" dirty="0" smtClean="0"/>
                <a:t>+ </a:t>
              </a:r>
              <a:r>
                <a:rPr lang="ko-KR" altLang="en-US" sz="700" dirty="0" smtClean="0"/>
                <a:t>버튼 설명 변경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ko-KR" altLang="en-US" sz="700" dirty="0" smtClean="0"/>
                <a:t>항목 설명에서 조건에 맞는 화면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출력물로 연결</a:t>
              </a:r>
              <a:endParaRPr lang="ko-KR" altLang="en-US" sz="700" dirty="0"/>
            </a:p>
          </p:txBody>
        </p:sp>
      </p:grp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8246412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 데이터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1-1</a:t>
            </a:r>
            <a:r>
              <a:rPr lang="en-US" altLang="ko-KR" dirty="0"/>
              <a:t>] </a:t>
            </a:r>
            <a:r>
              <a:rPr lang="ko-KR" altLang="en-US" dirty="0" err="1"/>
              <a:t>계약일자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1-2</a:t>
            </a:r>
            <a:r>
              <a:rPr lang="en-US" altLang="ko-KR" dirty="0"/>
              <a:t>] </a:t>
            </a:r>
            <a:r>
              <a:rPr lang="ko-KR" altLang="en-US" dirty="0"/>
              <a:t>계약시작일자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1-3</a:t>
            </a:r>
            <a:r>
              <a:rPr lang="en-US" altLang="ko-KR" dirty="0"/>
              <a:t>] </a:t>
            </a:r>
            <a:r>
              <a:rPr lang="ko-KR" altLang="en-US" dirty="0"/>
              <a:t>계약종료일자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물품 계약 경우만 </a:t>
            </a:r>
            <a:r>
              <a:rPr lang="ko-KR" altLang="en-US" dirty="0" smtClean="0"/>
              <a:t>표시 항목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2-2] </a:t>
            </a:r>
            <a:r>
              <a:rPr lang="ko-KR" altLang="en-US" dirty="0" smtClean="0"/>
              <a:t>납품시작일자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2-2] </a:t>
            </a:r>
            <a:r>
              <a:rPr lang="ko-KR" altLang="en-US" dirty="0" smtClean="0"/>
              <a:t>납품종료일자</a:t>
            </a: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일반용역계약인 경우 표시 항목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대여계약서</a:t>
            </a:r>
            <a:r>
              <a:rPr lang="ko-KR" altLang="en-US" dirty="0" smtClean="0"/>
              <a:t> </a:t>
            </a:r>
            <a:r>
              <a:rPr lang="ko-KR" altLang="en-US" dirty="0"/>
              <a:t>경우만 표시 </a:t>
            </a:r>
            <a:r>
              <a:rPr lang="ko-KR" altLang="en-US" dirty="0" smtClean="0"/>
              <a:t>항목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대여목적</a:t>
            </a:r>
            <a:r>
              <a:rPr lang="en-US" altLang="ko-KR" dirty="0"/>
              <a:t>, </a:t>
            </a:r>
            <a:r>
              <a:rPr lang="ko-KR" altLang="en-US" dirty="0" err="1"/>
              <a:t>반납장소</a:t>
            </a:r>
            <a:r>
              <a:rPr lang="ko-KR" altLang="en-US" dirty="0"/>
              <a:t> </a:t>
            </a:r>
            <a:r>
              <a:rPr lang="ko-KR" altLang="en-US" dirty="0" err="1"/>
              <a:t>표시조건</a:t>
            </a:r>
            <a:r>
              <a:rPr lang="en-US" altLang="ko-KR" dirty="0"/>
              <a:t>: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계약서유형</a:t>
            </a:r>
            <a:r>
              <a:rPr lang="ko-KR" altLang="en-US" dirty="0" smtClean="0"/>
              <a:t>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7 </a:t>
            </a:r>
            <a:r>
              <a:rPr lang="ko-KR" altLang="en-US" dirty="0"/>
              <a:t>유상 </a:t>
            </a:r>
            <a:r>
              <a:rPr lang="ko-KR" altLang="en-US" dirty="0" err="1"/>
              <a:t>대여계약서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J </a:t>
            </a:r>
            <a:r>
              <a:rPr lang="ko-KR" altLang="en-US" dirty="0"/>
              <a:t>유상 </a:t>
            </a:r>
            <a:r>
              <a:rPr lang="ko-KR" altLang="en-US" dirty="0" err="1"/>
              <a:t>대여계약서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8 </a:t>
            </a:r>
            <a:r>
              <a:rPr lang="ko-KR" altLang="en-US" dirty="0"/>
              <a:t>무상 </a:t>
            </a:r>
            <a:r>
              <a:rPr lang="ko-KR" altLang="en-US" dirty="0" err="1"/>
              <a:t>대여계약서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K </a:t>
            </a:r>
            <a:r>
              <a:rPr lang="ko-KR" altLang="en-US" dirty="0"/>
              <a:t>무상 </a:t>
            </a:r>
            <a:r>
              <a:rPr lang="ko-KR" altLang="en-US" dirty="0" err="1" smtClean="0"/>
              <a:t>대여계약서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리스계약 경우만 </a:t>
            </a:r>
            <a:r>
              <a:rPr lang="ko-KR" altLang="en-US" dirty="0" smtClean="0"/>
              <a:t>표시 항목</a:t>
            </a:r>
            <a:r>
              <a:rPr lang="ko-KR" altLang="en-US" dirty="0"/>
              <a:t/>
            </a:r>
            <a:br>
              <a:rPr lang="ko-KR" altLang="en-US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리스 </a:t>
            </a:r>
            <a:r>
              <a:rPr lang="ko-KR" altLang="en-US" dirty="0"/>
              <a:t>항목 </a:t>
            </a:r>
            <a:r>
              <a:rPr lang="ko-KR" altLang="en-US" dirty="0" err="1"/>
              <a:t>표시조건</a:t>
            </a:r>
            <a:r>
              <a:rPr lang="en-US" altLang="ko-KR" dirty="0"/>
              <a:t>: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계약서유형</a:t>
            </a:r>
            <a:r>
              <a:rPr lang="ko-KR" altLang="en-US" dirty="0" smtClean="0"/>
              <a:t>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5 </a:t>
            </a:r>
            <a:r>
              <a:rPr lang="ko-KR" altLang="en-US" dirty="0" err="1"/>
              <a:t>리스계약서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H </a:t>
            </a:r>
            <a:r>
              <a:rPr lang="ko-KR" altLang="en-US" dirty="0" err="1"/>
              <a:t>리스계약서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계약품목별</a:t>
            </a:r>
            <a:r>
              <a:rPr lang="ko-KR" altLang="en-US" dirty="0" smtClean="0"/>
              <a:t> </a:t>
            </a:r>
            <a:r>
              <a:rPr lang="ko-KR" altLang="en-US" dirty="0"/>
              <a:t>계약금액 </a:t>
            </a:r>
            <a:r>
              <a:rPr lang="ko-KR" altLang="en-US" dirty="0" smtClean="0"/>
              <a:t>합계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담당자정보</a:t>
            </a:r>
            <a:r>
              <a:rPr lang="ko-KR" altLang="en-US" dirty="0"/>
              <a:t> 데이터 </a:t>
            </a:r>
            <a:r>
              <a:rPr lang="ko-KR" altLang="en-US" dirty="0" smtClean="0"/>
              <a:t>영역 </a:t>
            </a: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상세내용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상세내용 </a:t>
            </a:r>
            <a:r>
              <a:rPr lang="ko-KR" altLang="en-US" dirty="0" err="1" smtClean="0"/>
              <a:t>탭화면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MUI-CT-01-T01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15110"/>
            <a:ext cx="2630093" cy="4317189"/>
            <a:chOff x="701175" y="1527996"/>
            <a:chExt cx="2630093" cy="4317189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0097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387798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계약서 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계약기간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하자보수보증금율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위치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대여목적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반납장소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387798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제한경쟁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 ~ 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 ~ 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경기도 </a:t>
              </a: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시 </a:t>
              </a: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구 </a:t>
              </a: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동 </a:t>
              </a:r>
              <a:r>
                <a:rPr lang="en-US" altLang="ko-KR" sz="700" dirty="0" smtClean="0">
                  <a:latin typeface="+mn-ea"/>
                </a:rPr>
                <a:t>000-00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경기도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시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구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동 </a:t>
              </a:r>
              <a:r>
                <a:rPr lang="en-US" altLang="ko-KR" sz="700" dirty="0">
                  <a:latin typeface="+mn-ea"/>
                </a:rPr>
                <a:t>000-00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대여 </a:t>
              </a:r>
              <a:r>
                <a:rPr lang="ko-KR" altLang="en-US" sz="700" dirty="0" err="1" smtClean="0">
                  <a:latin typeface="+mn-ea"/>
                </a:rPr>
                <a:t>목정</a:t>
              </a:r>
              <a:r>
                <a:rPr lang="ko-KR" altLang="en-US" sz="700" dirty="0" smtClean="0">
                  <a:latin typeface="+mn-ea"/>
                </a:rPr>
                <a:t> 정보 표시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경기도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시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구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동 </a:t>
              </a:r>
              <a:r>
                <a:rPr lang="en-US" altLang="ko-KR" sz="700" dirty="0" smtClean="0">
                  <a:latin typeface="+mn-ea"/>
                </a:rPr>
                <a:t>000-00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3862545"/>
              <a:chOff x="701175" y="1835481"/>
              <a:chExt cx="2630093" cy="3862545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41236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2" name="직선 연결선 1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71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3" name="직선 연결선 18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418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4" name="직선 연결선 18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565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5" name="직선 연결선 18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713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6" name="직선 연결선 1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86059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7" name="직선 연결선 18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9802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650615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물가변동계약금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err="1" smtClean="0">
                  <a:latin typeface="+mn-ea"/>
                </a:rPr>
                <a:t>조정방법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704476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197" name="직사각형 196"/>
          <p:cNvSpPr/>
          <p:nvPr/>
        </p:nvSpPr>
        <p:spPr>
          <a:xfrm>
            <a:off x="3823602" y="1853496"/>
            <a:ext cx="792000" cy="129266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0664" y="1853495"/>
            <a:ext cx="89334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리스구분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리스료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지급기준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리스료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리스료</a:t>
            </a:r>
            <a:r>
              <a:rPr lang="ko-KR" altLang="en-US" sz="700" dirty="0" smtClean="0">
                <a:latin typeface="+mn-ea"/>
              </a:rPr>
              <a:t> 기준금액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지출관 연락처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재무관연락처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31880" y="1853495"/>
            <a:ext cx="1619722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리스 구분 정보 표시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지급 기준 정보 </a:t>
            </a:r>
            <a:r>
              <a:rPr lang="ko-KR" altLang="en-US" sz="700" dirty="0" smtClean="0">
                <a:latin typeface="+mn-ea"/>
              </a:rPr>
              <a:t>표시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02-1234-5678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02-2345-6789</a:t>
            </a:r>
          </a:p>
        </p:txBody>
      </p:sp>
      <p:grpSp>
        <p:nvGrpSpPr>
          <p:cNvPr id="231" name="그룹 230"/>
          <p:cNvGrpSpPr/>
          <p:nvPr/>
        </p:nvGrpSpPr>
        <p:grpSpPr>
          <a:xfrm>
            <a:off x="3821509" y="1853495"/>
            <a:ext cx="2630093" cy="1284819"/>
            <a:chOff x="701175" y="1835481"/>
            <a:chExt cx="2630093" cy="1284819"/>
          </a:xfrm>
        </p:grpSpPr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183548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0502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264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4797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6944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9055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12030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37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213592"/>
            <a:ext cx="2630093" cy="1777166"/>
            <a:chOff x="3865118" y="2694619"/>
            <a:chExt cx="2630093" cy="1777166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05713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088661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89" name="그룹 88"/>
          <p:cNvGrpSpPr/>
          <p:nvPr/>
        </p:nvGrpSpPr>
        <p:grpSpPr>
          <a:xfrm flipV="1">
            <a:off x="6264240" y="5201992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419378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419378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596951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모서리가 둥근 직사각형 94"/>
          <p:cNvSpPr/>
          <p:nvPr/>
        </p:nvSpPr>
        <p:spPr>
          <a:xfrm>
            <a:off x="3831550" y="5542380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660924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660924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655377" y="4789845"/>
            <a:ext cx="2775293" cy="42576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43356" y="49445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10" name="직사각형 109"/>
          <p:cNvSpPr/>
          <p:nvPr/>
        </p:nvSpPr>
        <p:spPr>
          <a:xfrm>
            <a:off x="655377" y="5234856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8" name="타원 2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3656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11" name="직사각형 110"/>
          <p:cNvSpPr/>
          <p:nvPr/>
        </p:nvSpPr>
        <p:spPr>
          <a:xfrm>
            <a:off x="655377" y="5680019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108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15" name="직사각형 114"/>
          <p:cNvSpPr/>
          <p:nvPr/>
        </p:nvSpPr>
        <p:spPr>
          <a:xfrm>
            <a:off x="3766406" y="1861864"/>
            <a:ext cx="2775293" cy="8400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9926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41411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1322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99" name="타원 9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11899" y="43052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10329" y="45560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083425" y="45433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09774" y="48024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2-1</a:t>
            </a:r>
            <a:endParaRPr lang="ko-KR" altLang="en-US" sz="600" b="1" dirty="0"/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082870" y="47898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2-2</a:t>
            </a:r>
            <a:endParaRPr lang="ko-KR" altLang="en-US" sz="600" b="1" dirty="0"/>
          </a:p>
        </p:txBody>
      </p:sp>
      <p:sp>
        <p:nvSpPr>
          <p:cNvPr id="105" name="직사각형 104"/>
          <p:cNvSpPr/>
          <p:nvPr/>
        </p:nvSpPr>
        <p:spPr>
          <a:xfrm>
            <a:off x="7069348" y="5934182"/>
            <a:ext cx="2334222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2-1~5 </a:t>
            </a:r>
            <a:r>
              <a:rPr lang="ko-KR" altLang="en-US" sz="500" dirty="0"/>
              <a:t>전체 특이사항 내용 수정</a:t>
            </a:r>
            <a:endParaRPr lang="en-US" altLang="ko-KR" sz="500" dirty="0"/>
          </a:p>
        </p:txBody>
      </p:sp>
      <p:grpSp>
        <p:nvGrpSpPr>
          <p:cNvPr id="100" name="그룹 9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6" name="직사각형 10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/>
                <a:t>2026-05-26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 설명 </a:t>
              </a:r>
              <a:r>
                <a:rPr lang="en-US" altLang="ko-KR" sz="700" dirty="0" smtClean="0"/>
                <a:t>2</a:t>
              </a:r>
              <a:r>
                <a:rPr lang="ko-KR" altLang="en-US" sz="700" dirty="0" smtClean="0"/>
                <a:t>번 영역 수정</a:t>
              </a:r>
              <a:endParaRPr lang="ko-KR" altLang="en-US" sz="700" dirty="0"/>
            </a:p>
          </p:txBody>
        </p:sp>
      </p:grpSp>
      <p:grpSp>
        <p:nvGrpSpPr>
          <p:cNvPr id="5" name="그룹 4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21" name="그룹 12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22" name="타원 12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3" name="그룹 12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28" name="직선 연결선 12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직선 연결선 12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4" name="타원 12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5" name="그룹 12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26" name="직선 연결선 12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직선 연결선 12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34" name="그룹 133"/>
          <p:cNvGrpSpPr/>
          <p:nvPr/>
        </p:nvGrpSpPr>
        <p:grpSpPr>
          <a:xfrm>
            <a:off x="3881312" y="1493927"/>
            <a:ext cx="2626449" cy="354413"/>
            <a:chOff x="720490" y="4004429"/>
            <a:chExt cx="2626449" cy="354413"/>
          </a:xfrm>
        </p:grpSpPr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1" name="그룹 14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44" name="타원 143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5" name="그룹 144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50" name="직선 연결선 14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1" name="직선 연결선 15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6" name="타원 145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7" name="그룹 146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8" name="직선 연결선 14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직선 연결선 14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5481237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계약업체</a:t>
            </a:r>
            <a:r>
              <a:rPr lang="en-US" altLang="ko-KR" dirty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업체 정보가 반복 표시됨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생산공장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여러 건 표시될 수 있음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방위사업청</a:t>
            </a:r>
            <a:r>
              <a:rPr lang="ko-KR" altLang="en-US" dirty="0" smtClean="0"/>
              <a:t> 계약의 경우 표시됨</a:t>
            </a:r>
            <a:r>
              <a:rPr lang="en-US" altLang="ko-KR" dirty="0" smtClean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계약업체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smtClean="0"/>
              <a:t>계약업체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3831550" y="2186860"/>
            <a:ext cx="2652743" cy="547623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41984" y="2218297"/>
            <a:ext cx="2461278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생산공장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위치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우편번호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8080" y="1915110"/>
            <a:ext cx="72887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생산공장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33" name="그룹 132"/>
          <p:cNvGrpSpPr/>
          <p:nvPr/>
        </p:nvGrpSpPr>
        <p:grpSpPr>
          <a:xfrm flipV="1">
            <a:off x="6240167" y="2028441"/>
            <a:ext cx="94010" cy="47005"/>
            <a:chOff x="6812560" y="3297172"/>
            <a:chExt cx="94010" cy="47005"/>
          </a:xfrm>
        </p:grpSpPr>
        <p:cxnSp>
          <p:nvCxnSpPr>
            <p:cNvPr id="134" name="직선 연결선 1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5" name="직선 연결선 1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3450656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7" name="타원 2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0133" y="271518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4" y="1915110"/>
            <a:ext cx="2456097" cy="181140"/>
            <a:chOff x="763157" y="1527996"/>
            <a:chExt cx="2456097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2182088"/>
            <a:ext cx="2630093" cy="2163618"/>
            <a:chOff x="3865118" y="2946203"/>
            <a:chExt cx="2630093" cy="2163618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21611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2025-12-01 10:00:00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*****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18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5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2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64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98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375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1204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91907" y="2218297"/>
            <a:ext cx="1911355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생산공장 명칭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주소지 표시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00000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64058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949596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5" name="타원 18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71329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계약업체</a:t>
              </a:r>
              <a:endParaRPr lang="ko-KR" altLang="en-US" sz="700" b="1" dirty="0">
                <a:latin typeface="+mn-ea"/>
              </a:endParaRPr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11918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58" name="그룹 57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1" name="타원 6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2" name="그룹 61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69" name="직선 연결선 68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직선 연결선 69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3" name="타원 62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4" name="그룹 63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67" name="직선 연결선 6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직선 연결선 6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71" name="그룹 70"/>
          <p:cNvGrpSpPr/>
          <p:nvPr/>
        </p:nvGrpSpPr>
        <p:grpSpPr>
          <a:xfrm>
            <a:off x="3881312" y="1493927"/>
            <a:ext cx="2626449" cy="354413"/>
            <a:chOff x="720490" y="4004429"/>
            <a:chExt cx="2626449" cy="354413"/>
          </a:xfrm>
        </p:grpSpPr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계약업체</a:t>
              </a:r>
              <a:endParaRPr lang="ko-KR" altLang="en-US" sz="700" b="1" dirty="0">
                <a:latin typeface="+mn-ea"/>
              </a:endParaRPr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75331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7" name="그룹 76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80" name="타원 7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81" name="그룹 8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86" name="직선 연결선 8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7" name="직선 연결선 8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2" name="타원 8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83" name="그룹 8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84" name="직선 연결선 8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직선 연결선 8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6352548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반송</a:t>
            </a:r>
            <a:r>
              <a:rPr lang="en-US" altLang="ko-KR" dirty="0" smtClean="0"/>
              <a:t>/</a:t>
            </a:r>
            <a:r>
              <a:rPr lang="ko-KR" altLang="en-US" dirty="0" smtClean="0"/>
              <a:t>취소 사유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낙찰단가반송사유</a:t>
            </a:r>
            <a:r>
              <a:rPr lang="en-US" altLang="ko-KR" dirty="0"/>
              <a:t>,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제출서류반송사유</a:t>
            </a:r>
            <a:r>
              <a:rPr lang="en-US" altLang="ko-KR" dirty="0"/>
              <a:t>,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계약서 </a:t>
            </a:r>
            <a:r>
              <a:rPr lang="ko-KR" altLang="en-US" dirty="0"/>
              <a:t>반송 사유</a:t>
            </a:r>
            <a:r>
              <a:rPr lang="en-US" altLang="ko-KR" dirty="0"/>
              <a:t>,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계약 </a:t>
            </a:r>
            <a:r>
              <a:rPr lang="ko-KR" altLang="en-US" dirty="0"/>
              <a:t>취소 사유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본문 내용은 하단으로 확장되어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박스 세로 크기 제한 없음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전자수입인지 안내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PC</a:t>
            </a:r>
            <a:r>
              <a:rPr lang="ko-KR" altLang="en-US" dirty="0" smtClean="0"/>
              <a:t>에서만 제공되는 서비스라는 추가 </a:t>
            </a:r>
            <a:r>
              <a:rPr lang="ko-KR" altLang="en-US" dirty="0" err="1" smtClean="0"/>
              <a:t>안내글</a:t>
            </a:r>
            <a:r>
              <a:rPr lang="ko-KR" altLang="en-US" dirty="0" smtClean="0"/>
              <a:t>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반송</a:t>
            </a:r>
            <a:r>
              <a:rPr lang="en-US" altLang="ko-KR" dirty="0" smtClean="0">
                <a:latin typeface="+mn-ea"/>
              </a:rPr>
              <a:t>/</a:t>
            </a:r>
            <a:r>
              <a:rPr lang="ko-KR" altLang="en-US" dirty="0" err="1" smtClean="0">
                <a:latin typeface="+mn-ea"/>
              </a:rPr>
              <a:t>취소사유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취소 사유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모서리가 둥근 직사각형 80"/>
          <p:cNvSpPr/>
          <p:nvPr/>
        </p:nvSpPr>
        <p:spPr>
          <a:xfrm>
            <a:off x="705041" y="4204344"/>
            <a:ext cx="2652743" cy="943331"/>
          </a:xfrm>
          <a:prstGeom prst="roundRect">
            <a:avLst>
              <a:gd name="adj" fmla="val 9062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3811" y="4302628"/>
            <a:ext cx="2475203" cy="7540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    </a:t>
            </a:r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업무도움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필독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기획재정부에 납부하신 경우 전자수입인지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확인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버튼 클릭 시 구매요청서에서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기납부금액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확인 후 닫기를 하셔야 정상납부처리가 됩니다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PC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버전에서 업무처리를 할 수 있습니다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4" name="타원 83"/>
          <p:cNvSpPr/>
          <p:nvPr/>
        </p:nvSpPr>
        <p:spPr>
          <a:xfrm>
            <a:off x="789853" y="4292977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5" name="그룹 84"/>
          <p:cNvGrpSpPr/>
          <p:nvPr/>
        </p:nvGrpSpPr>
        <p:grpSpPr>
          <a:xfrm flipV="1">
            <a:off x="3138674" y="4341475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878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2707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935414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반송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/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취소 반송 사유 표시 영역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89" name="타원 18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572675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27" name="그룹 26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697946" y="4358842"/>
              <a:ext cx="630615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33" name="그룹 32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36" name="타원 35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7" name="그룹 36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42" name="직선 연결선 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직선 연결선 4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타원 37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9" name="그룹 38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40" name="직선 연결선 3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직선 연결선 4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반송</a:t>
              </a:r>
              <a:r>
                <a:rPr lang="en-US" altLang="ko-KR" sz="700" b="1" dirty="0" smtClean="0">
                  <a:latin typeface="+mn-ea"/>
                </a:rPr>
                <a:t>/</a:t>
              </a:r>
              <a:r>
                <a:rPr lang="ko-KR" altLang="en-US" sz="700" b="1" dirty="0" smtClean="0">
                  <a:latin typeface="+mn-ea"/>
                </a:rPr>
                <a:t>취소 사유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4248763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첨부서류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첨부서류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2059195"/>
            <a:ext cx="2712026" cy="1602288"/>
            <a:chOff x="3795735" y="2878425"/>
            <a:chExt cx="2712026" cy="160228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7" name="직선 연결선 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8" name="직선 연결선 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9" name="모서리가 둥근 직사각형 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2" name="타원 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모서리가 둥근 직사각형 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89" name="그룹 88"/>
          <p:cNvGrpSpPr/>
          <p:nvPr/>
        </p:nvGrpSpPr>
        <p:grpSpPr>
          <a:xfrm>
            <a:off x="675399" y="3721254"/>
            <a:ext cx="2712026" cy="1602288"/>
            <a:chOff x="3795735" y="2878425"/>
            <a:chExt cx="2712026" cy="1602288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2" name="모서리가 둥근 직사각형 91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5" name="타원 94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모서리가 둥근 직사각형 95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9" name="타원 98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45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840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</a:t>
            </a:r>
            <a:r>
              <a:rPr lang="en-US" altLang="ko-KR" sz="800" dirty="0"/>
              <a:t>) 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아코디언 전체 펼침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업로드 기능 </a:t>
            </a:r>
            <a:r>
              <a:rPr lang="ko-KR" altLang="en-US" sz="800" dirty="0" err="1"/>
              <a:t>미지원</a:t>
            </a:r>
            <a:r>
              <a:rPr lang="ko-KR" altLang="en-US" sz="800" dirty="0"/>
              <a:t>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</a:t>
            </a:r>
            <a:r>
              <a:rPr lang="ko-KR" altLang="en-US" dirty="0" err="1" smtClean="0"/>
              <a:t>노출시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목록 표시 </a:t>
            </a:r>
            <a:r>
              <a:rPr lang="en-US" altLang="ko-KR" dirty="0" smtClean="0"/>
              <a:t>(</a:t>
            </a:r>
            <a:r>
              <a:rPr lang="ko-KR" altLang="en-US" dirty="0" smtClean="0"/>
              <a:t>상동</a:t>
            </a:r>
            <a:r>
              <a:rPr lang="en-US" altLang="ko-KR" dirty="0" smtClean="0"/>
              <a:t>)</a:t>
            </a:r>
          </a:p>
          <a:p>
            <a:pPr marL="0" indent="0">
              <a:buNone/>
            </a:pPr>
            <a:r>
              <a:rPr lang="en-US" altLang="ko-KR" dirty="0" smtClean="0"/>
              <a:t> </a:t>
            </a:r>
            <a:endParaRPr lang="ko-KR" altLang="en-US" dirty="0" smtClean="0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89642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201330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237348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90262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69687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3" name="그룹 52"/>
          <p:cNvGrpSpPr/>
          <p:nvPr/>
        </p:nvGrpSpPr>
        <p:grpSpPr>
          <a:xfrm>
            <a:off x="675399" y="3721254"/>
            <a:ext cx="2712026" cy="1602288"/>
            <a:chOff x="3795735" y="2878425"/>
            <a:chExt cx="2712026" cy="1602288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5" name="그룹 54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82" name="직선 연결선 8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4" name="직선 연결선 8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6" name="모서리가 둥근 직사각형 55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산출내역서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9" name="타원 58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모서리가 둥근 직사각형 59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법인등기부등본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첨부파일명이너무길면어떻게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노출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... 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3" name="타원 62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85" name="직사각형 84"/>
          <p:cNvSpPr/>
          <p:nvPr/>
        </p:nvSpPr>
        <p:spPr>
          <a:xfrm>
            <a:off x="2550244" y="4664538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grpSp>
        <p:nvGrpSpPr>
          <p:cNvPr id="86" name="그룹 85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2416546" y="4358842"/>
              <a:ext cx="385625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08" name="그룹 107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1" name="타원 11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2" name="그룹 111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7" name="직선 연결선 11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직선 연결선 11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3" name="타원 112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4" name="그룹 113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5" name="직선 연결선 11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직선 연결선 11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첨부서류</a:t>
              </a:r>
              <a:endParaRPr lang="ko-KR" altLang="en-US" sz="700" b="1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3275834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0514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계약상세정보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31243"/>
          <a:ext cx="8994883" cy="5551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ctrdocTpcd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3391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962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dfrpGrnteAmtRt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04452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97244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rntlPrps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82036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350603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leaseSecd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:UA46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8042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lsfeeGiveCrtrCd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679311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85AF4568-3FCF-6B95-3483-92580814EF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0560975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600910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34</a:t>
            </a:fld>
            <a:endParaRPr lang="ko-KR" alt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8620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전자계약 상세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920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qtrLsfee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7638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lsfeeCrtrAmt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29435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2067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4868241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7B0B425-0019-4486-8D38-E4FEB8AB839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29607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tkcgSecd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=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!=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0 : 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평가기준담당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때 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874355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563D8347-901F-73D3-1AD6-F718AB44714A}"/>
              </a:ext>
            </a:extLst>
          </p:cNvPr>
          <p:cNvSpPr txBox="1"/>
          <p:nvPr/>
        </p:nvSpPr>
        <p:spPr>
          <a:xfrm>
            <a:off x="458117" y="2149242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9187C43-79FB-F229-512E-0A6FFE4431A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615764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elsgnDt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0B9B27C-BE9B-8E90-4DD0-4B39E9A39C44}"/>
              </a:ext>
            </a:extLst>
          </p:cNvPr>
          <p:cNvSpPr txBox="1"/>
          <p:nvPr/>
        </p:nvSpPr>
        <p:spPr>
          <a:xfrm>
            <a:off x="458117" y="3417972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A557D83-7495-2564-C607-368B00300EDC}"/>
              </a:ext>
            </a:extLst>
          </p:cNvPr>
          <p:cNvSpPr txBox="1"/>
          <p:nvPr/>
        </p:nvSpPr>
        <p:spPr>
          <a:xfrm>
            <a:off x="458117" y="5787497"/>
            <a:ext cx="22191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반송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취소 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5C2342E-D75D-838C-20F1-06F3B79E004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6049987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rjctRsn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A0ED7E21-402F-B04E-02C4-FB8A162DA07A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148430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35</a:t>
            </a:fld>
            <a:endParaRPr lang="ko-KR" altLang="en-US" dirty="0"/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35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0F79D67-91C5-8E01-73AC-7F27C410BF8C}"/>
              </a:ext>
            </a:extLst>
          </p:cNvPr>
          <p:cNvSpPr txBox="1"/>
          <p:nvPr/>
        </p:nvSpPr>
        <p:spPr>
          <a:xfrm>
            <a:off x="458117" y="797837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생산공장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7F7273E4-5314-A4EF-4DF2-D1CE7772F13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032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fctryDaddr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fctryOzip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68349D1A-8834-0CFE-EFCA-2E65D1502675}"/>
              </a:ext>
            </a:extLst>
          </p:cNvPr>
          <p:cNvSpPr txBox="1"/>
          <p:nvPr/>
        </p:nvSpPr>
        <p:spPr>
          <a:xfrm>
            <a:off x="458117" y="1941015"/>
            <a:ext cx="28282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</a:t>
            </a:r>
            <a:r>
              <a:rPr lang="ko-KR" altLang="en-US" sz="900" b="1" dirty="0"/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계약관 제공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641B67F0-4567-2B9C-2711-138B2467562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20350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05B1348C-4D16-5249-4534-C5A5560B2714}"/>
              </a:ext>
            </a:extLst>
          </p:cNvPr>
          <p:cNvSpPr txBox="1"/>
          <p:nvPr/>
        </p:nvSpPr>
        <p:spPr>
          <a:xfrm>
            <a:off x="458117" y="2889942"/>
            <a:ext cx="294368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등록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D0DBED2B-6CDA-AD74-956B-9DE39427361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152432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9AD0DB35-7064-B988-CEEE-5093CC9EB92C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071278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125251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 </a:t>
            </a:r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(1/2)</a:t>
            </a:r>
            <a:endParaRPr lang="ko-KR" altLang="en-US" sz="1000" b="1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36</a:t>
            </a:fld>
            <a:endParaRPr lang="ko-KR" altLang="en-US" dirty="0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A523DA0D-2482-6C62-85DF-0395607F25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8694002"/>
              </p:ext>
            </p:extLst>
          </p:nvPr>
        </p:nvGraphicFramePr>
        <p:xfrm>
          <a:off x="458468" y="960432"/>
          <a:ext cx="8995591" cy="2554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값으로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계약진행상태 조회 클릭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scwin.grd_prgrsStts_ctrtList_onclick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/>
                        <a:t>계약진행상태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조회 팝업 화면을 호출한다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(MUI-CT-01-P17)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계약진행상태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432116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상세조회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(MUI-CT-01-P11)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(MUI-CT-01-P12)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물품최종계약명세서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(MUI-CT-01-P13)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물품수정계약명세서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(MUI-CT-01-P14)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물품일반계약명세서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6518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 smtClean="0"/>
                        <a:t>계약서표지</a:t>
                      </a:r>
                      <a:r>
                        <a:rPr lang="ko-KR" altLang="en-US" sz="800" dirty="0" smtClean="0"/>
                        <a:t> 클릭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scwin.btn_ctrdocCvr_onclick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 유형에 따라 계약서 출력물 출력물을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(UI-CT-01-R37)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UI-CT-01-R38)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무상대여계약서출력물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UI-CT-01-R39)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물품구매계약서출력물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UI-CT-01-R40)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4_G)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UI-CT-01-R42)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UI-CT-01-R43)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물품수정계약서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UI-CT-01-R44)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물품제조구매계약서출력물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UI-CT-01-R46)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물품제조설치계약서출력물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298504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4C988534-B746-F1B4-64D3-F84EAF1A87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77742" y="6257756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계약 상세 화면에서 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(+) </a:t>
            </a:r>
            <a:r>
              <a:rPr lang="ko-KR" altLang="en-US" sz="800" kern="0" dirty="0" err="1" smtClean="0">
                <a:solidFill>
                  <a:srgbClr val="0000FF"/>
                </a:solidFill>
                <a:latin typeface="+mn-ea"/>
              </a:rPr>
              <a:t>플로팅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 버튼을 클릭 했을 때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조건에 따라 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[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계약진행상태 조회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], [</a:t>
            </a:r>
            <a:r>
              <a:rPr lang="ko-KR" altLang="en-US" sz="800" kern="0" dirty="0" err="1" smtClean="0">
                <a:solidFill>
                  <a:srgbClr val="0000FF"/>
                </a:solidFill>
                <a:latin typeface="+mn-ea"/>
              </a:rPr>
              <a:t>계약명세서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 조회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], [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계약서 표지 출력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]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버튼 노출</a:t>
            </a:r>
            <a:endParaRPr lang="ko-KR" altLang="en-US" sz="800" kern="0" dirty="0">
              <a:solidFill>
                <a:srgbClr val="0000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507977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37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3438B06-4E07-BE5E-7355-E618162AE95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74000" y="1253329"/>
          <a:ext cx="8504011" cy="52194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730">
                  <a:extLst>
                    <a:ext uri="{9D8B030D-6E8A-4147-A177-3AD203B41FA5}">
                      <a16:colId xmlns:a16="http://schemas.microsoft.com/office/drawing/2014/main" val="1736131930"/>
                    </a:ext>
                  </a:extLst>
                </a:gridCol>
                <a:gridCol w="394160">
                  <a:extLst>
                    <a:ext uri="{9D8B030D-6E8A-4147-A177-3AD203B41FA5}">
                      <a16:colId xmlns:a16="http://schemas.microsoft.com/office/drawing/2014/main" val="172173065"/>
                    </a:ext>
                  </a:extLst>
                </a:gridCol>
                <a:gridCol w="624087">
                  <a:extLst>
                    <a:ext uri="{9D8B030D-6E8A-4147-A177-3AD203B41FA5}">
                      <a16:colId xmlns:a16="http://schemas.microsoft.com/office/drawing/2014/main" val="1711509732"/>
                    </a:ext>
                  </a:extLst>
                </a:gridCol>
                <a:gridCol w="505839">
                  <a:extLst>
                    <a:ext uri="{9D8B030D-6E8A-4147-A177-3AD203B41FA5}">
                      <a16:colId xmlns:a16="http://schemas.microsoft.com/office/drawing/2014/main" val="197480159"/>
                    </a:ext>
                  </a:extLst>
                </a:gridCol>
                <a:gridCol w="507481">
                  <a:extLst>
                    <a:ext uri="{9D8B030D-6E8A-4147-A177-3AD203B41FA5}">
                      <a16:colId xmlns:a16="http://schemas.microsoft.com/office/drawing/2014/main" val="1765196613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039006538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131260314"/>
                    </a:ext>
                  </a:extLst>
                </a:gridCol>
                <a:gridCol w="446714">
                  <a:extLst>
                    <a:ext uri="{9D8B030D-6E8A-4147-A177-3AD203B41FA5}">
                      <a16:colId xmlns:a16="http://schemas.microsoft.com/office/drawing/2014/main" val="2221148255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3372049076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1732212103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2259697266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224881732"/>
                    </a:ext>
                  </a:extLst>
                </a:gridCol>
                <a:gridCol w="479562">
                  <a:extLst>
                    <a:ext uri="{9D8B030D-6E8A-4147-A177-3AD203B41FA5}">
                      <a16:colId xmlns:a16="http://schemas.microsoft.com/office/drawing/2014/main" val="2622697479"/>
                    </a:ext>
                  </a:extLst>
                </a:gridCol>
                <a:gridCol w="466424">
                  <a:extLst>
                    <a:ext uri="{9D8B030D-6E8A-4147-A177-3AD203B41FA5}">
                      <a16:colId xmlns:a16="http://schemas.microsoft.com/office/drawing/2014/main" val="3192544071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615628013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05788445"/>
                    </a:ext>
                  </a:extLst>
                </a:gridCol>
              </a:tblGrid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계약진행 단계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en-US" altLang="ko-KR" sz="500" u="none" strike="noStrike" dirty="0">
                        <a:effectLst/>
                      </a:endParaRPr>
                    </a:p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 타이틀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018921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인지세 구매방법 설명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보증서 확인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전자수입인지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[</a:t>
                      </a:r>
                      <a:r>
                        <a:rPr lang="ko-KR" altLang="en-US" sz="500" u="none" strike="noStrike" dirty="0">
                          <a:effectLst/>
                        </a:rPr>
                        <a:t>구매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확인</a:t>
                      </a:r>
                      <a:r>
                        <a:rPr lang="en-US" altLang="ko-KR" sz="500" u="none" strike="noStrike" dirty="0">
                          <a:effectLst/>
                        </a:rPr>
                        <a:t>]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인지세 확인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계약명세서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제출서류 등록화면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파일첨부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낙찰단가 처리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(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낙찰단가조회</a:t>
                      </a:r>
                      <a:r>
                        <a:rPr lang="en-US" altLang="ko-KR" sz="500" u="none" strike="noStrike" dirty="0">
                          <a:effectLst/>
                        </a:rPr>
                        <a:t>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전송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 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계약체결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[</a:t>
                      </a:r>
                      <a:r>
                        <a:rPr lang="ko-KR" altLang="en-US" sz="500" u="none" strike="noStrike" dirty="0">
                          <a:effectLst/>
                        </a:rPr>
                        <a:t>전자서명</a:t>
                      </a:r>
                      <a:r>
                        <a:rPr lang="en-US" altLang="ko-KR" sz="500" u="none" strike="noStrike" dirty="0">
                          <a:effectLst/>
                        </a:rPr>
                        <a:t>]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 err="1">
                          <a:effectLst/>
                        </a:rPr>
                        <a:t>계약서표지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계좌정보 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6683991"/>
                  </a:ext>
                </a:extLst>
              </a:tr>
              <a:tr h="23417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공통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en-US" sz="500" u="none" strike="noStrike">
                          <a:effectLst/>
                        </a:rPr>
                        <a:t>Default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대표업체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O(</a:t>
                      </a:r>
                      <a:r>
                        <a:rPr lang="ko-KR" altLang="en-US" sz="500" u="none" strike="noStrike" dirty="0">
                          <a:effectLst/>
                        </a:rPr>
                        <a:t>인지세 납부대상이고</a:t>
                      </a:r>
                      <a:r>
                        <a:rPr lang="en-US" altLang="ko-KR" sz="500" u="none" strike="noStrike" dirty="0">
                          <a:effectLst/>
                        </a:rPr>
                        <a:t>, </a:t>
                      </a:r>
                      <a:r>
                        <a:rPr lang="ko-KR" altLang="en-US" sz="500" u="none" strike="noStrike" dirty="0">
                          <a:effectLst/>
                        </a:rPr>
                        <a:t>구매건수가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없을때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O(</a:t>
                      </a:r>
                      <a:r>
                        <a:rPr lang="ko-KR" altLang="en-US" sz="500" u="none" strike="noStrike">
                          <a:effectLst/>
                        </a:rPr>
                        <a:t>납부대상이고</a:t>
                      </a:r>
                      <a:r>
                        <a:rPr lang="en-US" altLang="ko-KR" sz="500" u="none" strike="noStrike">
                          <a:effectLst/>
                        </a:rPr>
                        <a:t>, </a:t>
                      </a:r>
                      <a:br>
                        <a:rPr lang="en-US" altLang="ko-KR" sz="500" u="none" strike="noStrike">
                          <a:effectLst/>
                        </a:rPr>
                      </a:br>
                      <a:r>
                        <a:rPr lang="ko-KR" altLang="en-US" sz="500" u="none" strike="noStrike">
                          <a:effectLst/>
                        </a:rPr>
                        <a:t>구매건수가 없을때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4188762"/>
                  </a:ext>
                </a:extLst>
              </a:tr>
              <a:tr h="202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627978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30-</a:t>
                      </a:r>
                      <a:r>
                        <a:rPr lang="ko-KR" altLang="en-US" sz="500" u="none" strike="noStrike">
                          <a:effectLst/>
                        </a:rPr>
                        <a:t>서류요청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904299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8613351"/>
                  </a:ext>
                </a:extLst>
              </a:tr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31-</a:t>
                      </a:r>
                      <a:r>
                        <a:rPr lang="ko-KR" altLang="en-US" sz="500" u="none" strike="noStrike">
                          <a:effectLst/>
                        </a:rPr>
                        <a:t>서류등록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383577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1734192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32-</a:t>
                      </a:r>
                      <a:r>
                        <a:rPr lang="ko-KR" altLang="en-US" sz="500" u="none" strike="noStrike">
                          <a:effectLst/>
                        </a:rPr>
                        <a:t>서류반송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제출서류반송사유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318524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3473723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33-</a:t>
                      </a:r>
                      <a:r>
                        <a:rPr lang="ko-KR" altLang="en-US" sz="500" u="none" strike="noStrike">
                          <a:effectLst/>
                        </a:rPr>
                        <a:t>서류확정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6453672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051487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34-</a:t>
                      </a:r>
                      <a:r>
                        <a:rPr lang="ko-KR" altLang="en-US" sz="500" u="none" strike="noStrike">
                          <a:effectLst/>
                        </a:rPr>
                        <a:t>서류확정취소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292830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3085352"/>
                  </a:ext>
                </a:extLst>
              </a:tr>
              <a:tr h="3778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40-</a:t>
                      </a:r>
                      <a:r>
                        <a:rPr lang="ko-KR" altLang="en-US" sz="500" u="none" strike="noStrike">
                          <a:effectLst/>
                        </a:rPr>
                        <a:t>계약체결의뢰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</a:t>
                      </a:r>
                      <a:r>
                        <a:rPr lang="ko-KR" altLang="en-US" sz="500" u="none" strike="noStrike" dirty="0">
                          <a:effectLst/>
                        </a:rPr>
                        <a:t>업체제출서류有 </a:t>
                      </a:r>
                      <a:r>
                        <a:rPr lang="en-US" altLang="ko-KR" sz="500" u="none" strike="noStrike" dirty="0">
                          <a:effectLst/>
                        </a:rPr>
                        <a:t>AND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4505749"/>
                  </a:ext>
                </a:extLst>
              </a:tr>
              <a:tr h="2554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7538187"/>
                  </a:ext>
                </a:extLst>
              </a:tr>
              <a:tr h="21288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50-</a:t>
                      </a:r>
                      <a:r>
                        <a:rPr lang="ko-KR" altLang="en-US" sz="500" u="none" strike="noStrike">
                          <a:effectLst/>
                        </a:rPr>
                        <a:t>조달업체서명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595287"/>
                  </a:ext>
                </a:extLst>
              </a:tr>
              <a:tr h="1117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7432771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51-</a:t>
                      </a:r>
                      <a:r>
                        <a:rPr lang="ko-KR" altLang="en-US" sz="500" u="none" strike="noStrike">
                          <a:effectLst/>
                        </a:rPr>
                        <a:t>조달업체반송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199614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8872238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60-</a:t>
                      </a:r>
                      <a:r>
                        <a:rPr lang="ko-KR" altLang="en-US" sz="500" u="none" strike="noStrike">
                          <a:effectLst/>
                        </a:rPr>
                        <a:t>계약취소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4683821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8782645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70-</a:t>
                      </a:r>
                      <a:r>
                        <a:rPr lang="ko-KR" altLang="en-US" sz="500" u="none" strike="noStrike">
                          <a:effectLst/>
                        </a:rPr>
                        <a:t>계약서반송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5606213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2074628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 dirty="0">
                          <a:effectLst/>
                        </a:rPr>
                        <a:t>80-</a:t>
                      </a:r>
                      <a:r>
                        <a:rPr lang="ko-KR" altLang="en-US" sz="500" u="none" strike="noStrike" dirty="0">
                          <a:effectLst/>
                        </a:rPr>
                        <a:t>계약확정요청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9452548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 err="1">
                          <a:effectLst/>
                        </a:rPr>
                        <a:t>구성업체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6156551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81-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3402637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구성업체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9671480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0941C7F-7438-77FA-CDDC-234FBDF694CF}"/>
              </a:ext>
            </a:extLst>
          </p:cNvPr>
          <p:cNvSpPr txBox="1"/>
          <p:nvPr/>
        </p:nvSpPr>
        <p:spPr>
          <a:xfrm>
            <a:off x="574000" y="960432"/>
            <a:ext cx="363224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100" dirty="0">
                <a:solidFill>
                  <a:schemeClr val="tx1"/>
                </a:solidFill>
              </a:rPr>
              <a:t>※ </a:t>
            </a:r>
            <a:r>
              <a:rPr lang="ko-KR" altLang="en-US" sz="1100" dirty="0">
                <a:solidFill>
                  <a:schemeClr val="tx1"/>
                </a:solidFill>
              </a:rPr>
              <a:t>계약진행상태별 텍스트박스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버튼 숨김 처리 </a:t>
            </a:r>
            <a:endParaRPr lang="ko-KR" altLang="en-US" sz="1100" dirty="0"/>
          </a:p>
        </p:txBody>
      </p:sp>
    </p:spTree>
    <p:extLst>
      <p:ext uri="{BB962C8B-B14F-4D97-AF65-F5344CB8AC3E}">
        <p14:creationId xmlns:p14="http://schemas.microsoft.com/office/powerpoint/2010/main" val="129455714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 err="1" smtClean="0">
                <a:latin typeface="+mn-ea"/>
              </a:rPr>
              <a:t>물품전자계약확정상세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확정 상세 </a:t>
            </a:r>
            <a:r>
              <a:rPr lang="en-US" altLang="ko-KR" dirty="0" smtClean="0"/>
              <a:t>- </a:t>
            </a:r>
            <a:r>
              <a:rPr lang="ko-KR" altLang="en-US" dirty="0" err="1" smtClean="0"/>
              <a:t>물품전자계약확정상세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물품구매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계약서 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구매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4990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163330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1633300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4990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95177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4537677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4654748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022927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152393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1876163"/>
            <a:ext cx="2630093" cy="1777166"/>
            <a:chOff x="3865118" y="2694619"/>
            <a:chExt cx="2630093" cy="1777166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2509493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7197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751232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3864563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08194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08194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204951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23495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23495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97946" y="4142235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반송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smtClean="0">
                <a:latin typeface="+mn-ea"/>
              </a:rPr>
              <a:t>취소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01478" y="1633300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반송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취소 사유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16546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첨부서류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20078" y="1633300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sp>
        <p:nvSpPr>
          <p:cNvPr id="15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103286" y="5769705"/>
            <a:ext cx="2300284" cy="651722"/>
          </a:xfrm>
          <a:prstGeom prst="rect">
            <a:avLst/>
          </a:prstGeom>
        </p:spPr>
        <p:txBody>
          <a:bodyPr anchor="b"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dirty="0" smtClean="0">
                <a:solidFill>
                  <a:srgbClr val="FF0000"/>
                </a:solidFill>
              </a:rPr>
              <a:t>참고사항</a:t>
            </a:r>
            <a:endParaRPr lang="en-US" altLang="ko-KR" dirty="0" smtClean="0">
              <a:solidFill>
                <a:srgbClr val="FF0000"/>
              </a:solidFill>
            </a:endParaRPr>
          </a:p>
          <a:p>
            <a:pPr marL="0" indent="0">
              <a:buNone/>
            </a:pP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err="1" smtClean="0">
                <a:solidFill>
                  <a:srgbClr val="FF0000"/>
                </a:solidFill>
              </a:rPr>
              <a:t>물품전자계약진행상세와</a:t>
            </a:r>
            <a:r>
              <a:rPr lang="ko-KR" altLang="en-US" dirty="0" smtClean="0">
                <a:solidFill>
                  <a:srgbClr val="FF0000"/>
                </a:solidFill>
              </a:rPr>
              <a:t> 화면이 동일함</a:t>
            </a:r>
            <a:endParaRPr lang="en-US" altLang="ko-KR" dirty="0">
              <a:solidFill>
                <a:srgbClr val="FF0000"/>
              </a:solidFill>
            </a:endParaRPr>
          </a:p>
        </p:txBody>
      </p:sp>
      <p:grpSp>
        <p:nvGrpSpPr>
          <p:cNvPr id="156" name="그룹 15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7" name="그룹 15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1" name="그룹 160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2" name="타원 16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3" name="그룹 16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64" name="직선 연결선 1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5" name="직선 연결선 1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66" name="평행 사변형 165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TextBox 166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  <p:sp>
        <p:nvSpPr>
          <p:cNvPr id="15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800" dirty="0"/>
              <a:t>타이틀 영역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1-1] </a:t>
            </a:r>
            <a:r>
              <a:rPr lang="ko-KR" altLang="en-US" sz="800" dirty="0"/>
              <a:t>레이블이 화면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화면 넘치는 경우 드래그하여 확인 가능 </a:t>
            </a:r>
            <a:r>
              <a:rPr lang="en-US" altLang="ko-KR" sz="800" dirty="0"/>
              <a:t>(</a:t>
            </a:r>
            <a:r>
              <a:rPr lang="ko-KR" altLang="en-US" sz="800" dirty="0" err="1"/>
              <a:t>스와이프기능</a:t>
            </a:r>
            <a:r>
              <a:rPr lang="ko-KR" altLang="en-US" sz="800" dirty="0"/>
              <a:t> 반영 필요</a:t>
            </a:r>
            <a:r>
              <a:rPr lang="en-US" altLang="ko-KR" sz="800" dirty="0"/>
              <a:t>)</a:t>
            </a:r>
            <a:br>
              <a:rPr lang="en-US" altLang="ko-KR" sz="800" dirty="0"/>
            </a:br>
            <a:r>
              <a:rPr lang="en-US" altLang="ko-KR" sz="800" dirty="0"/>
              <a:t>1-2] </a:t>
            </a:r>
            <a:r>
              <a:rPr lang="ko-KR" altLang="en-US" sz="800" dirty="0"/>
              <a:t>문서 정보 영역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 err="1"/>
              <a:t>판단번호</a:t>
            </a:r>
            <a:r>
              <a:rPr lang="ko-KR" altLang="en-US" sz="800" dirty="0"/>
              <a:t> </a:t>
            </a:r>
            <a:r>
              <a:rPr lang="en-US" altLang="ko-KR" sz="800" dirty="0"/>
              <a:t>,  </a:t>
            </a:r>
            <a:r>
              <a:rPr lang="ko-KR" altLang="en-US" sz="800" dirty="0" err="1"/>
              <a:t>계약번호</a:t>
            </a:r>
            <a:r>
              <a:rPr lang="ko-KR" altLang="en-US" sz="800" dirty="0"/>
              <a:t> 노출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 err="1"/>
              <a:t>판단번호</a:t>
            </a:r>
            <a:r>
              <a:rPr lang="ko-KR" altLang="en-US" sz="800" dirty="0"/>
              <a:t> </a:t>
            </a:r>
            <a:r>
              <a:rPr lang="ko-KR" altLang="en-US" sz="800" dirty="0" err="1"/>
              <a:t>전체노출</a:t>
            </a:r>
            <a:r>
              <a:rPr lang="ko-KR" altLang="en-US" sz="800" dirty="0"/>
              <a:t> </a:t>
            </a:r>
            <a:r>
              <a:rPr lang="en-US" altLang="ko-KR" sz="800" dirty="0"/>
              <a:t>/ </a:t>
            </a:r>
            <a:r>
              <a:rPr lang="ko-KR" altLang="en-US" sz="800" dirty="0" err="1"/>
              <a:t>계약번호</a:t>
            </a:r>
            <a:r>
              <a:rPr lang="ko-KR" altLang="en-US" sz="800" dirty="0"/>
              <a:t> </a:t>
            </a:r>
            <a:r>
              <a:rPr lang="ko-KR" altLang="en-US" sz="800" dirty="0" err="1"/>
              <a:t>노출시</a:t>
            </a:r>
            <a:r>
              <a:rPr lang="ko-KR" altLang="en-US" sz="800" dirty="0"/>
              <a:t> 해당 라인을 넘어가면 </a:t>
            </a:r>
            <a:r>
              <a:rPr lang="en-US" altLang="ko-KR" sz="800" dirty="0"/>
              <a:t>(…) </a:t>
            </a:r>
            <a:r>
              <a:rPr lang="ko-KR" altLang="en-US" sz="800" dirty="0" err="1"/>
              <a:t>말줄임</a:t>
            </a:r>
            <a:r>
              <a:rPr lang="ko-KR" altLang="en-US" sz="800" dirty="0"/>
              <a:t> 표시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1-3] </a:t>
            </a:r>
            <a:r>
              <a:rPr lang="ko-KR" altLang="en-US" sz="800" dirty="0"/>
              <a:t>문서 제목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제목은 </a:t>
            </a:r>
            <a:r>
              <a:rPr lang="en-US" altLang="ko-KR" sz="800" dirty="0"/>
              <a:t>2</a:t>
            </a:r>
            <a:r>
              <a:rPr lang="ko-KR" altLang="en-US" sz="800" dirty="0"/>
              <a:t>줄 까지 노출 이후</a:t>
            </a:r>
            <a:r>
              <a:rPr lang="en-US" altLang="ko-KR" sz="800" dirty="0"/>
              <a:t>(…) </a:t>
            </a:r>
            <a:r>
              <a:rPr lang="ko-KR" altLang="en-US" sz="800" dirty="0" err="1"/>
              <a:t>말줄임</a:t>
            </a:r>
            <a:r>
              <a:rPr lang="ko-KR" altLang="en-US" sz="800" dirty="0"/>
              <a:t> 표시</a:t>
            </a: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/>
              <a:t>업무도움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기본값 </a:t>
            </a:r>
            <a:r>
              <a:rPr lang="en-US" altLang="ko-KR" sz="800" dirty="0"/>
              <a:t>: </a:t>
            </a:r>
            <a:r>
              <a:rPr lang="ko-KR" altLang="en-US" sz="800" dirty="0"/>
              <a:t>접힘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 err="1"/>
              <a:t>클릭시</a:t>
            </a:r>
            <a:r>
              <a:rPr lang="ko-KR" altLang="en-US" sz="800" dirty="0"/>
              <a:t> 확장하여 정보 표시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</a:t>
            </a:r>
            <a:r>
              <a:rPr lang="ko-KR" altLang="en-US" sz="800" dirty="0" err="1"/>
              <a:t>업무도움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&gt; </a:t>
            </a:r>
            <a:r>
              <a:rPr lang="ko-KR" altLang="en-US" sz="800" dirty="0"/>
              <a:t>내역이 있는 경우 만 표시</a:t>
            </a: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/>
              <a:t>탭 영역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상세내용 </a:t>
            </a:r>
            <a:r>
              <a:rPr lang="en-US" altLang="ko-KR" sz="800" dirty="0"/>
              <a:t>Tab</a:t>
            </a:r>
            <a:r>
              <a:rPr lang="ko-KR" altLang="en-US" sz="800" dirty="0"/>
              <a:t>은 진입 시 고정 노출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탭 내용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ko-KR" altLang="en-US" sz="800" dirty="0"/>
              <a:t>상세정보</a:t>
            </a:r>
            <a:r>
              <a:rPr lang="en-US" altLang="ko-KR" sz="800" dirty="0"/>
              <a:t>, </a:t>
            </a:r>
            <a:r>
              <a:rPr lang="ko-KR" altLang="en-US" sz="800" dirty="0"/>
              <a:t>계약업체</a:t>
            </a:r>
            <a:r>
              <a:rPr lang="en-US" altLang="ko-KR" sz="800" dirty="0"/>
              <a:t>, </a:t>
            </a:r>
            <a:r>
              <a:rPr lang="ko-KR" altLang="en-US" sz="800" dirty="0"/>
              <a:t>반송</a:t>
            </a:r>
            <a:r>
              <a:rPr lang="en-US" altLang="ko-KR" sz="800" dirty="0"/>
              <a:t>/</a:t>
            </a:r>
            <a:r>
              <a:rPr lang="ko-KR" altLang="en-US" sz="800" dirty="0" err="1"/>
              <a:t>취소사유</a:t>
            </a:r>
            <a:r>
              <a:rPr lang="en-US" altLang="ko-KR" sz="800" dirty="0"/>
              <a:t>, </a:t>
            </a:r>
            <a:r>
              <a:rPr lang="ko-KR" altLang="en-US" sz="800" dirty="0"/>
              <a:t>첨부서류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&gt; </a:t>
            </a:r>
            <a:r>
              <a:rPr lang="ko-KR" altLang="en-US" sz="800" dirty="0"/>
              <a:t>로그인 필요 서비스 안내 표시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 smtClean="0"/>
              <a:t>화면이 넘치는 경우 </a:t>
            </a:r>
            <a:r>
              <a:rPr lang="ko-KR" altLang="en-US" sz="800" dirty="0"/>
              <a:t>드래그하여 확인</a:t>
            </a:r>
            <a:r>
              <a:rPr lang="en-US" altLang="ko-KR" sz="800" dirty="0"/>
              <a:t>(</a:t>
            </a:r>
            <a:r>
              <a:rPr lang="ko-KR" altLang="en-US" sz="800" dirty="0" err="1"/>
              <a:t>스와이프기능</a:t>
            </a:r>
            <a:r>
              <a:rPr lang="ko-KR" altLang="en-US" sz="800" dirty="0"/>
              <a:t> 반영 필요</a:t>
            </a:r>
            <a:r>
              <a:rPr lang="en-US" altLang="ko-KR" sz="800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/>
              <a:t>계약 상세 정보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각 공고에 맞춰 폼 변화에 유의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 err="1"/>
              <a:t>상세내용에</a:t>
            </a:r>
            <a:r>
              <a:rPr lang="ko-KR" altLang="en-US" sz="800" dirty="0"/>
              <a:t> 포함된 정보 표시</a:t>
            </a: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/>
              <a:t>기본값은 상단 이동 버튼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ko-KR" altLang="en-US" sz="800" dirty="0"/>
              <a:t>현 상세내용 탭에서는 </a:t>
            </a: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en-US" altLang="ko-KR" sz="800" dirty="0"/>
              <a:t>+</a:t>
            </a:r>
            <a:r>
              <a:rPr lang="ko-KR" altLang="en-US" sz="800" dirty="0"/>
              <a:t>버튼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해당 페이지에서 호출되는 이벤트 목록 표시</a:t>
            </a:r>
            <a:r>
              <a:rPr lang="en-US" altLang="ko-KR" sz="800" dirty="0"/>
              <a:t> (</a:t>
            </a:r>
            <a:r>
              <a:rPr lang="ko-KR" altLang="en-US" sz="800" dirty="0"/>
              <a:t>항목설명페이지 참고</a:t>
            </a:r>
            <a:r>
              <a:rPr lang="en-US" altLang="ko-KR" sz="800" dirty="0"/>
              <a:t>)</a:t>
            </a:r>
            <a:br>
              <a:rPr lang="en-US" altLang="ko-KR" sz="800" dirty="0"/>
            </a:br>
            <a:r>
              <a:rPr lang="en-US" altLang="ko-KR" sz="800" dirty="0">
                <a:solidFill>
                  <a:srgbClr val="FF0000"/>
                </a:solidFill>
              </a:rPr>
              <a:t>- [</a:t>
            </a:r>
            <a:r>
              <a:rPr lang="ko-KR" altLang="en-US" sz="800" dirty="0">
                <a:solidFill>
                  <a:srgbClr val="FF0000"/>
                </a:solidFill>
              </a:rPr>
              <a:t>계약진행상태 조회</a:t>
            </a:r>
            <a:r>
              <a:rPr lang="en-US" altLang="ko-KR" sz="800" dirty="0">
                <a:solidFill>
                  <a:srgbClr val="FF0000"/>
                </a:solidFill>
              </a:rPr>
              <a:t>], [</a:t>
            </a:r>
            <a:r>
              <a:rPr lang="ko-KR" altLang="en-US" sz="800" dirty="0" err="1">
                <a:solidFill>
                  <a:srgbClr val="FF0000"/>
                </a:solidFill>
              </a:rPr>
              <a:t>계약명세서</a:t>
            </a:r>
            <a:r>
              <a:rPr lang="ko-KR" altLang="en-US" sz="800" dirty="0">
                <a:solidFill>
                  <a:srgbClr val="FF0000"/>
                </a:solidFill>
              </a:rPr>
              <a:t> 조회</a:t>
            </a:r>
            <a:r>
              <a:rPr lang="en-US" altLang="ko-KR" sz="800" dirty="0">
                <a:solidFill>
                  <a:srgbClr val="FF0000"/>
                </a:solidFill>
              </a:rPr>
              <a:t>], [</a:t>
            </a:r>
            <a:r>
              <a:rPr lang="ko-KR" altLang="en-US" sz="800" dirty="0">
                <a:solidFill>
                  <a:srgbClr val="FF0000"/>
                </a:solidFill>
              </a:rPr>
              <a:t>계약서 표지 출력</a:t>
            </a:r>
            <a:r>
              <a:rPr lang="en-US" altLang="ko-KR" sz="800" dirty="0">
                <a:solidFill>
                  <a:srgbClr val="FF0000"/>
                </a:solidFill>
              </a:rPr>
              <a:t>] </a:t>
            </a:r>
            <a:r>
              <a:rPr lang="ko-KR" altLang="en-US" sz="800" dirty="0">
                <a:solidFill>
                  <a:srgbClr val="FF0000"/>
                </a:solidFill>
              </a:rPr>
              <a:t>버튼 </a:t>
            </a:r>
            <a:r>
              <a:rPr lang="ko-KR" altLang="en-US" sz="800" dirty="0" err="1">
                <a:solidFill>
                  <a:srgbClr val="FF0000"/>
                </a:solidFill>
              </a:rPr>
              <a:t>바텀시트</a:t>
            </a:r>
            <a:r>
              <a:rPr lang="ko-KR" altLang="en-US" sz="800" dirty="0">
                <a:solidFill>
                  <a:srgbClr val="FF0000"/>
                </a:solidFill>
              </a:rPr>
              <a:t> </a:t>
            </a:r>
            <a:r>
              <a:rPr lang="ko-KR" altLang="en-US" sz="800" dirty="0" smtClean="0">
                <a:solidFill>
                  <a:srgbClr val="FF0000"/>
                </a:solidFill>
              </a:rPr>
              <a:t>노출</a:t>
            </a:r>
            <a:endParaRPr lang="en-US" altLang="ko-KR" sz="800" dirty="0">
              <a:solidFill>
                <a:srgbClr val="FF0000"/>
              </a:solidFill>
            </a:endParaRPr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5" name="타원 15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69" name="타원 1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5287" y="44784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70" name="타원 1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173" name="타원 1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49293" y="50666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74" name="직사각형 173"/>
          <p:cNvSpPr/>
          <p:nvPr/>
        </p:nvSpPr>
        <p:spPr>
          <a:xfrm>
            <a:off x="7066443" y="5852379"/>
            <a:ext cx="2337127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특이사항 </a:t>
            </a:r>
            <a:r>
              <a:rPr lang="ko-KR" altLang="en-US" sz="500" dirty="0" err="1" smtClean="0"/>
              <a:t>전체수정</a:t>
            </a:r>
            <a:endParaRPr lang="en-US" altLang="ko-KR" sz="500" dirty="0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3533865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0513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8067"/>
          <a:ext cx="8994883" cy="5551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ctrdocTpcd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61647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47427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dfrpGrnteAmtRt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4432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53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rntlPrps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191182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22612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leaseSecd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:UA46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67174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lsfeeGiveCrtrCd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0836245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718C1639-1E46-9CE1-B29A-DA70720512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30C79D3-37B1-F2A7-1318-46FCBEF95D93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670397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40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181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qtrLsfee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lsfeeCrtrAmt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C4F2FA94-A180-60B9-B531-94455F37C5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298451"/>
          <a:ext cx="8994883" cy="1069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tkcgSecd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=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!=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0 : 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평가기준담당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때 계약담당</a:t>
                      </a:r>
                    </a:p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874355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7D97703E-51A6-2C31-B4F3-A0DA05ACE555}"/>
              </a:ext>
            </a:extLst>
          </p:cNvPr>
          <p:cNvSpPr txBox="1"/>
          <p:nvPr/>
        </p:nvSpPr>
        <p:spPr>
          <a:xfrm>
            <a:off x="443054" y="2054916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8B10A94D-0FF9-6706-A496-65878377BE2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619166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elsgnDt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487CA49-D82F-3598-E12F-FA116B4CA444}"/>
              </a:ext>
            </a:extLst>
          </p:cNvPr>
          <p:cNvSpPr txBox="1"/>
          <p:nvPr/>
        </p:nvSpPr>
        <p:spPr>
          <a:xfrm>
            <a:off x="443054" y="3393462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C1020C5-3D81-1F1E-5FDB-8B36994D65F8}"/>
              </a:ext>
            </a:extLst>
          </p:cNvPr>
          <p:cNvSpPr txBox="1"/>
          <p:nvPr/>
        </p:nvSpPr>
        <p:spPr>
          <a:xfrm>
            <a:off x="443052" y="5838258"/>
            <a:ext cx="22191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반송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취소 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2397D76-130B-CEF0-BCFC-83279D3FE1D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4" y="6100748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rjctRsn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B0632762-7C2C-ACA0-7D89-265A1C4196A2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234333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41</a:t>
            </a:fld>
            <a:endParaRPr lang="ko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0A9011-591A-6305-B192-97B2365740CF}"/>
              </a:ext>
            </a:extLst>
          </p:cNvPr>
          <p:cNvSpPr txBox="1"/>
          <p:nvPr/>
        </p:nvSpPr>
        <p:spPr>
          <a:xfrm>
            <a:off x="443054" y="78521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생산공장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21C5BBE6-5BC5-38E5-3222-0A72BFE432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4770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fctryDaddr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fctryOzip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CC942520-4CBE-6772-6DB4-B614DEE8CE6C}"/>
              </a:ext>
            </a:extLst>
          </p:cNvPr>
          <p:cNvSpPr txBox="1"/>
          <p:nvPr/>
        </p:nvSpPr>
        <p:spPr>
          <a:xfrm>
            <a:off x="443054" y="1944337"/>
            <a:ext cx="28282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</a:t>
            </a:r>
            <a:r>
              <a:rPr lang="ko-KR" altLang="en-US" sz="900" b="1" dirty="0"/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계약관 제공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59827C19-D465-D176-D51A-4BACD2F4635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206827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F8C8B61D-A93C-A910-7421-6836A6C357FB}"/>
              </a:ext>
            </a:extLst>
          </p:cNvPr>
          <p:cNvSpPr txBox="1"/>
          <p:nvPr/>
        </p:nvSpPr>
        <p:spPr>
          <a:xfrm>
            <a:off x="443054" y="2923774"/>
            <a:ext cx="294368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등록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4400D6AE-CDA3-92C7-0D1E-15BEC9CB800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18626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82CF135C-EED4-8F17-5FD8-61941DBF595C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5375291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42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2443431"/>
              </p:ext>
            </p:extLst>
          </p:nvPr>
        </p:nvGraphicFramePr>
        <p:xfrm>
          <a:off x="453000" y="99978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6835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7" name="Text Box 73">
            <a:extLst>
              <a:ext uri="{FF2B5EF4-FFF2-40B4-BE49-F238E27FC236}">
                <a16:creationId xmlns:a16="http://schemas.microsoft.com/office/drawing/2014/main" id="{CABF810B-D96F-3B9F-94E3-39E5FCD6FC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7169994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/>
              <a:t>공사전자계약진행상세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 smtClean="0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1297" y="4465173"/>
            <a:ext cx="80392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3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6161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1633299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1633299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616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606883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" name="그룹 7"/>
          <p:cNvGrpSpPr/>
          <p:nvPr/>
        </p:nvGrpSpPr>
        <p:grpSpPr>
          <a:xfrm>
            <a:off x="6553092" y="5134085"/>
            <a:ext cx="371277" cy="868327"/>
            <a:chOff x="6596790" y="5154989"/>
            <a:chExt cx="371277" cy="868327"/>
          </a:xfrm>
        </p:grpSpPr>
        <p:sp>
          <p:nvSpPr>
            <p:cNvPr id="277" name="타원 276"/>
            <p:cNvSpPr/>
            <p:nvPr/>
          </p:nvSpPr>
          <p:spPr>
            <a:xfrm>
              <a:off x="6596790" y="5154989"/>
              <a:ext cx="371277" cy="38307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7" name="그룹 26"/>
            <p:cNvGrpSpPr/>
            <p:nvPr/>
          </p:nvGrpSpPr>
          <p:grpSpPr>
            <a:xfrm>
              <a:off x="6726256" y="5272060"/>
              <a:ext cx="120320" cy="148935"/>
              <a:chOff x="161606" y="5392781"/>
              <a:chExt cx="97885" cy="117432"/>
            </a:xfrm>
          </p:grpSpPr>
          <p:cxnSp>
            <p:nvCxnSpPr>
              <p:cNvPr id="279" name="직선 연결선 278"/>
              <p:cNvCxnSpPr/>
              <p:nvPr/>
            </p:nvCxnSpPr>
            <p:spPr>
              <a:xfrm flipV="1">
                <a:off x="163100" y="5409099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0" name="직선 연결선 279"/>
              <p:cNvCxnSpPr/>
              <p:nvPr/>
            </p:nvCxnSpPr>
            <p:spPr>
              <a:xfrm flipH="1" flipV="1">
                <a:off x="210105" y="5409099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" name="직선 연결선 24"/>
              <p:cNvCxnSpPr/>
              <p:nvPr/>
            </p:nvCxnSpPr>
            <p:spPr>
              <a:xfrm>
                <a:off x="210549" y="5412328"/>
                <a:ext cx="0" cy="9788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/>
              <p:cNvCxnSpPr/>
              <p:nvPr/>
            </p:nvCxnSpPr>
            <p:spPr>
              <a:xfrm rot="16200000">
                <a:off x="210549" y="5343838"/>
                <a:ext cx="0" cy="9788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" name="그룹 2"/>
            <p:cNvGrpSpPr/>
            <p:nvPr/>
          </p:nvGrpSpPr>
          <p:grpSpPr>
            <a:xfrm>
              <a:off x="6596790" y="5640239"/>
              <a:ext cx="371277" cy="383077"/>
              <a:chOff x="6596790" y="5640239"/>
              <a:chExt cx="383077" cy="383077"/>
            </a:xfrm>
          </p:grpSpPr>
          <p:sp>
            <p:nvSpPr>
              <p:cNvPr id="284" name="타원 283"/>
              <p:cNvSpPr/>
              <p:nvPr/>
            </p:nvSpPr>
            <p:spPr>
              <a:xfrm>
                <a:off x="6596790" y="5640239"/>
                <a:ext cx="383077" cy="38307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8" name="그룹 27"/>
              <p:cNvGrpSpPr/>
              <p:nvPr/>
            </p:nvGrpSpPr>
            <p:grpSpPr>
              <a:xfrm>
                <a:off x="6726257" y="5769705"/>
                <a:ext cx="124144" cy="124144"/>
                <a:chOff x="162544" y="5299917"/>
                <a:chExt cx="124144" cy="124144"/>
              </a:xfrm>
            </p:grpSpPr>
            <p:cxnSp>
              <p:nvCxnSpPr>
                <p:cNvPr id="288" name="직선 연결선 287"/>
                <p:cNvCxnSpPr/>
                <p:nvPr/>
              </p:nvCxnSpPr>
              <p:spPr>
                <a:xfrm>
                  <a:off x="224616" y="5299917"/>
                  <a:ext cx="0" cy="124144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직선 연결선 288"/>
                <p:cNvCxnSpPr/>
                <p:nvPr/>
              </p:nvCxnSpPr>
              <p:spPr>
                <a:xfrm rot="16200000">
                  <a:off x="224616" y="5299917"/>
                  <a:ext cx="0" cy="124144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46" name="그룹 24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247" name="그룹 24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49" name="타원 24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2606" y="1846562"/>
            <a:ext cx="2630093" cy="1777166"/>
            <a:chOff x="3865118" y="2694619"/>
            <a:chExt cx="2630093" cy="1777166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3126805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65257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751231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3864562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97946" y="4142235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하자담보책임</a:t>
            </a: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01478" y="1633299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하자담보책임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16546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첨부서류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20078" y="1633299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grpSp>
        <p:nvGrpSpPr>
          <p:cNvPr id="155" name="그룹 154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56" name="타원 155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7" name="그룹 156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387" name="타원 38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389" name="평행 사변형 388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0" name="TextBox 389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  <p:sp>
        <p:nvSpPr>
          <p:cNvPr id="145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계약번호</a:t>
            </a:r>
            <a:r>
              <a:rPr lang="en-US" altLang="ko-KR" sz="800" dirty="0" smtClean="0"/>
              <a:t>: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+ </a:t>
            </a:r>
            <a:r>
              <a:rPr lang="ko-KR" altLang="en-US" sz="800" dirty="0" err="1" smtClean="0"/>
              <a:t>계약회차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계약업체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반송</a:t>
            </a:r>
            <a:r>
              <a:rPr lang="en-US" altLang="ko-KR" sz="800" dirty="0" smtClean="0"/>
              <a:t>/</a:t>
            </a:r>
            <a:r>
              <a:rPr lang="ko-KR" altLang="en-US" sz="800" dirty="0" smtClean="0"/>
              <a:t>취소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첨부서류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sz="800" dirty="0" smtClean="0"/>
              <a:t>+</a:t>
            </a:r>
            <a:r>
              <a:rPr lang="ko-KR" altLang="en-US" sz="800" dirty="0" smtClean="0"/>
              <a:t>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해당 페이지에서 호출되는 이벤트 목록 표시</a:t>
            </a:r>
            <a:r>
              <a:rPr lang="en-US" altLang="ko-KR" sz="800" dirty="0" smtClean="0"/>
              <a:t> (</a:t>
            </a:r>
            <a:r>
              <a:rPr lang="ko-KR" altLang="en-US" sz="800" dirty="0" smtClean="0"/>
              <a:t>항목설명페이지 참고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>
                <a:latin typeface="+mn-ea"/>
              </a:rPr>
              <a:t>출력물이 </a:t>
            </a:r>
            <a:r>
              <a:rPr lang="ko-KR" altLang="en-US" sz="800" dirty="0">
                <a:latin typeface="+mn-ea"/>
              </a:rPr>
              <a:t>있는 계약의 경우</a:t>
            </a:r>
            <a:r>
              <a:rPr lang="en-US" altLang="ko-KR" sz="800" dirty="0">
                <a:latin typeface="+mn-ea"/>
              </a:rPr>
              <a:t/>
            </a:r>
            <a:br>
              <a:rPr lang="en-US" altLang="ko-KR" sz="800" dirty="0">
                <a:latin typeface="+mn-ea"/>
              </a:rPr>
            </a:br>
            <a:r>
              <a:rPr lang="en-US" altLang="ko-KR" sz="800" dirty="0">
                <a:latin typeface="+mn-ea"/>
              </a:rPr>
              <a:t>(UI-CT-01-R35)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공사도급계약서출력물</a:t>
            </a:r>
            <a:r>
              <a:rPr lang="en-US" altLang="ko-KR" sz="800" dirty="0">
                <a:latin typeface="+mn-ea"/>
              </a:rPr>
              <a:t>, (UI-CT-01-R36)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기술용역계약서출력물</a:t>
            </a:r>
            <a:endParaRPr lang="ko-KR" altLang="en-US" sz="800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sz="800" dirty="0" smtClean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47" name="타원 1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49" name="타원 1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47328" y="56881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60" name="직사각형 159"/>
          <p:cNvSpPr/>
          <p:nvPr/>
        </p:nvSpPr>
        <p:spPr>
          <a:xfrm>
            <a:off x="7066105" y="6072298"/>
            <a:ext cx="232502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특이사항 </a:t>
            </a:r>
            <a:r>
              <a:rPr lang="ko-KR" altLang="en-US" sz="500" dirty="0" err="1" smtClean="0"/>
              <a:t>전체수정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392984153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078406" y="1483462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전자계약</a:t>
            </a:r>
            <a:r>
              <a:rPr lang="ko-KR" altLang="en-US" dirty="0"/>
              <a:t> 진행 상세정보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35963"/>
            <a:ext cx="2630093" cy="4400913"/>
            <a:chOff x="701175" y="1527996"/>
            <a:chExt cx="2630093" cy="4400913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3364" y="1527996"/>
              <a:ext cx="123984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0808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09342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발주처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하자담보유무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준공연월일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계약시작일자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계약종료일자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낙찰자확정일자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입찰일자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09342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 smtClean="0">
                  <a:latin typeface="+mn-ea"/>
                </a:rPr>
                <a:t>공사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제한경쟁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077285"/>
              <a:chOff x="701175" y="1835481"/>
              <a:chExt cx="2630093" cy="4077285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41236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2" name="직선 연결선 1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71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3" name="직선 연결선 18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418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4" name="직선 연결선 18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565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5" name="직선 연결선 18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713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6" name="직선 연결선 1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86059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7" name="직선 연결선 18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9802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9" name="직선 연결선 1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91276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650615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물가변동계약금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err="1" smtClean="0">
                  <a:latin typeface="+mn-ea"/>
                </a:rPr>
                <a:t>조정방법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704476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197" name="직사각형 196"/>
          <p:cNvSpPr/>
          <p:nvPr/>
        </p:nvSpPr>
        <p:spPr>
          <a:xfrm>
            <a:off x="3823602" y="1901752"/>
            <a:ext cx="792000" cy="85895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0664" y="1901751"/>
            <a:ext cx="893348" cy="82747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처리사유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수정사유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관련근거</a:t>
            </a:r>
            <a:endParaRPr lang="en-US" altLang="ko-KR" sz="700" dirty="0">
              <a:latin typeface="+mn-ea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1901751"/>
            <a:ext cx="1768896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계약확정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기타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</a:t>
            </a:r>
          </a:p>
        </p:txBody>
      </p:sp>
      <p:grpSp>
        <p:nvGrpSpPr>
          <p:cNvPr id="231" name="그룹 230"/>
          <p:cNvGrpSpPr/>
          <p:nvPr/>
        </p:nvGrpSpPr>
        <p:grpSpPr>
          <a:xfrm>
            <a:off x="3821509" y="1901751"/>
            <a:ext cx="2630093" cy="858960"/>
            <a:chOff x="701175" y="1835481"/>
            <a:chExt cx="2630093" cy="858960"/>
          </a:xfrm>
        </p:grpSpPr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183548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0502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264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4797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6944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777042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계약금액</a:t>
            </a:r>
            <a:endParaRPr lang="ko-KR" altLang="en-US" sz="700" dirty="0">
              <a:latin typeface="+mn-ea"/>
            </a:endParaRPr>
          </a:p>
        </p:txBody>
      </p:sp>
      <p:sp>
        <p:nvSpPr>
          <p:cNvPr id="75" name="직사각형 74"/>
          <p:cNvSpPr/>
          <p:nvPr/>
        </p:nvSpPr>
        <p:spPr>
          <a:xfrm>
            <a:off x="3838794" y="3028626"/>
            <a:ext cx="792000" cy="259792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302862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3028627"/>
            <a:ext cx="67077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일반예산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국채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합계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총부기금액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계약보증금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지체상금률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공채매입금액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낙찰율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낙찰금액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예정금액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3028627"/>
            <a:ext cx="1775839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0.15 </a:t>
            </a:r>
            <a:r>
              <a:rPr lang="en-US" altLang="ko-KR" sz="700" dirty="0" smtClean="0">
                <a:latin typeface="+mn-ea"/>
              </a:rPr>
              <a:t>%</a:t>
            </a:r>
          </a:p>
          <a:p>
            <a:pPr algn="r"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00 %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25973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4734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6871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2" name="직선 연결선 8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008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11456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32826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7135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4438644"/>
            <a:ext cx="7255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국민주택채권</a:t>
            </a:r>
            <a:endParaRPr lang="en-US" altLang="ko-KR" sz="700" dirty="0" smtClean="0">
              <a:latin typeface="+mn-ea"/>
            </a:endParaRPr>
          </a:p>
          <a:p>
            <a:r>
              <a:rPr lang="ko-KR" altLang="en-US" sz="700" dirty="0" err="1" smtClean="0">
                <a:latin typeface="+mn-ea"/>
              </a:rPr>
              <a:t>매입금액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4492505"/>
            <a:ext cx="7255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국계령</a:t>
            </a:r>
            <a:r>
              <a:rPr lang="ko-KR" altLang="en-US" sz="700" dirty="0">
                <a:latin typeface="+mn-ea"/>
              </a:rPr>
              <a:t> 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조 </a:t>
            </a:r>
            <a:r>
              <a:rPr lang="en-US" altLang="ko-KR" sz="700" dirty="0">
                <a:latin typeface="+mn-ea"/>
              </a:rPr>
              <a:t>... </a:t>
            </a:r>
          </a:p>
        </p:txBody>
      </p: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76446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97817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19188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4055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61929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타원 105"/>
          <p:cNvSpPr/>
          <p:nvPr/>
        </p:nvSpPr>
        <p:spPr>
          <a:xfrm flipH="1">
            <a:off x="4487811" y="4492367"/>
            <a:ext cx="108000" cy="108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 smtClean="0">
                <a:solidFill>
                  <a:schemeClr val="tx1"/>
                </a:solidFill>
              </a:rPr>
              <a:t>?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8" name="타원 107"/>
          <p:cNvSpPr/>
          <p:nvPr/>
        </p:nvSpPr>
        <p:spPr>
          <a:xfrm flipH="1">
            <a:off x="4487811" y="4817320"/>
            <a:ext cx="108000" cy="108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 smtClean="0">
                <a:solidFill>
                  <a:schemeClr val="tx1"/>
                </a:solidFill>
              </a:rPr>
              <a:t>?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2" name="타원 11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3" name="그룹 11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8" name="직선 연결선 11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직선 연결선 11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4" name="타원 11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5" name="그룹 11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6" name="직선 연결선 1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직선 연결선 11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하자담보책임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23" name="그룹 122"/>
          <p:cNvGrpSpPr/>
          <p:nvPr/>
        </p:nvGrpSpPr>
        <p:grpSpPr>
          <a:xfrm>
            <a:off x="3838523" y="1493927"/>
            <a:ext cx="2626449" cy="354413"/>
            <a:chOff x="720490" y="4004429"/>
            <a:chExt cx="2626449" cy="354413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29" name="그룹 128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32" name="타원 13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3" name="그룹 13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8" name="직선 연결선 13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직선 연결선 139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4" name="타원 13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5" name="그룹 13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6" name="직선 연결선 13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7" name="직선 연결선 13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하자담보책임</a:t>
              </a: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3531280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계약업체</a:t>
            </a:r>
            <a:r>
              <a:rPr lang="en-US" altLang="ko-KR" dirty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업체 정보가 반복 표시됨</a:t>
            </a:r>
            <a:r>
              <a:rPr lang="en-US" altLang="ko-KR" dirty="0" smtClean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계약업체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smtClean="0"/>
              <a:t>계약업체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그룹 4"/>
          <p:cNvGrpSpPr/>
          <p:nvPr/>
        </p:nvGrpSpPr>
        <p:grpSpPr>
          <a:xfrm>
            <a:off x="803364" y="2828622"/>
            <a:ext cx="2456097" cy="181140"/>
            <a:chOff x="763157" y="1527996"/>
            <a:chExt cx="2456097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3095600"/>
            <a:ext cx="2630093" cy="3016211"/>
            <a:chOff x="3865118" y="2946203"/>
            <a:chExt cx="2630093" cy="3016211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30160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법인번호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Y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02-111-2222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123456-0123456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*****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18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5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2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64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98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3115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52525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738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9623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77269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5559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6135896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675399" y="1878493"/>
            <a:ext cx="2712026" cy="880857"/>
            <a:chOff x="3795735" y="5745099"/>
            <a:chExt cx="2712026" cy="880857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2153" y="574509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담당자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42" name="그룹 41"/>
            <p:cNvGrpSpPr/>
            <p:nvPr/>
          </p:nvGrpSpPr>
          <p:grpSpPr>
            <a:xfrm flipV="1">
              <a:off x="6264240" y="5858430"/>
              <a:ext cx="94010" cy="47005"/>
              <a:chOff x="6812560" y="3297172"/>
              <a:chExt cx="94010" cy="47005"/>
            </a:xfrm>
          </p:grpSpPr>
          <p:cxnSp>
            <p:nvCxnSpPr>
              <p:cNvPr id="43" name="직선 연결선 4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3885" y="6075816"/>
              <a:ext cx="493904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구분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35515" y="6075816"/>
              <a:ext cx="493904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성명</a:t>
              </a:r>
              <a:r>
                <a:rPr lang="en-US" altLang="ko-KR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/</a:t>
              </a:r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계급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662595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8" name="모서리가 둥근 직사각형 47"/>
            <p:cNvSpPr/>
            <p:nvPr/>
          </p:nvSpPr>
          <p:spPr>
            <a:xfrm>
              <a:off x="3831550" y="6198818"/>
              <a:ext cx="2652743" cy="344810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3885" y="6317362"/>
              <a:ext cx="49390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계약담당관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35515" y="6317362"/>
              <a:ext cx="64751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홍길동 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8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급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56" name="그룹 55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계약업체</a:t>
              </a:r>
              <a:endParaRPr lang="ko-KR" altLang="en-US" sz="700" b="1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11918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2" name="그룹 61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7" name="타원 6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8" name="그룹 6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3" name="직선 연결선 7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직선 연결선 7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9" name="타원 68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0" name="그룹 69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1" name="직선 연결선 7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2" name="직선 연결선 7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하자담보책임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9433405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하자담보책임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입력된 데이터 출력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등록</a:t>
            </a:r>
            <a:r>
              <a:rPr lang="en-US" altLang="ko-KR" dirty="0" smtClean="0"/>
              <a:t>/</a:t>
            </a:r>
            <a:r>
              <a:rPr lang="ko-KR" altLang="en-US" dirty="0" smtClean="0"/>
              <a:t>수정 불가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데이터가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하자담보책임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하자담보책임 사유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MUI-CT-01-T11</a:t>
            </a:r>
            <a:endParaRPr lang="ko-KR" altLang="en-US" dirty="0"/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803364" y="1923303"/>
            <a:ext cx="2456097" cy="181140"/>
            <a:chOff x="763157" y="1527996"/>
            <a:chExt cx="2456097" cy="181140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하자담보</a:t>
              </a:r>
              <a:r>
                <a:rPr lang="ko-KR" altLang="en-US" sz="700" dirty="0" smtClean="0">
                  <a:latin typeface="+mn-ea"/>
                </a:rPr>
                <a:t> 책임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30" name="그룹 29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31" name="직선 연결선 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" name="직선 연결선 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3" name="그룹 32"/>
          <p:cNvGrpSpPr/>
          <p:nvPr/>
        </p:nvGrpSpPr>
        <p:grpSpPr>
          <a:xfrm>
            <a:off x="716366" y="2190281"/>
            <a:ext cx="2630093" cy="861981"/>
            <a:chOff x="3865118" y="2946203"/>
            <a:chExt cx="2630093" cy="861981"/>
          </a:xfrm>
        </p:grpSpPr>
        <p:sp>
          <p:nvSpPr>
            <p:cNvPr id="34" name="직사각형 33"/>
            <p:cNvSpPr/>
            <p:nvPr/>
          </p:nvSpPr>
          <p:spPr>
            <a:xfrm>
              <a:off x="3867211" y="2946203"/>
              <a:ext cx="792000" cy="8617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3" name="타원 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1950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20240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10153"/>
            <a:ext cx="76863" cy="292489"/>
            <a:chOff x="3750067" y="4683795"/>
            <a:chExt cx="76863" cy="292489"/>
          </a:xfrm>
        </p:grpSpPr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05939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0" name="그룹 59"/>
          <p:cNvGrpSpPr/>
          <p:nvPr/>
        </p:nvGrpSpPr>
        <p:grpSpPr>
          <a:xfrm>
            <a:off x="716366" y="3115079"/>
            <a:ext cx="2630093" cy="861981"/>
            <a:chOff x="3865118" y="2946203"/>
            <a:chExt cx="2630093" cy="861981"/>
          </a:xfrm>
        </p:grpSpPr>
        <p:sp>
          <p:nvSpPr>
            <p:cNvPr id="61" name="직사각형 60"/>
            <p:cNvSpPr/>
            <p:nvPr/>
          </p:nvSpPr>
          <p:spPr>
            <a:xfrm>
              <a:off x="3867211" y="2946203"/>
              <a:ext cx="792000" cy="8617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42" name="그룹 41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697946" y="4358842"/>
              <a:ext cx="630615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48" name="그룹 47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51" name="타원 5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52" name="그룹 51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3" name="직선 연결선 7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직선 연결선 7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9" name="타원 68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0" name="그룹 69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1" name="직선 연결선 7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2" name="직선 연결선 7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하자담보책임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6308749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첨부서류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첨부서류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 T12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3275"/>
            <a:ext cx="2712026" cy="1602288"/>
            <a:chOff x="3795735" y="2878425"/>
            <a:chExt cx="2712026" cy="160228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7" name="직선 연결선 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8" name="직선 연결선 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9" name="모서리가 둥근 직사각형 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2" name="타원 71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모서리가 둥근 직사각형 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41278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첨부파일명이너무길면어떻게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노출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... 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89" name="그룹 88"/>
          <p:cNvGrpSpPr/>
          <p:nvPr/>
        </p:nvGrpSpPr>
        <p:grpSpPr>
          <a:xfrm>
            <a:off x="675399" y="3195334"/>
            <a:ext cx="2712026" cy="1602288"/>
            <a:chOff x="3795735" y="2878425"/>
            <a:chExt cx="2712026" cy="1602288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2" name="모서리가 둥근 직사각형 91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산출내역서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5" name="타원 94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모서리가 둥근 직사각형 95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법인등기부등본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첨부파일명이너무길면어떻게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노출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... 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9" name="타원 98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5" name="직사각형 4"/>
          <p:cNvSpPr/>
          <p:nvPr/>
        </p:nvSpPr>
        <p:spPr>
          <a:xfrm>
            <a:off x="2580536" y="2429433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6" name="직사각형 5"/>
          <p:cNvSpPr/>
          <p:nvPr/>
        </p:nvSpPr>
        <p:spPr>
          <a:xfrm>
            <a:off x="2576950" y="1984067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47" name="직사각형 46"/>
          <p:cNvSpPr/>
          <p:nvPr/>
        </p:nvSpPr>
        <p:spPr>
          <a:xfrm>
            <a:off x="2550244" y="4138618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48" name="직사각형 47"/>
          <p:cNvSpPr/>
          <p:nvPr/>
        </p:nvSpPr>
        <p:spPr>
          <a:xfrm>
            <a:off x="2546658" y="3718650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53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840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</a:t>
            </a:r>
            <a:r>
              <a:rPr lang="en-US" altLang="ko-KR" sz="800" dirty="0"/>
              <a:t>) 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아코디언 전체 펼침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업로드 기능 </a:t>
            </a:r>
            <a:r>
              <a:rPr lang="ko-KR" altLang="en-US" sz="800" dirty="0" err="1"/>
              <a:t>미지원</a:t>
            </a:r>
            <a:r>
              <a:rPr lang="ko-KR" altLang="en-US" sz="800" dirty="0"/>
              <a:t>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</a:t>
            </a:r>
            <a:r>
              <a:rPr lang="ko-KR" altLang="en-US" dirty="0" err="1" smtClean="0"/>
              <a:t>노출시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목록 표시 </a:t>
            </a:r>
            <a:r>
              <a:rPr lang="en-US" altLang="ko-KR" dirty="0" smtClean="0"/>
              <a:t>(</a:t>
            </a:r>
            <a:r>
              <a:rPr lang="ko-KR" altLang="en-US" dirty="0" smtClean="0"/>
              <a:t>상동</a:t>
            </a:r>
            <a:r>
              <a:rPr lang="en-US" altLang="ko-KR" dirty="0" smtClean="0"/>
              <a:t>)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37050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148738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184756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37670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17095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54" name="직사각형 53"/>
          <p:cNvSpPr/>
          <p:nvPr/>
        </p:nvSpPr>
        <p:spPr>
          <a:xfrm>
            <a:off x="7078406" y="5997168"/>
            <a:ext cx="2312723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특이사항 </a:t>
            </a:r>
            <a:r>
              <a:rPr lang="ko-KR" altLang="en-US" sz="500" dirty="0" err="1" smtClean="0"/>
              <a:t>전체수정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3851034832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9219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계약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36773"/>
          <a:ext cx="8994883" cy="5285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fcltLbsvcSecd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하자담보유무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flwGrnteYn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하자담보유무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국민주택채권매입금액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nhbdPrchsAmt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국민주택채권매입금액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업체담당자가 공사계약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체결시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제공되는 채권매입 방법 표시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추가요구사항 응용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1-06)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0882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공채매입금액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pbdbtPrchsAmt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공채매입금액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89187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6604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25165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0926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088969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02E1DB8-F6F5-C534-1A6D-D7F80258C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1443655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물품 전자계약 확정 상세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scbrt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낙찰율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scsbdAmt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낙찰자확정일자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scbdrCfmtnYmd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낙찰자확정일자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예정금액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prnmntAmt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예정금액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prcsRsn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관련근거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relBssCn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관련근거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059877A-3CC3-E6D4-58A6-B1163CA1F20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304167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signYn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전자서명여부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telno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19851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법인번호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법인번호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1859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lctnAddr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1907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3797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50801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D14D5940-6F9C-0A87-A5B5-9CEF2CC43956}"/>
              </a:ext>
            </a:extLst>
          </p:cNvPr>
          <p:cNvSpPr txBox="1"/>
          <p:nvPr/>
        </p:nvSpPr>
        <p:spPr>
          <a:xfrm>
            <a:off x="443054" y="3106375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5919852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50</a:t>
            </a:fld>
            <a:endParaRPr lang="ko-KR" altLang="en-US" dirty="0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C4B992E-0D34-B491-EC60-09408F1C43C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12486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하자보수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보증율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dfrpGrnteAmtRt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하자보수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보증율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하자담보책임기간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wrtrspPrdCn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하자담보책임기간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1BB7953-1B4E-5363-7419-3079AA3E810B}"/>
              </a:ext>
            </a:extLst>
          </p:cNvPr>
          <p:cNvSpPr txBox="1"/>
          <p:nvPr/>
        </p:nvSpPr>
        <p:spPr>
          <a:xfrm>
            <a:off x="443054" y="908027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하자담보책임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82F7AB1-B0D7-75BB-85F8-4645FB31274A}"/>
              </a:ext>
            </a:extLst>
          </p:cNvPr>
          <p:cNvSpPr txBox="1"/>
          <p:nvPr/>
        </p:nvSpPr>
        <p:spPr>
          <a:xfrm>
            <a:off x="433529" y="2258120"/>
            <a:ext cx="28282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계약관 제공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B63500A-7F51-C4ED-A5D2-D3616EEC86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8411" y="2520610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A57BCAB6-4ADD-90C9-1F9A-0A8162B6197B}"/>
              </a:ext>
            </a:extLst>
          </p:cNvPr>
          <p:cNvSpPr txBox="1"/>
          <p:nvPr/>
        </p:nvSpPr>
        <p:spPr>
          <a:xfrm>
            <a:off x="433529" y="3348096"/>
            <a:ext cx="294368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등록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B033FC2-E428-A273-2ACA-23E2DBCB7A6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8411" y="361058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D30D756-42E3-817C-1A16-E581F297D9FF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669296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51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5858959"/>
              </p:ext>
            </p:extLst>
          </p:nvPr>
        </p:nvGraphicFramePr>
        <p:xfrm>
          <a:off x="453000" y="1009312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413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129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5410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2719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출력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scwin.btn_ctrdocCvr_onclick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 유형에 따라 계약서 출력물 출력물을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(UI-CT-01-R35)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공사도급계약서출력물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UI-CT-01-R36)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기술용역계약서출력물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20944604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69308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100EC6CE-7C3A-6ABD-2B27-50C3C9F452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60184037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52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3438B06-4E07-BE5E-7355-E618162AE95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74000" y="1253329"/>
          <a:ext cx="8504011" cy="52194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730">
                  <a:extLst>
                    <a:ext uri="{9D8B030D-6E8A-4147-A177-3AD203B41FA5}">
                      <a16:colId xmlns:a16="http://schemas.microsoft.com/office/drawing/2014/main" val="1736131930"/>
                    </a:ext>
                  </a:extLst>
                </a:gridCol>
                <a:gridCol w="394160">
                  <a:extLst>
                    <a:ext uri="{9D8B030D-6E8A-4147-A177-3AD203B41FA5}">
                      <a16:colId xmlns:a16="http://schemas.microsoft.com/office/drawing/2014/main" val="172173065"/>
                    </a:ext>
                  </a:extLst>
                </a:gridCol>
                <a:gridCol w="624087">
                  <a:extLst>
                    <a:ext uri="{9D8B030D-6E8A-4147-A177-3AD203B41FA5}">
                      <a16:colId xmlns:a16="http://schemas.microsoft.com/office/drawing/2014/main" val="1711509732"/>
                    </a:ext>
                  </a:extLst>
                </a:gridCol>
                <a:gridCol w="505839">
                  <a:extLst>
                    <a:ext uri="{9D8B030D-6E8A-4147-A177-3AD203B41FA5}">
                      <a16:colId xmlns:a16="http://schemas.microsoft.com/office/drawing/2014/main" val="197480159"/>
                    </a:ext>
                  </a:extLst>
                </a:gridCol>
                <a:gridCol w="507481">
                  <a:extLst>
                    <a:ext uri="{9D8B030D-6E8A-4147-A177-3AD203B41FA5}">
                      <a16:colId xmlns:a16="http://schemas.microsoft.com/office/drawing/2014/main" val="1765196613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039006538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131260314"/>
                    </a:ext>
                  </a:extLst>
                </a:gridCol>
                <a:gridCol w="446714">
                  <a:extLst>
                    <a:ext uri="{9D8B030D-6E8A-4147-A177-3AD203B41FA5}">
                      <a16:colId xmlns:a16="http://schemas.microsoft.com/office/drawing/2014/main" val="2221148255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3372049076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1732212103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2259697266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224881732"/>
                    </a:ext>
                  </a:extLst>
                </a:gridCol>
                <a:gridCol w="479562">
                  <a:extLst>
                    <a:ext uri="{9D8B030D-6E8A-4147-A177-3AD203B41FA5}">
                      <a16:colId xmlns:a16="http://schemas.microsoft.com/office/drawing/2014/main" val="2622697479"/>
                    </a:ext>
                  </a:extLst>
                </a:gridCol>
                <a:gridCol w="466424">
                  <a:extLst>
                    <a:ext uri="{9D8B030D-6E8A-4147-A177-3AD203B41FA5}">
                      <a16:colId xmlns:a16="http://schemas.microsoft.com/office/drawing/2014/main" val="3192544071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615628013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05788445"/>
                    </a:ext>
                  </a:extLst>
                </a:gridCol>
              </a:tblGrid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계약진행 단계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en-US" altLang="ko-KR" sz="500" u="none" strike="noStrike" dirty="0">
                        <a:effectLst/>
                      </a:endParaRPr>
                    </a:p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 타이틀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018921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인지세 구매방법 설명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보증서 확인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전자수입인지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[</a:t>
                      </a:r>
                      <a:r>
                        <a:rPr lang="ko-KR" altLang="en-US" sz="500" u="none" strike="noStrike">
                          <a:effectLst/>
                        </a:rPr>
                        <a:t>구매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확인</a:t>
                      </a:r>
                      <a:r>
                        <a:rPr lang="en-US" altLang="ko-KR" sz="500" u="none" strike="noStrike">
                          <a:effectLst/>
                        </a:rPr>
                        <a:t>]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인지세 확인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 err="1">
                          <a:effectLst/>
                        </a:rPr>
                        <a:t>계약명세서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제출서류 등록화면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파일첨부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낙찰단가 처리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(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낙찰단가조회</a:t>
                      </a:r>
                      <a:r>
                        <a:rPr lang="en-US" altLang="ko-KR" sz="500" u="none" strike="noStrike" dirty="0">
                          <a:effectLst/>
                        </a:rPr>
                        <a:t>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전송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 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계약체결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[</a:t>
                      </a:r>
                      <a:r>
                        <a:rPr lang="ko-KR" altLang="en-US" sz="500" u="none" strike="noStrike" dirty="0">
                          <a:effectLst/>
                        </a:rPr>
                        <a:t>전자서명</a:t>
                      </a:r>
                      <a:r>
                        <a:rPr lang="en-US" altLang="ko-KR" sz="500" u="none" strike="noStrike" dirty="0">
                          <a:effectLst/>
                        </a:rPr>
                        <a:t>]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계약서표지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계좌정보 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6683991"/>
                  </a:ext>
                </a:extLst>
              </a:tr>
              <a:tr h="23417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공통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en-US" sz="500" u="none" strike="noStrike">
                          <a:effectLst/>
                        </a:rPr>
                        <a:t>Default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대표업체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O(</a:t>
                      </a:r>
                      <a:r>
                        <a:rPr lang="ko-KR" altLang="en-US" sz="500" u="none" strike="noStrike" dirty="0">
                          <a:effectLst/>
                        </a:rPr>
                        <a:t>인지세 납부대상이고</a:t>
                      </a:r>
                      <a:r>
                        <a:rPr lang="en-US" altLang="ko-KR" sz="500" u="none" strike="noStrike" dirty="0">
                          <a:effectLst/>
                        </a:rPr>
                        <a:t>, </a:t>
                      </a:r>
                      <a:r>
                        <a:rPr lang="ko-KR" altLang="en-US" sz="500" u="none" strike="noStrike" dirty="0">
                          <a:effectLst/>
                        </a:rPr>
                        <a:t>구매건수가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없을때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O(</a:t>
                      </a:r>
                      <a:r>
                        <a:rPr lang="ko-KR" altLang="en-US" sz="500" u="none" strike="noStrike">
                          <a:effectLst/>
                        </a:rPr>
                        <a:t>납부대상이고</a:t>
                      </a:r>
                      <a:r>
                        <a:rPr lang="en-US" altLang="ko-KR" sz="500" u="none" strike="noStrike">
                          <a:effectLst/>
                        </a:rPr>
                        <a:t>, </a:t>
                      </a:r>
                      <a:br>
                        <a:rPr lang="en-US" altLang="ko-KR" sz="500" u="none" strike="noStrike">
                          <a:effectLst/>
                        </a:rPr>
                      </a:br>
                      <a:r>
                        <a:rPr lang="ko-KR" altLang="en-US" sz="500" u="none" strike="noStrike">
                          <a:effectLst/>
                        </a:rPr>
                        <a:t>구매건수가 없을때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4188762"/>
                  </a:ext>
                </a:extLst>
              </a:tr>
              <a:tr h="202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627978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30-</a:t>
                      </a:r>
                      <a:r>
                        <a:rPr lang="ko-KR" altLang="en-US" sz="500" u="none" strike="noStrike">
                          <a:effectLst/>
                        </a:rPr>
                        <a:t>서류요청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904299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8613351"/>
                  </a:ext>
                </a:extLst>
              </a:tr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31-</a:t>
                      </a:r>
                      <a:r>
                        <a:rPr lang="ko-KR" altLang="en-US" sz="500" u="none" strike="noStrike">
                          <a:effectLst/>
                        </a:rPr>
                        <a:t>서류등록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383577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1734192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32-</a:t>
                      </a:r>
                      <a:r>
                        <a:rPr lang="ko-KR" altLang="en-US" sz="500" u="none" strike="noStrike">
                          <a:effectLst/>
                        </a:rPr>
                        <a:t>서류반송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제출서류반송사유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318524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3473723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33-</a:t>
                      </a:r>
                      <a:r>
                        <a:rPr lang="ko-KR" altLang="en-US" sz="500" u="none" strike="noStrike">
                          <a:effectLst/>
                        </a:rPr>
                        <a:t>서류확정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6453672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051487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34-</a:t>
                      </a:r>
                      <a:r>
                        <a:rPr lang="ko-KR" altLang="en-US" sz="500" u="none" strike="noStrike">
                          <a:effectLst/>
                        </a:rPr>
                        <a:t>서류확정취소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292830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3085352"/>
                  </a:ext>
                </a:extLst>
              </a:tr>
              <a:tr h="3778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40-</a:t>
                      </a:r>
                      <a:r>
                        <a:rPr lang="ko-KR" altLang="en-US" sz="500" u="none" strike="noStrike">
                          <a:effectLst/>
                        </a:rPr>
                        <a:t>계약체결의뢰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</a:t>
                      </a:r>
                      <a:r>
                        <a:rPr lang="ko-KR" altLang="en-US" sz="500" u="none" strike="noStrike" dirty="0">
                          <a:effectLst/>
                        </a:rPr>
                        <a:t>업체제출서류有 </a:t>
                      </a:r>
                      <a:r>
                        <a:rPr lang="en-US" altLang="ko-KR" sz="500" u="none" strike="noStrike" dirty="0">
                          <a:effectLst/>
                        </a:rPr>
                        <a:t>AND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4505749"/>
                  </a:ext>
                </a:extLst>
              </a:tr>
              <a:tr h="2554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7538187"/>
                  </a:ext>
                </a:extLst>
              </a:tr>
              <a:tr h="21288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50-</a:t>
                      </a:r>
                      <a:r>
                        <a:rPr lang="ko-KR" altLang="en-US" sz="500" u="none" strike="noStrike">
                          <a:effectLst/>
                        </a:rPr>
                        <a:t>조달업체서명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595287"/>
                  </a:ext>
                </a:extLst>
              </a:tr>
              <a:tr h="1117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7432771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51-</a:t>
                      </a:r>
                      <a:r>
                        <a:rPr lang="ko-KR" altLang="en-US" sz="500" u="none" strike="noStrike">
                          <a:effectLst/>
                        </a:rPr>
                        <a:t>조달업체반송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199614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8872238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60-</a:t>
                      </a:r>
                      <a:r>
                        <a:rPr lang="ko-KR" altLang="en-US" sz="500" u="none" strike="noStrike">
                          <a:effectLst/>
                        </a:rPr>
                        <a:t>계약취소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4683821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8782645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70-</a:t>
                      </a:r>
                      <a:r>
                        <a:rPr lang="ko-KR" altLang="en-US" sz="500" u="none" strike="noStrike">
                          <a:effectLst/>
                        </a:rPr>
                        <a:t>계약서반송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5606213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2074628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80-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9452548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6156551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81-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3402637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구성업체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9671480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0941C7F-7438-77FA-CDDC-234FBDF694CF}"/>
              </a:ext>
            </a:extLst>
          </p:cNvPr>
          <p:cNvSpPr txBox="1"/>
          <p:nvPr/>
        </p:nvSpPr>
        <p:spPr>
          <a:xfrm>
            <a:off x="574000" y="960432"/>
            <a:ext cx="363224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100" dirty="0">
                <a:solidFill>
                  <a:schemeClr val="tx1"/>
                </a:solidFill>
              </a:rPr>
              <a:t>※ </a:t>
            </a:r>
            <a:r>
              <a:rPr lang="ko-KR" altLang="en-US" sz="1100" dirty="0">
                <a:solidFill>
                  <a:schemeClr val="tx1"/>
                </a:solidFill>
              </a:rPr>
              <a:t>계약진행상태별 텍스트박스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버튼 숨김 처리 </a:t>
            </a:r>
            <a:endParaRPr lang="ko-KR" altLang="en-US" sz="1100" dirty="0"/>
          </a:p>
        </p:txBody>
      </p:sp>
    </p:spTree>
    <p:extLst>
      <p:ext uri="{BB962C8B-B14F-4D97-AF65-F5344CB8AC3E}">
        <p14:creationId xmlns:p14="http://schemas.microsoft.com/office/powerpoint/2010/main" val="351538098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물품총액계약서상세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3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73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73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6025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57817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1640920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TextBox 2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0" name="타원 2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64" name="그룹 163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5" name="그룹 16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9" name="그룹 16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0" name="타원 16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1" name="그룹 17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2" name="직선 연결선 1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2" name="직선 연결선 1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64" name="평행 사변형 263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5" name="TextBox 264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  <p:sp>
        <p:nvSpPr>
          <p:cNvPr id="15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8883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/>
              <a:t>, </a:t>
            </a:r>
            <a:r>
              <a:rPr lang="ko-KR" altLang="en-US" sz="800" dirty="0" err="1"/>
              <a:t>계약명세서</a:t>
            </a:r>
            <a:r>
              <a:rPr lang="en-US" altLang="ko-KR" sz="800" dirty="0"/>
              <a:t>,</a:t>
            </a:r>
            <a:r>
              <a:rPr lang="ko-KR" altLang="en-US" sz="800" dirty="0"/>
              <a:t> </a:t>
            </a:r>
            <a:r>
              <a:rPr lang="ko-KR" altLang="en-US" sz="800" dirty="0" err="1"/>
              <a:t>특수조건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＋ 버튼 없음</a:t>
            </a:r>
            <a:endParaRPr lang="en-US" altLang="ko-KR" sz="800" dirty="0" smtClean="0"/>
          </a:p>
        </p:txBody>
      </p:sp>
      <p:sp>
        <p:nvSpPr>
          <p:cNvPr id="156" name="타원 1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91" name="타원 19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</p:spTree>
    <p:extLst>
      <p:ext uri="{BB962C8B-B14F-4D97-AF65-F5344CB8AC3E}">
        <p14:creationId xmlns:p14="http://schemas.microsoft.com/office/powerpoint/2010/main" val="249878930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</a:t>
            </a:r>
            <a:r>
              <a:rPr lang="ko-KR" altLang="en-US" dirty="0" smtClean="0"/>
              <a:t>납부방법 </a:t>
            </a:r>
            <a:r>
              <a:rPr lang="en-US" altLang="ko-KR" dirty="0" smtClean="0"/>
              <a:t>: </a:t>
            </a:r>
            <a:r>
              <a:rPr lang="ko-KR" altLang="en-US" dirty="0" err="1">
                <a:latin typeface="+mn-ea"/>
              </a:rPr>
              <a:t>상위코드</a:t>
            </a:r>
            <a:r>
              <a:rPr lang="en-US" altLang="ko-KR" dirty="0">
                <a:latin typeface="+mn-ea"/>
              </a:rPr>
              <a:t>:</a:t>
            </a:r>
            <a:r>
              <a:rPr lang="en-US" altLang="ko-KR" dirty="0" smtClean="0">
                <a:latin typeface="+mn-ea"/>
              </a:rPr>
              <a:t>GMCC(</a:t>
            </a:r>
            <a:r>
              <a:rPr lang="ko-KR" altLang="en-US" dirty="0" smtClean="0">
                <a:latin typeface="+mn-ea"/>
              </a:rPr>
              <a:t>항목확인불가</a:t>
            </a:r>
            <a:r>
              <a:rPr lang="en-US" altLang="ko-KR" dirty="0" smtClean="0">
                <a:latin typeface="+mn-ea"/>
              </a:rPr>
              <a:t>)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MUI-CT-01-T13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41429"/>
            <a:ext cx="2630093" cy="2677365"/>
            <a:chOff x="701175" y="1527996"/>
            <a:chExt cx="2630093" cy="267736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3621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총액제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362140"/>
              <a:chOff x="701175" y="1835481"/>
              <a:chExt cx="2630093" cy="236214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900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2366177"/>
            <a:ext cx="2630093" cy="1759690"/>
            <a:chOff x="3865118" y="2694619"/>
            <a:chExt cx="2630093" cy="1759690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5062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납부방법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24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4140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24148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434631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4547962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765348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765348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888350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006894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006894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716366" y="4678600"/>
            <a:ext cx="2630093" cy="1577775"/>
            <a:chOff x="3865118" y="2694619"/>
            <a:chExt cx="2630093" cy="1577775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3261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7259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44660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88" name="직사각형 87"/>
          <p:cNvSpPr/>
          <p:nvPr/>
        </p:nvSpPr>
        <p:spPr>
          <a:xfrm>
            <a:off x="7077637" y="6036456"/>
            <a:ext cx="232593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납부방법 항목 추가</a:t>
            </a:r>
            <a:endParaRPr lang="en-US" altLang="ko-KR" sz="500" dirty="0"/>
          </a:p>
        </p:txBody>
      </p: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1" name="그룹 9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92" name="타원 9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3" name="그룹 9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8" name="직선 연결선 9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직선 연결선 9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4" name="타원 9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5" name="그룹 9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6" name="직선 연결선 9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직선 연결선 9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0" name="그룹 99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04" name="그룹 103"/>
          <p:cNvGrpSpPr/>
          <p:nvPr/>
        </p:nvGrpSpPr>
        <p:grpSpPr>
          <a:xfrm>
            <a:off x="3838523" y="1493927"/>
            <a:ext cx="2626449" cy="354413"/>
            <a:chOff x="720490" y="4004429"/>
            <a:chExt cx="2626449" cy="354413"/>
          </a:xfrm>
        </p:grpSpPr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0" name="그룹 109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5" name="타원 114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6" name="그룹 115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1" name="직선 연결선 14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직선 연결선 14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6" name="타원 135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7" name="그룹 136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8" name="직선 연결선 13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직선 연결선 139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1" name="그룹 110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43" name="그룹 142"/>
          <p:cNvGrpSpPr/>
          <p:nvPr/>
        </p:nvGrpSpPr>
        <p:grpSpPr>
          <a:xfrm>
            <a:off x="3828452" y="1862092"/>
            <a:ext cx="2630093" cy="444813"/>
            <a:chOff x="3865118" y="2946203"/>
            <a:chExt cx="2630093" cy="444813"/>
          </a:xfrm>
        </p:grpSpPr>
        <p:sp>
          <p:nvSpPr>
            <p:cNvPr id="145" name="직사각형 144"/>
            <p:cNvSpPr/>
            <p:nvPr/>
          </p:nvSpPr>
          <p:spPr>
            <a:xfrm>
              <a:off x="3867211" y="2946203"/>
              <a:ext cx="792000" cy="4436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670531384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예산구분</a:t>
            </a:r>
            <a:r>
              <a:rPr lang="ko-KR" altLang="en-US" dirty="0" smtClean="0"/>
              <a:t> 항목이 더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MUI-CT-01-T14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928591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2195569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</a:t>
              </a:r>
              <a:r>
                <a:rPr lang="ko-KR" altLang="en-US" sz="700" dirty="0" smtClean="0">
                  <a:latin typeface="+mn-ea"/>
                </a:rPr>
                <a:t>부서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723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18730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605343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702753"/>
            <a:ext cx="2630093" cy="1975134"/>
            <a:chOff x="3865118" y="2694619"/>
            <a:chExt cx="2630093" cy="197513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장기국채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4000651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총계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975963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예산별</a:t>
              </a:r>
              <a:r>
                <a:rPr lang="ko-KR" altLang="en-US" sz="700" dirty="0" smtClean="0">
                  <a:latin typeface="+mn-ea"/>
                </a:rPr>
                <a:t> 소계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72" name="그룹 71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85891" y="4358842"/>
              <a:ext cx="601308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6" name="그룹 75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81" name="타원 8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0" name="그룹 10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6" name="직선 연결선 1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직선 연결선 11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1" name="타원 11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2" name="그룹 11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4" name="직선 연결선 11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직선 연결선 11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7" name="그룹 76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8" name="그룹 117"/>
          <p:cNvGrpSpPr/>
          <p:nvPr/>
        </p:nvGrpSpPr>
        <p:grpSpPr>
          <a:xfrm>
            <a:off x="3840345" y="1493927"/>
            <a:ext cx="2626449" cy="354413"/>
            <a:chOff x="720490" y="4004429"/>
            <a:chExt cx="2626449" cy="354413"/>
          </a:xfrm>
        </p:grpSpPr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85891" y="4358842"/>
              <a:ext cx="601308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22" name="그룹 121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27" name="타원 12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8" name="그룹 12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5" name="직선 연결선 1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6" name="직선 연결선 1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2" name="그룹 13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3" name="직선 연결선 13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직선 연결선 13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3" name="그룹 122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42131508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MUI-CT-01-T15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240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89903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20" name="그룹 19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756443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4" name="그룹 2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29" name="타원 2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0" name="그룹 2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5" name="직선 연결선 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직선 연결선 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1" name="타원 3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2" name="그룹 3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" name="직선 연결선 3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직선 연결선 3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그룹 24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특수조건</a:t>
                </a:r>
                <a:endParaRPr lang="ko-KR" altLang="en-US" sz="700" b="1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8712562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57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54652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52681"/>
          <a:ext cx="8994883" cy="5235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792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75759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389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85678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1568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7524147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ABC9D2BD-5C34-9D8A-E147-F2768EF82D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6893596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861416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2893688"/>
              </p:ext>
            </p:extLst>
          </p:nvPr>
        </p:nvGraphicFramePr>
        <p:xfrm>
          <a:off x="446645" y="1123906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:RIC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47145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18850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aplcnEqpmntCd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:AC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99073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7749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6777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76608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2584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32936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plcdlvRnk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99271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615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7410829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59</a:t>
            </a:fld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C8DADB8-FBEF-4084-79F7-982D1B03C357}"/>
              </a:ext>
            </a:extLst>
          </p:cNvPr>
          <p:cNvSpPr txBox="1"/>
          <p:nvPr/>
        </p:nvSpPr>
        <p:spPr>
          <a:xfrm>
            <a:off x="443054" y="797853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EE22B6A-A4BB-F83B-BE8E-A1A0E458E6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9932721"/>
              </p:ext>
            </p:extLst>
          </p:nvPr>
        </p:nvGraphicFramePr>
        <p:xfrm>
          <a:off x="437936" y="106034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spclCnd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4C9F9BEF-5874-BB52-4F5A-8386328260C1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46E3C279-1352-CBE1-480C-D01201F703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</a:t>
            </a:r>
            <a:r>
              <a:rPr lang="en-US" altLang="ko-KR" sz="700">
                <a:solidFill>
                  <a:prstClr val="black"/>
                </a:solidFill>
                <a:latin typeface="+mn-ea"/>
              </a:rPr>
              <a:t>Hidden     2) </a:t>
            </a:r>
            <a:r>
              <a:rPr lang="ko-KR" altLang="en-US" sz="70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83011885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60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8535657"/>
              </p:ext>
            </p:extLst>
          </p:nvPr>
        </p:nvGraphicFramePr>
        <p:xfrm>
          <a:off x="453000" y="1009658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69342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F37B7FB1-AFA2-0017-3371-A592DD8CF8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91667392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물품단가계약서상세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물품단가계약서상세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단가제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57817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단가제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173" name="타원 17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76" name="그룹 17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77" name="그룹 17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81" name="그룹 180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85" name="타원 184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7" name="그룹 186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92" name="직선 연결선 1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4" name="직선 연결선 2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계약명세서</a:t>
            </a:r>
            <a:r>
              <a:rPr lang="en-US" altLang="ko-KR" sz="800" dirty="0" smtClean="0"/>
              <a:t>,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특수조건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－이벤트 항목 호출 없음</a:t>
            </a:r>
            <a:endParaRPr lang="en-US" altLang="ko-KR" sz="800" dirty="0" smtClean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6" name="타원 2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07" name="타원 2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20" name="타원 2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22" name="타원 2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</p:spTree>
    <p:extLst>
      <p:ext uri="{BB962C8B-B14F-4D97-AF65-F5344CB8AC3E}">
        <p14:creationId xmlns:p14="http://schemas.microsoft.com/office/powerpoint/2010/main" val="2130152552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총액제와</a:t>
            </a:r>
            <a:r>
              <a:rPr lang="ko-KR" altLang="en-US" dirty="0" smtClean="0"/>
              <a:t> 부서명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조달판단번호가 상이함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납부방법 </a:t>
            </a:r>
            <a:r>
              <a:rPr lang="en-US" altLang="ko-KR" dirty="0" smtClean="0"/>
              <a:t>(</a:t>
            </a:r>
            <a:r>
              <a:rPr lang="ko-KR" altLang="en-US" dirty="0" smtClean="0"/>
              <a:t>계약방법조회결과 </a:t>
            </a:r>
            <a:r>
              <a:rPr lang="ko-KR" altLang="en-US" dirty="0" err="1" smtClean="0"/>
              <a:t>상위코드</a:t>
            </a:r>
            <a:r>
              <a:rPr lang="ko-KR" altLang="en-US" dirty="0" smtClean="0"/>
              <a:t> </a:t>
            </a:r>
            <a:r>
              <a:rPr lang="en-US" altLang="ko-KR" dirty="0" smtClean="0"/>
              <a:t>,</a:t>
            </a:r>
            <a:r>
              <a:rPr lang="en-US" altLang="ko-KR" dirty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CTMC)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물품단가계약서상세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MUI-CT-01-T16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28392"/>
            <a:ext cx="2630093" cy="3109321"/>
            <a:chOff x="701175" y="1527996"/>
            <a:chExt cx="2630093" cy="3109321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280076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단가제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000-0000-00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801836"/>
              <a:chOff x="701175" y="1835481"/>
              <a:chExt cx="2630093" cy="2801836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2257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3731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703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4158804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77760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420745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798192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911523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612890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612890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6251911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6370455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6370455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1" y="1951773"/>
            <a:ext cx="2630093" cy="2190577"/>
            <a:chOff x="3865118" y="2694619"/>
            <a:chExt cx="2630093" cy="2190577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9336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납부방법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639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213" y="199915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8295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0" name="직사각형 89"/>
          <p:cNvSpPr/>
          <p:nvPr/>
        </p:nvSpPr>
        <p:spPr>
          <a:xfrm>
            <a:off x="7079461" y="6069668"/>
            <a:ext cx="2324109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납부방법 항목 추가</a:t>
            </a:r>
            <a:endParaRPr lang="en-US" altLang="ko-KR" sz="500" dirty="0"/>
          </a:p>
        </p:txBody>
      </p:sp>
      <p:grpSp>
        <p:nvGrpSpPr>
          <p:cNvPr id="91" name="그룹 90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5" name="그룹 94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00" name="타원 9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01" name="그룹 10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06" name="직선 연결선 10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7" name="직선 연결선 10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2" name="타원 10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03" name="그룹 10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04" name="직선 연결선 10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직선 연결선 10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96" name="그룹 95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0" name="그룹 109"/>
          <p:cNvGrpSpPr/>
          <p:nvPr/>
        </p:nvGrpSpPr>
        <p:grpSpPr>
          <a:xfrm>
            <a:off x="3831550" y="1493927"/>
            <a:ext cx="2626449" cy="354413"/>
            <a:chOff x="720490" y="4004429"/>
            <a:chExt cx="2626449" cy="354413"/>
          </a:xfrm>
        </p:grpSpPr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4" name="그룹 11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38" name="타원 137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0" name="그룹 13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5" name="직선 연결선 14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6" name="직선 연결선 14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1" name="타원 14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2" name="그룹 14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3" name="직선 연결선 14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직선 연결선 14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5" name="그룹 114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64522425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예산구분</a:t>
            </a:r>
            <a:r>
              <a:rPr lang="ko-KR" altLang="en-US" dirty="0" smtClean="0"/>
              <a:t> 항목이 더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/>
              <a:t>물품단가계약서상세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902465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2169443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</a:t>
              </a:r>
              <a:r>
                <a:rPr lang="ko-KR" altLang="en-US" sz="700" dirty="0" smtClean="0">
                  <a:latin typeface="+mn-ea"/>
                </a:rPr>
                <a:t>부서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111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602731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676627"/>
            <a:ext cx="2630093" cy="3483239"/>
            <a:chOff x="3865118" y="2694619"/>
            <a:chExt cx="2630093" cy="348323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장기국채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29770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986923"/>
              <a:ext cx="930144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fontAlgn="ctr"/>
              <a:r>
                <a:rPr lang="ko-KR" altLang="ko-KR" sz="700" dirty="0" err="1" smtClean="0"/>
                <a:t>항목번호</a:t>
              </a:r>
              <a:endParaRPr lang="ko-KR" altLang="ko-KR" sz="700" dirty="0"/>
            </a:p>
            <a:p>
              <a:pPr fontAlgn="ctr"/>
              <a:endParaRPr lang="en-US" altLang="ko-KR" sz="700" dirty="0" smtClean="0"/>
            </a:p>
            <a:p>
              <a:pPr fontAlgn="ctr"/>
              <a:r>
                <a:rPr lang="ko-KR" altLang="ko-KR" sz="700" dirty="0" err="1" smtClean="0"/>
                <a:t>재고번호</a:t>
              </a:r>
              <a:endParaRPr lang="ko-KR" altLang="ko-KR" sz="700" dirty="0"/>
            </a:p>
            <a:p>
              <a:pPr fontAlgn="ctr"/>
              <a:endParaRPr lang="en-US" altLang="ko-KR" sz="700" dirty="0" smtClean="0"/>
            </a:p>
            <a:p>
              <a:pPr fontAlgn="ctr"/>
              <a:r>
                <a:rPr lang="ko-KR" altLang="ko-KR" sz="700" dirty="0" smtClean="0"/>
                <a:t>품명</a:t>
              </a:r>
              <a:endParaRPr lang="ko-KR" altLang="ko-KR" sz="700" dirty="0"/>
            </a:p>
            <a:p>
              <a:pPr fontAlgn="ctr"/>
              <a:endParaRPr lang="en-US" altLang="ko-KR" sz="700" dirty="0" smtClean="0"/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단위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수량</a:t>
              </a:r>
              <a:r>
                <a:rPr lang="en-US" altLang="ko-KR" sz="700" dirty="0">
                  <a:solidFill>
                    <a:srgbClr val="FF0000"/>
                  </a:solidFill>
                </a:rPr>
                <a:t>(</a:t>
              </a:r>
              <a:r>
                <a:rPr lang="ko-KR" altLang="ko-KR" sz="700" dirty="0">
                  <a:solidFill>
                    <a:srgbClr val="FF0000"/>
                  </a:solidFill>
                </a:rPr>
                <a:t>예정</a:t>
              </a:r>
              <a:r>
                <a:rPr lang="en-US" altLang="ko-KR" sz="700" dirty="0">
                  <a:solidFill>
                    <a:srgbClr val="FF0000"/>
                  </a:solidFill>
                </a:rPr>
                <a:t>)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단가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금액</a:t>
              </a:r>
              <a:r>
                <a:rPr lang="en-US" altLang="ko-KR" sz="700" dirty="0">
                  <a:solidFill>
                    <a:srgbClr val="FF0000"/>
                  </a:solidFill>
                </a:rPr>
                <a:t>(</a:t>
              </a:r>
              <a:r>
                <a:rPr lang="ko-KR" altLang="ko-KR" sz="700" dirty="0">
                  <a:solidFill>
                    <a:srgbClr val="FF0000"/>
                  </a:solidFill>
                </a:rPr>
                <a:t>예정</a:t>
              </a:r>
              <a:r>
                <a:rPr lang="en-US" altLang="ko-KR" sz="700" dirty="0">
                  <a:solidFill>
                    <a:srgbClr val="FF0000"/>
                  </a:solidFill>
                </a:rPr>
                <a:t>)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도면번호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규격번호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부품번호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검사형태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납기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납지</a:t>
              </a:r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납지수량</a:t>
              </a:r>
              <a:endParaRPr lang="ko-KR" altLang="ko-KR" sz="700" dirty="0">
                <a:solidFill>
                  <a:srgbClr val="FF0000"/>
                </a:solidFill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32316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8405..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564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60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27469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4884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70038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91408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4032390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총계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949837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예산별</a:t>
              </a:r>
              <a:r>
                <a:rPr lang="ko-KR" altLang="en-US" sz="700" dirty="0" smtClean="0">
                  <a:latin typeface="+mn-ea"/>
                </a:rPr>
                <a:t> 소계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72" name="직사각형 71"/>
          <p:cNvSpPr/>
          <p:nvPr/>
        </p:nvSpPr>
        <p:spPr>
          <a:xfrm>
            <a:off x="7080996" y="6036456"/>
            <a:ext cx="232257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smtClean="0"/>
              <a:t>계약명세정보 화면 추가</a:t>
            </a:r>
            <a:r>
              <a:rPr lang="en-US" altLang="ko-KR" sz="500" dirty="0" smtClean="0"/>
              <a:t/>
            </a:r>
            <a:br>
              <a:rPr lang="en-US" altLang="ko-KR" sz="500" dirty="0" smtClean="0"/>
            </a:br>
            <a:r>
              <a:rPr lang="ko-KR" altLang="en-US" sz="500" dirty="0" smtClean="0"/>
              <a:t>예산항목 삭제 외</a:t>
            </a:r>
            <a:r>
              <a:rPr lang="en-US" altLang="ko-KR" sz="500" dirty="0"/>
              <a:t/>
            </a:r>
            <a:br>
              <a:rPr lang="en-US" altLang="ko-KR" sz="500" dirty="0"/>
            </a:br>
            <a:r>
              <a:rPr lang="ko-KR" altLang="en-US" sz="500" dirty="0" smtClean="0"/>
              <a:t>항목 다수 변경 이슈로 </a:t>
            </a:r>
            <a:r>
              <a:rPr lang="en-US" altLang="ko-KR" sz="500" dirty="0" smtClean="0"/>
              <a:t>layout </a:t>
            </a:r>
            <a:r>
              <a:rPr lang="ko-KR" altLang="en-US" sz="500" dirty="0" smtClean="0"/>
              <a:t>변경사항 반영 필요</a:t>
            </a:r>
            <a:endParaRPr lang="en-US" altLang="ko-KR" sz="500" dirty="0"/>
          </a:p>
        </p:txBody>
      </p:sp>
      <p:grpSp>
        <p:nvGrpSpPr>
          <p:cNvPr id="81" name="그룹 80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20755" y="4358842"/>
              <a:ext cx="486726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4" name="그룹 11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9" name="타원 11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0" name="그룹 11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25" name="직선 연결선 12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직선 연결선 12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1" name="타원 12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2" name="그룹 12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23" name="직선 연결선 12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24" name="직선 연결선 12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5" name="그룹 114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27" name="그룹 126"/>
          <p:cNvGrpSpPr/>
          <p:nvPr/>
        </p:nvGrpSpPr>
        <p:grpSpPr>
          <a:xfrm>
            <a:off x="3838523" y="1493927"/>
            <a:ext cx="2626449" cy="354413"/>
            <a:chOff x="720490" y="4004429"/>
            <a:chExt cx="2626449" cy="354413"/>
          </a:xfrm>
        </p:grpSpPr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20755" y="4358842"/>
              <a:ext cx="486726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33" name="그룹 132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40" name="타원 13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3" name="그룹 14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8" name="직선 연결선 14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직선 연결선 14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4" name="타원 14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5" name="그룹 14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6" name="직선 연결선 14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7" name="직선 연결선 14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34" name="그룹 133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50997650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MUI-CT-01-T18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0" name="직사각형 19"/>
          <p:cNvSpPr/>
          <p:nvPr/>
        </p:nvSpPr>
        <p:spPr>
          <a:xfrm>
            <a:off x="7080996" y="6036456"/>
            <a:ext cx="232257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err="1" smtClean="0"/>
              <a:t>특수조건</a:t>
            </a:r>
            <a:r>
              <a:rPr lang="ko-KR" altLang="en-US" sz="500" dirty="0" smtClean="0"/>
              <a:t> 화면 추가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3297724665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65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9220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12974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7577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43188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3122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75621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494351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C33758EB-5A32-E642-417C-8D4DA0CA5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394887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9692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66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3421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6997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6500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230602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1911002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152226"/>
          <a:ext cx="8994883" cy="3490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5590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69651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clsfNo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94358646-C15E-A834-70D8-10265E460335}"/>
              </a:ext>
            </a:extLst>
          </p:cNvPr>
          <p:cNvSpPr txBox="1"/>
          <p:nvPr/>
        </p:nvSpPr>
        <p:spPr>
          <a:xfrm>
            <a:off x="443054" y="5780284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F81F8B0-A405-8059-A659-6D204CB1735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6042774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32090055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67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8109792"/>
              </p:ext>
            </p:extLst>
          </p:nvPr>
        </p:nvGraphicFramePr>
        <p:xfrm>
          <a:off x="453000" y="1019472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0324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E7FE78B1-AD7B-1A69-C96D-5934E09FB6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084035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물품일반계약서상세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물품일반계약서상세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판단번호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073128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186459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380613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8061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380613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380613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461171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4825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3913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528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665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802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99053" y="55850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364435"/>
            <a:ext cx="76863" cy="292489"/>
            <a:chOff x="3750067" y="4683795"/>
            <a:chExt cx="76863" cy="292489"/>
          </a:xfrm>
        </p:grpSpPr>
        <p:sp>
          <p:nvSpPr>
            <p:cNvPr id="173" name="타원 17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77" name="모서리가 둥근 직사각형 176"/>
          <p:cNvSpPr/>
          <p:nvPr/>
        </p:nvSpPr>
        <p:spPr>
          <a:xfrm>
            <a:off x="3831550" y="6029382"/>
            <a:ext cx="2652743" cy="202917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3" name="그룹 152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4" name="그룹 153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2" name="그룹 161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3" name="타원 162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6" name="그룹 175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8" name="직선 연결선 17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9" name="직선 연결선 17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8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 내역은 </a:t>
            </a:r>
            <a:r>
              <a:rPr lang="ko-KR" altLang="en-US" sz="800" dirty="0" err="1" smtClean="0"/>
              <a:t>다음페이지</a:t>
            </a:r>
            <a:r>
              <a:rPr lang="ko-KR" altLang="en-US" sz="800" dirty="0" smtClean="0"/>
              <a:t> 참조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이벤트 항목 </a:t>
            </a:r>
            <a:r>
              <a:rPr lang="ko-KR" altLang="en-US" sz="800" dirty="0" err="1" smtClean="0"/>
              <a:t>바텀시트</a:t>
            </a:r>
            <a:r>
              <a:rPr lang="ko-KR" altLang="en-US" sz="800" dirty="0" smtClean="0"/>
              <a:t> 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노출항목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다음페이지</a:t>
            </a:r>
            <a:r>
              <a:rPr lang="ko-KR" altLang="en-US" sz="800" dirty="0" smtClean="0"/>
              <a:t> 참조</a:t>
            </a:r>
            <a:endParaRPr lang="en-US" altLang="ko-KR" sz="800" dirty="0" smtClean="0"/>
          </a:p>
        </p:txBody>
      </p:sp>
      <p:sp>
        <p:nvSpPr>
          <p:cNvPr id="181" name="타원 18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37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06" name="타원 2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07" name="직사각형 206"/>
          <p:cNvSpPr/>
          <p:nvPr/>
        </p:nvSpPr>
        <p:spPr>
          <a:xfrm>
            <a:off x="7066462" y="6072298"/>
            <a:ext cx="2324667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smtClean="0"/>
              <a:t>납부방법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물가변동계약금액조정방법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납품일자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납품장소</a:t>
            </a:r>
            <a:r>
              <a:rPr lang="ko-KR" altLang="en-US" sz="500" dirty="0" smtClean="0"/>
              <a:t> 누락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170508537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/>
              <a:t>물품일반계약서상세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물품일반계약서상세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판단번호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53" name="그룹 152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4" name="그룹 153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2" name="그룹 161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3" name="타원 162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6" name="그룹 175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8" name="직선 연결선 17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9" name="직선 연결선 17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8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/>
              <a:t>상세 기능이 있는 페이지에만 노출된다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1-1</a:t>
            </a:r>
            <a:r>
              <a:rPr lang="en-US" altLang="ko-KR" sz="800" dirty="0" smtClean="0"/>
              <a:t>] </a:t>
            </a:r>
            <a:r>
              <a:rPr lang="ko-KR" altLang="en-US" sz="800" dirty="0" err="1" smtClean="0"/>
              <a:t>계약명세서</a:t>
            </a:r>
            <a:r>
              <a:rPr lang="ko-KR" altLang="en-US" sz="800" dirty="0" smtClean="0"/>
              <a:t> 조회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en-US" altLang="ko-KR" sz="800" dirty="0">
                <a:latin typeface="+mn-ea"/>
              </a:rPr>
              <a:t> (MUI-CT-01-P10)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물품계약명세서</a:t>
            </a:r>
            <a:r>
              <a:rPr lang="en-US" altLang="ko-KR" sz="800" dirty="0">
                <a:latin typeface="+mn-ea"/>
              </a:rPr>
              <a:t>, (MUI-CT-01-P11)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물품최종계약명세서</a:t>
            </a:r>
            <a:r>
              <a:rPr lang="en-US" altLang="ko-KR" sz="800" dirty="0">
                <a:latin typeface="+mn-ea"/>
              </a:rPr>
              <a:t>, (MUI-CT-01-P12)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물품수정계약명세서</a:t>
            </a:r>
            <a:r>
              <a:rPr lang="en-US" altLang="ko-KR" sz="800" dirty="0">
                <a:latin typeface="+mn-ea"/>
              </a:rPr>
              <a:t>, (MUI-CT-01-P13)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물품일반계약명세서</a:t>
            </a:r>
            <a:endParaRPr lang="ko-KR" altLang="en-US" sz="800" dirty="0">
              <a:latin typeface="+mn-ea"/>
            </a:endParaRPr>
          </a:p>
          <a:p>
            <a:pPr marL="228600" lvl="0" indent="-228600">
              <a:buFont typeface="+mj-lt"/>
              <a:buAutoNum type="arabicPeriod"/>
            </a:pPr>
            <a:endParaRPr lang="en-US" altLang="ko-KR" sz="800" dirty="0"/>
          </a:p>
        </p:txBody>
      </p:sp>
      <p:sp>
        <p:nvSpPr>
          <p:cNvPr id="181" name="타원 18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91685" y="55906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7" name="직사각형 20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60997" y="1490952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23" name="그룹 222"/>
          <p:cNvGrpSpPr/>
          <p:nvPr/>
        </p:nvGrpSpPr>
        <p:grpSpPr>
          <a:xfrm>
            <a:off x="3723466" y="2945746"/>
            <a:ext cx="2749909" cy="3337178"/>
            <a:chOff x="7056452" y="5531684"/>
            <a:chExt cx="2749909" cy="3337178"/>
          </a:xfrm>
        </p:grpSpPr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94334" y="625129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59252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438749" y="6285043"/>
              <a:ext cx="452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공지사항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7" name="타원 226"/>
            <p:cNvSpPr/>
            <p:nvPr/>
          </p:nvSpPr>
          <p:spPr>
            <a:xfrm>
              <a:off x="7202621" y="6316388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8" name="그룹 227"/>
            <p:cNvGrpSpPr/>
            <p:nvPr/>
          </p:nvGrpSpPr>
          <p:grpSpPr>
            <a:xfrm>
              <a:off x="9562483" y="6398374"/>
              <a:ext cx="94010" cy="47005"/>
              <a:chOff x="6812560" y="3297172"/>
              <a:chExt cx="94010" cy="47005"/>
            </a:xfrm>
          </p:grpSpPr>
          <p:cxnSp>
            <p:nvCxnSpPr>
              <p:cNvPr id="341" name="직선 연결선 3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42" name="직선 연결선 34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946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183104" y="6730334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7480" y="6730334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946941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6" name="그룹 235"/>
            <p:cNvGrpSpPr/>
            <p:nvPr/>
          </p:nvGrpSpPr>
          <p:grpSpPr>
            <a:xfrm>
              <a:off x="9343021" y="6692211"/>
              <a:ext cx="422853" cy="187961"/>
              <a:chOff x="3641308" y="2234886"/>
              <a:chExt cx="422853" cy="187961"/>
            </a:xfrm>
          </p:grpSpPr>
          <p:sp>
            <p:nvSpPr>
              <p:cNvPr id="330" name="타원 32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31" name="그룹 33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6" name="직선 연결선 33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9" name="직선 연결선 33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32" name="타원 33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33" name="그룹 33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4" name="직선 연결선 33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5" name="직선 연결선 33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00396" y="7053272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상세정보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38" name="그룹 237"/>
            <p:cNvGrpSpPr/>
            <p:nvPr/>
          </p:nvGrpSpPr>
          <p:grpSpPr>
            <a:xfrm flipV="1">
              <a:off x="9562483" y="7166603"/>
              <a:ext cx="94010" cy="47005"/>
              <a:chOff x="6812560" y="3297172"/>
              <a:chExt cx="94010" cy="47005"/>
            </a:xfrm>
          </p:grpSpPr>
          <p:cxnSp>
            <p:nvCxnSpPr>
              <p:cNvPr id="328" name="직선 연결선 32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9" name="직선 연결선 32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39" name="직사각형 238"/>
            <p:cNvSpPr/>
            <p:nvPr/>
          </p:nvSpPr>
          <p:spPr>
            <a:xfrm>
              <a:off x="7141518" y="7360757"/>
              <a:ext cx="792000" cy="145964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736075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28582" y="7360757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계약서 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85430" y="7360757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물품제조구매계약서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 </a:t>
              </a: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75918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780556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0192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2329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4466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66039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94334" y="589361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67" name="그룹 266"/>
            <p:cNvGrpSpPr/>
            <p:nvPr/>
          </p:nvGrpSpPr>
          <p:grpSpPr>
            <a:xfrm rot="16200000">
              <a:off x="7669632" y="6046435"/>
              <a:ext cx="94010" cy="47005"/>
              <a:chOff x="6812560" y="3297172"/>
              <a:chExt cx="94010" cy="47005"/>
            </a:xfrm>
          </p:grpSpPr>
          <p:cxnSp>
            <p:nvCxnSpPr>
              <p:cNvPr id="326" name="직선 연결선 32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7" name="직선 연결선 32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23105" y="6016075"/>
              <a:ext cx="40086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입찰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0" name="타원 269"/>
            <p:cNvSpPr/>
            <p:nvPr/>
          </p:nvSpPr>
          <p:spPr>
            <a:xfrm>
              <a:off x="7822970" y="5975956"/>
              <a:ext cx="187961" cy="187961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78027" y="6016075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72" name="그룹 271"/>
            <p:cNvGrpSpPr/>
            <p:nvPr/>
          </p:nvGrpSpPr>
          <p:grpSpPr>
            <a:xfrm rot="16200000">
              <a:off x="8325743" y="6046435"/>
              <a:ext cx="94010" cy="47005"/>
              <a:chOff x="6812560" y="3297172"/>
              <a:chExt cx="94010" cy="47005"/>
            </a:xfrm>
          </p:grpSpPr>
          <p:cxnSp>
            <p:nvCxnSpPr>
              <p:cNvPr id="324" name="직선 연결선 32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5" name="직선 연결선 3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73" name="그룹 272"/>
            <p:cNvGrpSpPr/>
            <p:nvPr/>
          </p:nvGrpSpPr>
          <p:grpSpPr>
            <a:xfrm rot="16200000">
              <a:off x="8981855" y="6046435"/>
              <a:ext cx="94010" cy="47005"/>
              <a:chOff x="6812560" y="3297172"/>
              <a:chExt cx="94010" cy="47005"/>
            </a:xfrm>
          </p:grpSpPr>
          <p:cxnSp>
            <p:nvCxnSpPr>
              <p:cNvPr id="322" name="직선 연결선 3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3" name="직선 연결선 3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4" name="타원 273"/>
            <p:cNvSpPr/>
            <p:nvPr/>
          </p:nvSpPr>
          <p:spPr>
            <a:xfrm>
              <a:off x="7166860" y="5975956"/>
              <a:ext cx="187961" cy="187961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21917" y="6016075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370285" y="6016075"/>
              <a:ext cx="39757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조달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78" name="그룹 277"/>
            <p:cNvGrpSpPr/>
            <p:nvPr/>
          </p:nvGrpSpPr>
          <p:grpSpPr>
            <a:xfrm>
              <a:off x="8477684" y="5975956"/>
              <a:ext cx="603798" cy="187961"/>
              <a:chOff x="2058749" y="3237230"/>
              <a:chExt cx="603798" cy="187961"/>
            </a:xfrm>
          </p:grpSpPr>
          <p:grpSp>
            <p:nvGrpSpPr>
              <p:cNvPr id="318" name="그룹 317"/>
              <p:cNvGrpSpPr/>
              <p:nvPr/>
            </p:nvGrpSpPr>
            <p:grpSpPr>
              <a:xfrm>
                <a:off x="2058749" y="3237230"/>
                <a:ext cx="187961" cy="187961"/>
                <a:chOff x="2058749" y="3237230"/>
                <a:chExt cx="187961" cy="187961"/>
              </a:xfrm>
            </p:grpSpPr>
            <p:sp>
              <p:nvSpPr>
                <p:cNvPr id="320" name="타원 319"/>
                <p:cNvSpPr/>
                <p:nvPr/>
              </p:nvSpPr>
              <p:spPr>
                <a:xfrm>
                  <a:off x="2058749" y="3237230"/>
                  <a:ext cx="187961" cy="187961"/>
                </a:xfrm>
                <a:prstGeom prst="ellipse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1" name="TextBox 320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113806" y="3277349"/>
                  <a:ext cx="77847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US" altLang="ko-KR" sz="700" dirty="0" smtClean="0">
                      <a:solidFill>
                        <a:schemeClr val="bg1"/>
                      </a:solidFill>
                      <a:latin typeface="+mn-ea"/>
                    </a:rPr>
                    <a:t>3</a:t>
                  </a:r>
                  <a:endParaRPr lang="ko-KR" altLang="en-US" sz="7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319" name="TextBox 31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263899" y="3277349"/>
                <a:ext cx="39864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 smtClean="0">
                    <a:latin typeface="+mn-ea"/>
                  </a:rPr>
                  <a:t>계약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16881" y="6730334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35481" y="6730334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85" name="그룹 284"/>
            <p:cNvGrpSpPr/>
            <p:nvPr/>
          </p:nvGrpSpPr>
          <p:grpSpPr>
            <a:xfrm>
              <a:off x="9133795" y="5975956"/>
              <a:ext cx="603798" cy="187961"/>
              <a:chOff x="2714860" y="3237230"/>
              <a:chExt cx="603798" cy="187961"/>
            </a:xfrm>
          </p:grpSpPr>
          <p:grpSp>
            <p:nvGrpSpPr>
              <p:cNvPr id="314" name="그룹 313"/>
              <p:cNvGrpSpPr/>
              <p:nvPr/>
            </p:nvGrpSpPr>
            <p:grpSpPr>
              <a:xfrm>
                <a:off x="2714860" y="3237230"/>
                <a:ext cx="187961" cy="187961"/>
                <a:chOff x="2714860" y="3237230"/>
                <a:chExt cx="187961" cy="187961"/>
              </a:xfrm>
            </p:grpSpPr>
            <p:sp>
              <p:nvSpPr>
                <p:cNvPr id="316" name="타원 315"/>
                <p:cNvSpPr/>
                <p:nvPr/>
              </p:nvSpPr>
              <p:spPr>
                <a:xfrm>
                  <a:off x="2714860" y="3237230"/>
                  <a:ext cx="187961" cy="18796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17" name="TextBox 31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769917" y="3277349"/>
                  <a:ext cx="77847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US" altLang="ko-KR" sz="700" dirty="0" smtClean="0">
                      <a:latin typeface="+mn-ea"/>
                    </a:rPr>
                    <a:t>4</a:t>
                  </a:r>
                  <a:endParaRPr lang="ko-KR" altLang="en-US" sz="700" dirty="0">
                    <a:latin typeface="+mn-ea"/>
                  </a:endParaRPr>
                </a:p>
              </p:txBody>
            </p:sp>
          </p:grpSp>
          <p:sp>
            <p:nvSpPr>
              <p:cNvPr id="315" name="TextBox 31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920010" y="3277349"/>
                <a:ext cx="39864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 smtClean="0">
                    <a:latin typeface="+mn-ea"/>
                  </a:rPr>
                  <a:t>이행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286" name="그룹 285"/>
            <p:cNvGrpSpPr/>
            <p:nvPr/>
          </p:nvGrpSpPr>
          <p:grpSpPr>
            <a:xfrm rot="5400000">
              <a:off x="9577913" y="5970247"/>
              <a:ext cx="187961" cy="187961"/>
              <a:chOff x="3876200" y="2234886"/>
              <a:chExt cx="187961" cy="187961"/>
            </a:xfrm>
          </p:grpSpPr>
          <p:sp>
            <p:nvSpPr>
              <p:cNvPr id="310" name="타원 30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11" name="그룹 31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12" name="직선 연결선 31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13" name="직선 연결선 31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87" name="양쪽 모서리가 둥근 사각형 286"/>
            <p:cNvSpPr/>
            <p:nvPr/>
          </p:nvSpPr>
          <p:spPr>
            <a:xfrm>
              <a:off x="7087364" y="5599752"/>
              <a:ext cx="2712027" cy="3215510"/>
            </a:xfrm>
            <a:prstGeom prst="round2SameRect">
              <a:avLst>
                <a:gd name="adj1" fmla="val 4887"/>
                <a:gd name="adj2" fmla="val 0"/>
              </a:avLst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ko-KR" altLang="en-US" sz="700">
                <a:solidFill>
                  <a:srgbClr val="0F4294"/>
                </a:solidFill>
              </a:endParaRPr>
            </a:p>
          </p:txBody>
        </p:sp>
        <p:sp>
          <p:nvSpPr>
            <p:cNvPr id="290" name="모서리가 둥근 직사각형 289"/>
            <p:cNvSpPr/>
            <p:nvPr/>
          </p:nvSpPr>
          <p:spPr>
            <a:xfrm>
              <a:off x="8173377" y="5636379"/>
              <a:ext cx="540000" cy="45719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700" dirty="0">
                <a:solidFill>
                  <a:schemeClr val="tx1"/>
                </a:solidFill>
              </a:endParaRPr>
            </a:p>
          </p:txBody>
        </p:sp>
        <p:grpSp>
          <p:nvGrpSpPr>
            <p:cNvPr id="291" name="그룹 290"/>
            <p:cNvGrpSpPr/>
            <p:nvPr/>
          </p:nvGrpSpPr>
          <p:grpSpPr>
            <a:xfrm>
              <a:off x="9576303" y="5770795"/>
              <a:ext cx="94010" cy="94010"/>
              <a:chOff x="6812560" y="3297172"/>
              <a:chExt cx="94010" cy="94010"/>
            </a:xfrm>
          </p:grpSpPr>
          <p:cxnSp>
            <p:nvCxnSpPr>
              <p:cNvPr id="308" name="직선 연결선 30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9" name="직선 연결선 30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16441" y="5751474"/>
              <a:ext cx="179875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900" dirty="0">
                  <a:latin typeface="+mn-ea"/>
                </a:rPr>
                <a:t> </a:t>
              </a:r>
              <a:endParaRPr lang="ko-KR" altLang="en-US" sz="900" dirty="0">
                <a:latin typeface="+mn-ea"/>
              </a:endParaRPr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87364" y="601287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96" name="그룹 295">
              <a:extLst>
                <a:ext uri="{FF2B5EF4-FFF2-40B4-BE49-F238E27FC236}">
                  <a16:creationId xmlns:a16="http://schemas.microsoft.com/office/drawing/2014/main" id="{22BC05EE-C648-7CA2-4CCC-6E1C1A7E9BDA}"/>
                </a:ext>
              </a:extLst>
            </p:cNvPr>
            <p:cNvGrpSpPr/>
            <p:nvPr/>
          </p:nvGrpSpPr>
          <p:grpSpPr>
            <a:xfrm>
              <a:off x="8424253" y="8281222"/>
              <a:ext cx="76863" cy="292489"/>
              <a:chOff x="3750067" y="4683795"/>
              <a:chExt cx="76863" cy="292489"/>
            </a:xfrm>
          </p:grpSpPr>
          <p:sp>
            <p:nvSpPr>
              <p:cNvPr id="305" name="타원 304">
                <a:extLst>
                  <a:ext uri="{FF2B5EF4-FFF2-40B4-BE49-F238E27FC236}">
                    <a16:creationId xmlns:a16="http://schemas.microsoft.com/office/drawing/2014/main" id="{B62EC5A9-8616-6B01-4FB1-D38CF6C29F0E}"/>
                  </a:ext>
                </a:extLst>
              </p:cNvPr>
              <p:cNvSpPr/>
              <p:nvPr/>
            </p:nvSpPr>
            <p:spPr>
              <a:xfrm>
                <a:off x="3750067" y="4683795"/>
                <a:ext cx="76863" cy="76863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  <p:sp>
            <p:nvSpPr>
              <p:cNvPr id="306" name="타원 305">
                <a:extLst>
                  <a:ext uri="{FF2B5EF4-FFF2-40B4-BE49-F238E27FC236}">
                    <a16:creationId xmlns:a16="http://schemas.microsoft.com/office/drawing/2014/main" id="{0D32B1A6-219D-1D15-5FDD-889D3F5740C1}"/>
                  </a:ext>
                </a:extLst>
              </p:cNvPr>
              <p:cNvSpPr/>
              <p:nvPr/>
            </p:nvSpPr>
            <p:spPr>
              <a:xfrm>
                <a:off x="3750067" y="4791517"/>
                <a:ext cx="76863" cy="76863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  <p:sp>
            <p:nvSpPr>
              <p:cNvPr id="307" name="타원 306">
                <a:extLst>
                  <a:ext uri="{FF2B5EF4-FFF2-40B4-BE49-F238E27FC236}">
                    <a16:creationId xmlns:a16="http://schemas.microsoft.com/office/drawing/2014/main" id="{F347D62C-1828-433E-F5ED-51C6591859DD}"/>
                  </a:ext>
                </a:extLst>
              </p:cNvPr>
              <p:cNvSpPr/>
              <p:nvPr/>
            </p:nvSpPr>
            <p:spPr>
              <a:xfrm>
                <a:off x="3750067" y="4899421"/>
                <a:ext cx="76863" cy="76863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</p:grpSp>
        <p:sp>
          <p:nvSpPr>
            <p:cNvPr id="297" name="타원 296">
              <a:extLst>
                <a:ext uri="{FF2B5EF4-FFF2-40B4-BE49-F238E27FC236}">
                  <a16:creationId xmlns:a16="http://schemas.microsoft.com/office/drawing/2014/main" id="{37A7FF4F-0EAA-1463-560A-D5EC24416103}"/>
                </a:ext>
              </a:extLst>
            </p:cNvPr>
            <p:cNvSpPr/>
            <p:nvPr/>
          </p:nvSpPr>
          <p:spPr>
            <a:xfrm>
              <a:off x="7056452" y="5531684"/>
              <a:ext cx="172130" cy="172130"/>
            </a:xfrm>
            <a:prstGeom prst="ellipse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500" dirty="0" smtClean="0"/>
                <a:t>1-1</a:t>
              </a:r>
              <a:endParaRPr lang="ko-KR" altLang="en-US" sz="900" dirty="0"/>
            </a:p>
          </p:txBody>
        </p:sp>
        <p:sp>
          <p:nvSpPr>
            <p:cNvPr id="300" name="모서리가 둥근 직사각형 40">
              <a:extLst>
                <a:ext uri="{FF2B5EF4-FFF2-40B4-BE49-F238E27FC236}">
                  <a16:creationId xmlns:a16="http://schemas.microsoft.com/office/drawing/2014/main" id="{3BE5C28A-F0C3-8BA2-3AC1-EFA405ADE137}"/>
                </a:ext>
              </a:extLst>
            </p:cNvPr>
            <p:cNvSpPr/>
            <p:nvPr/>
          </p:nvSpPr>
          <p:spPr bwMode="auto">
            <a:xfrm>
              <a:off x="7179667" y="6134416"/>
              <a:ext cx="2522014" cy="244350"/>
            </a:xfrm>
            <a:prstGeom prst="roundRect">
              <a:avLst/>
            </a:prstGeom>
            <a:solidFill>
              <a:srgbClr val="0F4294"/>
            </a:solidFill>
            <a:ln w="6350">
              <a:solidFill>
                <a:srgbClr val="0F4294"/>
              </a:solidFill>
              <a:headEnd/>
              <a:tailEnd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wrap="none" lIns="36000" rIns="36000" anchor="ctr"/>
            <a:lstStyle/>
            <a:p>
              <a:pPr algn="ctr">
                <a:defRPr/>
              </a:pPr>
              <a:r>
                <a:rPr lang="ko-KR" altLang="en-US" sz="700" dirty="0" err="1" smtClean="0">
                  <a:solidFill>
                    <a:schemeClr val="bg1"/>
                  </a:solidFill>
                  <a:latin typeface="+mn-ea"/>
                </a:rPr>
                <a:t>계약명세서</a:t>
              </a:r>
              <a:r>
                <a:rPr lang="ko-KR" altLang="en-US" sz="700" dirty="0" smtClean="0">
                  <a:solidFill>
                    <a:schemeClr val="bg1"/>
                  </a:solidFill>
                  <a:latin typeface="+mn-ea"/>
                </a:rPr>
                <a:t> 조회</a:t>
              </a:r>
              <a:endPara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8535946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계약대상자</a:t>
            </a:r>
            <a:r>
              <a:rPr lang="ko-KR" altLang="en-US" dirty="0" smtClean="0"/>
              <a:t> </a:t>
            </a:r>
            <a:r>
              <a:rPr lang="en-US" altLang="ko-KR" dirty="0" smtClean="0"/>
              <a:t>- </a:t>
            </a: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물품일반계약서상세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물품일반계약서상세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490537"/>
            <a:chOff x="701175" y="1527996"/>
            <a:chExt cx="2630093" cy="249053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21830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통합참조번호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발주처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증권번호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20260130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0000-0000-00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175049"/>
              <a:chOff x="701175" y="1835481"/>
              <a:chExt cx="2630093" cy="2175049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01053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1526061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14486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574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165449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278780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496166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496166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3619168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737712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구매담당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737712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716366" y="4084763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계약대상자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0189" y="41756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1968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0" name="모서리가 둥근 직사각형 89"/>
          <p:cNvSpPr/>
          <p:nvPr/>
        </p:nvSpPr>
        <p:spPr>
          <a:xfrm>
            <a:off x="3831550" y="4004372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122916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원가담당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122916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김길동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31550" y="4383416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501960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501960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박길동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7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68202265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71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03099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0338580"/>
              </p:ext>
            </p:extLst>
          </p:nvPr>
        </p:nvGraphicFramePr>
        <p:xfrm>
          <a:off x="452999" y="1086853"/>
          <a:ext cx="8994883" cy="5091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ctrdocTpcd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통합참조번호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통합참조번호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bzentyAddr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telno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bscbgtCtrtAmt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govbndCtrtAmt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tcstrnBkpngAmt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pvctRncd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증권번호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lqdmgRt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 조정방법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 조정방법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7249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dlvgdsYmd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169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dlvgdsPlcNm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09708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etcMttr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43259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5696956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816D957A-8E33-9E32-2D49-DCC116AAE1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60167899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1975566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23805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prchsPicNm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prchsPicEchlnCd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prmcoPicNm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prmcoPicEchlnCd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ofcctrEchlnCd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30545319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73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1062786"/>
              </p:ext>
            </p:extLst>
          </p:nvPr>
        </p:nvGraphicFramePr>
        <p:xfrm>
          <a:off x="453000" y="1093483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(MUI-CT-01-P10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smtClean="0">
                          <a:latin typeface="+mn-ea"/>
                        </a:rPr>
                        <a:t>MUI-CT-01-P11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물품최종계약명세서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(MUI-CT-01-P12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물품수정계약명세서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(MUI-CT-01-P13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물품일반계약명세서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41770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772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F7CBA703-636B-B2B8-E837-81A56606E9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6036020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공사계약서상세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공사계약서상세 </a:t>
            </a:r>
            <a:r>
              <a:rPr lang="ko-KR" altLang="en-US" dirty="0" smtClean="0"/>
              <a:t>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계약건명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발주처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78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076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076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9603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5503" y="163437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173" name="타원 17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78488" y="4142235"/>
            <a:ext cx="5255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하자담보책임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79822" y="1634370"/>
            <a:ext cx="5112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하자담보책임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49594" y="4142235"/>
            <a:ext cx="5255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연대보증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50928" y="1634370"/>
            <a:ext cx="5112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연대보증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0" name="그룹 159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2" name="그룹 161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76" name="타원 17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8" name="그룹 177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9" name="타원 178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0" name="그룹 179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5" name="직선 연결선 18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06" name="타원 2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07" name="타원 2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2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하자담보책임</a:t>
            </a:r>
            <a:r>
              <a:rPr lang="en-US" altLang="ko-KR" sz="800" dirty="0" smtClean="0"/>
              <a:t>,</a:t>
            </a:r>
            <a:r>
              <a:rPr lang="ko-KR" altLang="en-US" sz="800" dirty="0" smtClean="0"/>
              <a:t> 연대보증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</a:t>
            </a:r>
            <a:endParaRPr lang="en-US" altLang="ko-KR" sz="800" dirty="0" smtClean="0"/>
          </a:p>
        </p:txBody>
      </p:sp>
      <p:sp>
        <p:nvSpPr>
          <p:cNvPr id="187" name="직사각형 186"/>
          <p:cNvSpPr/>
          <p:nvPr/>
        </p:nvSpPr>
        <p:spPr>
          <a:xfrm>
            <a:off x="7080202" y="6060844"/>
            <a:ext cx="2373139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smtClean="0"/>
              <a:t>수의계약사유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총부기금액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지체상금률</a:t>
            </a:r>
            <a:r>
              <a:rPr lang="ko-KR" altLang="en-US" sz="500" dirty="0" smtClean="0"/>
              <a:t> 누락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278992315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mtClean="0"/>
              <a:t>계약 상세정보업체정보</a:t>
            </a:r>
            <a:endParaRPr lang="en-US" altLang="ko-KR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mtClean="0"/>
              <a:t>계약대상자 </a:t>
            </a:r>
            <a:r>
              <a:rPr lang="en-US" altLang="ko-KR" smtClean="0"/>
              <a:t>- </a:t>
            </a:r>
            <a:r>
              <a:rPr lang="ko-KR" altLang="en-US" smtClean="0"/>
              <a:t>업체정보</a:t>
            </a:r>
            <a:endParaRPr lang="en-US" altLang="ko-KR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mtClean="0"/>
              <a:t>계약금액 정보</a:t>
            </a:r>
            <a:endParaRPr lang="en-US" altLang="ko-KR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MUI-CT-01-T19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29878"/>
            <a:ext cx="2630093" cy="3112730"/>
            <a:chOff x="701175" y="1527996"/>
            <a:chExt cx="2630093" cy="3112730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28007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발주처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20260130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2026-12-30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805245"/>
              <a:chOff x="701175" y="1835481"/>
              <a:chExt cx="2630093" cy="2805245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98174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2144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2922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6" name="직선 연결선 9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4072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85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999526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61833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40481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63891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752245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96963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96963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609263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621117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621117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8794" y="1917539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계약대상자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2617" y="20084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67030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843907"/>
            <a:ext cx="7255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맑은 고딕" panose="020B0503020000020004" pitchFamily="50" charset="-127"/>
              </a:rPr>
              <a:t>물가변동계약금액조정방법</a:t>
            </a:r>
            <a:endParaRPr lang="en-US" altLang="ko-KR" sz="700" dirty="0">
              <a:latin typeface="+mn-ea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40800" y="3897768"/>
            <a:ext cx="7255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국계령</a:t>
            </a:r>
            <a:r>
              <a:rPr lang="ko-KR" altLang="en-US" sz="700" dirty="0">
                <a:latin typeface="+mn-ea"/>
              </a:rPr>
              <a:t> 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조 </a:t>
            </a:r>
            <a:r>
              <a:rPr lang="en-US" altLang="ko-KR" sz="700" dirty="0">
                <a:latin typeface="+mn-ea"/>
              </a:rPr>
              <a:t>... 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3795734" y="1494789"/>
            <a:ext cx="2712027" cy="355980"/>
            <a:chOff x="3795734" y="1494789"/>
            <a:chExt cx="2712027" cy="355980"/>
          </a:xfrm>
        </p:grpSpPr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149478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18507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1850769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3" name="그룹 92"/>
            <p:cNvGrpSpPr/>
            <p:nvPr/>
          </p:nvGrpSpPr>
          <p:grpSpPr>
            <a:xfrm>
              <a:off x="6027618" y="1596039"/>
              <a:ext cx="422853" cy="187961"/>
              <a:chOff x="3641308" y="2234886"/>
              <a:chExt cx="422853" cy="187961"/>
            </a:xfrm>
          </p:grpSpPr>
          <p:sp>
            <p:nvSpPr>
              <p:cNvPr id="94" name="타원 93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5" name="그룹 94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03" name="직선 연결선 10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4" name="직선 연결선 10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9" name="타원 98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00" name="그룹 99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01" name="직선 연결선 10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2" name="직선 연결선 10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65503" y="163437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79822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하자담보책임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050928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연대보증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675399" y="1494789"/>
            <a:ext cx="2712027" cy="355980"/>
            <a:chOff x="3795734" y="1494789"/>
            <a:chExt cx="2712027" cy="355980"/>
          </a:xfrm>
        </p:grpSpPr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149478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18507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1850769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4" name="그룹 113"/>
            <p:cNvGrpSpPr/>
            <p:nvPr/>
          </p:nvGrpSpPr>
          <p:grpSpPr>
            <a:xfrm>
              <a:off x="6027618" y="1596039"/>
              <a:ext cx="422853" cy="187961"/>
              <a:chOff x="3641308" y="2234886"/>
              <a:chExt cx="422853" cy="187961"/>
            </a:xfrm>
          </p:grpSpPr>
          <p:sp>
            <p:nvSpPr>
              <p:cNvPr id="137" name="타원 13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8" name="그룹 13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4" name="직선 연결선 14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직선 연결선 14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0" name="타원 13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1" name="그룹 14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2" name="직선 연결선 1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직선 연결선 14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65503" y="163437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79822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하자담보책임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050928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연대보증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00821847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하자담보책임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추가 내용에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하자담보책임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하자담보책임</a:t>
            </a:r>
            <a:r>
              <a:rPr lang="ko-KR" altLang="en-US" dirty="0" smtClean="0"/>
              <a:t>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MUI-CT-01-T20</a:t>
            </a:r>
            <a:endParaRPr lang="ko-KR" altLang="en-US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2" name="그룹 71"/>
          <p:cNvGrpSpPr/>
          <p:nvPr/>
        </p:nvGrpSpPr>
        <p:grpSpPr>
          <a:xfrm>
            <a:off x="803364" y="1942029"/>
            <a:ext cx="2456097" cy="181140"/>
            <a:chOff x="763157" y="1527996"/>
            <a:chExt cx="2456097" cy="181140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하자담보</a:t>
              </a:r>
              <a:r>
                <a:rPr lang="ko-KR" altLang="en-US" sz="700" dirty="0" smtClean="0">
                  <a:latin typeface="+mn-ea"/>
                </a:rPr>
                <a:t> 책임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90" name="직선 연결선 8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그룹 91"/>
          <p:cNvGrpSpPr/>
          <p:nvPr/>
        </p:nvGrpSpPr>
        <p:grpSpPr>
          <a:xfrm>
            <a:off x="716366" y="2209007"/>
            <a:ext cx="2630093" cy="1077219"/>
            <a:chOff x="3865118" y="2946203"/>
            <a:chExt cx="2630093" cy="1077219"/>
          </a:xfrm>
        </p:grpSpPr>
        <p:sp>
          <p:nvSpPr>
            <p:cNvPr id="93" name="직사각형 92"/>
            <p:cNvSpPr/>
            <p:nvPr/>
          </p:nvSpPr>
          <p:spPr>
            <a:xfrm>
              <a:off x="3867211" y="2946203"/>
              <a:ext cx="792000" cy="10772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34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59883"/>
            <a:ext cx="76863" cy="292489"/>
            <a:chOff x="3750067" y="4683795"/>
            <a:chExt cx="76863" cy="292489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16141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0" name="그룹 109"/>
          <p:cNvGrpSpPr/>
          <p:nvPr/>
        </p:nvGrpSpPr>
        <p:grpSpPr>
          <a:xfrm>
            <a:off x="716366" y="3371830"/>
            <a:ext cx="2630093" cy="1078759"/>
            <a:chOff x="3865118" y="2946203"/>
            <a:chExt cx="2630093" cy="1078759"/>
          </a:xfrm>
        </p:grpSpPr>
        <p:sp>
          <p:nvSpPr>
            <p:cNvPr id="111" name="직사각형 110"/>
            <p:cNvSpPr/>
            <p:nvPr/>
          </p:nvSpPr>
          <p:spPr>
            <a:xfrm>
              <a:off x="3867211" y="2946203"/>
              <a:ext cx="792000" cy="10772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49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9067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3896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42" name="그룹 41"/>
          <p:cNvGrpSpPr/>
          <p:nvPr/>
        </p:nvGrpSpPr>
        <p:grpSpPr>
          <a:xfrm>
            <a:off x="675399" y="1494789"/>
            <a:ext cx="2712027" cy="355980"/>
            <a:chOff x="3795734" y="1494789"/>
            <a:chExt cx="2712027" cy="355980"/>
          </a:xfrm>
        </p:grpSpPr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149478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18507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4332253" y="1850769"/>
              <a:ext cx="558834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46" name="그룹 45"/>
            <p:cNvGrpSpPr/>
            <p:nvPr/>
          </p:nvGrpSpPr>
          <p:grpSpPr>
            <a:xfrm>
              <a:off x="6027618" y="1596039"/>
              <a:ext cx="422853" cy="187961"/>
              <a:chOff x="3641308" y="2234886"/>
              <a:chExt cx="422853" cy="187961"/>
            </a:xfrm>
          </p:grpSpPr>
          <p:sp>
            <p:nvSpPr>
              <p:cNvPr id="50" name="타원 4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51" name="그룹 5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56" name="직선 연결선 5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직선 연결선 5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2" name="타원 5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53" name="그룹 5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54" name="직선 연결선 5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직선 연결선 5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65503" y="163437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79822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하자담보책임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050928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연대보증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72858040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연대보증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추가 내용에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연대보증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연대보증</a:t>
            </a:r>
            <a:r>
              <a:rPr lang="ko-KR" altLang="en-US" dirty="0" smtClean="0"/>
              <a:t>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MUI-CT-01-T21</a:t>
            </a:r>
            <a:endParaRPr lang="ko-KR" altLang="en-US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2" name="그룹 71"/>
          <p:cNvGrpSpPr/>
          <p:nvPr/>
        </p:nvGrpSpPr>
        <p:grpSpPr>
          <a:xfrm>
            <a:off x="803364" y="1924535"/>
            <a:ext cx="2456097" cy="215444"/>
            <a:chOff x="763157" y="1527996"/>
            <a:chExt cx="2456097" cy="215444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126648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연대보증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90" name="직선 연결선 8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그룹 91"/>
          <p:cNvGrpSpPr/>
          <p:nvPr/>
        </p:nvGrpSpPr>
        <p:grpSpPr>
          <a:xfrm>
            <a:off x="716366" y="2191513"/>
            <a:ext cx="2630093" cy="1942191"/>
            <a:chOff x="3865118" y="2946203"/>
            <a:chExt cx="2630093" cy="1942191"/>
          </a:xfrm>
        </p:grpSpPr>
        <p:sp>
          <p:nvSpPr>
            <p:cNvPr id="93" name="직사각형 92"/>
            <p:cNvSpPr/>
            <p:nvPr/>
          </p:nvSpPr>
          <p:spPr>
            <a:xfrm>
              <a:off x="3867211" y="2946203"/>
              <a:ext cx="792000" cy="19389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00000-0000-00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34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559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96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31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39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49252"/>
            <a:ext cx="76863" cy="292489"/>
            <a:chOff x="3750067" y="4683795"/>
            <a:chExt cx="76863" cy="292489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70401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318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2147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36" name="그룹 35"/>
          <p:cNvGrpSpPr/>
          <p:nvPr/>
        </p:nvGrpSpPr>
        <p:grpSpPr>
          <a:xfrm>
            <a:off x="675399" y="1494789"/>
            <a:ext cx="2712027" cy="355980"/>
            <a:chOff x="3795734" y="1494789"/>
            <a:chExt cx="2712027" cy="355980"/>
          </a:xfrm>
        </p:grpSpPr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149478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18507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5086365" y="1850769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40" name="그룹 39"/>
            <p:cNvGrpSpPr/>
            <p:nvPr/>
          </p:nvGrpSpPr>
          <p:grpSpPr>
            <a:xfrm>
              <a:off x="6027618" y="1596039"/>
              <a:ext cx="422853" cy="187961"/>
              <a:chOff x="3641308" y="2234886"/>
              <a:chExt cx="422853" cy="187961"/>
            </a:xfrm>
          </p:grpSpPr>
          <p:sp>
            <p:nvSpPr>
              <p:cNvPr id="48" name="타원 47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49" name="그룹 48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54" name="직선 연결선 5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직선 연결선 5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0" name="타원 4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51" name="그룹 5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52" name="직선 연결선 5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직선 연결선 5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65503" y="163437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79822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하자담보책임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048338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연대보증</a:t>
              </a:r>
              <a:endParaRPr lang="ko-KR" altLang="en-US" sz="700" b="1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42499872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26081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7109740"/>
              </p:ext>
            </p:extLst>
          </p:nvPr>
        </p:nvGraphicFramePr>
        <p:xfrm>
          <a:off x="452999" y="914585"/>
          <a:ext cx="8994883" cy="5285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fcltLbsvcSecd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bscbgtCtrtAmt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govbndCtrtAmt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pvctRncd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tcstrnBkpngAmt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45788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lqdmgRt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49078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22745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bgncstYmd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6963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69322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9979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8949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1061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예금주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예금주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250235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85536B4-DF9E-4147-8663-8AD3E620FC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28663181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76400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직급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ofcctrEchlnCd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직급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68154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ofcctrNm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58169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4444876-DFBD-6F6B-8247-A084330C41BA}"/>
              </a:ext>
            </a:extLst>
          </p:cNvPr>
          <p:cNvSpPr txBox="1"/>
          <p:nvPr/>
        </p:nvSpPr>
        <p:spPr>
          <a:xfrm>
            <a:off x="458117" y="1979216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하자담보책임 데이터</a:t>
            </a:r>
            <a:r>
              <a:rPr lang="ko-KR" altLang="en-US" sz="900" b="1" dirty="0">
                <a:solidFill>
                  <a:prstClr val="black"/>
                </a:solidFill>
              </a:rPr>
              <a:t>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1F97DAE3-70C8-0008-F2B2-B1946099C61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26297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공종명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공종명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85624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공종별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공종별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8645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하자보수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보증율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dfrpGrnteAmtRt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하자보수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보증율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224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하자담보 책임기간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wrtrspPrdCn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하자담보 책임기간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3458865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A0FEFE26-A1AF-7BD6-E395-02A35A80D8FD}"/>
              </a:ext>
            </a:extLst>
          </p:cNvPr>
          <p:cNvSpPr txBox="1"/>
          <p:nvPr/>
        </p:nvSpPr>
        <p:spPr>
          <a:xfrm>
            <a:off x="458117" y="3616063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연대보증 데이터</a:t>
            </a:r>
            <a:r>
              <a:rPr lang="ko-KR" altLang="en-US" sz="900" b="1" dirty="0">
                <a:solidFill>
                  <a:prstClr val="black"/>
                </a:solidFill>
              </a:rPr>
              <a:t>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5EF6DC8B-90DE-CA66-C644-BD341E795C4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89981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85624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8645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사업자등록번호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사업자등록번호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224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34588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2990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8304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4077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59559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80530403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80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1744908"/>
              </p:ext>
            </p:extLst>
          </p:nvPr>
        </p:nvGraphicFramePr>
        <p:xfrm>
          <a:off x="453000" y="104577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2954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46364423-B86A-4A19-7518-6915F57C6F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949038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물품수정계약서상세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물품수정계약서상세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57002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수정계약사유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0000 000 000000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3459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604989" cy="107722"/>
            <a:chOff x="764169" y="4142235"/>
            <a:chExt cx="1604989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342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470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57817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계약수정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계약수정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607874" cy="107722"/>
            <a:chOff x="764169" y="4142235"/>
            <a:chExt cx="160787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562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수정계약명세서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758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2531394"/>
            <a:ext cx="2630093" cy="696397"/>
            <a:chOff x="3865118" y="2694619"/>
            <a:chExt cx="2630093" cy="696397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6100910"/>
            <a:ext cx="178408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계약특수조건 </a:t>
            </a: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11</a:t>
            </a:r>
            <a:r>
              <a:rPr lang="ko-KR" altLang="en-US" sz="700" dirty="0">
                <a:latin typeface="+mn-ea"/>
              </a:rPr>
              <a:t>조 ① 항 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년 </a:t>
            </a:r>
            <a:r>
              <a:rPr lang="ko-KR" altLang="en-US" sz="700" dirty="0" err="1">
                <a:latin typeface="+mn-ea"/>
              </a:rPr>
              <a:t>계약납기</a:t>
            </a:r>
            <a:r>
              <a:rPr lang="ko-KR" altLang="en-US" sz="700" dirty="0">
                <a:latin typeface="+mn-ea"/>
              </a:rPr>
              <a:t> 조정</a:t>
            </a:r>
            <a:r>
              <a:rPr lang="en-US" altLang="ko-KR" sz="700" dirty="0">
                <a:latin typeface="+mn-ea"/>
              </a:rPr>
              <a:t>(....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6154771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기타사항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3836701" y="3248036"/>
            <a:ext cx="2630093" cy="907968"/>
            <a:chOff x="3865118" y="2694619"/>
            <a:chExt cx="2630093" cy="90796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8" name="직사각형 167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5" name="그룹 204"/>
          <p:cNvGrpSpPr/>
          <p:nvPr/>
        </p:nvGrpSpPr>
        <p:grpSpPr>
          <a:xfrm>
            <a:off x="3842944" y="4265167"/>
            <a:ext cx="2630093" cy="1975134"/>
            <a:chOff x="3865118" y="2694619"/>
            <a:chExt cx="2630093" cy="1975134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24" name="타원 2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25" name="타원 2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26" name="타원 2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27" name="타원 2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28" name="타원 2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29" name="타원 2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30" name="타원 22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46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</p:txBody>
      </p:sp>
      <p:sp>
        <p:nvSpPr>
          <p:cNvPr id="247" name="직사각형 246"/>
          <p:cNvSpPr/>
          <p:nvPr/>
        </p:nvSpPr>
        <p:spPr>
          <a:xfrm>
            <a:off x="7066462" y="6100910"/>
            <a:ext cx="2324667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err="1" smtClean="0"/>
              <a:t>증감내역</a:t>
            </a:r>
            <a:r>
              <a:rPr lang="en-US" altLang="ko-KR" sz="500" dirty="0" smtClean="0"/>
              <a:t>(</a:t>
            </a:r>
            <a:r>
              <a:rPr lang="ko-KR" altLang="en-US" sz="500" dirty="0" smtClean="0"/>
              <a:t>수량</a:t>
            </a:r>
            <a:r>
              <a:rPr lang="en-US" altLang="ko-KR" sz="500" dirty="0" smtClean="0"/>
              <a:t>), </a:t>
            </a:r>
            <a:r>
              <a:rPr lang="ko-KR" altLang="en-US" sz="500" dirty="0" err="1" smtClean="0"/>
              <a:t>증감내역</a:t>
            </a:r>
            <a:r>
              <a:rPr lang="en-US" altLang="ko-KR" sz="500" dirty="0" smtClean="0"/>
              <a:t>(</a:t>
            </a:r>
            <a:r>
              <a:rPr lang="ko-KR" altLang="en-US" sz="500" dirty="0" smtClean="0"/>
              <a:t>금액</a:t>
            </a:r>
            <a:r>
              <a:rPr lang="en-US" altLang="ko-KR" sz="500" dirty="0" smtClean="0"/>
              <a:t>),</a:t>
            </a:r>
            <a:r>
              <a:rPr lang="ko-KR" altLang="en-US" sz="500" dirty="0" err="1" smtClean="0"/>
              <a:t>규격번호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검사형태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납지수량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부품번호</a:t>
            </a:r>
            <a:r>
              <a:rPr lang="ko-KR" altLang="en-US" sz="500" dirty="0" smtClean="0"/>
              <a:t> 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1137356909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smtClean="0"/>
              <a:t>물품수정계약서상세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MUI-CT-01-T22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893248"/>
            <a:ext cx="2630093" cy="2025405"/>
            <a:chOff x="701175" y="1527996"/>
            <a:chExt cx="2630093" cy="202540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수정계약사유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0000 000 </a:t>
              </a:r>
              <a:r>
                <a:rPr lang="en-US" altLang="ko-KR" sz="700" dirty="0" smtClean="0">
                  <a:latin typeface="+mn-ea"/>
                </a:rPr>
                <a:t>000000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717920"/>
              <a:chOff x="701175" y="1835481"/>
              <a:chExt cx="2630093" cy="171792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84800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799" y="3230939"/>
              <a:ext cx="178221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계약특수조건 제</a:t>
              </a:r>
              <a:r>
                <a:rPr lang="en-US" altLang="ko-KR" sz="700" dirty="0">
                  <a:latin typeface="+mn-ea"/>
                </a:rPr>
                <a:t>11</a:t>
              </a:r>
              <a:r>
                <a:rPr lang="ko-KR" altLang="en-US" sz="700" dirty="0">
                  <a:latin typeface="+mn-ea"/>
                </a:rPr>
                <a:t>조 ① 항 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년 </a:t>
              </a:r>
              <a:r>
                <a:rPr lang="ko-KR" altLang="en-US" sz="700" dirty="0" err="1">
                  <a:latin typeface="+mn-ea"/>
                </a:rPr>
                <a:t>계약납기</a:t>
              </a:r>
              <a:r>
                <a:rPr lang="ko-KR" altLang="en-US" sz="700" dirty="0">
                  <a:latin typeface="+mn-ea"/>
                </a:rPr>
                <a:t> 조정</a:t>
              </a:r>
              <a:r>
                <a:rPr lang="en-US" altLang="ko-KR" sz="700" dirty="0">
                  <a:latin typeface="+mn-ea"/>
                </a:rPr>
                <a:t>(....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89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9838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00442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4117759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3514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3514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45814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57669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576691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0" y="1893248"/>
            <a:ext cx="2630093" cy="1990579"/>
            <a:chOff x="3865118" y="2694619"/>
            <a:chExt cx="2630093" cy="1990579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3899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851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3" name="그룹 82"/>
          <p:cNvGrpSpPr/>
          <p:nvPr/>
        </p:nvGrpSpPr>
        <p:grpSpPr>
          <a:xfrm>
            <a:off x="701175" y="3975457"/>
            <a:ext cx="2630093" cy="696397"/>
            <a:chOff x="3865118" y="2694619"/>
            <a:chExt cx="2630093" cy="696397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701175" y="4729167"/>
            <a:ext cx="2630093" cy="907968"/>
            <a:chOff x="3865118" y="2694619"/>
            <a:chExt cx="2630093" cy="907968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6" name="직사각형 95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6" name="그룹 75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77" name="타원 7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8" name="그룹 7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84" name="직선 연결선 8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직선 연결선 8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9" name="타원 78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80" name="그룹 79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81" name="직선 연결선 8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직선 연결선 8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4" name="그룹 103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수정계약명세서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0" name="그룹 109"/>
          <p:cNvGrpSpPr/>
          <p:nvPr/>
        </p:nvGrpSpPr>
        <p:grpSpPr>
          <a:xfrm>
            <a:off x="3844696" y="1493927"/>
            <a:ext cx="2626449" cy="354413"/>
            <a:chOff x="720490" y="4004429"/>
            <a:chExt cx="2626449" cy="354413"/>
          </a:xfrm>
        </p:grpSpPr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4" name="그룹 11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37" name="타원 13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8" name="그룹 13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4" name="직선 연결선 14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직선 연결선 14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0" name="타원 13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1" name="그룹 14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2" name="직선 연결선 1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직선 연결선 14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5" name="그룹 114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수정계약명세서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07048985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수정계약명세정보서</a:t>
            </a:r>
            <a:r>
              <a:rPr lang="ko-KR" altLang="en-US" dirty="0" smtClean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수정계약명세서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/>
              <a:t>물품수정계약서상세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MUI-CT-01-T23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885047"/>
            <a:ext cx="2456098" cy="181140"/>
            <a:chOff x="763156" y="1527996"/>
            <a:chExt cx="2456098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3369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070760" y="4618802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716366" y="3625395"/>
            <a:ext cx="2630093" cy="2190577"/>
            <a:chOff x="3865118" y="2694619"/>
            <a:chExt cx="2630093" cy="2190577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으로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장기국채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12771" y="2147909"/>
            <a:ext cx="2633688" cy="1374730"/>
            <a:chOff x="712771" y="2302158"/>
            <a:chExt cx="2633688" cy="1374730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30215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수정항목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5537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24066" y="2553743"/>
              <a:ext cx="43472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연부액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품목추가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676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84581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품목취소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예산전환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45096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규격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05610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원가확정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772169" y="2630090"/>
              <a:ext cx="107950" cy="958403"/>
              <a:chOff x="772169" y="2297325"/>
              <a:chExt cx="107950" cy="958403"/>
            </a:xfrm>
          </p:grpSpPr>
          <p:sp>
            <p:nvSpPr>
              <p:cNvPr id="76" name="직사각형 75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직사각형 76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8" name="직사각형 77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직사각형 78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8" name="직사각형 127"/>
              <p:cNvSpPr/>
              <p:nvPr/>
            </p:nvSpPr>
            <p:spPr>
              <a:xfrm>
                <a:off x="772169" y="3147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0" name="TextBox 79"/>
            <p:cNvSpPr txBox="1"/>
            <p:nvPr/>
          </p:nvSpPr>
          <p:spPr>
            <a:xfrm>
              <a:off x="712771" y="2802474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 smtClean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grpSp>
          <p:nvGrpSpPr>
            <p:cNvPr id="81" name="그룹 80"/>
            <p:cNvGrpSpPr/>
            <p:nvPr/>
          </p:nvGrpSpPr>
          <p:grpSpPr>
            <a:xfrm>
              <a:off x="1421677" y="2630090"/>
              <a:ext cx="107950" cy="736927"/>
              <a:chOff x="772169" y="2297325"/>
              <a:chExt cx="107950" cy="736927"/>
            </a:xfrm>
          </p:grpSpPr>
          <p:sp>
            <p:nvSpPr>
              <p:cNvPr id="110" name="직사각형 10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2" name="직사각형 111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4" name="직사각형 113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2077483" y="2630090"/>
              <a:ext cx="107950" cy="736927"/>
              <a:chOff x="772169" y="2297325"/>
              <a:chExt cx="107950" cy="736927"/>
            </a:xfrm>
          </p:grpSpPr>
          <p:sp>
            <p:nvSpPr>
              <p:cNvPr id="117" name="직사각형 116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직사각형 117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직사각형 118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직사각형 119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2" name="그룹 121"/>
            <p:cNvGrpSpPr/>
            <p:nvPr/>
          </p:nvGrpSpPr>
          <p:grpSpPr>
            <a:xfrm>
              <a:off x="2739067" y="2630090"/>
              <a:ext cx="107950" cy="736927"/>
              <a:chOff x="772169" y="2297325"/>
              <a:chExt cx="107950" cy="736927"/>
            </a:xfrm>
          </p:grpSpPr>
          <p:sp>
            <p:nvSpPr>
              <p:cNvPr id="123" name="직사각형 122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직사각형 123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직사각형 124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6" name="직사각형 125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132" name="그룹 131"/>
          <p:cNvGrpSpPr/>
          <p:nvPr/>
        </p:nvGrpSpPr>
        <p:grpSpPr>
          <a:xfrm>
            <a:off x="3836701" y="1885047"/>
            <a:ext cx="2630093" cy="2190577"/>
            <a:chOff x="3865118" y="2694619"/>
            <a:chExt cx="2630093" cy="2190577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4143661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41" name="그룹 140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77880" y="4358842"/>
              <a:ext cx="678504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4" name="그룹 15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59" name="타원 15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0" name="그룹 15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65" name="직선 연결선 16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6" name="직선 연결선 16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61" name="타원 16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2" name="그룹 16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63" name="직선 연결선 16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4" name="직선 연결선 16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그룹 154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57" name="TextBox 15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수정계약명세서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67" name="그룹 166"/>
          <p:cNvGrpSpPr/>
          <p:nvPr/>
        </p:nvGrpSpPr>
        <p:grpSpPr>
          <a:xfrm>
            <a:off x="3844696" y="1493927"/>
            <a:ext cx="2626449" cy="354413"/>
            <a:chOff x="720490" y="4004429"/>
            <a:chExt cx="2626449" cy="354413"/>
          </a:xfrm>
        </p:grpSpPr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97297" y="4358842"/>
              <a:ext cx="685214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1" name="그룹 17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77" name="타원 17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80" name="그룹 17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86" name="직선 연결선 18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7" name="직선 연결선 18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2" name="타원 18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83" name="그룹 18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84" name="직선 연결선 18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5" name="직선 연결선 18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72" name="그룹 171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73" name="TextBox 17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수정계약명세서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83215703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물품수정계약서상세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MUI-CT-01-T24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214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908780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" name="그룹 17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964704" y="4358842"/>
              <a:ext cx="404454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" name="그룹 22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28" name="타원 27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9" name="그룹 28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4" name="직선 연결선 3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직선 연결선 3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0" name="타원 2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1" name="그룹 3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2" name="직선 연결선 3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직선 연결선 3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4" name="그룹 23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수정계약명세서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특수조건</a:t>
                </a:r>
                <a:endParaRPr lang="ko-KR" altLang="en-US" sz="700" b="1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32446734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85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06364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0118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:MRC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mdfcnCtrtIncrsAmt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diffAmt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depsSecd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0A3D08A-E02C-D6E2-2997-258DEBA432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560D2D5-52EA-E497-A4A3-A5826A422228}"/>
              </a:ext>
            </a:extLst>
          </p:cNvPr>
          <p:cNvSpPr txBox="1"/>
          <p:nvPr/>
        </p:nvSpPr>
        <p:spPr>
          <a:xfrm>
            <a:off x="458117" y="4913825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C518D26-28C4-93AA-A3EE-8A8F998D4E7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5197579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mdfcnArtclNm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4942336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86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B11741F-A73C-5BF0-536E-3586DC8E2D8D}"/>
              </a:ext>
            </a:extLst>
          </p:cNvPr>
          <p:cNvSpPr txBox="1"/>
          <p:nvPr/>
        </p:nvSpPr>
        <p:spPr>
          <a:xfrm>
            <a:off x="458117" y="811333"/>
            <a:ext cx="33348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항목 수정내역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AA8D4D-3ED4-D7E9-4350-FC6B2EC0E01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12505"/>
          <a:ext cx="8994883" cy="4388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itemSecd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Flag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</a:t>
                      </a:r>
                      <a:endParaRPr lang="ko-KR" altLang="en-US" sz="800" b="1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036048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2958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qtyIcdcDsctn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6163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amtIcdcDsctn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551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6715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644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</a:t>
                      </a:r>
                      <a:endParaRPr lang="ko-KR" altLang="en-US" sz="800" b="1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biz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0168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</a:t>
                      </a:r>
                      <a:endParaRPr lang="ko-KR" altLang="en-US" sz="800" b="1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3255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9770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67620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0361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80013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89992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1280999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E07BFCFD-35D9-346C-8E60-BD520ADC8151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2880417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87</a:t>
            </a:fld>
            <a:endParaRPr lang="ko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FDCB975-CE66-B0AA-D829-73DA4D54EDC8}"/>
              </a:ext>
            </a:extLst>
          </p:cNvPr>
          <p:cNvSpPr txBox="1"/>
          <p:nvPr/>
        </p:nvSpPr>
        <p:spPr>
          <a:xfrm>
            <a:off x="443054" y="806304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5A714CD-50F6-7333-B50F-4EEBB6022A8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68794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spclCnd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D8B044B1-EC91-0F8A-BB80-43B220D14079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3102195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88</a:t>
            </a:fld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D01F420-4BD1-01D2-23BE-6C3F4C1DC14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31456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5574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scwin.btn_list_onclick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계약통합목록 조회화면으로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(UI-CT-01-M01)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계약통합목록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11868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AC2E0DA-61A4-192E-7472-8603C13A7074}"/>
              </a:ext>
            </a:extLst>
          </p:cNvPr>
          <p:cNvSpPr txBox="1"/>
          <p:nvPr/>
        </p:nvSpPr>
        <p:spPr>
          <a:xfrm>
            <a:off x="458117" y="71522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E804EAA8-7415-C097-8F47-2A068BB34B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6325450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물품</a:t>
            </a:r>
            <a:r>
              <a:rPr lang="en-US" altLang="ko-KR" dirty="0"/>
              <a:t>, </a:t>
            </a:r>
            <a:r>
              <a:rPr lang="ko-KR" altLang="en-US" dirty="0"/>
              <a:t>공사 계약의 진행 상태 이력을 </a:t>
            </a:r>
            <a:r>
              <a:rPr lang="ko-KR" altLang="en-US" dirty="0" smtClean="0"/>
              <a:t>조회하기위한화면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내역 조회만 가능하고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클릭 불가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국내 계약에서 조회할 때 보여지는 화면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국외 계약에서 조회할 때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처리 담당자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반려사유</a:t>
            </a:r>
            <a:r>
              <a:rPr lang="ko-KR" altLang="en-US" dirty="0" smtClean="0"/>
              <a:t> 추가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반려사유가</a:t>
            </a:r>
            <a:r>
              <a:rPr lang="ko-KR" altLang="en-US" dirty="0" smtClean="0"/>
              <a:t> 없을 때 </a:t>
            </a:r>
            <a:r>
              <a:rPr lang="ko-KR" altLang="en-US" dirty="0" err="1" smtClean="0"/>
              <a:t>미표시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계약진행상태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계약의 </a:t>
            </a:r>
            <a:r>
              <a:rPr lang="ko-KR" altLang="en-US" dirty="0" smtClean="0"/>
              <a:t>계약진행상태조회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계약진행상태조회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계약 진행 상태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6" y="2540582"/>
            <a:ext cx="125084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계약진행</a:t>
            </a:r>
            <a:r>
              <a:rPr lang="ko-KR" altLang="en-US" sz="700" dirty="0">
                <a:latin typeface="+mn-ea"/>
              </a:rPr>
              <a:t> 현황 이력 </a:t>
            </a:r>
            <a:r>
              <a:rPr lang="ko-KR" altLang="en-US" sz="700" dirty="0" smtClean="0">
                <a:latin typeface="+mn-ea"/>
              </a:rPr>
              <a:t>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2868504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처리상태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1" y="2868504"/>
            <a:ext cx="878121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업체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처리일시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701807" y="2991506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3110050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계약서작성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2" y="3056189"/>
            <a:ext cx="164695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000000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부대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89" name="모서리가 둥근 직사각형 88"/>
          <p:cNvSpPr/>
          <p:nvPr/>
        </p:nvSpPr>
        <p:spPr>
          <a:xfrm>
            <a:off x="701807" y="338309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350164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서류요청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2" y="3447780"/>
            <a:ext cx="164695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ㅌㅌㅌ부대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92" name="모서리가 둥근 직사각형 91"/>
          <p:cNvSpPr/>
          <p:nvPr/>
        </p:nvSpPr>
        <p:spPr>
          <a:xfrm>
            <a:off x="701807" y="377063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388917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서류등록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2" y="3835318"/>
            <a:ext cx="164695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A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업체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7358" y="4493844"/>
            <a:ext cx="76863" cy="292489"/>
            <a:chOff x="3750067" y="4683795"/>
            <a:chExt cx="76863" cy="292489"/>
          </a:xfrm>
        </p:grpSpPr>
        <p:sp>
          <p:nvSpPr>
            <p:cNvPr id="96" name="타원 9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7" name="타원 9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9" name="타원 9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4" name="그룹 33"/>
          <p:cNvGrpSpPr/>
          <p:nvPr/>
        </p:nvGrpSpPr>
        <p:grpSpPr>
          <a:xfrm>
            <a:off x="669777" y="5614711"/>
            <a:ext cx="2712027" cy="617588"/>
            <a:chOff x="675399" y="5614711"/>
            <a:chExt cx="2712027" cy="617588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801356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양쪽 모서리가 둥근 사각형 37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39" name="모서리가 둥근 직사각형 38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40" name="그룹 39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41" name="직선 연결선 4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2" name="직선 연결선 4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계약 진행 상태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5" name="모서리가 둥근 직사각형 44"/>
          <p:cNvSpPr/>
          <p:nvPr/>
        </p:nvSpPr>
        <p:spPr>
          <a:xfrm rot="5400000">
            <a:off x="5782577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293" y="2540582"/>
            <a:ext cx="125084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계약진행</a:t>
            </a:r>
            <a:r>
              <a:rPr lang="ko-KR" altLang="en-US" sz="700" dirty="0">
                <a:latin typeface="+mn-ea"/>
              </a:rPr>
              <a:t> 현황 이력 </a:t>
            </a:r>
            <a:r>
              <a:rPr lang="ko-KR" altLang="en-US" sz="700" dirty="0" smtClean="0">
                <a:latin typeface="+mn-ea"/>
              </a:rPr>
              <a:t>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711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0099" y="2868504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처리상태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1728" y="2868504"/>
            <a:ext cx="878121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업체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처리일시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50" name="모서리가 둥근 직사각형 49"/>
          <p:cNvSpPr/>
          <p:nvPr/>
        </p:nvSpPr>
        <p:spPr>
          <a:xfrm>
            <a:off x="3827764" y="2991506"/>
            <a:ext cx="2652743" cy="558594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0099" y="3216942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계약서작성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1729" y="3056189"/>
            <a:ext cx="164695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000000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부대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담당자 홍길동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반려사유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</a:t>
            </a:r>
            <a:r>
              <a:rPr lang="en-US" altLang="ko-KR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oooooooooooooo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53" name="모서리가 둥근 직사각형 52"/>
          <p:cNvSpPr/>
          <p:nvPr/>
        </p:nvSpPr>
        <p:spPr>
          <a:xfrm>
            <a:off x="3827764" y="3680726"/>
            <a:ext cx="2652743" cy="4440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0099" y="3848908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서류요청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1729" y="3745409"/>
            <a:ext cx="1646954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ㅌㅌㅌ부대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담당자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홍길동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3827764" y="4190123"/>
            <a:ext cx="2652743" cy="471381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0099" y="4371952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서류등록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1729" y="4254807"/>
            <a:ext cx="1646954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A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업체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담당자 </a:t>
            </a:r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김길동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5" y="5007935"/>
            <a:ext cx="76863" cy="292489"/>
            <a:chOff x="3750067" y="4683795"/>
            <a:chExt cx="76863" cy="292489"/>
          </a:xfrm>
        </p:grpSpPr>
        <p:sp>
          <p:nvSpPr>
            <p:cNvPr id="60" name="타원 5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1" name="타원 6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4" name="그룹 73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5" name="직사각형 7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6" name="직사각형 7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국외 계약 정보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42165573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90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21123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97419"/>
            <a:ext cx="270964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국내 </a:t>
            </a:r>
            <a:r>
              <a:rPr lang="ko-KR" altLang="en-US" sz="900" b="1" dirty="0" err="1" smtClean="0">
                <a:solidFill>
                  <a:prstClr val="black"/>
                </a:solidFill>
              </a:rPr>
              <a:t>계약현황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이력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239043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계약진행 이력 정보로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4023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prcsDt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prcsSbsdBzenty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15D8B50-64DA-702A-AE42-0CB4E33D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16436581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91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1337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6954"/>
            <a:ext cx="29356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1.2.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국외 계약진행상태목록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41338"/>
          <a:ext cx="8994883" cy="1895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처리상태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prcsStts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처리상태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계약생성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전자계약의뢰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계약서반송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서류재확정요청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서류제출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서류확정취소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전자서명의뢰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전자서명의뢰반려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전자서명등록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전자서명반려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계약취소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계약서반송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계약확정요청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계약확정요청취소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결재요청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결재승인완료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해지해제통보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해지해제취소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처리일시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prcsDt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처리일시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처리부대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prcsSbsdBzenty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처리부대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처리담당자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prcsPic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처리담당자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rjctRsn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반려사유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48E80AC4-82B9-2DAC-735D-39626437ABA7}"/>
              </a:ext>
            </a:extLst>
          </p:cNvPr>
          <p:cNvSpPr txBox="1"/>
          <p:nvPr/>
        </p:nvSpPr>
        <p:spPr>
          <a:xfrm>
            <a:off x="447726" y="305868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F95BDF9-C1C9-A214-43C2-526EF8D7866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42609" y="3290273"/>
          <a:ext cx="8995590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 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8C16C6DE-C792-6335-2214-3871E42EC6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" name="직사각형 1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" name="직사각형 1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국외 계약 정보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418039913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err="1"/>
              <a:t>계약명세서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MUI-CT-01-P11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물품계약명세서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236250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4512043"/>
            <a:ext cx="2630093" cy="1759690"/>
            <a:chOff x="3865118" y="2694619"/>
            <a:chExt cx="2630093" cy="1759690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14603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MB2026010001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패널</a:t>
              </a:r>
              <a:r>
                <a:rPr lang="en-US" altLang="ko-KR" sz="700" dirty="0">
                  <a:latin typeface="+mn-ea"/>
                </a:rPr>
                <a:t>,</a:t>
              </a:r>
              <a:r>
                <a:rPr lang="ko-KR" altLang="en-US" sz="700" dirty="0" err="1">
                  <a:latin typeface="+mn-ea"/>
                </a:rPr>
                <a:t>조명기구용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701175" y="2540582"/>
            <a:ext cx="2630093" cy="1945358"/>
            <a:chOff x="701175" y="2353137"/>
            <a:chExt cx="2630093" cy="1945358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725552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집행유형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국채금액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2574946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사단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사단 주차장 신축 자재 구매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1717920"/>
              <a:chOff x="701175" y="1835481"/>
              <a:chExt cx="2630093" cy="171792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7" name="직선 연결선 11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8" name="직선 연결선 11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9" name="직선 연결선 11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22" name="직선 연결선 12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34228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531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42" name="그룹 141"/>
          <p:cNvGrpSpPr/>
          <p:nvPr/>
        </p:nvGrpSpPr>
        <p:grpSpPr>
          <a:xfrm>
            <a:off x="3836701" y="2520110"/>
            <a:ext cx="2630093" cy="1085934"/>
            <a:chOff x="3865118" y="2946203"/>
            <a:chExt cx="2630093" cy="1085934"/>
          </a:xfrm>
        </p:grpSpPr>
        <p:sp>
          <p:nvSpPr>
            <p:cNvPr id="144" name="직사각형 143"/>
            <p:cNvSpPr/>
            <p:nvPr/>
          </p:nvSpPr>
          <p:spPr>
            <a:xfrm>
              <a:off x="3867211" y="2946203"/>
              <a:ext cx="792000" cy="108593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납지별수량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1" name="그룹 160"/>
          <p:cNvGrpSpPr/>
          <p:nvPr/>
        </p:nvGrpSpPr>
        <p:grpSpPr>
          <a:xfrm>
            <a:off x="3836701" y="3671135"/>
            <a:ext cx="2630093" cy="2585325"/>
            <a:chOff x="3865118" y="2946202"/>
            <a:chExt cx="2630093" cy="2585325"/>
          </a:xfrm>
        </p:grpSpPr>
        <p:sp>
          <p:nvSpPr>
            <p:cNvPr id="166" name="직사각형 165"/>
            <p:cNvSpPr/>
            <p:nvPr/>
          </p:nvSpPr>
          <p:spPr>
            <a:xfrm>
              <a:off x="3867211" y="2946202"/>
              <a:ext cx="792000" cy="255287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MB2026010002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전선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 smtClean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29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16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2993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05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85" name="직사각형 84"/>
          <p:cNvSpPr/>
          <p:nvPr/>
        </p:nvSpPr>
        <p:spPr>
          <a:xfrm>
            <a:off x="7095103" y="6080144"/>
            <a:ext cx="2308467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– </a:t>
            </a:r>
            <a:r>
              <a:rPr lang="ko-KR" altLang="en-US" sz="500" dirty="0" err="1" smtClean="0"/>
              <a:t>군급</a:t>
            </a:r>
            <a:r>
              <a:rPr lang="en-US" altLang="ko-KR" sz="500" dirty="0" smtClean="0"/>
              <a:t>-</a:t>
            </a:r>
            <a:r>
              <a:rPr lang="ko-KR" altLang="en-US" sz="500" dirty="0" err="1" smtClean="0"/>
              <a:t>재고번호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부품번호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적용장비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단가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참조번호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 누락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4146597118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1706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bizTpcd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:ETC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bscbgtCtrtAmt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govbndCtrtAmt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0B2F06DC-C013-D484-631D-AAC3502694F9}"/>
              </a:ext>
            </a:extLst>
          </p:cNvPr>
          <p:cNvSpPr txBox="1"/>
          <p:nvPr/>
        </p:nvSpPr>
        <p:spPr>
          <a:xfrm>
            <a:off x="460676" y="3147492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 품목정보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9217390-69BE-491E-7735-07C4C70914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0106415"/>
              </p:ext>
            </p:extLst>
          </p:nvPr>
        </p:nvGraphicFramePr>
        <p:xfrm>
          <a:off x="455558" y="3431246"/>
          <a:ext cx="8994883" cy="2908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clsfNo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20158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spcfctKndCd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0377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08259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92210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413633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44082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282F2FE-A152-2E47-3D33-B1E64CFF0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84694998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94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114ADAF-CBF0-F775-85F9-8D58158A7D23}"/>
              </a:ext>
            </a:extLst>
          </p:cNvPr>
          <p:cNvSpPr txBox="1"/>
          <p:nvPr/>
        </p:nvSpPr>
        <p:spPr>
          <a:xfrm>
            <a:off x="460676" y="823392"/>
            <a:ext cx="25894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 품목정보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21211B-3228-76E0-A845-A1D6C3C6A0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852725"/>
              </p:ext>
            </p:extLst>
          </p:nvPr>
        </p:nvGraphicFramePr>
        <p:xfrm>
          <a:off x="455558" y="110714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참조번호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flrplnNo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도면번호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717C1911-6DC8-ADE5-D601-34D67D39DCAA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575472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95</a:t>
            </a:fld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7407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1883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물품명세서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B442A5E-83C5-8E99-586C-33EBA13DA0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86540095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물품최종계약명세서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smtClean="0"/>
              <a:t>최종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물품최종계약명세서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물품최종계약명세서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2540582"/>
            <a:ext cx="2630093" cy="2406021"/>
            <a:chOff x="3865118" y="2694619"/>
            <a:chExt cx="2630093" cy="2406021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21542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MB2026010002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전선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ko-KR" altLang="en-US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50001001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02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47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43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04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7358" y="5134301"/>
            <a:ext cx="76863" cy="292489"/>
            <a:chOff x="3750067" y="4683795"/>
            <a:chExt cx="76863" cy="292489"/>
          </a:xfrm>
        </p:grpSpPr>
        <p:sp>
          <p:nvSpPr>
            <p:cNvPr id="91" name="타원 9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3" name="타원 9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669777" y="5614711"/>
            <a:ext cx="2712027" cy="617588"/>
            <a:chOff x="675399" y="5614711"/>
            <a:chExt cx="2712027" cy="617588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236533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97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42831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계약품목정보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2658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18375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7495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납기납지별수량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납기납지별수량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35B4B537-BC84-C121-3CA4-CB3B4D88D5D9}"/>
              </a:ext>
            </a:extLst>
          </p:cNvPr>
          <p:cNvSpPr txBox="1"/>
          <p:nvPr/>
        </p:nvSpPr>
        <p:spPr>
          <a:xfrm>
            <a:off x="458117" y="34839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0936383-D527-CFB3-4A4A-189AAAB6E8D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376203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전자명세서 값으로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82FD51AA-DD27-1E65-2182-1C9E70AD4E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01096449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물품수정계약명세서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smtClean="0"/>
              <a:t>수정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물품수정계약명세서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2108521"/>
            <a:ext cx="2712027" cy="4275406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물품수정계약명세서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236250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물품수정계약명세서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701175" y="2540582"/>
            <a:ext cx="2630093" cy="1090970"/>
            <a:chOff x="701175" y="2353137"/>
            <a:chExt cx="2630093" cy="1090970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86916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725552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수정계약차수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2574946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</a:t>
              </a:r>
              <a:r>
                <a:rPr lang="en-US" altLang="ko-KR" sz="700" dirty="0" smtClean="0">
                  <a:latin typeface="+mn-ea"/>
                </a:rPr>
                <a:t>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사단 주차장 신축 자재 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858960"/>
              <a:chOff x="701175" y="1835481"/>
              <a:chExt cx="2630093" cy="85896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531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3833068" y="2511680"/>
            <a:ext cx="2630093" cy="3946281"/>
            <a:chOff x="3836701" y="3418175"/>
            <a:chExt cx="2630093" cy="3946281"/>
          </a:xfrm>
        </p:grpSpPr>
        <p:sp>
          <p:nvSpPr>
            <p:cNvPr id="166" name="직사각형 165"/>
            <p:cNvSpPr/>
            <p:nvPr/>
          </p:nvSpPr>
          <p:spPr>
            <a:xfrm>
              <a:off x="3838794" y="3671135"/>
              <a:ext cx="792000" cy="354534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367113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71137"/>
              <a:ext cx="670770" cy="366395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600" dirty="0" smtClean="0">
                  <a:latin typeface="+mn-ea"/>
                </a:rPr>
                <a:t>순번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smtClean="0">
                  <a:latin typeface="+mn-ea"/>
                </a:rPr>
                <a:t>구분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smtClean="0">
                  <a:latin typeface="+mn-ea"/>
                </a:rPr>
                <a:t>조달요구번호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err="1" smtClean="0">
                  <a:latin typeface="+mn-ea"/>
                </a:rPr>
                <a:t>군급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err="1" smtClean="0">
                  <a:latin typeface="+mn-ea"/>
                </a:rPr>
                <a:t>재고번호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err="1" smtClean="0">
                  <a:latin typeface="+mn-ea"/>
                </a:rPr>
                <a:t>군구분</a:t>
              </a:r>
              <a:endParaRPr lang="en-US" altLang="ko-KR" sz="600" dirty="0" smtClean="0">
                <a:latin typeface="+mn-ea"/>
              </a:endParaRPr>
            </a:p>
            <a:p>
              <a:pPr fontAlgn="ctr"/>
              <a:endParaRPr lang="en-US" altLang="ko-KR" sz="600" dirty="0" smtClean="0">
                <a:latin typeface="+mn-ea"/>
              </a:endParaRPr>
            </a:p>
            <a:p>
              <a:pPr fontAlgn="ctr"/>
              <a:r>
                <a:rPr lang="ko-KR" altLang="en-US" sz="600" dirty="0" smtClean="0">
                  <a:latin typeface="+mn-ea"/>
                </a:rPr>
                <a:t>품명</a:t>
              </a:r>
              <a:r>
                <a:rPr lang="ko-KR" altLang="ko-KR" sz="600" dirty="0" smtClean="0"/>
                <a:t>예산구분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사업</a:t>
              </a:r>
              <a:r>
                <a:rPr lang="en-US" altLang="ko-KR" sz="600" dirty="0"/>
                <a:t>ID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단위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수량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금액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단가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규격번호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납지별수량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증감내역</a:t>
              </a:r>
              <a:r>
                <a:rPr lang="en-US" altLang="ko-KR" sz="600" dirty="0"/>
                <a:t>(</a:t>
              </a:r>
              <a:r>
                <a:rPr lang="ko-KR" altLang="ko-KR" sz="600" dirty="0"/>
                <a:t>수량</a:t>
              </a:r>
              <a:r>
                <a:rPr lang="en-US" altLang="ko-KR" sz="600" dirty="0"/>
                <a:t>)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증감내역</a:t>
              </a:r>
              <a:r>
                <a:rPr lang="en-US" altLang="ko-KR" sz="600" dirty="0"/>
                <a:t>(</a:t>
              </a:r>
              <a:r>
                <a:rPr lang="ko-KR" altLang="ko-KR" sz="600" dirty="0"/>
                <a:t>금액</a:t>
              </a:r>
              <a:r>
                <a:rPr lang="en-US" altLang="ko-KR" sz="600" dirty="0"/>
                <a:t>)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검사형태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납기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납지</a:t>
              </a:r>
              <a:endParaRPr lang="ko-KR" altLang="ko-KR" sz="600" dirty="0"/>
            </a:p>
            <a:p>
              <a:pPr>
                <a:lnSpc>
                  <a:spcPct val="200000"/>
                </a:lnSpc>
              </a:pP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3671137"/>
              <a:ext cx="1775839" cy="36933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600" dirty="0" err="1" smtClean="0">
                  <a:latin typeface="+mn-ea"/>
                </a:rPr>
                <a:t>으로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600" dirty="0">
                  <a:latin typeface="+mn-ea"/>
                </a:rPr>
                <a:t>MWDW</a:t>
              </a:r>
              <a:r>
                <a:rPr lang="en-US" altLang="ko-KR" sz="6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600" dirty="0" smtClean="0">
                  <a:latin typeface="+mn-ea"/>
                </a:rPr>
                <a:t>육군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err="1">
                  <a:latin typeface="+mn-ea"/>
                </a:rPr>
                <a:t>일반우의</a:t>
              </a:r>
              <a:r>
                <a:rPr lang="en-US" altLang="ko-KR" sz="6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6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8636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0542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0977" y="3418175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69283" y="3418175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423443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26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5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480159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9941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184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535718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54970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7402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59243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61168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63074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646449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665701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68475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700850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72010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6" name="그룹 85"/>
          <p:cNvGrpSpPr/>
          <p:nvPr/>
        </p:nvGrpSpPr>
        <p:grpSpPr>
          <a:xfrm>
            <a:off x="712771" y="3660811"/>
            <a:ext cx="2633688" cy="1374730"/>
            <a:chOff x="712771" y="2302158"/>
            <a:chExt cx="2633688" cy="1374730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30215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수정항목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5537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24066" y="2553743"/>
              <a:ext cx="43472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연부액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품목추가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676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84581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품목취소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예산전환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45096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규격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05610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원가확정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94" name="그룹 93"/>
            <p:cNvGrpSpPr/>
            <p:nvPr/>
          </p:nvGrpSpPr>
          <p:grpSpPr>
            <a:xfrm>
              <a:off x="772169" y="2630090"/>
              <a:ext cx="107950" cy="958403"/>
              <a:chOff x="772169" y="2297325"/>
              <a:chExt cx="107950" cy="958403"/>
            </a:xfrm>
          </p:grpSpPr>
          <p:sp>
            <p:nvSpPr>
              <p:cNvPr id="137" name="직사각형 136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8" name="직사각형 137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9" name="직사각형 138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3" name="직사각형 142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0" name="직사각형 149"/>
              <p:cNvSpPr/>
              <p:nvPr/>
            </p:nvSpPr>
            <p:spPr>
              <a:xfrm>
                <a:off x="772169" y="3147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5" name="TextBox 94"/>
            <p:cNvSpPr txBox="1"/>
            <p:nvPr/>
          </p:nvSpPr>
          <p:spPr>
            <a:xfrm>
              <a:off x="712771" y="2802474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 smtClean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grpSp>
          <p:nvGrpSpPr>
            <p:cNvPr id="96" name="그룹 95"/>
            <p:cNvGrpSpPr/>
            <p:nvPr/>
          </p:nvGrpSpPr>
          <p:grpSpPr>
            <a:xfrm>
              <a:off x="1421677" y="2630090"/>
              <a:ext cx="107950" cy="736927"/>
              <a:chOff x="772169" y="2297325"/>
              <a:chExt cx="107950" cy="736927"/>
            </a:xfrm>
          </p:grpSpPr>
          <p:sp>
            <p:nvSpPr>
              <p:cNvPr id="120" name="직사각형 11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1" name="직사각형 12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5" name="직사각형 134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6" name="직사각형 135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97" name="그룹 96"/>
            <p:cNvGrpSpPr/>
            <p:nvPr/>
          </p:nvGrpSpPr>
          <p:grpSpPr>
            <a:xfrm>
              <a:off x="2077483" y="2630090"/>
              <a:ext cx="107950" cy="736927"/>
              <a:chOff x="772169" y="2297325"/>
              <a:chExt cx="107950" cy="736927"/>
            </a:xfrm>
          </p:grpSpPr>
          <p:sp>
            <p:nvSpPr>
              <p:cNvPr id="104" name="직사각형 103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5" name="직사각형 104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0" name="직사각형 109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99" name="그룹 98"/>
            <p:cNvGrpSpPr/>
            <p:nvPr/>
          </p:nvGrpSpPr>
          <p:grpSpPr>
            <a:xfrm>
              <a:off x="2739067" y="2630090"/>
              <a:ext cx="107950" cy="736927"/>
              <a:chOff x="772169" y="2297325"/>
              <a:chExt cx="107950" cy="736927"/>
            </a:xfrm>
          </p:grpSpPr>
          <p:sp>
            <p:nvSpPr>
              <p:cNvPr id="100" name="직사각형 9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1" name="직사각형 10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2" name="직사각형 101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3" name="직사각형 102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217" name="TextBox 21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88989" y="1493927"/>
            <a:ext cx="2712027" cy="4890000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직사각형 144"/>
          <p:cNvSpPr/>
          <p:nvPr/>
        </p:nvSpPr>
        <p:spPr>
          <a:xfrm>
            <a:off x="7080996" y="6036456"/>
            <a:ext cx="2322574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–  </a:t>
            </a:r>
            <a:r>
              <a:rPr lang="ko-KR" altLang="en-US" sz="500" dirty="0" err="1" smtClean="0"/>
              <a:t>예산구분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3731224579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물품수정계약명세서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smtClean="0"/>
              <a:t>수정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물품수정계약명세서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MUI-CT-01-P13</a:t>
            </a:r>
            <a:endParaRPr lang="ko-KR" altLang="en-US" dirty="0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물품수정계약명세서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5471369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701175" y="3276905"/>
            <a:ext cx="2630093" cy="1090970"/>
            <a:chOff x="701175" y="2353137"/>
            <a:chExt cx="2630093" cy="1090970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86916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80096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증감내역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수량</a:t>
              </a:r>
              <a:r>
                <a:rPr lang="en-US" altLang="ko-KR" sz="700" dirty="0" smtClean="0">
                  <a:latin typeface="+mn-ea"/>
                </a:rPr>
                <a:t>)</a:t>
              </a:r>
              <a:r>
                <a:rPr lang="ko-KR" altLang="en-US" sz="700" dirty="0" smtClean="0">
                  <a:latin typeface="+mn-ea"/>
                </a:rPr>
                <a:t>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증감내역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금액</a:t>
              </a:r>
              <a:r>
                <a:rPr lang="en-US" altLang="ko-KR" sz="700" dirty="0" smtClean="0">
                  <a:latin typeface="+mn-ea"/>
                </a:rPr>
                <a:t>)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32258" y="2574946"/>
              <a:ext cx="169901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00,000 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+ 00,000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858960"/>
              <a:chOff x="701175" y="1835481"/>
              <a:chExt cx="2630093" cy="85896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계약품목</a:t>
              </a:r>
              <a:r>
                <a:rPr lang="ko-KR" altLang="en-US" sz="700" dirty="0" smtClean="0">
                  <a:latin typeface="+mn-ea"/>
                </a:rPr>
                <a:t> 합계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7358" y="2790216"/>
            <a:ext cx="76863" cy="292489"/>
            <a:chOff x="3750067" y="4683795"/>
            <a:chExt cx="76863" cy="292489"/>
          </a:xfrm>
        </p:grpSpPr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9" name="타원 11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669777" y="5614711"/>
            <a:ext cx="2712027" cy="617588"/>
            <a:chOff x="675399" y="5614711"/>
            <a:chExt cx="2712027" cy="617588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36614499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100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42831"/>
            <a:ext cx="193699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5038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수정계약차수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mdfcnCtrtCycl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수정계약차수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821181C-9131-A26F-D5C0-73725DEEC0F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50771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mdfcnArtclNm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A25650B4-924F-3571-B2B1-D6A167063699}"/>
              </a:ext>
            </a:extLst>
          </p:cNvPr>
          <p:cNvSpPr txBox="1"/>
          <p:nvPr/>
        </p:nvSpPr>
        <p:spPr>
          <a:xfrm>
            <a:off x="458117" y="22811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12DA7579-1E55-1146-508C-B4923F9316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75860321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101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B11741F-A73C-5BF0-536E-3586DC8E2D8D}"/>
              </a:ext>
            </a:extLst>
          </p:cNvPr>
          <p:cNvSpPr txBox="1"/>
          <p:nvPr/>
        </p:nvSpPr>
        <p:spPr>
          <a:xfrm>
            <a:off x="458117" y="917472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품목정보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AA8D4D-3ED4-D7E9-4350-FC6B2EC0E0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6649319"/>
              </p:ext>
            </p:extLst>
          </p:nvPr>
        </p:nvGraphicFramePr>
        <p:xfrm>
          <a:off x="452999" y="1201226"/>
          <a:ext cx="8994883" cy="4000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itemSecd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Flag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55441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3428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73726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2232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633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0327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biz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32684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93729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00319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4396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33498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spcfctNo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09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qtyIcdcDsctn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amtIcdcDsctn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inspShp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8C0E63E-246C-7F09-7A6E-FC69AA82CD21}"/>
              </a:ext>
            </a:extLst>
          </p:cNvPr>
          <p:cNvSpPr txBox="1"/>
          <p:nvPr/>
        </p:nvSpPr>
        <p:spPr>
          <a:xfrm>
            <a:off x="458117" y="5243381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품목합계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4E68CE1-BF56-1D3A-3FCE-A191189517D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545093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합계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sumQ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qtyIcdcDsctn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sumAmtIcdcDsctn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18E2EE5-346E-DA77-78BD-0DE0432FD8DB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9642375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102</a:t>
            </a:fld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D01F420-4BD1-01D2-23BE-6C3F4C1DC14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12406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수정계약명세서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AC2E0DA-61A4-192E-7472-8603C13A7074}"/>
              </a:ext>
            </a:extLst>
          </p:cNvPr>
          <p:cNvSpPr txBox="1"/>
          <p:nvPr/>
        </p:nvSpPr>
        <p:spPr>
          <a:xfrm>
            <a:off x="458117" y="69617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78FC3B21-2668-48C7-3DF7-C256E43EE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34041111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직사각형 8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711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8450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물품일반계약명세서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</a:t>
            </a:r>
            <a:r>
              <a:rPr lang="ko-KR" altLang="en-US" dirty="0" err="1" smtClean="0"/>
              <a:t>일반계약의</a:t>
            </a:r>
            <a:r>
              <a:rPr lang="ko-KR" altLang="en-US" dirty="0" smtClean="0"/>
              <a:t> </a:t>
            </a:r>
            <a:r>
              <a:rPr lang="ko-KR" altLang="en-US" dirty="0" err="1"/>
              <a:t>계약명세서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물품일반계약명세서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MUI-CT-01-P14</a:t>
            </a:r>
            <a:endParaRPr lang="ko-KR" alt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물품일반계약명세서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5" name="양쪽 모서리가 둥근 사각형 64"/>
          <p:cNvSpPr/>
          <p:nvPr/>
        </p:nvSpPr>
        <p:spPr>
          <a:xfrm>
            <a:off x="676601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62614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65540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678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물품일반계약명세서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6601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63444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4512043"/>
            <a:ext cx="2630093" cy="1759690"/>
            <a:chOff x="3865118" y="2694619"/>
            <a:chExt cx="2630093" cy="1759690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14603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MB2026010001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패널</a:t>
              </a:r>
              <a:r>
                <a:rPr lang="en-US" altLang="ko-KR" sz="700" dirty="0">
                  <a:latin typeface="+mn-ea"/>
                </a:rPr>
                <a:t>,</a:t>
              </a:r>
              <a:r>
                <a:rPr lang="ko-KR" altLang="en-US" sz="700" dirty="0" err="1">
                  <a:latin typeface="+mn-ea"/>
                </a:rPr>
                <a:t>조명기구용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707999" y="2540582"/>
            <a:ext cx="2630093" cy="1945358"/>
            <a:chOff x="701175" y="2353137"/>
            <a:chExt cx="2630093" cy="1945358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725552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집행유형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국채금액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2574946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사단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사단 주차장 신축 자재 구매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1717920"/>
              <a:chOff x="701175" y="1835481"/>
              <a:chExt cx="2630093" cy="171792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7" name="직선 연결선 11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8" name="직선 연결선 11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9" name="직선 연결선 11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22" name="직선 연결선 12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34228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531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42" name="그룹 141"/>
          <p:cNvGrpSpPr/>
          <p:nvPr/>
        </p:nvGrpSpPr>
        <p:grpSpPr>
          <a:xfrm>
            <a:off x="3836701" y="2520110"/>
            <a:ext cx="2630093" cy="1085934"/>
            <a:chOff x="3865118" y="2946203"/>
            <a:chExt cx="2630093" cy="1085934"/>
          </a:xfrm>
        </p:grpSpPr>
        <p:sp>
          <p:nvSpPr>
            <p:cNvPr id="144" name="직사각형 143"/>
            <p:cNvSpPr/>
            <p:nvPr/>
          </p:nvSpPr>
          <p:spPr>
            <a:xfrm>
              <a:off x="3867211" y="2946203"/>
              <a:ext cx="792000" cy="108593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납지별수량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1" name="그룹 160"/>
          <p:cNvGrpSpPr/>
          <p:nvPr/>
        </p:nvGrpSpPr>
        <p:grpSpPr>
          <a:xfrm>
            <a:off x="3836701" y="3671135"/>
            <a:ext cx="2630093" cy="2585325"/>
            <a:chOff x="3865118" y="2946202"/>
            <a:chExt cx="2630093" cy="2585325"/>
          </a:xfrm>
        </p:grpSpPr>
        <p:sp>
          <p:nvSpPr>
            <p:cNvPr id="166" name="직사각형 165"/>
            <p:cNvSpPr/>
            <p:nvPr/>
          </p:nvSpPr>
          <p:spPr>
            <a:xfrm>
              <a:off x="3867211" y="2946202"/>
              <a:ext cx="792000" cy="255287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MB2026010002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전선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 smtClean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29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16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2993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05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6" name="모서리가 둥근 직사각형 335"/>
          <p:cNvSpPr/>
          <p:nvPr/>
        </p:nvSpPr>
        <p:spPr>
          <a:xfrm rot="5400000">
            <a:off x="5782577" y="4236250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4" name="그룹 8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89" name="직사각형 88"/>
          <p:cNvSpPr/>
          <p:nvPr/>
        </p:nvSpPr>
        <p:spPr>
          <a:xfrm>
            <a:off x="7059758" y="6036541"/>
            <a:ext cx="2343812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260623 - </a:t>
            </a:r>
            <a:r>
              <a:rPr lang="ko-KR" altLang="en-US" sz="500" dirty="0" err="1" smtClean="0"/>
              <a:t>군급</a:t>
            </a:r>
            <a:r>
              <a:rPr lang="en-US" altLang="ko-KR" sz="500" dirty="0" smtClean="0"/>
              <a:t>-</a:t>
            </a:r>
            <a:r>
              <a:rPr lang="ko-KR" altLang="en-US" sz="500" dirty="0" err="1" smtClean="0"/>
              <a:t>재고번호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부품번호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참조번호</a:t>
            </a:r>
            <a:r>
              <a:rPr lang="en-US" altLang="ko-KR" sz="500" dirty="0" smtClean="0"/>
              <a:t>, </a:t>
            </a:r>
          </a:p>
        </p:txBody>
      </p:sp>
    </p:spTree>
    <p:extLst>
      <p:ext uri="{BB962C8B-B14F-4D97-AF65-F5344CB8AC3E}">
        <p14:creationId xmlns:p14="http://schemas.microsoft.com/office/powerpoint/2010/main" val="3099103814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104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5525964"/>
              </p:ext>
            </p:extLst>
          </p:nvPr>
        </p:nvGraphicFramePr>
        <p:xfrm>
          <a:off x="452999" y="1117060"/>
          <a:ext cx="8994883" cy="3490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clsfNo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990789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1456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638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spcfctKndCd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48208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40066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87388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5276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7668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1167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참조번호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flrplnNo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A10D3AD7-C158-2B79-0172-EB4AC78F39E1}"/>
              </a:ext>
            </a:extLst>
          </p:cNvPr>
          <p:cNvSpPr txBox="1"/>
          <p:nvPr/>
        </p:nvSpPr>
        <p:spPr>
          <a:xfrm>
            <a:off x="458117" y="496028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BD8AFFD-7F02-1064-CE8E-9D4BC78CA5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5238412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물품계약명세서 값으로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85984280-7ED6-ECD5-5D22-CEB6C0F69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09786015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700" dirty="0"/>
              <a:t>상단 </a:t>
            </a:r>
            <a:r>
              <a:rPr lang="ko-KR" altLang="en-US" sz="700" dirty="0" err="1"/>
              <a:t>업무도움은</a:t>
            </a:r>
            <a:r>
              <a:rPr lang="ko-KR" altLang="en-US" sz="700" dirty="0"/>
              <a:t> 기본 값으로 접힘 상태로 정보 제공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기본값 </a:t>
            </a:r>
            <a:r>
              <a:rPr lang="en-US" altLang="ko-KR" sz="700" dirty="0"/>
              <a:t>: </a:t>
            </a:r>
            <a:r>
              <a:rPr lang="ko-KR" altLang="en-US" sz="700" dirty="0"/>
              <a:t>접힘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사용자 </a:t>
            </a:r>
            <a:r>
              <a:rPr lang="ko-KR" altLang="en-US" sz="700" dirty="0" err="1"/>
              <a:t>클릭시</a:t>
            </a:r>
            <a:r>
              <a:rPr lang="ko-KR" altLang="en-US" sz="700" dirty="0"/>
              <a:t> 확장하여 정보 표시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 err="1"/>
              <a:t>업무도움</a:t>
            </a:r>
            <a:r>
              <a:rPr lang="en-US" altLang="ko-KR" sz="700" dirty="0"/>
              <a:t> &gt; </a:t>
            </a:r>
            <a:r>
              <a:rPr lang="ko-KR" altLang="en-US" sz="700" dirty="0"/>
              <a:t>내역이 있는 경우 표시</a:t>
            </a:r>
            <a:r>
              <a:rPr lang="en-US" altLang="ko-KR" sz="700" dirty="0"/>
              <a:t>, </a:t>
            </a:r>
            <a:r>
              <a:rPr lang="ko-KR" altLang="en-US" sz="700" dirty="0"/>
              <a:t>내역이 없으면 항목을 표시하지 않음</a:t>
            </a:r>
            <a:r>
              <a:rPr lang="en-US" altLang="ko-KR" sz="700" dirty="0"/>
              <a:t>.</a:t>
            </a:r>
            <a:br>
              <a:rPr lang="en-US" altLang="ko-KR" sz="700" dirty="0"/>
            </a:b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검색필터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2-1] </a:t>
            </a:r>
            <a:r>
              <a:rPr lang="ko-KR" altLang="en-US" sz="700" dirty="0" smtClean="0"/>
              <a:t>통합참조정보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예약번호중</a:t>
            </a:r>
            <a:r>
              <a:rPr lang="ko-KR" altLang="en-US" sz="700" dirty="0" smtClean="0"/>
              <a:t> 선택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2-2] </a:t>
            </a:r>
            <a:r>
              <a:rPr lang="ko-KR" altLang="en-US" sz="700" dirty="0" err="1" smtClean="0"/>
              <a:t>검색어</a:t>
            </a:r>
            <a:r>
              <a:rPr lang="ko-KR" altLang="en-US" sz="700" dirty="0" smtClean="0"/>
              <a:t> 입력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>
                <a:latin typeface="+mn-ea"/>
              </a:rPr>
              <a:t>검색 필터 호출</a:t>
            </a:r>
            <a:r>
              <a:rPr lang="en-US" altLang="ko-KR" sz="700" dirty="0" smtClean="0">
                <a:latin typeface="+mn-ea"/>
              </a:rPr>
              <a:t/>
            </a:r>
            <a:br>
              <a:rPr lang="en-US" altLang="ko-KR" sz="700" dirty="0" smtClean="0">
                <a:latin typeface="+mn-ea"/>
              </a:rPr>
            </a:b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– </a:t>
            </a:r>
            <a:r>
              <a:rPr lang="ko-KR" altLang="en-US" sz="700" dirty="0" smtClean="0">
                <a:latin typeface="+mn-ea"/>
              </a:rPr>
              <a:t>계약 페이지 참고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표시 </a:t>
            </a:r>
            <a:r>
              <a:rPr lang="ko-KR" altLang="en-US" sz="700" dirty="0"/>
              <a:t>개수 영역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총 개수 표시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4-1] </a:t>
            </a:r>
            <a:r>
              <a:rPr lang="ko-KR" altLang="en-US" sz="700" dirty="0" smtClean="0"/>
              <a:t>표시 </a:t>
            </a:r>
            <a:r>
              <a:rPr lang="ko-KR" altLang="en-US" sz="700" dirty="0"/>
              <a:t>개수 </a:t>
            </a:r>
            <a:r>
              <a:rPr lang="en-US" altLang="ko-KR" sz="700" dirty="0"/>
              <a:t>(</a:t>
            </a:r>
            <a:r>
              <a:rPr lang="ko-KR" altLang="en-US" sz="700" dirty="0"/>
              <a:t>선택한 건수 만큼 보여주고 </a:t>
            </a:r>
            <a:r>
              <a:rPr lang="ko-KR" altLang="en-US" sz="700" dirty="0" err="1"/>
              <a:t>더보기시</a:t>
            </a:r>
            <a:r>
              <a:rPr lang="ko-KR" altLang="en-US" sz="700" dirty="0"/>
              <a:t> 추가로 불러옴</a:t>
            </a:r>
            <a:r>
              <a:rPr lang="en-US" altLang="ko-KR" sz="7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목록 </a:t>
            </a:r>
            <a:r>
              <a:rPr lang="ko-KR" altLang="en-US" sz="700" dirty="0"/>
              <a:t>카드 표시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ko-KR" altLang="en-US" sz="700" dirty="0" smtClean="0"/>
              <a:t>레이블이 </a:t>
            </a:r>
            <a:r>
              <a:rPr lang="ko-KR" altLang="en-US" sz="700" dirty="0"/>
              <a:t>화면을 넘치는 경우 드래그하여 확인 가능 </a:t>
            </a:r>
            <a:r>
              <a:rPr lang="en-US" altLang="ko-KR" sz="700" dirty="0"/>
              <a:t>(</a:t>
            </a:r>
            <a:r>
              <a:rPr lang="ko-KR" altLang="en-US" sz="700" dirty="0" err="1"/>
              <a:t>스와이프기능</a:t>
            </a:r>
            <a:r>
              <a:rPr lang="ko-KR" altLang="en-US" sz="700" dirty="0"/>
              <a:t> 반영 필요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 smtClean="0"/>
              <a:t>5-1</a:t>
            </a:r>
            <a:r>
              <a:rPr lang="en-US" altLang="ko-KR" sz="700" dirty="0"/>
              <a:t>] </a:t>
            </a:r>
            <a:r>
              <a:rPr lang="ko-KR" altLang="en-US" sz="700" dirty="0" err="1"/>
              <a:t>표시레이블</a:t>
            </a:r>
            <a:r>
              <a:rPr lang="ko-KR" altLang="en-US" sz="700" dirty="0"/>
              <a:t> 영역 </a:t>
            </a:r>
            <a:r>
              <a:rPr lang="ko-KR" altLang="en-US" sz="700" dirty="0" smtClean="0"/>
              <a:t>항목 </a:t>
            </a:r>
            <a:r>
              <a:rPr lang="ko-KR" altLang="en-US" sz="700" dirty="0" err="1" smtClean="0"/>
              <a:t>항목</a:t>
            </a:r>
            <a:r>
              <a:rPr lang="ko-KR" altLang="en-US" sz="700" dirty="0" smtClean="0"/>
              <a:t> 확인 필요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 err="1"/>
              <a:t>업무구분</a:t>
            </a:r>
            <a:r>
              <a:rPr lang="ko-KR" altLang="en-US" sz="700" dirty="0"/>
              <a:t> </a:t>
            </a:r>
            <a:r>
              <a:rPr lang="en-US" altLang="ko-KR" sz="700" dirty="0"/>
              <a:t>:  </a:t>
            </a:r>
            <a:r>
              <a:rPr lang="ko-KR" altLang="en-US" sz="700" dirty="0"/>
              <a:t>전체</a:t>
            </a:r>
            <a:r>
              <a:rPr lang="en-US" altLang="ko-KR" sz="700" dirty="0"/>
              <a:t>, </a:t>
            </a:r>
            <a:r>
              <a:rPr lang="ko-KR" altLang="en-US" sz="700" dirty="0"/>
              <a:t>물품</a:t>
            </a:r>
            <a:r>
              <a:rPr lang="en-US" altLang="ko-KR" sz="700" dirty="0"/>
              <a:t>, </a:t>
            </a:r>
            <a:r>
              <a:rPr lang="ko-KR" altLang="en-US" sz="700" dirty="0"/>
              <a:t>용역</a:t>
            </a:r>
            <a:r>
              <a:rPr lang="en-US" altLang="ko-KR" sz="700" dirty="0"/>
              <a:t>, </a:t>
            </a:r>
            <a:r>
              <a:rPr lang="ko-KR" altLang="en-US" sz="700" dirty="0"/>
              <a:t>공사</a:t>
            </a:r>
            <a:r>
              <a:rPr lang="en-US" altLang="ko-KR" sz="700" dirty="0"/>
              <a:t>, </a:t>
            </a:r>
            <a:r>
              <a:rPr lang="ko-KR" altLang="en-US" sz="700" dirty="0" smtClean="0"/>
              <a:t>국외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5-2</a:t>
            </a:r>
            <a:r>
              <a:rPr lang="en-US" altLang="ko-KR" sz="700" dirty="0"/>
              <a:t>] </a:t>
            </a:r>
            <a:r>
              <a:rPr lang="ko-KR" altLang="en-US" sz="700" dirty="0"/>
              <a:t>수정계약요청수신</a:t>
            </a:r>
            <a:r>
              <a:rPr lang="en-US" altLang="ko-KR" sz="700" dirty="0"/>
              <a:t>, </a:t>
            </a:r>
            <a:r>
              <a:rPr lang="ko-KR" altLang="en-US" sz="700" dirty="0"/>
              <a:t>수정계약사유 항목 확인 불가</a:t>
            </a:r>
            <a:r>
              <a:rPr lang="en-US" altLang="ko-KR" sz="700" dirty="0"/>
              <a:t>.</a:t>
            </a:r>
            <a:r>
              <a:rPr lang="ko-KR" altLang="en-US" sz="700" dirty="0"/>
              <a:t> 항목명과 코드</a:t>
            </a:r>
            <a:r>
              <a:rPr lang="en-US" altLang="ko-KR" sz="700" dirty="0"/>
              <a:t>,</a:t>
            </a:r>
            <a:r>
              <a:rPr lang="ko-KR" altLang="en-US" sz="700" dirty="0"/>
              <a:t>전달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5-3</a:t>
            </a:r>
            <a:r>
              <a:rPr lang="en-US" altLang="ko-KR" sz="700" dirty="0"/>
              <a:t>] </a:t>
            </a:r>
            <a:r>
              <a:rPr lang="ko-KR" altLang="en-US" sz="700" dirty="0"/>
              <a:t>레이블 항목 </a:t>
            </a:r>
            <a:r>
              <a:rPr lang="ko-KR" altLang="en-US" sz="700" dirty="0" smtClean="0"/>
              <a:t>기타사항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문서 </a:t>
            </a:r>
            <a:r>
              <a:rPr lang="ko-KR" altLang="en-US" sz="700" dirty="0"/>
              <a:t>정보 영역 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 err="1" smtClean="0"/>
              <a:t>계약번호</a:t>
            </a:r>
            <a:r>
              <a:rPr lang="ko-KR" altLang="en-US" sz="700" dirty="0" smtClean="0"/>
              <a:t> </a:t>
            </a:r>
            <a:r>
              <a:rPr lang="en-US" altLang="ko-KR" sz="700" dirty="0"/>
              <a:t>,  </a:t>
            </a:r>
            <a:r>
              <a:rPr lang="ko-KR" altLang="en-US" sz="700" dirty="0" err="1" smtClean="0"/>
              <a:t>증빙번호</a:t>
            </a:r>
            <a:r>
              <a:rPr lang="ko-KR" altLang="en-US" sz="700" dirty="0" smtClean="0"/>
              <a:t> </a:t>
            </a:r>
            <a:r>
              <a:rPr lang="ko-KR" altLang="en-US" sz="700" dirty="0"/>
              <a:t>노출 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 err="1" smtClean="0"/>
              <a:t>계약번호</a:t>
            </a:r>
            <a:r>
              <a:rPr lang="ko-KR" altLang="en-US" sz="700" dirty="0" smtClean="0"/>
              <a:t> </a:t>
            </a:r>
            <a:r>
              <a:rPr lang="ko-KR" altLang="en-US" sz="700" dirty="0" err="1"/>
              <a:t>전체노출</a:t>
            </a:r>
            <a:r>
              <a:rPr lang="ko-KR" altLang="en-US" sz="700" dirty="0"/>
              <a:t> </a:t>
            </a:r>
            <a:r>
              <a:rPr lang="en-US" altLang="ko-KR" sz="700" dirty="0"/>
              <a:t>/ </a:t>
            </a:r>
            <a:r>
              <a:rPr lang="ko-KR" altLang="en-US" sz="700" dirty="0" err="1" smtClean="0"/>
              <a:t>증빙번호</a:t>
            </a:r>
            <a:r>
              <a:rPr lang="ko-KR" altLang="en-US" sz="700" dirty="0" smtClean="0"/>
              <a:t> </a:t>
            </a:r>
            <a:r>
              <a:rPr lang="ko-KR" altLang="en-US" sz="700" dirty="0" err="1"/>
              <a:t>노출시</a:t>
            </a:r>
            <a:r>
              <a:rPr lang="ko-KR" altLang="en-US" sz="700" dirty="0"/>
              <a:t> 해당 라인을 넘어가면 </a:t>
            </a:r>
            <a:r>
              <a:rPr lang="en-US" altLang="ko-KR" sz="700" dirty="0"/>
              <a:t>(…) </a:t>
            </a:r>
            <a:r>
              <a:rPr lang="ko-KR" altLang="en-US" sz="700" dirty="0" err="1"/>
              <a:t>말줄임</a:t>
            </a:r>
            <a:r>
              <a:rPr lang="ko-KR" altLang="en-US" sz="700" dirty="0"/>
              <a:t> 표시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 err="1"/>
              <a:t>계약번호</a:t>
            </a:r>
            <a:r>
              <a:rPr lang="en-US" altLang="ko-KR" sz="700" dirty="0"/>
              <a:t>:</a:t>
            </a:r>
            <a:r>
              <a:rPr lang="ko-KR" altLang="en-US" sz="700" dirty="0"/>
              <a:t> </a:t>
            </a:r>
            <a:r>
              <a:rPr lang="ko-KR" altLang="en-US" sz="700" dirty="0" err="1"/>
              <a:t>계약번호</a:t>
            </a:r>
            <a:r>
              <a:rPr lang="en-US" altLang="ko-KR" sz="700" dirty="0"/>
              <a:t>+</a:t>
            </a:r>
            <a:r>
              <a:rPr lang="ko-KR" altLang="en-US" sz="700" dirty="0"/>
              <a:t>계약번호차수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6-3] </a:t>
            </a:r>
            <a:r>
              <a:rPr lang="ko-KR" altLang="en-US" sz="700" dirty="0"/>
              <a:t>문서 제목 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제목은 </a:t>
            </a:r>
            <a:r>
              <a:rPr lang="en-US" altLang="ko-KR" sz="700" dirty="0"/>
              <a:t>2</a:t>
            </a:r>
            <a:r>
              <a:rPr lang="ko-KR" altLang="en-US" sz="700" dirty="0"/>
              <a:t>줄 까지 노출 이후</a:t>
            </a:r>
            <a:r>
              <a:rPr lang="en-US" altLang="ko-KR" sz="700" dirty="0"/>
              <a:t>(…) </a:t>
            </a:r>
            <a:r>
              <a:rPr lang="ko-KR" altLang="en-US" sz="700" dirty="0" err="1"/>
              <a:t>말줄임</a:t>
            </a:r>
            <a:r>
              <a:rPr lang="ko-KR" altLang="en-US" sz="700" dirty="0"/>
              <a:t> 표시</a:t>
            </a:r>
            <a:endParaRPr lang="en-US" altLang="ko-KR" sz="7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/>
              <a:t>더보기</a:t>
            </a:r>
            <a:r>
              <a:rPr lang="ko-KR" altLang="en-US" sz="700" dirty="0"/>
              <a:t> 기능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-4 </a:t>
            </a:r>
            <a:r>
              <a:rPr lang="ko-KR" altLang="en-US" sz="700" dirty="0" err="1" smtClean="0"/>
              <a:t>번항목</a:t>
            </a:r>
            <a:r>
              <a:rPr lang="ko-KR" altLang="en-US" sz="700" dirty="0" smtClean="0"/>
              <a:t> </a:t>
            </a:r>
            <a:r>
              <a:rPr lang="ko-KR" altLang="en-US" sz="700" dirty="0"/>
              <a:t>표시 개수 영역에서 선택한 개수로 증가</a:t>
            </a:r>
            <a:r>
              <a:rPr lang="en-US" altLang="ko-KR" sz="700" dirty="0"/>
              <a:t>.</a:t>
            </a:r>
            <a:br>
              <a:rPr lang="en-US" altLang="ko-KR" sz="700" dirty="0"/>
            </a:br>
            <a:r>
              <a:rPr lang="ko-KR" altLang="en-US" sz="700" dirty="0"/>
              <a:t>예</a:t>
            </a:r>
            <a:r>
              <a:rPr lang="en-US" altLang="ko-KR" sz="700" dirty="0"/>
              <a:t>) 10</a:t>
            </a:r>
            <a:r>
              <a:rPr lang="ko-KR" altLang="en-US" sz="700" dirty="0"/>
              <a:t>개 노출 이후 </a:t>
            </a:r>
            <a:r>
              <a:rPr lang="ko-KR" altLang="en-US" sz="700" dirty="0" err="1"/>
              <a:t>더보기</a:t>
            </a:r>
            <a:r>
              <a:rPr lang="ko-KR" altLang="en-US" sz="700" dirty="0"/>
              <a:t> 버튼 클릭으로 </a:t>
            </a:r>
            <a:r>
              <a:rPr lang="en-US" altLang="ko-KR" sz="700" dirty="0"/>
              <a:t>10</a:t>
            </a:r>
            <a:r>
              <a:rPr lang="ko-KR" altLang="en-US" sz="700" dirty="0"/>
              <a:t>개씩 추가 로드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endParaRPr lang="en-US" altLang="ko-KR" sz="7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대금지불정보목록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</a:t>
            </a:r>
            <a:r>
              <a:rPr lang="ko-KR" altLang="en-US" dirty="0" err="1"/>
              <a:t>건별로</a:t>
            </a:r>
            <a:r>
              <a:rPr lang="ko-KR" altLang="en-US" dirty="0"/>
              <a:t> 대금지불 정보 </a:t>
            </a:r>
            <a:r>
              <a:rPr lang="ko-KR" altLang="en-US" dirty="0" smtClean="0"/>
              <a:t>목록 조회 화면</a:t>
            </a:r>
            <a:endParaRPr lang="en-US" altLang="ko-KR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/>
              <a:t>대금지불정보목록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MUI-CT-01-M15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대금지불정보목록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19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41494"/>
            <a:ext cx="2446613" cy="279492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81461" y="3376970"/>
            <a:ext cx="2499519" cy="1237060"/>
            <a:chOff x="781461" y="3087955"/>
            <a:chExt cx="2499519" cy="1237060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3272286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2025000000 - 01 / </a:t>
              </a:r>
              <a:r>
                <a:rPr lang="ko-KR" altLang="en-US" sz="700" dirty="0" err="1" smtClean="0"/>
                <a:t>증빙번호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00000000-0000</a:t>
              </a:r>
            </a:p>
            <a:p>
              <a:r>
                <a:rPr lang="ko-KR" altLang="en-US" sz="900" b="1" dirty="0" err="1" smtClean="0"/>
                <a:t>계약건명</a:t>
              </a:r>
              <a:endParaRPr lang="ko-KR" altLang="en-US" sz="900" b="1" dirty="0"/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632518"/>
              <a:ext cx="384721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업체명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지출금액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지체상금액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국고환수액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수표발행일</a:t>
              </a: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08094" y="3617129"/>
              <a:ext cx="472886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A</a:t>
              </a:r>
              <a:r>
                <a:rPr lang="ko-KR" altLang="en-US" sz="600" dirty="0" smtClean="0">
                  <a:latin typeface="+mn-ea"/>
                </a:rPr>
                <a:t>업체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2026-02-10</a:t>
              </a: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15218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4756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001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43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58615" y="32267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980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9021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210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 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3143548" y="2992033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94264"/>
            <a:ext cx="14904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89" name="그룹 188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1" name="타원 190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200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kumimoji="1" lang="ko-KR" altLang="en-US" sz="500" kern="0" dirty="0" smtClean="0">
                    <a:solidFill>
                      <a:srgbClr val="0070C0"/>
                    </a:solidFill>
                  </a:rPr>
                  <a:t>   통합참조번호</a:t>
                </a:r>
                <a:endParaRPr kumimoji="1" lang="en-US" sz="5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20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latin typeface="맑은 고딕"/>
                    <a:ea typeface="맑은 고딕" panose="020B0503020000020004" pitchFamily="50" charset="-127"/>
                  </a:rPr>
                  <a:t>계약번호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94" name="타원 193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 smtClean="0"/>
                <a:t>V</a:t>
              </a:r>
              <a:endParaRPr lang="ko-KR" altLang="en-US" sz="600" dirty="0"/>
            </a:p>
          </p:txBody>
        </p:sp>
        <p:sp>
          <p:nvSpPr>
            <p:cNvPr id="19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96" name="타원 195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97" name="그룹 196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98" name="직선 연결선 19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2055" y="22338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63636" y="22338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2-1</a:t>
            </a:r>
            <a:endParaRPr lang="ko-KR" altLang="en-US" sz="600" b="1" dirty="0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684573" y="22247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5396" y="25044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2-2</a:t>
            </a:r>
            <a:endParaRPr lang="ko-KR" altLang="en-US" sz="600" b="1" dirty="0"/>
          </a:p>
        </p:txBody>
      </p: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222365" y="28912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4-1</a:t>
            </a:r>
            <a:endParaRPr lang="ko-KR" altLang="en-US" sz="6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05536" y="34994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24224" y="35116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6-1</a:t>
            </a:r>
            <a:endParaRPr lang="ko-KR" altLang="en-US" sz="600" b="1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887229" y="35161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6-2</a:t>
            </a:r>
            <a:endParaRPr lang="ko-KR" altLang="en-US" sz="600" b="1" dirty="0"/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8517" y="37095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6-3</a:t>
            </a:r>
            <a:endParaRPr lang="ko-KR" altLang="en-US" sz="600" b="1" dirty="0"/>
          </a:p>
        </p:txBody>
      </p:sp>
      <p:sp>
        <p:nvSpPr>
          <p:cNvPr id="156" name="직사각형 155"/>
          <p:cNvSpPr/>
          <p:nvPr/>
        </p:nvSpPr>
        <p:spPr>
          <a:xfrm>
            <a:off x="7062870" y="5819409"/>
            <a:ext cx="2357904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– 5-1 </a:t>
            </a:r>
            <a:r>
              <a:rPr lang="ko-KR" altLang="en-US" sz="500" dirty="0" err="1" smtClean="0"/>
              <a:t>표시레이블</a:t>
            </a:r>
            <a:r>
              <a:rPr lang="ko-KR" altLang="en-US" sz="500" dirty="0" smtClean="0"/>
              <a:t> 항목 확인 필요</a:t>
            </a:r>
            <a:r>
              <a:rPr lang="en-US" altLang="ko-KR" sz="500" dirty="0" smtClean="0"/>
              <a:t>.</a:t>
            </a:r>
            <a:br>
              <a:rPr lang="en-US" altLang="ko-KR" sz="500" dirty="0" smtClean="0"/>
            </a:br>
            <a:r>
              <a:rPr lang="ko-KR" altLang="en-US" sz="500" dirty="0" err="1" smtClean="0"/>
              <a:t>지불일자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순번</a:t>
            </a:r>
            <a:r>
              <a:rPr lang="en-US" altLang="ko-KR" sz="500" dirty="0" smtClean="0"/>
              <a:t>, 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10036" y="134936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표시 레이블</a:t>
            </a:r>
            <a:endParaRPr lang="ko-KR" altLang="en-US" sz="700" dirty="0">
              <a:latin typeface="+mn-ea"/>
            </a:endParaRPr>
          </a:p>
        </p:txBody>
      </p:sp>
      <p:graphicFrame>
        <p:nvGraphicFramePr>
          <p:cNvPr id="179" name="표 17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4967261"/>
              </p:ext>
            </p:extLst>
          </p:nvPr>
        </p:nvGraphicFramePr>
        <p:xfrm>
          <a:off x="3801286" y="1616448"/>
          <a:ext cx="3069778" cy="741680"/>
        </p:xfrm>
        <a:graphic>
          <a:graphicData uri="http://schemas.openxmlformats.org/drawingml/2006/table">
            <a:tbl>
              <a:tblPr firstRow="1" bandRow="1">
                <a:tableStyleId>{7E9639D4-E3E2-4D34-9284-5A2195B3D0D7}</a:tableStyleId>
              </a:tblPr>
              <a:tblGrid>
                <a:gridCol w="1534889">
                  <a:extLst>
                    <a:ext uri="{9D8B030D-6E8A-4147-A177-3AD203B41FA5}">
                      <a16:colId xmlns:a16="http://schemas.microsoft.com/office/drawing/2014/main" val="3115782702"/>
                    </a:ext>
                  </a:extLst>
                </a:gridCol>
                <a:gridCol w="1534889">
                  <a:extLst>
                    <a:ext uri="{9D8B030D-6E8A-4147-A177-3AD203B41FA5}">
                      <a16:colId xmlns:a16="http://schemas.microsoft.com/office/drawing/2014/main" val="39358220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항목명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표시 값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97094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latin typeface="+mn-ea"/>
                        </a:rPr>
                        <a:t>업무구분</a:t>
                      </a:r>
                      <a:r>
                        <a:rPr lang="ko-KR" altLang="en-US" sz="700" dirty="0" smtClean="0"/>
                        <a:t> 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en-US" altLang="ko-KR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taskSecd</a:t>
                      </a:r>
                      <a:r>
                        <a:rPr lang="en-US" altLang="ko-KR" sz="700" dirty="0" smtClean="0"/>
                        <a:t>)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물품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용역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공사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국외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60468422"/>
                  </a:ext>
                </a:extLst>
              </a:tr>
            </a:tbl>
          </a:graphicData>
        </a:graphic>
      </p:graphicFrame>
      <p:sp>
        <p:nvSpPr>
          <p:cNvPr id="182" name="타원 18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594554" y="13298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5-1</a:t>
            </a:r>
            <a:endParaRPr lang="ko-KR" altLang="en-US" sz="500" b="1" dirty="0"/>
          </a:p>
        </p:txBody>
      </p:sp>
      <p:grpSp>
        <p:nvGrpSpPr>
          <p:cNvPr id="184" name="그룹 183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85" name="직사각형 18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2026-08-03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수정</a:t>
              </a:r>
              <a:endParaRPr lang="ko-KR" altLang="en-US" dirty="0"/>
            </a:p>
          </p:txBody>
        </p:sp>
        <p:sp>
          <p:nvSpPr>
            <p:cNvPr id="186" name="직사각형 18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레이블</a:t>
              </a:r>
              <a:r>
                <a:rPr lang="en-US" altLang="ko-KR" sz="700" dirty="0" smtClean="0"/>
                <a:t>(</a:t>
              </a:r>
              <a:r>
                <a:rPr lang="ko-KR" altLang="en-US" sz="700" dirty="0" err="1" smtClean="0"/>
                <a:t>뱃지</a:t>
              </a:r>
              <a:r>
                <a:rPr lang="en-US" altLang="ko-KR" sz="700" dirty="0" smtClean="0"/>
                <a:t>) </a:t>
              </a:r>
              <a:r>
                <a:rPr lang="ko-KR" altLang="en-US" sz="700" dirty="0" smtClean="0"/>
                <a:t>정리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856000412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검색필터</a:t>
            </a:r>
            <a:r>
              <a:rPr lang="ko-KR" altLang="en-US" sz="800" dirty="0" smtClean="0"/>
              <a:t> 페이지 타이틀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초기화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창 닫기 버튼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ko-KR" altLang="en-US" sz="800" dirty="0" smtClean="0"/>
              <a:t>각 </a:t>
            </a:r>
            <a:r>
              <a:rPr lang="ko-KR" altLang="en-US" sz="800" dirty="0" err="1"/>
              <a:t>섹션명</a:t>
            </a:r>
            <a:r>
              <a:rPr lang="ko-KR" altLang="en-US" sz="800" dirty="0"/>
              <a:t> 클릭 시 아코디언 </a:t>
            </a:r>
            <a:r>
              <a:rPr lang="ko-KR" altLang="en-US" sz="800" dirty="0" smtClean="0"/>
              <a:t>동작</a:t>
            </a: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검색 설정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서류요청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수신일자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계약일자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 smtClean="0"/>
              <a:t>- default) </a:t>
            </a:r>
            <a:r>
              <a:rPr lang="ko-KR" altLang="en-US" sz="800" dirty="0" smtClean="0"/>
              <a:t>당일 포함 과거 </a:t>
            </a:r>
            <a:r>
              <a:rPr lang="en-US" altLang="ko-KR" sz="800" dirty="0" smtClean="0"/>
              <a:t>1</a:t>
            </a:r>
            <a:r>
              <a:rPr lang="ko-KR" altLang="en-US" sz="800" dirty="0" smtClean="0"/>
              <a:t>개월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 smtClean="0">
                <a:sym typeface="Wingdings" panose="05000000000000000000" pitchFamily="2" charset="2"/>
              </a:rPr>
              <a:t>- </a:t>
            </a:r>
            <a:r>
              <a:rPr lang="ko-KR" altLang="en-US" sz="800" dirty="0">
                <a:sym typeface="Wingdings" panose="05000000000000000000" pitchFamily="2" charset="2"/>
              </a:rPr>
              <a:t>선택 날짜 즉시 </a:t>
            </a:r>
            <a:r>
              <a:rPr lang="ko-KR" altLang="en-US" sz="800" dirty="0" smtClean="0">
                <a:sym typeface="Wingdings" panose="05000000000000000000" pitchFamily="2" charset="2"/>
              </a:rPr>
              <a:t>업데이트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2-1)</a:t>
            </a:r>
            <a:r>
              <a:rPr lang="ko-KR" altLang="en-US" sz="800" dirty="0" smtClean="0"/>
              <a:t>직접 입력 가능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/>
              <a:t>좌</a:t>
            </a:r>
            <a:r>
              <a:rPr lang="en-US" altLang="ko-KR" sz="800" dirty="0" smtClean="0"/>
              <a:t>)</a:t>
            </a:r>
            <a:r>
              <a:rPr lang="ko-KR" altLang="en-US" sz="800" dirty="0" smtClean="0"/>
              <a:t>과거 우</a:t>
            </a:r>
            <a:r>
              <a:rPr lang="en-US" altLang="ko-KR" sz="800" dirty="0" smtClean="0"/>
              <a:t>)</a:t>
            </a:r>
            <a:r>
              <a:rPr lang="ko-KR" altLang="en-US" sz="800" dirty="0" err="1" smtClean="0"/>
              <a:t>현재로한다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우</a:t>
            </a:r>
            <a:r>
              <a:rPr lang="en-US" altLang="ko-KR" sz="800" dirty="0" smtClean="0"/>
              <a:t>)</a:t>
            </a:r>
            <a:r>
              <a:rPr lang="ko-KR" altLang="en-US" sz="800" dirty="0" smtClean="0"/>
              <a:t> 값은 미래를 선택</a:t>
            </a:r>
            <a:r>
              <a:rPr lang="en-US" altLang="ko-KR" sz="800" dirty="0" smtClean="0"/>
              <a:t>,</a:t>
            </a:r>
            <a:r>
              <a:rPr lang="ko-KR" altLang="en-US" sz="800" dirty="0" smtClean="0"/>
              <a:t>입력 할 </a:t>
            </a:r>
            <a:r>
              <a:rPr lang="ko-KR" altLang="en-US" sz="800" dirty="0" err="1" smtClean="0"/>
              <a:t>수없다</a:t>
            </a:r>
            <a:r>
              <a:rPr lang="en-US" altLang="ko-KR" sz="800" dirty="0" smtClean="0"/>
              <a:t>.</a:t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우</a:t>
            </a:r>
            <a:r>
              <a:rPr lang="en-US" altLang="ko-KR" sz="800" dirty="0" smtClean="0"/>
              <a:t>) </a:t>
            </a:r>
            <a:r>
              <a:rPr lang="ko-KR" altLang="en-US" sz="800" dirty="0" smtClean="0"/>
              <a:t>값이 미래를 입력한 경우 오늘로 자동 변경</a:t>
            </a:r>
            <a:r>
              <a:rPr lang="en-US" altLang="ko-KR" sz="800" dirty="0" smtClean="0"/>
              <a:t>.</a:t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당일 기준 최대 </a:t>
            </a:r>
            <a:r>
              <a:rPr lang="en-US" altLang="ko-KR" sz="800" dirty="0"/>
              <a:t>1</a:t>
            </a:r>
            <a:r>
              <a:rPr lang="ko-KR" altLang="en-US" sz="800" dirty="0" smtClean="0"/>
              <a:t>년</a:t>
            </a:r>
            <a:r>
              <a:rPr lang="en-US" altLang="ko-KR" sz="800" dirty="0" smtClean="0"/>
              <a:t>(365</a:t>
            </a:r>
            <a:r>
              <a:rPr lang="ko-KR" altLang="en-US" sz="800" dirty="0" smtClean="0"/>
              <a:t>일</a:t>
            </a:r>
            <a:r>
              <a:rPr lang="en-US" altLang="ko-KR" sz="800" dirty="0" smtClean="0"/>
              <a:t>)</a:t>
            </a:r>
            <a:r>
              <a:rPr lang="ko-KR" altLang="en-US" sz="800" dirty="0" smtClean="0"/>
              <a:t>까지 조회 가능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 smtClean="0"/>
              <a:t>2-2) </a:t>
            </a:r>
            <a:r>
              <a:rPr lang="ko-KR" altLang="en-US" sz="800" dirty="0" smtClean="0"/>
              <a:t>아이콘 </a:t>
            </a:r>
            <a:r>
              <a:rPr lang="en-US" altLang="ko-KR" sz="800" dirty="0" smtClean="0">
                <a:sym typeface="Wingdings" panose="05000000000000000000" pitchFamily="2" charset="2"/>
              </a:rPr>
              <a:t> </a:t>
            </a:r>
            <a:r>
              <a:rPr lang="ko-KR" altLang="en-US" sz="800" dirty="0" smtClean="0">
                <a:sym typeface="Wingdings" panose="05000000000000000000" pitchFamily="2" charset="2"/>
              </a:rPr>
              <a:t>데이트 </a:t>
            </a:r>
            <a:r>
              <a:rPr lang="ko-KR" altLang="en-US" sz="800" dirty="0" err="1" smtClean="0">
                <a:sym typeface="Wingdings" panose="05000000000000000000" pitchFamily="2" charset="2"/>
              </a:rPr>
              <a:t>피커</a:t>
            </a:r>
            <a:r>
              <a:rPr lang="ko-KR" altLang="en-US" sz="800" dirty="0" smtClean="0">
                <a:sym typeface="Wingdings" panose="05000000000000000000" pitchFamily="2" charset="2"/>
              </a:rPr>
              <a:t> 호출</a:t>
            </a:r>
            <a:r>
              <a:rPr lang="en-US" altLang="ko-KR" sz="800" dirty="0" smtClean="0">
                <a:sym typeface="Wingdings" panose="05000000000000000000" pitchFamily="2" charset="2"/>
              </a:rPr>
              <a:t>(</a:t>
            </a:r>
            <a:r>
              <a:rPr lang="ko-KR" altLang="en-US" sz="800" dirty="0" err="1" smtClean="0">
                <a:sym typeface="Wingdings" panose="05000000000000000000" pitchFamily="2" charset="2"/>
              </a:rPr>
              <a:t>미래불가</a:t>
            </a:r>
            <a:r>
              <a:rPr lang="en-US" altLang="ko-KR" sz="800" dirty="0" smtClean="0">
                <a:sym typeface="Wingdings" panose="05000000000000000000" pitchFamily="2" charset="2"/>
              </a:rPr>
              <a:t>)</a:t>
            </a:r>
            <a:br>
              <a:rPr lang="en-US" altLang="ko-KR" sz="800" dirty="0" smtClean="0">
                <a:sym typeface="Wingdings" panose="05000000000000000000" pitchFamily="2" charset="2"/>
              </a:rPr>
            </a:br>
            <a:r>
              <a:rPr lang="en-US" altLang="ko-KR" sz="800" dirty="0" smtClean="0">
                <a:sym typeface="Wingdings" panose="05000000000000000000" pitchFamily="2" charset="2"/>
              </a:rPr>
              <a:t>2-3) </a:t>
            </a:r>
            <a:r>
              <a:rPr lang="ko-KR" altLang="en-US" sz="800" dirty="0" smtClean="0">
                <a:sym typeface="Wingdings" panose="05000000000000000000" pitchFamily="2" charset="2"/>
              </a:rPr>
              <a:t>최근</a:t>
            </a:r>
            <a:r>
              <a:rPr lang="en-US" altLang="ko-KR" sz="800" dirty="0" smtClean="0">
                <a:sym typeface="Wingdings" panose="05000000000000000000" pitchFamily="2" charset="2"/>
              </a:rPr>
              <a:t>1,3,6</a:t>
            </a:r>
            <a:r>
              <a:rPr lang="ko-KR" altLang="en-US" sz="800" dirty="0" smtClean="0">
                <a:sym typeface="Wingdings" panose="05000000000000000000" pitchFamily="2" charset="2"/>
              </a:rPr>
              <a:t>개월 버튼으로 당일 포함하여 </a:t>
            </a:r>
            <a:r>
              <a:rPr lang="en-US" altLang="ko-KR" sz="800" dirty="0" smtClean="0">
                <a:sym typeface="Wingdings" panose="05000000000000000000" pitchFamily="2" charset="2"/>
              </a:rPr>
              <a:t>30</a:t>
            </a:r>
            <a:r>
              <a:rPr lang="ko-KR" altLang="en-US" sz="800" dirty="0" smtClean="0">
                <a:sym typeface="Wingdings" panose="05000000000000000000" pitchFamily="2" charset="2"/>
              </a:rPr>
              <a:t>일</a:t>
            </a:r>
            <a:r>
              <a:rPr lang="en-US" altLang="ko-KR" sz="800" dirty="0" smtClean="0">
                <a:sym typeface="Wingdings" panose="05000000000000000000" pitchFamily="2" charset="2"/>
              </a:rPr>
              <a:t>, 90</a:t>
            </a:r>
            <a:r>
              <a:rPr lang="ko-KR" altLang="en-US" sz="800" dirty="0" smtClean="0">
                <a:sym typeface="Wingdings" panose="05000000000000000000" pitchFamily="2" charset="2"/>
              </a:rPr>
              <a:t>일</a:t>
            </a:r>
            <a:r>
              <a:rPr lang="en-US" altLang="ko-KR" sz="800" dirty="0" smtClean="0">
                <a:sym typeface="Wingdings" panose="05000000000000000000" pitchFamily="2" charset="2"/>
              </a:rPr>
              <a:t>,180</a:t>
            </a:r>
            <a:r>
              <a:rPr lang="ko-KR" altLang="en-US" sz="800" dirty="0" smtClean="0">
                <a:sym typeface="Wingdings" panose="05000000000000000000" pitchFamily="2" charset="2"/>
              </a:rPr>
              <a:t>일 이전 값을 표시</a:t>
            </a:r>
            <a:r>
              <a:rPr lang="en-US" altLang="ko-KR" sz="800" dirty="0" smtClean="0">
                <a:sym typeface="Wingdings" panose="05000000000000000000" pitchFamily="2" charset="2"/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sz="800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>
                <a:sym typeface="Wingdings" panose="05000000000000000000" pitchFamily="2" charset="2"/>
              </a:rPr>
              <a:t>검색어</a:t>
            </a:r>
            <a:r>
              <a:rPr lang="ko-KR" altLang="en-US" sz="800" dirty="0" smtClean="0">
                <a:sym typeface="Wingdings" panose="05000000000000000000" pitchFamily="2" charset="2"/>
              </a:rPr>
              <a:t> 영역</a:t>
            </a:r>
            <a:r>
              <a:rPr lang="en-US" altLang="ko-KR" sz="800" dirty="0" smtClean="0">
                <a:sym typeface="Wingdings" panose="05000000000000000000" pitchFamily="2" charset="2"/>
              </a:rPr>
              <a:t/>
            </a:r>
            <a:br>
              <a:rPr lang="en-US" altLang="ko-KR" sz="800" dirty="0" smtClean="0">
                <a:sym typeface="Wingdings" panose="05000000000000000000" pitchFamily="2" charset="2"/>
              </a:rPr>
            </a:br>
            <a:r>
              <a:rPr lang="en-US" altLang="ko-KR" sz="800" dirty="0" smtClean="0">
                <a:sym typeface="Wingdings" panose="05000000000000000000" pitchFamily="2" charset="2"/>
              </a:rPr>
              <a:t>- </a:t>
            </a:r>
            <a:r>
              <a:rPr lang="ko-KR" altLang="en-US" sz="800" dirty="0" smtClean="0">
                <a:sym typeface="Wingdings" panose="05000000000000000000" pitchFamily="2" charset="2"/>
              </a:rPr>
              <a:t>사용자가 입력하고자 하는 내역만 입력 후 검색 가능</a:t>
            </a:r>
            <a:r>
              <a:rPr lang="en-US" altLang="ko-KR" sz="800" dirty="0">
                <a:sym typeface="Wingdings" panose="05000000000000000000" pitchFamily="2" charset="2"/>
              </a:rPr>
              <a:t/>
            </a:r>
            <a:br>
              <a:rPr lang="en-US" altLang="ko-KR" sz="800" dirty="0">
                <a:sym typeface="Wingdings" panose="05000000000000000000" pitchFamily="2" charset="2"/>
              </a:rPr>
            </a:br>
            <a:r>
              <a:rPr lang="en-US" altLang="ko-KR" sz="800" dirty="0" smtClean="0">
                <a:sym typeface="Wingdings" panose="05000000000000000000" pitchFamily="2" charset="2"/>
              </a:rPr>
              <a:t>- </a:t>
            </a:r>
            <a:r>
              <a:rPr lang="ko-KR" altLang="en-US" sz="800" dirty="0" smtClean="0">
                <a:sym typeface="Wingdings" panose="05000000000000000000" pitchFamily="2" charset="2"/>
              </a:rPr>
              <a:t>통합참조번호</a:t>
            </a:r>
            <a:r>
              <a:rPr lang="en-US" altLang="ko-KR" sz="800" dirty="0" smtClean="0">
                <a:sym typeface="Wingdings" panose="05000000000000000000" pitchFamily="2" charset="2"/>
              </a:rPr>
              <a:t>, </a:t>
            </a:r>
            <a:r>
              <a:rPr lang="ko-KR" altLang="en-US" sz="800" dirty="0" err="1" smtClean="0">
                <a:sym typeface="Wingdings" panose="05000000000000000000" pitchFamily="2" charset="2"/>
              </a:rPr>
              <a:t>계약번호</a:t>
            </a:r>
            <a:r>
              <a:rPr lang="en-US" altLang="ko-KR" sz="800" dirty="0" smtClean="0">
                <a:sym typeface="Wingdings" panose="05000000000000000000" pitchFamily="2" charset="2"/>
              </a:rPr>
              <a:t/>
            </a:r>
            <a:br>
              <a:rPr lang="en-US" altLang="ko-KR" sz="800" dirty="0" smtClean="0">
                <a:sym typeface="Wingdings" panose="05000000000000000000" pitchFamily="2" charset="2"/>
              </a:rPr>
            </a:br>
            <a:r>
              <a:rPr lang="en-US" altLang="ko-KR" sz="800" dirty="0" smtClean="0">
                <a:sym typeface="Wingdings" panose="05000000000000000000" pitchFamily="2" charset="2"/>
              </a:rPr>
              <a:t>- </a:t>
            </a:r>
            <a:r>
              <a:rPr lang="ko-KR" altLang="en-US" sz="800" dirty="0" err="1" smtClean="0">
                <a:sym typeface="Wingdings" panose="05000000000000000000" pitchFamily="2" charset="2"/>
              </a:rPr>
              <a:t>숫자검색</a:t>
            </a:r>
            <a:r>
              <a:rPr lang="en-US" altLang="ko-KR" sz="800" dirty="0" smtClean="0">
                <a:sym typeface="Wingdings" panose="05000000000000000000" pitchFamily="2" charset="2"/>
              </a:rPr>
              <a:t>: </a:t>
            </a:r>
            <a:r>
              <a:rPr lang="ko-KR" altLang="en-US" sz="800" dirty="0" smtClean="0">
                <a:sym typeface="Wingdings" panose="05000000000000000000" pitchFamily="2" charset="2"/>
              </a:rPr>
              <a:t> </a:t>
            </a:r>
            <a:r>
              <a:rPr lang="en-US" altLang="ko-KR" sz="800" dirty="0" smtClean="0">
                <a:sym typeface="Wingdings" panose="05000000000000000000" pitchFamily="2" charset="2"/>
              </a:rPr>
              <a:t/>
            </a:r>
            <a:br>
              <a:rPr lang="en-US" altLang="ko-KR" sz="800" dirty="0" smtClean="0">
                <a:sym typeface="Wingdings" panose="05000000000000000000" pitchFamily="2" charset="2"/>
              </a:rPr>
            </a:br>
            <a:r>
              <a:rPr lang="en-US" altLang="ko-KR" sz="800" dirty="0" smtClean="0">
                <a:sym typeface="Wingdings" panose="05000000000000000000" pitchFamily="2" charset="2"/>
              </a:rPr>
              <a:t>  &gt; </a:t>
            </a:r>
            <a:r>
              <a:rPr lang="ko-KR" altLang="en-US" sz="800" dirty="0" smtClean="0">
                <a:sym typeface="Wingdings" panose="05000000000000000000" pitchFamily="2" charset="2"/>
              </a:rPr>
              <a:t>계약 번호 </a:t>
            </a:r>
            <a:r>
              <a:rPr lang="en-US" altLang="ko-KR" sz="800" dirty="0">
                <a:sym typeface="Wingdings" panose="05000000000000000000" pitchFamily="2" charset="2"/>
              </a:rPr>
              <a:t>(MUI-EX-02-P79)</a:t>
            </a:r>
            <a:r>
              <a:rPr lang="en-US" altLang="ko-KR" sz="800" dirty="0" smtClean="0">
                <a:sym typeface="Wingdings" panose="05000000000000000000" pitchFamily="2" charset="2"/>
              </a:rPr>
              <a:t/>
            </a:r>
            <a:br>
              <a:rPr lang="en-US" altLang="ko-KR" sz="800" dirty="0" smtClean="0">
                <a:sym typeface="Wingdings" panose="05000000000000000000" pitchFamily="2" charset="2"/>
              </a:rPr>
            </a:br>
            <a:endParaRPr lang="en-US" altLang="ko-KR" sz="800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>
                <a:sym typeface="Wingdings" panose="05000000000000000000" pitchFamily="2" charset="2"/>
              </a:rPr>
              <a:t>검색 버튼 영역은 화면 하단 </a:t>
            </a:r>
            <a:r>
              <a:rPr lang="ko-KR" altLang="en-US" sz="800" dirty="0" err="1" smtClean="0">
                <a:sym typeface="Wingdings" panose="05000000000000000000" pitchFamily="2" charset="2"/>
              </a:rPr>
              <a:t>플로팅</a:t>
            </a:r>
            <a:r>
              <a:rPr lang="ko-KR" altLang="en-US" sz="800" dirty="0" smtClean="0">
                <a:sym typeface="Wingdings" panose="05000000000000000000" pitchFamily="2" charset="2"/>
              </a:rPr>
              <a:t> 처리</a:t>
            </a:r>
            <a:r>
              <a:rPr lang="en-US" altLang="ko-KR" sz="800" dirty="0" smtClean="0">
                <a:sym typeface="Wingdings" panose="05000000000000000000" pitchFamily="2" charset="2"/>
              </a:rPr>
              <a:t/>
            </a:r>
            <a:br>
              <a:rPr lang="en-US" altLang="ko-KR" sz="800" dirty="0" smtClean="0">
                <a:sym typeface="Wingdings" panose="05000000000000000000" pitchFamily="2" charset="2"/>
              </a:rPr>
            </a:br>
            <a:endParaRPr lang="en-US" altLang="ko-KR" sz="800" dirty="0" smtClean="0">
              <a:sym typeface="Wingdings" panose="05000000000000000000" pitchFamily="2" charset="2"/>
            </a:endParaRPr>
          </a:p>
          <a:p>
            <a:pPr marL="0" indent="0">
              <a:buNone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endParaRPr lang="en-US" altLang="ko-KR" sz="800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검색필터</a:t>
            </a:r>
            <a:r>
              <a:rPr lang="en-US" altLang="ko-KR" dirty="0" smtClean="0">
                <a:latin typeface="+mn-ea"/>
              </a:rPr>
              <a:t>-</a:t>
            </a:r>
            <a:r>
              <a:rPr lang="ko-KR" altLang="en-US" dirty="0"/>
              <a:t>대금지불정보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상세 검색을 위한 검색 필터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/>
              <a:t>대금지불정보목록 </a:t>
            </a:r>
            <a:r>
              <a:rPr lang="en-US" altLang="ko-KR" dirty="0" smtClean="0"/>
              <a:t>&gt; </a:t>
            </a:r>
            <a:r>
              <a:rPr lang="ko-KR" altLang="en-US" dirty="0" err="1" smtClean="0"/>
              <a:t>검색필터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MUI-CT-01-P18</a:t>
            </a:r>
            <a:endParaRPr lang="ko-KR" altLang="en-US" sz="1000" dirty="0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5432" y="289324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9078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8" name="그룹 117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119" name="직선 연결선 11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7" name="타원 126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033819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검색 설정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256357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지불일자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59" name="그룹 158"/>
          <p:cNvGrpSpPr/>
          <p:nvPr/>
        </p:nvGrpSpPr>
        <p:grpSpPr>
          <a:xfrm flipV="1">
            <a:off x="3140949" y="2131509"/>
            <a:ext cx="91438" cy="45719"/>
            <a:chOff x="6812560" y="3297172"/>
            <a:chExt cx="94010" cy="47005"/>
          </a:xfrm>
        </p:grpSpPr>
        <p:cxnSp>
          <p:nvCxnSpPr>
            <p:cNvPr id="160" name="직선 연결선 1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1" name="직선 연결선 1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2283988"/>
            <a:ext cx="859319" cy="188244"/>
            <a:chOff x="5613534" y="2854836"/>
            <a:chExt cx="804671" cy="188244"/>
          </a:xfrm>
        </p:grpSpPr>
        <p:sp>
          <p:nvSpPr>
            <p:cNvPr id="181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2025-10-15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82" name="그림 181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78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2303935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1464781" y="2514657"/>
            <a:ext cx="1845146" cy="188135"/>
            <a:chOff x="1430277" y="4057651"/>
            <a:chExt cx="1845146" cy="188135"/>
          </a:xfrm>
        </p:grpSpPr>
        <p:sp>
          <p:nvSpPr>
            <p:cNvPr id="189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91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2283988"/>
            <a:ext cx="859319" cy="188244"/>
            <a:chOff x="5613534" y="2854836"/>
            <a:chExt cx="804671" cy="188244"/>
          </a:xfrm>
        </p:grpSpPr>
        <p:sp>
          <p:nvSpPr>
            <p:cNvPr id="196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2026-01-16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97" name="그림 196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grpSp>
        <p:nvGrpSpPr>
          <p:cNvPr id="221" name="그룹 22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2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92" name="타원 2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9117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3320" y="2942895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검색어</a:t>
            </a:r>
            <a:r>
              <a:rPr lang="ko-KR" altLang="en-US" sz="700" b="1" dirty="0" smtClean="0">
                <a:latin typeface="+mn-ea"/>
              </a:rPr>
              <a:t> </a:t>
            </a:r>
            <a:r>
              <a:rPr lang="en-US" altLang="ko-KR" sz="700" b="1" dirty="0" smtClean="0">
                <a:latin typeface="+mn-ea"/>
              </a:rPr>
              <a:t>(</a:t>
            </a:r>
            <a:r>
              <a:rPr lang="ko-KR" altLang="en-US" sz="700" b="1" dirty="0" smtClean="0">
                <a:latin typeface="+mn-ea"/>
              </a:rPr>
              <a:t>일부 입력 가능</a:t>
            </a:r>
            <a:r>
              <a:rPr lang="en-US" altLang="ko-KR" sz="700" b="1" dirty="0" smtClean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01" name="그룹 200"/>
          <p:cNvGrpSpPr/>
          <p:nvPr/>
        </p:nvGrpSpPr>
        <p:grpSpPr>
          <a:xfrm flipV="1">
            <a:off x="3155754" y="3040585"/>
            <a:ext cx="91438" cy="45719"/>
            <a:chOff x="6812560" y="3297172"/>
            <a:chExt cx="94010" cy="47005"/>
          </a:xfrm>
        </p:grpSpPr>
        <p:cxnSp>
          <p:nvCxnSpPr>
            <p:cNvPr id="202" name="직선 연결선 2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3" name="직선 연결선 20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4" name="모서리가 둥근 직사각형 203"/>
          <p:cNvSpPr/>
          <p:nvPr/>
        </p:nvSpPr>
        <p:spPr>
          <a:xfrm>
            <a:off x="1464089" y="3223386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번호를 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3320" y="3179886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66" name="모서리가 둥근 직사각형 265"/>
          <p:cNvSpPr/>
          <p:nvPr/>
        </p:nvSpPr>
        <p:spPr>
          <a:xfrm>
            <a:off x="1464089" y="3449936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번호를 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08364" y="22039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2-1</a:t>
            </a:r>
            <a:endParaRPr lang="ko-KR" altLang="en-US" sz="500" b="1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219722" y="22039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2-2</a:t>
            </a:r>
            <a:endParaRPr lang="ko-KR" altLang="en-US" sz="500" b="1" dirty="0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361392" y="151997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64" name="타원 1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70821" y="15232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08364" y="24710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2-3</a:t>
            </a:r>
            <a:endParaRPr lang="ko-KR" altLang="en-US" sz="500" b="1" dirty="0"/>
          </a:p>
        </p:txBody>
      </p:sp>
      <p:grpSp>
        <p:nvGrpSpPr>
          <p:cNvPr id="167" name="그룹 16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68" name="직사각형 16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2026-08-03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171" name="직사각형 17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화면 추가</a:t>
              </a:r>
              <a:endParaRPr lang="ko-KR" altLang="en-US" sz="700" dirty="0"/>
            </a:p>
          </p:txBody>
        </p:sp>
      </p:grpSp>
      <p:grpSp>
        <p:nvGrpSpPr>
          <p:cNvPr id="186" name="그룹 185"/>
          <p:cNvGrpSpPr/>
          <p:nvPr/>
        </p:nvGrpSpPr>
        <p:grpSpPr>
          <a:xfrm rot="16200000">
            <a:off x="3155759" y="3516013"/>
            <a:ext cx="91438" cy="45719"/>
            <a:chOff x="6812560" y="3297172"/>
            <a:chExt cx="94010" cy="47005"/>
          </a:xfrm>
        </p:grpSpPr>
        <p:cxnSp>
          <p:nvCxnSpPr>
            <p:cNvPr id="187" name="직선 연결선 18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8" name="직선 연결선 18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3787" y="29571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2143" y="5751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061184355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107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243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목록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2228436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15998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1981423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7596576"/>
              </p:ext>
            </p:extLst>
          </p:nvPr>
        </p:nvGraphicFramePr>
        <p:xfrm>
          <a:off x="452999" y="2512190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순번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수표발행일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checkPblcnYmd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수표발행일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078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증빙번호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evdncNo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증빙번호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26995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306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85746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업무구분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taskSeNm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업무구분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4409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expndAmt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17092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lqdmgAmt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24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국고환수액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nttrRdmAmt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국고환수액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44183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4998941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2CB1FAC-ACC0-43B0-6E8A-5AC9A3766BF3}"/>
              </a:ext>
            </a:extLst>
          </p:cNvPr>
          <p:cNvSpPr txBox="1"/>
          <p:nvPr/>
        </p:nvSpPr>
        <p:spPr>
          <a:xfrm>
            <a:off x="458117" y="486390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598257E-A6F5-1774-F771-ED30A4F1E1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9136180"/>
              </p:ext>
            </p:extLst>
          </p:nvPr>
        </p:nvGraphicFramePr>
        <p:xfrm>
          <a:off x="453000" y="5142033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지불일자를 현재일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M,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카드 클릭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scwin.btn_ctrtNo_onclick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조회조건의 계약번호를 클릭하여 조달업체의 계약번호 선택 팝업화면에서 조회하려는 계약번호를 선택한다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7076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 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 조회조건에 해당하는 결과 그리드에 출력한다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7341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6CF5554-9905-721E-D18C-6470C57A0D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33433142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8450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데이터 </a:t>
            </a:r>
            <a:r>
              <a:rPr lang="ko-KR" altLang="en-US" dirty="0" smtClean="0"/>
              <a:t>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대금지불정보조회 </a:t>
            </a:r>
            <a:r>
              <a:rPr lang="ko-KR" altLang="en-US" dirty="0" smtClean="0">
                <a:latin typeface="+mn-ea"/>
              </a:rPr>
              <a:t>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대금지불정보조회 </a:t>
            </a:r>
            <a:r>
              <a:rPr lang="ko-KR" altLang="en-US" dirty="0" smtClean="0">
                <a:latin typeface="+mn-ea"/>
              </a:rPr>
              <a:t>팝업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/>
              <a:t>대금지불정보목록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대금지불정보조회 </a:t>
            </a:r>
            <a:r>
              <a:rPr lang="ko-KR" altLang="en-US" dirty="0" smtClean="0">
                <a:latin typeface="+mn-ea"/>
              </a:rPr>
              <a:t>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MUI-CT-01-P16</a:t>
            </a:r>
            <a:endParaRPr lang="ko-KR" altLang="en-US" dirty="0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76601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62614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65540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678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대금지불정보조회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6601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63444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2540582"/>
            <a:ext cx="2630093" cy="1554746"/>
            <a:chOff x="3865118" y="2694619"/>
            <a:chExt cx="2630093" cy="1554746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대금지불정보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13031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지출일자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지출관증빙번호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지출금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반납구분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00000000-0000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05047"/>
            <a:ext cx="2446613" cy="241506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84" name="그룹 83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622625"/>
            <a:ext cx="76863" cy="292489"/>
            <a:chOff x="3750067" y="4683795"/>
            <a:chExt cx="76863" cy="292489"/>
          </a:xfrm>
        </p:grpSpPr>
        <p:sp>
          <p:nvSpPr>
            <p:cNvPr id="90" name="타원 8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1" name="타원 9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41" name="직사각형 40"/>
          <p:cNvSpPr/>
          <p:nvPr/>
        </p:nvSpPr>
        <p:spPr>
          <a:xfrm>
            <a:off x="7070726" y="5960766"/>
            <a:ext cx="2371724" cy="23954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 smtClean="0"/>
              <a:t>PC </a:t>
            </a:r>
            <a:r>
              <a:rPr lang="ko-KR" altLang="en-US" sz="500" dirty="0" smtClean="0"/>
              <a:t>내역 확인 후</a:t>
            </a:r>
            <a:endParaRPr lang="en-US" altLang="ko-KR" sz="500" dirty="0" smtClean="0"/>
          </a:p>
          <a:p>
            <a:pPr algn="ctr"/>
            <a:r>
              <a:rPr lang="ko-KR" altLang="en-US" sz="500" dirty="0" smtClean="0"/>
              <a:t>흐름 수정 필요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3417583522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243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조회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1942686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8272976"/>
              </p:ext>
            </p:extLst>
          </p:nvPr>
        </p:nvGraphicFramePr>
        <p:xfrm>
          <a:off x="452999" y="1014316"/>
          <a:ext cx="8994883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지불일자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1981423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22644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expndYmd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078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지출관증빙번호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dsbofrEvdncNo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지출관증빙번호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26995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expndAmt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306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85746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반납구분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rtnSe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반납구분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440941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2CB1FAC-ACC0-43B0-6E8A-5AC9A3766BF3}"/>
              </a:ext>
            </a:extLst>
          </p:cNvPr>
          <p:cNvSpPr txBox="1"/>
          <p:nvPr/>
        </p:nvSpPr>
        <p:spPr>
          <a:xfrm>
            <a:off x="458117" y="37018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598257E-A6F5-1774-F771-ED30A4F1E1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9955480"/>
              </p:ext>
            </p:extLst>
          </p:nvPr>
        </p:nvGraphicFramePr>
        <p:xfrm>
          <a:off x="453000" y="3979983"/>
          <a:ext cx="8995591" cy="6412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지불일자를 현재일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M,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scwin.btn_srch_onclick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 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 조회조건에 해당하는 결과 그리드에 출력한다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7341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77BF3023-3077-A2F1-DB82-250E7F59A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32040316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해지</a:t>
            </a:r>
            <a:r>
              <a:rPr lang="en-US" altLang="ko-KR" dirty="0" smtClean="0"/>
              <a:t>/</a:t>
            </a:r>
            <a:r>
              <a:rPr lang="ko-KR" altLang="en-US" dirty="0" err="1" smtClean="0"/>
              <a:t>해제목록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해지</a:t>
            </a:r>
            <a:r>
              <a:rPr lang="en-US" altLang="ko-KR" dirty="0" smtClean="0"/>
              <a:t>/</a:t>
            </a:r>
            <a:r>
              <a:rPr lang="ko-KR" altLang="en-US" dirty="0" err="1" smtClean="0"/>
              <a:t>해제목록</a:t>
            </a:r>
            <a:r>
              <a:rPr lang="ko-KR" altLang="en-US" dirty="0" smtClean="0"/>
              <a:t>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계약해지해제목록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해지해제</a:t>
            </a:r>
            <a:r>
              <a:rPr lang="ko-KR" altLang="en-US" sz="800" dirty="0" smtClean="0">
                <a:latin typeface="+mn-ea"/>
              </a:rPr>
              <a:t> 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41494"/>
            <a:ext cx="2446613" cy="279492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81461" y="3376970"/>
            <a:ext cx="2473257" cy="1098561"/>
            <a:chOff x="781461" y="3087955"/>
            <a:chExt cx="2473257" cy="1098561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3272286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 smtClean="0"/>
                <a:t>공사번호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99001 / </a:t>
              </a:r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2025000000 - 01</a:t>
              </a:r>
            </a:p>
            <a:p>
              <a:r>
                <a:rPr lang="ko-KR" altLang="en-US" sz="900" b="1" dirty="0" smtClean="0">
                  <a:solidFill>
                    <a:srgbClr val="0070C0"/>
                  </a:solidFill>
                </a:rPr>
                <a:t>물품</a:t>
              </a:r>
              <a:r>
                <a:rPr lang="ko-KR" altLang="en-US" sz="900" b="1" dirty="0" smtClean="0"/>
                <a:t>구매</a:t>
              </a:r>
              <a:endParaRPr lang="ko-KR" altLang="en-US" sz="900" b="1" dirty="0"/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632518"/>
              <a:ext cx="461665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계약일자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해지해제일자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발주기관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계약금액</a:t>
              </a: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617129"/>
              <a:ext cx="47288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2026-02-10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2026-04-21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제</a:t>
              </a:r>
              <a:r>
                <a:rPr lang="en-US" altLang="ko-KR" sz="600" dirty="0" smtClean="0">
                  <a:latin typeface="+mn-ea"/>
                </a:rPr>
                <a:t>8385</a:t>
              </a:r>
              <a:r>
                <a:rPr lang="ko-KR" altLang="en-US" sz="600" dirty="0" smtClean="0">
                  <a:latin typeface="+mn-ea"/>
                </a:rPr>
                <a:t>부대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11,616,000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1070492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해지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1364686" y="3087955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해지확정</a:t>
              </a:r>
              <a:endParaRPr lang="ko-KR" altLang="en-US" sz="600" dirty="0"/>
            </a:p>
          </p:txBody>
        </p:sp>
        <p:sp>
          <p:nvSpPr>
            <p:cNvPr id="209" name="모서리가 둥근 직사각형 208"/>
            <p:cNvSpPr/>
            <p:nvPr/>
          </p:nvSpPr>
          <p:spPr>
            <a:xfrm>
              <a:off x="781461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물품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15218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57491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001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43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980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9021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210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 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3143548" y="2992033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48" name="그룹 147"/>
          <p:cNvGrpSpPr/>
          <p:nvPr/>
        </p:nvGrpSpPr>
        <p:grpSpPr>
          <a:xfrm>
            <a:off x="3004764" y="3105654"/>
            <a:ext cx="776938" cy="1131139"/>
            <a:chOff x="3004764" y="2490533"/>
            <a:chExt cx="776938" cy="1131139"/>
          </a:xfrm>
        </p:grpSpPr>
        <p:sp>
          <p:nvSpPr>
            <p:cNvPr id="176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004764" y="2833887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2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004764" y="2490533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84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063151" y="2833887"/>
              <a:ext cx="641770" cy="6740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kern="0" dirty="0" smtClean="0">
                  <a:solidFill>
                    <a:prstClr val="black"/>
                  </a:solidFill>
                </a:rPr>
                <a:t>30</a:t>
              </a:r>
              <a:r>
                <a:rPr lang="ko-KR" altLang="en-US" sz="700" kern="0" dirty="0">
                  <a:solidFill>
                    <a:prstClr val="black"/>
                  </a:solidFill>
                </a:rPr>
                <a:t> </a:t>
              </a:r>
              <a:r>
                <a:rPr lang="ko-KR" altLang="en-US" sz="700" kern="0" dirty="0" smtClean="0">
                  <a:solidFill>
                    <a:prstClr val="black"/>
                  </a:solidFill>
                </a:rPr>
                <a:t>개</a:t>
              </a:r>
              <a:endParaRPr lang="en-US" altLang="ko-KR" sz="700" kern="0" dirty="0" smtClean="0">
                <a:solidFill>
                  <a:prstClr val="black"/>
                </a:solidFill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50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3584851" y="2638708"/>
              <a:ext cx="94010" cy="47005"/>
              <a:chOff x="6615710" y="3297172"/>
              <a:chExt cx="94010" cy="47005"/>
            </a:xfrm>
          </p:grpSpPr>
          <p:cxnSp>
            <p:nvCxnSpPr>
              <p:cNvPr id="186" name="직선 연결선 185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7" name="직선 연결선 186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94264"/>
            <a:ext cx="14904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89" name="그룹 188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1" name="타원 190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200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계약명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20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latin typeface="맑은 고딕"/>
                    <a:ea typeface="맑은 고딕" panose="020B0503020000020004" pitchFamily="50" charset="-127"/>
                  </a:rPr>
                  <a:t>계약번호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94" name="타원 193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 smtClean="0"/>
                <a:t>V</a:t>
              </a:r>
              <a:endParaRPr lang="ko-KR" altLang="en-US" sz="600" dirty="0"/>
            </a:p>
          </p:txBody>
        </p:sp>
        <p:sp>
          <p:nvSpPr>
            <p:cNvPr id="19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96" name="타원 195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97" name="그룹 196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98" name="직선 연결선 19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2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10328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상단 </a:t>
            </a:r>
            <a:r>
              <a:rPr lang="ko-KR" altLang="en-US" sz="800" dirty="0" err="1" smtClean="0"/>
              <a:t>업무도움은</a:t>
            </a:r>
            <a:r>
              <a:rPr lang="ko-KR" altLang="en-US" sz="800" dirty="0" smtClean="0"/>
              <a:t> 기본 값으로 접힘 상태로 정보 제공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사용자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> &gt; </a:t>
            </a:r>
            <a:r>
              <a:rPr lang="ko-KR" altLang="en-US" sz="800" dirty="0" smtClean="0"/>
              <a:t>내역이 있는 경우 표시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내역이 없으면 항목을 표시하지 않음</a:t>
            </a:r>
            <a:r>
              <a:rPr lang="en-US" altLang="ko-KR" sz="800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검색필터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2-1] </a:t>
            </a:r>
            <a:r>
              <a:rPr lang="ko-KR" altLang="en-US" sz="800" dirty="0" smtClean="0"/>
              <a:t>통합참조정보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예약번호중</a:t>
            </a:r>
            <a:r>
              <a:rPr lang="ko-KR" altLang="en-US" sz="800" dirty="0" smtClean="0"/>
              <a:t> 선택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2-2] </a:t>
            </a:r>
            <a:r>
              <a:rPr lang="ko-KR" altLang="en-US" sz="800" dirty="0" err="1" smtClean="0"/>
              <a:t>검색어</a:t>
            </a:r>
            <a:r>
              <a:rPr lang="ko-KR" altLang="en-US" sz="800" dirty="0" smtClean="0"/>
              <a:t> 입력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>
                <a:latin typeface="+mn-ea"/>
              </a:rPr>
              <a:t>검색 필터 호출</a:t>
            </a:r>
            <a:r>
              <a:rPr lang="en-US" altLang="ko-KR" sz="800" dirty="0" smtClean="0">
                <a:latin typeface="+mn-ea"/>
              </a:rPr>
              <a:t/>
            </a:r>
            <a:br>
              <a:rPr lang="en-US" altLang="ko-KR" sz="800" dirty="0" smtClean="0">
                <a:latin typeface="+mn-ea"/>
              </a:rPr>
            </a:br>
            <a:r>
              <a:rPr lang="ko-KR" altLang="en-US" sz="800" dirty="0" smtClean="0">
                <a:latin typeface="+mn-ea"/>
              </a:rPr>
              <a:t> </a:t>
            </a:r>
            <a:r>
              <a:rPr lang="en-US" altLang="ko-KR" sz="800" dirty="0" smtClean="0">
                <a:latin typeface="+mn-ea"/>
              </a:rPr>
              <a:t>– </a:t>
            </a:r>
            <a:r>
              <a:rPr lang="ko-KR" altLang="en-US" sz="800" dirty="0" smtClean="0">
                <a:latin typeface="+mn-ea"/>
              </a:rPr>
              <a:t>계약 페이지 참고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표시 개수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총 개수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4-1] </a:t>
            </a:r>
            <a:r>
              <a:rPr lang="ko-KR" altLang="en-US" sz="800" dirty="0" smtClean="0"/>
              <a:t>표시 개수 </a:t>
            </a:r>
            <a:r>
              <a:rPr lang="en-US" altLang="ko-KR" sz="800" dirty="0" smtClean="0"/>
              <a:t>(</a:t>
            </a:r>
            <a:r>
              <a:rPr lang="ko-KR" altLang="en-US" sz="800" dirty="0" smtClean="0"/>
              <a:t>선택한 건수 만큼 보여주고 </a:t>
            </a:r>
            <a:r>
              <a:rPr lang="ko-KR" altLang="en-US" sz="800" dirty="0" err="1" smtClean="0"/>
              <a:t>더보기시</a:t>
            </a:r>
            <a:r>
              <a:rPr lang="ko-KR" altLang="en-US" sz="800" dirty="0" smtClean="0"/>
              <a:t> 추가로 불러옴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목록 카드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레이블이 화면을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5-1] </a:t>
            </a:r>
            <a:r>
              <a:rPr lang="ko-KR" altLang="en-US" sz="800" dirty="0" err="1" smtClean="0"/>
              <a:t>표시레이블</a:t>
            </a:r>
            <a:r>
              <a:rPr lang="ko-KR" altLang="en-US" sz="800" dirty="0" smtClean="0"/>
              <a:t> 영역 항목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>
                <a:solidFill>
                  <a:srgbClr val="FF0000"/>
                </a:solidFill>
              </a:rPr>
              <a:t>- </a:t>
            </a:r>
            <a:r>
              <a:rPr lang="ko-KR" altLang="en-US" sz="800" dirty="0" err="1" smtClean="0">
                <a:solidFill>
                  <a:srgbClr val="FF0000"/>
                </a:solidFill>
              </a:rPr>
              <a:t>업무구분</a:t>
            </a:r>
            <a:r>
              <a:rPr lang="ko-KR" altLang="en-US" sz="800" dirty="0" smtClean="0">
                <a:solidFill>
                  <a:srgbClr val="FF0000"/>
                </a:solidFill>
              </a:rPr>
              <a:t> 항목은 </a:t>
            </a:r>
            <a:r>
              <a:rPr lang="ko-KR" altLang="en-US" sz="800" dirty="0" err="1" smtClean="0">
                <a:solidFill>
                  <a:srgbClr val="FF0000"/>
                </a:solidFill>
              </a:rPr>
              <a:t>검색필터에</a:t>
            </a:r>
            <a:r>
              <a:rPr lang="ko-KR" altLang="en-US" sz="800" dirty="0" smtClean="0">
                <a:solidFill>
                  <a:srgbClr val="FF0000"/>
                </a:solidFill>
              </a:rPr>
              <a:t> 존재하며</a:t>
            </a:r>
            <a:r>
              <a:rPr lang="en-US" altLang="ko-KR" sz="800" dirty="0" smtClean="0">
                <a:solidFill>
                  <a:srgbClr val="FF0000"/>
                </a:solidFill>
              </a:rPr>
              <a:t>, </a:t>
            </a:r>
            <a:r>
              <a:rPr lang="ko-KR" altLang="en-US" sz="800" dirty="0" smtClean="0">
                <a:solidFill>
                  <a:srgbClr val="FF0000"/>
                </a:solidFill>
              </a:rPr>
              <a:t>카드 내역에는 없어</a:t>
            </a:r>
            <a:r>
              <a:rPr lang="en-US" altLang="ko-KR" sz="800" dirty="0" smtClean="0">
                <a:solidFill>
                  <a:srgbClr val="FF0000"/>
                </a:solidFill>
              </a:rPr>
              <a:t>, </a:t>
            </a:r>
            <a:r>
              <a:rPr lang="ko-KR" altLang="en-US" sz="800" dirty="0" smtClean="0">
                <a:solidFill>
                  <a:srgbClr val="FF0000"/>
                </a:solidFill>
              </a:rPr>
              <a:t>개발 시 추가 노출에 대한 고려가 필요함</a:t>
            </a:r>
            <a:r>
              <a:rPr lang="en-US" altLang="ko-KR" sz="800" dirty="0" smtClean="0">
                <a:solidFill>
                  <a:srgbClr val="FF0000"/>
                </a:solidFill>
              </a:rPr>
              <a:t>.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문서 정보 영역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6-1]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증빙번호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6-2]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증빙번호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계약번호</a:t>
            </a:r>
            <a:r>
              <a:rPr lang="en-US" altLang="ko-KR" sz="800" dirty="0" smtClean="0"/>
              <a:t>: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계약번호</a:t>
            </a:r>
            <a:r>
              <a:rPr lang="en-US" altLang="ko-KR" sz="800" dirty="0" smtClean="0"/>
              <a:t>+</a:t>
            </a:r>
            <a:r>
              <a:rPr lang="ko-KR" altLang="en-US" sz="800" dirty="0" smtClean="0"/>
              <a:t>계약번호차수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6-3]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더보기</a:t>
            </a:r>
            <a:r>
              <a:rPr lang="ko-KR" altLang="en-US" sz="800" dirty="0" smtClean="0"/>
              <a:t> 기능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-4 </a:t>
            </a:r>
            <a:r>
              <a:rPr lang="ko-KR" altLang="en-US" sz="800" dirty="0" err="1" smtClean="0"/>
              <a:t>번항목</a:t>
            </a:r>
            <a:r>
              <a:rPr lang="ko-KR" altLang="en-US" sz="800" dirty="0" smtClean="0"/>
              <a:t> 표시 개수 영역에서 선택한 개수로 증가</a:t>
            </a:r>
            <a:r>
              <a:rPr lang="en-US" altLang="ko-KR" sz="800" dirty="0" smtClean="0"/>
              <a:t>.</a:t>
            </a:r>
            <a:br>
              <a:rPr lang="en-US" altLang="ko-KR" sz="800" dirty="0" smtClean="0"/>
            </a:br>
            <a:r>
              <a:rPr lang="ko-KR" altLang="en-US" sz="800" dirty="0" smtClean="0"/>
              <a:t>예</a:t>
            </a:r>
            <a:r>
              <a:rPr lang="en-US" altLang="ko-KR" sz="800" dirty="0" smtClean="0"/>
              <a:t>) 10</a:t>
            </a:r>
            <a:r>
              <a:rPr lang="ko-KR" altLang="en-US" sz="800" dirty="0" smtClean="0"/>
              <a:t>개 노출 이후 </a:t>
            </a:r>
            <a:r>
              <a:rPr lang="ko-KR" altLang="en-US" sz="800" dirty="0" err="1" smtClean="0"/>
              <a:t>더보기</a:t>
            </a:r>
            <a:r>
              <a:rPr lang="ko-KR" altLang="en-US" sz="800" dirty="0" smtClean="0"/>
              <a:t> 버튼 클릭으로 </a:t>
            </a:r>
            <a:r>
              <a:rPr lang="en-US" altLang="ko-KR" sz="800" dirty="0" smtClean="0"/>
              <a:t>10</a:t>
            </a:r>
            <a:r>
              <a:rPr lang="ko-KR" altLang="en-US" sz="800" dirty="0" smtClean="0"/>
              <a:t>개씩 추가 로드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19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58615" y="32267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2055" y="22338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63636" y="22338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2-1</a:t>
            </a:r>
            <a:endParaRPr lang="ko-KR" altLang="en-US" sz="600" b="1" dirty="0"/>
          </a:p>
        </p:txBody>
      </p:sp>
      <p:sp>
        <p:nvSpPr>
          <p:cNvPr id="156" name="타원 1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684573" y="22247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5396" y="25044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2-2</a:t>
            </a:r>
            <a:endParaRPr lang="ko-KR" altLang="en-US" sz="600" b="1" dirty="0"/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222365" y="28912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4-1</a:t>
            </a:r>
            <a:endParaRPr lang="ko-KR" altLang="en-US" sz="600" b="1" dirty="0"/>
          </a:p>
        </p:txBody>
      </p:sp>
      <p:sp>
        <p:nvSpPr>
          <p:cNvPr id="177" name="타원 1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05536" y="34994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78" name="타원 1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24224" y="35116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6-1</a:t>
            </a:r>
            <a:endParaRPr lang="ko-KR" altLang="en-US" sz="600" b="1" dirty="0"/>
          </a:p>
        </p:txBody>
      </p:sp>
      <p:sp>
        <p:nvSpPr>
          <p:cNvPr id="179" name="타원 17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887229" y="35161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6-2</a:t>
            </a:r>
            <a:endParaRPr lang="ko-KR" altLang="en-US" sz="600" b="1" dirty="0"/>
          </a:p>
        </p:txBody>
      </p:sp>
      <p:sp>
        <p:nvSpPr>
          <p:cNvPr id="202" name="타원 2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8517" y="37095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6-3</a:t>
            </a:r>
            <a:endParaRPr lang="ko-KR" altLang="en-US" sz="600" b="1" dirty="0"/>
          </a:p>
        </p:txBody>
      </p:sp>
      <p:sp>
        <p:nvSpPr>
          <p:cNvPr id="205" name="직사각형 204"/>
          <p:cNvSpPr/>
          <p:nvPr/>
        </p:nvSpPr>
        <p:spPr>
          <a:xfrm>
            <a:off x="7045060" y="6376802"/>
            <a:ext cx="2358510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</a:t>
            </a:r>
            <a:r>
              <a:rPr lang="ko-KR" altLang="en-US" sz="500" dirty="0" err="1" smtClean="0"/>
              <a:t>표시레이블</a:t>
            </a:r>
            <a:r>
              <a:rPr lang="ko-KR" altLang="en-US" sz="500" dirty="0" smtClean="0"/>
              <a:t> 항목 확인 필요 </a:t>
            </a:r>
            <a:r>
              <a:rPr lang="en-US" altLang="ko-KR" sz="500" dirty="0" smtClean="0"/>
              <a:t>,</a:t>
            </a:r>
            <a:br>
              <a:rPr lang="en-US" altLang="ko-KR" sz="500" dirty="0" smtClean="0"/>
            </a:br>
            <a:r>
              <a:rPr lang="en-US" altLang="ko-KR" sz="500" dirty="0" smtClean="0"/>
              <a:t> </a:t>
            </a:r>
            <a:r>
              <a:rPr lang="ko-KR" altLang="en-US" sz="500" dirty="0" err="1" smtClean="0"/>
              <a:t>진행일자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해지해제사유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계약담당</a:t>
            </a:r>
            <a:r>
              <a:rPr lang="ko-KR" altLang="en-US" sz="500" dirty="0" smtClean="0"/>
              <a:t> 누락</a:t>
            </a:r>
            <a:r>
              <a:rPr lang="en-US" altLang="ko-KR" sz="500" dirty="0" smtClean="0"/>
              <a:t> 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10036" y="134936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표시 레이블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42020" y="12706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5-1</a:t>
            </a:r>
            <a:endParaRPr lang="ko-KR" altLang="en-US" sz="600" b="1" dirty="0"/>
          </a:p>
        </p:txBody>
      </p:sp>
      <p:graphicFrame>
        <p:nvGraphicFramePr>
          <p:cNvPr id="160" name="표 15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802614"/>
              </p:ext>
            </p:extLst>
          </p:nvPr>
        </p:nvGraphicFramePr>
        <p:xfrm>
          <a:off x="3801286" y="1616448"/>
          <a:ext cx="3069778" cy="1483360"/>
        </p:xfrm>
        <a:graphic>
          <a:graphicData uri="http://schemas.openxmlformats.org/drawingml/2006/table">
            <a:tbl>
              <a:tblPr firstRow="1" bandRow="1">
                <a:tableStyleId>{7E9639D4-E3E2-4D34-9284-5A2195B3D0D7}</a:tableStyleId>
              </a:tblPr>
              <a:tblGrid>
                <a:gridCol w="1534889">
                  <a:extLst>
                    <a:ext uri="{9D8B030D-6E8A-4147-A177-3AD203B41FA5}">
                      <a16:colId xmlns:a16="http://schemas.microsoft.com/office/drawing/2014/main" val="3115782702"/>
                    </a:ext>
                  </a:extLst>
                </a:gridCol>
                <a:gridCol w="1534889">
                  <a:extLst>
                    <a:ext uri="{9D8B030D-6E8A-4147-A177-3AD203B41FA5}">
                      <a16:colId xmlns:a16="http://schemas.microsoft.com/office/drawing/2014/main" val="39358220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항목명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표시 값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97094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latin typeface="+mn-ea"/>
                        </a:rPr>
                        <a:t>업무구분</a:t>
                      </a:r>
                      <a:r>
                        <a:rPr lang="ko-KR" altLang="en-US" sz="700" dirty="0" smtClean="0"/>
                        <a:t> 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en-US" altLang="ko-KR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taskSecd</a:t>
                      </a:r>
                      <a:r>
                        <a:rPr lang="en-US" altLang="ko-KR" sz="700" dirty="0" smtClean="0"/>
                        <a:t>)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물품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용역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공사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국외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6046842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+mn-ea"/>
                        </a:rPr>
                        <a:t>구분</a:t>
                      </a:r>
                      <a:r>
                        <a:rPr lang="ko-KR" altLang="en-US" sz="700" dirty="0" smtClean="0"/>
                        <a:t> 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en-US" altLang="ko-KR" sz="7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cncltnRmvSecd</a:t>
                      </a:r>
                      <a:r>
                        <a:rPr lang="en-US" altLang="ko-KR" sz="700" dirty="0" smtClean="0"/>
                        <a:t>)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해제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4225505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진행상태 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7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cncltnRmvSecd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700" dirty="0" err="1" smtClean="0">
                          <a:latin typeface="+mn-ea"/>
                          <a:ea typeface="+mn-ea"/>
                        </a:rPr>
                        <a:t>해지확정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700" dirty="0" err="1" smtClean="0">
                          <a:latin typeface="+mn-ea"/>
                          <a:ea typeface="+mn-ea"/>
                        </a:rPr>
                        <a:t>해제확정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86675074"/>
                  </a:ext>
                </a:extLst>
              </a:tr>
            </a:tbl>
          </a:graphicData>
        </a:graphic>
      </p:graphicFrame>
      <p:grpSp>
        <p:nvGrpSpPr>
          <p:cNvPr id="206" name="그룹 20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207" name="직사각형 20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2026-08-03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수정</a:t>
              </a:r>
              <a:endParaRPr lang="ko-KR" altLang="en-US" dirty="0"/>
            </a:p>
          </p:txBody>
        </p:sp>
        <p:sp>
          <p:nvSpPr>
            <p:cNvPr id="208" name="직사각형 20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레이블</a:t>
              </a:r>
              <a:r>
                <a:rPr lang="en-US" altLang="ko-KR" sz="700" dirty="0" smtClean="0"/>
                <a:t>(</a:t>
              </a:r>
              <a:r>
                <a:rPr lang="ko-KR" altLang="en-US" sz="700" dirty="0" err="1" smtClean="0"/>
                <a:t>뱃지</a:t>
              </a:r>
              <a:r>
                <a:rPr lang="en-US" altLang="ko-KR" sz="700" dirty="0" smtClean="0"/>
                <a:t>) </a:t>
              </a:r>
              <a:r>
                <a:rPr lang="ko-KR" altLang="en-US" sz="700" dirty="0" smtClean="0"/>
                <a:t>정리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247955408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r>
              <a:rPr lang="en-US" altLang="ko-KR" dirty="0" smtClean="0"/>
              <a:t>[</a:t>
            </a:r>
            <a:r>
              <a:rPr lang="ko-KR" altLang="en-US" dirty="0" smtClean="0"/>
              <a:t>공통</a:t>
            </a:r>
            <a:r>
              <a:rPr lang="en-US" altLang="ko-KR" dirty="0" smtClean="0"/>
              <a:t>] </a:t>
            </a:r>
            <a:r>
              <a:rPr lang="ko-KR" altLang="en-US" dirty="0" smtClean="0"/>
              <a:t>각 </a:t>
            </a:r>
            <a:r>
              <a:rPr lang="ko-KR" altLang="en-US" dirty="0" err="1" smtClean="0"/>
              <a:t>섹션명</a:t>
            </a:r>
            <a:r>
              <a:rPr lang="ko-KR" altLang="en-US" dirty="0" smtClean="0"/>
              <a:t> 클릭 시 아코디언 동작</a:t>
            </a:r>
            <a:endParaRPr lang="en-US" altLang="ko-KR" dirty="0" smtClean="0"/>
          </a:p>
          <a:p>
            <a:pPr marL="0" indent="0">
              <a:buNone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검색필터</a:t>
            </a:r>
            <a:r>
              <a:rPr lang="ko-KR" altLang="en-US" dirty="0" smtClean="0"/>
              <a:t> 페이지 타이틀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초기화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닫기 버튼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업무 구분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국외 비활성화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검색 설정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직접 입력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아이콘 </a:t>
            </a:r>
            <a:r>
              <a:rPr lang="en-US" altLang="ko-KR" dirty="0" smtClean="0">
                <a:sym typeface="Wingdings" panose="05000000000000000000" pitchFamily="2" charset="2"/>
              </a:rPr>
              <a:t> </a:t>
            </a:r>
            <a:r>
              <a:rPr lang="ko-KR" altLang="en-US" dirty="0" smtClean="0">
                <a:sym typeface="Wingdings" panose="05000000000000000000" pitchFamily="2" charset="2"/>
              </a:rPr>
              <a:t>데이트 </a:t>
            </a:r>
            <a:r>
              <a:rPr lang="ko-KR" altLang="en-US" dirty="0" err="1" smtClean="0">
                <a:sym typeface="Wingdings" panose="05000000000000000000" pitchFamily="2" charset="2"/>
              </a:rPr>
              <a:t>피커</a:t>
            </a:r>
            <a:r>
              <a:rPr lang="ko-KR" altLang="en-US" dirty="0" smtClean="0">
                <a:sym typeface="Wingdings" panose="05000000000000000000" pitchFamily="2" charset="2"/>
              </a:rPr>
              <a:t> 호출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지정 설정으로 날짜 즉시 업데이트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>
                <a:sym typeface="Wingdings" panose="05000000000000000000" pitchFamily="2" charset="2"/>
              </a:rPr>
              <a:t>검색어</a:t>
            </a:r>
            <a:r>
              <a:rPr lang="ko-KR" altLang="en-US" dirty="0" smtClean="0">
                <a:sym typeface="Wingdings" panose="05000000000000000000" pitchFamily="2" charset="2"/>
              </a:rPr>
              <a:t> 영역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사용자가 입력하고자 하는 내역만 입력 후 검색 가능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ym typeface="Wingdings" panose="05000000000000000000" pitchFamily="2" charset="2"/>
              </a:rPr>
              <a:t>구분 설정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드롭 다운으로 각 </a:t>
            </a:r>
            <a:r>
              <a:rPr lang="ko-KR" altLang="en-US" dirty="0" err="1" smtClean="0">
                <a:sym typeface="Wingdings" panose="05000000000000000000" pitchFamily="2" charset="2"/>
              </a:rPr>
              <a:t>구분값</a:t>
            </a:r>
            <a:r>
              <a:rPr lang="ko-KR" altLang="en-US" dirty="0" smtClean="0">
                <a:sym typeface="Wingdings" panose="05000000000000000000" pitchFamily="2" charset="2"/>
              </a:rPr>
              <a:t> 설정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ym typeface="Wingdings" panose="05000000000000000000" pitchFamily="2" charset="2"/>
              </a:rPr>
              <a:t>검색 버튼 영역은 화면 하단 </a:t>
            </a:r>
            <a:r>
              <a:rPr lang="ko-KR" altLang="en-US" dirty="0" err="1" smtClean="0">
                <a:sym typeface="Wingdings" panose="05000000000000000000" pitchFamily="2" charset="2"/>
              </a:rPr>
              <a:t>플로팅</a:t>
            </a:r>
            <a:r>
              <a:rPr lang="ko-KR" altLang="en-US" dirty="0" smtClean="0">
                <a:sym typeface="Wingdings" panose="05000000000000000000" pitchFamily="2" charset="2"/>
              </a:rPr>
              <a:t> 처리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검색 필터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계약 해지</a:t>
            </a:r>
            <a:r>
              <a:rPr lang="en-US" altLang="ko-KR" dirty="0" smtClean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해제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상세 검색을 위한 검색 필터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계약해지해제목록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검색 필터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MUI-CT-03-P07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9708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32836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8" name="그룹 117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119" name="직선 연결선 11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7" name="타원 126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983697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업무구분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41620" y="2213855"/>
            <a:ext cx="2305144" cy="1077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용역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공사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  <a:latin typeface="+mn-ea"/>
              </a:rPr>
              <a:t>국외</a:t>
            </a:r>
            <a:endParaRPr lang="en-US" altLang="ko-KR" sz="700" dirty="0">
              <a:solidFill>
                <a:schemeClr val="bg1">
                  <a:lumMod val="65000"/>
                </a:schemeClr>
              </a:solidFill>
              <a:latin typeface="+mn-ea"/>
            </a:endParaRPr>
          </a:p>
        </p:txBody>
      </p:sp>
      <p:sp>
        <p:nvSpPr>
          <p:cNvPr id="132" name="직사각형 131"/>
          <p:cNvSpPr/>
          <p:nvPr/>
        </p:nvSpPr>
        <p:spPr>
          <a:xfrm>
            <a:off x="772169" y="228016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/>
          <p:cNvSpPr/>
          <p:nvPr/>
        </p:nvSpPr>
        <p:spPr>
          <a:xfrm>
            <a:off x="772169" y="2497393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4" name="그룹 133"/>
          <p:cNvGrpSpPr/>
          <p:nvPr/>
        </p:nvGrpSpPr>
        <p:grpSpPr>
          <a:xfrm flipV="1">
            <a:off x="3140949" y="2081387"/>
            <a:ext cx="91438" cy="45719"/>
            <a:chOff x="6812560" y="3297172"/>
            <a:chExt cx="94010" cy="47005"/>
          </a:xfrm>
        </p:grpSpPr>
        <p:cxnSp>
          <p:nvCxnSpPr>
            <p:cNvPr id="135" name="직선 연결선 13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6" name="직선 연결선 13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7" name="직사각형 136"/>
          <p:cNvSpPr/>
          <p:nvPr/>
        </p:nvSpPr>
        <p:spPr>
          <a:xfrm>
            <a:off x="772169" y="269448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/>
          <p:cNvSpPr/>
          <p:nvPr/>
        </p:nvSpPr>
        <p:spPr>
          <a:xfrm>
            <a:off x="772169" y="2909144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/>
          <p:cNvSpPr/>
          <p:nvPr/>
        </p:nvSpPr>
        <p:spPr>
          <a:xfrm>
            <a:off x="772169" y="3121110"/>
            <a:ext cx="107950" cy="10795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/>
          <p:cNvSpPr txBox="1"/>
          <p:nvPr/>
        </p:nvSpPr>
        <p:spPr>
          <a:xfrm>
            <a:off x="712771" y="2459035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 smtClean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868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5" name="타원 15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44784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478313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검색 설정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700851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해지해제</a:t>
            </a:r>
            <a:r>
              <a:rPr lang="ko-KR" altLang="en-US" sz="700" dirty="0" smtClean="0">
                <a:latin typeface="+mn-ea"/>
              </a:rPr>
              <a:t> 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59" name="그룹 158"/>
          <p:cNvGrpSpPr/>
          <p:nvPr/>
        </p:nvGrpSpPr>
        <p:grpSpPr>
          <a:xfrm flipV="1">
            <a:off x="3140949" y="3576003"/>
            <a:ext cx="91438" cy="45719"/>
            <a:chOff x="6812560" y="3297172"/>
            <a:chExt cx="94010" cy="47005"/>
          </a:xfrm>
        </p:grpSpPr>
        <p:cxnSp>
          <p:nvCxnSpPr>
            <p:cNvPr id="160" name="직선 연결선 1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1" name="직선 연결선 1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3728482"/>
            <a:ext cx="859319" cy="188244"/>
            <a:chOff x="5613534" y="2854836"/>
            <a:chExt cx="804671" cy="188244"/>
          </a:xfrm>
        </p:grpSpPr>
        <p:sp>
          <p:nvSpPr>
            <p:cNvPr id="181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2025-10-15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82" name="그림 181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78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3748429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1464781" y="3959151"/>
            <a:ext cx="1845146" cy="188135"/>
            <a:chOff x="1430277" y="4057651"/>
            <a:chExt cx="1845146" cy="188135"/>
          </a:xfrm>
        </p:grpSpPr>
        <p:sp>
          <p:nvSpPr>
            <p:cNvPr id="189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91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3728482"/>
            <a:ext cx="859319" cy="188244"/>
            <a:chOff x="5613534" y="2854836"/>
            <a:chExt cx="804671" cy="188244"/>
          </a:xfrm>
        </p:grpSpPr>
        <p:sp>
          <p:nvSpPr>
            <p:cNvPr id="196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2026-01-16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97" name="그림 196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8046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1" name="그룹 220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2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25" name="TextBox 2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3230941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구분 설정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26" name="그룹 225"/>
          <p:cNvGrpSpPr/>
          <p:nvPr/>
        </p:nvGrpSpPr>
        <p:grpSpPr>
          <a:xfrm flipV="1">
            <a:off x="6261284" y="3328631"/>
            <a:ext cx="91438" cy="45719"/>
            <a:chOff x="6812560" y="3297172"/>
            <a:chExt cx="94010" cy="47005"/>
          </a:xfrm>
        </p:grpSpPr>
        <p:cxnSp>
          <p:nvCxnSpPr>
            <p:cNvPr id="227" name="직선 연결선 22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8" name="직선 연결선 22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9" name="모서리가 둥근 직사각형 228"/>
          <p:cNvSpPr/>
          <p:nvPr/>
        </p:nvSpPr>
        <p:spPr>
          <a:xfrm>
            <a:off x="4569619" y="3511432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3459306"/>
            <a:ext cx="670770" cy="4524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10000"/>
              </a:lnSpc>
            </a:pPr>
            <a:r>
              <a:rPr lang="ko-KR" altLang="en-US" sz="700" dirty="0" smtClean="0">
                <a:latin typeface="+mn-ea"/>
              </a:rPr>
              <a:t>진행상태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10000"/>
              </a:lnSpc>
            </a:pPr>
            <a:r>
              <a:rPr lang="ko-KR" altLang="en-US" sz="700" dirty="0" err="1" smtClean="0">
                <a:latin typeface="+mn-ea"/>
              </a:rPr>
              <a:t>해지구분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31" name="모서리가 둥근 직사각형 230"/>
          <p:cNvSpPr/>
          <p:nvPr/>
        </p:nvSpPr>
        <p:spPr>
          <a:xfrm>
            <a:off x="4569619" y="3734369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grpSp>
        <p:nvGrpSpPr>
          <p:cNvPr id="244" name="그룹 243"/>
          <p:cNvGrpSpPr/>
          <p:nvPr/>
        </p:nvGrpSpPr>
        <p:grpSpPr>
          <a:xfrm>
            <a:off x="6261284" y="3812854"/>
            <a:ext cx="91438" cy="45719"/>
            <a:chOff x="6812560" y="3297172"/>
            <a:chExt cx="94010" cy="47005"/>
          </a:xfrm>
        </p:grpSpPr>
        <p:cxnSp>
          <p:nvCxnSpPr>
            <p:cNvPr id="245" name="직선 연결선 2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6" name="직선 연결선 2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47" name="그룹 246"/>
          <p:cNvGrpSpPr/>
          <p:nvPr/>
        </p:nvGrpSpPr>
        <p:grpSpPr>
          <a:xfrm>
            <a:off x="6261284" y="3582172"/>
            <a:ext cx="91438" cy="45719"/>
            <a:chOff x="6812560" y="3297172"/>
            <a:chExt cx="94010" cy="47005"/>
          </a:xfrm>
        </p:grpSpPr>
        <p:cxnSp>
          <p:nvCxnSpPr>
            <p:cNvPr id="248" name="직선 연결선 24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9" name="직선 연결선 24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67" name="직선 연결선 2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1935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92" name="타원 2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3562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622" y="1956581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검색어</a:t>
            </a:r>
            <a:r>
              <a:rPr lang="ko-KR" altLang="en-US" sz="700" b="1" dirty="0" smtClean="0">
                <a:latin typeface="+mn-ea"/>
              </a:rPr>
              <a:t> </a:t>
            </a:r>
            <a:r>
              <a:rPr lang="en-US" altLang="ko-KR" sz="700" b="1" dirty="0" smtClean="0">
                <a:latin typeface="+mn-ea"/>
              </a:rPr>
              <a:t>(</a:t>
            </a:r>
            <a:r>
              <a:rPr lang="ko-KR" altLang="en-US" sz="700" b="1" dirty="0" smtClean="0">
                <a:latin typeface="+mn-ea"/>
              </a:rPr>
              <a:t>일부 입력 가능</a:t>
            </a:r>
            <a:r>
              <a:rPr lang="en-US" altLang="ko-KR" sz="700" b="1" dirty="0" smtClean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01" name="그룹 200"/>
          <p:cNvGrpSpPr/>
          <p:nvPr/>
        </p:nvGrpSpPr>
        <p:grpSpPr>
          <a:xfrm flipV="1">
            <a:off x="6266056" y="2054271"/>
            <a:ext cx="91438" cy="45719"/>
            <a:chOff x="6812560" y="3297172"/>
            <a:chExt cx="94010" cy="47005"/>
          </a:xfrm>
        </p:grpSpPr>
        <p:cxnSp>
          <p:nvCxnSpPr>
            <p:cNvPr id="202" name="직선 연결선 2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3" name="직선 연결선 20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4" name="모서리가 둥근 직사각형 203"/>
          <p:cNvSpPr/>
          <p:nvPr/>
        </p:nvSpPr>
        <p:spPr>
          <a:xfrm>
            <a:off x="4574391" y="2237072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</a:rPr>
              <a:t>계약건명을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700" dirty="0" smtClean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622" y="2193572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계약건명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07" name="모서리가 둥근 직사각형 206"/>
          <p:cNvSpPr/>
          <p:nvPr/>
        </p:nvSpPr>
        <p:spPr>
          <a:xfrm>
            <a:off x="4574391" y="2458629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번호를 입력하세요</a:t>
            </a:r>
            <a:r>
              <a:rPr lang="en-US" altLang="ko-KR" sz="700" dirty="0" smtClean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5751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226757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4254388"/>
            <a:ext cx="859319" cy="188244"/>
            <a:chOff x="5613534" y="2854836"/>
            <a:chExt cx="804671" cy="188244"/>
          </a:xfrm>
        </p:grpSpPr>
        <p:sp>
          <p:nvSpPr>
            <p:cNvPr id="122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2025-10-15</a:t>
              </a:r>
            </a:p>
          </p:txBody>
        </p:sp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25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4274335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126" name="그룹 125"/>
          <p:cNvGrpSpPr/>
          <p:nvPr/>
        </p:nvGrpSpPr>
        <p:grpSpPr>
          <a:xfrm>
            <a:off x="1464781" y="4485057"/>
            <a:ext cx="1845146" cy="188135"/>
            <a:chOff x="1430277" y="4057651"/>
            <a:chExt cx="1845146" cy="188135"/>
          </a:xfrm>
        </p:grpSpPr>
        <p:sp>
          <p:nvSpPr>
            <p:cNvPr id="145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46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47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4254388"/>
            <a:ext cx="859319" cy="188244"/>
            <a:chOff x="5613534" y="2854836"/>
            <a:chExt cx="804671" cy="188244"/>
          </a:xfrm>
        </p:grpSpPr>
        <p:sp>
          <p:nvSpPr>
            <p:cNvPr id="149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2026-01-16</a:t>
              </a:r>
            </a:p>
          </p:txBody>
        </p:sp>
        <p:pic>
          <p:nvPicPr>
            <p:cNvPr id="150" name="그림 149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23666698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203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계약해지해제목록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2999404"/>
            <a:ext cx="235858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계약해지해제목록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34101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 여부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289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 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:UB52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9594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계약번호를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099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953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 진행상태를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4646940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28315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96610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ctrtCycl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0361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13956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0668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172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cncltnRmvSecd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673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353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진행상태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cncltnRmvSecd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진행상태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해제확정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6713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68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fcltPicNm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담당관명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596678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0A0A9A45-7FEE-1598-C314-3774454B6F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46771104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113</a:t>
            </a:fld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69027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453667"/>
              </p:ext>
            </p:extLst>
          </p:nvPr>
        </p:nvGraphicFramePr>
        <p:xfrm>
          <a:off x="453000" y="1006507"/>
          <a:ext cx="8995591" cy="13228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추가계약보증금 상세 값 설정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scwin.btn_srch_onclick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계약해지해제 정보가 조회된다</a:t>
                      </a:r>
                      <a:r>
                        <a:rPr lang="en-US" altLang="ko-KR" sz="800" dirty="0"/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62864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카드 목록 클릭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scwin.grd_ctrtNm_ctrtcncltnRmvList_onclick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계약해지해제  상세 화면이 호출된다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(UI-CT-03-M02)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물품계약해지해제상세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UI-CT-03-M03)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해지해제일반계약총액제상세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(UI-CT-03-M04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해지해제일반계약단가제상세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UI-CT-03-M05)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해지해제수정계약상세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UI-CT-03-M06)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공사계약해지해제상세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342213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3EBE10A-F4BA-BA46-8D94-0B25A8BCDD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94599693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해제일반계약상세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해지 상세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물품계약해지해제상세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</a:t>
            </a:r>
            <a:r>
              <a:rPr lang="ko-KR" altLang="en-US" dirty="0" smtClean="0">
                <a:latin typeface="+mn-ea"/>
              </a:rPr>
              <a:t>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>
                <a:latin typeface="+mn-ea"/>
              </a:rPr>
              <a:t>해지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 smtClean="0">
                <a:latin typeface="+mn-ea"/>
              </a:rPr>
              <a:t>해제 상세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판단번호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계약서유형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81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410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410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9937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계약해지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3836701" y="1880467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510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5503" y="163771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542895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3656226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87361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87361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3996614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115158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4" y="4115158"/>
            <a:ext cx="162273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홍길동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1960873" y="2278058"/>
            <a:ext cx="5547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해지해제확정</a:t>
            </a:r>
            <a:endParaRPr lang="ko-KR" altLang="en-US" sz="600" dirty="0"/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70996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72330" y="163771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7129" y="4142235"/>
            <a:ext cx="5814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 smtClean="0">
                <a:latin typeface="+mn-ea"/>
              </a:rPr>
              <a:t>해지해제</a:t>
            </a:r>
            <a:r>
              <a:rPr lang="ko-KR" altLang="en-US" sz="700" dirty="0" smtClean="0">
                <a:latin typeface="+mn-ea"/>
              </a:rPr>
              <a:t> 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8463" y="1637710"/>
            <a:ext cx="583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해지해제</a:t>
            </a:r>
            <a:r>
              <a:rPr lang="ko-KR" altLang="en-US" sz="700" dirty="0">
                <a:latin typeface="+mn-ea"/>
              </a:rPr>
              <a:t> 정보</a:t>
            </a:r>
          </a:p>
        </p:txBody>
      </p:sp>
      <p:grpSp>
        <p:nvGrpSpPr>
          <p:cNvPr id="156" name="그룹 15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73" name="그룹 172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75" name="타원 174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7" name="그룹 176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8" name="타원 177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9" name="그룹 178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1" name="직선 연결선 1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26" name="타원 2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27" name="타원 2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28" name="타원 2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29" name="타원 2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30" name="타원 22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36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계약업체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해지해제정보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화면이 넘치는 경우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</p:txBody>
      </p:sp>
      <p:sp>
        <p:nvSpPr>
          <p:cNvPr id="185" name="평행 사변형 184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7" name="TextBox 186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3858307121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계약대상자</a:t>
            </a:r>
            <a:r>
              <a:rPr lang="ko-KR" altLang="en-US" dirty="0" smtClean="0"/>
              <a:t> </a:t>
            </a:r>
            <a:r>
              <a:rPr lang="en-US" altLang="ko-KR" dirty="0" smtClean="0"/>
              <a:t>- </a:t>
            </a: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상세조회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28592"/>
            <a:ext cx="2630093" cy="3539139"/>
            <a:chOff x="701175" y="1527996"/>
            <a:chExt cx="2630093" cy="3539139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32315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32316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계약서유형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계약기간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32316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물품제조구매계약서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 </a:t>
              </a: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 ~ 2026-12-30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조달업체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경영 상황으로 인한 계약해지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3231624"/>
              <a:chOff x="701175" y="1835481"/>
              <a:chExt cx="2630093" cy="3231624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7964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20814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2288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6" name="직선 연결선 9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63762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7" name="직선 연결선 9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5236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8" name="직선 연결선 9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6710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723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1926657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5454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9753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566045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679376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89676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89676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019764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138308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4" y="4138308"/>
            <a:ext cx="162273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0189" y="45762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5974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4064504"/>
            <a:ext cx="7255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맑은 고딕" panose="020B0503020000020004" pitchFamily="50" charset="-127"/>
              </a:rPr>
              <a:t>물가변동계약금액조정방법</a:t>
            </a:r>
            <a:endParaRPr lang="en-US" altLang="ko-KR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40800" y="4118365"/>
            <a:ext cx="7255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국계령</a:t>
            </a:r>
            <a:r>
              <a:rPr lang="ko-KR" altLang="en-US" sz="700" dirty="0">
                <a:latin typeface="+mn-ea"/>
              </a:rPr>
              <a:t> 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조 </a:t>
            </a:r>
            <a:r>
              <a:rPr lang="en-US" altLang="ko-KR" sz="700" dirty="0">
                <a:latin typeface="+mn-ea"/>
              </a:rPr>
              <a:t>... 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7" name="그룹 66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8" name="타원 67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9" name="그룹 68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0" name="직선 연결선 8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직선 연결선 9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" name="타원 6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1" name="그룹 7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2" name="직선 연결선 7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직선 연결선 8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70996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47129" y="4142235"/>
              <a:ext cx="5814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해지해제</a:t>
              </a:r>
              <a:r>
                <a:rPr lang="ko-KR" altLang="en-US" sz="700" dirty="0" smtClean="0">
                  <a:latin typeface="+mn-ea"/>
                </a:rPr>
                <a:t> 정보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3844696" y="1493927"/>
            <a:ext cx="2626449" cy="354413"/>
            <a:chOff x="720490" y="4004429"/>
            <a:chExt cx="2626449" cy="354413"/>
          </a:xfrm>
        </p:grpSpPr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04" name="그룹 10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0" name="타원 10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1" name="그룹 11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6" name="직선 연결선 1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직선 연결선 12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2" name="타원 11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3" name="그룹 11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4" name="직선 연결선 11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직선 연결선 11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70996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47129" y="4142235"/>
              <a:ext cx="5814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해지해제</a:t>
              </a:r>
              <a:r>
                <a:rPr lang="ko-KR" altLang="en-US" sz="700" dirty="0" smtClean="0">
                  <a:latin typeface="+mn-ea"/>
                </a:rPr>
                <a:t> 정보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01485332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계약업체</a:t>
            </a:r>
            <a:r>
              <a:rPr lang="en-US" altLang="ko-KR" dirty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업체 정보가 반복 표시됨</a:t>
            </a:r>
            <a:r>
              <a:rPr lang="en-US" altLang="ko-KR" dirty="0" smtClean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계약업체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smtClean="0"/>
              <a:t>계약업체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4" y="1962615"/>
            <a:ext cx="2456097" cy="181140"/>
            <a:chOff x="763157" y="1527996"/>
            <a:chExt cx="2456097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2229593"/>
            <a:ext cx="2630093" cy="2163618"/>
            <a:chOff x="3865118" y="2946203"/>
            <a:chExt cx="2630093" cy="2163618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21611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2025-12-01 10:00:00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*****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18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5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2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64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98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1126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5955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011563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76080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4" name="그룹 53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29336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58" name="그룹 57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2" name="타원 6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3" name="그룹 6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0" name="직선 연결선 6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직선 연결선 7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4" name="타원 6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7" name="그룹 66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68" name="직선 연결선 6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직선 연결선 6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70996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계약업체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47129" y="4142235"/>
              <a:ext cx="5814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해지해제</a:t>
              </a:r>
              <a:r>
                <a:rPr lang="ko-KR" altLang="en-US" sz="700" dirty="0" smtClean="0">
                  <a:latin typeface="+mn-ea"/>
                </a:rPr>
                <a:t> 정보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8289197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해지해제정보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해지해제</a:t>
            </a:r>
            <a:r>
              <a:rPr lang="ko-KR" altLang="en-US" dirty="0" smtClean="0">
                <a:latin typeface="+mn-ea"/>
              </a:rPr>
              <a:t> 정보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MUI-CT-03-T03</a:t>
            </a:r>
            <a:endParaRPr lang="ko-KR" altLang="en-US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9356" y="3785661"/>
            <a:ext cx="1252172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pc="-52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해지해제</a:t>
            </a: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spc="-52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통보내용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91" name="그룹 90"/>
          <p:cNvGrpSpPr/>
          <p:nvPr/>
        </p:nvGrpSpPr>
        <p:grpSpPr>
          <a:xfrm flipV="1">
            <a:off x="3121443" y="3898992"/>
            <a:ext cx="94010" cy="47005"/>
            <a:chOff x="6812560" y="3297172"/>
            <a:chExt cx="94010" cy="47005"/>
          </a:xfrm>
        </p:grpSpPr>
        <p:cxnSp>
          <p:nvCxnSpPr>
            <p:cNvPr id="106" name="직선 연결선 10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7" name="직선 연결선 10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011" y="482571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2" name="그룹 51"/>
          <p:cNvGrpSpPr/>
          <p:nvPr/>
        </p:nvGrpSpPr>
        <p:grpSpPr>
          <a:xfrm>
            <a:off x="717978" y="4077028"/>
            <a:ext cx="2630093" cy="658520"/>
            <a:chOff x="3865118" y="2946204"/>
            <a:chExt cx="2630093" cy="658520"/>
          </a:xfrm>
        </p:grpSpPr>
        <p:sp>
          <p:nvSpPr>
            <p:cNvPr id="53" name="직사각형 52"/>
            <p:cNvSpPr/>
            <p:nvPr/>
          </p:nvSpPr>
          <p:spPr>
            <a:xfrm>
              <a:off x="3867211" y="2946204"/>
              <a:ext cx="792000" cy="6585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통보차수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통지일시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통보메일내용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/>
                <a:t>업체 경영 상황에 따른 </a:t>
              </a:r>
              <a:r>
                <a:rPr lang="ko-KR" altLang="en-US" sz="700" dirty="0" smtClean="0"/>
                <a:t>계약해지</a:t>
              </a:r>
              <a:endParaRPr lang="ko-KR" altLang="en-US" sz="700" dirty="0"/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9" name="그룹 118"/>
          <p:cNvGrpSpPr/>
          <p:nvPr/>
        </p:nvGrpSpPr>
        <p:grpSpPr>
          <a:xfrm>
            <a:off x="675399" y="2068054"/>
            <a:ext cx="2712026" cy="1602288"/>
            <a:chOff x="3795735" y="2878425"/>
            <a:chExt cx="2712026" cy="1602288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해지해제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34" name="직선 연결선 13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5" name="직선 연결선 13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2" name="모서리가 둥근 직사각형 121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25" name="타원 124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6" name="모서리가 둥근 직사각형 125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41278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첨부파일명이너무길면어떻게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노출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... 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29" name="타원 128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153" name="직사각형 152"/>
          <p:cNvSpPr/>
          <p:nvPr/>
        </p:nvSpPr>
        <p:spPr>
          <a:xfrm>
            <a:off x="2580536" y="2964212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54" name="직사각형 153"/>
          <p:cNvSpPr/>
          <p:nvPr/>
        </p:nvSpPr>
        <p:spPr>
          <a:xfrm>
            <a:off x="2576950" y="2518846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57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40045" y="148738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</a:t>
            </a:r>
            <a:r>
              <a:rPr lang="en-US" altLang="ko-KR" sz="800" dirty="0"/>
              <a:t>) 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아코디언 전체 펼침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업로드 기능 </a:t>
            </a:r>
            <a:r>
              <a:rPr lang="ko-KR" altLang="en-US" sz="800" dirty="0" err="1"/>
              <a:t>미지원</a:t>
            </a:r>
            <a:r>
              <a:rPr lang="ko-KR" altLang="en-US" sz="800" dirty="0"/>
              <a:t>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</a:t>
            </a:r>
            <a:r>
              <a:rPr lang="ko-KR" altLang="en-US" dirty="0" err="1" smtClean="0"/>
              <a:t>노출시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해지해제통보내용 표시</a:t>
            </a:r>
            <a:endParaRPr lang="en-US" altLang="ko-KR" dirty="0" smtClean="0"/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905280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202216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238234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61" name="타원 16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91148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7057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48" name="그룹 47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686230" y="4358842"/>
              <a:ext cx="64233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0" name="그룹 59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4" name="타원 63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5" name="그룹 64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0" name="직선 연결선 6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직선 연결선 7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6" name="타원 65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7" name="그룹 66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68" name="직선 연결선 6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직선 연결선 6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70996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47129" y="4142235"/>
              <a:ext cx="5814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 smtClean="0">
                  <a:latin typeface="+mn-ea"/>
                </a:rPr>
                <a:t>해지해제</a:t>
              </a:r>
              <a:r>
                <a:rPr lang="ko-KR" altLang="en-US" sz="700" b="1" dirty="0" smtClean="0">
                  <a:latin typeface="+mn-ea"/>
                </a:rPr>
                <a:t> 정보</a:t>
              </a:r>
              <a:endParaRPr lang="ko-KR" altLang="en-US" sz="700" b="1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26334506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85681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3710"/>
          <a:ext cx="8994883" cy="4194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ctrdocTpcd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99292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977392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FFB633A5-38EC-8DFF-FE6A-E78F666D5A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4F2FA94-A180-60B9-B531-94455F37C5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5880672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rlprSecd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874355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D97703E-51A6-2C31-B4F3-A0DA05ACE555}"/>
              </a:ext>
            </a:extLst>
          </p:cNvPr>
          <p:cNvSpPr txBox="1"/>
          <p:nvPr/>
        </p:nvSpPr>
        <p:spPr>
          <a:xfrm>
            <a:off x="443054" y="5637137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2307407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119</a:t>
            </a:fld>
            <a:endParaRPr lang="ko-KR" altLang="en-US" dirty="0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8B10A94D-0FF9-6706-A496-65878377BE2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57762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elsgnDt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487CA49-D82F-3598-E12F-FA116B4CA444}"/>
              </a:ext>
            </a:extLst>
          </p:cNvPr>
          <p:cNvSpPr txBox="1"/>
          <p:nvPr/>
        </p:nvSpPr>
        <p:spPr>
          <a:xfrm>
            <a:off x="443054" y="832058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3BD3B9F-ACA0-7080-186D-647955612811}"/>
              </a:ext>
            </a:extLst>
          </p:cNvPr>
          <p:cNvSpPr txBox="1"/>
          <p:nvPr/>
        </p:nvSpPr>
        <p:spPr>
          <a:xfrm>
            <a:off x="443054" y="3313923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해지해제 참조서류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D0189910-144A-3F11-D512-83E0C8F2215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576413"/>
          <a:ext cx="8994883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cncltnRmvDmndAdocNm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23F87E72-897D-717D-0FE0-275855EF65FB}"/>
              </a:ext>
            </a:extLst>
          </p:cNvPr>
          <p:cNvSpPr txBox="1"/>
          <p:nvPr/>
        </p:nvSpPr>
        <p:spPr>
          <a:xfrm>
            <a:off x="443054" y="4293360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해지해제 통보내용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76FEAEB-973D-2BE3-880D-C12942F83F3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455585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통보차수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ctrtCycl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통보차수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통지일시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ctrtPrgrsSttsDt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통지일시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통보메일내용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통보메일내용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555307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58BD5011-F17E-2051-778C-0499E2CDBE27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4277381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120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184171"/>
              </p:ext>
            </p:extLst>
          </p:nvPr>
        </p:nvGraphicFramePr>
        <p:xfrm>
          <a:off x="453000" y="1009312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 계약명세서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723269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69308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3D4F2578-2B81-1851-4754-F0ED044FDF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44770741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/>
              <a:t>해지</a:t>
            </a:r>
            <a:r>
              <a:rPr lang="en-US" altLang="ko-KR" dirty="0"/>
              <a:t>/</a:t>
            </a:r>
            <a:r>
              <a:rPr lang="ko-KR" altLang="en-US" dirty="0" err="1"/>
              <a:t>해제일반총액제계약상세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 smtClean="0"/>
              <a:t> </a:t>
            </a:r>
            <a:r>
              <a:rPr lang="ko-KR" altLang="en-US" dirty="0"/>
              <a:t>조회 </a:t>
            </a:r>
            <a:r>
              <a:rPr lang="ko-KR" altLang="en-US" dirty="0" smtClean="0"/>
              <a:t>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6" y="2278058"/>
            <a:ext cx="32838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0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038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038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95657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459092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00173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1633988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2890120"/>
            <a:ext cx="2630093" cy="1551225"/>
            <a:chOff x="3865118" y="2694619"/>
            <a:chExt cx="2630093" cy="155122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4758914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52015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55254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4665879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TextBox 2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88326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88326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3831550" y="500626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12481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124811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191684"/>
            <a:ext cx="76863" cy="292489"/>
            <a:chOff x="3750067" y="4683795"/>
            <a:chExt cx="76863" cy="292489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0" name="타원 2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64" name="그룹 163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5" name="그룹 16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9" name="그룹 16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0" name="타원 16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1" name="그룹 17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2" name="직선 연결선 1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2" name="직선 연결선 1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직사각형 199"/>
          <p:cNvSpPr/>
          <p:nvPr/>
        </p:nvSpPr>
        <p:spPr>
          <a:xfrm>
            <a:off x="7101170" y="6023316"/>
            <a:ext cx="2266118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 </a:t>
            </a:r>
            <a:r>
              <a:rPr lang="ko-KR" altLang="en-US" sz="500" dirty="0" smtClean="0"/>
              <a:t>납부방법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단위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수량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단가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삭감금액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사업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승인일자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도면번호</a:t>
            </a:r>
            <a:r>
              <a:rPr lang="ko-KR" altLang="en-US" sz="500" dirty="0" smtClean="0"/>
              <a:t> </a:t>
            </a:r>
            <a:r>
              <a:rPr lang="ko-KR" altLang="en-US" sz="500" dirty="0" err="1" smtClean="0"/>
              <a:t>총부기금액</a:t>
            </a:r>
            <a:r>
              <a:rPr lang="ko-KR" altLang="en-US" sz="500" dirty="0" smtClean="0"/>
              <a:t> 누락</a:t>
            </a:r>
            <a:r>
              <a:rPr lang="en-US" altLang="ko-KR" sz="500" dirty="0" smtClean="0"/>
              <a:t> </a:t>
            </a:r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36" name="타원 2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37" name="타원 2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38" name="타원 2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39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7004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</p:txBody>
      </p:sp>
      <p:sp>
        <p:nvSpPr>
          <p:cNvPr id="246" name="평행 사변형 245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1608459783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890456"/>
            <a:ext cx="2630093" cy="3108252"/>
            <a:chOff x="701175" y="1527996"/>
            <a:chExt cx="2630093" cy="3108252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78109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해지해제일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총액제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2026-02-30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000 000  00 00000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790930"/>
              <a:chOff x="701175" y="1835481"/>
              <a:chExt cx="2630093" cy="279093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1167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641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391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906420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52522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9550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54580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659139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87652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87652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599952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611807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6118071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1" y="1856387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3555" y="19037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5771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2" name="그룹 91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93" name="타원 92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4" name="그룹 93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9" name="직선 연결선 98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직선 연결선 99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5" name="타원 94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6" name="그룹 95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7" name="직선 연결선 9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98" name="직선 연결선 9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1" name="그룹 100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05" name="그룹 104"/>
          <p:cNvGrpSpPr/>
          <p:nvPr/>
        </p:nvGrpSpPr>
        <p:grpSpPr>
          <a:xfrm>
            <a:off x="3831550" y="1493927"/>
            <a:ext cx="2626449" cy="354413"/>
            <a:chOff x="720490" y="4004429"/>
            <a:chExt cx="2626449" cy="354413"/>
          </a:xfrm>
        </p:grpSpPr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6" name="타원 115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6" name="그룹 135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2" name="직선 연결선 1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직선 연결선 14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7" name="타원 136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8" name="그룹 137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0" name="직선 연결선 13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직선 연결선 14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2" name="그룹 111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21152011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예산구분</a:t>
            </a:r>
            <a:r>
              <a:rPr lang="ko-KR" altLang="en-US" dirty="0" smtClean="0"/>
              <a:t> 항목이 더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 err="1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902465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2169443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</a:t>
              </a:r>
              <a:r>
                <a:rPr lang="ko-KR" altLang="en-US" sz="700" dirty="0" smtClean="0">
                  <a:latin typeface="+mn-ea"/>
                </a:rPr>
                <a:t>부서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111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524021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602731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676627"/>
            <a:ext cx="2630093" cy="1975134"/>
            <a:chOff x="3865118" y="2694619"/>
            <a:chExt cx="2630093" cy="197513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장기국채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3974525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총계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949837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예산별</a:t>
              </a:r>
              <a:r>
                <a:rPr lang="ko-KR" altLang="en-US" sz="700" dirty="0" smtClean="0">
                  <a:latin typeface="+mn-ea"/>
                </a:rPr>
                <a:t> 소계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72" name="그룹 71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02998" y="4358842"/>
              <a:ext cx="475195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6" name="그룹 75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81" name="타원 8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0" name="그룹 10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6" name="직선 연결선 1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직선 연결선 11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1" name="타원 11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2" name="그룹 11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4" name="직선 연결선 11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직선 연결선 11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7" name="그룹 76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8" name="그룹 117"/>
          <p:cNvGrpSpPr/>
          <p:nvPr/>
        </p:nvGrpSpPr>
        <p:grpSpPr>
          <a:xfrm>
            <a:off x="3836701" y="1493927"/>
            <a:ext cx="2626449" cy="354413"/>
            <a:chOff x="720490" y="4004429"/>
            <a:chExt cx="2626449" cy="354413"/>
          </a:xfrm>
        </p:grpSpPr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02998" y="4358842"/>
              <a:ext cx="475195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22" name="그룹 121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27" name="타원 12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8" name="그룹 12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5" name="직선 연결선 1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6" name="직선 연결선 1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2" name="그룹 13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3" name="직선 연결선 13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직선 연결선 13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3" name="그룹 122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66862211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 err="1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1627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872909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20" name="그룹 19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756443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4" name="그룹 2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29" name="타원 2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0" name="그룹 2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5" name="직선 연결선 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직선 연결선 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1" name="타원 3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2" name="그룹 3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" name="직선 연결선 3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직선 연결선 3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그룹 24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특수조건</a:t>
                </a:r>
                <a:endParaRPr lang="ko-KR" altLang="en-US" sz="700" b="1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43821642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125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정보정보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6632083"/>
              </p:ext>
            </p:extLst>
          </p:nvPr>
        </p:nvGraphicFramePr>
        <p:xfrm>
          <a:off x="452999" y="1117060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28855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883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24308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73845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240732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0D91A7E5-937F-E221-FDB3-6C08210E6B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50689516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126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6153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699686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2086444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7204190"/>
              </p:ext>
            </p:extLst>
          </p:nvPr>
        </p:nvGraphicFramePr>
        <p:xfrm>
          <a:off x="437936" y="2348934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:RIC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21688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25771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  <a:endParaRPr lang="ko-KR" altLang="en-US" sz="800" b="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삭감금액</a:t>
                      </a:r>
                      <a:endParaRPr lang="ko-KR" altLang="en-US" sz="800" b="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aplcnEqpmntCd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:AC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99073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5125555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127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2C1362-BA0E-28E2-07BD-AAA5839A0E7D}"/>
              </a:ext>
            </a:extLst>
          </p:cNvPr>
          <p:cNvSpPr txBox="1"/>
          <p:nvPr/>
        </p:nvSpPr>
        <p:spPr>
          <a:xfrm>
            <a:off x="443054" y="884145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FFF1A7F-1851-FC68-6571-9958A71A7A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14663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52904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64569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43373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0062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plcdlvRnk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1C8DADB8-FBEF-4084-79F7-982D1B03C357}"/>
              </a:ext>
            </a:extLst>
          </p:cNvPr>
          <p:cNvSpPr txBox="1"/>
          <p:nvPr/>
        </p:nvSpPr>
        <p:spPr>
          <a:xfrm>
            <a:off x="443054" y="288927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EE22B6A-A4BB-F83B-BE8E-A1A0E458E6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15176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02C92AC0-77EE-876F-BC80-7AEE77D8CE0E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6438390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128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1914214"/>
              </p:ext>
            </p:extLst>
          </p:nvPr>
        </p:nvGraphicFramePr>
        <p:xfrm>
          <a:off x="453000" y="1026808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1057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43CCF530-0365-D3D7-6360-668B198E91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2486218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>
                <a:latin typeface="+mn-ea"/>
              </a:rPr>
              <a:t>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 err="1">
                <a:latin typeface="+mn-ea"/>
              </a:rPr>
              <a:t>해제일반단가제계약상세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 smtClean="0"/>
              <a:t>일반계약단가제해지해제상세</a:t>
            </a:r>
            <a:r>
              <a:rPr lang="ko-KR" altLang="en-US" dirty="0" smtClean="0"/>
              <a:t> </a:t>
            </a:r>
            <a:r>
              <a:rPr lang="ko-KR" altLang="en-US" dirty="0"/>
              <a:t>조회 </a:t>
            </a:r>
            <a:r>
              <a:rPr lang="ko-KR" altLang="en-US" dirty="0" smtClean="0"/>
              <a:t>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6" y="2278058"/>
            <a:ext cx="32838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61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217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217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97442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459092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00173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1635773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2891905"/>
            <a:ext cx="2630093" cy="1551225"/>
            <a:chOff x="3865118" y="2694619"/>
            <a:chExt cx="2630093" cy="155122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4760699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5219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554333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4667664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TextBox 2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885050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885050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3831550" y="5008052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126596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126596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193469"/>
            <a:ext cx="76863" cy="292489"/>
            <a:chOff x="3750067" y="4683795"/>
            <a:chExt cx="76863" cy="292489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0" name="타원 2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65" name="그룹 164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6" name="그룹 165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8" name="타원 167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0" name="그룹 169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1" name="타원 17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2" name="그룹 17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92" name="직선 연결선 1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4" name="직선 연결선 2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36" name="타원 2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37" name="타원 2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38" name="타원 2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39" name="타원 2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46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8406" y="1513670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47" name="직사각형 246"/>
          <p:cNvSpPr/>
          <p:nvPr/>
        </p:nvSpPr>
        <p:spPr>
          <a:xfrm>
            <a:off x="7078049" y="6122339"/>
            <a:ext cx="2300641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  </a:t>
            </a:r>
            <a:r>
              <a:rPr lang="ko-KR" altLang="en-US" sz="500" dirty="0" smtClean="0"/>
              <a:t>납부방법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단위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수량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단가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삭감금액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적용장비</a:t>
            </a:r>
            <a:r>
              <a:rPr lang="ko-KR" altLang="en-US" sz="500" dirty="0" smtClean="0"/>
              <a:t> 사업</a:t>
            </a:r>
            <a:r>
              <a:rPr lang="en-US" altLang="ko-KR" sz="500" dirty="0" smtClean="0"/>
              <a:t>,</a:t>
            </a:r>
            <a:r>
              <a:rPr lang="ko-KR" altLang="en-US" sz="500" dirty="0"/>
              <a:t> </a:t>
            </a:r>
            <a:r>
              <a:rPr lang="ko-KR" altLang="en-US" sz="500" dirty="0" err="1" smtClean="0"/>
              <a:t>승인일자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도면번호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규격번호</a:t>
            </a:r>
            <a:r>
              <a:rPr lang="en-US" altLang="ko-KR" sz="500" dirty="0" smtClean="0"/>
              <a:t>,</a:t>
            </a:r>
            <a:r>
              <a:rPr lang="ko-KR" altLang="en-US" sz="500" dirty="0"/>
              <a:t> </a:t>
            </a:r>
            <a:r>
              <a:rPr lang="ko-KR" altLang="en-US" sz="500" dirty="0" err="1" smtClean="0"/>
              <a:t>부품번호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검사형태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납기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납지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납지순위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납지수량</a:t>
            </a:r>
            <a:r>
              <a:rPr lang="ko-KR" altLang="en-US" sz="500" dirty="0" smtClean="0"/>
              <a:t>  누락</a:t>
            </a:r>
            <a:endParaRPr lang="en-US" altLang="ko-KR" sz="500" dirty="0" smtClean="0"/>
          </a:p>
        </p:txBody>
      </p:sp>
      <p:sp>
        <p:nvSpPr>
          <p:cNvPr id="164" name="평행 사변형 163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8" name="TextBox 247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542561186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일반계약단가제해지해제상세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898726"/>
            <a:ext cx="2630093" cy="3108252"/>
            <a:chOff x="701175" y="1527996"/>
            <a:chExt cx="2630093" cy="3108252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78109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해지해제일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총액제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2026-02-30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000 000  00 00000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790930"/>
              <a:chOff x="701175" y="1835481"/>
              <a:chExt cx="2630093" cy="279093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1167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641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73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914690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5334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9633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55407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667409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88479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88479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600779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612634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6126341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1" y="1838530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3555" y="19120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585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2" name="그룹 91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93" name="타원 92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4" name="그룹 93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9" name="직선 연결선 98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직선 연결선 99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5" name="타원 94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6" name="그룹 95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7" name="직선 연결선 9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98" name="직선 연결선 9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1" name="그룹 100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05" name="그룹 104"/>
          <p:cNvGrpSpPr/>
          <p:nvPr/>
        </p:nvGrpSpPr>
        <p:grpSpPr>
          <a:xfrm>
            <a:off x="3837881" y="1493927"/>
            <a:ext cx="2626449" cy="354413"/>
            <a:chOff x="720490" y="4004429"/>
            <a:chExt cx="2626449" cy="354413"/>
          </a:xfrm>
        </p:grpSpPr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6" name="타원 115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6" name="그룹 135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2" name="직선 연결선 1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직선 연결선 14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7" name="타원 136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8" name="그룹 137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0" name="직선 연결선 13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직선 연결선 14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2" name="그룹 111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32651008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예산구분</a:t>
            </a:r>
            <a:r>
              <a:rPr lang="ko-KR" altLang="en-US" dirty="0" smtClean="0"/>
              <a:t> 항목이 더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 err="1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일반계약단가제해지해제상세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937813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2204791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</a:t>
              </a:r>
              <a:r>
                <a:rPr lang="ko-KR" altLang="en-US" sz="700" dirty="0" smtClean="0">
                  <a:latin typeface="+mn-ea"/>
                </a:rPr>
                <a:t>부서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6460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559369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606266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711975"/>
            <a:ext cx="2630093" cy="1975134"/>
            <a:chOff x="3865118" y="2694619"/>
            <a:chExt cx="2630093" cy="197513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장기국채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4009873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총계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985185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예산별</a:t>
              </a:r>
              <a:r>
                <a:rPr lang="ko-KR" altLang="en-US" sz="700" dirty="0" smtClean="0">
                  <a:latin typeface="+mn-ea"/>
                </a:rPr>
                <a:t> 소계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72" name="그룹 71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12046" y="4358842"/>
              <a:ext cx="466147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6" name="그룹 75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81" name="타원 8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0" name="그룹 10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6" name="직선 연결선 1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직선 연결선 11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1" name="타원 11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2" name="그룹 11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4" name="직선 연결선 11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직선 연결선 11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7" name="그룹 76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8" name="그룹 117"/>
          <p:cNvGrpSpPr/>
          <p:nvPr/>
        </p:nvGrpSpPr>
        <p:grpSpPr>
          <a:xfrm>
            <a:off x="3838523" y="1493927"/>
            <a:ext cx="2626449" cy="354413"/>
            <a:chOff x="720490" y="4004429"/>
            <a:chExt cx="2626449" cy="354413"/>
          </a:xfrm>
        </p:grpSpPr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12046" y="4358842"/>
              <a:ext cx="466147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22" name="그룹 121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27" name="타원 12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8" name="그룹 12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5" name="직선 연결선 1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6" name="직선 연결선 1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2" name="그룹 13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3" name="직선 연결선 13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직선 연결선 13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3" name="그룹 122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28020077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 err="1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일반계약단가제해지해제상세</a:t>
            </a:r>
            <a:r>
              <a:rPr lang="ko-KR" altLang="en-US" dirty="0"/>
              <a:t> 조회 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982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916454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20" name="그룹 19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12046" y="4358842"/>
              <a:ext cx="466147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4" name="그룹 2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29" name="타원 2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0" name="그룹 2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5" name="직선 연결선 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직선 연결선 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1" name="타원 3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2" name="그룹 3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" name="직선 연결선 3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직선 연결선 3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그룹 24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특수조건</a:t>
                </a:r>
                <a:endParaRPr lang="ko-KR" altLang="en-US" sz="700" b="1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90059651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정보정보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2423697"/>
              </p:ext>
            </p:extLst>
          </p:nvPr>
        </p:nvGraphicFramePr>
        <p:xfrm>
          <a:off x="452999" y="1098010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28855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883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44612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0358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890608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6F6543C8-1364-FCEE-CD86-7A0CD86658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15954995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134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6153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699686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2048344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7204796"/>
              </p:ext>
            </p:extLst>
          </p:nvPr>
        </p:nvGraphicFramePr>
        <p:xfrm>
          <a:off x="437936" y="2310834"/>
          <a:ext cx="8994883" cy="4072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:RIC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21688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25771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aplcnEqpmntCd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:AC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승인일자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99073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6939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8802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78040331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135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2C1362-BA0E-28E2-07BD-AAA5839A0E7D}"/>
              </a:ext>
            </a:extLst>
          </p:cNvPr>
          <p:cNvSpPr txBox="1"/>
          <p:nvPr/>
        </p:nvSpPr>
        <p:spPr>
          <a:xfrm>
            <a:off x="443054" y="826995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FFF1A7F-1851-FC68-6571-9958A71A7A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1847770"/>
              </p:ext>
            </p:extLst>
          </p:nvPr>
        </p:nvGraphicFramePr>
        <p:xfrm>
          <a:off x="437936" y="1089485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64569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43373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0062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납지순위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plcdlvRnk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1C8DADB8-FBEF-4084-79F7-982D1B03C357}"/>
              </a:ext>
            </a:extLst>
          </p:cNvPr>
          <p:cNvSpPr txBox="1"/>
          <p:nvPr/>
        </p:nvSpPr>
        <p:spPr>
          <a:xfrm>
            <a:off x="443054" y="2574951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EE22B6A-A4BB-F83B-BE8E-A1A0E458E6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837441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0A83496E-5722-9A13-D5E3-689A22BA9703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 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5929183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136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17283"/>
          <a:ext cx="8995591" cy="6412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scwin.btn_list_onclick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계약해지해제 목록 조회화면으로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UI-CT-03-M01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계약해지해제목록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11868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010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CD63C9B0-F42A-DC2A-6BDD-5878F3C932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7671255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해제수정계약상세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2792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57002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수정계약사유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0000 000 000000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3459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80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778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778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60305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458842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604989" cy="107722"/>
            <a:chOff x="764169" y="4142235"/>
            <a:chExt cx="1604989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342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470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899923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계약수정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1641390"/>
            <a:ext cx="1607874" cy="107722"/>
            <a:chOff x="764169" y="4142235"/>
            <a:chExt cx="160787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562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수정계약명세서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758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1921964"/>
            <a:ext cx="2630093" cy="696397"/>
            <a:chOff x="3865118" y="2694619"/>
            <a:chExt cx="2630093" cy="696397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476631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6100910"/>
            <a:ext cx="178408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계약특수조건 </a:t>
            </a: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11</a:t>
            </a:r>
            <a:r>
              <a:rPr lang="ko-KR" altLang="en-US" sz="700" dirty="0">
                <a:latin typeface="+mn-ea"/>
              </a:rPr>
              <a:t>조 ① 항 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년 </a:t>
            </a:r>
            <a:r>
              <a:rPr lang="ko-KR" altLang="en-US" sz="700" dirty="0" err="1">
                <a:latin typeface="+mn-ea"/>
              </a:rPr>
              <a:t>계약납기</a:t>
            </a:r>
            <a:r>
              <a:rPr lang="ko-KR" altLang="en-US" sz="700" dirty="0">
                <a:latin typeface="+mn-ea"/>
              </a:rPr>
              <a:t> 조정</a:t>
            </a:r>
            <a:r>
              <a:rPr lang="en-US" altLang="ko-KR" sz="700" dirty="0">
                <a:latin typeface="+mn-ea"/>
              </a:rPr>
              <a:t>(....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6154771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기타사항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3836701" y="2638606"/>
            <a:ext cx="2630093" cy="907968"/>
            <a:chOff x="3865118" y="2694619"/>
            <a:chExt cx="2630093" cy="90796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8" name="직사각형 167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5" name="그룹 204"/>
          <p:cNvGrpSpPr/>
          <p:nvPr/>
        </p:nvGrpSpPr>
        <p:grpSpPr>
          <a:xfrm>
            <a:off x="3842944" y="3655737"/>
            <a:ext cx="2630093" cy="1975134"/>
            <a:chOff x="3865118" y="2694619"/>
            <a:chExt cx="2630093" cy="1975134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63" name="타원 2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65" name="타원 2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66" name="타원 2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67" name="타원 2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68" name="타원 2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69" name="타원 2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70" name="타원 2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78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공고번호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공고번호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81" name="직사각형 280"/>
          <p:cNvSpPr/>
          <p:nvPr/>
        </p:nvSpPr>
        <p:spPr>
          <a:xfrm>
            <a:off x="7089279" y="6154771"/>
            <a:ext cx="2301850" cy="16605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  </a:t>
            </a:r>
            <a:r>
              <a:rPr lang="ko-KR" altLang="en-US" sz="500" dirty="0" err="1" smtClean="0"/>
              <a:t>수정항목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 </a:t>
            </a:r>
            <a:r>
              <a:rPr lang="ko-KR" altLang="en-US" sz="500" dirty="0" err="1" smtClean="0"/>
              <a:t>증감내역</a:t>
            </a:r>
            <a:r>
              <a:rPr lang="en-US" altLang="ko-KR" sz="500" dirty="0" smtClean="0"/>
              <a:t>(</a:t>
            </a:r>
            <a:r>
              <a:rPr lang="ko-KR" altLang="en-US" sz="500" dirty="0" smtClean="0"/>
              <a:t>수량</a:t>
            </a:r>
            <a:r>
              <a:rPr lang="en-US" altLang="ko-KR" sz="500" dirty="0" smtClean="0"/>
              <a:t>), </a:t>
            </a:r>
            <a:r>
              <a:rPr lang="ko-KR" altLang="en-US" sz="500" dirty="0" err="1" smtClean="0"/>
              <a:t>증감내역</a:t>
            </a:r>
            <a:r>
              <a:rPr lang="en-US" altLang="ko-KR" sz="500" dirty="0" smtClean="0"/>
              <a:t>(</a:t>
            </a:r>
            <a:r>
              <a:rPr lang="ko-KR" altLang="en-US" sz="500" dirty="0" smtClean="0"/>
              <a:t>금액</a:t>
            </a:r>
            <a:r>
              <a:rPr lang="en-US" altLang="ko-KR" sz="500" dirty="0" smtClean="0"/>
              <a:t>), </a:t>
            </a:r>
            <a:r>
              <a:rPr lang="ko-KR" altLang="en-US" sz="500" dirty="0" err="1" smtClean="0"/>
              <a:t>규격번호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검사형태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납지수량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부품번호</a:t>
            </a:r>
            <a:r>
              <a:rPr lang="ko-KR" altLang="en-US" sz="500" dirty="0" smtClean="0"/>
              <a:t> 누락</a:t>
            </a:r>
            <a:endParaRPr lang="en-US" altLang="ko-KR" sz="500" dirty="0" smtClean="0"/>
          </a:p>
        </p:txBody>
      </p:sp>
      <p:sp>
        <p:nvSpPr>
          <p:cNvPr id="200" name="평행 사변형 199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4" name="TextBox 223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2657651318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28084"/>
            <a:ext cx="2630093" cy="2025405"/>
            <a:chOff x="701175" y="1527996"/>
            <a:chExt cx="2630093" cy="202540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수정계약사유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0000 000 </a:t>
              </a:r>
              <a:r>
                <a:rPr lang="en-US" altLang="ko-KR" sz="700" dirty="0" smtClean="0">
                  <a:latin typeface="+mn-ea"/>
                </a:rPr>
                <a:t>000000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717920"/>
              <a:chOff x="701175" y="1835481"/>
              <a:chExt cx="2630093" cy="171792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84800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799" y="3230939"/>
              <a:ext cx="178221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계약특수조건 제</a:t>
              </a:r>
              <a:r>
                <a:rPr lang="en-US" altLang="ko-KR" sz="700" dirty="0">
                  <a:latin typeface="+mn-ea"/>
                </a:rPr>
                <a:t>11</a:t>
              </a:r>
              <a:r>
                <a:rPr lang="ko-KR" altLang="en-US" sz="700" dirty="0">
                  <a:latin typeface="+mn-ea"/>
                </a:rPr>
                <a:t>조 ① 항 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년 </a:t>
              </a:r>
              <a:r>
                <a:rPr lang="ko-KR" altLang="en-US" sz="700" dirty="0" err="1">
                  <a:latin typeface="+mn-ea"/>
                </a:rPr>
                <a:t>계약납기</a:t>
              </a:r>
              <a:r>
                <a:rPr lang="ko-KR" altLang="en-US" sz="700" dirty="0">
                  <a:latin typeface="+mn-ea"/>
                </a:rPr>
                <a:t> 조정</a:t>
              </a:r>
              <a:r>
                <a:rPr lang="en-US" altLang="ko-KR" sz="700" dirty="0">
                  <a:latin typeface="+mn-ea"/>
                </a:rPr>
                <a:t>(....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67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0186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03926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4152595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6998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6998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49298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1152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1152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0" y="1928084"/>
            <a:ext cx="2630093" cy="1990579"/>
            <a:chOff x="3865118" y="2694619"/>
            <a:chExt cx="2630093" cy="1990579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3899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851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3" name="그룹 82"/>
          <p:cNvGrpSpPr/>
          <p:nvPr/>
        </p:nvGrpSpPr>
        <p:grpSpPr>
          <a:xfrm>
            <a:off x="701175" y="4010293"/>
            <a:ext cx="2630093" cy="696397"/>
            <a:chOff x="3865118" y="2694619"/>
            <a:chExt cx="2630093" cy="696397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701175" y="4764003"/>
            <a:ext cx="2630093" cy="907968"/>
            <a:chOff x="3865118" y="2694619"/>
            <a:chExt cx="2630093" cy="907968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6" name="직사각형 95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6" name="그룹 75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77" name="타원 7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8" name="그룹 7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84" name="직선 연결선 8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직선 연결선 8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9" name="타원 78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80" name="그룹 79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81" name="직선 연결선 8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직선 연결선 8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4" name="그룹 103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수정계약명세서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0" name="그룹 109"/>
          <p:cNvGrpSpPr/>
          <p:nvPr/>
        </p:nvGrpSpPr>
        <p:grpSpPr>
          <a:xfrm>
            <a:off x="3831550" y="1493927"/>
            <a:ext cx="2626449" cy="354413"/>
            <a:chOff x="720490" y="4004429"/>
            <a:chExt cx="2626449" cy="354413"/>
          </a:xfrm>
        </p:grpSpPr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4" name="그룹 11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37" name="타원 13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8" name="그룹 13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4" name="직선 연결선 14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직선 연결선 14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0" name="타원 13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1" name="그룹 14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2" name="직선 연결선 1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직선 연결선 14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5" name="그룹 114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수정계약명세서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52292255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수정계약명세정보서</a:t>
            </a:r>
            <a:r>
              <a:rPr lang="ko-KR" altLang="en-US" dirty="0" smtClean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무슨 항목이 변경되었는지 표시되는 항목으로 사용자 선택 불가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단순 노출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~</a:t>
            </a:r>
            <a:r>
              <a:rPr lang="ko-KR" altLang="en-US" dirty="0" smtClean="0"/>
              <a:t>으로 바뀌었다는 의미로 사용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[</a:t>
            </a:r>
            <a:r>
              <a:rPr lang="ko-KR" altLang="en-US" dirty="0" smtClean="0">
                <a:solidFill>
                  <a:srgbClr val="FF0000"/>
                </a:solidFill>
              </a:rPr>
              <a:t>수정 후</a:t>
            </a:r>
            <a:r>
              <a:rPr lang="en-US" altLang="ko-KR" dirty="0" smtClean="0">
                <a:solidFill>
                  <a:srgbClr val="FF0000"/>
                </a:solidFill>
              </a:rPr>
              <a:t>] </a:t>
            </a:r>
            <a:r>
              <a:rPr lang="ko-KR" altLang="en-US" dirty="0" smtClean="0">
                <a:solidFill>
                  <a:srgbClr val="FF0000"/>
                </a:solidFill>
              </a:rPr>
              <a:t>코멘트를 </a:t>
            </a:r>
            <a:r>
              <a:rPr lang="ko-KR" altLang="en-US" dirty="0" err="1" smtClean="0">
                <a:solidFill>
                  <a:srgbClr val="FF0000"/>
                </a:solidFill>
              </a:rPr>
              <a:t>코드값에</a:t>
            </a:r>
            <a:r>
              <a:rPr lang="ko-KR" altLang="en-US" dirty="0" smtClean="0">
                <a:solidFill>
                  <a:srgbClr val="FF0000"/>
                </a:solidFill>
              </a:rPr>
              <a:t> 맞춰 추가로 넣어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사용자가 인지할 수 있도록 추가함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표의 </a:t>
            </a:r>
            <a:r>
              <a:rPr lang="ko-KR" altLang="en-US" dirty="0" err="1" smtClean="0">
                <a:solidFill>
                  <a:srgbClr val="FF0000"/>
                </a:solidFill>
              </a:rPr>
              <a:t>표시정보는</a:t>
            </a:r>
            <a:r>
              <a:rPr lang="ko-KR" altLang="en-US" dirty="0" smtClean="0">
                <a:solidFill>
                  <a:srgbClr val="FF0000"/>
                </a:solidFill>
              </a:rPr>
              <a:t> </a:t>
            </a:r>
            <a:r>
              <a:rPr lang="ko-KR" altLang="en-US" dirty="0" err="1" smtClean="0">
                <a:solidFill>
                  <a:srgbClr val="FF0000"/>
                </a:solidFill>
              </a:rPr>
              <a:t>항목정보</a:t>
            </a:r>
            <a:r>
              <a:rPr lang="ko-KR" altLang="en-US" dirty="0" smtClean="0">
                <a:solidFill>
                  <a:srgbClr val="FF0000"/>
                </a:solidFill>
              </a:rPr>
              <a:t> 참조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노출되는 표의 정보가 많음으로 일부 접기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펼치기를 통해서 </a:t>
            </a:r>
            <a:r>
              <a:rPr lang="en-US" altLang="ko-KR" dirty="0" smtClean="0">
                <a:solidFill>
                  <a:srgbClr val="FF0000"/>
                </a:solidFill>
              </a:rPr>
              <a:t>4</a:t>
            </a:r>
            <a:r>
              <a:rPr lang="ko-KR" altLang="en-US" dirty="0" smtClean="0">
                <a:solidFill>
                  <a:srgbClr val="FF0000"/>
                </a:solidFill>
              </a:rPr>
              <a:t>개 </a:t>
            </a:r>
            <a:r>
              <a:rPr lang="ko-KR" altLang="en-US" dirty="0" err="1" smtClean="0">
                <a:solidFill>
                  <a:srgbClr val="FF0000"/>
                </a:solidFill>
              </a:rPr>
              <a:t>표까지만</a:t>
            </a:r>
            <a:r>
              <a:rPr lang="ko-KR" altLang="en-US" dirty="0" smtClean="0">
                <a:solidFill>
                  <a:srgbClr val="FF0000"/>
                </a:solidFill>
              </a:rPr>
              <a:t> 노출</a:t>
            </a: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~</a:t>
            </a:r>
            <a:r>
              <a:rPr lang="ko-KR" altLang="en-US" dirty="0" smtClean="0"/>
              <a:t>을 </a:t>
            </a:r>
            <a:r>
              <a:rPr lang="en-US" altLang="ko-KR" dirty="0" smtClean="0"/>
              <a:t>2</a:t>
            </a:r>
            <a:r>
              <a:rPr lang="ko-KR" altLang="en-US" dirty="0" err="1" smtClean="0"/>
              <a:t>번항으로</a:t>
            </a:r>
            <a:r>
              <a:rPr lang="ko-KR" altLang="en-US" dirty="0" smtClean="0"/>
              <a:t> 바뀌기 전 내용을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>
                <a:solidFill>
                  <a:srgbClr val="FF0000"/>
                </a:solidFill>
              </a:rPr>
              <a:t>- [</a:t>
            </a:r>
            <a:r>
              <a:rPr lang="ko-KR" altLang="en-US" dirty="0" smtClean="0">
                <a:solidFill>
                  <a:srgbClr val="FF0000"/>
                </a:solidFill>
              </a:rPr>
              <a:t>수정 전</a:t>
            </a:r>
            <a:r>
              <a:rPr lang="en-US" altLang="ko-KR" dirty="0" smtClean="0">
                <a:solidFill>
                  <a:srgbClr val="FF0000"/>
                </a:solidFill>
              </a:rPr>
              <a:t>] </a:t>
            </a:r>
            <a:r>
              <a:rPr lang="ko-KR" altLang="en-US" dirty="0">
                <a:solidFill>
                  <a:srgbClr val="FF0000"/>
                </a:solidFill>
              </a:rPr>
              <a:t>코멘트를 </a:t>
            </a:r>
            <a:r>
              <a:rPr lang="ko-KR" altLang="en-US" dirty="0" err="1">
                <a:solidFill>
                  <a:srgbClr val="FF0000"/>
                </a:solidFill>
              </a:rPr>
              <a:t>코드값에</a:t>
            </a:r>
            <a:r>
              <a:rPr lang="ko-KR" altLang="en-US" dirty="0">
                <a:solidFill>
                  <a:srgbClr val="FF0000"/>
                </a:solidFill>
              </a:rPr>
              <a:t> 맞춰 추가로 넣어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사용자가 인지할 수 있도록 </a:t>
            </a:r>
            <a:r>
              <a:rPr lang="ko-KR" altLang="en-US" dirty="0" smtClean="0">
                <a:solidFill>
                  <a:srgbClr val="FF0000"/>
                </a:solidFill>
              </a:rPr>
              <a:t>추가함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노출되는 표의 정보가 많음으로 일부 접기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펼치기를 통해서 </a:t>
            </a:r>
            <a:r>
              <a:rPr lang="en-US" altLang="ko-KR" dirty="0">
                <a:solidFill>
                  <a:srgbClr val="FF0000"/>
                </a:solidFill>
              </a:rPr>
              <a:t>4</a:t>
            </a:r>
            <a:r>
              <a:rPr lang="ko-KR" altLang="en-US" dirty="0">
                <a:solidFill>
                  <a:srgbClr val="FF0000"/>
                </a:solidFill>
              </a:rPr>
              <a:t>개 </a:t>
            </a:r>
            <a:r>
              <a:rPr lang="ko-KR" altLang="en-US" dirty="0" err="1">
                <a:solidFill>
                  <a:srgbClr val="FF0000"/>
                </a:solidFill>
              </a:rPr>
              <a:t>표까지만</a:t>
            </a:r>
            <a:r>
              <a:rPr lang="ko-KR" altLang="en-US" dirty="0">
                <a:solidFill>
                  <a:srgbClr val="FF0000"/>
                </a:solidFill>
              </a:rPr>
              <a:t> 노출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건의 수정이 발생할 수 있으며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수정전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수정후를</a:t>
            </a:r>
            <a:r>
              <a:rPr lang="ko-KR" altLang="en-US" dirty="0" smtClean="0"/>
              <a:t> 반복적으로 노출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MUI-CT-03-T11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893756"/>
            <a:ext cx="2456098" cy="181140"/>
            <a:chOff x="763156" y="1527996"/>
            <a:chExt cx="2456098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240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070760" y="4627511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716366" y="3634104"/>
            <a:ext cx="2630093" cy="2190577"/>
            <a:chOff x="3865118" y="2694619"/>
            <a:chExt cx="2630093" cy="2190577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– </a:t>
              </a:r>
              <a:r>
                <a:rPr lang="ko-KR" altLang="en-US" sz="700" dirty="0" smtClean="0">
                  <a:latin typeface="+mn-ea"/>
                </a:rPr>
                <a:t>으로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수정 후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장기국채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12771" y="2156618"/>
            <a:ext cx="2633688" cy="1374730"/>
            <a:chOff x="712771" y="2302158"/>
            <a:chExt cx="2633688" cy="1374730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30215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수정항목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5537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24066" y="2553743"/>
              <a:ext cx="43472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연부액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품목추가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676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84581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품목취소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예산전환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45096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규격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05610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원가확정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772169" y="2630090"/>
              <a:ext cx="107950" cy="958403"/>
              <a:chOff x="772169" y="2297325"/>
              <a:chExt cx="107950" cy="958403"/>
            </a:xfrm>
          </p:grpSpPr>
          <p:sp>
            <p:nvSpPr>
              <p:cNvPr id="76" name="직사각형 75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직사각형 76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8" name="직사각형 77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직사각형 78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8" name="직사각형 127"/>
              <p:cNvSpPr/>
              <p:nvPr/>
            </p:nvSpPr>
            <p:spPr>
              <a:xfrm>
                <a:off x="772169" y="3147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0" name="TextBox 79"/>
            <p:cNvSpPr txBox="1"/>
            <p:nvPr/>
          </p:nvSpPr>
          <p:spPr>
            <a:xfrm>
              <a:off x="712771" y="2802474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 smtClean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grpSp>
          <p:nvGrpSpPr>
            <p:cNvPr id="81" name="그룹 80"/>
            <p:cNvGrpSpPr/>
            <p:nvPr/>
          </p:nvGrpSpPr>
          <p:grpSpPr>
            <a:xfrm>
              <a:off x="1421677" y="2630090"/>
              <a:ext cx="107950" cy="736927"/>
              <a:chOff x="772169" y="2297325"/>
              <a:chExt cx="107950" cy="736927"/>
            </a:xfrm>
          </p:grpSpPr>
          <p:sp>
            <p:nvSpPr>
              <p:cNvPr id="110" name="직사각형 10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2" name="직사각형 111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4" name="직사각형 113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2077483" y="2630090"/>
              <a:ext cx="107950" cy="736927"/>
              <a:chOff x="772169" y="2297325"/>
              <a:chExt cx="107950" cy="736927"/>
            </a:xfrm>
          </p:grpSpPr>
          <p:sp>
            <p:nvSpPr>
              <p:cNvPr id="117" name="직사각형 116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직사각형 117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직사각형 118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직사각형 119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2" name="그룹 121"/>
            <p:cNvGrpSpPr/>
            <p:nvPr/>
          </p:nvGrpSpPr>
          <p:grpSpPr>
            <a:xfrm>
              <a:off x="2739067" y="2630090"/>
              <a:ext cx="107950" cy="736927"/>
              <a:chOff x="772169" y="2297325"/>
              <a:chExt cx="107950" cy="736927"/>
            </a:xfrm>
          </p:grpSpPr>
          <p:sp>
            <p:nvSpPr>
              <p:cNvPr id="123" name="직사각형 122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직사각형 123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직사각형 124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6" name="직사각형 125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132" name="그룹 131"/>
          <p:cNvGrpSpPr/>
          <p:nvPr/>
        </p:nvGrpSpPr>
        <p:grpSpPr>
          <a:xfrm>
            <a:off x="3836701" y="1893756"/>
            <a:ext cx="2630093" cy="2190577"/>
            <a:chOff x="3865118" y="2694619"/>
            <a:chExt cx="2630093" cy="2190577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– </a:t>
              </a:r>
              <a:r>
                <a:rPr lang="ko-KR" altLang="en-US" sz="700" dirty="0" smtClean="0">
                  <a:latin typeface="+mn-ea"/>
                </a:rPr>
                <a:t>을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수정 전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415237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4" name="타원 8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143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897" y="194619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897" y="4350445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grpSp>
        <p:nvGrpSpPr>
          <p:cNvPr id="87" name="그룹 86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85891" y="4358842"/>
              <a:ext cx="670493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1" name="그룹 9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5" name="타원 114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1" name="그룹 12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53" name="직선 연결선 15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직선 연결선 15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7" name="타원 126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1" name="그룹 14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2" name="직선 연결선 1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직선 연결선 15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92" name="그룹 91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수정계약명세서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55" name="그룹 154"/>
          <p:cNvGrpSpPr/>
          <p:nvPr/>
        </p:nvGrpSpPr>
        <p:grpSpPr>
          <a:xfrm>
            <a:off x="3838523" y="1493927"/>
            <a:ext cx="2626449" cy="354413"/>
            <a:chOff x="720490" y="4004429"/>
            <a:chExt cx="2626449" cy="354413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85891" y="4358842"/>
              <a:ext cx="670493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64" name="타원 163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5" name="그룹 164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0" name="직선 연결선 16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직선 연결선 17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66" name="타원 165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7" name="그룹 166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68" name="직선 연결선 16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직선 연결선 16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60" name="그룹 159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수정계약명세서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63" name="TextBox 16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96588392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MUI-CT-03-T12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7569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864201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" name="그룹 17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964704" y="4358842"/>
              <a:ext cx="404454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" name="그룹 22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28" name="타원 27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9" name="그룹 28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4" name="직선 연결선 3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직선 연결선 3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0" name="타원 2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1" name="그룹 3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2" name="직선 연결선 3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직선 연결선 3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4" name="그룹 23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수정계약명세서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특수조건</a:t>
                </a:r>
                <a:endParaRPr lang="ko-KR" altLang="en-US" sz="700" b="1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79113851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141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952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78960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:MRC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mdfcnCtrtIncrsAmt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diffAmt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depsSecd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B6C0723-DD77-4C6C-BB69-AF4AC6094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476FC31-1E0C-15F2-0142-1F77BAD8593F}"/>
              </a:ext>
            </a:extLst>
          </p:cNvPr>
          <p:cNvSpPr txBox="1"/>
          <p:nvPr/>
        </p:nvSpPr>
        <p:spPr>
          <a:xfrm>
            <a:off x="458117" y="4929056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8ACE5CF-52D5-789C-9E2B-BABB825CCF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5011621"/>
              </p:ext>
            </p:extLst>
          </p:nvPr>
        </p:nvGraphicFramePr>
        <p:xfrm>
          <a:off x="452999" y="5176889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mdfcnArtclNm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92964722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142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B11741F-A73C-5BF0-536E-3586DC8E2D8D}"/>
              </a:ext>
            </a:extLst>
          </p:cNvPr>
          <p:cNvSpPr txBox="1"/>
          <p:nvPr/>
        </p:nvSpPr>
        <p:spPr>
          <a:xfrm>
            <a:off x="458117" y="784391"/>
            <a:ext cx="33348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항목 수정내역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AA8D4D-3ED4-D7E9-4350-FC6B2EC0E0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2521130"/>
              </p:ext>
            </p:extLst>
          </p:nvPr>
        </p:nvGraphicFramePr>
        <p:xfrm>
          <a:off x="452999" y="1068145"/>
          <a:ext cx="8994883" cy="4388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itemSecd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Flag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0121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25502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qtyIcdcDsctn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12093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amtIcdcDsctn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11277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0133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1142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biz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08471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718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2941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64109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829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93615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065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9797664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E07A1CA-547C-87B6-58E9-6C22BEA24272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5484541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143</a:t>
            </a:fld>
            <a:endParaRPr lang="ko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FDCB975-CE66-B0AA-D829-73DA4D54EDC8}"/>
              </a:ext>
            </a:extLst>
          </p:cNvPr>
          <p:cNvSpPr txBox="1"/>
          <p:nvPr/>
        </p:nvSpPr>
        <p:spPr>
          <a:xfrm>
            <a:off x="443054" y="793523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5A714CD-50F6-7333-B50F-4EEBB6022A8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5601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5107F5B2-3078-70B4-1284-2A3CF7413DF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824131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144</a:t>
            </a:fld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D01F420-4BD1-01D2-23BE-6C3F4C1DC1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7593323"/>
              </p:ext>
            </p:extLst>
          </p:nvPr>
        </p:nvGraphicFramePr>
        <p:xfrm>
          <a:off x="453000" y="100288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AC2E0DA-61A4-192E-7472-8603C13A7074}"/>
              </a:ext>
            </a:extLst>
          </p:cNvPr>
          <p:cNvSpPr txBox="1"/>
          <p:nvPr/>
        </p:nvSpPr>
        <p:spPr>
          <a:xfrm>
            <a:off x="458117" y="68665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850E93AB-D343-F172-4F98-1E13F41387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433676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해제공사계약상세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 smtClean="0"/>
              <a:t>해지해제공사계약상세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 smtClean="0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1297" y="4465173"/>
            <a:ext cx="80392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>
                <a:solidFill>
                  <a:prstClr val="black"/>
                </a:solidFill>
              </a:rPr>
              <a:t> 공사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417918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225061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2250612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235" name="모서리가 둥근 직사각형 234"/>
          <p:cNvSpPr/>
          <p:nvPr/>
        </p:nvSpPr>
        <p:spPr>
          <a:xfrm rot="5400000">
            <a:off x="6098765" y="3126805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82226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94080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94080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4" name="모서리가 둥근 직사각형 153"/>
          <p:cNvSpPr/>
          <p:nvPr/>
        </p:nvSpPr>
        <p:spPr>
          <a:xfrm>
            <a:off x="4626322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grpSp>
        <p:nvGrpSpPr>
          <p:cNvPr id="155" name="그룹 154"/>
          <p:cNvGrpSpPr/>
          <p:nvPr/>
        </p:nvGrpSpPr>
        <p:grpSpPr>
          <a:xfrm>
            <a:off x="3836701" y="2493475"/>
            <a:ext cx="2630093" cy="1777166"/>
            <a:chOff x="3865118" y="2694619"/>
            <a:chExt cx="2630093" cy="1777166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7" name="직사각형 156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1" name="그룹 15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2" name="그룹 151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8" name="타원 167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0" name="그룹 169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1" name="타원 17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2" name="그룹 17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3" name="직선 연결선 1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4" name="직선 연결선 1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206" name="타원 2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7" name="타원 2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20" name="타원 2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22" name="타원 2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23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24" name="직사각형 223"/>
          <p:cNvSpPr/>
          <p:nvPr/>
        </p:nvSpPr>
        <p:spPr>
          <a:xfrm>
            <a:off x="7066105" y="6072298"/>
            <a:ext cx="2325024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  </a:t>
            </a:r>
            <a:r>
              <a:rPr lang="ko-KR" altLang="en-US" sz="500" dirty="0" err="1" smtClean="0"/>
              <a:t>계약부대</a:t>
            </a:r>
            <a:r>
              <a:rPr lang="en-US" altLang="ko-KR" sz="500" dirty="0" smtClean="0"/>
              <a:t>(</a:t>
            </a:r>
            <a:r>
              <a:rPr lang="ko-KR" altLang="en-US" sz="500" dirty="0" err="1" smtClean="0"/>
              <a:t>명칭확인</a:t>
            </a:r>
            <a:r>
              <a:rPr lang="en-US" altLang="ko-KR" sz="500" dirty="0" smtClean="0"/>
              <a:t>), </a:t>
            </a:r>
            <a:r>
              <a:rPr lang="ko-KR" altLang="en-US" sz="500" dirty="0" smtClean="0"/>
              <a:t> 누락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992732212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해제공사계약상세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 smtClean="0"/>
              <a:t>해지해제공사계약상세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</a:t>
            </a:r>
            <a:r>
              <a:rPr lang="ko-KR" altLang="en-US" dirty="0" smtClean="0">
                <a:latin typeface="+mn-ea"/>
              </a:rPr>
              <a:t>상세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출력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 smtClean="0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1297" y="4465173"/>
            <a:ext cx="80392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1" name="그룹 15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2" name="그룹 151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8" name="타원 167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0" name="그룹 169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1" name="타원 17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2" name="그룹 17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3" name="직선 연결선 1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4" name="직선 연결선 1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23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endParaRPr lang="en-US" altLang="ko-KR" sz="800" dirty="0" smtClean="0"/>
          </a:p>
        </p:txBody>
      </p:sp>
      <p:sp>
        <p:nvSpPr>
          <p:cNvPr id="176" name="타원 175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7" name="그룹 17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178" name="직선 연결선 177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9" name="직선 연결선 178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0" name="직선 연결선 179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1" name="직선 연결선 180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5" name="타원 184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87" name="그룹 186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24" name="직선 연결선 223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5" name="직선 연결선 224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6" name="타원 2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91685" y="55906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60997" y="1490952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28" name="직선 연결선 2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9" name="TextBox 2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30" name="그룹 229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231" name="직선 연결선 2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2" name="직선 연결선 2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36" name="그룹 235"/>
          <p:cNvGrpSpPr/>
          <p:nvPr/>
        </p:nvGrpSpPr>
        <p:grpSpPr>
          <a:xfrm>
            <a:off x="3754378" y="3013814"/>
            <a:ext cx="2718997" cy="3269110"/>
            <a:chOff x="7087364" y="5599752"/>
            <a:chExt cx="2718997" cy="3269110"/>
          </a:xfrm>
        </p:grpSpPr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94334" y="625129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59252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438749" y="6285043"/>
              <a:ext cx="452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공지사항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46" name="타원 245"/>
            <p:cNvSpPr/>
            <p:nvPr/>
          </p:nvSpPr>
          <p:spPr>
            <a:xfrm>
              <a:off x="7202621" y="6316388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47" name="그룹 246"/>
            <p:cNvGrpSpPr/>
            <p:nvPr/>
          </p:nvGrpSpPr>
          <p:grpSpPr>
            <a:xfrm>
              <a:off x="9562483" y="6398374"/>
              <a:ext cx="94010" cy="47005"/>
              <a:chOff x="6812560" y="3297172"/>
              <a:chExt cx="94010" cy="47005"/>
            </a:xfrm>
          </p:grpSpPr>
          <p:cxnSp>
            <p:nvCxnSpPr>
              <p:cNvPr id="342" name="직선 연결선 3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43" name="직선 연결선 3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946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183104" y="6730334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7480" y="6730334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946941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53" name="그룹 252"/>
            <p:cNvGrpSpPr/>
            <p:nvPr/>
          </p:nvGrpSpPr>
          <p:grpSpPr>
            <a:xfrm>
              <a:off x="9343021" y="6692211"/>
              <a:ext cx="422853" cy="187961"/>
              <a:chOff x="3641308" y="2234886"/>
              <a:chExt cx="422853" cy="187961"/>
            </a:xfrm>
          </p:grpSpPr>
          <p:sp>
            <p:nvSpPr>
              <p:cNvPr id="331" name="타원 33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32" name="그룹 331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9" name="직선 연결선 338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41" name="직선 연결선 34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33" name="타원 332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34" name="그룹 333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5" name="직선 연결선 3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6" name="직선 연결선 3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00396" y="7053272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상세정보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55" name="그룹 254"/>
            <p:cNvGrpSpPr/>
            <p:nvPr/>
          </p:nvGrpSpPr>
          <p:grpSpPr>
            <a:xfrm flipV="1">
              <a:off x="9562483" y="7166603"/>
              <a:ext cx="94010" cy="47005"/>
              <a:chOff x="6812560" y="3297172"/>
              <a:chExt cx="94010" cy="47005"/>
            </a:xfrm>
          </p:grpSpPr>
          <p:cxnSp>
            <p:nvCxnSpPr>
              <p:cNvPr id="329" name="직선 연결선 32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30" name="직선 연결선 32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6" name="직사각형 255"/>
            <p:cNvSpPr/>
            <p:nvPr/>
          </p:nvSpPr>
          <p:spPr>
            <a:xfrm>
              <a:off x="7141518" y="7360757"/>
              <a:ext cx="792000" cy="145964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736075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28582" y="7360757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계약서 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85430" y="7360757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물품제조구매계약서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 </a:t>
              </a: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75918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1" name="직선 연결선 2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780556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0192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2329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4466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66039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94334" y="589361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67" name="그룹 266"/>
            <p:cNvGrpSpPr/>
            <p:nvPr/>
          </p:nvGrpSpPr>
          <p:grpSpPr>
            <a:xfrm rot="16200000">
              <a:off x="7669632" y="6046435"/>
              <a:ext cx="94010" cy="47005"/>
              <a:chOff x="6812560" y="3297172"/>
              <a:chExt cx="94010" cy="47005"/>
            </a:xfrm>
          </p:grpSpPr>
          <p:cxnSp>
            <p:nvCxnSpPr>
              <p:cNvPr id="327" name="직선 연결선 32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8" name="직선 연결선 32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23105" y="6016075"/>
              <a:ext cx="40086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입찰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69" name="타원 268"/>
            <p:cNvSpPr/>
            <p:nvPr/>
          </p:nvSpPr>
          <p:spPr>
            <a:xfrm>
              <a:off x="7822970" y="5975956"/>
              <a:ext cx="187961" cy="187961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78027" y="6016075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71" name="그룹 270"/>
            <p:cNvGrpSpPr/>
            <p:nvPr/>
          </p:nvGrpSpPr>
          <p:grpSpPr>
            <a:xfrm rot="16200000">
              <a:off x="8325743" y="6046435"/>
              <a:ext cx="94010" cy="47005"/>
              <a:chOff x="6812560" y="3297172"/>
              <a:chExt cx="94010" cy="47005"/>
            </a:xfrm>
          </p:grpSpPr>
          <p:cxnSp>
            <p:nvCxnSpPr>
              <p:cNvPr id="325" name="직선 연결선 3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6" name="직선 연결선 3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72" name="그룹 271"/>
            <p:cNvGrpSpPr/>
            <p:nvPr/>
          </p:nvGrpSpPr>
          <p:grpSpPr>
            <a:xfrm rot="16200000">
              <a:off x="8981855" y="6046435"/>
              <a:ext cx="94010" cy="47005"/>
              <a:chOff x="6812560" y="3297172"/>
              <a:chExt cx="94010" cy="47005"/>
            </a:xfrm>
          </p:grpSpPr>
          <p:cxnSp>
            <p:nvCxnSpPr>
              <p:cNvPr id="323" name="직선 연결선 32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4" name="직선 연결선 32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3" name="타원 272"/>
            <p:cNvSpPr/>
            <p:nvPr/>
          </p:nvSpPr>
          <p:spPr>
            <a:xfrm>
              <a:off x="7166860" y="5975956"/>
              <a:ext cx="187961" cy="187961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21917" y="6016075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370285" y="6016075"/>
              <a:ext cx="39757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조달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76" name="그룹 275"/>
            <p:cNvGrpSpPr/>
            <p:nvPr/>
          </p:nvGrpSpPr>
          <p:grpSpPr>
            <a:xfrm>
              <a:off x="8477684" y="5975956"/>
              <a:ext cx="603798" cy="187961"/>
              <a:chOff x="2058749" y="3237230"/>
              <a:chExt cx="603798" cy="187961"/>
            </a:xfrm>
          </p:grpSpPr>
          <p:grpSp>
            <p:nvGrpSpPr>
              <p:cNvPr id="319" name="그룹 318"/>
              <p:cNvGrpSpPr/>
              <p:nvPr/>
            </p:nvGrpSpPr>
            <p:grpSpPr>
              <a:xfrm>
                <a:off x="2058749" y="3237230"/>
                <a:ext cx="187961" cy="187961"/>
                <a:chOff x="2058749" y="3237230"/>
                <a:chExt cx="187961" cy="187961"/>
              </a:xfrm>
            </p:grpSpPr>
            <p:sp>
              <p:nvSpPr>
                <p:cNvPr id="321" name="타원 320"/>
                <p:cNvSpPr/>
                <p:nvPr/>
              </p:nvSpPr>
              <p:spPr>
                <a:xfrm>
                  <a:off x="2058749" y="3237230"/>
                  <a:ext cx="187961" cy="187961"/>
                </a:xfrm>
                <a:prstGeom prst="ellipse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2" name="TextBox 32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113806" y="3277349"/>
                  <a:ext cx="77847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US" altLang="ko-KR" sz="700" dirty="0" smtClean="0">
                      <a:solidFill>
                        <a:schemeClr val="bg1"/>
                      </a:solidFill>
                      <a:latin typeface="+mn-ea"/>
                    </a:rPr>
                    <a:t>3</a:t>
                  </a:r>
                  <a:endParaRPr lang="ko-KR" altLang="en-US" sz="7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320" name="TextBox 3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263899" y="3277349"/>
                <a:ext cx="39864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 smtClean="0">
                    <a:latin typeface="+mn-ea"/>
                  </a:rPr>
                  <a:t>계약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16881" y="6730334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35481" y="6730334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82" name="그룹 281"/>
            <p:cNvGrpSpPr/>
            <p:nvPr/>
          </p:nvGrpSpPr>
          <p:grpSpPr>
            <a:xfrm>
              <a:off x="9133795" y="5975956"/>
              <a:ext cx="603798" cy="187961"/>
              <a:chOff x="2714860" y="3237230"/>
              <a:chExt cx="603798" cy="187961"/>
            </a:xfrm>
          </p:grpSpPr>
          <p:grpSp>
            <p:nvGrpSpPr>
              <p:cNvPr id="315" name="그룹 314"/>
              <p:cNvGrpSpPr/>
              <p:nvPr/>
            </p:nvGrpSpPr>
            <p:grpSpPr>
              <a:xfrm>
                <a:off x="2714860" y="3237230"/>
                <a:ext cx="187961" cy="187961"/>
                <a:chOff x="2714860" y="3237230"/>
                <a:chExt cx="187961" cy="187961"/>
              </a:xfrm>
            </p:grpSpPr>
            <p:sp>
              <p:nvSpPr>
                <p:cNvPr id="317" name="타원 316"/>
                <p:cNvSpPr/>
                <p:nvPr/>
              </p:nvSpPr>
              <p:spPr>
                <a:xfrm>
                  <a:off x="2714860" y="3237230"/>
                  <a:ext cx="187961" cy="18796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18" name="TextBox 317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769917" y="3277349"/>
                  <a:ext cx="77847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US" altLang="ko-KR" sz="700" dirty="0" smtClean="0">
                      <a:latin typeface="+mn-ea"/>
                    </a:rPr>
                    <a:t>4</a:t>
                  </a:r>
                  <a:endParaRPr lang="ko-KR" altLang="en-US" sz="700" dirty="0">
                    <a:latin typeface="+mn-ea"/>
                  </a:endParaRPr>
                </a:p>
              </p:txBody>
            </p:sp>
          </p:grpSp>
          <p:sp>
            <p:nvSpPr>
              <p:cNvPr id="316" name="TextBox 31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920010" y="3277349"/>
                <a:ext cx="39864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 smtClean="0">
                    <a:latin typeface="+mn-ea"/>
                  </a:rPr>
                  <a:t>이행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285" name="그룹 284"/>
            <p:cNvGrpSpPr/>
            <p:nvPr/>
          </p:nvGrpSpPr>
          <p:grpSpPr>
            <a:xfrm rot="5400000">
              <a:off x="9577913" y="5970247"/>
              <a:ext cx="187961" cy="187961"/>
              <a:chOff x="3876200" y="2234886"/>
              <a:chExt cx="187961" cy="187961"/>
            </a:xfrm>
          </p:grpSpPr>
          <p:sp>
            <p:nvSpPr>
              <p:cNvPr id="301" name="타원 30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08" name="그룹 307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10" name="직선 연결선 30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13" name="직선 연결선 31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86" name="양쪽 모서리가 둥근 사각형 285"/>
            <p:cNvSpPr/>
            <p:nvPr/>
          </p:nvSpPr>
          <p:spPr>
            <a:xfrm>
              <a:off x="7087364" y="5599752"/>
              <a:ext cx="2712027" cy="3215510"/>
            </a:xfrm>
            <a:prstGeom prst="round2SameRect">
              <a:avLst>
                <a:gd name="adj1" fmla="val 4887"/>
                <a:gd name="adj2" fmla="val 0"/>
              </a:avLst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ko-KR" altLang="en-US" sz="700">
                <a:solidFill>
                  <a:srgbClr val="0F4294"/>
                </a:solidFill>
              </a:endParaRPr>
            </a:p>
          </p:txBody>
        </p:sp>
        <p:sp>
          <p:nvSpPr>
            <p:cNvPr id="287" name="모서리가 둥근 직사각형 286"/>
            <p:cNvSpPr/>
            <p:nvPr/>
          </p:nvSpPr>
          <p:spPr>
            <a:xfrm>
              <a:off x="8173377" y="5636379"/>
              <a:ext cx="540000" cy="45719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700" dirty="0">
                <a:solidFill>
                  <a:schemeClr val="tx1"/>
                </a:solidFill>
              </a:endParaRPr>
            </a:p>
          </p:txBody>
        </p:sp>
        <p:grpSp>
          <p:nvGrpSpPr>
            <p:cNvPr id="290" name="그룹 289"/>
            <p:cNvGrpSpPr/>
            <p:nvPr/>
          </p:nvGrpSpPr>
          <p:grpSpPr>
            <a:xfrm>
              <a:off x="9576303" y="5770795"/>
              <a:ext cx="94010" cy="94010"/>
              <a:chOff x="6812560" y="3297172"/>
              <a:chExt cx="94010" cy="94010"/>
            </a:xfrm>
          </p:grpSpPr>
          <p:cxnSp>
            <p:nvCxnSpPr>
              <p:cNvPr id="299" name="직선 연결선 298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0" name="직선 연결선 299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16441" y="5751474"/>
              <a:ext cx="179875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900" dirty="0">
                  <a:latin typeface="+mn-ea"/>
                </a:rPr>
                <a:t> </a:t>
              </a:r>
              <a:endParaRPr lang="ko-KR" altLang="en-US" sz="900" dirty="0">
                <a:latin typeface="+mn-ea"/>
              </a:endParaRPr>
            </a:p>
          </p:txBody>
        </p: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87364" y="601287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93" name="그룹 292">
              <a:extLst>
                <a:ext uri="{FF2B5EF4-FFF2-40B4-BE49-F238E27FC236}">
                  <a16:creationId xmlns:a16="http://schemas.microsoft.com/office/drawing/2014/main" id="{22BC05EE-C648-7CA2-4CCC-6E1C1A7E9BDA}"/>
                </a:ext>
              </a:extLst>
            </p:cNvPr>
            <p:cNvGrpSpPr/>
            <p:nvPr/>
          </p:nvGrpSpPr>
          <p:grpSpPr>
            <a:xfrm>
              <a:off x="8424253" y="8281222"/>
              <a:ext cx="76863" cy="292489"/>
              <a:chOff x="3750067" y="4683795"/>
              <a:chExt cx="76863" cy="292489"/>
            </a:xfrm>
          </p:grpSpPr>
          <p:sp>
            <p:nvSpPr>
              <p:cNvPr id="296" name="타원 295">
                <a:extLst>
                  <a:ext uri="{FF2B5EF4-FFF2-40B4-BE49-F238E27FC236}">
                    <a16:creationId xmlns:a16="http://schemas.microsoft.com/office/drawing/2014/main" id="{B62EC5A9-8616-6B01-4FB1-D38CF6C29F0E}"/>
                  </a:ext>
                </a:extLst>
              </p:cNvPr>
              <p:cNvSpPr/>
              <p:nvPr/>
            </p:nvSpPr>
            <p:spPr>
              <a:xfrm>
                <a:off x="3750067" y="4683795"/>
                <a:ext cx="76863" cy="76863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  <p:sp>
            <p:nvSpPr>
              <p:cNvPr id="297" name="타원 296">
                <a:extLst>
                  <a:ext uri="{FF2B5EF4-FFF2-40B4-BE49-F238E27FC236}">
                    <a16:creationId xmlns:a16="http://schemas.microsoft.com/office/drawing/2014/main" id="{0D32B1A6-219D-1D15-5FDD-889D3F5740C1}"/>
                  </a:ext>
                </a:extLst>
              </p:cNvPr>
              <p:cNvSpPr/>
              <p:nvPr/>
            </p:nvSpPr>
            <p:spPr>
              <a:xfrm>
                <a:off x="3750067" y="4791517"/>
                <a:ext cx="76863" cy="76863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  <p:sp>
            <p:nvSpPr>
              <p:cNvPr id="298" name="타원 297">
                <a:extLst>
                  <a:ext uri="{FF2B5EF4-FFF2-40B4-BE49-F238E27FC236}">
                    <a16:creationId xmlns:a16="http://schemas.microsoft.com/office/drawing/2014/main" id="{F347D62C-1828-433E-F5ED-51C6591859DD}"/>
                  </a:ext>
                </a:extLst>
              </p:cNvPr>
              <p:cNvSpPr/>
              <p:nvPr/>
            </p:nvSpPr>
            <p:spPr>
              <a:xfrm>
                <a:off x="3750067" y="4899421"/>
                <a:ext cx="76863" cy="76863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</p:grpSp>
        <p:sp>
          <p:nvSpPr>
            <p:cNvPr id="294" name="모서리가 둥근 직사각형 40">
              <a:extLst>
                <a:ext uri="{FF2B5EF4-FFF2-40B4-BE49-F238E27FC236}">
                  <a16:creationId xmlns:a16="http://schemas.microsoft.com/office/drawing/2014/main" id="{3BE5C28A-F0C3-8BA2-3AC1-EFA405ADE137}"/>
                </a:ext>
              </a:extLst>
            </p:cNvPr>
            <p:cNvSpPr/>
            <p:nvPr/>
          </p:nvSpPr>
          <p:spPr bwMode="auto">
            <a:xfrm>
              <a:off x="7179667" y="6134416"/>
              <a:ext cx="2522014" cy="244350"/>
            </a:xfrm>
            <a:prstGeom prst="roundRect">
              <a:avLst/>
            </a:prstGeom>
            <a:solidFill>
              <a:srgbClr val="0F4294"/>
            </a:solidFill>
            <a:ln w="6350">
              <a:solidFill>
                <a:srgbClr val="0F4294"/>
              </a:solidFill>
              <a:headEnd/>
              <a:tailEnd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wrap="none" lIns="36000" rIns="36000" anchor="ctr"/>
            <a:lstStyle/>
            <a:p>
              <a:pPr algn="ctr">
                <a:defRPr/>
              </a:pPr>
              <a:r>
                <a:rPr lang="ko-KR" altLang="en-US" sz="700" dirty="0" err="1">
                  <a:solidFill>
                    <a:schemeClr val="bg1"/>
                  </a:solidFill>
                  <a:latin typeface="+mn-ea"/>
                </a:rPr>
                <a:t>해지해제확정서출력물</a:t>
              </a:r>
              <a:endPara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44" name="타원 3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734" y="29070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4" name="TextBox 3"/>
          <p:cNvSpPr txBox="1"/>
          <p:nvPr/>
        </p:nvSpPr>
        <p:spPr>
          <a:xfrm>
            <a:off x="7079998" y="1510029"/>
            <a:ext cx="235525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 smtClean="0"/>
              <a:t>1. </a:t>
            </a:r>
            <a:r>
              <a:rPr lang="ko-KR" altLang="en-US" sz="700" dirty="0" smtClean="0"/>
              <a:t>기능 </a:t>
            </a:r>
            <a:r>
              <a:rPr lang="ko-KR" altLang="en-US" sz="700" dirty="0" err="1" smtClean="0"/>
              <a:t>바텀시트</a:t>
            </a:r>
            <a:r>
              <a:rPr lang="ko-KR" altLang="en-US" sz="700" dirty="0" smtClean="0"/>
              <a:t> 호출 버튼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1-1</a:t>
            </a:r>
            <a:r>
              <a:rPr lang="en-US" altLang="ko-KR" sz="700" dirty="0"/>
              <a:t>] </a:t>
            </a:r>
            <a:r>
              <a:rPr lang="ko-KR" altLang="en-US" sz="700" dirty="0" err="1" smtClean="0"/>
              <a:t>해지해제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확정서</a:t>
            </a:r>
            <a:r>
              <a:rPr lang="ko-KR" altLang="en-US" sz="700" dirty="0"/>
              <a:t> </a:t>
            </a:r>
            <a:r>
              <a:rPr lang="ko-KR" altLang="en-US" sz="700" dirty="0" smtClean="0"/>
              <a:t>출력물</a:t>
            </a:r>
            <a:r>
              <a:rPr lang="en-US" altLang="ko-KR" sz="700" dirty="0" smtClean="0"/>
              <a:t>- </a:t>
            </a:r>
            <a:r>
              <a:rPr lang="en-US" altLang="ko-KR" sz="700" dirty="0" err="1" smtClean="0"/>
              <a:t>oz</a:t>
            </a:r>
            <a:r>
              <a:rPr lang="ko-KR" altLang="en-US" sz="700" dirty="0" err="1" smtClean="0"/>
              <a:t>리포트호출</a:t>
            </a:r>
            <a:endParaRPr lang="ko-KR" altLang="en-US" sz="700" dirty="0"/>
          </a:p>
        </p:txBody>
      </p:sp>
    </p:spTree>
    <p:extLst>
      <p:ext uri="{BB962C8B-B14F-4D97-AF65-F5344CB8AC3E}">
        <p14:creationId xmlns:p14="http://schemas.microsoft.com/office/powerpoint/2010/main" val="1170712253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공사계약해지해제상세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해지해제공사계약상세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MUI-CT-03-T13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37299"/>
            <a:ext cx="2630093" cy="3323695"/>
            <a:chOff x="701175" y="1527996"/>
            <a:chExt cx="2630093" cy="332369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3364" y="1527996"/>
              <a:ext cx="123984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30162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장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단기 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준공연월일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해지해제확정사유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공사계약서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 </a:t>
              </a:r>
              <a:r>
                <a:rPr lang="en-US" altLang="ko-KR" sz="700" dirty="0">
                  <a:latin typeface="+mn-ea"/>
                </a:rPr>
                <a:t>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조달업체</a:t>
              </a:r>
              <a:r>
                <a:rPr lang="ko-KR" altLang="en-US" sz="700" dirty="0" smtClean="0">
                  <a:latin typeface="+mn-ea"/>
                </a:rPr>
                <a:t> 경영 상황으로 인한 계약해지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3006360"/>
              <a:chOff x="701175" y="1835481"/>
              <a:chExt cx="2630093" cy="300636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7539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41236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2" name="직선 연결선 1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71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3" name="직선 연결선 18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418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28087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물가변동계약금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err="1" smtClean="0">
                  <a:latin typeface="+mn-ea"/>
                </a:rPr>
                <a:t>조정방법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81948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59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7905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822043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89" name="그룹 88"/>
          <p:cNvGrpSpPr/>
          <p:nvPr/>
        </p:nvGrpSpPr>
        <p:grpSpPr>
          <a:xfrm flipV="1">
            <a:off x="6264240" y="3935374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152760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4" y="4152760"/>
            <a:ext cx="162273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470290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모서리가 둥근 직사각형 94"/>
          <p:cNvSpPr/>
          <p:nvPr/>
        </p:nvSpPr>
        <p:spPr>
          <a:xfrm>
            <a:off x="3831550" y="4275762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94306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40445"/>
            <a:ext cx="162273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제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8925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중사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86" name="그룹 85"/>
          <p:cNvGrpSpPr/>
          <p:nvPr/>
        </p:nvGrpSpPr>
        <p:grpSpPr>
          <a:xfrm>
            <a:off x="3836701" y="1937299"/>
            <a:ext cx="2630093" cy="1777166"/>
            <a:chOff x="3865118" y="2694619"/>
            <a:chExt cx="2630093" cy="1777166"/>
          </a:xfrm>
        </p:grpSpPr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총공사부기금액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첨부서류</a:t>
              </a:r>
            </a:p>
          </p:txBody>
        </p: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7" name="그룹 66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8" name="타원 67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9" name="그룹 68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6" name="직선 연결선 7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직선 연결선 7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" name="타원 6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3" name="그룹 7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4" name="직선 연결선 7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직선 연결선 7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7225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9" name="그룹 78"/>
          <p:cNvGrpSpPr/>
          <p:nvPr/>
        </p:nvGrpSpPr>
        <p:grpSpPr>
          <a:xfrm>
            <a:off x="3842316" y="1493927"/>
            <a:ext cx="2626449" cy="354413"/>
            <a:chOff x="720490" y="4004429"/>
            <a:chExt cx="2626449" cy="354413"/>
          </a:xfrm>
        </p:grpSpPr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첨부서류</a:t>
              </a:r>
            </a:p>
          </p:txBody>
        </p: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85" name="그룹 84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99" name="타원 9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00" name="그룹 9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05" name="직선 연결선 10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직선 연결선 10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1" name="타원 10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02" name="그룹 10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03" name="직선 연결선 10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4" name="직선 연결선 10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3236329661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해지해제</a:t>
            </a:r>
            <a:r>
              <a:rPr lang="ko-KR" altLang="en-US" dirty="0"/>
              <a:t> </a:t>
            </a:r>
            <a:r>
              <a:rPr lang="ko-KR" altLang="en-US" dirty="0" smtClean="0"/>
              <a:t>첨부서류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해지해제공사계약상세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해지해제</a:t>
            </a:r>
            <a:r>
              <a:rPr lang="ko-KR" altLang="en-US" dirty="0" smtClean="0">
                <a:latin typeface="+mn-ea"/>
              </a:rPr>
              <a:t> 정보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MUI-CT-03-T14</a:t>
            </a:r>
            <a:endParaRPr lang="ko-KR" altLang="en-US" dirty="0"/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5399" y="1917403"/>
            <a:ext cx="2712026" cy="1602288"/>
            <a:chOff x="3795735" y="2878425"/>
            <a:chExt cx="2712026" cy="1602288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해지해제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30" name="그룹 29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43" name="직선 연결선 4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31" name="모서리가 둥근 직사각형 30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34" name="타원 33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모서리가 둥근 직사각형 34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38" name="타원 37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45" name="그룹 44"/>
          <p:cNvGrpSpPr/>
          <p:nvPr/>
        </p:nvGrpSpPr>
        <p:grpSpPr>
          <a:xfrm>
            <a:off x="675399" y="3579462"/>
            <a:ext cx="2712026" cy="1602288"/>
            <a:chOff x="3795735" y="2878425"/>
            <a:chExt cx="2712026" cy="1602288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47" name="그룹 46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1" name="직선 연결선 6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48" name="모서리가 둥근 직사각형 47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산출내역서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2" name="타원 5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모서리가 둥근 직사각형 5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6" name="타원 5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8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840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</a:t>
            </a:r>
            <a:r>
              <a:rPr lang="en-US" altLang="ko-KR" sz="800" dirty="0"/>
              <a:t>) 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아코디언 전체 펼침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업로드 기능 </a:t>
            </a:r>
            <a:r>
              <a:rPr lang="ko-KR" altLang="en-US" sz="800" dirty="0" err="1"/>
              <a:t>미지원</a:t>
            </a:r>
            <a:r>
              <a:rPr lang="ko-KR" altLang="en-US" sz="800" dirty="0"/>
              <a:t>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</a:t>
            </a:r>
            <a:r>
              <a:rPr lang="ko-KR" altLang="en-US" dirty="0" err="1" smtClean="0"/>
              <a:t>노출시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목록 표시 </a:t>
            </a:r>
            <a:r>
              <a:rPr lang="en-US" altLang="ko-KR" dirty="0" smtClean="0"/>
              <a:t>(</a:t>
            </a:r>
            <a:r>
              <a:rPr lang="ko-KR" altLang="en-US" dirty="0" smtClean="0"/>
              <a:t>상동</a:t>
            </a:r>
            <a:r>
              <a:rPr lang="en-US" altLang="ko-KR" dirty="0" smtClean="0"/>
              <a:t>)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754629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84" name="타원 8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1871515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223169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76083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55508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8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9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첨부서류</a:t>
              </a:r>
            </a:p>
          </p:txBody>
        </p: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64955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8" name="그룹 67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9" name="타원 6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0" name="그룹 6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5" name="직선 연결선 7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직선 연결선 7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1" name="타원 7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2" name="그룹 7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3" name="직선 연결선 7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직선 연결선 7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666292021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 정보상세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2303260"/>
              </p:ext>
            </p:extLst>
          </p:nvPr>
        </p:nvGraphicFramePr>
        <p:xfrm>
          <a:off x="452999" y="1117060"/>
          <a:ext cx="8994883" cy="3806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24124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97003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단기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lshtmSecd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단기 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96610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0361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13956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0668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총공사부기금액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tcstrnBkpngAmt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172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673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353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6713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68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5966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3449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계약부대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6737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계약담당자 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계약담당자 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98241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해제확정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3986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확정사유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cncltnRmvCfmtnRsn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확정사유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15825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233F71D-2B30-B57D-B11B-74A019C159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672553B-0DCF-6A4F-E6F4-7EB1CAE54C9F}"/>
              </a:ext>
            </a:extLst>
          </p:cNvPr>
          <p:cNvSpPr txBox="1"/>
          <p:nvPr/>
        </p:nvSpPr>
        <p:spPr>
          <a:xfrm>
            <a:off x="458117" y="5164939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해지해제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4B16647-05A1-9C2E-E2A5-A16179FE0D2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544869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해지해제첨부서류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해지해제첨부서류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09420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2024021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150</a:t>
            </a:fld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7406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610801"/>
              </p:ext>
            </p:extLst>
          </p:nvPr>
        </p:nvGraphicFramePr>
        <p:xfrm>
          <a:off x="453000" y="1018830"/>
          <a:ext cx="8995591" cy="6412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출력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scwin.btn_otpt_onclick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해지해제확정서 출력물 출력 화면이 호출된다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(UI-CT-03-R21)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해지해제확정서출력물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628649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B2B66F3-D091-2E15-91D3-79C6D7270E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7667882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국외 </a:t>
            </a:r>
            <a:r>
              <a:rPr lang="ko-KR" altLang="en-US" dirty="0" smtClean="0">
                <a:latin typeface="+mn-ea"/>
              </a:rPr>
              <a:t>계약 통합</a:t>
            </a:r>
            <a:r>
              <a:rPr lang="ko-KR" altLang="en-US" dirty="0" smtClean="0"/>
              <a:t> 목록</a:t>
            </a:r>
            <a:endParaRPr lang="en-US" altLang="ko-KR" dirty="0"/>
          </a:p>
          <a:p>
            <a:r>
              <a:rPr lang="en-US" altLang="ko-KR" dirty="0" smtClean="0"/>
              <a:t>2.1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(1/2)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0639973"/>
              </p:ext>
            </p:extLst>
          </p:nvPr>
        </p:nvGraphicFramePr>
        <p:xfrm>
          <a:off x="635474" y="1413419"/>
          <a:ext cx="8701200" cy="30163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 smtClean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 smtClean="0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 smtClean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 smtClean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국외전자계약진행상세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OvsElctrCtrtPrgrsDtlPage.tsx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UC-CT-01-06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UC-CT-02-04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UC-ZZ-19-03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2086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MUI-CT-01-T71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일반현황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ovsElctrCtrtPrgrsDtlTab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일반현황 정보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ovsElctrCtrtPrgrsDtlTab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61568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MUI-CT-01-T72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계좌정보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ovsBacntInfoTab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계좌정보 정보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OvsBacntInfoTab.tsx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04393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MUI-CT-01-T73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보증서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ovsWtgrTab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보증서 정보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src/ui/biz/ct/ctrtIntgList/OvsWtgrTab.t 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404719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MUI-CT-01-T74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인지세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ovsStmtxTab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인지세 정보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OvsStmtxTab.tsx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67498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MUI-CT-01-T75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계약명세서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ovsCtrtDtstTab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정보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OvsCtrtDtstTab.tsx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UC-CT-03-01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311135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MUI-CT-01-T76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첨부서류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ovsElctrCtrtPrgrsDtlTab_Adoc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첨부서류 정보 조회 화면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국내와 동일한 첨부서류 화면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직인등록사항이 추가되어 표시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OvsElctrCtrtPrgrsDtlTab-Adoc.tsx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221164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85571978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국외 </a:t>
            </a:r>
            <a:r>
              <a:rPr lang="ko-KR" altLang="en-US" dirty="0" smtClean="0">
                <a:latin typeface="+mn-ea"/>
              </a:rPr>
              <a:t>계약 통합</a:t>
            </a:r>
            <a:r>
              <a:rPr lang="ko-KR" altLang="en-US" dirty="0" smtClean="0"/>
              <a:t> 목록</a:t>
            </a:r>
            <a:endParaRPr lang="en-US" altLang="ko-KR" dirty="0"/>
          </a:p>
          <a:p>
            <a:r>
              <a:rPr lang="en-US" altLang="ko-KR" dirty="0" smtClean="0"/>
              <a:t>2.1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(2/2)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1106038"/>
              </p:ext>
            </p:extLst>
          </p:nvPr>
        </p:nvGraphicFramePr>
        <p:xfrm>
          <a:off x="635474" y="1413419"/>
          <a:ext cx="8701200" cy="35039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smtClean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 smtClean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)</a:t>
                      </a:r>
                      <a:endParaRPr lang="en-US" altLang="ko-KR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smtClean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smtClean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유스케이스 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5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MUI-CT-01-M72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국외전자계약확정상세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ovsElctrCtrtCfmtnPage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계약확정상세정보 조회 화면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일반현황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계좌정보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보증서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인지세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탭은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국외전자계약진행상세와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동일함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UC-CT-01-06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UC-CT-02-04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UC-ZZ-19-03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MUI-CT-01-T80</a:t>
                      </a:r>
                      <a:endParaRPr 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첨부서류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ovsElctrCtrtPrgrsDtlTab_Adoc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계약상세정보 중에서 첨부서류 정보 조회 화면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국내와 동일한 첨부서류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ovsElctrCtrtPrgrsDtlTab_Adoc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UC-CT-01-02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22116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MUI-CT-01-M77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상업계약서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상세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OvsCmbzCtrdocDtlPage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상업계약서의 상세정보를 조회하는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ovsCmbzCtrdocDtl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OvsCmbzCtrdocDtlPage.tsx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591013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MUI-CT-01-T77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계약현황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ovsCmbzCtrdocDtl_Stts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상업계약서의 상세정보를 조회하는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ovsCmbzCtrdocDtl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ovsCmbzCtrdocDtl_Stts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926247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MUI-CT-01-T78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계약명세서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ovsCmbzCtrdocDtl_Ctrt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상업계약서의 상세정보를 조회하는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ovsCmbzCtrdocDtl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ovsCmbzCtrdocDtl_Ctrt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466354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MUI-CT-01-T79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계약대상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ovsCmbzCtrdocDtl_Trgt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상업계약서의 상세정보를 조회하는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ovsCmbzCtrdocDtl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ovsCmbzCtrdocDtl_Trgt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457377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MUI-CT-01-P78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상업계약서명세서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OvsCmbzCtrtDtst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상업계약명세서 목록정보를 조회하는 화면</a:t>
                      </a:r>
                      <a:endParaRPr lang="ko-KR" altLang="en-US" sz="800" kern="12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ovsCmbzCtrdocDtl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OvsCmbzCtrtDtst.tsx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329404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1254904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 smtClean="0"/>
              <a:t>2.2</a:t>
            </a:r>
            <a:r>
              <a:rPr lang="en-US" altLang="ko-KR" dirty="0"/>
              <a:t>. </a:t>
            </a:r>
            <a:r>
              <a:rPr lang="ko-KR" altLang="en-US" dirty="0"/>
              <a:t>화면 </a:t>
            </a:r>
            <a:r>
              <a:rPr lang="ko-KR" altLang="en-US" dirty="0" smtClean="0"/>
              <a:t>흐름도</a:t>
            </a:r>
            <a:endParaRPr lang="ko-KR" altLang="en-US" dirty="0"/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632221" y="1628964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계약통합목록조회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94227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701087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3176794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933370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63355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국외전자계약진행상세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457199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 smtClean="0">
                <a:solidFill>
                  <a:schemeClr val="tx1"/>
                </a:solidFill>
              </a:rPr>
              <a:t>사용자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2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4398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인지세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94489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일반현황</a:t>
            </a:r>
          </a:p>
        </p:txBody>
      </p:sp>
      <p:sp>
        <p:nvSpPr>
          <p:cNvPr id="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94489" y="227314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계좌정보</a:t>
            </a:r>
          </a:p>
        </p:txBody>
      </p:sp>
      <p:sp>
        <p:nvSpPr>
          <p:cNvPr id="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439827" y="227314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63355" y="424670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상업계약서상세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3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34" idx="1"/>
          </p:cNvCxnSpPr>
          <p:nvPr/>
        </p:nvCxnSpPr>
        <p:spPr>
          <a:xfrm>
            <a:off x="2532221" y="1772964"/>
            <a:ext cx="931134" cy="261773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</p:cNvCxnSpPr>
          <p:nvPr/>
        </p:nvCxnSpPr>
        <p:spPr>
          <a:xfrm>
            <a:off x="4363355" y="4390700"/>
            <a:ext cx="722137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7" idx="3"/>
            <a:endCxn id="158" idx="2"/>
          </p:cNvCxnSpPr>
          <p:nvPr/>
        </p:nvCxnSpPr>
        <p:spPr>
          <a:xfrm flipV="1">
            <a:off x="8025623" y="3023370"/>
            <a:ext cx="1223704" cy="136733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화살표 연결선 4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162" idx="1"/>
          </p:cNvCxnSpPr>
          <p:nvPr/>
        </p:nvCxnSpPr>
        <p:spPr>
          <a:xfrm>
            <a:off x="2532221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94489" y="29173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보증서</a:t>
            </a:r>
          </a:p>
        </p:txBody>
      </p:sp>
      <p:sp>
        <p:nvSpPr>
          <p:cNvPr id="8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439827" y="29100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진행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첨부서류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63355" y="226755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국외전자계약확정상세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4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48" idx="1"/>
          </p:cNvCxnSpPr>
          <p:nvPr/>
        </p:nvCxnSpPr>
        <p:spPr>
          <a:xfrm>
            <a:off x="2532221" y="1772964"/>
            <a:ext cx="931134" cy="63858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166118" y="1430586"/>
            <a:ext cx="2314545" cy="2471097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125623" y="424670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상업계약서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2" idx="3"/>
          </p:cNvCxnSpPr>
          <p:nvPr/>
        </p:nvCxnSpPr>
        <p:spPr>
          <a:xfrm>
            <a:off x="4363355" y="1772964"/>
            <a:ext cx="73887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48" idx="3"/>
          </p:cNvCxnSpPr>
          <p:nvPr/>
        </p:nvCxnSpPr>
        <p:spPr>
          <a:xfrm>
            <a:off x="4363355" y="2411552"/>
            <a:ext cx="722137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4" idx="3"/>
            <a:endCxn id="158" idx="2"/>
          </p:cNvCxnSpPr>
          <p:nvPr/>
        </p:nvCxnSpPr>
        <p:spPr>
          <a:xfrm>
            <a:off x="7480663" y="2666135"/>
            <a:ext cx="1768664" cy="35723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94489" y="424670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94489" y="489087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94489" y="553505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계약대상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166118" y="4048323"/>
            <a:ext cx="1165013" cy="1921370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cxnSp>
        <p:nvCxnSpPr>
          <p:cNvPr id="80" name="직선 화살표 연결선 7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57" idx="1"/>
          </p:cNvCxnSpPr>
          <p:nvPr/>
        </p:nvCxnSpPr>
        <p:spPr>
          <a:xfrm>
            <a:off x="6403486" y="4390700"/>
            <a:ext cx="722137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" name="그룹 80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83" name="그룹 82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89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0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2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439827" y="354168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확정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첨부서류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3119885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 smtClean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국외전자계약진행상세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ovsElctrCtrtPage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일반현황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ovsElctrCtrtPrgrsDtlTab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계좌정보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ovsBacntInfoTab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 smtClean="0"/>
              <a:t>&lt;&lt;React Object&gt;&gt;</a:t>
            </a:r>
            <a:endParaRPr lang="en-US" altLang="ko-KR" sz="1100" dirty="0"/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smtClean="0"/>
              <a:t>계약 국외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65266"/>
            <a:ext cx="967509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465584"/>
            <a:ext cx="967509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992582" y="2990174"/>
            <a:ext cx="967509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보증서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ovsWtgrTab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인지세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ovsStmtxTab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ovsCtrtDtstTab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첨부서류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ovsElctrCtrtPrgrsDtlTab_Adoc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 smtClean="0">
                <a:solidFill>
                  <a:schemeClr val="tx1"/>
                </a:solidFill>
              </a:rPr>
              <a:t>2.3.1 </a:t>
            </a:r>
            <a:r>
              <a:rPr lang="ko-KR" altLang="en-US" sz="1200" dirty="0" smtClean="0">
                <a:solidFill>
                  <a:schemeClr val="tx1"/>
                </a:solidFill>
              </a:rPr>
              <a:t>계약 국외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국외전자계약확정상세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ovsElctrCtrtCfmtnPage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1" name="직선 화살표 연결선 3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285837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첨부서류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ovsElctrCtrtCfmtnDtlTab_Adoc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29" name="직선 화살표 연결선 2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8" idx="0"/>
            <a:endCxn id="9" idx="2"/>
          </p:cNvCxnSpPr>
          <p:nvPr/>
        </p:nvCxnSpPr>
        <p:spPr>
          <a:xfrm flipV="1">
            <a:off x="4149437" y="3810190"/>
            <a:ext cx="674254" cy="20361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98410963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 smtClean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상업계약서상세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ovsCmbzCtrdocDtlPage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계약현황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ovsCmbzCtrdocDtl_Stts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계약명세서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ovsCmbzCtrdocDtl_Ctrt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 smtClean="0"/>
              <a:t>&lt;&lt;React Object&gt;&gt;</a:t>
            </a:r>
            <a:endParaRPr lang="en-US" altLang="ko-KR" sz="1100" dirty="0"/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smtClean="0"/>
              <a:t>계약 국외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65266"/>
            <a:ext cx="967509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465584"/>
            <a:ext cx="967509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992582" y="2990174"/>
            <a:ext cx="967509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계약대상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ovsCmbzCtrdocDtl_Trgt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상업계약서명세서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ovsCmbzCtrtDtst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 smtClean="0">
                <a:solidFill>
                  <a:schemeClr val="tx1"/>
                </a:solidFill>
              </a:rPr>
              <a:t>2.3.1 </a:t>
            </a:r>
            <a:r>
              <a:rPr lang="ko-KR" altLang="en-US" sz="1200" dirty="0" smtClean="0">
                <a:solidFill>
                  <a:schemeClr val="tx1"/>
                </a:solidFill>
              </a:rPr>
              <a:t>계약 국외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486744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국외전자계약진행상세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 smtClean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 smtClean="0">
                <a:solidFill>
                  <a:prstClr val="black"/>
                </a:solidFill>
              </a:rPr>
              <a:t>계약번호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 (00</a:t>
            </a:r>
            <a:r>
              <a:rPr lang="en-US" altLang="ko-KR" sz="700" dirty="0" smtClean="0">
                <a:solidFill>
                  <a:prstClr val="black"/>
                </a:solidFill>
              </a:rPr>
              <a:t>)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MODEL-3</a:t>
            </a:r>
            <a:endParaRPr lang="en-US" altLang="ko-KR" sz="900" b="1" dirty="0">
              <a:solidFill>
                <a:prstClr val="black"/>
              </a:solidFill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358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일반현황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계약건명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전체계약상태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KD111111111 (00)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MODEL-3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2025-03-03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서류요청</a:t>
            </a:r>
            <a:endParaRPr lang="ko-KR" altLang="en-US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국제확정전력운영계약팀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2310232" cy="107722"/>
            <a:chOff x="764169" y="4142235"/>
            <a:chExt cx="2310232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일반현황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88821" y="4142235"/>
              <a:ext cx="4014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계좌정보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55170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보증서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449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mtClean="0">
                  <a:latin typeface="+mn-ea"/>
                </a:rPr>
                <a:t>인지세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593819" y="4142235"/>
              <a:ext cx="480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075990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계약진행</a:t>
            </a:r>
            <a:endParaRPr lang="ko-KR" altLang="en-US" sz="600" dirty="0"/>
          </a:p>
        </p:txBody>
      </p:sp>
      <p:grpSp>
        <p:nvGrpSpPr>
          <p:cNvPr id="173" name="그룹 172"/>
          <p:cNvGrpSpPr/>
          <p:nvPr/>
        </p:nvGrpSpPr>
        <p:grpSpPr>
          <a:xfrm>
            <a:off x="3836701" y="1924360"/>
            <a:ext cx="2630093" cy="919434"/>
            <a:chOff x="3865118" y="2694619"/>
            <a:chExt cx="2630093" cy="919434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계약금액외화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계약금액원화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계약금액달러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123,456.00 NTD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5,771,427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3,933.29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4768712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05" name="그룹 204"/>
          <p:cNvGrpSpPr/>
          <p:nvPr/>
        </p:nvGrpSpPr>
        <p:grpSpPr>
          <a:xfrm>
            <a:off x="3842944" y="3910894"/>
            <a:ext cx="2630093" cy="1759690"/>
            <a:chOff x="3865118" y="2694619"/>
            <a:chExt cx="2630093" cy="1759690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4"/>
              <a:ext cx="792000" cy="14627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224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383856" y="2782065"/>
            <a:ext cx="846386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2025-03-03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 err="1" smtClean="0">
                <a:latin typeface="+mn-ea"/>
              </a:rPr>
              <a:t>국제확정전력운영계약팀</a:t>
            </a:r>
            <a:endParaRPr lang="en-US" altLang="ko-KR" sz="600" dirty="0" smtClean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3,933.29 </a:t>
            </a:r>
            <a:r>
              <a:rPr lang="en-US" altLang="ko-KR" sz="600" dirty="0" smtClean="0">
                <a:latin typeface="+mn-ea"/>
              </a:rPr>
              <a:t>USD</a:t>
            </a:r>
            <a:endParaRPr lang="en-US" altLang="ko-KR" sz="600" dirty="0"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" name="그룹 13"/>
          <p:cNvGrpSpPr/>
          <p:nvPr/>
        </p:nvGrpSpPr>
        <p:grpSpPr>
          <a:xfrm>
            <a:off x="3795734" y="1500912"/>
            <a:ext cx="2712027" cy="354413"/>
            <a:chOff x="3671524" y="2151787"/>
            <a:chExt cx="2712027" cy="354413"/>
          </a:xfrm>
        </p:grpSpPr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15178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506200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16615" y="2506200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1" name="그룹 230"/>
            <p:cNvGrpSpPr/>
            <p:nvPr/>
          </p:nvGrpSpPr>
          <p:grpSpPr>
            <a:xfrm>
              <a:off x="3760294" y="2289593"/>
              <a:ext cx="2310232" cy="107722"/>
              <a:chOff x="764169" y="4142235"/>
              <a:chExt cx="2310232" cy="107722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>
                    <a:latin typeface="+mn-ea"/>
                  </a:rPr>
                  <a:t>일반현황</a:t>
                </a:r>
              </a:p>
            </p:txBody>
          </p:sp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88821" y="4142235"/>
                <a:ext cx="40147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계좌정보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655170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보증서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449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인지세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593819" y="4142235"/>
                <a:ext cx="480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261" name="그룹 260"/>
            <p:cNvGrpSpPr/>
            <p:nvPr/>
          </p:nvGrpSpPr>
          <p:grpSpPr>
            <a:xfrm>
              <a:off x="5920211" y="2251470"/>
              <a:ext cx="422853" cy="187961"/>
              <a:chOff x="3641308" y="2234886"/>
              <a:chExt cx="422853" cy="187961"/>
            </a:xfrm>
          </p:grpSpPr>
          <p:sp>
            <p:nvSpPr>
              <p:cNvPr id="262" name="타원 26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63" name="그룹 26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68" name="직선 연결선 26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69" name="직선 연결선 26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64" name="타원 26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65" name="그룹 26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66" name="직선 연결선 26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67" name="직선 연결선 26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278" name="그룹 277"/>
          <p:cNvGrpSpPr/>
          <p:nvPr/>
        </p:nvGrpSpPr>
        <p:grpSpPr>
          <a:xfrm>
            <a:off x="3836701" y="2917627"/>
            <a:ext cx="2630093" cy="919434"/>
            <a:chOff x="3865118" y="2694619"/>
            <a:chExt cx="2630093" cy="919434"/>
          </a:xfrm>
        </p:grpSpPr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구매형태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82" name="직사각형 281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AOG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URGENT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ROUTINE</a:t>
              </a: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45906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80689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</p:grpSp>
      <p:sp>
        <p:nvSpPr>
          <p:cNvPr id="298" name="TextBox 29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69" name="타원 1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0" name="타원 1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93" name="타원 1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08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일반현황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계좌정보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보증서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인지세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계약명세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09" name="직사각형 208"/>
          <p:cNvSpPr/>
          <p:nvPr/>
        </p:nvSpPr>
        <p:spPr>
          <a:xfrm>
            <a:off x="7052436" y="6067424"/>
            <a:ext cx="2314310" cy="20845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260624.</a:t>
            </a:r>
            <a:r>
              <a:rPr lang="ko-KR" altLang="en-US" sz="500" dirty="0" err="1" smtClean="0"/>
              <a:t>물품부호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인지세사용여부</a:t>
            </a:r>
            <a:r>
              <a:rPr lang="en-US" altLang="ko-KR" sz="500" dirty="0" smtClean="0"/>
              <a:t>/</a:t>
            </a:r>
            <a:r>
              <a:rPr lang="ko-KR" altLang="en-US" sz="500" dirty="0" err="1" smtClean="0"/>
              <a:t>인지세금액</a:t>
            </a:r>
            <a:r>
              <a:rPr lang="en-US" altLang="ko-KR" sz="500" dirty="0" smtClean="0"/>
              <a:t> </a:t>
            </a:r>
            <a:r>
              <a:rPr lang="ko-KR" altLang="en-US" sz="500" dirty="0" smtClean="0"/>
              <a:t>누락</a:t>
            </a:r>
            <a:endParaRPr lang="en-US" altLang="ko-KR" sz="500" dirty="0" smtClean="0"/>
          </a:p>
        </p:txBody>
      </p:sp>
      <p:sp>
        <p:nvSpPr>
          <p:cNvPr id="203" name="평행 사변형 202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4" name="TextBox 203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1425347812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일반현황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4704303"/>
            <a:chOff x="701175" y="1527996"/>
            <a:chExt cx="2630093" cy="4704303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3968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30887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통합참조번호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전자계약상태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계약업체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계약사유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보증기간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담당자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기능구분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일반조건코드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무역대리점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물품번호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27456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 (00)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MODEL-3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2025-03-03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서류요청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국제확정전력운영계약팀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전력운영사업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TESLA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1,000.00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제조계약서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24</a:t>
              </a:r>
              <a:r>
                <a:rPr lang="ko-KR" altLang="en-US" sz="700" dirty="0">
                  <a:latin typeface="+mn-ea"/>
                </a:rPr>
                <a:t>개월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최인선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수리부속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미국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D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290764"/>
              <a:chOff x="701175" y="1835481"/>
              <a:chExt cx="2630093" cy="4290764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5" name="직선 연결선 7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6724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직선 연결선 7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819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직선 연결선 7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39672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직선 연결선 7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1146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9" name="직선 연결선 7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826207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직선 연결선 7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556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직선 연결선 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490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2" name="직선 연결선 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7396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4" name="직선 연결선 8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8870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5" name="직선 연결선 8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590344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05" name="직선 연결선 10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12624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106" name="그룹 105"/>
          <p:cNvGrpSpPr/>
          <p:nvPr/>
        </p:nvGrpSpPr>
        <p:grpSpPr>
          <a:xfrm>
            <a:off x="3836701" y="1497099"/>
            <a:ext cx="2630093" cy="4739759"/>
            <a:chOff x="701175" y="1835481"/>
            <a:chExt cx="2630093" cy="4739759"/>
          </a:xfrm>
        </p:grpSpPr>
        <p:sp>
          <p:nvSpPr>
            <p:cNvPr id="111" name="직사각형 110"/>
            <p:cNvSpPr/>
            <p:nvPr/>
          </p:nvSpPr>
          <p:spPr>
            <a:xfrm>
              <a:off x="703268" y="1835481"/>
              <a:ext cx="792000" cy="47352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73975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생산자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화폐구분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수의사유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지불조건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보증금예치율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가격조건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검사조건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품목수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집행유형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예상납기일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사업승인일자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최종선적일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절충조건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절충사업관리번호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 CPC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납기월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승인일자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분할선적유무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분할선적횟수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지체한도율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73975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일반경쟁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미 달러</a:t>
              </a: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인수도조건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Free Carrier : </a:t>
              </a:r>
              <a:r>
                <a:rPr lang="ko-KR" altLang="en-US" sz="700" dirty="0">
                  <a:latin typeface="+mn-ea"/>
                </a:rPr>
                <a:t>운송인인도조건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공급자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년 </a:t>
              </a:r>
              <a:r>
                <a:rPr lang="ko-KR" altLang="en-US" sz="700" dirty="0" err="1">
                  <a:latin typeface="+mn-ea"/>
                </a:rPr>
                <a:t>보증형태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구매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2025-03-30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10(%)</a:t>
              </a:r>
            </a:p>
          </p:txBody>
        </p:sp>
        <p:grpSp>
          <p:nvGrpSpPr>
            <p:cNvPr id="114" name="그룹 113"/>
            <p:cNvGrpSpPr/>
            <p:nvPr/>
          </p:nvGrpSpPr>
          <p:grpSpPr>
            <a:xfrm>
              <a:off x="701175" y="1835481"/>
              <a:ext cx="2630093" cy="4722912"/>
              <a:chOff x="701175" y="1835481"/>
              <a:chExt cx="2630093" cy="4722912"/>
            </a:xfrm>
          </p:grpSpPr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7" name="직선 연결선 11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36" name="직선 연결선 13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37" name="직선 연결선 13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38" name="직선 연결선 13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0" name="직선 연결선 13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직선 연결선 14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2" name="직선 연결선 14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3" name="직선 연결선 14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4" name="직선 연결선 14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6724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5" name="직선 연결선 14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819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6" name="직선 연결선 14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39672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7" name="직선 연결선 14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1146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8" name="직선 연결선 14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826207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9" name="직선 연결선 14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556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2" name="직선 연결선 15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490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3" name="직선 연결선 15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7396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4" name="직선 연결선 15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8870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5" name="직선 연결선 15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590344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12624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6335593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5" name="직선 연결선 17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558393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048490125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일반현황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MUI-CT-01-T71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493927"/>
            <a:ext cx="2630093" cy="1938992"/>
            <a:chOff x="701175" y="1835481"/>
            <a:chExt cx="2630093" cy="1938992"/>
          </a:xfrm>
        </p:grpSpPr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9170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감가율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감가금액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납부방법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운송방법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증권번호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인지세 사용여부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인지세 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0.15</a:t>
              </a:r>
              <a:r>
                <a:rPr lang="en-US" altLang="ko-KR" sz="700" dirty="0">
                  <a:latin typeface="+mn-ea"/>
                </a:rPr>
                <a:t>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0(%)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전자보증서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선박</a:t>
              </a: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없음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917026"/>
              <a:chOff x="701175" y="1835481"/>
              <a:chExt cx="2630093" cy="1917026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4989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0294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050025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4163356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8074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8074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503744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22288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-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22288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최인선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70" name="그룹 69"/>
          <p:cNvGrpSpPr/>
          <p:nvPr/>
        </p:nvGrpSpPr>
        <p:grpSpPr>
          <a:xfrm>
            <a:off x="716366" y="3509105"/>
            <a:ext cx="2630093" cy="919434"/>
            <a:chOff x="3865118" y="2694619"/>
            <a:chExt cx="2630093" cy="919434"/>
          </a:xfrm>
        </p:grpSpPr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2" name="직사각형 71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계약금액외화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계약금액원화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계약금액달러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123,456.00 NTD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5,771,427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3,933.29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2" name="그룹 91"/>
          <p:cNvGrpSpPr/>
          <p:nvPr/>
        </p:nvGrpSpPr>
        <p:grpSpPr>
          <a:xfrm>
            <a:off x="716366" y="4502372"/>
            <a:ext cx="2630093" cy="919434"/>
            <a:chOff x="3865118" y="2694619"/>
            <a:chExt cx="2630093" cy="919434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구매형태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AOG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URGENT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ROUTINE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</p:txBody>
        </p: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45906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80689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842944" y="1547061"/>
            <a:ext cx="2630093" cy="2406021"/>
            <a:chOff x="3865118" y="2694619"/>
            <a:chExt cx="2630093" cy="2406021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3867211" y="2946203"/>
              <a:ext cx="792000" cy="214492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HSBC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TESLA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2025-03-03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보증보험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 USD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11111-11-111111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649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020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39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2703137241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159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7556965"/>
              </p:ext>
            </p:extLst>
          </p:nvPr>
        </p:nvGraphicFramePr>
        <p:xfrm>
          <a:off x="452999" y="982973"/>
          <a:ext cx="8994883" cy="5235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prcmRqtInstCd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66925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grntePrdDayCnt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51175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gnrlCndCd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7257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ntnCd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086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3718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지불조건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pymtDfryCndCd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지불조건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06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inspShpCd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86094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예상납기일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expcDudtYmd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예상납기일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27402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최종선적일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lastShpgYmd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최종선적일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3125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UN CPC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UN CPC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60620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분할선적유무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prttnShpgYn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분할선적유무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346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lqdmgRt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6502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6402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scrtNo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903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통합참조번호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통합참조번호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9771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전자계약상태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elctrCtrtPrgrsSttsCd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전자계약상태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77549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ctrtRsnCd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5909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picId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00324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gnrlCndCd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699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j-lt"/>
                          <a:ea typeface="+mn-ea"/>
                          <a:cs typeface="+mn-cs"/>
                        </a:rPr>
                        <a:t>물품부호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cmdtySgn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물품부호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5982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화폐구분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crncCd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화폐구분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1973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보증금예치율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grnteAmtDepstRt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보증금예치율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731197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047EBE0-4549-DC75-12C3-7B8C61A708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15959210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160</a:t>
            </a:fld>
            <a:endParaRPr lang="ko-KR" altLang="en-US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7214647"/>
              </p:ext>
            </p:extLst>
          </p:nvPr>
        </p:nvGraphicFramePr>
        <p:xfrm>
          <a:off x="452999" y="983508"/>
          <a:ext cx="8994883" cy="49074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itemCnt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bizAprvYmd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ofstCndCd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납기월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dudtMm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납기월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66925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prttnShpgNmtm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51175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rdprcRt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7257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086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3718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orderInstNm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06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ctrtBzentyCd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86094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ctrtPrgrsCd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27402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기능구분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fwkSeCd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기능구분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3125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bzentyCd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60620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생산자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prdctnBzentyCd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생산자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346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수의사유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pvctRsnCd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수의사유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6502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prcCndCd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6402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bizTypeCd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903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implTypeItemCd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9771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절충사업관리번호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ofstBizMngNo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절충사업관리번호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77549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aprvYmd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arrsLimRt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5909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rdprcAmt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00324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trnsMthdCd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699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인지세사용여부</a:t>
                      </a:r>
                      <a:r>
                        <a:rPr lang="en-US" altLang="ko-KR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+mj-lt"/>
                          <a:ea typeface="+mn-ea"/>
                        </a:rPr>
                        <a:t>인지세금액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stmtxAplcnCd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stmtxPayAmt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인지세 사용여부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</a:rPr>
                        <a:t>인지세 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1/22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5982498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9B8A2E0-54EA-67DA-D442-E68561AE350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51789A8-03CE-7936-84AE-2143CA92098F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" name="Text Box 73">
            <a:extLst>
              <a:ext uri="{FF2B5EF4-FFF2-40B4-BE49-F238E27FC236}">
                <a16:creationId xmlns:a16="http://schemas.microsoft.com/office/drawing/2014/main" id="{8AA20ECF-26B3-51A7-2965-86A0B08E39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91372724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161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98037"/>
            <a:ext cx="22014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5484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ctrtFrcncyAmt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ctrtUsdAmt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FBBDB464-E870-2D21-5267-3D3EE8896297}"/>
              </a:ext>
            </a:extLst>
          </p:cNvPr>
          <p:cNvSpPr txBox="1"/>
          <p:nvPr/>
        </p:nvSpPr>
        <p:spPr>
          <a:xfrm>
            <a:off x="452999" y="1946247"/>
            <a:ext cx="228324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구매형태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dm_prchsShp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35A44B-FA6E-B9CC-0416-DEBF0346724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220305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AOG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aog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항공기 비행불능 상태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납품기한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URGENT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emrg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긴급상황 발생시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납품기한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지체한도율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감가율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ROUTINE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routn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일반적인 상황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납품기한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지체한도율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감가율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A5761D99-7A3E-7EF8-1B4C-8CE2AFB0D61F}"/>
              </a:ext>
            </a:extLst>
          </p:cNvPr>
          <p:cNvSpPr txBox="1"/>
          <p:nvPr/>
        </p:nvSpPr>
        <p:spPr>
          <a:xfrm>
            <a:off x="460151" y="3094457"/>
            <a:ext cx="22672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dl_ctrtBzenty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F82CA70-8CB4-3226-F907-FED98F0B3B6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7303" y="3351266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9958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dpstrNm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47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elsgnYmd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6641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depsPayMthdCd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81151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3344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bacntRlnmNo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7095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enacno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03509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9087ABC1-CCCB-F867-4DE5-37891D30A411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6" name="Text Box 73">
            <a:extLst>
              <a:ext uri="{FF2B5EF4-FFF2-40B4-BE49-F238E27FC236}">
                <a16:creationId xmlns:a16="http://schemas.microsoft.com/office/drawing/2014/main" id="{CFA12926-45C1-8A0F-BFC3-EB7B7B5E7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1472865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162</a:t>
            </a:fld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8E80AC4-82B9-2DAC-735D-39626437ABA7}"/>
              </a:ext>
            </a:extLst>
          </p:cNvPr>
          <p:cNvSpPr txBox="1"/>
          <p:nvPr/>
        </p:nvSpPr>
        <p:spPr>
          <a:xfrm>
            <a:off x="447726" y="5879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F95BDF9-C1C9-A214-43C2-526EF8D786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9966533"/>
              </p:ext>
            </p:extLst>
          </p:nvPr>
        </p:nvGraphicFramePr>
        <p:xfrm>
          <a:off x="442609" y="822902"/>
          <a:ext cx="8995590" cy="1601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계좌정보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scwin.tacpgBacntInfo_ontabclick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계좌정보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UI-CT-01-M73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5428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scwin.tacpgWtgr_ontabclick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보증서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UI-CT-01-M74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877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scwin.tacpgStmtx_ontabclick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UI-CT-01-M76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71667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scwin.tacpgCtrtDtst_ontabclick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UI-CT-01-M77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93052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첨부서류 탭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/>
                        <a:t>국외전자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계약상세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첨부서류 화면으로 이동한다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947577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687D2DB-DB19-6637-C850-4AD6ED520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01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40933442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계좌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계좌정보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계좌정보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계좌정보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1169259"/>
            <a:chOff x="701175" y="1527996"/>
            <a:chExt cx="2630093" cy="1169259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85443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집행유형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 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국제확정전력운영계약팀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MODEL-3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구매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858960"/>
              <a:chOff x="701175" y="1835481"/>
              <a:chExt cx="2630093" cy="85896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1" name="그룹 70"/>
          <p:cNvGrpSpPr/>
          <p:nvPr/>
        </p:nvGrpSpPr>
        <p:grpSpPr>
          <a:xfrm>
            <a:off x="3842944" y="1547061"/>
            <a:ext cx="2630093" cy="1123811"/>
            <a:chOff x="3865118" y="2694619"/>
            <a:chExt cx="2630093" cy="1123811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지정운송인정보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3" name="직사각형 82"/>
            <p:cNvSpPr/>
            <p:nvPr/>
          </p:nvSpPr>
          <p:spPr>
            <a:xfrm>
              <a:off x="3867211" y="2946203"/>
              <a:ext cx="792000" cy="87222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지정운송인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운송인주소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운송인전화번호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운송인팩스번호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김길동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02-2345-6789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701175" y="2812016"/>
            <a:ext cx="2630093" cy="1362570"/>
            <a:chOff x="3865118" y="2669567"/>
            <a:chExt cx="2630093" cy="1362570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업체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10842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간이주소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Seoul, 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5551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6" name="그룹 125"/>
          <p:cNvGrpSpPr/>
          <p:nvPr/>
        </p:nvGrpSpPr>
        <p:grpSpPr>
          <a:xfrm>
            <a:off x="701175" y="4293553"/>
            <a:ext cx="2630093" cy="1788455"/>
            <a:chOff x="3865118" y="2669567"/>
            <a:chExt cx="2630093" cy="1788455"/>
          </a:xfrm>
        </p:grpSpPr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8" name="직사각형 127"/>
            <p:cNvSpPr/>
            <p:nvPr/>
          </p:nvSpPr>
          <p:spPr>
            <a:xfrm>
              <a:off x="3867211" y="2946203"/>
              <a:ext cx="792000" cy="15081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은행코드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은행사업자번호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은행명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결재방식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송금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11111-11-111111</a:t>
              </a:r>
            </a:p>
          </p:txBody>
        </p: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3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80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23704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6" name="그룹 175"/>
          <p:cNvGrpSpPr/>
          <p:nvPr/>
        </p:nvGrpSpPr>
        <p:grpSpPr>
          <a:xfrm>
            <a:off x="3842944" y="2812016"/>
            <a:ext cx="2630093" cy="696397"/>
            <a:chOff x="3865118" y="2694619"/>
            <a:chExt cx="2630093" cy="696397"/>
          </a:xfrm>
        </p:grpSpPr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제조사정보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8" name="직사각형 177"/>
            <p:cNvSpPr/>
            <p:nvPr/>
          </p:nvSpPr>
          <p:spPr>
            <a:xfrm>
              <a:off x="3867211" y="2946204"/>
              <a:ext cx="792000" cy="44144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제조사명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제조사국가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SAMSUNG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75551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924258162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164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06892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864166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2097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orderInstNm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crtrNm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bizTypeCd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2240045"/>
            <a:ext cx="28026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계약업체정보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96854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계약업체사업자등록번호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업체주소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간이주소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bzentyAddr2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업체주소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간이주소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600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54BC54CE-0804-7E53-09ED-4499CCF60260}"/>
              </a:ext>
            </a:extLst>
          </p:cNvPr>
          <p:cNvSpPr txBox="1"/>
          <p:nvPr/>
        </p:nvSpPr>
        <p:spPr>
          <a:xfrm>
            <a:off x="452999" y="3790389"/>
            <a:ext cx="230568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계좌정보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dm_bacntInfo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99983980-D43F-40E1-F860-CC8357AA4AC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404719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은행코드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은행사업자번호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은행사업자번호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결재방식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atrzMthCd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결재방식 선택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dpstrNm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예금주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bacntRlnmNo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계좌실명번호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99235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enacno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계좌번호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25799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C739DD5-4050-E4BB-0AB3-52A39B6884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7314667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165</a:t>
            </a:fld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883621"/>
            <a:ext cx="25525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지정운송인정보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dm_dsgnPtr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4043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dsgnPtrNm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성명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운송인주소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ptrAddr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주소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운송인전화번호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ptrEntlno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전화번호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운송인팩스번호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ptrFxno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팩스번호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2188165"/>
            <a:ext cx="2268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제조사정보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dm_mkrPtr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4497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mkrNm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제조사명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mkrNtnNm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제조사국가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963D0A7E-0394-6D27-749B-3986B543CAA8}"/>
              </a:ext>
            </a:extLst>
          </p:cNvPr>
          <p:cNvSpPr txBox="1"/>
          <p:nvPr/>
        </p:nvSpPr>
        <p:spPr>
          <a:xfrm>
            <a:off x="458117" y="606892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EF5AB992-B6F1-EEFE-E05D-531C327687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72289064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8EFE07E-9A54-478E-9315-CD17371E679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166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B2CA254-11F0-A7A2-2DC3-034CF53324AB}"/>
              </a:ext>
            </a:extLst>
          </p:cNvPr>
          <p:cNvSpPr txBox="1"/>
          <p:nvPr/>
        </p:nvSpPr>
        <p:spPr>
          <a:xfrm>
            <a:off x="458117" y="5701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35FB90A-0E03-A6C9-7A97-EEE104AC85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3534012"/>
              </p:ext>
            </p:extLst>
          </p:nvPr>
        </p:nvGraphicFramePr>
        <p:xfrm>
          <a:off x="458117" y="79954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계좌정보를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930195F-E553-6647-D9A8-1CD8225BBC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00195576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보증서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보증서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</a:t>
            </a:r>
            <a:r>
              <a:rPr lang="ko-KR" altLang="en-US" dirty="0" smtClean="0"/>
              <a:t>보증서 </a:t>
            </a:r>
            <a:r>
              <a:rPr lang="ko-KR" altLang="en-US" dirty="0"/>
              <a:t>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/>
              <a:t>보증서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745387"/>
            <a:chOff x="701175" y="1527996"/>
            <a:chExt cx="2630093" cy="74538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smtClean="0">
                  <a:latin typeface="+mn-ea"/>
                </a:rPr>
                <a:t>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379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 (00)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2024-03-03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29480"/>
              <a:chOff x="701175" y="1835481"/>
              <a:chExt cx="2630093" cy="42948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701175" y="2420532"/>
            <a:ext cx="2630093" cy="2646759"/>
            <a:chOff x="3865118" y="2669567"/>
            <a:chExt cx="2630093" cy="2646759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보증서 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보증서증권번호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보증시작일자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보증종료일자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보증기관명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보증금면제사유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대표업체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111112345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2026-03-10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12,300,000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서울보증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2026-03-05</a:t>
              </a: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42303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4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52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9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26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3163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3640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260052297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168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1337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903076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5988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1859109"/>
            <a:ext cx="23682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보증서정보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dm_wtgrInfo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11591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bzentySeCd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업체구분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5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51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wtgrScrtNo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5521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보증시작일자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보증시작일자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2787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보증종료일자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grnteEndYmd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보증종료일자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0720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166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보증기관명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grnteInstNm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보증기관명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961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depsExmptnRsnCd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62524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3317607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7273F6E-36C1-6F8D-2E9E-6AFA05654E57}"/>
              </a:ext>
            </a:extLst>
          </p:cNvPr>
          <p:cNvSpPr txBox="1"/>
          <p:nvPr/>
        </p:nvSpPr>
        <p:spPr>
          <a:xfrm>
            <a:off x="458117" y="452251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1E2C9BF-28FC-CA46-2146-0251588E95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1476189"/>
              </p:ext>
            </p:extLst>
          </p:nvPr>
        </p:nvGraphicFramePr>
        <p:xfrm>
          <a:off x="453000" y="480064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보증서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2F86FD4-163F-FB70-8768-6B80CB3570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84705516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인지세 </a:t>
            </a:r>
            <a:r>
              <a:rPr lang="ko-KR" altLang="en-US" dirty="0" smtClean="0"/>
              <a:t>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인지세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인지세</a:t>
            </a:r>
            <a:r>
              <a:rPr lang="ko-KR" altLang="en-US" dirty="0" smtClean="0"/>
              <a:t> </a:t>
            </a:r>
            <a:r>
              <a:rPr lang="ko-KR" altLang="en-US" dirty="0"/>
              <a:t>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인지세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MUI-CT-01-T74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960095"/>
            <a:chOff x="701175" y="1527996"/>
            <a:chExt cx="2630093" cy="96009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smtClean="0">
                  <a:latin typeface="+mn-ea"/>
                </a:rPr>
                <a:t>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652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계약년도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계약차수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KD111111111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644081"/>
              <a:chOff x="701175" y="1835481"/>
              <a:chExt cx="2630093" cy="644081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562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701175" y="2667156"/>
            <a:ext cx="2630093" cy="2219345"/>
            <a:chOff x="3865118" y="2669567"/>
            <a:chExt cx="2630093" cy="2219345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인지세 </a:t>
              </a:r>
              <a:r>
                <a:rPr lang="ko-KR" altLang="en-US" sz="700" dirty="0" smtClean="0">
                  <a:latin typeface="+mn-ea"/>
                </a:rPr>
                <a:t>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19389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사용여부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업체코드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사업자번호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비고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KD111111111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미사용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7001F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2011030000000001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2026-03-10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42303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4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52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9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6106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2" name="그룹 41"/>
          <p:cNvGrpSpPr/>
          <p:nvPr/>
        </p:nvGrpSpPr>
        <p:grpSpPr>
          <a:xfrm>
            <a:off x="3836701" y="1527996"/>
            <a:ext cx="2630093" cy="919434"/>
            <a:chOff x="3865118" y="2694619"/>
            <a:chExt cx="2630093" cy="919434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납부금액</a:t>
              </a:r>
              <a:r>
                <a:rPr lang="ko-KR" altLang="en-US" sz="700" dirty="0" smtClean="0">
                  <a:latin typeface="+mn-ea"/>
                </a:rPr>
                <a:t> 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4" name="직사각형 43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납부대상액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부족액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123,456.00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5,771,427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3,933.29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13156"/>
            <a:ext cx="76863" cy="292489"/>
            <a:chOff x="3750067" y="4683795"/>
            <a:chExt cx="76863" cy="292489"/>
          </a:xfrm>
        </p:grpSpPr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3825376" y="2703232"/>
            <a:ext cx="2652743" cy="1912609"/>
            <a:chOff x="3809964" y="3015861"/>
            <a:chExt cx="2652743" cy="1912609"/>
          </a:xfrm>
        </p:grpSpPr>
        <p:sp>
          <p:nvSpPr>
            <p:cNvPr id="57" name="모서리가 둥근 직사각형 56"/>
            <p:cNvSpPr/>
            <p:nvPr/>
          </p:nvSpPr>
          <p:spPr>
            <a:xfrm>
              <a:off x="3809964" y="3015861"/>
              <a:ext cx="2652743" cy="1912609"/>
            </a:xfrm>
            <a:prstGeom prst="roundRect">
              <a:avLst>
                <a:gd name="adj" fmla="val 546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734" y="3114145"/>
              <a:ext cx="2475203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유의사항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납부방법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납부는 전자수입인지구매 또는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기획재정부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전자수입인지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구매사이트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</a:t>
              </a:r>
              <a:r>
                <a:rPr lang="en-US" altLang="ko-KR" sz="700" dirty="0">
                  <a:solidFill>
                    <a:srgbClr val="0070C0"/>
                  </a:solidFill>
                  <a:latin typeface="맑은 고딕" panose="020B0503020000020004" pitchFamily="50" charset="-127"/>
                </a:rPr>
                <a:t>www.edoc-revenuestamp.or.kr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altLang="ko-KR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>
                  <a:solidFill>
                    <a:srgbClr val="FF0000"/>
                  </a:solidFill>
                  <a:latin typeface="맑은 고딕" panose="020B0503020000020004" pitchFamily="50" charset="-127"/>
                </a:rPr>
                <a:t>필독</a:t>
              </a:r>
              <a:r>
                <a:rPr lang="en-US" altLang="ko-KR" sz="700" dirty="0">
                  <a:solidFill>
                    <a:srgbClr val="FF0000"/>
                  </a:solidFill>
                  <a:latin typeface="맑은 고딕" panose="020B0503020000020004" pitchFamily="50" charset="-127"/>
                </a:rPr>
                <a:t>]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기획재정부에 납부하신 경우 전자수입인지구매 버튼 클릭 시 구매요청서에서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기납부금액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확인 후 닫기를 하셔야 정상납부처리가 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/>
              </a:r>
              <a:b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</a:b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환급방법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버전 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국외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인지세관리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미사용 관리 탭 에서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환급처리를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할 수 있습니다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 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전산처리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후 환급은 관할세무서에서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인지세 업무는 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버전에서 사용할 수 있습니다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.</a:t>
              </a:r>
              <a:endPara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9" name="타원 58"/>
            <p:cNvSpPr/>
            <p:nvPr/>
          </p:nvSpPr>
          <p:spPr>
            <a:xfrm>
              <a:off x="3894776" y="310449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0" name="그룹 59"/>
            <p:cNvGrpSpPr/>
            <p:nvPr/>
          </p:nvGrpSpPr>
          <p:grpSpPr>
            <a:xfrm flipV="1">
              <a:off x="6243597" y="3152992"/>
              <a:ext cx="94010" cy="47005"/>
              <a:chOff x="6812560" y="3297172"/>
              <a:chExt cx="94010" cy="47005"/>
            </a:xfrm>
          </p:grpSpPr>
          <p:cxnSp>
            <p:nvCxnSpPr>
              <p:cNvPr id="61" name="직선 연결선 6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6106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900060988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170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55518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761913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114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계약년도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계약년도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계약차수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ctrtOd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차수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3126023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1783953"/>
            <a:ext cx="27785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인지세납부정보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dl_stmtxPayInfo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00944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사용여부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useYn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사용여부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업체코드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5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51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사업자번호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5521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2787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0720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166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비고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비고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9611434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4823493E-8C07-B6ED-DB49-A51D91E3C7CC}"/>
              </a:ext>
            </a:extLst>
          </p:cNvPr>
          <p:cNvSpPr txBox="1"/>
          <p:nvPr/>
        </p:nvSpPr>
        <p:spPr>
          <a:xfrm>
            <a:off x="452999" y="3963250"/>
            <a:ext cx="209248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납부액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dm_payAmt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058A987-E8B7-D0E3-488B-9B6F943E140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418874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납부대상액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payTrgtAmt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납부대상액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payAmt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부족액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unpaidAmt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부족금액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3126023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E4665FAB-B145-9E9D-B889-8546B8B1911F}"/>
              </a:ext>
            </a:extLst>
          </p:cNvPr>
          <p:cNvSpPr txBox="1"/>
          <p:nvPr/>
        </p:nvSpPr>
        <p:spPr>
          <a:xfrm>
            <a:off x="458117" y="499850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1F63F5C-07DE-3A62-6FE5-A5B484403F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843949"/>
              </p:ext>
            </p:extLst>
          </p:nvPr>
        </p:nvGraphicFramePr>
        <p:xfrm>
          <a:off x="453000" y="521400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9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7800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28784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인지세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F2C6D5AC-9CAA-4CA8-C0DE-40E8058A4B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9618869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계약명세서</a:t>
            </a:r>
            <a:r>
              <a:rPr lang="ko-KR" altLang="en-US" dirty="0"/>
              <a:t> </a:t>
            </a:r>
            <a:r>
              <a:rPr lang="ko-KR" altLang="en-US" dirty="0" smtClean="0"/>
              <a:t>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</a:t>
            </a:r>
            <a:r>
              <a:rPr lang="ko-KR" altLang="en-US" dirty="0" err="1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1527996"/>
            <a:ext cx="128106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</a:t>
            </a:r>
            <a:r>
              <a:rPr lang="ko-KR" altLang="en-US" sz="700" dirty="0" smtClean="0">
                <a:latin typeface="+mn-ea"/>
              </a:rPr>
              <a:t>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57" name="그룹 156"/>
          <p:cNvGrpSpPr/>
          <p:nvPr/>
        </p:nvGrpSpPr>
        <p:grpSpPr>
          <a:xfrm flipV="1">
            <a:off x="3124233" y="1641327"/>
            <a:ext cx="94010" cy="47005"/>
            <a:chOff x="6812560" y="3297172"/>
            <a:chExt cx="94010" cy="47005"/>
          </a:xfrm>
        </p:grpSpPr>
        <p:cxnSp>
          <p:nvCxnSpPr>
            <p:cNvPr id="158" name="직선 연결선 15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9" name="직선 연결선 15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0" name="직사각형 159"/>
          <p:cNvSpPr/>
          <p:nvPr/>
        </p:nvSpPr>
        <p:spPr>
          <a:xfrm>
            <a:off x="703268" y="1835480"/>
            <a:ext cx="792000" cy="171983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1835481"/>
            <a:ext cx="725552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집행유형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계약금원화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계약금외화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계약금달러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47180" y="1835481"/>
            <a:ext cx="17840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KD111111111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AAA12345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국제확정전력운영계약팀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MODEL-3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구매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￦</a:t>
            </a:r>
            <a:r>
              <a:rPr lang="en-US" altLang="ko-KR" sz="700" dirty="0" smtClean="0">
                <a:latin typeface="+mn-ea"/>
              </a:rPr>
              <a:t>3,000,000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[USD] 3,000.00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$ 3,000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7" name="그룹 16"/>
          <p:cNvGrpSpPr/>
          <p:nvPr/>
        </p:nvGrpSpPr>
        <p:grpSpPr>
          <a:xfrm>
            <a:off x="701175" y="1835481"/>
            <a:ext cx="2630093" cy="1723549"/>
            <a:chOff x="701175" y="1835481"/>
            <a:chExt cx="2630093" cy="1723549"/>
          </a:xfrm>
        </p:grpSpPr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183548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0502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264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4795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2691410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906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1208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3354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5590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3833646" y="1527996"/>
            <a:ext cx="2630093" cy="3292847"/>
            <a:chOff x="3865118" y="2669567"/>
            <a:chExt cx="2630093" cy="3292847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계약품목</a:t>
              </a:r>
              <a:r>
                <a:rPr lang="ko-KR" altLang="en-US" sz="700" dirty="0" smtClean="0">
                  <a:latin typeface="+mn-ea"/>
                </a:rPr>
                <a:t> 내역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30162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98190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항목번호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수량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</a:t>
              </a:r>
              <a:r>
                <a:rPr lang="en-US" altLang="ko-KR" sz="700" dirty="0">
                  <a:latin typeface="+mn-ea"/>
                </a:rPr>
                <a:t>-</a:t>
              </a:r>
              <a:r>
                <a:rPr lang="ko-KR" altLang="en-US" sz="700" dirty="0" err="1">
                  <a:latin typeface="+mn-ea"/>
                </a:rPr>
                <a:t>재고번호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부품번호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적용장비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계약금액원화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MBC123456789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EA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</a:p>
            <a:p>
              <a:pPr lvl="0"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0000-123456789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12345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1234567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-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1,000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3,000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42303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4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52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9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98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529812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529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742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9566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37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267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0261" y="5521336"/>
            <a:ext cx="76863" cy="292489"/>
            <a:chOff x="3750067" y="4683795"/>
            <a:chExt cx="76863" cy="292489"/>
          </a:xfrm>
        </p:grpSpPr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89" name="그룹 88"/>
          <p:cNvGrpSpPr/>
          <p:nvPr/>
        </p:nvGrpSpPr>
        <p:grpSpPr>
          <a:xfrm>
            <a:off x="716366" y="3681658"/>
            <a:ext cx="2630093" cy="513195"/>
            <a:chOff x="3865118" y="2669567"/>
            <a:chExt cx="2630093" cy="513195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 단가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1" name="직사각형 90"/>
            <p:cNvSpPr/>
            <p:nvPr/>
          </p:nvSpPr>
          <p:spPr>
            <a:xfrm>
              <a:off x="3867211" y="2946204"/>
              <a:ext cx="792000" cy="23655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 금액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0" name="그룹 119"/>
          <p:cNvGrpSpPr/>
          <p:nvPr/>
        </p:nvGrpSpPr>
        <p:grpSpPr>
          <a:xfrm flipV="1">
            <a:off x="6238614" y="1641327"/>
            <a:ext cx="94010" cy="47005"/>
            <a:chOff x="6812560" y="3297172"/>
            <a:chExt cx="94010" cy="47005"/>
          </a:xfrm>
        </p:grpSpPr>
        <p:cxnSp>
          <p:nvCxnSpPr>
            <p:cNvPr id="121" name="직선 연결선 1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763514840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172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3300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956463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75694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jdgmtNo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orderInstNm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31260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crtrNm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7186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bizTypeCd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003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ctrtFrcncyAmt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0355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2055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ctrtUsdAmt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163278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3029088"/>
            <a:ext cx="24499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계약품목별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254582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artclNo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5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unitNm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51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itemQty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5521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fscCdInvtNo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2787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prtsNo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0720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aplcnEqpmnt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166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plcdlvCd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961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itemUntprc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8996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21267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bgtSeCd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82883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dudtYmd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63356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80445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sumAmt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합계금액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9579057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417A15F4-E673-CB3A-A6A8-0C977EF2DD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710096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55356217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173</a:t>
            </a:fld>
            <a:endParaRPr lang="ko-KR" altLang="en-US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4665FAB-B145-9E9D-B889-8546B8B1911F}"/>
              </a:ext>
            </a:extLst>
          </p:cNvPr>
          <p:cNvSpPr txBox="1"/>
          <p:nvPr/>
        </p:nvSpPr>
        <p:spPr>
          <a:xfrm>
            <a:off x="458117" y="59160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1F63F5C-07DE-3A62-6FE5-A5B484403F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2833827"/>
              </p:ext>
            </p:extLst>
          </p:nvPr>
        </p:nvGraphicFramePr>
        <p:xfrm>
          <a:off x="453000" y="807104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 err="1"/>
                        <a:t>계약명세서정보를</a:t>
                      </a:r>
                      <a:r>
                        <a:rPr lang="ko-KR" altLang="en-US" sz="800" dirty="0"/>
                        <a:t>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1F744379-2680-5432-3E4B-8E79FB1B95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6883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2964651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첨부서류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첨부서류 정보 조회 </a:t>
            </a:r>
            <a:r>
              <a:rPr lang="ko-KR" altLang="en-US" dirty="0" smtClean="0"/>
              <a:t>화면 </a:t>
            </a:r>
            <a:r>
              <a:rPr lang="en-US" altLang="ko-KR" dirty="0" smtClean="0"/>
              <a:t>- </a:t>
            </a:r>
            <a:r>
              <a:rPr lang="ko-KR" altLang="en-US" dirty="0"/>
              <a:t>국내와 동일한 </a:t>
            </a:r>
            <a:r>
              <a:rPr lang="ko-KR" altLang="en-US" dirty="0" smtClean="0"/>
              <a:t>첨부서류 </a:t>
            </a:r>
            <a:r>
              <a:rPr lang="ko-KR" altLang="en-US" dirty="0"/>
              <a:t>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MUI-CT-01-T76</a:t>
            </a:r>
            <a:endParaRPr lang="ko-KR" altLang="en-US" dirty="0"/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4" name="그룹 83"/>
          <p:cNvGrpSpPr/>
          <p:nvPr/>
        </p:nvGrpSpPr>
        <p:grpSpPr>
          <a:xfrm>
            <a:off x="675399" y="1533275"/>
            <a:ext cx="2712026" cy="2709136"/>
            <a:chOff x="3795735" y="2878425"/>
            <a:chExt cx="2712026" cy="2709136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6" name="그룹 8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8" name="직선 연결선 1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7" name="모서리가 둥근 직사각형 86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8" name="타원 107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9" name="모서리가 둥근 직사각형 108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2" name="타원 111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4965431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5372117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</p:grpSp>
      <p:sp>
        <p:nvSpPr>
          <p:cNvPr id="12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40045" y="148738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default) </a:t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아코디언 전체 펼침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업로드 기능 </a:t>
            </a:r>
            <a:r>
              <a:rPr lang="ko-KR" altLang="en-US" sz="800" dirty="0" err="1" smtClean="0"/>
              <a:t>미지원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첨부파일 클릭 시 뷰어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직인등록정보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첨부파일 클릭 시 뷰어 호출</a:t>
            </a:r>
            <a:endParaRPr lang="en-US" altLang="ko-KR" dirty="0" smtClean="0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37050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148738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184756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37670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17095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683973" y="3136639"/>
            <a:ext cx="2712026" cy="1602288"/>
            <a:chOff x="3795735" y="2878425"/>
            <a:chExt cx="2712026" cy="160228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8" name="그룹 167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9" name="모서리가 둥근 직사각형 1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2" name="타원 1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3" name="모서리가 둥근 직사각형 1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6" name="타원 1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267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2" name="그룹 51"/>
          <p:cNvGrpSpPr/>
          <p:nvPr/>
        </p:nvGrpSpPr>
        <p:grpSpPr>
          <a:xfrm>
            <a:off x="3792680" y="1533275"/>
            <a:ext cx="2712026" cy="886509"/>
            <a:chOff x="3795735" y="2878425"/>
            <a:chExt cx="2712026" cy="88650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직인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5" name="직선 연결선 6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6" name="직선 연결선 6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5" name="모서리가 둥근 직사각형 54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376493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업체명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등록여부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3977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Y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285828" y="2021689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TESLA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.jpg [</a:t>
            </a:r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69" name="그룹 6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0" name="직사각형 6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1" name="직사각형 7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직인 등록 정보 추가</a:t>
              </a:r>
              <a:endParaRPr lang="ko-KR" altLang="en-US" sz="700" dirty="0"/>
            </a:p>
          </p:txBody>
        </p:sp>
      </p:grpSp>
      <p:sp>
        <p:nvSpPr>
          <p:cNvPr id="72" name="타원 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188" y="155364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58931665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175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78017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dl_ctrtRfrncDcmnt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7819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첩부파일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계약관이 제공한 계약서류명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계약서류파일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ctrtDcmntFile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계약관이 제공한  계약서류파일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1919585"/>
            <a:ext cx="28571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dl_ctrtSbmsnDcmnt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217639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첩부파일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업체에서 제출한 계약서류명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계약서류파일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ctrtDcmntFile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업체에서 제출한 계약서류파일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C31C148-322D-495C-4D84-EC5A17BE2266}"/>
              </a:ext>
            </a:extLst>
          </p:cNvPr>
          <p:cNvSpPr txBox="1"/>
          <p:nvPr/>
        </p:nvSpPr>
        <p:spPr>
          <a:xfrm>
            <a:off x="460151" y="4216473"/>
            <a:ext cx="21149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직인등록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dl_ofslReg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3BF00A0-575D-3FF5-91B1-8260C850A8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8893101"/>
              </p:ext>
            </p:extLst>
          </p:nvPr>
        </p:nvGraphicFramePr>
        <p:xfrm>
          <a:off x="467303" y="4473282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직인파일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직인파일 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직인파일명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ofslFileNm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직인파일명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직인파일 등록여부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ofslFileRegYn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직인파일 등록여부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0440267"/>
                  </a:ext>
                </a:extLst>
              </a:tr>
            </a:tbl>
          </a:graphicData>
        </a:graphic>
      </p:graphicFrame>
      <p:grpSp>
        <p:nvGrpSpPr>
          <p:cNvPr id="14" name="그룹 13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5" name="직사각형 1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6" name="직사각형 1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직인 등록 정보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8786989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176</a:t>
            </a:fld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8E80AC4-82B9-2DAC-735D-39626437ABA7}"/>
              </a:ext>
            </a:extLst>
          </p:cNvPr>
          <p:cNvSpPr txBox="1"/>
          <p:nvPr/>
        </p:nvSpPr>
        <p:spPr>
          <a:xfrm>
            <a:off x="447726" y="5879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F95BDF9-C1C9-A214-43C2-526EF8D786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6406002"/>
              </p:ext>
            </p:extLst>
          </p:nvPr>
        </p:nvGraphicFramePr>
        <p:xfrm>
          <a:off x="442609" y="822902"/>
          <a:ext cx="8995590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계약상세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첨부서류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687D2DB-DB19-6637-C850-4AD6ED520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01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65003530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국외전자계약확정상세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전자계약확정상세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MUI-CT-01-M72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 smtClean="0">
                <a:latin typeface="+mn-ea"/>
              </a:rPr>
              <a:t>전자계약</a:t>
            </a:r>
            <a:r>
              <a:rPr lang="ko-KR" altLang="en-US" sz="800" dirty="0" smtClean="0">
                <a:latin typeface="+mn-ea"/>
              </a:rPr>
              <a:t> </a:t>
            </a:r>
            <a:r>
              <a:rPr lang="ko-KR" altLang="en-US" sz="800" dirty="0" err="1" smtClean="0">
                <a:latin typeface="+mn-ea"/>
              </a:rPr>
              <a:t>확정상세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 smtClean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 smtClean="0">
                <a:solidFill>
                  <a:prstClr val="black"/>
                </a:solidFill>
              </a:rPr>
              <a:t>계약번호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 (00</a:t>
            </a:r>
            <a:r>
              <a:rPr lang="en-US" altLang="ko-KR" sz="700" dirty="0" smtClean="0">
                <a:solidFill>
                  <a:prstClr val="black"/>
                </a:solidFill>
              </a:rPr>
              <a:t>)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MODEL-3</a:t>
            </a:r>
            <a:endParaRPr lang="en-US" altLang="ko-KR" sz="900" b="1" dirty="0">
              <a:solidFill>
                <a:prstClr val="black"/>
              </a:solidFill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358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일반현황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계약건명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전체계약상태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KD111111111 (00)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MODEL-3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2025-03-03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확정</a:t>
            </a:r>
            <a:endParaRPr lang="ko-KR" altLang="en-US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국제확정전력운영계약팀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2310232" cy="107722"/>
            <a:chOff x="764169" y="4142235"/>
            <a:chExt cx="2310232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일반현황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88821" y="4142235"/>
              <a:ext cx="4014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계좌정보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55170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보증서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449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mtClean="0">
                  <a:latin typeface="+mn-ea"/>
                </a:rPr>
                <a:t>인지세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593819" y="4142235"/>
              <a:ext cx="480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075990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grpSp>
        <p:nvGrpSpPr>
          <p:cNvPr id="173" name="그룹 172"/>
          <p:cNvGrpSpPr/>
          <p:nvPr/>
        </p:nvGrpSpPr>
        <p:grpSpPr>
          <a:xfrm>
            <a:off x="3836701" y="1924360"/>
            <a:ext cx="2630093" cy="919434"/>
            <a:chOff x="3865118" y="2694619"/>
            <a:chExt cx="2630093" cy="919434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계약금액외화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계약금액원화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계약금액달러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123,456.00 NTD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5,771,427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3,933.29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4768712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05" name="그룹 204"/>
          <p:cNvGrpSpPr/>
          <p:nvPr/>
        </p:nvGrpSpPr>
        <p:grpSpPr>
          <a:xfrm>
            <a:off x="3842944" y="3910894"/>
            <a:ext cx="2630093" cy="1759690"/>
            <a:chOff x="3865118" y="2694619"/>
            <a:chExt cx="2630093" cy="1759690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4"/>
              <a:ext cx="792000" cy="14627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224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383856" y="2782065"/>
            <a:ext cx="846386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2025-03-03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 err="1" smtClean="0">
                <a:latin typeface="+mn-ea"/>
              </a:rPr>
              <a:t>국제확정전력운영계약팀</a:t>
            </a:r>
            <a:endParaRPr lang="en-US" altLang="ko-KR" sz="600" dirty="0" smtClean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3,933.29 </a:t>
            </a:r>
            <a:r>
              <a:rPr lang="en-US" altLang="ko-KR" sz="600" dirty="0" smtClean="0">
                <a:latin typeface="+mn-ea"/>
              </a:rPr>
              <a:t>USD</a:t>
            </a:r>
            <a:endParaRPr lang="en-US" altLang="ko-KR" sz="600" dirty="0"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" name="그룹 13"/>
          <p:cNvGrpSpPr/>
          <p:nvPr/>
        </p:nvGrpSpPr>
        <p:grpSpPr>
          <a:xfrm>
            <a:off x="3795734" y="1500912"/>
            <a:ext cx="2712027" cy="354413"/>
            <a:chOff x="3671524" y="2151787"/>
            <a:chExt cx="2712027" cy="354413"/>
          </a:xfrm>
        </p:grpSpPr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15178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506200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16615" y="2506200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1" name="그룹 230"/>
            <p:cNvGrpSpPr/>
            <p:nvPr/>
          </p:nvGrpSpPr>
          <p:grpSpPr>
            <a:xfrm>
              <a:off x="3760294" y="2289593"/>
              <a:ext cx="2310232" cy="107722"/>
              <a:chOff x="764169" y="4142235"/>
              <a:chExt cx="2310232" cy="107722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>
                    <a:latin typeface="+mn-ea"/>
                  </a:rPr>
                  <a:t>일반현황</a:t>
                </a:r>
              </a:p>
            </p:txBody>
          </p:sp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88821" y="4142235"/>
                <a:ext cx="40147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계좌정보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655170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보증서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449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인지세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593819" y="4142235"/>
                <a:ext cx="480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261" name="그룹 260"/>
            <p:cNvGrpSpPr/>
            <p:nvPr/>
          </p:nvGrpSpPr>
          <p:grpSpPr>
            <a:xfrm>
              <a:off x="5920211" y="2251470"/>
              <a:ext cx="422853" cy="187961"/>
              <a:chOff x="3641308" y="2234886"/>
              <a:chExt cx="422853" cy="187961"/>
            </a:xfrm>
          </p:grpSpPr>
          <p:sp>
            <p:nvSpPr>
              <p:cNvPr id="262" name="타원 26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63" name="그룹 26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68" name="직선 연결선 26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69" name="직선 연결선 26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64" name="타원 26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65" name="그룹 26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66" name="직선 연결선 26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67" name="직선 연결선 26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278" name="그룹 277"/>
          <p:cNvGrpSpPr/>
          <p:nvPr/>
        </p:nvGrpSpPr>
        <p:grpSpPr>
          <a:xfrm>
            <a:off x="3836701" y="2917627"/>
            <a:ext cx="2630093" cy="919434"/>
            <a:chOff x="3865118" y="2694619"/>
            <a:chExt cx="2630093" cy="919434"/>
          </a:xfrm>
        </p:grpSpPr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구매형태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82" name="직사각형 281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AOG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URGENT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ROUTINE</a:t>
              </a: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45906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80689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</p:grpSp>
      <p:sp>
        <p:nvSpPr>
          <p:cNvPr id="298" name="TextBox 29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69" name="타원 1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0" name="타원 1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93" name="타원 1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08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일반현황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계좌정보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보증서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인지세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계약명세</a:t>
            </a:r>
            <a:r>
              <a:rPr lang="ko-KR" altLang="en-US" sz="800" dirty="0" smtClean="0"/>
              <a:t> </a:t>
            </a:r>
            <a:r>
              <a:rPr lang="en-US" altLang="ko-KR" sz="800" dirty="0"/>
              <a:t>– </a:t>
            </a:r>
            <a:r>
              <a:rPr lang="en-US" altLang="ko-KR" sz="800" dirty="0">
                <a:solidFill>
                  <a:srgbClr val="FF0000"/>
                </a:solidFill>
              </a:rPr>
              <a:t>(MUI-CT-01-M71)</a:t>
            </a:r>
            <a:r>
              <a:rPr lang="ko-KR" altLang="en-US" sz="800" dirty="0" err="1" smtClean="0">
                <a:solidFill>
                  <a:srgbClr val="FF0000"/>
                </a:solidFill>
              </a:rPr>
              <a:t>진행상세와</a:t>
            </a:r>
            <a:r>
              <a:rPr lang="ko-KR" altLang="en-US" sz="800" dirty="0" smtClean="0">
                <a:solidFill>
                  <a:srgbClr val="FF0000"/>
                </a:solidFill>
              </a:rPr>
              <a:t> 첨부서류를 제외하고 동일함</a:t>
            </a:r>
            <a:r>
              <a:rPr lang="en-US" altLang="ko-KR" sz="800" dirty="0" smtClean="0">
                <a:solidFill>
                  <a:srgbClr val="FF0000"/>
                </a:solidFill>
              </a:rPr>
              <a:t>.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전자계약진행상세와 동일한 </a:t>
            </a:r>
            <a:r>
              <a:rPr lang="ko-KR" altLang="en-US" sz="800" dirty="0" err="1" smtClean="0"/>
              <a:t>항목임</a:t>
            </a:r>
            <a:r>
              <a:rPr lang="en-US" altLang="ko-KR" sz="800" dirty="0" smtClean="0"/>
              <a:t>.</a:t>
            </a:r>
            <a:br>
              <a:rPr lang="en-US" altLang="ko-KR" sz="800" dirty="0" smtClean="0"/>
            </a:br>
            <a:r>
              <a:rPr lang="en-US" altLang="ko-KR" sz="800" dirty="0" smtClean="0"/>
              <a:t>  &gt; </a:t>
            </a:r>
            <a:r>
              <a:rPr lang="ko-KR" altLang="en-US" sz="800" dirty="0" smtClean="0"/>
              <a:t>첨부서류 항목이 달라 다음 페이지에 첨부서류 항목 작성 참고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09" name="직사각형 208"/>
          <p:cNvSpPr/>
          <p:nvPr/>
        </p:nvSpPr>
        <p:spPr>
          <a:xfrm>
            <a:off x="7052436" y="6067424"/>
            <a:ext cx="2314310" cy="20845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260624.</a:t>
            </a:r>
            <a:r>
              <a:rPr lang="ko-KR" altLang="en-US" sz="500" dirty="0" err="1" smtClean="0"/>
              <a:t>물품부호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인지세사용여부</a:t>
            </a:r>
            <a:r>
              <a:rPr lang="en-US" altLang="ko-KR" sz="500" dirty="0" smtClean="0"/>
              <a:t>/</a:t>
            </a:r>
            <a:r>
              <a:rPr lang="ko-KR" altLang="en-US" sz="500" dirty="0" err="1" smtClean="0"/>
              <a:t>인지세금액</a:t>
            </a:r>
            <a:r>
              <a:rPr lang="en-US" altLang="ko-KR" sz="500" dirty="0" smtClean="0"/>
              <a:t> </a:t>
            </a:r>
            <a:r>
              <a:rPr lang="ko-KR" altLang="en-US" sz="500" dirty="0" smtClean="0"/>
              <a:t>누락</a:t>
            </a:r>
            <a:endParaRPr lang="en-US" altLang="ko-KR" sz="500" dirty="0" smtClean="0"/>
          </a:p>
        </p:txBody>
      </p:sp>
      <p:sp>
        <p:nvSpPr>
          <p:cNvPr id="203" name="평행 사변형 202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4" name="TextBox 203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1565928417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국외전자계약확정상세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첨부서류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첨부서류 정보 조회 </a:t>
            </a:r>
            <a:r>
              <a:rPr lang="ko-KR" altLang="en-US" dirty="0" smtClean="0"/>
              <a:t>화면 </a:t>
            </a:r>
            <a:r>
              <a:rPr lang="en-US" altLang="ko-KR" dirty="0" smtClean="0"/>
              <a:t>- </a:t>
            </a:r>
            <a:r>
              <a:rPr lang="ko-KR" altLang="en-US" dirty="0"/>
              <a:t>국내와 동일한 </a:t>
            </a:r>
            <a:r>
              <a:rPr lang="ko-KR" altLang="en-US" dirty="0" smtClean="0"/>
              <a:t>첨부서류 </a:t>
            </a:r>
            <a:r>
              <a:rPr lang="ko-KR" altLang="en-US" dirty="0"/>
              <a:t>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MUI-CT-01-T80</a:t>
            </a:r>
            <a:endParaRPr lang="ko-KR" altLang="en-US" dirty="0"/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4" name="그룹 83"/>
          <p:cNvGrpSpPr/>
          <p:nvPr/>
        </p:nvGrpSpPr>
        <p:grpSpPr>
          <a:xfrm>
            <a:off x="675399" y="1533275"/>
            <a:ext cx="2712026" cy="2709136"/>
            <a:chOff x="3795735" y="2878425"/>
            <a:chExt cx="2712026" cy="2709136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6" name="그룹 8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8" name="직선 연결선 1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7" name="모서리가 둥근 직사각형 86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8" name="타원 107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9" name="모서리가 둥근 직사각형 108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2" name="타원 111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4965431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5372117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</p:grpSp>
      <p:sp>
        <p:nvSpPr>
          <p:cNvPr id="12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40045" y="148738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default) </a:t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아코디언 전체 펼침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업로드 기능 </a:t>
            </a:r>
            <a:r>
              <a:rPr lang="ko-KR" altLang="en-US" sz="800" dirty="0" err="1" smtClean="0"/>
              <a:t>미지원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첨부파일 클릭 시 뷰어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표시</a:t>
            </a:r>
            <a:endParaRPr lang="en-US" altLang="ko-KR" dirty="0" smtClean="0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37050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148738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184756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37670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17095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683973" y="3136639"/>
            <a:ext cx="2712026" cy="1602288"/>
            <a:chOff x="3795735" y="2878425"/>
            <a:chExt cx="2712026" cy="160228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8" name="그룹 167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9" name="모서리가 둥근 직사각형 1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2" name="타원 1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3" name="모서리가 둥근 직사각형 1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6" name="타원 1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69" name="그룹 6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0" name="직사각형 6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1" name="직사각형 7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직인 등록 정보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885497684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179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(1/5)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2973"/>
          <a:ext cx="8994883" cy="5535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prcmRqtInstCd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66925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grntePrdDayCnt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51175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gnrlCndCd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수리부속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한도액해외정비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한도액부품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무기체계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기술용역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일반장비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성과기반군수지원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7257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ntnCd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086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일반경쟁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지명경쟁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제한경쟁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복수경쟁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수의계약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협상에의한계약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서류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)/2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단계경쟁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동시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)/2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단계경쟁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분리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종합낙찰제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협상에의한계약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전자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역경매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3718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지불조건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pymtDfryCndCd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지불조건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일람불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인수도조건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신용장에 기재된 조건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현금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대체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06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inspShpCd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단순품질보증형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(I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자율품질보증형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(Ⅱ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표준품질보증형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(Ⅲ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체계품질보증형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(Ⅳ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)/5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특수검사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소요군검사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소요군검수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연구개발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공급자 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년 보증형태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공급자 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년 보증형태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제작자 사후 확인형태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제작자 사전 확인형태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표준 품질 보증형태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설치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통합시험 보증형태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국제 협정 보증형태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국내 검정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상업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제작자 검정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상업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국제 검정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상업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86094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예상납기일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expcDudtYmd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예상납기일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27402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최종선적일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lastShpgYmd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최종선적일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3125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UN CPC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UN CPC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60620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분할선적유무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prttnShpgYn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분할선적유무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346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lqdmgRt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6502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6402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scrtNo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903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통합참조번호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통합참조번호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9771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전자계약상태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elctrCtrtPrgrsSttsCd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전자계약상태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77549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방위력개선사업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통합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전력운영사업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9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047EBE0-4549-DC75-12C3-7B8C61A708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18229191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180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(2/5)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2973"/>
          <a:ext cx="8994883" cy="5241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ctrtRsnCd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5909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picId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00324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gnrlCndCd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699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물품부호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cmdtySgn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물품부호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5982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화폐구분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crncCd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화폐구분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1973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보증금예치율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grnteAmtDepstRt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보증금예치율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73119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itemCnt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86713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bizAprvYmd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40748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ofstCndCd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7377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납기월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dudtMm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납기월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prttnShpgNmtm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72309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rdprcRt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7713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보증보험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주식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증권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채권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전자보증서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예금증서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금융기관지급보증서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세입세출외현금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자본재공제조합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/Stand By L/C/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공제조합보증서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신용보증기금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보증금면제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방진회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계약보증금 지급 확약서 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오천만원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 미만 적용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중소기업중앙회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이전발행한보증서대체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863680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0639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orderInstNm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01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ctrtBzentyCd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94811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ctrtPrgrsCd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도급계약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설계용역계약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감리용역계약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안전진단용역계약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물품제조설치계약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기타공사계약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제조계약서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임대차계약서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공사계약서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관급계약서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리스계약서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물품구매계약서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용역계약서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94413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기능구분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fwkSeCd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기능구분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0337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bzentyCd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38424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생산자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prdctnBzentyCd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생산자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64076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수의사유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pvctRsnCd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수의사유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84705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047EBE0-4549-DC75-12C3-7B8C61A708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13028210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181</a:t>
            </a:fld>
            <a:endParaRPr lang="ko-KR" altLang="en-US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3508"/>
          <a:ext cx="8994883" cy="50466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prcCndCd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Cost and Insurance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보험료 지불인도조건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Cost and Freight 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운임포함 인도조건</a:t>
                      </a:r>
                    </a:p>
                    <a:p>
                      <a:pPr algn="l" latinLnBrk="1"/>
                      <a:r>
                        <a:rPr lang="en-US" altLang="ko-KR" sz="800" dirty="0" err="1">
                          <a:latin typeface="+mj-lt"/>
                          <a:ea typeface="+mn-ea"/>
                        </a:rPr>
                        <a:t>Cost,Insurance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 and Freight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운임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보험료포함인도조건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Carriage and Insurance Paid To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운송비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보험료 지불인도조건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Cost &amp; Freight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운임포함인도 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Carriage Paid To 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운송비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보험료 지불인도조건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At Frontier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국경인도조건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At Place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At Terminal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Duty Paid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관세지급 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Duty Unpaid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관세 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미집급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 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EX Quay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부두인도조건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EX Ship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착선인도조건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at Place Unloaded : 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도착지양하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 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EX Works         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작업장인도조건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Free Alongside Ship            : 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선측인도조건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Free Carrier     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운송인인도조건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Free On Board    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본선인도조건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6402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bizTypeCd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공급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리스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구매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구매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903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implTypeItemCd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9771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절충사업관리번호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ofstBizMngNo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절충사업관리번호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77549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aprvYmd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arrsLimRt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5909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rdprcAmt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00324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trnsMthdCd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항공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선박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항공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선박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699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인지세사용여부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</a:rPr>
                        <a:t>인지세금액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stmtxAplcnCd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stmtxPayAmt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인지세 사용여부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</a:rPr>
                        <a:t>인지세 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1/22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5982498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9B8A2E0-54EA-67DA-D442-E68561AE350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(3/5)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51789A8-03CE-7936-84AE-2143CA92098F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" name="Text Box 73">
            <a:extLst>
              <a:ext uri="{FF2B5EF4-FFF2-40B4-BE49-F238E27FC236}">
                <a16:creationId xmlns:a16="http://schemas.microsoft.com/office/drawing/2014/main" id="{8AA20ECF-26B3-51A7-2965-86A0B08E39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2156290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182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98037"/>
            <a:ext cx="22014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5484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ctrtFrcncyAmt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ctrtUsdAmt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FBBDB464-E870-2D21-5267-3D3EE8896297}"/>
              </a:ext>
            </a:extLst>
          </p:cNvPr>
          <p:cNvSpPr txBox="1"/>
          <p:nvPr/>
        </p:nvSpPr>
        <p:spPr>
          <a:xfrm>
            <a:off x="452999" y="1946247"/>
            <a:ext cx="228324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구매형태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dm_prchsShp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35A44B-FA6E-B9CC-0416-DEBF03467240}"/>
              </a:ext>
            </a:extLst>
          </p:cNvPr>
          <p:cNvGraphicFramePr>
            <a:graphicFrameLocks noGrp="1"/>
          </p:cNvGraphicFramePr>
          <p:nvPr/>
        </p:nvGraphicFramePr>
        <p:xfrm>
          <a:off x="460151" y="220305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AOG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aog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항공기 비행불능 상태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납품기한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URGENT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emrg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긴급상황 발생시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납품기한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지체한도율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감가율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ROUTINE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routn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일반적인 상황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납품기한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지체한도율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감가율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A5761D99-7A3E-7EF8-1B4C-8CE2AFB0D61F}"/>
              </a:ext>
            </a:extLst>
          </p:cNvPr>
          <p:cNvSpPr txBox="1"/>
          <p:nvPr/>
        </p:nvSpPr>
        <p:spPr>
          <a:xfrm>
            <a:off x="460151" y="3094457"/>
            <a:ext cx="22672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dl_ctrtBzenty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F82CA70-8CB4-3226-F907-FED98F0B3B6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7303" y="3351266"/>
          <a:ext cx="8994883" cy="274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9958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dpstrNm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47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elsgnYmd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6641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depsPayMthdCd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보증보험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주식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증권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채권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전자보증서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예금증서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금융기관지급보증서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세입세출외현금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자본재공제조합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/Stand By L/C/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공제조합보증서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신용보증기금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보증금면제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방진회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계약보증금 지급 확약서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오천만원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미만 적용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중소기업중앙회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이전발행한보증서대체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81151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3344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bacntRlnmNo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7095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enacno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03509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9087ABC1-CCCB-F867-4DE5-37891D30A411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(4/5)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6" name="Text Box 73">
            <a:extLst>
              <a:ext uri="{FF2B5EF4-FFF2-40B4-BE49-F238E27FC236}">
                <a16:creationId xmlns:a16="http://schemas.microsoft.com/office/drawing/2014/main" id="{CFA12926-45C1-8A0F-BFC3-EB7B7B5E7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06849562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183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78017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dl_ctrtRfrncDcmnt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7819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첩부파일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계약관이 제공한 계약서류명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계약서류파일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ctrtDcmntFile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계약관이 제공한  계약서류파일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1919585"/>
            <a:ext cx="28571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dl_ctrtSbmsnDcmnt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217639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첩부파일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업체에서 제출한 계약서류명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계약서류파일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ctrtDcmntFile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업체에서 제출한 계약서류파일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(5/5)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30177561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36C7BAB1-4DBF-1BB0-0616-90DE773A1D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184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B14A8B4-3C4E-1BE1-0D0E-C1CF0BCDA0FE}"/>
              </a:ext>
            </a:extLst>
          </p:cNvPr>
          <p:cNvSpPr txBox="1"/>
          <p:nvPr/>
        </p:nvSpPr>
        <p:spPr>
          <a:xfrm>
            <a:off x="458117" y="5701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E719B54-F7D9-5296-1108-928E7079CFC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799547"/>
          <a:ext cx="8995591" cy="2548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278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1922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2004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481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계좌정보조회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scwin.tacpgBacntInfo_ontabclick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계좌정보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UI-CT-01-M73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133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보증서조회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scwin.tacpgWtgr_ontabclick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보증서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UI-CT-01-M74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588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인지세조회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scwin.tacpgStmtx_ontabclick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UI-CT-01-M76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86693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계약명세서조회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scwin.tacpgCtrtDtst_ontabclick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UI-CT-01-M77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19989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전자서명일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scwin.grd_ctrtBzenty_oncellclick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전자서명검증상세조회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팝업창을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UI-CT-01-P78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77741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scwin.btn_moveList_onclick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계약통합조회목록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UI-CT-01-M01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2066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해지해제요청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scwin.btn_cncltnRmvDmnd_onclick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계약서를 해지해제요청 상태로 변경한다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22781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해지해제취소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scwin.btn_cncltnRmvRtrcn_onclick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계약서를 해지해제취소 상태로 변경한다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404730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801B347-F01E-A29A-70F7-551912EBC9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67339516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상업계약서상세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MUI-CT-01-M77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상업계약서</a:t>
            </a:r>
            <a:r>
              <a:rPr lang="ko-KR" altLang="en-US" sz="800" dirty="0">
                <a:latin typeface="+mn-ea"/>
              </a:rPr>
              <a:t>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 smtClean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 smtClean="0">
                <a:solidFill>
                  <a:prstClr val="black"/>
                </a:solidFill>
              </a:rPr>
              <a:t>계약번호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 smtClean="0">
                <a:solidFill>
                  <a:prstClr val="black"/>
                </a:solidFill>
              </a:rPr>
              <a:t>KD111111111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IX3</a:t>
            </a: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3121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현황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44549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38703"/>
            <a:ext cx="792000" cy="149359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3870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38703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계약담당부서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담당자성명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P.R.NO.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품목명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사업구분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38703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국제확정전력운영계약팀</a:t>
            </a:r>
            <a:endParaRPr lang="ko-KR" altLang="en-US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홍길동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KD111111111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AAA12345 </a:t>
            </a:r>
            <a:r>
              <a:rPr lang="ko-KR" altLang="en-US" sz="700" dirty="0">
                <a:latin typeface="+mn-ea"/>
              </a:rPr>
              <a:t>등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IX3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O </a:t>
            </a:r>
            <a:r>
              <a:rPr lang="ko-KR" altLang="en-US" sz="700" dirty="0" smtClean="0">
                <a:latin typeface="+mn-ea"/>
              </a:rPr>
              <a:t>전력운영사업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49698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1835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39722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IX3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국외</a:t>
            </a:r>
          </a:p>
        </p:txBody>
      </p: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5" name="모서리가 둥근 직사각형 154"/>
          <p:cNvSpPr/>
          <p:nvPr/>
        </p:nvSpPr>
        <p:spPr>
          <a:xfrm>
            <a:off x="1075990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상업계약</a:t>
            </a:r>
            <a:endParaRPr lang="ko-KR" altLang="en-US" sz="600" dirty="0"/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4181805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상업계약</a:t>
            </a:r>
          </a:p>
        </p:txBody>
      </p:sp>
      <p:grpSp>
        <p:nvGrpSpPr>
          <p:cNvPr id="173" name="그룹 172"/>
          <p:cNvGrpSpPr/>
          <p:nvPr/>
        </p:nvGrpSpPr>
        <p:grpSpPr>
          <a:xfrm>
            <a:off x="3836701" y="2491279"/>
            <a:ext cx="2630093" cy="1104323"/>
            <a:chOff x="3865118" y="2694619"/>
            <a:chExt cx="2630093" cy="1104323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8527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USD</a:t>
              </a: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0" name="직선 연결선 2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031547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05" name="그룹 204"/>
          <p:cNvGrpSpPr/>
          <p:nvPr/>
        </p:nvGrpSpPr>
        <p:grpSpPr>
          <a:xfrm>
            <a:off x="3842944" y="4873064"/>
            <a:ext cx="2630093" cy="1549496"/>
            <a:chOff x="3865118" y="2694619"/>
            <a:chExt cx="2630093" cy="1549496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3"/>
              <a:ext cx="792000" cy="129253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선급금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선급금율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100,000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10.00 %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062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199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336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224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383856" y="2782065"/>
            <a:ext cx="846386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2025-03-03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 err="1" smtClean="0">
                <a:latin typeface="+mn-ea"/>
              </a:rPr>
              <a:t>국제확정전력운영계약팀</a:t>
            </a:r>
            <a:endParaRPr lang="en-US" altLang="ko-KR" sz="600" dirty="0" smtClean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3,933.29 </a:t>
            </a:r>
            <a:r>
              <a:rPr lang="en-US" altLang="ko-KR" sz="600" dirty="0" smtClean="0">
                <a:latin typeface="+mn-ea"/>
              </a:rPr>
              <a:t>USD</a:t>
            </a:r>
            <a:endParaRPr lang="en-US" altLang="ko-KR" sz="600" dirty="0">
              <a:latin typeface="+mn-ea"/>
            </a:endParaRP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153386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일반경쟁</a:t>
            </a:r>
            <a:endParaRPr lang="ko-KR" altLang="en-US" sz="600" dirty="0"/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4639681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일반경쟁</a:t>
            </a:r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079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0" name="그룹 169"/>
          <p:cNvGrpSpPr/>
          <p:nvPr/>
        </p:nvGrpSpPr>
        <p:grpSpPr>
          <a:xfrm>
            <a:off x="3836701" y="3682937"/>
            <a:ext cx="2630093" cy="1116634"/>
            <a:chOff x="3865118" y="2694619"/>
            <a:chExt cx="2630093" cy="1116634"/>
          </a:xfrm>
        </p:grpSpPr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원화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2" name="직사각형 171"/>
            <p:cNvSpPr/>
            <p:nvPr/>
          </p:nvSpPr>
          <p:spPr>
            <a:xfrm>
              <a:off x="3867211" y="2946204"/>
              <a:ext cx="792000" cy="8650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en-US" altLang="ko-KR" sz="700" dirty="0" smtClean="0">
                  <a:latin typeface="+mn-ea"/>
                </a:rPr>
                <a:t>KRW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1,000,000,000 </a:t>
              </a:r>
              <a:r>
                <a:rPr lang="en-US" altLang="ko-KR" sz="700" dirty="0">
                  <a:latin typeface="+mn-ea"/>
                </a:rPr>
                <a:t>KRW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12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6" name="모서리가 둥근 직사각형 135"/>
          <p:cNvSpPr/>
          <p:nvPr/>
        </p:nvSpPr>
        <p:spPr>
          <a:xfrm>
            <a:off x="197731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확정계약</a:t>
            </a:r>
            <a:endParaRPr lang="ko-KR" altLang="en-US" sz="600" dirty="0"/>
          </a:p>
        </p:txBody>
      </p:sp>
      <p:sp>
        <p:nvSpPr>
          <p:cNvPr id="137" name="모서리가 둥근 직사각형 136"/>
          <p:cNvSpPr/>
          <p:nvPr/>
        </p:nvSpPr>
        <p:spPr>
          <a:xfrm>
            <a:off x="50903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확정계약</a:t>
            </a:r>
            <a:endParaRPr lang="ko-KR" altLang="en-US" sz="600" dirty="0"/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0" name="직선 연결선 1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358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42" name="그룹 141"/>
          <p:cNvGrpSpPr/>
          <p:nvPr/>
        </p:nvGrpSpPr>
        <p:grpSpPr>
          <a:xfrm>
            <a:off x="764169" y="4142235"/>
            <a:ext cx="1482541" cy="107722"/>
            <a:chOff x="764169" y="4142235"/>
            <a:chExt cx="1482541" cy="107722"/>
          </a:xfrm>
        </p:grpSpPr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 smtClean="0">
                  <a:latin typeface="+mn-ea"/>
                </a:rPr>
                <a:t>계약현황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55140" y="4142235"/>
              <a:ext cx="45592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842256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계약대상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48" name="그룹 147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149" name="타원 148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0" name="그룹 149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156" name="직선 연결선 15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7" name="직선 연결선 15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1" name="타원 15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2" name="그룹 15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53" name="직선 연결선 15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4" name="직선 연결선 15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8" name="그룹 157"/>
          <p:cNvGrpSpPr/>
          <p:nvPr/>
        </p:nvGrpSpPr>
        <p:grpSpPr>
          <a:xfrm>
            <a:off x="3795734" y="2107946"/>
            <a:ext cx="2712027" cy="354413"/>
            <a:chOff x="3671524" y="2151787"/>
            <a:chExt cx="2712027" cy="354413"/>
          </a:xfrm>
        </p:grpSpPr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15178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506200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16615" y="2506200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63" name="그룹 162"/>
            <p:cNvGrpSpPr/>
            <p:nvPr/>
          </p:nvGrpSpPr>
          <p:grpSpPr>
            <a:xfrm>
              <a:off x="3760294" y="2289593"/>
              <a:ext cx="1623210" cy="107722"/>
              <a:chOff x="764169" y="4142235"/>
              <a:chExt cx="1623210" cy="107722"/>
            </a:xfrm>
          </p:grpSpPr>
          <p:sp>
            <p:nvSpPr>
              <p:cNvPr id="225" name="TextBox 2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계약현황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88821" y="4142235"/>
                <a:ext cx="40147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44736" y="4142235"/>
                <a:ext cx="62561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82925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계약대상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4" name="그룹 163"/>
            <p:cNvGrpSpPr/>
            <p:nvPr/>
          </p:nvGrpSpPr>
          <p:grpSpPr>
            <a:xfrm>
              <a:off x="5920211" y="2251470"/>
              <a:ext cx="422853" cy="187961"/>
              <a:chOff x="3641308" y="2234886"/>
              <a:chExt cx="422853" cy="187961"/>
            </a:xfrm>
          </p:grpSpPr>
          <p:sp>
            <p:nvSpPr>
              <p:cNvPr id="165" name="타원 164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6" name="그룹 165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6" name="직선 연결선 2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직선 연결선 21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2" name="타원 21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13" name="그룹 21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4" name="직선 연결선 21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5" name="직선 연결선 21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230" name="직사각형 229"/>
          <p:cNvSpPr/>
          <p:nvPr/>
        </p:nvSpPr>
        <p:spPr>
          <a:xfrm>
            <a:off x="7108877" y="6026889"/>
            <a:ext cx="2294693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260625 </a:t>
            </a:r>
            <a:r>
              <a:rPr lang="ko-KR" altLang="en-US" sz="500" dirty="0" smtClean="0"/>
              <a:t>구매요청번호</a:t>
            </a:r>
            <a:r>
              <a:rPr lang="en-US" altLang="ko-KR" sz="500" dirty="0" smtClean="0"/>
              <a:t> </a:t>
            </a:r>
            <a:r>
              <a:rPr lang="ko-KR" altLang="en-US" sz="500" dirty="0" smtClean="0"/>
              <a:t>누락</a:t>
            </a:r>
            <a:r>
              <a:rPr lang="en-US" altLang="ko-KR" sz="500" dirty="0" smtClean="0"/>
              <a:t> </a:t>
            </a:r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47" name="타원 2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48" name="타원 2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49" name="타원 2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50" name="타원 2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51" name="타원 2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57" name="타원 2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6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4711" y="1483462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err="1" smtClean="0"/>
              <a:t>계약현황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계약대상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</p:spTree>
    <p:extLst>
      <p:ext uri="{BB962C8B-B14F-4D97-AF65-F5344CB8AC3E}">
        <p14:creationId xmlns:p14="http://schemas.microsoft.com/office/powerpoint/2010/main" val="1590049781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계약현황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224511"/>
            <a:chOff x="701175" y="1527996"/>
            <a:chExt cx="2630093" cy="2224511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현황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9170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90468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계약담당부서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P.R.NO.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계약형태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화폐단위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90468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국제확정전력운영계약팀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AAA12345 </a:t>
              </a:r>
              <a:r>
                <a:rPr lang="ko-KR" altLang="en-US" sz="700" dirty="0">
                  <a:latin typeface="+mn-ea"/>
                </a:rPr>
                <a:t>등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IX3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O </a:t>
              </a:r>
              <a:r>
                <a:rPr lang="ko-KR" altLang="en-US" sz="700" dirty="0">
                  <a:latin typeface="+mn-ea"/>
                </a:rPr>
                <a:t>전력운영사업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확정계약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USD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917026"/>
              <a:chOff x="701175" y="1835481"/>
              <a:chExt cx="2630093" cy="1917026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1" name="그룹 70"/>
          <p:cNvGrpSpPr/>
          <p:nvPr/>
        </p:nvGrpSpPr>
        <p:grpSpPr>
          <a:xfrm>
            <a:off x="716366" y="3832038"/>
            <a:ext cx="2630093" cy="1113359"/>
            <a:chOff x="3865118" y="2694619"/>
            <a:chExt cx="2630093" cy="1113359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3" name="직사각형 82"/>
            <p:cNvSpPr/>
            <p:nvPr/>
          </p:nvSpPr>
          <p:spPr>
            <a:xfrm>
              <a:off x="3867211" y="2946204"/>
              <a:ext cx="792000" cy="8527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USD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USD</a:t>
              </a:r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3" name="그룹 92"/>
          <p:cNvGrpSpPr/>
          <p:nvPr/>
        </p:nvGrpSpPr>
        <p:grpSpPr>
          <a:xfrm>
            <a:off x="716366" y="5023696"/>
            <a:ext cx="2630093" cy="1116634"/>
            <a:chOff x="3865118" y="2694619"/>
            <a:chExt cx="2630093" cy="1116634"/>
          </a:xfrm>
        </p:grpSpPr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원화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5" name="직사각형 94"/>
            <p:cNvSpPr/>
            <p:nvPr/>
          </p:nvSpPr>
          <p:spPr>
            <a:xfrm>
              <a:off x="3867211" y="2946204"/>
              <a:ext cx="792000" cy="8650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1,000,000,000 KRW</a:t>
              </a:r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12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3" name="그룹 102"/>
          <p:cNvGrpSpPr/>
          <p:nvPr/>
        </p:nvGrpSpPr>
        <p:grpSpPr>
          <a:xfrm>
            <a:off x="3842944" y="1527996"/>
            <a:ext cx="2630093" cy="2836908"/>
            <a:chOff x="3865118" y="2694619"/>
            <a:chExt cx="2630093" cy="2836908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추가 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3867211" y="2946203"/>
              <a:ext cx="792000" cy="258183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선급금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선급금율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품질보증기간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운송방법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선적지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가격조건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최종납기일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예상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검사조건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분할선적횟수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100,000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10.00 %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ko-KR" altLang="en-US" sz="700" dirty="0" smtClean="0">
                  <a:latin typeface="+mn-ea"/>
                </a:rPr>
                <a:t>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GR01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Free Carrier : </a:t>
              </a:r>
              <a:r>
                <a:rPr lang="ko-KR" altLang="en-US" sz="700" dirty="0">
                  <a:latin typeface="+mn-ea"/>
                </a:rPr>
                <a:t>운송인인도조건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2026-03-03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4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6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234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31605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5280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3842944" y="4448646"/>
            <a:ext cx="2630093" cy="2069248"/>
            <a:chOff x="3865118" y="2694619"/>
            <a:chExt cx="2630093" cy="2069248"/>
          </a:xfrm>
        </p:grpSpPr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안내 사항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86457"/>
              <a:ext cx="2487488" cy="17774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계약담당</a:t>
              </a:r>
              <a:r>
                <a:rPr lang="ko-KR" altLang="en-US" sz="700" dirty="0">
                  <a:latin typeface="+mn-ea"/>
                </a:rPr>
                <a:t> 공무원과 계약상대자는 붙임의 </a:t>
              </a:r>
              <a:r>
                <a:rPr lang="ko-KR" altLang="en-US" sz="700" dirty="0" err="1">
                  <a:latin typeface="+mn-ea"/>
                </a:rPr>
                <a:t>계약문서에</a:t>
              </a:r>
              <a:r>
                <a:rPr lang="ko-KR" altLang="en-US" sz="700" dirty="0">
                  <a:latin typeface="+mn-ea"/>
                </a:rPr>
                <a:t> 의하여 위 물품에 대한 구매계약을 체결하고 신의에 따라 성실히 계약상의 의무를 이행할 것을 확인하며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 smtClean="0">
                  <a:latin typeface="+mn-ea"/>
                </a:rPr>
                <a:t>이 </a:t>
              </a:r>
              <a:r>
                <a:rPr lang="ko-KR" altLang="en-US" sz="700" dirty="0">
                  <a:latin typeface="+mn-ea"/>
                </a:rPr>
                <a:t>계약의 증거로 계약서를 작성하며 당사자가 기명 날인 후 각각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통씩 보관한다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150000"/>
                </a:lnSpc>
              </a:pPr>
              <a:r>
                <a:rPr lang="ko-KR" altLang="en-US" sz="700" dirty="0" err="1">
                  <a:latin typeface="+mn-ea"/>
                </a:rPr>
                <a:t>붙임서류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1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 err="1">
                  <a:latin typeface="+mn-ea"/>
                </a:rPr>
                <a:t>계약서표지</a:t>
              </a:r>
              <a:r>
                <a:rPr lang="ko-KR" altLang="en-US" sz="700" dirty="0">
                  <a:latin typeface="+mn-ea"/>
                </a:rPr>
                <a:t>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2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>
                  <a:latin typeface="+mn-ea"/>
                </a:rPr>
                <a:t>계약 일반조건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3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ko-KR" altLang="en-US" sz="700" dirty="0">
                  <a:latin typeface="+mn-ea"/>
                </a:rPr>
                <a:t>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4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 err="1">
                  <a:latin typeface="+mn-ea"/>
                </a:rPr>
                <a:t>물품명세서</a:t>
              </a:r>
              <a:r>
                <a:rPr lang="ko-KR" altLang="en-US" sz="700" dirty="0">
                  <a:latin typeface="+mn-ea"/>
                </a:rPr>
                <a:t>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5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>
                  <a:latin typeface="+mn-ea"/>
                </a:rPr>
                <a:t>기타 증거 자료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763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1987572024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상업계약명세서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MUI-CT-01-P78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</a:t>
            </a:r>
            <a:r>
              <a:rPr lang="ko-KR" altLang="en-US" dirty="0" err="1">
                <a:latin typeface="+mn-ea"/>
              </a:rPr>
              <a:t>계약명세서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528448"/>
            <a:chOff x="701175" y="1527996"/>
            <a:chExt cx="2630093" cy="528448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명세서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209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GRAND-TOTAL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100.00 USD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14740"/>
              <a:chOff x="701175" y="1835481"/>
              <a:chExt cx="2630093" cy="21474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7744" y="2138609"/>
            <a:ext cx="125217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명세서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목록 </a:t>
            </a:r>
            <a:r>
              <a:rPr lang="en-US" altLang="ko-KR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- </a:t>
            </a: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78" name="그룹 77"/>
          <p:cNvGrpSpPr/>
          <p:nvPr/>
        </p:nvGrpSpPr>
        <p:grpSpPr>
          <a:xfrm flipV="1">
            <a:off x="3119831" y="2251940"/>
            <a:ext cx="94010" cy="47005"/>
            <a:chOff x="6812560" y="3297172"/>
            <a:chExt cx="94010" cy="47005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9" name="모서리가 둥근 직사각형 78"/>
          <p:cNvSpPr/>
          <p:nvPr/>
        </p:nvSpPr>
        <p:spPr>
          <a:xfrm>
            <a:off x="711214" y="253699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2611516"/>
            <a:ext cx="1017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AAA12345</a:t>
            </a:r>
          </a:p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001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410" y="266537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65116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2401877"/>
            <a:ext cx="13058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PR No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/ Group No.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620986" y="2401877"/>
            <a:ext cx="411197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SUB-TOTAL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7978" y="2401877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69643" y="2665377"/>
            <a:ext cx="86253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100.00</a:t>
            </a:r>
          </a:p>
        </p:txBody>
      </p:sp>
      <p:grpSp>
        <p:nvGrpSpPr>
          <p:cNvPr id="174" name="그룹 173"/>
          <p:cNvGrpSpPr/>
          <p:nvPr/>
        </p:nvGrpSpPr>
        <p:grpSpPr>
          <a:xfrm rot="5400000" flipV="1">
            <a:off x="3124235" y="2707417"/>
            <a:ext cx="94010" cy="47005"/>
            <a:chOff x="6812560" y="3297172"/>
            <a:chExt cx="94010" cy="47005"/>
          </a:xfrm>
        </p:grpSpPr>
        <p:cxnSp>
          <p:nvCxnSpPr>
            <p:cNvPr id="181" name="직선 연결선 1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2" name="직선 연결선 1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643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4" name="모서리가 둥근 직사각형 183"/>
          <p:cNvSpPr/>
          <p:nvPr/>
        </p:nvSpPr>
        <p:spPr>
          <a:xfrm>
            <a:off x="711214" y="293825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3012774"/>
            <a:ext cx="1017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AAA12345</a:t>
            </a:r>
          </a:p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002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410" y="306663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69643" y="3066635"/>
            <a:ext cx="86253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100.00</a:t>
            </a:r>
          </a:p>
        </p:txBody>
      </p:sp>
      <p:grpSp>
        <p:nvGrpSpPr>
          <p:cNvPr id="188" name="그룹 187"/>
          <p:cNvGrpSpPr/>
          <p:nvPr/>
        </p:nvGrpSpPr>
        <p:grpSpPr>
          <a:xfrm rot="5400000" flipV="1">
            <a:off x="3124235" y="3108675"/>
            <a:ext cx="94010" cy="47005"/>
            <a:chOff x="6812560" y="3297172"/>
            <a:chExt cx="94010" cy="47005"/>
          </a:xfrm>
        </p:grpSpPr>
        <p:cxnSp>
          <p:nvCxnSpPr>
            <p:cNvPr id="189" name="직선 연결선 1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0" name="직선 연결선 1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331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18417679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계약대상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1505"/>
            <a:ext cx="2712026" cy="659791"/>
            <a:chOff x="675399" y="2138609"/>
            <a:chExt cx="2712026" cy="659791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57744" y="2138609"/>
              <a:ext cx="1252172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계약담당</a:t>
              </a:r>
              <a:r>
                <a:rPr lang="ko-KR" altLang="en-US" sz="700" dirty="0" smtClean="0">
                  <a:latin typeface="+mn-ea"/>
                </a:rPr>
                <a:t> 공무원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78" name="그룹 77"/>
            <p:cNvGrpSpPr/>
            <p:nvPr/>
          </p:nvGrpSpPr>
          <p:grpSpPr>
            <a:xfrm flipV="1">
              <a:off x="3119831" y="2251940"/>
              <a:ext cx="94010" cy="47005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2" name="직선 연결선 1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79" name="모서리가 둥근 직사각형 78"/>
            <p:cNvSpPr/>
            <p:nvPr/>
          </p:nvSpPr>
          <p:spPr>
            <a:xfrm>
              <a:off x="711214" y="2452531"/>
              <a:ext cx="2652743" cy="27287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62428" y="2535108"/>
              <a:ext cx="101775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방위사업청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79840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49" name="그룹 48"/>
          <p:cNvGrpSpPr/>
          <p:nvPr/>
        </p:nvGrpSpPr>
        <p:grpSpPr>
          <a:xfrm flipV="1">
            <a:off x="3119831" y="2357428"/>
            <a:ext cx="94010" cy="47005"/>
            <a:chOff x="6812560" y="3297172"/>
            <a:chExt cx="94010" cy="47005"/>
          </a:xfrm>
        </p:grpSpPr>
        <p:cxnSp>
          <p:nvCxnSpPr>
            <p:cNvPr id="69" name="직선 연결선 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0" name="직선 연결선 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71" name="그룹 70"/>
          <p:cNvGrpSpPr/>
          <p:nvPr/>
        </p:nvGrpSpPr>
        <p:grpSpPr>
          <a:xfrm>
            <a:off x="716366" y="2264290"/>
            <a:ext cx="2630093" cy="1551998"/>
            <a:chOff x="3865118" y="2694619"/>
            <a:chExt cx="2630093" cy="1551998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상대자</a:t>
              </a: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3867211" y="2946204"/>
              <a:ext cx="792000" cy="13004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TEL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FAX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[7001F] </a:t>
              </a:r>
              <a:r>
                <a:rPr lang="en-US" altLang="ko-KR" sz="700" dirty="0" smtClean="0">
                  <a:latin typeface="+mn-ea"/>
                </a:rPr>
                <a:t>TESLA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02-2345-6789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3601347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DUNS NO</a:t>
              </a:r>
              <a:r>
                <a:rPr lang="en-US" altLang="ko-KR" sz="700" dirty="0" smtClean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358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661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0" name="그룹 89"/>
          <p:cNvGrpSpPr/>
          <p:nvPr/>
        </p:nvGrpSpPr>
        <p:grpSpPr>
          <a:xfrm>
            <a:off x="716366" y="3940799"/>
            <a:ext cx="2630093" cy="1113360"/>
            <a:chOff x="3865118" y="2694619"/>
            <a:chExt cx="2630093" cy="1113360"/>
          </a:xfrm>
        </p:grpSpPr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3257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무역대리점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연대보증인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2" name="직사각형 91"/>
            <p:cNvSpPr/>
            <p:nvPr/>
          </p:nvSpPr>
          <p:spPr>
            <a:xfrm>
              <a:off x="3867211" y="2946205"/>
              <a:ext cx="792000" cy="8617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TEL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FAX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테스트업체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02-2345-6789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86311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4" name="그룹 103"/>
          <p:cNvGrpSpPr/>
          <p:nvPr/>
        </p:nvGrpSpPr>
        <p:grpSpPr>
          <a:xfrm flipV="1">
            <a:off x="3119831" y="4006087"/>
            <a:ext cx="94010" cy="47005"/>
            <a:chOff x="6812560" y="3297172"/>
            <a:chExt cx="94010" cy="47005"/>
          </a:xfrm>
        </p:grpSpPr>
        <p:cxnSp>
          <p:nvCxnSpPr>
            <p:cNvPr id="105" name="직선 연결선 1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6" name="직선 연결선 1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0" name="직사각형 49"/>
          <p:cNvSpPr/>
          <p:nvPr/>
        </p:nvSpPr>
        <p:spPr>
          <a:xfrm>
            <a:off x="7067736" y="5913120"/>
            <a:ext cx="2323393" cy="15928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260625 </a:t>
            </a:r>
            <a:r>
              <a:rPr lang="ko-KR" altLang="en-US" sz="500" dirty="0" smtClean="0"/>
              <a:t>구매요청번호</a:t>
            </a:r>
            <a:r>
              <a:rPr lang="en-US" altLang="ko-KR" sz="500" dirty="0" smtClean="0"/>
              <a:t> </a:t>
            </a:r>
            <a:r>
              <a:rPr lang="ko-KR" altLang="en-US" sz="500" dirty="0" smtClean="0"/>
              <a:t>누락</a:t>
            </a:r>
            <a:r>
              <a:rPr lang="en-US" altLang="ko-KR" sz="500" dirty="0" smtClean="0"/>
              <a:t> </a:t>
            </a:r>
          </a:p>
        </p:txBody>
      </p:sp>
      <p:sp>
        <p:nvSpPr>
          <p:cNvPr id="52" name="직사각형 51"/>
          <p:cNvSpPr/>
          <p:nvPr/>
        </p:nvSpPr>
        <p:spPr>
          <a:xfrm>
            <a:off x="7067736" y="6072406"/>
            <a:ext cx="2335834" cy="15989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PC</a:t>
            </a:r>
            <a:r>
              <a:rPr lang="ko-KR" altLang="en-US" sz="500" dirty="0" smtClean="0"/>
              <a:t>에 항목설명 메뉴 없음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217681481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189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584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계약상세정보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7819"/>
          <a:ext cx="8994883" cy="542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계약담당부서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ofcctrDeptNm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계약담당부서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담당자성명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picNm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담당자성명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prchsDmndNo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4052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10139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bizSeCd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05937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ctrtMthdNm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19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ctrtShpCd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99575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crncCd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807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본조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bscbgtFrcncyAmt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본조금액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07466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당년국채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thsyrGovbndFrcncyAmt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당년국채금액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589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장기국채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ltrmGovbndFrcncyAmt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장기국채금액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24109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gramtFrcncy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0974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본조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원화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bscbgtAmt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본조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 원화금액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302020204030204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6166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당년국채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thsyrGovbndAmt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당년국채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302020204030204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29873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장기국채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ltrmGovbndAmt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장기국채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302020204030204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85919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gramt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총 원화금액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67062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계약보증금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ctrtGrnteAmtRt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계약보증금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33843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지체상금율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lqdmgRt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지체상금율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695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선급금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prpamtRt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선급금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590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품질보증기간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qltyGrntePrd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품질보증기간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84905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trnsMthdCd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8900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선적지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shplc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선적지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1502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prcCndCd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15141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최종납기일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예상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lastDudtYmd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최종납기일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예상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4228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inspShpCd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7397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prttnShpgNmtm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8505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57365282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190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2367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계약상대자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dm_ctrtRlt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7819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ctrtB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상호명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ctrtB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zentyAddr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rprsvNm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대표자명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14820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enbrno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3156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TEL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ctrtBzentyEntlno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0567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FAX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ctrtB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zentyFxno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팩스번호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4233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9797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주소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bzentyAddr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 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42296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TEL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bzentyEntlno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96005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FAX(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zentyFxno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팩스번호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000242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3443586"/>
            <a:ext cx="22399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계약명세서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dl_ctrtDtst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370039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PR.No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prchsDmndNo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명세서 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54046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Group No.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groupNo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그룹번호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SUB-TOTAL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itemGramt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 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2FBDA98-9B1A-DE89-E4A7-226960FD3D0E}"/>
              </a:ext>
            </a:extLst>
          </p:cNvPr>
          <p:cNvSpPr txBox="1"/>
          <p:nvPr/>
        </p:nvSpPr>
        <p:spPr>
          <a:xfrm>
            <a:off x="448406" y="4739560"/>
            <a:ext cx="199310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총금액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dm_gramt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D6DACC6-0AC9-2109-DEA4-A24CE6B59FD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4996369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GRAND-TOTAL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gramt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8120416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5C5ABF10-68D6-D8DD-5586-3607BC39B9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191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A0056F0-DEF0-7CF7-A556-CC8B6D3196A9}"/>
              </a:ext>
            </a:extLst>
          </p:cNvPr>
          <p:cNvSpPr txBox="1"/>
          <p:nvPr/>
        </p:nvSpPr>
        <p:spPr>
          <a:xfrm>
            <a:off x="458117" y="5828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E3F835A-06FC-90FB-1710-AD9A6D0EA7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2293142"/>
              </p:ext>
            </p:extLst>
          </p:nvPr>
        </p:nvGraphicFramePr>
        <p:xfrm>
          <a:off x="458117" y="812247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659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2575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242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상업계약서상세정보를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scwin.grd_cmbzCtrtDtst_oncellclick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상업계약명세서 팝업창을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MUI-CT-01-P78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9047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scwin.btn_report_onclick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상업계약서출력물 화면을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UI-CT-01-R84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946956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B39DCD8-1F17-31D2-8A37-C4CB6B438A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514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9982554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목록 데이터 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L/I </a:t>
            </a:r>
            <a:r>
              <a:rPr lang="ko-KR" altLang="en-US" dirty="0" err="1" smtClean="0"/>
              <a:t>항목번호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Stock-No </a:t>
            </a:r>
            <a:r>
              <a:rPr lang="ko-KR" altLang="en-US" dirty="0" err="1" smtClean="0"/>
              <a:t>재고번호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Part-No </a:t>
            </a:r>
            <a:r>
              <a:rPr lang="ko-KR" altLang="en-US" dirty="0" err="1" smtClean="0"/>
              <a:t>부품번호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err="1" smtClean="0"/>
              <a:t>Nomencalature</a:t>
            </a:r>
            <a:r>
              <a:rPr lang="en-US" altLang="ko-KR" dirty="0" smtClean="0"/>
              <a:t> </a:t>
            </a:r>
            <a:r>
              <a:rPr lang="ko-KR" altLang="en-US" dirty="0" smtClean="0"/>
              <a:t>품명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Budge </a:t>
            </a:r>
            <a:r>
              <a:rPr lang="ko-KR" altLang="en-US" dirty="0" err="1" smtClean="0"/>
              <a:t>예산구분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Unit </a:t>
            </a:r>
            <a:r>
              <a:rPr lang="ko-KR" altLang="en-US" dirty="0" smtClean="0"/>
              <a:t>단위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err="1" smtClean="0"/>
              <a:t>QNty</a:t>
            </a:r>
            <a:r>
              <a:rPr lang="en-US" altLang="ko-KR" dirty="0" smtClean="0"/>
              <a:t> </a:t>
            </a:r>
            <a:r>
              <a:rPr lang="ko-KR" altLang="en-US" dirty="0" smtClean="0"/>
              <a:t>수량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err="1" smtClean="0"/>
              <a:t>UnitPrice</a:t>
            </a:r>
            <a:r>
              <a:rPr lang="en-US" altLang="ko-KR" dirty="0" smtClean="0"/>
              <a:t> </a:t>
            </a:r>
            <a:r>
              <a:rPr lang="ko-KR" altLang="en-US" dirty="0" smtClean="0"/>
              <a:t>단가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Total </a:t>
            </a:r>
            <a:r>
              <a:rPr lang="ko-KR" altLang="en-US" dirty="0" err="1" smtClean="0"/>
              <a:t>총금액</a:t>
            </a:r>
            <a:r>
              <a:rPr lang="ko-KR" altLang="en-US" dirty="0" smtClean="0"/>
              <a:t>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상업계약서명세서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상업계약명세서 </a:t>
            </a:r>
            <a:r>
              <a:rPr lang="ko-KR" altLang="en-US" dirty="0" err="1">
                <a:latin typeface="+mn-ea"/>
              </a:rPr>
              <a:t>목록정보를</a:t>
            </a:r>
            <a:r>
              <a:rPr lang="ko-KR" altLang="en-US" dirty="0">
                <a:latin typeface="+mn-ea"/>
              </a:rPr>
              <a:t>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상업계약서명세서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MUI-CT-01-P78</a:t>
            </a:r>
            <a:endParaRPr lang="ko-KR" altLang="en-US" dirty="0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계약명세서</a:t>
            </a:r>
            <a:r>
              <a:rPr lang="ko-KR" altLang="en-US" sz="900" dirty="0" smtClean="0">
                <a:latin typeface="+mn-ea"/>
              </a:rPr>
              <a:t> 상세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8" name="그룹 37"/>
          <p:cNvGrpSpPr/>
          <p:nvPr/>
        </p:nvGrpSpPr>
        <p:grpSpPr>
          <a:xfrm>
            <a:off x="716366" y="3617463"/>
            <a:ext cx="2630093" cy="2154436"/>
            <a:chOff x="3865118" y="2946204"/>
            <a:chExt cx="2630093" cy="2154436"/>
          </a:xfrm>
        </p:grpSpPr>
        <p:sp>
          <p:nvSpPr>
            <p:cNvPr id="40" name="직사각형 39"/>
            <p:cNvSpPr/>
            <p:nvPr/>
          </p:nvSpPr>
          <p:spPr>
            <a:xfrm>
              <a:off x="3867211" y="2946204"/>
              <a:ext cx="792000" cy="21315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L/I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Stock-No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Part-No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Nomenclature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Budget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Unit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err="1" smtClean="0">
                  <a:latin typeface="+mn-ea"/>
                </a:rPr>
                <a:t>Qnty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Unit Price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Total </a:t>
              </a:r>
              <a:r>
                <a:rPr lang="en-US" altLang="ko-KR" sz="700" dirty="0" smtClean="0">
                  <a:latin typeface="+mn-ea"/>
                </a:rPr>
                <a:t>Price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MBCLMH13630691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012305317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958AS535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LAUNCHER,ROCKET,AI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10.00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170.00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77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27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64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4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3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827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2546367"/>
            <a:ext cx="12868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명세서 품목 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711214" y="2938870"/>
            <a:ext cx="2652743" cy="364486"/>
            <a:chOff x="711214" y="2744368"/>
            <a:chExt cx="2652743" cy="364486"/>
          </a:xfrm>
        </p:grpSpPr>
        <p:sp>
          <p:nvSpPr>
            <p:cNvPr id="61" name="모서리가 둥근 직사각형 60"/>
            <p:cNvSpPr/>
            <p:nvPr/>
          </p:nvSpPr>
          <p:spPr>
            <a:xfrm>
              <a:off x="711214" y="2744368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7430" y="2872750"/>
              <a:ext cx="101775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8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SUB-TOTAL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305563" y="2872750"/>
              <a:ext cx="862539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340.00</a:t>
              </a:r>
              <a:endParaRPr lang="en-US" altLang="ko-KR" sz="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3375528"/>
            <a:ext cx="128688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명세서 목록 </a:t>
            </a:r>
            <a:r>
              <a:rPr lang="en-US" altLang="ko-KR" sz="700" dirty="0" smtClean="0">
                <a:latin typeface="+mn-ea"/>
              </a:rPr>
              <a:t>– </a:t>
            </a:r>
            <a:r>
              <a:rPr lang="ko-KR" altLang="en-US" sz="700" dirty="0" smtClean="0">
                <a:latin typeface="+mn-ea"/>
              </a:rPr>
              <a:t>총</a:t>
            </a:r>
            <a:r>
              <a:rPr lang="en-US" altLang="ko-KR" sz="700" dirty="0" smtClean="0">
                <a:latin typeface="+mn-ea"/>
              </a:rPr>
              <a:t> 00</a:t>
            </a:r>
            <a:r>
              <a:rPr lang="ko-KR" altLang="en-US" sz="700" dirty="0" smtClean="0">
                <a:latin typeface="+mn-ea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양쪽 모서리가 둥근 사각형 80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82" name="모서리가 둥근 직사각형 81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3" name="그룹 82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100" name="직선 연결선 99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계약명세서</a:t>
            </a:r>
            <a:r>
              <a:rPr lang="ko-KR" altLang="en-US" sz="900" dirty="0" smtClean="0">
                <a:latin typeface="+mn-ea"/>
              </a:rPr>
              <a:t> 상세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4" name="그룹 3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836701" y="2663484"/>
            <a:ext cx="2630093" cy="2154436"/>
            <a:chOff x="3865118" y="2946204"/>
            <a:chExt cx="2630093" cy="2154436"/>
          </a:xfrm>
        </p:grpSpPr>
        <p:sp>
          <p:nvSpPr>
            <p:cNvPr id="105" name="직사각형 104"/>
            <p:cNvSpPr/>
            <p:nvPr/>
          </p:nvSpPr>
          <p:spPr>
            <a:xfrm>
              <a:off x="3867211" y="2946204"/>
              <a:ext cx="792000" cy="21315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L/I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Stock-No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Part-No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Nomenclature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Budget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Unit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err="1" smtClean="0">
                  <a:latin typeface="+mn-ea"/>
                </a:rPr>
                <a:t>Qnty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Unit Price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Total </a:t>
              </a:r>
              <a:r>
                <a:rPr lang="en-US" altLang="ko-KR" sz="700" dirty="0" smtClean="0">
                  <a:latin typeface="+mn-ea"/>
                </a:rPr>
                <a:t>Price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MBCLMH13630691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012305317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958AS535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LAUNCHER,ROCKET,AI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10.00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170.00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77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27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64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4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3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827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021597"/>
            <a:ext cx="76863" cy="292489"/>
            <a:chOff x="3750067" y="4683795"/>
            <a:chExt cx="76863" cy="292489"/>
          </a:xfrm>
        </p:grpSpPr>
        <p:sp>
          <p:nvSpPr>
            <p:cNvPr id="120" name="타원 11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1" name="타원 12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882369340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193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2424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35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PR.NO.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prchsDmndNo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Project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Group 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groupNo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그룹번호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14820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Firm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ctrtBzentyNm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3156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Type of Bid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ctrtMthdNm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0567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crncCd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4233093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2594037"/>
            <a:ext cx="22399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계약명세서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dl_ctrtDtst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2895486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artclNo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invtNo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prtsNo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5447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979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bgtSeCd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72486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unitNm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4871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itemQty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56640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itemUntprc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0533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6561476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3907AB4-8D30-10E9-A8C9-506363A5E3C0}"/>
              </a:ext>
            </a:extLst>
          </p:cNvPr>
          <p:cNvSpPr txBox="1"/>
          <p:nvPr/>
        </p:nvSpPr>
        <p:spPr>
          <a:xfrm>
            <a:off x="447726" y="571373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E6E9635-F462-79E3-9DE6-409E59C8DA6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42609" y="5948701"/>
          <a:ext cx="8995590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상업계약명세서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92FBDA98-9B1A-DE89-E4A7-226960FD3D0E}"/>
              </a:ext>
            </a:extLst>
          </p:cNvPr>
          <p:cNvSpPr txBox="1"/>
          <p:nvPr/>
        </p:nvSpPr>
        <p:spPr>
          <a:xfrm>
            <a:off x="448406" y="5010721"/>
            <a:ext cx="199310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총금액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dm_gramt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D6DACC6-0AC9-2109-DEA4-A24CE6B59FD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526753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SUB-TOTAL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itemGramt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646649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18057</TotalTime>
  <Words>26838</Words>
  <Application>Microsoft Office PowerPoint</Application>
  <PresentationFormat>A4 용지(210x297mm)</PresentationFormat>
  <Paragraphs>14997</Paragraphs>
  <Slides>194</Slides>
  <Notes>25</Notes>
  <HiddenSlides>0</HiddenSlides>
  <MMClips>0</MMClips>
  <ScaleCrop>false</ScaleCrop>
  <HeadingPairs>
    <vt:vector size="6" baseType="variant">
      <vt:variant>
        <vt:lpstr>사용한 글꼴</vt:lpstr>
      </vt:variant>
      <vt:variant>
        <vt:i4>8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194</vt:i4>
      </vt:variant>
    </vt:vector>
  </HeadingPairs>
  <TitlesOfParts>
    <vt:vector size="203" baseType="lpstr">
      <vt:lpstr>HG꼬딕씨_Pro 40g</vt:lpstr>
      <vt:lpstr>Pretendard Medium</vt:lpstr>
      <vt:lpstr>맑은 고딕</vt:lpstr>
      <vt:lpstr>맑은 고딕 (본문)</vt:lpstr>
      <vt:lpstr>Arial</vt:lpstr>
      <vt:lpstr>Segoe UI</vt:lpstr>
      <vt:lpstr>Times New Roman</vt:lpstr>
      <vt:lpstr>Wingdings</vt:lpstr>
      <vt:lpstr>Office 테마</vt:lpstr>
      <vt:lpstr>사용자인터페이스 설계서 - 모바일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LIG SYSTEM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표준서식-PPTX-A4-Landscape</dc:title>
  <dc:subject>프로젝트 명</dc:subject>
  <dc:creator>LIG SYSTEM</dc:creator>
  <cp:keywords>표준서식-PPTX-A4-Landscape</cp:keywords>
  <cp:lastModifiedBy>User</cp:lastModifiedBy>
  <cp:revision>1053</cp:revision>
  <cp:lastPrinted>2016-10-27T08:57:39Z</cp:lastPrinted>
  <dcterms:created xsi:type="dcterms:W3CDTF">2016-10-27T07:41:55Z</dcterms:created>
  <dcterms:modified xsi:type="dcterms:W3CDTF">2026-08-04T00:58:08Z</dcterms:modified>
  <cp:category>서브시스템/업무명</cp:category>
  <cp:contentStatus>0.1</cp:contentStatus>
</cp:coreProperties>
</file>