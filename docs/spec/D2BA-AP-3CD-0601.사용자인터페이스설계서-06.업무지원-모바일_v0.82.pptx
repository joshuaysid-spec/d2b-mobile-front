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56" r:id="rId2"/>
    <p:sldId id="688" r:id="rId3"/>
    <p:sldId id="676" r:id="rId4"/>
    <p:sldId id="356" r:id="rId5"/>
    <p:sldId id="260" r:id="rId6"/>
    <p:sldId id="264" r:id="rId7"/>
    <p:sldId id="291" r:id="rId8"/>
    <p:sldId id="358" r:id="rId9"/>
    <p:sldId id="273" r:id="rId10"/>
    <p:sldId id="292" r:id="rId11"/>
    <p:sldId id="677" r:id="rId12"/>
    <p:sldId id="306" r:id="rId13"/>
    <p:sldId id="689" r:id="rId14"/>
    <p:sldId id="328" r:id="rId15"/>
    <p:sldId id="690" r:id="rId16"/>
    <p:sldId id="678" r:id="rId17"/>
    <p:sldId id="679" r:id="rId18"/>
    <p:sldId id="680" r:id="rId19"/>
    <p:sldId id="660" r:id="rId20"/>
    <p:sldId id="661" r:id="rId21"/>
    <p:sldId id="662" r:id="rId22"/>
    <p:sldId id="663" r:id="rId23"/>
    <p:sldId id="666" r:id="rId24"/>
    <p:sldId id="664" r:id="rId25"/>
    <p:sldId id="681" r:id="rId26"/>
    <p:sldId id="682" r:id="rId27"/>
    <p:sldId id="683" r:id="rId28"/>
    <p:sldId id="665" r:id="rId29"/>
    <p:sldId id="684" r:id="rId30"/>
    <p:sldId id="685" r:id="rId31"/>
    <p:sldId id="671" r:id="rId32"/>
    <p:sldId id="674" r:id="rId33"/>
    <p:sldId id="686" r:id="rId34"/>
    <p:sldId id="687" r:id="rId35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688"/>
            <p14:sldId id="676"/>
            <p14:sldId id="356"/>
            <p14:sldId id="260"/>
          </p14:sldIdLst>
        </p14:section>
        <p14:section name="1.사전의향서" id="{A88D8C4A-42D5-488C-851B-9A15CEB54A60}">
          <p14:sldIdLst>
            <p14:sldId id="264"/>
            <p14:sldId id="291"/>
            <p14:sldId id="358"/>
            <p14:sldId id="273"/>
            <p14:sldId id="292"/>
            <p14:sldId id="677"/>
            <p14:sldId id="306"/>
            <p14:sldId id="689"/>
            <p14:sldId id="328"/>
            <p14:sldId id="690"/>
            <p14:sldId id="678"/>
            <p14:sldId id="679"/>
            <p14:sldId id="680"/>
          </p14:sldIdLst>
        </p14:section>
        <p14:section name="2.세금계산서" id="{019FD015-75A8-4452-8691-168FACA46FB5}">
          <p14:sldIdLst>
            <p14:sldId id="660"/>
            <p14:sldId id="661"/>
            <p14:sldId id="662"/>
            <p14:sldId id="663"/>
            <p14:sldId id="666"/>
            <p14:sldId id="664"/>
            <p14:sldId id="681"/>
            <p14:sldId id="682"/>
            <p14:sldId id="683"/>
            <p14:sldId id="665"/>
            <p14:sldId id="684"/>
            <p14:sldId id="685"/>
            <p14:sldId id="671"/>
            <p14:sldId id="674"/>
            <p14:sldId id="686"/>
            <p14:sldId id="6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48" y="9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2026-07-27 (Monday)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2026-07-27 (Monday)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666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06.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업무지원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06.</a:t>
            </a:r>
            <a:r>
              <a:rPr lang="ko-KR" altLang="en-US" dirty="0"/>
              <a:t>업무지원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D2BA-AP_3CD-0601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45055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84934"/>
              </p:ext>
            </p:extLst>
          </p:nvPr>
        </p:nvGraphicFramePr>
        <p:xfrm>
          <a:off x="652374" y="1286787"/>
          <a:ext cx="8782571" cy="3743598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0.9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PMO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 및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TF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검토요청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939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430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402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02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390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022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59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E11E0974-0B2E-0EBE-E5C5-FA7CE978C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57119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640724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사전의향서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세금계산서 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6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7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8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18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18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19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20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smtClean="0">
                          <a:latin typeface="+mn-ea"/>
                          <a:ea typeface="+mn-ea"/>
                        </a:rPr>
                        <a:t>21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 err="1">
                <a:latin typeface="+mn-ea"/>
              </a:rPr>
              <a:t>사전의향서</a:t>
            </a:r>
            <a:r>
              <a:rPr lang="ko-KR" altLang="en-US" dirty="0">
                <a:latin typeface="+mn-ea"/>
              </a:rPr>
              <a:t> 목록</a:t>
            </a:r>
            <a:r>
              <a:rPr lang="ko-KR" altLang="en-US" dirty="0"/>
              <a:t> 메뉴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867774"/>
              </p:ext>
            </p:extLst>
          </p:nvPr>
        </p:nvGraphicFramePr>
        <p:xfrm>
          <a:off x="635474" y="1413419"/>
          <a:ext cx="8701200" cy="209086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MUI-TS-01-M01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BfhdLoiListPage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사전의향서목록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MUI-TS-01-P04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BfhdLoiList_SrchFilter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BfhdLoiList_SrchFilter.tsx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1233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BfhdLoiDtlPage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사전의향서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상세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65343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MUI-TS-01-T01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상세내용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BfhdLoiDtl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탭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MUI-TS-01-T02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품목명세서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BfhdLoiDtl_ItemList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탭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_ItemList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UC-SB-01-01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UC-SB-01-02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71406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MUI-TS-01-P03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의견작성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BfhdLoiWrt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사전의향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의견 작성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BfhdLoiWrt.tsx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153768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9683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사전의향서목록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en-US" altLang="ko-KR" sz="800" dirty="0">
                <a:solidFill>
                  <a:schemeClr val="tx1"/>
                </a:solidFill>
              </a:rPr>
              <a:t>-</a:t>
            </a:r>
            <a:r>
              <a:rPr lang="ko-KR" altLang="en-US" sz="800" dirty="0" err="1">
                <a:solidFill>
                  <a:schemeClr val="tx1"/>
                </a:solidFill>
              </a:rPr>
              <a:t>사전의향서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938395" y="3111377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967392" y="2905685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4005" y="285168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사전의향서상세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162" idx="1"/>
          </p:cNvCxnSpPr>
          <p:nvPr/>
        </p:nvCxnSpPr>
        <p:spPr>
          <a:xfrm rot="16200000" flipH="1">
            <a:off x="2440946" y="2292625"/>
            <a:ext cx="1078721" cy="32739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5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654092" y="287601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837287" y="287601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품목명세서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837287" y="374289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의견작성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327200" y="2659231"/>
            <a:ext cx="2711195" cy="672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3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5" idx="2"/>
            <a:endCxn id="30" idx="1"/>
          </p:cNvCxnSpPr>
          <p:nvPr/>
        </p:nvCxnSpPr>
        <p:spPr>
          <a:xfrm rot="5400000">
            <a:off x="5700845" y="3300454"/>
            <a:ext cx="722885" cy="450000"/>
          </a:xfrm>
          <a:prstGeom prst="bentConnector4">
            <a:avLst>
              <a:gd name="adj1" fmla="val 40040"/>
              <a:gd name="adj2" fmla="val 1508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0" idx="3"/>
            <a:endCxn id="158" idx="2"/>
          </p:cNvCxnSpPr>
          <p:nvPr/>
        </p:nvCxnSpPr>
        <p:spPr>
          <a:xfrm flipV="1">
            <a:off x="6737287" y="2995685"/>
            <a:ext cx="1230105" cy="8912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32" idx="1"/>
          </p:cNvCxnSpPr>
          <p:nvPr/>
        </p:nvCxnSpPr>
        <p:spPr>
          <a:xfrm>
            <a:off x="4044005" y="2995685"/>
            <a:ext cx="283195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32" idx="3"/>
            <a:endCxn id="158" idx="2"/>
          </p:cNvCxnSpPr>
          <p:nvPr/>
        </p:nvCxnSpPr>
        <p:spPr>
          <a:xfrm>
            <a:off x="7038395" y="2995685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961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화면 영역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71293" y="2747194"/>
            <a:ext cx="221145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&lt;&lt;</a:t>
            </a:r>
            <a:r>
              <a:rPr lang="ko-KR" altLang="en-US" sz="1000" dirty="0" err="1"/>
              <a:t>사전의향서</a:t>
            </a:r>
            <a:r>
              <a:rPr lang="en-US" altLang="ko-KR" sz="1000" dirty="0"/>
              <a:t>Controller&gt;&gt;</a:t>
            </a:r>
          </a:p>
          <a:p>
            <a:pPr algn="ctr"/>
            <a:r>
              <a:rPr lang="en-US" altLang="ko-KR" sz="1000" dirty="0" err="1"/>
              <a:t>BfhdLoiController</a:t>
            </a:r>
            <a:endParaRPr lang="en-US" altLang="ko-KR" sz="10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2161321"/>
            <a:ext cx="967509" cy="828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896613"/>
            <a:ext cx="967509" cy="93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641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840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375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890476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사전의향서목록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BfhdLoiListPage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625768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검색필터</a:t>
            </a:r>
            <a:r>
              <a:rPr lang="en-US" altLang="ko-KR" sz="1000" dirty="0" smtClean="0">
                <a:solidFill>
                  <a:schemeClr val="tx1"/>
                </a:solidFill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사전의향서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BfhdLoiList_SrchFilter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361061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사전의향서상세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BfhdLoiDtlPage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95048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상세내용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BfhdLoiDtl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829034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품목명세서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BfhdLoiDtl_ItemList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563021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의견작성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BfhdLoiWrt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</a:t>
            </a:r>
            <a:r>
              <a:rPr lang="ko-KR" altLang="en-US" dirty="0" smtClean="0"/>
              <a:t>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입력된 값을 불러와서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  &gt; </a:t>
            </a:r>
            <a:r>
              <a:rPr lang="ko-KR" altLang="en-US" dirty="0"/>
              <a:t>우측 </a:t>
            </a:r>
            <a:r>
              <a:rPr lang="ko-KR" altLang="en-US" dirty="0" err="1"/>
              <a:t>정보값</a:t>
            </a:r>
            <a:r>
              <a:rPr lang="ko-KR" altLang="en-US" dirty="0"/>
              <a:t> 참조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</a:t>
            </a:r>
            <a:r>
              <a:rPr lang="ko-KR" altLang="en-US" dirty="0" smtClean="0"/>
              <a:t>가능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>
                <a:solidFill>
                  <a:srgbClr val="FF0000"/>
                </a:solidFill>
              </a:rPr>
              <a:t>- </a:t>
            </a:r>
            <a:r>
              <a:rPr lang="ko-KR" altLang="en-US" dirty="0" smtClean="0">
                <a:solidFill>
                  <a:srgbClr val="FF0000"/>
                </a:solidFill>
              </a:rPr>
              <a:t>진행상태 값에 </a:t>
            </a:r>
            <a:r>
              <a:rPr lang="ko-KR" altLang="en-US" dirty="0" err="1" smtClean="0">
                <a:solidFill>
                  <a:srgbClr val="FF0000"/>
                </a:solidFill>
              </a:rPr>
              <a:t>빈값은</a:t>
            </a:r>
            <a:r>
              <a:rPr lang="ko-KR" altLang="en-US" dirty="0" smtClean="0">
                <a:solidFill>
                  <a:srgbClr val="FF0000"/>
                </a:solidFill>
              </a:rPr>
              <a:t> 사용자가 의견을 작성하지 않은 상태 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err="1" smtClean="0">
                <a:solidFill>
                  <a:srgbClr val="FF0000"/>
                </a:solidFill>
              </a:rPr>
              <a:t>임시저장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제출을 하지 않은 상태</a:t>
            </a:r>
            <a:r>
              <a:rPr lang="en-US" altLang="ko-KR" dirty="0" smtClean="0">
                <a:solidFill>
                  <a:srgbClr val="FF0000"/>
                </a:solidFill>
              </a:rPr>
              <a:t>) </a:t>
            </a:r>
            <a:r>
              <a:rPr lang="ko-KR" altLang="en-US" dirty="0" smtClean="0">
                <a:solidFill>
                  <a:srgbClr val="FF0000"/>
                </a:solidFill>
              </a:rPr>
              <a:t>임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사전의향서</a:t>
            </a:r>
            <a:r>
              <a:rPr lang="ko-KR" altLang="en-US" sz="800" dirty="0"/>
              <a:t> </a:t>
            </a:r>
            <a:r>
              <a:rPr lang="ko-KR" altLang="en-US" sz="800" dirty="0">
                <a:latin typeface="+mn-ea"/>
              </a:rPr>
              <a:t>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01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6675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71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80453"/>
            <a:ext cx="2473257" cy="845407"/>
            <a:chOff x="781461" y="2610063"/>
            <a:chExt cx="2473257" cy="845407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 dirty="0" smtClean="0"/>
                <a:t>변속기 </a:t>
              </a:r>
              <a:r>
                <a:rPr lang="ko-KR" altLang="en-US" sz="900" b="1" dirty="0"/>
                <a:t>부품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39972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 smtClean="0"/>
                <a:t>접수일자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발주부서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37122" y="3024583"/>
              <a:ext cx="904094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/>
                <a:t>2025-05-01 ~ 2025-08-15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0431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81461" y="4430971"/>
            <a:ext cx="2473257" cy="812896"/>
            <a:chOff x="781461" y="2610063"/>
            <a:chExt cx="2473257" cy="812896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 dirty="0" smtClean="0"/>
                <a:t>장갑차 </a:t>
              </a:r>
              <a:r>
                <a:rPr lang="ko-KR" altLang="en-US" sz="900" b="1" dirty="0"/>
                <a:t>부품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22850"/>
              <a:ext cx="307777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/>
                <a:t>접수일자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발주부서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42811" y="3007461"/>
              <a:ext cx="904094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 smtClean="0"/>
                <a:t>2025-07-01 </a:t>
              </a:r>
              <a:r>
                <a:rPr lang="en-US" altLang="ko-KR" sz="600" dirty="0"/>
                <a:t>~ </a:t>
              </a:r>
              <a:r>
                <a:rPr lang="en-US" altLang="ko-KR" sz="600" dirty="0" smtClean="0"/>
                <a:t>2025-10-30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운영계약팀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홍길순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796345" y="2610063"/>
              <a:ext cx="317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미제출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124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463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329600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302973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633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94" name="그룹 93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95" name="직선 연결선 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직선 연결선 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107" name="그룹 106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08" name="모서리가 둥근 직사각형 107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1" name="그룹 110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1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제목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1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2" name="타원 111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4" name="타원 113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5" name="그룹 114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16" name="직선 연결선 115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6" name="그룹 8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8" name="직사각형 8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2026-07-24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목록</a:t>
              </a:r>
              <a:r>
                <a:rPr lang="en-US" altLang="ko-KR" sz="700" dirty="0" smtClean="0"/>
                <a:t> </a:t>
              </a:r>
              <a:r>
                <a:rPr lang="ko-KR" altLang="en-US" sz="700" dirty="0" smtClean="0"/>
                <a:t>표시 정보 정렬 </a:t>
              </a:r>
              <a:r>
                <a:rPr lang="ko-KR" altLang="en-US" sz="700" dirty="0" smtClean="0"/>
                <a:t>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레이블 </a:t>
              </a:r>
              <a:r>
                <a:rPr lang="ko-KR" altLang="en-US" sz="700" dirty="0" err="1" smtClean="0"/>
                <a:t>정보값</a:t>
              </a:r>
              <a:r>
                <a:rPr lang="ko-KR" altLang="en-US" sz="700" dirty="0" smtClean="0"/>
                <a:t> 변경</a:t>
              </a:r>
              <a:endParaRPr lang="ko-KR" altLang="en-US" sz="700" dirty="0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3764076" y="1660648"/>
            <a:ext cx="2845599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/>
              <a:t>※ </a:t>
            </a:r>
            <a:r>
              <a:rPr lang="ko-KR" altLang="en-US" sz="700" dirty="0"/>
              <a:t>진행상태 </a:t>
            </a:r>
            <a:r>
              <a:rPr lang="ko-KR" altLang="en-US" sz="700" dirty="0" err="1"/>
              <a:t>처리절차는</a:t>
            </a:r>
            <a:r>
              <a:rPr lang="ko-KR" altLang="en-US" sz="700" dirty="0"/>
              <a:t> 아래와 같습니다</a:t>
            </a:r>
            <a:r>
              <a:rPr lang="en-US" altLang="ko-KR" sz="7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00" dirty="0" err="1"/>
              <a:t>빈값</a:t>
            </a:r>
            <a:r>
              <a:rPr lang="ko-KR" altLang="en-US" sz="700" dirty="0"/>
              <a:t>    </a:t>
            </a:r>
            <a:r>
              <a:rPr lang="en-US" altLang="ko-KR" sz="700" dirty="0"/>
              <a:t>: </a:t>
            </a:r>
            <a:r>
              <a:rPr lang="ko-KR" altLang="en-US" sz="700" dirty="0"/>
              <a:t>사전의향서를 </a:t>
            </a:r>
            <a:r>
              <a:rPr lang="ko-KR" altLang="en-US" sz="700" dirty="0" err="1"/>
              <a:t>임시저장</a:t>
            </a:r>
            <a:r>
              <a:rPr lang="en-US" altLang="ko-KR" sz="700" dirty="0"/>
              <a:t>/</a:t>
            </a:r>
            <a:r>
              <a:rPr lang="ko-KR" altLang="en-US" sz="700" dirty="0"/>
              <a:t>제출을 하지 않은 상태 입니다</a:t>
            </a:r>
            <a:r>
              <a:rPr lang="en-US" altLang="ko-KR" sz="700" dirty="0"/>
              <a:t>. </a:t>
            </a:r>
            <a:r>
              <a:rPr lang="ko-KR" altLang="en-US" sz="700" dirty="0" err="1"/>
              <a:t>사전의향서</a:t>
            </a:r>
            <a:r>
              <a:rPr lang="ko-KR" altLang="en-US" sz="700" dirty="0"/>
              <a:t> </a:t>
            </a:r>
            <a:r>
              <a:rPr lang="ko-KR" altLang="en-US" sz="700" dirty="0" err="1"/>
              <a:t>임시저장</a:t>
            </a:r>
            <a:r>
              <a:rPr lang="ko-KR" altLang="en-US" sz="700" dirty="0"/>
              <a:t> 및 제출이 가능합니다</a:t>
            </a:r>
            <a:r>
              <a:rPr lang="en-US" altLang="ko-KR" sz="7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00" dirty="0" err="1"/>
              <a:t>미제출</a:t>
            </a:r>
            <a:r>
              <a:rPr lang="ko-KR" altLang="en-US" sz="700" dirty="0"/>
              <a:t> </a:t>
            </a:r>
            <a:r>
              <a:rPr lang="en-US" altLang="ko-KR" sz="700" dirty="0"/>
              <a:t>: </a:t>
            </a:r>
            <a:r>
              <a:rPr lang="ko-KR" altLang="en-US" sz="700" dirty="0"/>
              <a:t>사전의향서를 </a:t>
            </a:r>
            <a:r>
              <a:rPr lang="ko-KR" altLang="en-US" sz="700" dirty="0" err="1"/>
              <a:t>임시저장</a:t>
            </a:r>
            <a:r>
              <a:rPr lang="ko-KR" altLang="en-US" sz="700" dirty="0"/>
              <a:t> 한 상태입니다</a:t>
            </a:r>
            <a:r>
              <a:rPr lang="en-US" altLang="ko-KR" sz="700" dirty="0"/>
              <a:t>. </a:t>
            </a:r>
            <a:r>
              <a:rPr lang="ko-KR" altLang="en-US" sz="700" dirty="0" err="1"/>
              <a:t>사전의향서</a:t>
            </a:r>
            <a:r>
              <a:rPr lang="ko-KR" altLang="en-US" sz="700" dirty="0"/>
              <a:t> </a:t>
            </a:r>
            <a:r>
              <a:rPr lang="ko-KR" altLang="en-US" sz="700" dirty="0" err="1"/>
              <a:t>임시저장</a:t>
            </a:r>
            <a:r>
              <a:rPr lang="ko-KR" altLang="en-US" sz="700" dirty="0"/>
              <a:t> 및 제출이 가능합니다</a:t>
            </a:r>
            <a:r>
              <a:rPr lang="en-US" altLang="ko-KR" sz="7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00" dirty="0"/>
              <a:t>제출    </a:t>
            </a:r>
            <a:r>
              <a:rPr lang="en-US" altLang="ko-KR" sz="700" dirty="0"/>
              <a:t>: </a:t>
            </a:r>
            <a:r>
              <a:rPr lang="ko-KR" altLang="en-US" sz="700" dirty="0"/>
              <a:t>사전의향서를 제출한 상태입니다</a:t>
            </a:r>
            <a:r>
              <a:rPr lang="en-US" altLang="ko-KR" sz="700" dirty="0"/>
              <a:t>. </a:t>
            </a:r>
            <a:r>
              <a:rPr lang="ko-KR" altLang="en-US" sz="700" dirty="0" err="1"/>
              <a:t>사전의향서</a:t>
            </a:r>
            <a:r>
              <a:rPr lang="ko-KR" altLang="en-US" sz="700" dirty="0"/>
              <a:t> 수정이 불가합니다</a:t>
            </a:r>
            <a:r>
              <a:rPr lang="en-US" altLang="ko-KR" sz="700" dirty="0" smtClean="0"/>
              <a:t>.</a:t>
            </a:r>
            <a:endParaRPr lang="en-US" altLang="ko-KR" sz="700" dirty="0"/>
          </a:p>
        </p:txBody>
      </p:sp>
      <p:cxnSp>
        <p:nvCxnSpPr>
          <p:cNvPr id="7" name="꺾인 연결선 6"/>
          <p:cNvCxnSpPr>
            <a:endCxn id="3" idx="1"/>
          </p:cNvCxnSpPr>
          <p:nvPr/>
        </p:nvCxnSpPr>
        <p:spPr>
          <a:xfrm>
            <a:off x="3387426" y="2016004"/>
            <a:ext cx="376650" cy="678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555655"/>
              </p:ext>
            </p:extLst>
          </p:nvPr>
        </p:nvGraphicFramePr>
        <p:xfrm>
          <a:off x="3801286" y="3613845"/>
          <a:ext cx="3069778" cy="741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진행상태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prgrsStcd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제출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미제출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빈값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57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기간 </a:t>
            </a:r>
            <a:r>
              <a:rPr lang="ko-KR" altLang="en-US" dirty="0"/>
              <a:t>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호출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  &gt; </a:t>
            </a:r>
            <a:r>
              <a:rPr lang="ko-KR" altLang="en-US" dirty="0" smtClean="0">
                <a:sym typeface="Wingdings" panose="05000000000000000000" pitchFamily="2" charset="2"/>
              </a:rPr>
              <a:t>월 지정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지정 설정으로 날짜 즉시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</a:t>
            </a:r>
            <a:r>
              <a:rPr lang="ko-KR" altLang="en-US" dirty="0" smtClean="0">
                <a:sym typeface="Wingdings" panose="05000000000000000000" pitchFamily="2" charset="2"/>
              </a:rPr>
              <a:t>가능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모두 </a:t>
            </a:r>
            <a:r>
              <a:rPr lang="en-US" altLang="ko-KR" dirty="0" smtClean="0">
                <a:sym typeface="Wingdings" panose="05000000000000000000" pitchFamily="2" charset="2"/>
              </a:rPr>
              <a:t>like </a:t>
            </a:r>
            <a:r>
              <a:rPr lang="ko-KR" altLang="en-US" dirty="0" smtClean="0">
                <a:sym typeface="Wingdings" panose="05000000000000000000" pitchFamily="2" charset="2"/>
              </a:rPr>
              <a:t>검색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 err="1">
                <a:latin typeface="+mn-ea"/>
              </a:rPr>
              <a:t>사전의향서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MUI-TS-01-P04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083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접수기간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기간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83287" y="2813628"/>
            <a:ext cx="2516607" cy="1134611"/>
            <a:chOff x="778515" y="4388257"/>
            <a:chExt cx="2516607" cy="1134611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발주부서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담당자를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05263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61" name="직사각형 60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2026-07-24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</a:t>
              </a:r>
              <a:r>
                <a:rPr lang="en-US" altLang="ko-KR" sz="700" dirty="0" smtClean="0"/>
                <a:t> </a:t>
              </a:r>
              <a:r>
                <a:rPr lang="ko-KR" altLang="en-US" sz="700" dirty="0" smtClean="0"/>
                <a:t>필터 일부 제거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12775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601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 (본문)"/>
                          <a:ea typeface="맑은 고딕" panose="020B0503020000020004" pitchFamily="50" charset="-127"/>
                          <a:cs typeface="+mn-cs"/>
                        </a:rPr>
                        <a:t>rcptYmdFr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제출 시작일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rcptYmdTo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제출 종료일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704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27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mdfcnInvtNo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374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629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2706355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2927349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r>
                        <a:rPr lang="en-US" altLang="ko-KR" sz="800" dirty="0" err="1">
                          <a:latin typeface="+mn-ea"/>
                        </a:rPr>
                        <a:t>~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prgrsStcd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미제출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86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3770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779402"/>
              </p:ext>
            </p:extLst>
          </p:nvPr>
        </p:nvGraphicFramePr>
        <p:xfrm>
          <a:off x="453000" y="4612378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접수기간을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현재일자로 세팅한다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초기화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scwin.btn_init_onclikc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검색조건이 기본값으로 초기화된다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522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부합하는 데이터가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666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/>
                        <a:t>scwin.grd_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bfhdLoiTtl</a:t>
                      </a:r>
                      <a:r>
                        <a:rPr lang="en-US" altLang="ko-KR" sz="800" dirty="0" err="1"/>
                        <a:t>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MUI-TS-01-M02</a:t>
                      </a:r>
                      <a:r>
                        <a:rPr lang="en-US" altLang="ko-KR" sz="800" dirty="0" smtClean="0"/>
                        <a:t>) </a:t>
                      </a:r>
                      <a:r>
                        <a:rPr lang="ko-KR" altLang="en-US" sz="800" dirty="0"/>
                        <a:t>사전의향서 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2F135EB-F5B9-1B5B-A5DF-50EE71F5B30C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4" name="Text Box 73">
            <a:extLst>
              <a:ext uri="{FF2B5EF4-FFF2-40B4-BE49-F238E27FC236}">
                <a16:creationId xmlns:a16="http://schemas.microsoft.com/office/drawing/2014/main" id="{7425F7B3-7DAE-3B72-855C-DEA9777BB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9320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공고가 지명경쟁계약일 경우 </a:t>
            </a:r>
            <a:r>
              <a:rPr lang="ko-KR" altLang="en-US" dirty="0" err="1"/>
              <a:t>상세화면은</a:t>
            </a:r>
            <a:r>
              <a:rPr lang="ko-KR" altLang="en-US" dirty="0"/>
              <a:t> 계약업무담당자 또는 지명경쟁업체로 등록된 업체만 </a:t>
            </a:r>
            <a:r>
              <a:rPr lang="ko-KR" altLang="en-US" dirty="0" err="1"/>
              <a:t>조회가능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</a:t>
            </a:r>
            <a:r>
              <a:rPr lang="ko-KR" altLang="en-US" dirty="0" err="1">
                <a:sym typeface="Wingdings" panose="05000000000000000000" pitchFamily="2" charset="2"/>
              </a:rPr>
              <a:t>바텀</a:t>
            </a:r>
            <a:r>
              <a:rPr lang="ko-KR" altLang="en-US" dirty="0">
                <a:sym typeface="Wingdings" panose="05000000000000000000" pitchFamily="2" charset="2"/>
              </a:rPr>
              <a:t> 시트에서 출력 가능 </a:t>
            </a:r>
            <a:r>
              <a:rPr lang="ko-KR" altLang="en-US" dirty="0" err="1">
                <a:sym typeface="Wingdings" panose="05000000000000000000" pitchFamily="2" charset="2"/>
              </a:rPr>
              <a:t>레포트</a:t>
            </a:r>
            <a:r>
              <a:rPr lang="ko-KR" altLang="en-US" dirty="0">
                <a:sym typeface="Wingdings" panose="05000000000000000000" pitchFamily="2" charset="2"/>
              </a:rPr>
              <a:t> 목록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품목명세서</a:t>
            </a:r>
            <a:r>
              <a:rPr lang="en-US" altLang="ko-KR" dirty="0"/>
              <a:t> </a:t>
            </a:r>
            <a:r>
              <a:rPr lang="ko-KR" altLang="en-US" dirty="0"/>
              <a:t>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섹션 도움말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 </a:t>
            </a:r>
            <a:r>
              <a:rPr lang="ko-KR" altLang="en-US" dirty="0"/>
              <a:t>영역이 사용되는 경우 도움말 아코디언 기능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문의처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사전의향서상세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/>
              <a:t>사전의향서목록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/>
              <a:t>사전의향서</a:t>
            </a:r>
            <a:r>
              <a:rPr lang="ko-KR" altLang="en-US" dirty="0" smtClean="0">
                <a:latin typeface="+mn-ea"/>
              </a:rPr>
              <a:t>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사전의향서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85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07777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발주부서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담당자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478086"/>
            <a:ext cx="384721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총괄계약팀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홍길동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612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024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8949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29262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0082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568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33402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3340244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568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33021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366318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7765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970667"/>
            <a:ext cx="792000" cy="65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706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970667"/>
            <a:ext cx="670770" cy="612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접수종료일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970667"/>
            <a:ext cx="181447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변속기 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2025-05-01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2025-08-15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2017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4154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6291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45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708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847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99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3827360" y="1598818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품목명세서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" name="그룹 2"/>
          <p:cNvGrpSpPr/>
          <p:nvPr/>
        </p:nvGrpSpPr>
        <p:grpSpPr>
          <a:xfrm>
            <a:off x="779007" y="1971228"/>
            <a:ext cx="841905" cy="119400"/>
            <a:chOff x="781461" y="3087955"/>
            <a:chExt cx="841905" cy="119400"/>
          </a:xfrm>
        </p:grpSpPr>
        <p:sp>
          <p:nvSpPr>
            <p:cNvPr id="156" name="모서리가 둥근 직사각형 155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57" name="모서리가 둥근 직사각형 156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58" name="모서리가 둥근 직사각형 157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795735" y="1963613"/>
            <a:ext cx="2712026" cy="899454"/>
            <a:chOff x="675400" y="2576379"/>
            <a:chExt cx="2712026" cy="899454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7745" y="2576379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문의처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5" name="그룹 164"/>
            <p:cNvGrpSpPr/>
            <p:nvPr/>
          </p:nvGrpSpPr>
          <p:grpSpPr>
            <a:xfrm flipV="1">
              <a:off x="3119832" y="2689710"/>
              <a:ext cx="94010" cy="47005"/>
              <a:chOff x="6812560" y="3297172"/>
              <a:chExt cx="94010" cy="47005"/>
            </a:xfrm>
          </p:grpSpPr>
          <p:cxnSp>
            <p:nvCxnSpPr>
              <p:cNvPr id="166" name="직선 연결선 16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400" y="3475833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9" name="모서리가 둥근 직사각형 168"/>
            <p:cNvSpPr/>
            <p:nvPr/>
          </p:nvSpPr>
          <p:spPr>
            <a:xfrm>
              <a:off x="705042" y="3048695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0" name="그룹 169"/>
            <p:cNvGrpSpPr/>
            <p:nvPr/>
          </p:nvGrpSpPr>
          <p:grpSpPr>
            <a:xfrm>
              <a:off x="854871" y="2888603"/>
              <a:ext cx="2353084" cy="440219"/>
              <a:chOff x="854511" y="2888603"/>
              <a:chExt cx="2353084" cy="440219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부서명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담당자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연락처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3167239"/>
                <a:ext cx="493904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latin typeface="+mn-ea"/>
                  </a:rPr>
                  <a:t>총괄계약팀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3167239"/>
                <a:ext cx="638280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홍길동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3113378"/>
                <a:ext cx="6475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02-1234-5678</a:t>
                </a:r>
              </a:p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010-1234-5678</a:t>
                </a:r>
              </a:p>
            </p:txBody>
          </p:sp>
        </p:grpSp>
      </p:grp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9439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6806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공고가 지명경쟁계약일 경우 </a:t>
            </a:r>
            <a:r>
              <a:rPr lang="ko-KR" altLang="en-US" dirty="0" err="1"/>
              <a:t>상세화면은</a:t>
            </a:r>
            <a:r>
              <a:rPr lang="ko-KR" altLang="en-US" dirty="0"/>
              <a:t> 계약업무담당자 또는 지명경쟁업체로 등록된 업체만 </a:t>
            </a:r>
            <a:r>
              <a:rPr lang="ko-KR" altLang="en-US" dirty="0" err="1"/>
              <a:t>조회가능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</a:t>
            </a:r>
            <a:r>
              <a:rPr lang="ko-KR" altLang="en-US" dirty="0" err="1">
                <a:sym typeface="Wingdings" panose="05000000000000000000" pitchFamily="2" charset="2"/>
              </a:rPr>
              <a:t>바텀</a:t>
            </a:r>
            <a:r>
              <a:rPr lang="ko-KR" altLang="en-US" dirty="0">
                <a:sym typeface="Wingdings" panose="05000000000000000000" pitchFamily="2" charset="2"/>
              </a:rPr>
              <a:t> 시트에서 출력 가능 </a:t>
            </a:r>
            <a:r>
              <a:rPr lang="ko-KR" altLang="en-US" dirty="0" err="1">
                <a:sym typeface="Wingdings" panose="05000000000000000000" pitchFamily="2" charset="2"/>
              </a:rPr>
              <a:t>레포트</a:t>
            </a:r>
            <a:r>
              <a:rPr lang="ko-KR" altLang="en-US" dirty="0">
                <a:sym typeface="Wingdings" panose="05000000000000000000" pitchFamily="2" charset="2"/>
              </a:rPr>
              <a:t> 목록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품목명세서</a:t>
            </a:r>
            <a:r>
              <a:rPr lang="en-US" altLang="ko-KR" dirty="0"/>
              <a:t> </a:t>
            </a:r>
            <a:r>
              <a:rPr lang="ko-KR" altLang="en-US" dirty="0"/>
              <a:t>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섹션 도움말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 </a:t>
            </a:r>
            <a:r>
              <a:rPr lang="ko-KR" altLang="en-US" dirty="0"/>
              <a:t>영역이 사용되는 경우 도움말 아코디언 기능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문의처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사전의향서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사전의향서목록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사전의향서</a:t>
            </a:r>
            <a:r>
              <a:rPr lang="ko-KR" altLang="en-US" dirty="0">
                <a:latin typeface="+mn-ea"/>
              </a:rPr>
              <a:t>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MUI-TS-01-T01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912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35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6931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636931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3538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98808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59869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73200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67354"/>
            <a:ext cx="792000" cy="65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6735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67354"/>
            <a:ext cx="670770" cy="612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접수종료일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67354"/>
            <a:ext cx="181447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변속기 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2025-05-01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2025-08-15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9845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1216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587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6755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7358" y="310122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675400" y="3070419"/>
            <a:ext cx="2712026" cy="899454"/>
            <a:chOff x="675400" y="2576379"/>
            <a:chExt cx="2712026" cy="899454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7745" y="2576379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문의처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5" name="그룹 164"/>
            <p:cNvGrpSpPr/>
            <p:nvPr/>
          </p:nvGrpSpPr>
          <p:grpSpPr>
            <a:xfrm flipV="1">
              <a:off x="3119832" y="2689710"/>
              <a:ext cx="94010" cy="47005"/>
              <a:chOff x="6812560" y="3297172"/>
              <a:chExt cx="94010" cy="47005"/>
            </a:xfrm>
          </p:grpSpPr>
          <p:cxnSp>
            <p:nvCxnSpPr>
              <p:cNvPr id="166" name="직선 연결선 16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400" y="3475833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9" name="모서리가 둥근 직사각형 168"/>
            <p:cNvSpPr/>
            <p:nvPr/>
          </p:nvSpPr>
          <p:spPr>
            <a:xfrm>
              <a:off x="705042" y="3048695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0" name="그룹 169"/>
            <p:cNvGrpSpPr/>
            <p:nvPr/>
          </p:nvGrpSpPr>
          <p:grpSpPr>
            <a:xfrm>
              <a:off x="854871" y="2888603"/>
              <a:ext cx="2353084" cy="440219"/>
              <a:chOff x="854511" y="2888603"/>
              <a:chExt cx="2353084" cy="440219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부서명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담당자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연락처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3167239"/>
                <a:ext cx="493904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latin typeface="+mn-ea"/>
                  </a:rPr>
                  <a:t>총괄계약팀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3167239"/>
                <a:ext cx="638280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홍길동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3113378"/>
                <a:ext cx="6475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02-1234-5678</a:t>
                </a:r>
              </a:p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010-1234-5678</a:t>
                </a:r>
              </a:p>
            </p:txBody>
          </p:sp>
        </p:grpSp>
      </p:grp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91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845224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품목명세서</a:t>
            </a:r>
            <a:r>
              <a:rPr lang="ko-KR" altLang="en-US" dirty="0"/>
              <a:t> 목록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세부 </a:t>
            </a:r>
            <a:r>
              <a:rPr lang="ko-KR" altLang="en-US" dirty="0" err="1" smtClean="0"/>
              <a:t>노출항목은</a:t>
            </a:r>
            <a:r>
              <a:rPr lang="ko-KR" altLang="en-US" dirty="0" smtClean="0"/>
              <a:t> 우측 노출 항목 참조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표시 건수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표시 개수 설정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의견 작성 </a:t>
            </a:r>
            <a:r>
              <a:rPr lang="ko-KR" altLang="en-US" dirty="0"/>
              <a:t>클릭 시 팝업으로 의견 작성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 작성 내역은 화면에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팝업에서 </a:t>
            </a:r>
            <a:r>
              <a:rPr lang="ko-KR" altLang="en-US" dirty="0" err="1"/>
              <a:t>임시저장</a:t>
            </a:r>
            <a:r>
              <a:rPr lang="ko-KR" altLang="en-US" dirty="0"/>
              <a:t> 또는 제출 클릭 시 본 화면에 내용 반영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제출 기간이 지난 경우 </a:t>
            </a:r>
            <a:r>
              <a:rPr lang="ko-KR" altLang="en-US" dirty="0" err="1"/>
              <a:t>입력폼</a:t>
            </a:r>
            <a:r>
              <a:rPr lang="ko-KR" altLang="en-US" dirty="0"/>
              <a:t> 노출하지 않으며</a:t>
            </a:r>
            <a:r>
              <a:rPr lang="en-US" altLang="ko-KR" dirty="0"/>
              <a:t>, </a:t>
            </a:r>
            <a:r>
              <a:rPr lang="ko-KR" altLang="en-US" dirty="0"/>
              <a:t>입력된 내역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재고번호</a:t>
            </a:r>
            <a:r>
              <a:rPr lang="ko-KR" altLang="en-US" dirty="0"/>
              <a:t> 팝업 </a:t>
            </a:r>
            <a:r>
              <a:rPr lang="ko-KR" altLang="en-US" dirty="0" smtClean="0"/>
              <a:t>호출 </a:t>
            </a:r>
            <a:r>
              <a:rPr lang="en-US" altLang="ko-KR" dirty="0"/>
              <a:t>(MUI-OP-01-P71 </a:t>
            </a:r>
            <a:r>
              <a:rPr lang="ko-KR" altLang="en-US" dirty="0" err="1" smtClean="0"/>
              <a:t>품목별검색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더보기</a:t>
            </a:r>
            <a:r>
              <a:rPr lang="ko-KR" altLang="en-US" dirty="0" smtClean="0"/>
              <a:t> 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설정한 표시 개수만큼 더 불러옴</a:t>
            </a:r>
            <a:r>
              <a:rPr lang="en-US" altLang="ko-KR" dirty="0" smtClean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품목명세서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품목명세서</a:t>
            </a:r>
            <a:r>
              <a:rPr lang="ko-KR" altLang="en-US" dirty="0"/>
              <a:t>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사전의향서목록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사전의향서</a:t>
            </a:r>
            <a:r>
              <a:rPr lang="ko-KR" altLang="en-US" dirty="0">
                <a:latin typeface="+mn-ea"/>
              </a:rPr>
              <a:t>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MUI-TS-01-T02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7327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2020658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597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716366" y="2571912"/>
            <a:ext cx="2630093" cy="2154437"/>
            <a:chOff x="701175" y="1924233"/>
            <a:chExt cx="2630093" cy="2154437"/>
          </a:xfrm>
        </p:grpSpPr>
        <p:sp>
          <p:nvSpPr>
            <p:cNvPr id="160" name="직사각형 159"/>
            <p:cNvSpPr/>
            <p:nvPr/>
          </p:nvSpPr>
          <p:spPr>
            <a:xfrm>
              <a:off x="703268" y="1924233"/>
              <a:ext cx="792000" cy="21544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924234"/>
              <a:ext cx="725552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구매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의견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부서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최초조달원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924234"/>
              <a:ext cx="1775839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제조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의견</a:t>
              </a:r>
              <a:r>
                <a:rPr lang="en-US" altLang="ko-KR" sz="700" dirty="0" smtClean="0">
                  <a:latin typeface="+mn-ea"/>
                </a:rPr>
                <a:t> 123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A7005265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srgbClr val="0070C0"/>
                  </a:solidFill>
                  <a:latin typeface="+mn-ea"/>
                </a:rPr>
                <a:t>4240-3753116870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총괄계약팀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924234"/>
              <a:ext cx="2630093" cy="2147400"/>
              <a:chOff x="701175" y="1835481"/>
              <a:chExt cx="2630093" cy="2147400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162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836921" y="2813082"/>
              <a:ext cx="494347" cy="16200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rPr>
                <a:t>보기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76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836921" y="2377444"/>
              <a:ext cx="494347" cy="16200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rPr>
                <a:t>의견작성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21583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280867"/>
            <a:ext cx="4257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859143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346209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7282" y="5472979"/>
            <a:ext cx="2448261" cy="1407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00" dirty="0">
                <a:solidFill>
                  <a:srgbClr val="FF0000"/>
                </a:solidFill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</a:rPr>
              <a:t>제조</a:t>
            </a:r>
            <a:r>
              <a:rPr lang="en-US" altLang="ko-KR" sz="700" dirty="0">
                <a:solidFill>
                  <a:srgbClr val="FF0000"/>
                </a:solidFill>
              </a:rPr>
              <a:t>/</a:t>
            </a:r>
            <a:r>
              <a:rPr lang="ko-KR" altLang="en-US" sz="700" dirty="0">
                <a:solidFill>
                  <a:srgbClr val="FF0000"/>
                </a:solidFill>
              </a:rPr>
              <a:t>구매에서 </a:t>
            </a:r>
            <a:r>
              <a:rPr lang="en-US" altLang="ko-KR" sz="700" dirty="0">
                <a:solidFill>
                  <a:srgbClr val="FF0000"/>
                </a:solidFill>
              </a:rPr>
              <a:t>[</a:t>
            </a:r>
            <a:r>
              <a:rPr lang="ko-KR" altLang="en-US" sz="700" dirty="0" err="1">
                <a:solidFill>
                  <a:srgbClr val="FF0000"/>
                </a:solidFill>
              </a:rPr>
              <a:t>의견작성</a:t>
            </a:r>
            <a:r>
              <a:rPr lang="en-US" altLang="ko-KR" sz="700" dirty="0">
                <a:solidFill>
                  <a:srgbClr val="FF0000"/>
                </a:solidFill>
              </a:rPr>
              <a:t>] </a:t>
            </a:r>
            <a:r>
              <a:rPr lang="ko-KR" altLang="en-US" sz="700" dirty="0">
                <a:solidFill>
                  <a:srgbClr val="FF0000"/>
                </a:solidFill>
              </a:rPr>
              <a:t>선택 시 의견 작성 가능합니다</a:t>
            </a:r>
            <a:r>
              <a:rPr lang="en-US" altLang="ko-KR" sz="7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231561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293176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77" name="그룹 7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78" name="직사각형 7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목록 표시 정보 수정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en-US" altLang="ko-KR" sz="700" dirty="0" smtClean="0"/>
                <a:t>- </a:t>
              </a:r>
              <a:r>
                <a:rPr lang="ko-KR" altLang="en-US" sz="700" dirty="0" smtClean="0"/>
                <a:t>제조</a:t>
              </a:r>
              <a:r>
                <a:rPr lang="en-US" altLang="ko-KR" sz="700" dirty="0" smtClean="0"/>
                <a:t>/</a:t>
              </a:r>
              <a:r>
                <a:rPr lang="ko-KR" altLang="en-US" sz="700" dirty="0" smtClean="0"/>
                <a:t>구매 및 의견 항목 </a:t>
              </a:r>
              <a:r>
                <a:rPr lang="en-US" altLang="ko-KR" sz="700" dirty="0" smtClean="0"/>
                <a:t>input </a:t>
              </a:r>
              <a:r>
                <a:rPr lang="ko-KR" altLang="en-US" sz="700" dirty="0" smtClean="0"/>
                <a:t>제거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팝업 정보 변경</a:t>
              </a:r>
              <a:endParaRPr lang="ko-KR" altLang="en-US" sz="700" dirty="0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28575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28575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3143548" y="2387573"/>
            <a:ext cx="94010" cy="47005"/>
            <a:chOff x="6812560" y="3297172"/>
            <a:chExt cx="94010" cy="47005"/>
          </a:xfrm>
        </p:grpSpPr>
        <p:cxnSp>
          <p:nvCxnSpPr>
            <p:cNvPr id="91" name="직선 연결선 9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직선 연결선 9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579967"/>
              </p:ext>
            </p:extLst>
          </p:nvPr>
        </p:nvGraphicFramePr>
        <p:xfrm>
          <a:off x="4195940" y="1983162"/>
          <a:ext cx="2248720" cy="3684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4086210086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852184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99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mnftrPrchsSecd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09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etcOpnnCn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507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550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mdfcnInvtNo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66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371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552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292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최초조달원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frstSosCd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858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implInstCd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044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장기사업구분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lshtmSecd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35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402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정비품목구분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mtncItemSecd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72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89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rqtYmd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67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조달지시구분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prcmDrctnSecd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244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310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033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59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95940" y="1647492"/>
            <a:ext cx="9573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/>
              <a:t>목록 노출 항목</a:t>
            </a:r>
            <a:endParaRPr lang="ko-KR" altLang="en-US" sz="900" dirty="0"/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912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35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6931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상세내용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636931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품목명세서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187930" y="1853538"/>
            <a:ext cx="542258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7" name="그룹 116"/>
          <p:cNvGrpSpPr/>
          <p:nvPr/>
        </p:nvGrpSpPr>
        <p:grpSpPr>
          <a:xfrm>
            <a:off x="2924086" y="1598808"/>
            <a:ext cx="422853" cy="187961"/>
            <a:chOff x="3641308" y="2234886"/>
            <a:chExt cx="422853" cy="187961"/>
          </a:xfrm>
        </p:grpSpPr>
        <p:sp>
          <p:nvSpPr>
            <p:cNvPr id="118" name="타원 11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9" name="그룹 118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0" name="타원 119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95064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제조 또는 구매 선택 팝업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구매 선택 없이 의견 작성 클릭 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제조</a:t>
            </a:r>
            <a:r>
              <a:rPr lang="en-US" altLang="ko-KR" dirty="0" smtClean="0"/>
              <a:t>/</a:t>
            </a:r>
            <a:r>
              <a:rPr lang="ko-KR" altLang="en-US" dirty="0" smtClean="0"/>
              <a:t>구매를 먼저 선택해주세요</a:t>
            </a:r>
            <a:r>
              <a:rPr lang="en-US" altLang="ko-KR" dirty="0" smtClean="0"/>
              <a:t>. (</a:t>
            </a:r>
            <a:r>
              <a:rPr lang="ko-KR" altLang="en-US" dirty="0" smtClean="0"/>
              <a:t>확인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임시저장</a:t>
            </a:r>
            <a:r>
              <a:rPr lang="ko-KR" altLang="en-US" dirty="0" smtClean="0"/>
              <a:t> 클릭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임시저장</a:t>
            </a:r>
            <a:r>
              <a:rPr lang="ko-KR" altLang="en-US" dirty="0" smtClean="0"/>
              <a:t> 되었습니다</a:t>
            </a:r>
            <a:r>
              <a:rPr lang="en-US" altLang="ko-KR" dirty="0" smtClean="0"/>
              <a:t>. (</a:t>
            </a:r>
            <a:r>
              <a:rPr lang="ko-KR" altLang="en-US" dirty="0" smtClean="0"/>
              <a:t>확인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팝업 닫기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제출 클릭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제출되었습니다</a:t>
            </a:r>
            <a:r>
              <a:rPr lang="en-US" altLang="ko-KR" dirty="0" smtClean="0"/>
              <a:t>. (</a:t>
            </a:r>
            <a:r>
              <a:rPr lang="ko-KR" altLang="en-US" dirty="0" smtClean="0"/>
              <a:t>확인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팝업 닫기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임시저장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제출을 클릭하지 않고 닫을 시 </a:t>
            </a:r>
            <a:r>
              <a:rPr lang="en-US" altLang="ko-KR" dirty="0" smtClean="0"/>
              <a:t>(</a:t>
            </a:r>
            <a:r>
              <a:rPr lang="ko-KR" altLang="en-US" dirty="0" smtClean="0"/>
              <a:t>내용이 있는 경우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작성한 내용이 </a:t>
            </a:r>
            <a:r>
              <a:rPr lang="ko-KR" altLang="en-US" dirty="0" err="1" smtClean="0"/>
              <a:t>있습</a:t>
            </a:r>
            <a:r>
              <a:rPr lang="en-US" altLang="ko-KR" dirty="0" smtClean="0"/>
              <a:t>0</a:t>
            </a:r>
            <a:r>
              <a:rPr lang="ko-KR" altLang="en-US" dirty="0" err="1" smtClean="0"/>
              <a:t>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저장하지 않고 닫으시겠습니까</a:t>
            </a:r>
            <a:r>
              <a:rPr lang="en-US" altLang="ko-KR" dirty="0" smtClean="0"/>
              <a:t>? (Y/N)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작성된 의견이 없는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의견을 작성하고 </a:t>
            </a:r>
            <a:r>
              <a:rPr lang="ko-KR" altLang="en-US" dirty="0" err="1" smtClean="0"/>
              <a:t>임시저장</a:t>
            </a:r>
            <a:r>
              <a:rPr lang="en-US" altLang="ko-KR" dirty="0"/>
              <a:t> </a:t>
            </a:r>
            <a:r>
              <a:rPr lang="ko-KR" altLang="en-US" dirty="0" smtClean="0"/>
              <a:t>또는 제출을 해주시길 바랍니다</a:t>
            </a:r>
            <a:r>
              <a:rPr lang="en-US" altLang="ko-KR" dirty="0" smtClean="0"/>
              <a:t>. (</a:t>
            </a:r>
            <a:r>
              <a:rPr lang="ko-KR" altLang="en-US" dirty="0" smtClean="0"/>
              <a:t>확인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의견작성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품목명세서</a:t>
            </a:r>
            <a:r>
              <a:rPr lang="ko-KR" altLang="en-US" dirty="0"/>
              <a:t> </a:t>
            </a:r>
            <a:r>
              <a:rPr lang="ko-KR" altLang="en-US" dirty="0" smtClean="0"/>
              <a:t>탭에서 </a:t>
            </a:r>
            <a:r>
              <a:rPr lang="ko-KR" altLang="en-US" dirty="0" err="1" smtClean="0"/>
              <a:t>의견작성</a:t>
            </a:r>
            <a:r>
              <a:rPr lang="ko-KR" altLang="en-US" dirty="0" smtClean="0"/>
              <a:t> 팝업 </a:t>
            </a:r>
            <a:r>
              <a:rPr lang="ko-KR" altLang="en-US" dirty="0"/>
              <a:t>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사전의향서목록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/>
              <a:t>사전의향서</a:t>
            </a:r>
            <a:r>
              <a:rPr lang="ko-KR" altLang="en-US" dirty="0" smtClean="0">
                <a:latin typeface="+mn-ea"/>
              </a:rPr>
              <a:t>상세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의견작성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MUI-TS-01-P03</a:t>
            </a:r>
            <a:endParaRPr lang="ko-KR" altLang="en-US" dirty="0"/>
          </a:p>
        </p:txBody>
      </p:sp>
      <p:grpSp>
        <p:nvGrpSpPr>
          <p:cNvPr id="77" name="그룹 7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78" name="직사각형 7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목록 표시 정보 수정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en-US" altLang="ko-KR" sz="700" dirty="0" smtClean="0"/>
                <a:t>- </a:t>
              </a:r>
              <a:r>
                <a:rPr lang="ko-KR" altLang="en-US" sz="700" dirty="0" smtClean="0"/>
                <a:t>제조</a:t>
              </a:r>
              <a:r>
                <a:rPr lang="en-US" altLang="ko-KR" sz="700" dirty="0" smtClean="0"/>
                <a:t>/</a:t>
              </a:r>
              <a:r>
                <a:rPr lang="ko-KR" altLang="en-US" sz="700" dirty="0" smtClean="0"/>
                <a:t>구매 및 의견 항목 </a:t>
              </a:r>
              <a:r>
                <a:rPr lang="en-US" altLang="ko-KR" sz="700" dirty="0" smtClean="0"/>
                <a:t>input </a:t>
              </a:r>
              <a:r>
                <a:rPr lang="ko-KR" altLang="en-US" sz="700" dirty="0" smtClean="0"/>
                <a:t>제거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팝업 정보 변경</a:t>
              </a:r>
              <a:endParaRPr lang="ko-KR" altLang="en-US" sz="700" dirty="0"/>
            </a:p>
          </p:txBody>
        </p:sp>
      </p:grp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4973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양쪽 모서리가 둥근 사각형 101"/>
          <p:cNvSpPr/>
          <p:nvPr/>
        </p:nvSpPr>
        <p:spPr>
          <a:xfrm>
            <a:off x="678718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1764731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07" name="그룹 106"/>
          <p:cNvGrpSpPr/>
          <p:nvPr/>
        </p:nvGrpSpPr>
        <p:grpSpPr>
          <a:xfrm>
            <a:off x="3167657" y="3182696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직선 연결선 15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7795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제조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 smtClean="0">
                <a:latin typeface="+mn-ea"/>
              </a:rPr>
              <a:t>구매</a:t>
            </a:r>
            <a:r>
              <a:rPr lang="en-US" altLang="ko-KR" sz="900" dirty="0" smtClean="0">
                <a:latin typeface="+mn-ea"/>
              </a:rPr>
              <a:t> </a:t>
            </a:r>
            <a:r>
              <a:rPr lang="ko-KR" altLang="en-US" sz="900" dirty="0" err="1" smtClean="0">
                <a:latin typeface="+mn-ea"/>
              </a:rPr>
              <a:t>의견작성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8718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모서리가 둥근 직사각형 116"/>
          <p:cNvSpPr/>
          <p:nvPr/>
        </p:nvSpPr>
        <p:spPr>
          <a:xfrm>
            <a:off x="1447197" y="3563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7795" y="3631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제조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구매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447197" y="4193223"/>
            <a:ext cx="1845838" cy="244350"/>
          </a:xfrm>
          <a:prstGeom prst="roundRect">
            <a:avLst/>
          </a:prstGeom>
          <a:solidFill>
            <a:srgbClr val="0070C0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>
                <a:solidFill>
                  <a:schemeClr val="bg1"/>
                </a:solidFill>
                <a:latin typeface="맑은 고딕"/>
                <a:ea typeface="맑은 고딕" panose="020B0503020000020004" pitchFamily="50" charset="-127"/>
              </a:rPr>
              <a:t>제출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81279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121" name="모서리가 둥근 직사각형 120"/>
          <p:cNvSpPr/>
          <p:nvPr/>
        </p:nvSpPr>
        <p:spPr>
          <a:xfrm>
            <a:off x="1447197" y="3872360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>
                <a:solidFill>
                  <a:schemeClr val="bg1">
                    <a:lumMod val="65000"/>
                  </a:schemeClr>
                </a:solidFill>
              </a:rPr>
              <a:t>의견을 작성하세요</a:t>
            </a:r>
            <a:r>
              <a:rPr kumimoji="1" lang="en-US" altLang="ko-KR" sz="700" kern="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7795" y="394067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의견</a:t>
            </a:r>
            <a:endParaRPr lang="en-US" altLang="ko-KR" sz="700" dirty="0">
              <a:latin typeface="+mn-ea"/>
            </a:endParaRPr>
          </a:p>
        </p:txBody>
      </p:sp>
      <p:sp>
        <p:nvSpPr>
          <p:cNvPr id="123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807795" y="4193223"/>
            <a:ext cx="586688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임시저장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3073647" y="3661996"/>
            <a:ext cx="94010" cy="47005"/>
            <a:chOff x="6812560" y="3297172"/>
            <a:chExt cx="94010" cy="47005"/>
          </a:xfrm>
        </p:grpSpPr>
        <p:cxnSp>
          <p:nvCxnSpPr>
            <p:cNvPr id="150" name="직선 연결선 14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직선 연결선 15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5" name="그룹 124"/>
          <p:cNvGrpSpPr/>
          <p:nvPr/>
        </p:nvGrpSpPr>
        <p:grpSpPr>
          <a:xfrm>
            <a:off x="3131542" y="3761146"/>
            <a:ext cx="776938" cy="897497"/>
            <a:chOff x="3004764" y="2490533"/>
            <a:chExt cx="776938" cy="897497"/>
          </a:xfrm>
        </p:grpSpPr>
        <p:sp>
          <p:nvSpPr>
            <p:cNvPr id="12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554143"/>
            </a:xfrm>
            <a:prstGeom prst="roundRect">
              <a:avLst>
                <a:gd name="adj" fmla="val 11988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선택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40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257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제조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TextBox 230">
              <a:extLst>
                <a:ext uri="{FF2B5EF4-FFF2-40B4-BE49-F238E27FC236}">
                  <a16:creationId xmlns:a16="http://schemas.microsoft.com/office/drawing/2014/main" id="{DC4EA8A9-095A-0AC6-FEBF-364DA2336F3D}"/>
                </a:ext>
              </a:extLst>
            </p:cNvPr>
            <p:cNvSpPr txBox="1"/>
            <p:nvPr/>
          </p:nvSpPr>
          <p:spPr>
            <a:xfrm>
              <a:off x="3063151" y="3079596"/>
              <a:ext cx="641770" cy="257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ko-KR" altLang="en-US" sz="700" kern="0" dirty="0">
                  <a:solidFill>
                    <a:prstClr val="black"/>
                  </a:solidFill>
                </a:rPr>
                <a:t>구매</a:t>
              </a:r>
              <a:endParaRPr lang="en-US" altLang="ko-KR" sz="700" kern="0" dirty="0">
                <a:solidFill>
                  <a:prstClr val="black"/>
                </a:solidFill>
              </a:endParaRPr>
            </a:p>
          </p:txBody>
        </p:sp>
        <p:grpSp>
          <p:nvGrpSpPr>
            <p:cNvPr id="147" name="그룹 146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48" name="직선 연결선 147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6" name="타원 12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56461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16102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618193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12775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사전의향서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식별을 위한 사전의향서 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474858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695852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접수시작일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접수종료일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A7E6DC-64DA-F832-9B8C-583A3EE86AB5}"/>
              </a:ext>
            </a:extLst>
          </p:cNvPr>
          <p:cNvSpPr txBox="1"/>
          <p:nvPr/>
        </p:nvSpPr>
        <p:spPr>
          <a:xfrm>
            <a:off x="444290" y="2552943"/>
            <a:ext cx="178150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문의처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D129D29-12E7-EC4C-5A21-9EA7614AFC21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2765228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telNum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47B5F06-C68F-2911-0D19-44F26088A7FB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(1/2)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608CDF3B-5A29-9ECB-44E4-5F1BF253D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4824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2D770-B0E9-489E-BEA0-EE1CC1E3753C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(2/2)</a:t>
            </a:r>
            <a:endParaRPr lang="ko-KR" altLang="en-US" sz="1000" b="1" dirty="0"/>
          </a:p>
        </p:txBody>
      </p:sp>
      <p:sp>
        <p:nvSpPr>
          <p:cNvPr id="7" name="Text Box 73">
            <a:extLst>
              <a:ext uri="{FF2B5EF4-FFF2-40B4-BE49-F238E27FC236}">
                <a16:creationId xmlns:a16="http://schemas.microsoft.com/office/drawing/2014/main" id="{3366E91D-66A4-9A5D-F342-3775D21BD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52534-CB1C-39EB-E291-645AA1AC444B}"/>
              </a:ext>
            </a:extLst>
          </p:cNvPr>
          <p:cNvSpPr txBox="1"/>
          <p:nvPr/>
        </p:nvSpPr>
        <p:spPr>
          <a:xfrm>
            <a:off x="444290" y="805190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물품명세서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82828CA-950F-BA1E-29D3-FFAF98E4A084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26184"/>
          <a:ext cx="8994883" cy="3878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물품명세서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mnftrPrchsSecd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선택 가능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290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etcOpnnCn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항목의 선택 값이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19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03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mdfcnInvtNo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86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최초조달원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frstSosCd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최초조달원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SPU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implInstCd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현재조달원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PRS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장기사업구분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lshtmSecd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장기사업구분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6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KB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919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정비품목구분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mtncItemSecd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정비품목구분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RCC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379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06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rqtYmd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76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조달지시구분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prcmDrctnSecd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조달지시구분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POD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83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344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40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89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378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160993"/>
              </p:ext>
            </p:extLst>
          </p:nvPr>
        </p:nvGraphicFramePr>
        <p:xfrm>
          <a:off x="453000" y="851801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mnftrPrchsSecd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을 선택할 수 있는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selectBox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가 활성화된다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임시저장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save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내역이 저장된다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submit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내역이 저장되며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제출처리 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8532B5-4519-DD07-2B67-714EA926EFF9}"/>
              </a:ext>
            </a:extLst>
          </p:cNvPr>
          <p:cNvSpPr txBox="1"/>
          <p:nvPr/>
        </p:nvSpPr>
        <p:spPr>
          <a:xfrm>
            <a:off x="458117" y="5903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1C13369B-4248-C066-3634-FD775F16E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1956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>
                <a:latin typeface="+mn-ea"/>
              </a:rPr>
              <a:t>세금계산서</a:t>
            </a:r>
            <a:r>
              <a:rPr lang="ko-KR" altLang="en-US" dirty="0"/>
              <a:t> 메뉴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631793"/>
              </p:ext>
            </p:extLst>
          </p:nvPr>
        </p:nvGraphicFramePr>
        <p:xfrm>
          <a:off x="635474" y="1413419"/>
          <a:ext cx="8701200" cy="17750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MUI-TS-04-M01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세금계산서계약목록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TxivList_CtrtList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세금계산서가 있는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계약정보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목록 조회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MUI-TS-04-P05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TxivList_SrchFilter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8216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MUI-TS-04-P02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계약정보에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포함된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세금계산서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목록 조회 팝업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62477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MUI-TS-04-M03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TxivDtlPage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계약건에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대한 일반 또는 수정세금계산서 조회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txivDtl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MUI-TS-04-M04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세금계산서진행현황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TxivPrgrsPrst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발행일자별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세금계산서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진행현황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목록 조회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txivPrgrsPrst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TxivPrgrsPrstPage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788523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9281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832773" y="260891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세금계산서계약목록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694779" y="266291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901639" y="275291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663907" y="260891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en-US" altLang="ko-KR" sz="800" dirty="0">
                <a:solidFill>
                  <a:schemeClr val="tx1"/>
                </a:solidFill>
              </a:rPr>
              <a:t>-</a:t>
            </a:r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732773" y="275291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4198340" y="169334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657750" y="249480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3282773" y="2241888"/>
            <a:ext cx="447238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검색 반영</a:t>
            </a:r>
          </a:p>
        </p:txBody>
      </p:sp>
      <p:cxnSp>
        <p:nvCxnSpPr>
          <p:cNvPr id="3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48" idx="1"/>
          </p:cNvCxnSpPr>
          <p:nvPr/>
        </p:nvCxnSpPr>
        <p:spPr>
          <a:xfrm>
            <a:off x="3732773" y="275291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663907" y="329048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세금계산서목록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48" idx="3"/>
            <a:endCxn id="55" idx="1"/>
          </p:cNvCxnSpPr>
          <p:nvPr/>
        </p:nvCxnSpPr>
        <p:spPr>
          <a:xfrm>
            <a:off x="5563907" y="3434487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8117178" y="355326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8146175" y="3344487"/>
            <a:ext cx="180000" cy="180000"/>
            <a:chOff x="5058274" y="2498299"/>
            <a:chExt cx="180000" cy="180000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495041" y="329048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55" idx="3"/>
            <a:endCxn id="53" idx="2"/>
          </p:cNvCxnSpPr>
          <p:nvPr/>
        </p:nvCxnSpPr>
        <p:spPr>
          <a:xfrm>
            <a:off x="7395041" y="3434487"/>
            <a:ext cx="75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832773" y="397206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세금계산서진행현황목록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1" idx="3"/>
            <a:endCxn id="55" idx="1"/>
          </p:cNvCxnSpPr>
          <p:nvPr/>
        </p:nvCxnSpPr>
        <p:spPr>
          <a:xfrm flipV="1">
            <a:off x="3732773" y="3434487"/>
            <a:ext cx="2762268" cy="681573"/>
          </a:xfrm>
          <a:prstGeom prst="bentConnector3">
            <a:avLst>
              <a:gd name="adj1" fmla="val 8379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61" idx="1"/>
          </p:cNvCxnSpPr>
          <p:nvPr/>
        </p:nvCxnSpPr>
        <p:spPr>
          <a:xfrm>
            <a:off x="1901639" y="2752914"/>
            <a:ext cx="931134" cy="13631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197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706127" y="2747194"/>
            <a:ext cx="2141782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 세금계산서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TaxivController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2186890"/>
            <a:ext cx="967509" cy="803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92582" y="2990174"/>
            <a:ext cx="967509" cy="1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806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0188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890475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세금계산서계약목록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TxivList_CtrtListPage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614712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338948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검색필터</a:t>
            </a:r>
            <a:r>
              <a:rPr lang="en-US" altLang="ko-KR" sz="1000" dirty="0">
                <a:solidFill>
                  <a:schemeClr val="tx1"/>
                </a:solidFill>
              </a:rPr>
              <a:t>-</a:t>
            </a:r>
            <a:r>
              <a:rPr lang="ko-KR" altLang="en-US" sz="1000" dirty="0">
                <a:solidFill>
                  <a:schemeClr val="tx1"/>
                </a:solidFill>
              </a:rPr>
              <a:t>세금계산서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TxivList_SrchFilter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61899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세금계산서진행현황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TxivPrgrsPrstPage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784851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338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2061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72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smtClean="0"/>
              <a:t>계약에 여러 건의 세금계산서가 발행되었을 수 있음</a:t>
            </a:r>
            <a:r>
              <a:rPr lang="en-US" altLang="ko-KR" dirty="0" smtClean="0"/>
              <a:t>. 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클릭 시 세부 세금계산서 </a:t>
            </a:r>
            <a:r>
              <a:rPr lang="ko-KR" altLang="en-US" dirty="0" smtClean="0"/>
              <a:t>목록을</a:t>
            </a:r>
            <a:r>
              <a:rPr lang="ko-KR" altLang="en-US" dirty="0" smtClean="0"/>
              <a:t> </a:t>
            </a:r>
            <a:r>
              <a:rPr lang="ko-KR" altLang="en-US" dirty="0" err="1"/>
              <a:t>바텀</a:t>
            </a:r>
            <a:r>
              <a:rPr lang="ko-KR" altLang="en-US" dirty="0"/>
              <a:t> </a:t>
            </a:r>
            <a:r>
              <a:rPr lang="ko-KR" altLang="en-US" dirty="0" smtClean="0"/>
              <a:t>시트에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(</a:t>
            </a:r>
            <a:r>
              <a:rPr lang="en-US" altLang="ko-KR" dirty="0">
                <a:latin typeface="+mn-ea"/>
              </a:rPr>
              <a:t>MUI-TS-04-P02</a:t>
            </a:r>
            <a:r>
              <a:rPr lang="en-US" altLang="ko-KR" dirty="0" smtClean="0"/>
              <a:t>) </a:t>
            </a:r>
            <a:r>
              <a:rPr lang="ko-KR" altLang="en-US" dirty="0"/>
              <a:t>세금계산서목록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/>
              <a:t>세금계산서계약목록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계약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세금계산서계약목록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 smtClean="0"/>
              <a:t>계약 </a:t>
            </a:r>
            <a:r>
              <a:rPr lang="ko-KR" altLang="en-US" sz="800" dirty="0" smtClean="0">
                <a:latin typeface="+mn-ea"/>
              </a:rPr>
              <a:t>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240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89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0" y="3369565"/>
            <a:ext cx="2473258" cy="821562"/>
            <a:chOff x="781460" y="2610063"/>
            <a:chExt cx="2473258" cy="821562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43281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업체코드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>
                  <a:latin typeface="+mn-ea"/>
                </a:rPr>
                <a:t>명</a:t>
              </a:r>
              <a:r>
                <a:rPr lang="en-US" altLang="ko-KR" sz="600" dirty="0">
                  <a:latin typeface="+mn-ea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계약담당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23083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781460" y="2610063"/>
              <a:ext cx="4710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600" dirty="0" err="1">
                  <a:latin typeface="+mn-ea"/>
                </a:rPr>
                <a:t>bidxMtnm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6091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420083"/>
            <a:ext cx="2476203" cy="803737"/>
            <a:chOff x="778515" y="2610063"/>
            <a:chExt cx="2476203" cy="803737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432811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업체코드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>
                  <a:latin typeface="+mn-ea"/>
                </a:rPr>
                <a:t>명</a:t>
              </a:r>
              <a:r>
                <a:rPr lang="en-US" altLang="ko-KR" sz="600" dirty="0">
                  <a:latin typeface="+mn-ea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계약담당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232436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778515" y="2610063"/>
              <a:ext cx="47402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600" dirty="0" err="1">
                  <a:latin typeface="+mn-ea"/>
                </a:rPr>
                <a:t>bidxMtnm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0156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7860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3544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93" name="그룹 92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94" name="직선 연결선 9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7" name="그룹 96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9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106" name="그룹 10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07" name="모서리가 둥근 직사각형 10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17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15387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11" name="타원 110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3" name="타원 112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4" name="그룹 113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15" name="직선 연결선 114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20" name="표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14054"/>
              </p:ext>
            </p:extLst>
          </p:nvPr>
        </p:nvGraphicFramePr>
        <p:xfrm>
          <a:off x="3801286" y="2390827"/>
          <a:ext cx="3069778" cy="7823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계약종류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bidxMtnm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항목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:BDTC 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개발 시 </a:t>
                      </a:r>
                      <a:r>
                        <a:rPr lang="ko-KR" altLang="en-US" sz="70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표시값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추가 확인 필요</a:t>
                      </a:r>
                      <a:r>
                        <a:rPr lang="en-US" altLang="ko-KR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</a:tbl>
          </a:graphicData>
        </a:graphic>
      </p:graphicFrame>
      <p:grpSp>
        <p:nvGrpSpPr>
          <p:cNvPr id="122" name="그룹 121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3" name="직사각형 12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 smtClean="0"/>
                <a:t>화면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24" name="직사각형 12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화면 표시 레이블 변경</a:t>
              </a:r>
              <a:endParaRPr lang="en-US" altLang="ko-KR" sz="700" dirty="0"/>
            </a:p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설명 추가</a:t>
              </a:r>
              <a:endParaRPr lang="en-US" altLang="ko-KR" sz="7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474432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선택한 항목의 </a:t>
            </a:r>
            <a:r>
              <a:rPr lang="ko-KR" altLang="en-US" dirty="0" err="1" smtClean="0"/>
              <a:t>계약번호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계약건명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세금계산서목록 </a:t>
            </a:r>
            <a:r>
              <a:rPr lang="ko-KR" altLang="en-US" dirty="0"/>
              <a:t>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뱃지에</a:t>
            </a:r>
            <a:r>
              <a:rPr lang="ko-KR" altLang="en-US" dirty="0" smtClean="0"/>
              <a:t> 구분과 진행상태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수정사유</a:t>
            </a:r>
            <a:r>
              <a:rPr lang="ko-KR" altLang="en-US" dirty="0" smtClean="0"/>
              <a:t>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가지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수정사유는</a:t>
            </a:r>
            <a:r>
              <a:rPr lang="ko-KR" altLang="en-US" dirty="0" smtClean="0"/>
              <a:t> 없을 수 있음</a:t>
            </a:r>
            <a:r>
              <a:rPr lang="en-US" altLang="ko-KR" dirty="0" smtClean="0"/>
              <a:t>. </a:t>
            </a:r>
            <a:r>
              <a:rPr lang="ko-KR" altLang="en-US" dirty="0" smtClean="0"/>
              <a:t>없는 경우는 노출하지 않음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계약금액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공급가액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발행일자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계약담당자</a:t>
            </a:r>
            <a:r>
              <a:rPr lang="ko-KR" altLang="en-US" dirty="0" smtClean="0"/>
              <a:t> </a:t>
            </a:r>
            <a:r>
              <a:rPr lang="en-US" altLang="ko-KR" dirty="0" smtClean="0"/>
              <a:t>4</a:t>
            </a:r>
            <a:r>
              <a:rPr lang="ko-KR" altLang="en-US" dirty="0" smtClean="0"/>
              <a:t>종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 smtClean="0"/>
              <a:t>선택항</a:t>
            </a:r>
            <a:r>
              <a:rPr lang="ko-KR" altLang="en-US" dirty="0" smtClean="0"/>
              <a:t> 항목 계약의 세금계산서 목록을 </a:t>
            </a:r>
            <a:r>
              <a:rPr lang="ko-KR" altLang="en-US" dirty="0"/>
              <a:t>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세부 목록 선택 시 상세 페이지 </a:t>
            </a:r>
            <a:r>
              <a:rPr lang="ko-KR" altLang="en-US" dirty="0" smtClean="0"/>
              <a:t>이동 </a:t>
            </a:r>
            <a:r>
              <a:rPr lang="en-US" altLang="ko-KR" dirty="0"/>
              <a:t>(MUI-TS-04-M03</a:t>
            </a:r>
            <a:r>
              <a:rPr lang="en-US" altLang="ko-KR" dirty="0" smtClean="0"/>
              <a:t>) </a:t>
            </a:r>
            <a:r>
              <a:rPr lang="ko-KR" altLang="en-US" dirty="0" smtClean="0"/>
              <a:t>세금계산서상세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뱃지</a:t>
            </a:r>
            <a:r>
              <a:rPr lang="ko-KR" altLang="en-US" dirty="0" smtClean="0"/>
              <a:t> 표시 레이블 참조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목록 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/>
              <a:t>세금계산서계약목록 </a:t>
            </a:r>
            <a:r>
              <a:rPr lang="en-US" altLang="ko-KR" dirty="0" smtClean="0"/>
              <a:t>&gt; </a:t>
            </a:r>
            <a:r>
              <a:rPr lang="ko-KR" altLang="en-US" dirty="0"/>
              <a:t>세금계산서목록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MUI-TS-04-P02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 err="1"/>
              <a:t>계약</a:t>
            </a:r>
            <a:r>
              <a:rPr lang="ko-KR" altLang="en-US" sz="800" dirty="0" err="1">
                <a:latin typeface="+mn-ea"/>
              </a:rPr>
              <a:t>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양쪽 모서리가 둥근 사각형 165"/>
          <p:cNvSpPr/>
          <p:nvPr/>
        </p:nvSpPr>
        <p:spPr>
          <a:xfrm>
            <a:off x="675399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1761412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3164338" y="2085445"/>
            <a:ext cx="94010" cy="94010"/>
            <a:chOff x="6812560" y="3297172"/>
            <a:chExt cx="94010" cy="94010"/>
          </a:xfrm>
        </p:grpSpPr>
        <p:cxnSp>
          <p:nvCxnSpPr>
            <p:cNvPr id="169" name="직선 연결선 16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연결선 16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smtClean="0">
                <a:latin typeface="+mn-ea"/>
              </a:rPr>
              <a:t>세금계산서 목록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91" name="그룹 190"/>
          <p:cNvGrpSpPr/>
          <p:nvPr/>
        </p:nvGrpSpPr>
        <p:grpSpPr>
          <a:xfrm>
            <a:off x="781461" y="3199121"/>
            <a:ext cx="2473257" cy="946115"/>
            <a:chOff x="781461" y="2610063"/>
            <a:chExt cx="2473257" cy="946115"/>
          </a:xfrm>
        </p:grpSpPr>
        <p:sp>
          <p:nvSpPr>
            <p:cNvPr id="19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계산서 </a:t>
              </a:r>
              <a:r>
                <a:rPr lang="ko-KR" altLang="en-US" sz="700" dirty="0" err="1"/>
                <a:t>발행번호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2118F-0000-0000</a:t>
              </a:r>
              <a:endParaRPr lang="ko-KR" altLang="en-US" sz="900" b="1" dirty="0"/>
            </a:p>
          </p:txBody>
        </p:sp>
        <p:sp>
          <p:nvSpPr>
            <p:cNvPr id="19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02180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발행일자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계약담당자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9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238" y="2986791"/>
              <a:ext cx="65729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홍길동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95" name="모서리가 둥근 직사각형 194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일반</a:t>
              </a:r>
            </a:p>
          </p:txBody>
        </p:sp>
        <p:sp>
          <p:nvSpPr>
            <p:cNvPr id="196" name="모서리가 둥근 직사각형 195"/>
            <p:cNvSpPr/>
            <p:nvPr/>
          </p:nvSpPr>
          <p:spPr>
            <a:xfrm>
              <a:off x="1075654" y="2610063"/>
              <a:ext cx="4745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국세청승인</a:t>
              </a:r>
              <a:endParaRPr lang="ko-KR" altLang="en-US" sz="600" dirty="0"/>
            </a:p>
          </p:txBody>
        </p: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52538"/>
            <a:ext cx="76863" cy="292489"/>
            <a:chOff x="3750067" y="4683795"/>
            <a:chExt cx="76863" cy="292489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869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 000 000 - 01</a:t>
            </a:r>
          </a:p>
          <a:p>
            <a:r>
              <a:rPr lang="ko-KR" altLang="en-US" sz="900" b="1" dirty="0"/>
              <a:t>변속기 부품 계약의 건</a:t>
            </a: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11" name="그룹 210"/>
          <p:cNvGrpSpPr/>
          <p:nvPr/>
        </p:nvGrpSpPr>
        <p:grpSpPr>
          <a:xfrm>
            <a:off x="781461" y="4398952"/>
            <a:ext cx="2473257" cy="928289"/>
            <a:chOff x="781461" y="2610063"/>
            <a:chExt cx="2473257" cy="928289"/>
          </a:xfrm>
        </p:grpSpPr>
        <p:sp>
          <p:nvSpPr>
            <p:cNvPr id="21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계산서 </a:t>
              </a:r>
              <a:r>
                <a:rPr lang="ko-KR" altLang="en-US" sz="700" dirty="0" err="1"/>
                <a:t>발행번호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2118F-0000-0000</a:t>
              </a:r>
              <a:endParaRPr lang="ko-KR" altLang="en-US" sz="900" b="1" dirty="0"/>
            </a:p>
          </p:txBody>
        </p:sp>
        <p:sp>
          <p:nvSpPr>
            <p:cNvPr id="21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02180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21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2986791"/>
              <a:ext cx="65723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5" name="모서리가 둥근 직사각형 214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수정</a:t>
              </a:r>
            </a:p>
          </p:txBody>
        </p:sp>
        <p:sp>
          <p:nvSpPr>
            <p:cNvPr id="216" name="모서리가 둥근 직사각형 215"/>
            <p:cNvSpPr/>
            <p:nvPr/>
          </p:nvSpPr>
          <p:spPr>
            <a:xfrm>
              <a:off x="1075655" y="2610063"/>
              <a:ext cx="24514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저장</a:t>
              </a:r>
            </a:p>
          </p:txBody>
        </p:sp>
        <p:sp>
          <p:nvSpPr>
            <p:cNvPr id="220" name="모서리가 둥근 직사각형 219"/>
            <p:cNvSpPr/>
            <p:nvPr/>
          </p:nvSpPr>
          <p:spPr>
            <a:xfrm>
              <a:off x="1373979" y="2610063"/>
              <a:ext cx="66595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ko-KR" altLang="en-US" sz="600" spc="-60" dirty="0">
                  <a:solidFill>
                    <a:schemeClr val="tx1"/>
                  </a:solidFill>
                  <a:latin typeface="Verdana" panose="020B0604030504040204" pitchFamily="34" charset="0"/>
                </a:rPr>
                <a:t>기재사항 </a:t>
              </a:r>
              <a:r>
                <a:rPr kumimoji="1" lang="ko-KR" altLang="en-US" sz="600" spc="-60" dirty="0" err="1">
                  <a:solidFill>
                    <a:schemeClr val="tx1"/>
                  </a:solidFill>
                  <a:latin typeface="Verdana" panose="020B0604030504040204" pitchFamily="34" charset="0"/>
                </a:rPr>
                <a:t>착오정정</a:t>
              </a:r>
              <a:endPara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</p:grp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771812"/>
            <a:ext cx="4257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24429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86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4351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833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953600" y="197388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979518"/>
              </p:ext>
            </p:extLst>
          </p:nvPr>
        </p:nvGraphicFramePr>
        <p:xfrm>
          <a:off x="3801286" y="2390827"/>
          <a:ext cx="3069778" cy="1564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구분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/>
                        <a:t>reqDivsNm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일반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수정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진행상태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/>
                        <a:t>txivPrgrsStcd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A:</a:t>
                      </a:r>
                      <a:r>
                        <a:rPr lang="ko-KR" altLang="en-US" sz="700" dirty="0" smtClean="0"/>
                        <a:t>작성</a:t>
                      </a:r>
                      <a:r>
                        <a:rPr lang="en-US" altLang="ko-KR" sz="700" dirty="0" smtClean="0"/>
                        <a:t>, C:</a:t>
                      </a:r>
                      <a:r>
                        <a:rPr lang="ko-KR" altLang="en-US" sz="700" dirty="0" smtClean="0"/>
                        <a:t>폐기</a:t>
                      </a:r>
                      <a:r>
                        <a:rPr lang="en-US" altLang="ko-KR" sz="700" dirty="0" smtClean="0"/>
                        <a:t>, F: </a:t>
                      </a:r>
                      <a:r>
                        <a:rPr lang="ko-KR" altLang="en-US" sz="700" dirty="0" err="1" smtClean="0"/>
                        <a:t>서명실패</a:t>
                      </a:r>
                      <a:r>
                        <a:rPr lang="en-US" altLang="ko-KR" sz="700" dirty="0" smtClean="0"/>
                        <a:t>,S:</a:t>
                      </a:r>
                      <a:r>
                        <a:rPr lang="ko-KR" altLang="en-US" sz="700" dirty="0" smtClean="0"/>
                        <a:t>전자서명</a:t>
                      </a:r>
                      <a:r>
                        <a:rPr lang="en-US" altLang="ko-KR" sz="700" dirty="0" smtClean="0"/>
                        <a:t>, Y:</a:t>
                      </a:r>
                      <a:r>
                        <a:rPr lang="ko-KR" altLang="en-US" sz="700" dirty="0" smtClean="0"/>
                        <a:t>승인</a:t>
                      </a:r>
                      <a:r>
                        <a:rPr lang="en-US" altLang="ko-KR" sz="700" dirty="0" smtClean="0"/>
                        <a:t>, R:</a:t>
                      </a:r>
                      <a:r>
                        <a:rPr lang="ko-KR" altLang="en-US" sz="700" dirty="0" smtClean="0"/>
                        <a:t>반려</a:t>
                      </a:r>
                      <a:r>
                        <a:rPr lang="en-US" altLang="ko-KR" sz="700" dirty="0" smtClean="0"/>
                        <a:t>, T:</a:t>
                      </a:r>
                      <a:r>
                        <a:rPr lang="ko-KR" altLang="en-US" sz="700" dirty="0" smtClean="0"/>
                        <a:t>국세청</a:t>
                      </a:r>
                      <a:r>
                        <a:rPr lang="en-US" altLang="ko-KR" sz="700" dirty="0" smtClean="0"/>
                        <a:t>SEND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90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수정사유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txivMdfcnRncd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781414"/>
                  </a:ext>
                </a:extLst>
              </a:tr>
            </a:tbl>
          </a:graphicData>
        </a:graphic>
      </p:graphicFrame>
      <p:grpSp>
        <p:nvGrpSpPr>
          <p:cNvPr id="67" name="그룹 6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68" name="직사각형 6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 smtClean="0"/>
                <a:t>화면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화면 표시 레이블 변경</a:t>
              </a:r>
              <a:endParaRPr lang="en-US" altLang="ko-KR" sz="700" dirty="0"/>
            </a:p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설명 추가</a:t>
              </a:r>
              <a:endParaRPr lang="en-US" altLang="ko-KR" sz="7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729149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연도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smtClean="0"/>
              <a:t>기본값은 현재 연도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영역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계약번호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like </a:t>
            </a:r>
            <a:r>
              <a:rPr lang="ko-KR" altLang="en-US" dirty="0" smtClean="0">
                <a:sym typeface="Wingdings" panose="05000000000000000000" pitchFamily="2" charset="2"/>
              </a:rPr>
              <a:t>검색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검색 </a:t>
            </a: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세금계산서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MUI-TS-04-P05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76059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543589"/>
            <a:chOff x="675399" y="3490553"/>
            <a:chExt cx="2712027" cy="543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계약연도</a:t>
              </a:r>
              <a:r>
                <a:rPr lang="ko-KR" altLang="en-US" sz="700" b="1" dirty="0">
                  <a:latin typeface="+mn-ea"/>
                </a:rPr>
                <a:t>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연도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1464780" y="3740722"/>
              <a:ext cx="1845146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034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83287" y="2507850"/>
            <a:ext cx="2516607" cy="467691"/>
            <a:chOff x="778515" y="4388257"/>
            <a:chExt cx="2516607" cy="467691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계약번호를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</p:txBody>
        </p: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63" name="그룹 62"/>
          <p:cNvGrpSpPr/>
          <p:nvPr/>
        </p:nvGrpSpPr>
        <p:grpSpPr>
          <a:xfrm>
            <a:off x="3145721" y="2247351"/>
            <a:ext cx="91438" cy="45719"/>
            <a:chOff x="6812560" y="3297172"/>
            <a:chExt cx="94010" cy="47005"/>
          </a:xfrm>
        </p:grpSpPr>
        <p:cxnSp>
          <p:nvCxnSpPr>
            <p:cNvPr id="70" name="직선 연결선 6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그룹 71"/>
          <p:cNvGrpSpPr/>
          <p:nvPr/>
        </p:nvGrpSpPr>
        <p:grpSpPr>
          <a:xfrm>
            <a:off x="3282878" y="2211357"/>
            <a:ext cx="776938" cy="1211284"/>
            <a:chOff x="3004764" y="2490533"/>
            <a:chExt cx="776938" cy="1211284"/>
          </a:xfrm>
        </p:grpSpPr>
        <p:sp>
          <p:nvSpPr>
            <p:cNvPr id="73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2025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75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86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2026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2025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2024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⁞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78" name="그룹 7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79" name="직선 연결선 7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277954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896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dml_SrchCtrtList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1736891"/>
            <a:ext cx="214698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dlt_CtrtList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800" b="0" kern="1200" spc="-6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계약년도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계약년도</a:t>
                      </a:r>
                      <a:r>
                        <a:rPr lang="ko-KR" altLang="en-US" sz="800" dirty="0">
                          <a:latin typeface="+mn-ea"/>
                        </a:rPr>
                        <a:t> 항목 검색 조건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CTRT_YMD like ‘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%’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020645"/>
          <a:ext cx="8994883" cy="218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bidxMtnm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 (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(WTB_PDB411.RPRS_ITEM_NM)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(WTB_PDB500N.CTRT_NM)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457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301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업체코드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WTB_PVB134(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조달원공통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M/S)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계약담당자명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userNm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계약담당자명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WTB_PDB500N.FINL_USER_IDEN = WTB_PDU101.USER_ID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E3D9436D-3099-6420-C71A-FD88C714F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6449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8ED3A-F52A-F319-8372-292D836D881F}"/>
              </a:ext>
            </a:extLst>
          </p:cNvPr>
          <p:cNvSpPr txBox="1"/>
          <p:nvPr/>
        </p:nvSpPr>
        <p:spPr>
          <a:xfrm>
            <a:off x="458117" y="797452"/>
            <a:ext cx="25156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3787482-7219-3755-3826-A59DE5690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81206"/>
          <a:ext cx="8994883" cy="3080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71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34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29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</a:rPr>
                        <a:t>수정 세금계산서 </a:t>
                      </a:r>
                      <a:r>
                        <a:rPr lang="ko-KR" altLang="en-US" sz="800" dirty="0" err="1">
                          <a:latin typeface="+mn-ea"/>
                        </a:rPr>
                        <a:t>구분명</a:t>
                      </a:r>
                      <a:r>
                        <a:rPr lang="ko-KR" altLang="en-US" sz="800" dirty="0">
                          <a:latin typeface="+mn-ea"/>
                        </a:rPr>
                        <a:t>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조건에 따라 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수정으로 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= “R”, “U“ 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“UR” 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txivMdfcnRncd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수정세금계산서 작성사유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세금계산서발행번호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 발행일자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(WTB_PDB411.RPST_ITNM)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(WTB_PDB500N.CTRT_NM)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45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71499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contAmnt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(WTB_PDB411.CONT_AMNT)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1787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(WTB_PDB500N.CONT_AMNT)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1176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공사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(WTB_PEB500N.TOTL_CSRT_BOKP_AMNT)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758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공급가액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055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713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D8766-B0CF-E3FC-5CB7-0DD8FA296C4A}"/>
              </a:ext>
            </a:extLst>
          </p:cNvPr>
          <p:cNvSpPr txBox="1"/>
          <p:nvPr/>
        </p:nvSpPr>
        <p:spPr>
          <a:xfrm>
            <a:off x="458117" y="569330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2F93EEE-7D89-1BFE-50CE-DBAA6385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22238"/>
              </p:ext>
            </p:extLst>
          </p:nvPr>
        </p:nvGraphicFramePr>
        <p:xfrm>
          <a:off x="453000" y="847461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36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20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05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 err="1"/>
                        <a:t>계약년도를</a:t>
                      </a:r>
                      <a:r>
                        <a:rPr lang="ko-KR" altLang="en-US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현재월로 세팅한다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scwin.btn_srchCtrtList_onclick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</a:rPr>
                        <a:t>계약목록 데이터를 조회한다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Box 73">
            <a:extLst>
              <a:ext uri="{FF2B5EF4-FFF2-40B4-BE49-F238E27FC236}">
                <a16:creationId xmlns:a16="http://schemas.microsoft.com/office/drawing/2014/main" id="{231A2900-1B18-F8AD-23EB-3B23E6023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636445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1740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세금계산서 요약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뱃지는</a:t>
            </a:r>
            <a:r>
              <a:rPr lang="ko-KR" altLang="en-US" dirty="0" smtClean="0"/>
              <a:t> 이전 세금계산서목록에 표시된 </a:t>
            </a:r>
            <a:r>
              <a:rPr lang="ko-KR" altLang="en-US" dirty="0" err="1" smtClean="0"/>
              <a:t>뱃지</a:t>
            </a:r>
            <a:r>
              <a:rPr lang="ko-KR" altLang="en-US" dirty="0" smtClean="0"/>
              <a:t> 그대로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- </a:t>
            </a:r>
            <a:r>
              <a:rPr lang="ko-KR" altLang="en-US" dirty="0"/>
              <a:t>항목명</a:t>
            </a:r>
            <a:r>
              <a:rPr lang="en-US" altLang="ko-KR" dirty="0"/>
              <a:t>(</a:t>
            </a:r>
            <a:r>
              <a:rPr lang="ko-KR" altLang="en-US" dirty="0"/>
              <a:t>한글</a:t>
            </a:r>
            <a:r>
              <a:rPr lang="en-US" altLang="ko-KR" dirty="0"/>
              <a:t>)</a:t>
            </a:r>
            <a:r>
              <a:rPr lang="ko-KR" altLang="en-US" dirty="0"/>
              <a:t>의 경우 조건에 따라 변경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dirty="0"/>
              <a:t>As-is : </a:t>
            </a:r>
            <a:r>
              <a:rPr lang="en-US" altLang="ko-KR" dirty="0" err="1" smtClean="0"/>
              <a:t>commandMap.sOption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</a:t>
            </a:r>
            <a:r>
              <a:rPr lang="en-US" altLang="ko-KR" dirty="0"/>
              <a:t>) “1:</a:t>
            </a:r>
            <a:r>
              <a:rPr lang="ko-KR" altLang="en-US" dirty="0" err="1"/>
              <a:t>부대조달</a:t>
            </a:r>
            <a:r>
              <a:rPr lang="ko-KR" altLang="en-US" dirty="0"/>
              <a:t> 물품</a:t>
            </a:r>
            <a:r>
              <a:rPr lang="en-US" altLang="ko-KR" dirty="0"/>
              <a:t>,2:</a:t>
            </a:r>
            <a:r>
              <a:rPr lang="ko-KR" altLang="en-US" dirty="0" err="1"/>
              <a:t>부대조달</a:t>
            </a:r>
            <a:r>
              <a:rPr lang="ko-KR" altLang="en-US" dirty="0"/>
              <a:t> 시설</a:t>
            </a:r>
            <a:r>
              <a:rPr lang="en-US" altLang="ko-KR" dirty="0"/>
              <a:t>,3:</a:t>
            </a:r>
            <a:r>
              <a:rPr lang="ko-KR" altLang="en-US" dirty="0" err="1"/>
              <a:t>중앙조달”일</a:t>
            </a:r>
            <a:r>
              <a:rPr lang="ko-KR" altLang="en-US" dirty="0"/>
              <a:t> 경우 </a:t>
            </a:r>
            <a:r>
              <a:rPr lang="en-US" altLang="ko-KR" dirty="0"/>
              <a:t>[</a:t>
            </a:r>
            <a:r>
              <a:rPr lang="ko-KR" altLang="en-US" dirty="0" err="1"/>
              <a:t>계약번호</a:t>
            </a:r>
            <a:r>
              <a:rPr lang="en-US" altLang="ko-KR" dirty="0" smtClean="0"/>
              <a:t>]</a:t>
            </a:r>
            <a:br>
              <a:rPr lang="en-US" altLang="ko-KR" dirty="0" smtClean="0"/>
            </a:br>
            <a:r>
              <a:rPr lang="en-US" altLang="ko-KR" dirty="0" smtClean="0"/>
              <a:t>2</a:t>
            </a:r>
            <a:r>
              <a:rPr lang="en-US" altLang="ko-KR" dirty="0"/>
              <a:t>) “5:FMS” </a:t>
            </a:r>
            <a:r>
              <a:rPr lang="ko-KR" altLang="en-US" dirty="0"/>
              <a:t>일 경우 </a:t>
            </a:r>
            <a:r>
              <a:rPr lang="en-US" altLang="ko-KR" dirty="0"/>
              <a:t>[</a:t>
            </a:r>
            <a:r>
              <a:rPr lang="ko-KR" altLang="en-US" dirty="0"/>
              <a:t>재무관증빙번호</a:t>
            </a:r>
            <a:r>
              <a:rPr lang="en-US" altLang="ko-KR" dirty="0" smtClean="0"/>
              <a:t>]</a:t>
            </a:r>
            <a:br>
              <a:rPr lang="en-US" altLang="ko-KR" dirty="0" smtClean="0"/>
            </a:br>
            <a:r>
              <a:rPr lang="en-US" altLang="ko-KR" dirty="0" smtClean="0"/>
              <a:t>3</a:t>
            </a:r>
            <a:r>
              <a:rPr lang="en-US" altLang="ko-KR" dirty="0"/>
              <a:t>) “4:</a:t>
            </a:r>
            <a:r>
              <a:rPr lang="ko-KR" altLang="en-US" dirty="0" err="1"/>
              <a:t>상업조달</a:t>
            </a:r>
            <a:r>
              <a:rPr lang="ko-KR" altLang="en-US" dirty="0"/>
              <a:t>” 일 경우 </a:t>
            </a:r>
            <a:r>
              <a:rPr lang="en-US" altLang="ko-KR" dirty="0"/>
              <a:t>[</a:t>
            </a:r>
            <a:r>
              <a:rPr lang="ko-KR" altLang="en-US" dirty="0" err="1"/>
              <a:t>청구번호</a:t>
            </a:r>
            <a:r>
              <a:rPr lang="en-US" altLang="ko-KR" dirty="0"/>
              <a:t>]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공급자정보</a:t>
            </a:r>
            <a:r>
              <a:rPr lang="ko-KR" altLang="en-US" dirty="0" smtClean="0"/>
              <a:t> 항목설명 값에 맞춰 추가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세액구분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신고구분</a:t>
            </a:r>
            <a:r>
              <a:rPr lang="ko-KR" altLang="en-US" dirty="0" smtClean="0"/>
              <a:t> 값 참조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세액구분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신고구분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확정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예정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세금계산서계약목록 </a:t>
            </a:r>
            <a:r>
              <a:rPr lang="en-US" altLang="ko-KR" dirty="0"/>
              <a:t>&gt; </a:t>
            </a:r>
            <a:r>
              <a:rPr lang="ko-KR" altLang="en-US" dirty="0" smtClean="0"/>
              <a:t>세금계산서목록 </a:t>
            </a:r>
            <a:r>
              <a:rPr lang="en-US" altLang="ko-KR" dirty="0" smtClean="0"/>
              <a:t>&gt; </a:t>
            </a:r>
            <a:r>
              <a:rPr lang="ko-KR" altLang="en-US" dirty="0"/>
              <a:t>세금계산서상세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MUI-TS-04-M03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 000 000 - 01</a:t>
            </a:r>
          </a:p>
          <a:p>
            <a:r>
              <a:rPr lang="ko-KR" altLang="en-US" sz="900" b="1" dirty="0"/>
              <a:t>변속기 부품 계약의 건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56586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/>
              <a:t>계산서 </a:t>
            </a:r>
            <a:r>
              <a:rPr lang="ko-KR" altLang="en-US" sz="600" dirty="0" err="1" smtClean="0"/>
              <a:t>발행번호</a:t>
            </a:r>
            <a:endParaRPr lang="ko-KR" altLang="en-US" sz="800" b="1" dirty="0"/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공급가액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발행일자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68855" y="2478086"/>
            <a:ext cx="663643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/>
              <a:t>2118F-0000-0000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000,000,000,000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000,000,000,000 </a:t>
            </a:r>
            <a:r>
              <a:rPr lang="ko-KR" altLang="en-US" sz="600" dirty="0">
                <a:latin typeface="+mn-ea"/>
              </a:rPr>
              <a:t>원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2025-10-15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6426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549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098008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129353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211339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3507036"/>
            <a:ext cx="12886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620367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814521"/>
            <a:ext cx="792000" cy="8681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81452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814521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발행번호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책번호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일련번호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814521"/>
            <a:ext cx="18144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1234-4567-7890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0000 000 00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00000-00000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04562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25933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47304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80060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68264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800029"/>
            <a:ext cx="12378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공급자 정보</a:t>
            </a:r>
          </a:p>
        </p:txBody>
      </p:sp>
      <p:grpSp>
        <p:nvGrpSpPr>
          <p:cNvPr id="95" name="그룹 94"/>
          <p:cNvGrpSpPr/>
          <p:nvPr/>
        </p:nvGrpSpPr>
        <p:grpSpPr>
          <a:xfrm flipV="1">
            <a:off x="3143548" y="4913360"/>
            <a:ext cx="94010" cy="47005"/>
            <a:chOff x="6812560" y="3297172"/>
            <a:chExt cx="94010" cy="47005"/>
          </a:xfrm>
        </p:grpSpPr>
        <p:cxnSp>
          <p:nvCxnSpPr>
            <p:cNvPr id="96" name="직선 연결선 9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직선 연결선 9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8" name="직사각형 97"/>
          <p:cNvSpPr/>
          <p:nvPr/>
        </p:nvSpPr>
        <p:spPr>
          <a:xfrm>
            <a:off x="722583" y="5107514"/>
            <a:ext cx="792000" cy="132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10751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5107514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사업자번호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대표명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상호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 err="1">
                <a:latin typeface="+mn-ea"/>
              </a:rPr>
              <a:t>업체명</a:t>
            </a:r>
            <a:r>
              <a:rPr lang="en-US" altLang="ko-KR" sz="700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업태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주소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5107514"/>
            <a:ext cx="18144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123-45-67890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홍길동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</a:t>
            </a:r>
            <a:r>
              <a:rPr lang="ko-KR" altLang="en-US" sz="700" dirty="0">
                <a:latin typeface="+mn-ea"/>
              </a:rPr>
              <a:t>업체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종로구</a:t>
            </a:r>
            <a:r>
              <a:rPr lang="en-US" altLang="ko-KR" sz="700" dirty="0">
                <a:latin typeface="+mn-ea"/>
              </a:rPr>
              <a:t>…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861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32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03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7563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77074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9788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3839085" y="1525215"/>
            <a:ext cx="2660475" cy="1612847"/>
            <a:chOff x="3970705" y="3216762"/>
            <a:chExt cx="2660475" cy="1612847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31676" y="3216762"/>
              <a:ext cx="114113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공급받는자</a:t>
              </a:r>
              <a:r>
                <a:rPr lang="ko-KR" altLang="en-US" sz="700" dirty="0">
                  <a:latin typeface="+mn-ea"/>
                </a:rPr>
                <a:t>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393763" y="3330093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972798" y="3524247"/>
              <a:ext cx="792000" cy="13053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사업자번호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업태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업종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1827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3923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6146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8296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3" name="그룹 152"/>
          <p:cNvGrpSpPr/>
          <p:nvPr/>
        </p:nvGrpSpPr>
        <p:grpSpPr>
          <a:xfrm>
            <a:off x="3839085" y="3251096"/>
            <a:ext cx="2660475" cy="752297"/>
            <a:chOff x="3970705" y="3216762"/>
            <a:chExt cx="2660475" cy="752297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31676" y="3216762"/>
              <a:ext cx="114113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계약서 일반정보</a:t>
              </a:r>
            </a:p>
          </p:txBody>
        </p:sp>
        <p:grpSp>
          <p:nvGrpSpPr>
            <p:cNvPr id="155" name="그룹 154"/>
            <p:cNvGrpSpPr/>
            <p:nvPr/>
          </p:nvGrpSpPr>
          <p:grpSpPr>
            <a:xfrm flipV="1">
              <a:off x="6393763" y="3330093"/>
              <a:ext cx="94010" cy="47005"/>
              <a:chOff x="6812560" y="3297172"/>
              <a:chExt cx="94010" cy="47005"/>
            </a:xfrm>
          </p:grpSpPr>
          <p:cxnSp>
            <p:nvCxnSpPr>
              <p:cNvPr id="198" name="직선 연결선 19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9" name="직선 연결선 19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9" name="직사각형 158"/>
            <p:cNvSpPr/>
            <p:nvPr/>
          </p:nvSpPr>
          <p:spPr>
            <a:xfrm>
              <a:off x="3972798" y="3524247"/>
              <a:ext cx="792000" cy="4435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 </a:t>
              </a:r>
            </a:p>
          </p:txBody>
        </p: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2051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0" name="그룹 219"/>
          <p:cNvGrpSpPr/>
          <p:nvPr/>
        </p:nvGrpSpPr>
        <p:grpSpPr>
          <a:xfrm>
            <a:off x="3839085" y="4105058"/>
            <a:ext cx="2660475" cy="1508106"/>
            <a:chOff x="3970705" y="3524246"/>
            <a:chExt cx="2660475" cy="1508106"/>
          </a:xfrm>
        </p:grpSpPr>
        <p:sp>
          <p:nvSpPr>
            <p:cNvPr id="223" name="직사각형 222"/>
            <p:cNvSpPr/>
            <p:nvPr/>
          </p:nvSpPr>
          <p:spPr>
            <a:xfrm>
              <a:off x="3972798" y="3524246"/>
              <a:ext cx="792000" cy="15081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 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계약건명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 2025-01-10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변속기 부품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8" name="직선 연결선 2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1643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37804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59657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8102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50323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5" name="타원 12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8423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82584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521809"/>
              </p:ext>
            </p:extLst>
          </p:nvPr>
        </p:nvGraphicFramePr>
        <p:xfrm>
          <a:off x="7154850" y="3621620"/>
          <a:ext cx="2248720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1071560277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172465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splrBrno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732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0201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958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splrBzstatCd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60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930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splrTpbizNm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554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splrPicNm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511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splrEntlno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941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splrTkcgDeptNm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699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E-Mail(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splrEmlAddr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135797"/>
                  </a:ext>
                </a:extLst>
              </a:tr>
            </a:tbl>
          </a:graphicData>
        </a:graphic>
      </p:graphicFrame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920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36" name="모서리가 둥근 직사각형 135"/>
          <p:cNvSpPr/>
          <p:nvPr/>
        </p:nvSpPr>
        <p:spPr>
          <a:xfrm>
            <a:off x="768861" y="1971227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일반</a:t>
            </a:r>
          </a:p>
        </p:txBody>
      </p:sp>
      <p:sp>
        <p:nvSpPr>
          <p:cNvPr id="137" name="모서리가 둥근 직사각형 136"/>
          <p:cNvSpPr/>
          <p:nvPr/>
        </p:nvSpPr>
        <p:spPr>
          <a:xfrm>
            <a:off x="1063054" y="1971227"/>
            <a:ext cx="4745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국세청승인</a:t>
            </a:r>
            <a:endParaRPr lang="ko-KR" altLang="en-US" sz="600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347" y="37036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8953" y="3555977"/>
            <a:ext cx="1814470" cy="396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과세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확정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66" name="그룹 16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67" name="직사각형 16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 smtClean="0"/>
                <a:t>화면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요약정보 수정</a:t>
              </a:r>
              <a:endParaRPr lang="en-US" altLang="ko-KR" sz="700" dirty="0" smtClean="0"/>
            </a:p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설명 수정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19021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818536"/>
            <a:ext cx="28090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세금계산서작성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</a:t>
            </a:r>
            <a:r>
              <a:rPr lang="en-US" altLang="ko-KR" sz="900" b="1" dirty="0" err="1"/>
              <a:t>TxivWrtInfo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4790"/>
          <a:ext cx="8994883" cy="545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 경우 조건에 따라 변경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As-is :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commandMap.sOption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1) “1: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 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 시설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,3: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2) “5:FMS”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재무관증빙번호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3) “4: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상업조달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책번호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bookNo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책번호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regSn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일련번호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splrBrno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473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splrBzstatCd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:MBTC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569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56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splrTpbizNm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517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splrPicNm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15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splrEntlno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암호화처리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96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splrTkcgDeptNm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583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E-Mail(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splrEmlAddr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E-Mail(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7548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splrcpBrno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594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94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40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splrcpBzstatCd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:MBTC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504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854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splrcpTpbizNm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069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세액구분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:VATA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51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신고구분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232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계산서일자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06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191FAC9D-E4E4-9782-8F9B-459B88AF5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824861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D8766-B0CF-E3FC-5CB7-0DD8FA296C4A}"/>
              </a:ext>
            </a:extLst>
          </p:cNvPr>
          <p:cNvSpPr txBox="1"/>
          <p:nvPr/>
        </p:nvSpPr>
        <p:spPr>
          <a:xfrm>
            <a:off x="458117" y="245037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2F93EEE-7D89-1BFE-50CE-DBAA6385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40091"/>
              </p:ext>
            </p:extLst>
          </p:nvPr>
        </p:nvGraphicFramePr>
        <p:xfrm>
          <a:off x="453000" y="2728504"/>
          <a:ext cx="8995591" cy="947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72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10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9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세금계산서구분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화면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‘. 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수정세금계산서작성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으로 변경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상세조회 및 작성화면은 동일한 화면 사용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출력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scwin.btn_TxivDtlOtpt_onclick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세금계산서상세내용 팝업을 호출하여 해당 화면을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( Window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print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처리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971762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231A2900-1B18-F8AD-23EB-3B23E6023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2517488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63A7A-3C64-D8D7-2D49-13287D99CFD9}"/>
              </a:ext>
            </a:extLst>
          </p:cNvPr>
          <p:cNvSpPr txBox="1"/>
          <p:nvPr/>
        </p:nvSpPr>
        <p:spPr>
          <a:xfrm>
            <a:off x="458117" y="818536"/>
            <a:ext cx="28090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세금계산서작성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</a:t>
            </a:r>
            <a:r>
              <a:rPr lang="en-US" altLang="ko-KR" sz="900" b="1" dirty="0" err="1"/>
              <a:t>TxivWrtInfo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3422736-CCA7-9469-9BA9-B941106107D0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4790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</a:tbl>
          </a:graphicData>
        </a:graphic>
      </p:graphicFrame>
      <p:sp>
        <p:nvSpPr>
          <p:cNvPr id="9" name="Text Box 73">
            <a:extLst>
              <a:ext uri="{FF2B5EF4-FFF2-40B4-BE49-F238E27FC236}">
                <a16:creationId xmlns:a16="http://schemas.microsoft.com/office/drawing/2014/main" id="{EE39B7DB-6549-D18B-849E-7ED7453CA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880682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8078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</a:t>
            </a:r>
            <a:r>
              <a:rPr lang="ko-KR" altLang="en-US" dirty="0" smtClean="0"/>
              <a:t>이동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항목에 대한 정보 항목설명 참조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 </a:t>
            </a:r>
            <a:r>
              <a:rPr lang="ko-KR" altLang="en-US" dirty="0" err="1"/>
              <a:t>진행현황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</a:t>
            </a:r>
            <a:r>
              <a:rPr lang="ko-KR" altLang="en-US" dirty="0" err="1"/>
              <a:t>진행현황</a:t>
            </a:r>
            <a:r>
              <a:rPr lang="ko-KR" altLang="en-US" dirty="0"/>
              <a:t>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 </a:t>
            </a:r>
            <a:r>
              <a:rPr lang="en-US" altLang="ko-KR" dirty="0"/>
              <a:t>&gt; </a:t>
            </a:r>
            <a:r>
              <a:rPr lang="ko-KR" altLang="en-US" dirty="0" err="1"/>
              <a:t>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 err="1"/>
              <a:t>진행현황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947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781461" y="3367501"/>
            <a:ext cx="2473257" cy="1237060"/>
            <a:chOff x="781461" y="2610063"/>
            <a:chExt cx="2473257" cy="1237060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56586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/>
                <a:t>계산서 </a:t>
              </a:r>
              <a:r>
                <a:rPr lang="ko-KR" altLang="en-US" sz="600" dirty="0" err="1"/>
                <a:t>발행번호</a:t>
              </a:r>
              <a:endParaRPr lang="ko-KR" altLang="en-US" sz="800" b="1" dirty="0"/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제출일시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국세청결과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238" y="3139237"/>
              <a:ext cx="657296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/>
                <a:t>2118F-0000-0000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일반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4" y="2610063"/>
              <a:ext cx="48621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국세청승인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0664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817013"/>
            <a:ext cx="2476203" cy="1237060"/>
            <a:chOff x="778515" y="2610063"/>
            <a:chExt cx="2476203" cy="1237060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56586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/>
                <a:t>계산서 </a:t>
              </a:r>
              <a:r>
                <a:rPr lang="ko-KR" altLang="en-US" sz="600" dirty="0" err="1"/>
                <a:t>발행번호</a:t>
              </a:r>
              <a:endParaRPr lang="ko-KR" altLang="en-US" sz="800" b="1" dirty="0"/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제출일시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국세청결과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238" y="3139237"/>
              <a:ext cx="657296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/>
                <a:t>2118F-0000-0000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수정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379571" y="2610063"/>
              <a:ext cx="67377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ko-KR" altLang="en-US" sz="600" spc="-60" dirty="0">
                  <a:solidFill>
                    <a:schemeClr val="tx1"/>
                  </a:solidFill>
                  <a:latin typeface="Verdana" panose="020B0604030504040204" pitchFamily="34" charset="0"/>
                </a:rPr>
                <a:t>기재사항 </a:t>
              </a:r>
              <a:r>
                <a:rPr kumimoji="1" lang="ko-KR" altLang="en-US" sz="600" spc="-60" dirty="0" err="1">
                  <a:solidFill>
                    <a:schemeClr val="tx1"/>
                  </a:solidFill>
                  <a:latin typeface="Verdana" panose="020B0604030504040204" pitchFamily="34" charset="0"/>
                </a:rPr>
                <a:t>착오정정</a:t>
              </a:r>
              <a:endPara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66" name="모서리가 둥근 직사각형 165"/>
            <p:cNvSpPr/>
            <p:nvPr/>
          </p:nvSpPr>
          <p:spPr>
            <a:xfrm>
              <a:off x="1077463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저장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984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068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799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547362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22810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84" name="직선 연결선 8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직선 연결선 8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7" name="그룹 86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8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90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91" name="그룹 90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95" name="그룹 94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96" name="모서리가 둥근 직사각형 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타원 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0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15387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계약번호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00" name="타원 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02" name="타원 1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3" name="그룹 1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04" name="직선 연결선 1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08" name="표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652603"/>
              </p:ext>
            </p:extLst>
          </p:nvPr>
        </p:nvGraphicFramePr>
        <p:xfrm>
          <a:off x="3801286" y="2912756"/>
          <a:ext cx="3069778" cy="1564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구분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/>
                        <a:t>reqDivsNm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일반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수정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진행상태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/>
                        <a:t>txivPrgrsStcd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A:</a:t>
                      </a:r>
                      <a:r>
                        <a:rPr lang="ko-KR" altLang="en-US" sz="700" dirty="0" smtClean="0"/>
                        <a:t>작성</a:t>
                      </a:r>
                      <a:r>
                        <a:rPr lang="en-US" altLang="ko-KR" sz="700" dirty="0" smtClean="0"/>
                        <a:t>, C:</a:t>
                      </a:r>
                      <a:r>
                        <a:rPr lang="ko-KR" altLang="en-US" sz="700" dirty="0" smtClean="0"/>
                        <a:t>폐기</a:t>
                      </a:r>
                      <a:r>
                        <a:rPr lang="en-US" altLang="ko-KR" sz="700" dirty="0" smtClean="0"/>
                        <a:t>, F: </a:t>
                      </a:r>
                      <a:r>
                        <a:rPr lang="ko-KR" altLang="en-US" sz="700" dirty="0" err="1" smtClean="0"/>
                        <a:t>서명실패</a:t>
                      </a:r>
                      <a:r>
                        <a:rPr lang="en-US" altLang="ko-KR" sz="700" dirty="0" smtClean="0"/>
                        <a:t>,S:</a:t>
                      </a:r>
                      <a:r>
                        <a:rPr lang="ko-KR" altLang="en-US" sz="700" dirty="0" smtClean="0"/>
                        <a:t>전자서명</a:t>
                      </a:r>
                      <a:r>
                        <a:rPr lang="en-US" altLang="ko-KR" sz="700" dirty="0" smtClean="0"/>
                        <a:t>, Y:</a:t>
                      </a:r>
                      <a:r>
                        <a:rPr lang="ko-KR" altLang="en-US" sz="700" dirty="0" smtClean="0"/>
                        <a:t>승인</a:t>
                      </a:r>
                      <a:r>
                        <a:rPr lang="en-US" altLang="ko-KR" sz="700" dirty="0" smtClean="0"/>
                        <a:t>, R:</a:t>
                      </a:r>
                      <a:r>
                        <a:rPr lang="ko-KR" altLang="en-US" sz="700" dirty="0" smtClean="0"/>
                        <a:t>반려</a:t>
                      </a:r>
                      <a:r>
                        <a:rPr lang="en-US" altLang="ko-KR" sz="700" dirty="0" smtClean="0"/>
                        <a:t>, T:</a:t>
                      </a:r>
                      <a:r>
                        <a:rPr lang="ko-KR" altLang="en-US" sz="700" dirty="0" smtClean="0"/>
                        <a:t>국세청</a:t>
                      </a:r>
                      <a:r>
                        <a:rPr lang="en-US" altLang="ko-KR" sz="700" dirty="0" smtClean="0"/>
                        <a:t>SEND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90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수정사유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txivMdfcnRncd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781414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3726044" y="1618501"/>
            <a:ext cx="289566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18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시 이후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제출건은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익일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09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시에 국세청으로 전송됩니다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" name="꺾인 연결선 6"/>
          <p:cNvCxnSpPr/>
          <p:nvPr/>
        </p:nvCxnSpPr>
        <p:spPr>
          <a:xfrm flipV="1">
            <a:off x="3351767" y="1731467"/>
            <a:ext cx="353154" cy="26644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09" name="그룹 10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0" name="직사각형 10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 smtClean="0"/>
                <a:t>화면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요약정보 수정</a:t>
              </a:r>
              <a:endParaRPr lang="en-US" altLang="ko-KR" sz="700" dirty="0" smtClean="0"/>
            </a:p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설명 수정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93761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일자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빠른 </a:t>
            </a:r>
            <a:r>
              <a:rPr lang="ko-KR" altLang="en-US" dirty="0">
                <a:sym typeface="Wingdings" panose="05000000000000000000" pitchFamily="2" charset="2"/>
              </a:rPr>
              <a:t>설정으로 날짜 즉시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</a:t>
            </a:r>
            <a:r>
              <a:rPr lang="ko-KR" altLang="en-US" dirty="0" smtClean="0">
                <a:sym typeface="Wingdings" panose="05000000000000000000" pitchFamily="2" charset="2"/>
              </a:rPr>
              <a:t>가능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계약번호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like </a:t>
            </a:r>
            <a:r>
              <a:rPr lang="ko-KR" altLang="en-US" dirty="0" smtClean="0">
                <a:sym typeface="Wingdings" panose="05000000000000000000" pitchFamily="2" charset="2"/>
              </a:rPr>
              <a:t>검색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진행상태 값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>
                <a:latin typeface="+mn-ea"/>
              </a:rPr>
              <a:t>A:</a:t>
            </a:r>
            <a:r>
              <a:rPr lang="ko-KR" altLang="en-US" dirty="0">
                <a:latin typeface="+mn-ea"/>
              </a:rPr>
              <a:t>작성</a:t>
            </a:r>
            <a:r>
              <a:rPr lang="en-US" altLang="ko-KR" dirty="0">
                <a:latin typeface="+mn-ea"/>
              </a:rPr>
              <a:t>, C:</a:t>
            </a:r>
            <a:r>
              <a:rPr lang="ko-KR" altLang="en-US" dirty="0">
                <a:latin typeface="+mn-ea"/>
              </a:rPr>
              <a:t>폐기</a:t>
            </a:r>
            <a:r>
              <a:rPr lang="en-US" altLang="ko-KR" dirty="0">
                <a:latin typeface="+mn-ea"/>
              </a:rPr>
              <a:t>, F: </a:t>
            </a:r>
            <a:r>
              <a:rPr lang="ko-KR" altLang="en-US" dirty="0" err="1">
                <a:latin typeface="+mn-ea"/>
              </a:rPr>
              <a:t>서명실패</a:t>
            </a:r>
            <a:r>
              <a:rPr lang="en-US" altLang="ko-KR" dirty="0">
                <a:latin typeface="+mn-ea"/>
              </a:rPr>
              <a:t>,S:</a:t>
            </a:r>
            <a:r>
              <a:rPr lang="ko-KR" altLang="en-US" dirty="0">
                <a:latin typeface="+mn-ea"/>
              </a:rPr>
              <a:t>전자서명</a:t>
            </a:r>
            <a:r>
              <a:rPr lang="en-US" altLang="ko-KR" dirty="0">
                <a:latin typeface="+mn-ea"/>
              </a:rPr>
              <a:t>, Y:</a:t>
            </a:r>
            <a:r>
              <a:rPr lang="ko-KR" altLang="en-US" dirty="0">
                <a:latin typeface="+mn-ea"/>
              </a:rPr>
              <a:t>승인</a:t>
            </a:r>
            <a:r>
              <a:rPr lang="en-US" altLang="ko-KR" dirty="0">
                <a:latin typeface="+mn-ea"/>
              </a:rPr>
              <a:t>, R:</a:t>
            </a:r>
            <a:r>
              <a:rPr lang="ko-KR" altLang="en-US" dirty="0">
                <a:latin typeface="+mn-ea"/>
              </a:rPr>
              <a:t>반려</a:t>
            </a:r>
            <a:r>
              <a:rPr lang="en-US" altLang="ko-KR" dirty="0">
                <a:latin typeface="+mn-ea"/>
              </a:rPr>
              <a:t>, T:</a:t>
            </a:r>
            <a:r>
              <a:rPr lang="ko-KR" altLang="en-US" dirty="0">
                <a:latin typeface="+mn-ea"/>
              </a:rPr>
              <a:t>국세청</a:t>
            </a:r>
            <a:r>
              <a:rPr lang="en-US" altLang="ko-KR" dirty="0">
                <a:latin typeface="+mn-ea"/>
              </a:rPr>
              <a:t>SEND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세금계산서진행현황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 </a:t>
            </a:r>
            <a:r>
              <a:rPr lang="en-US" altLang="ko-KR" dirty="0"/>
              <a:t>&gt; </a:t>
            </a:r>
            <a:r>
              <a:rPr lang="ko-KR" altLang="en-US" dirty="0" err="1"/>
              <a:t>진행현황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1798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기간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발행일자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13628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r>
              <a:rPr lang="ko-KR" altLang="en-US" sz="700" b="1" dirty="0">
                <a:latin typeface="+mn-ea"/>
              </a:rPr>
              <a:t> </a:t>
            </a:r>
            <a:r>
              <a:rPr lang="en-US" altLang="ko-KR" sz="700" b="1" dirty="0">
                <a:latin typeface="+mn-ea"/>
              </a:rPr>
              <a:t>(</a:t>
            </a:r>
            <a:r>
              <a:rPr lang="ko-KR" altLang="en-US" sz="700" b="1" dirty="0">
                <a:latin typeface="+mn-ea"/>
              </a:rPr>
              <a:t>일부 입력 가능</a:t>
            </a:r>
            <a:r>
              <a:rPr lang="en-US" altLang="ko-KR" sz="700" b="1" dirty="0">
                <a:latin typeface="+mn-ea"/>
              </a:rPr>
              <a:t>)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201" name="그룹 200"/>
          <p:cNvGrpSpPr/>
          <p:nvPr/>
        </p:nvGrpSpPr>
        <p:grpSpPr>
          <a:xfrm flipV="1">
            <a:off x="3145721" y="2911318"/>
            <a:ext cx="91438" cy="45719"/>
            <a:chOff x="6812560" y="3297172"/>
            <a:chExt cx="94010" cy="47005"/>
          </a:xfrm>
        </p:grpSpPr>
        <p:cxnSp>
          <p:nvCxnSpPr>
            <p:cNvPr id="202" name="직선 연결선 2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4" name="모서리가 둥근 직사각형 203"/>
          <p:cNvSpPr/>
          <p:nvPr/>
        </p:nvSpPr>
        <p:spPr>
          <a:xfrm>
            <a:off x="1454056" y="309411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계약번호를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50619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</p:txBody>
      </p:sp>
      <p:sp>
        <p:nvSpPr>
          <p:cNvPr id="207" name="모서리가 둥근 직사각형 206"/>
          <p:cNvSpPr/>
          <p:nvPr/>
        </p:nvSpPr>
        <p:spPr>
          <a:xfrm>
            <a:off x="1454056" y="3315676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상태를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63" name="그룹 162"/>
          <p:cNvGrpSpPr/>
          <p:nvPr/>
        </p:nvGrpSpPr>
        <p:grpSpPr>
          <a:xfrm>
            <a:off x="3145723" y="3404477"/>
            <a:ext cx="91438" cy="45719"/>
            <a:chOff x="6812560" y="3297172"/>
            <a:chExt cx="94010" cy="47005"/>
          </a:xfrm>
        </p:grpSpPr>
        <p:cxnSp>
          <p:nvCxnSpPr>
            <p:cNvPr id="164" name="직선 연결선 16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직선 연결선 16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57" name="그룹 5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58" name="직사각형 5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 smtClean="0"/>
                <a:t>화면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FontTx/>
                <a:buAutoNum type="arabicPeriod"/>
              </a:pPr>
              <a:r>
                <a:rPr lang="ko-KR" altLang="en-US" sz="700" dirty="0" err="1" smtClean="0"/>
                <a:t>검색어</a:t>
              </a:r>
              <a:r>
                <a:rPr lang="ko-KR" altLang="en-US" sz="700" dirty="0" smtClean="0"/>
                <a:t> 일부 삭제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77049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2049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dmt_SrchTxivPrgrsPrst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273660"/>
            <a:ext cx="30494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dlt_TxivPrgrsPrst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594744"/>
              </p:ext>
            </p:extLst>
          </p:nvPr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7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발행일자시작일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발행일자 시작일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발행일자 종료일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계약번호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 진행상태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17819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57414"/>
          <a:ext cx="8994883" cy="3540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671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계산서구분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조건에 따라 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수정으로 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851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txivMdfcnRncd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수정사유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계산서발행번호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701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발행일자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389359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(WTB_PDB411.RPST_ITNM)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96194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(WTB_PDB500N.CTRT_NM)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19996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909177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contAmnt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(WTB_PDB411.CONT_AMNT)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(WTB_PDB500N.CONT_AMNT)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633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공사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(WTB_PEB500N.TOTL_CSRT_BOKP_AMNT)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264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공급가액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353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splrWrtDt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제출일시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As-is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WTB_XDT611.SUP_SIGN_DATE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178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elsgnRsltCd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국세청결과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817005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40D4824D-7A8A-6FF7-E945-AA3DA642D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0972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5F124-9EBA-E119-105D-59BDEB46042A}"/>
              </a:ext>
            </a:extLst>
          </p:cNvPr>
          <p:cNvSpPr txBox="1"/>
          <p:nvPr/>
        </p:nvSpPr>
        <p:spPr>
          <a:xfrm>
            <a:off x="458117" y="577797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09C01E7-E3D6-734F-7BFE-91353DFEF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766794"/>
              </p:ext>
            </p:extLst>
          </p:nvPr>
        </p:nvGraphicFramePr>
        <p:xfrm>
          <a:off x="453000" y="855928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906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3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0" dirty="0" err="1"/>
                        <a:t>scwin.btn_Srch</a:t>
                      </a:r>
                      <a:r>
                        <a:rPr lang="en-US" altLang="ko-KR" sz="800" b="0" dirty="0" err="1">
                          <a:solidFill>
                            <a:prstClr val="black"/>
                          </a:solidFill>
                        </a:rPr>
                        <a:t>TxivPrgrsPrst_onclick</a:t>
                      </a:r>
                      <a:endParaRPr lang="ko-KR" altLang="en-US" sz="800" b="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조건에 따른 세금계산서진행현황 목록 정보를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scwin.grd_TxivPrgrsPrst_onclick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세금계산서상세정보를 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 smtClean="0"/>
                        <a:t>(MUI-TS-04-M03) </a:t>
                      </a:r>
                      <a:r>
                        <a:rPr lang="ko-KR" altLang="en-US" sz="800" dirty="0" smtClean="0"/>
                        <a:t>세금계산서상세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924937"/>
                  </a:ext>
                </a:extLst>
              </a:tr>
            </a:tbl>
          </a:graphicData>
        </a:graphic>
      </p:graphicFrame>
      <p:sp>
        <p:nvSpPr>
          <p:cNvPr id="16" name="Text Box 73">
            <a:extLst>
              <a:ext uri="{FF2B5EF4-FFF2-40B4-BE49-F238E27FC236}">
                <a16:creationId xmlns:a16="http://schemas.microsoft.com/office/drawing/2014/main" id="{C50305C5-0706-6C5A-8776-896C01A4C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691092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8843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11191</TotalTime>
  <Words>4236</Words>
  <Application>Microsoft Office PowerPoint</Application>
  <PresentationFormat>A4 용지(210x297mm)</PresentationFormat>
  <Paragraphs>1832</Paragraphs>
  <Slides>34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2" baseType="lpstr">
      <vt:lpstr>Pretendard Medium</vt:lpstr>
      <vt:lpstr>맑은 고딕</vt:lpstr>
      <vt:lpstr>맑은 고딕 (본문)</vt:lpstr>
      <vt:lpstr>Arial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704</cp:revision>
  <cp:lastPrinted>2016-10-27T08:57:39Z</cp:lastPrinted>
  <dcterms:created xsi:type="dcterms:W3CDTF">2016-10-27T07:41:55Z</dcterms:created>
  <dcterms:modified xsi:type="dcterms:W3CDTF">2026-07-27T08:14:54Z</dcterms:modified>
  <cp:category>서브시스템/업무명</cp:category>
  <cp:contentStatus>0.1</cp:contentStatus>
</cp:coreProperties>
</file>