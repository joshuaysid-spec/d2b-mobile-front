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384"/>
  </p:notesMasterIdLst>
  <p:handoutMasterIdLst>
    <p:handoutMasterId r:id="rId385"/>
  </p:handoutMasterIdLst>
  <p:sldIdLst>
    <p:sldId id="256" r:id="rId2"/>
    <p:sldId id="300" r:id="rId3"/>
    <p:sldId id="502" r:id="rId4"/>
    <p:sldId id="295" r:id="rId5"/>
    <p:sldId id="741" r:id="rId6"/>
    <p:sldId id="742" r:id="rId7"/>
    <p:sldId id="294" r:id="rId8"/>
    <p:sldId id="745" r:id="rId9"/>
    <p:sldId id="281" r:id="rId10"/>
    <p:sldId id="265" r:id="rId11"/>
    <p:sldId id="304" r:id="rId12"/>
    <p:sldId id="287" r:id="rId13"/>
    <p:sldId id="270" r:id="rId14"/>
    <p:sldId id="271" r:id="rId15"/>
    <p:sldId id="757" r:id="rId16"/>
    <p:sldId id="743" r:id="rId17"/>
    <p:sldId id="758" r:id="rId18"/>
    <p:sldId id="273" r:id="rId19"/>
    <p:sldId id="275" r:id="rId20"/>
    <p:sldId id="276" r:id="rId21"/>
    <p:sldId id="277" r:id="rId22"/>
    <p:sldId id="279" r:id="rId23"/>
    <p:sldId id="744" r:id="rId24"/>
    <p:sldId id="301" r:id="rId25"/>
    <p:sldId id="503" r:id="rId26"/>
    <p:sldId id="284" r:id="rId27"/>
    <p:sldId id="288" r:id="rId28"/>
    <p:sldId id="289" r:id="rId29"/>
    <p:sldId id="290" r:id="rId30"/>
    <p:sldId id="308" r:id="rId31"/>
    <p:sldId id="309" r:id="rId32"/>
    <p:sldId id="310" r:id="rId33"/>
    <p:sldId id="724" r:id="rId34"/>
    <p:sldId id="780" r:id="rId35"/>
    <p:sldId id="386" r:id="rId36"/>
    <p:sldId id="782" r:id="rId37"/>
    <p:sldId id="313" r:id="rId38"/>
    <p:sldId id="783" r:id="rId39"/>
    <p:sldId id="779" r:id="rId40"/>
    <p:sldId id="420" r:id="rId41"/>
    <p:sldId id="311" r:id="rId42"/>
    <p:sldId id="777" r:id="rId43"/>
    <p:sldId id="778" r:id="rId44"/>
    <p:sldId id="314" r:id="rId45"/>
    <p:sldId id="715" r:id="rId46"/>
    <p:sldId id="317" r:id="rId47"/>
    <p:sldId id="322" r:id="rId48"/>
    <p:sldId id="716" r:id="rId49"/>
    <p:sldId id="781" r:id="rId50"/>
    <p:sldId id="318" r:id="rId51"/>
    <p:sldId id="323" r:id="rId52"/>
    <p:sldId id="717" r:id="rId53"/>
    <p:sldId id="324" r:id="rId54"/>
    <p:sldId id="718" r:id="rId55"/>
    <p:sldId id="319" r:id="rId56"/>
    <p:sldId id="315" r:id="rId57"/>
    <p:sldId id="316" r:id="rId58"/>
    <p:sldId id="321" r:id="rId59"/>
    <p:sldId id="320" r:id="rId60"/>
    <p:sldId id="326" r:id="rId61"/>
    <p:sldId id="325" r:id="rId62"/>
    <p:sldId id="759" r:id="rId63"/>
    <p:sldId id="327" r:id="rId64"/>
    <p:sldId id="328" r:id="rId65"/>
    <p:sldId id="330" r:id="rId66"/>
    <p:sldId id="329" r:id="rId67"/>
    <p:sldId id="331" r:id="rId68"/>
    <p:sldId id="746" r:id="rId69"/>
    <p:sldId id="374" r:id="rId70"/>
    <p:sldId id="375" r:id="rId71"/>
    <p:sldId id="760" r:id="rId72"/>
    <p:sldId id="332" r:id="rId73"/>
    <p:sldId id="371" r:id="rId74"/>
    <p:sldId id="372" r:id="rId75"/>
    <p:sldId id="373" r:id="rId76"/>
    <p:sldId id="747" r:id="rId77"/>
    <p:sldId id="762" r:id="rId78"/>
    <p:sldId id="748" r:id="rId79"/>
    <p:sldId id="761" r:id="rId80"/>
    <p:sldId id="749" r:id="rId81"/>
    <p:sldId id="378" r:id="rId82"/>
    <p:sldId id="379" r:id="rId83"/>
    <p:sldId id="725" r:id="rId84"/>
    <p:sldId id="380" r:id="rId85"/>
    <p:sldId id="381" r:id="rId86"/>
    <p:sldId id="382" r:id="rId87"/>
    <p:sldId id="383" r:id="rId88"/>
    <p:sldId id="726" r:id="rId89"/>
    <p:sldId id="727" r:id="rId90"/>
    <p:sldId id="384" r:id="rId91"/>
    <p:sldId id="728" r:id="rId92"/>
    <p:sldId id="385" r:id="rId93"/>
    <p:sldId id="400" r:id="rId94"/>
    <p:sldId id="401" r:id="rId95"/>
    <p:sldId id="729" r:id="rId96"/>
    <p:sldId id="402" r:id="rId97"/>
    <p:sldId id="504" r:id="rId98"/>
    <p:sldId id="403" r:id="rId99"/>
    <p:sldId id="770" r:id="rId100"/>
    <p:sldId id="404" r:id="rId101"/>
    <p:sldId id="771" r:id="rId102"/>
    <p:sldId id="730" r:id="rId103"/>
    <p:sldId id="731" r:id="rId104"/>
    <p:sldId id="732" r:id="rId105"/>
    <p:sldId id="733" r:id="rId106"/>
    <p:sldId id="734" r:id="rId107"/>
    <p:sldId id="735" r:id="rId108"/>
    <p:sldId id="736" r:id="rId109"/>
    <p:sldId id="405" r:id="rId110"/>
    <p:sldId id="737" r:id="rId111"/>
    <p:sldId id="406" r:id="rId112"/>
    <p:sldId id="738" r:id="rId113"/>
    <p:sldId id="626" r:id="rId114"/>
    <p:sldId id="407" r:id="rId115"/>
    <p:sldId id="408" r:id="rId116"/>
    <p:sldId id="739" r:id="rId117"/>
    <p:sldId id="409" r:id="rId118"/>
    <p:sldId id="740" r:id="rId119"/>
    <p:sldId id="410" r:id="rId120"/>
    <p:sldId id="577" r:id="rId121"/>
    <p:sldId id="411" r:id="rId122"/>
    <p:sldId id="772" r:id="rId123"/>
    <p:sldId id="412" r:id="rId124"/>
    <p:sldId id="505" r:id="rId125"/>
    <p:sldId id="506" r:id="rId126"/>
    <p:sldId id="507" r:id="rId127"/>
    <p:sldId id="508" r:id="rId128"/>
    <p:sldId id="413" r:id="rId129"/>
    <p:sldId id="719" r:id="rId130"/>
    <p:sldId id="414" r:id="rId131"/>
    <p:sldId id="509" r:id="rId132"/>
    <p:sldId id="510" r:id="rId133"/>
    <p:sldId id="511" r:id="rId134"/>
    <p:sldId id="512" r:id="rId135"/>
    <p:sldId id="513" r:id="rId136"/>
    <p:sldId id="514" r:id="rId137"/>
    <p:sldId id="515" r:id="rId138"/>
    <p:sldId id="516" r:id="rId139"/>
    <p:sldId id="415" r:id="rId140"/>
    <p:sldId id="518" r:id="rId141"/>
    <p:sldId id="519" r:id="rId142"/>
    <p:sldId id="517" r:id="rId143"/>
    <p:sldId id="521" r:id="rId144"/>
    <p:sldId id="773" r:id="rId145"/>
    <p:sldId id="524" r:id="rId146"/>
    <p:sldId id="522" r:id="rId147"/>
    <p:sldId id="525" r:id="rId148"/>
    <p:sldId id="526" r:id="rId149"/>
    <p:sldId id="720" r:id="rId150"/>
    <p:sldId id="528" r:id="rId151"/>
    <p:sldId id="529" r:id="rId152"/>
    <p:sldId id="530" r:id="rId153"/>
    <p:sldId id="531" r:id="rId154"/>
    <p:sldId id="532" r:id="rId155"/>
    <p:sldId id="541" r:id="rId156"/>
    <p:sldId id="756" r:id="rId157"/>
    <p:sldId id="536" r:id="rId158"/>
    <p:sldId id="537" r:id="rId159"/>
    <p:sldId id="538" r:id="rId160"/>
    <p:sldId id="539" r:id="rId161"/>
    <p:sldId id="540" r:id="rId162"/>
    <p:sldId id="533" r:id="rId163"/>
    <p:sldId id="535" r:id="rId164"/>
    <p:sldId id="542" r:id="rId165"/>
    <p:sldId id="543" r:id="rId166"/>
    <p:sldId id="544" r:id="rId167"/>
    <p:sldId id="545" r:id="rId168"/>
    <p:sldId id="546" r:id="rId169"/>
    <p:sldId id="547" r:id="rId170"/>
    <p:sldId id="548" r:id="rId171"/>
    <p:sldId id="549" r:id="rId172"/>
    <p:sldId id="550" r:id="rId173"/>
    <p:sldId id="551" r:id="rId174"/>
    <p:sldId id="552" r:id="rId175"/>
    <p:sldId id="553" r:id="rId176"/>
    <p:sldId id="556" r:id="rId177"/>
    <p:sldId id="557" r:id="rId178"/>
    <p:sldId id="560" r:id="rId179"/>
    <p:sldId id="558" r:id="rId180"/>
    <p:sldId id="559" r:id="rId181"/>
    <p:sldId id="555" r:id="rId182"/>
    <p:sldId id="554" r:id="rId183"/>
    <p:sldId id="561" r:id="rId184"/>
    <p:sldId id="562" r:id="rId185"/>
    <p:sldId id="563" r:id="rId186"/>
    <p:sldId id="564" r:id="rId187"/>
    <p:sldId id="565" r:id="rId188"/>
    <p:sldId id="566" r:id="rId189"/>
    <p:sldId id="569" r:id="rId190"/>
    <p:sldId id="567" r:id="rId191"/>
    <p:sldId id="568" r:id="rId192"/>
    <p:sldId id="570" r:id="rId193"/>
    <p:sldId id="571" r:id="rId194"/>
    <p:sldId id="572" r:id="rId195"/>
    <p:sldId id="722" r:id="rId196"/>
    <p:sldId id="574" r:id="rId197"/>
    <p:sldId id="578" r:id="rId198"/>
    <p:sldId id="575" r:id="rId199"/>
    <p:sldId id="576" r:id="rId200"/>
    <p:sldId id="590" r:id="rId201"/>
    <p:sldId id="591" r:id="rId202"/>
    <p:sldId id="592" r:id="rId203"/>
    <p:sldId id="588" r:id="rId204"/>
    <p:sldId id="589" r:id="rId205"/>
    <p:sldId id="593" r:id="rId206"/>
    <p:sldId id="595" r:id="rId207"/>
    <p:sldId id="596" r:id="rId208"/>
    <p:sldId id="594" r:id="rId209"/>
    <p:sldId id="579" r:id="rId210"/>
    <p:sldId id="583" r:id="rId211"/>
    <p:sldId id="580" r:id="rId212"/>
    <p:sldId id="582" r:id="rId213"/>
    <p:sldId id="584" r:id="rId214"/>
    <p:sldId id="587" r:id="rId215"/>
    <p:sldId id="586" r:id="rId216"/>
    <p:sldId id="585" r:id="rId217"/>
    <p:sldId id="337" r:id="rId218"/>
    <p:sldId id="763" r:id="rId219"/>
    <p:sldId id="764" r:id="rId220"/>
    <p:sldId id="765" r:id="rId221"/>
    <p:sldId id="338" r:id="rId222"/>
    <p:sldId id="766" r:id="rId223"/>
    <p:sldId id="750" r:id="rId224"/>
    <p:sldId id="767" r:id="rId225"/>
    <p:sldId id="768" r:id="rId226"/>
    <p:sldId id="388" r:id="rId227"/>
    <p:sldId id="611" r:id="rId228"/>
    <p:sldId id="612" r:id="rId229"/>
    <p:sldId id="613" r:id="rId230"/>
    <p:sldId id="614" r:id="rId231"/>
    <p:sldId id="615" r:id="rId232"/>
    <p:sldId id="616" r:id="rId233"/>
    <p:sldId id="617" r:id="rId234"/>
    <p:sldId id="389" r:id="rId235"/>
    <p:sldId id="618" r:id="rId236"/>
    <p:sldId id="619" r:id="rId237"/>
    <p:sldId id="620" r:id="rId238"/>
    <p:sldId id="621" r:id="rId239"/>
    <p:sldId id="622" r:id="rId240"/>
    <p:sldId id="623" r:id="rId241"/>
    <p:sldId id="624" r:id="rId242"/>
    <p:sldId id="390" r:id="rId243"/>
    <p:sldId id="627" r:id="rId244"/>
    <p:sldId id="774" r:id="rId245"/>
    <p:sldId id="392" r:id="rId246"/>
    <p:sldId id="393" r:id="rId247"/>
    <p:sldId id="628" r:id="rId248"/>
    <p:sldId id="629" r:id="rId249"/>
    <p:sldId id="394" r:id="rId250"/>
    <p:sldId id="775" r:id="rId251"/>
    <p:sldId id="630" r:id="rId252"/>
    <p:sldId id="631" r:id="rId253"/>
    <p:sldId id="632" r:id="rId254"/>
    <p:sldId id="633" r:id="rId255"/>
    <p:sldId id="634" r:id="rId256"/>
    <p:sldId id="635" r:id="rId257"/>
    <p:sldId id="636" r:id="rId258"/>
    <p:sldId id="637" r:id="rId259"/>
    <p:sldId id="638" r:id="rId260"/>
    <p:sldId id="639" r:id="rId261"/>
    <p:sldId id="640" r:id="rId262"/>
    <p:sldId id="641" r:id="rId263"/>
    <p:sldId id="642" r:id="rId264"/>
    <p:sldId id="643" r:id="rId265"/>
    <p:sldId id="644" r:id="rId266"/>
    <p:sldId id="645" r:id="rId267"/>
    <p:sldId id="646" r:id="rId268"/>
    <p:sldId id="647" r:id="rId269"/>
    <p:sldId id="668" r:id="rId270"/>
    <p:sldId id="669" r:id="rId271"/>
    <p:sldId id="670" r:id="rId272"/>
    <p:sldId id="648" r:id="rId273"/>
    <p:sldId id="649" r:id="rId274"/>
    <p:sldId id="650" r:id="rId275"/>
    <p:sldId id="723" r:id="rId276"/>
    <p:sldId id="652" r:id="rId277"/>
    <p:sldId id="653" r:id="rId278"/>
    <p:sldId id="654" r:id="rId279"/>
    <p:sldId id="655" r:id="rId280"/>
    <p:sldId id="656" r:id="rId281"/>
    <p:sldId id="657" r:id="rId282"/>
    <p:sldId id="658" r:id="rId283"/>
    <p:sldId id="659" r:id="rId284"/>
    <p:sldId id="660" r:id="rId285"/>
    <p:sldId id="661" r:id="rId286"/>
    <p:sldId id="662" r:id="rId287"/>
    <p:sldId id="663" r:id="rId288"/>
    <p:sldId id="664" r:id="rId289"/>
    <p:sldId id="665" r:id="rId290"/>
    <p:sldId id="666" r:id="rId291"/>
    <p:sldId id="667" r:id="rId292"/>
    <p:sldId id="776" r:id="rId293"/>
    <p:sldId id="395" r:id="rId294"/>
    <p:sldId id="671" r:id="rId295"/>
    <p:sldId id="672" r:id="rId296"/>
    <p:sldId id="673" r:id="rId297"/>
    <p:sldId id="674" r:id="rId298"/>
    <p:sldId id="675" r:id="rId299"/>
    <p:sldId id="676" r:id="rId300"/>
    <p:sldId id="677" r:id="rId301"/>
    <p:sldId id="678" r:id="rId302"/>
    <p:sldId id="679" r:id="rId303"/>
    <p:sldId id="680" r:id="rId304"/>
    <p:sldId id="681" r:id="rId305"/>
    <p:sldId id="682" r:id="rId306"/>
    <p:sldId id="683" r:id="rId307"/>
    <p:sldId id="684" r:id="rId308"/>
    <p:sldId id="685" r:id="rId309"/>
    <p:sldId id="686" r:id="rId310"/>
    <p:sldId id="687" r:id="rId311"/>
    <p:sldId id="688" r:id="rId312"/>
    <p:sldId id="689" r:id="rId313"/>
    <p:sldId id="690" r:id="rId314"/>
    <p:sldId id="691" r:id="rId315"/>
    <p:sldId id="692" r:id="rId316"/>
    <p:sldId id="693" r:id="rId317"/>
    <p:sldId id="694" r:id="rId318"/>
    <p:sldId id="695" r:id="rId319"/>
    <p:sldId id="696" r:id="rId320"/>
    <p:sldId id="697" r:id="rId321"/>
    <p:sldId id="698" r:id="rId322"/>
    <p:sldId id="699" r:id="rId323"/>
    <p:sldId id="700" r:id="rId324"/>
    <p:sldId id="701" r:id="rId325"/>
    <p:sldId id="702" r:id="rId326"/>
    <p:sldId id="703" r:id="rId327"/>
    <p:sldId id="704" r:id="rId328"/>
    <p:sldId id="705" r:id="rId329"/>
    <p:sldId id="706" r:id="rId330"/>
    <p:sldId id="707" r:id="rId331"/>
    <p:sldId id="708" r:id="rId332"/>
    <p:sldId id="709" r:id="rId333"/>
    <p:sldId id="710" r:id="rId334"/>
    <p:sldId id="711" r:id="rId335"/>
    <p:sldId id="712" r:id="rId336"/>
    <p:sldId id="713" r:id="rId337"/>
    <p:sldId id="597" r:id="rId338"/>
    <p:sldId id="599" r:id="rId339"/>
    <p:sldId id="600" r:id="rId340"/>
    <p:sldId id="598" r:id="rId341"/>
    <p:sldId id="601" r:id="rId342"/>
    <p:sldId id="602" r:id="rId343"/>
    <p:sldId id="603" r:id="rId344"/>
    <p:sldId id="604" r:id="rId345"/>
    <p:sldId id="605" r:id="rId346"/>
    <p:sldId id="340" r:id="rId347"/>
    <p:sldId id="341" r:id="rId348"/>
    <p:sldId id="751" r:id="rId349"/>
    <p:sldId id="365" r:id="rId350"/>
    <p:sldId id="366" r:id="rId351"/>
    <p:sldId id="367" r:id="rId352"/>
    <p:sldId id="368" r:id="rId353"/>
    <p:sldId id="369" r:id="rId354"/>
    <p:sldId id="370" r:id="rId355"/>
    <p:sldId id="387" r:id="rId356"/>
    <p:sldId id="356" r:id="rId357"/>
    <p:sldId id="357" r:id="rId358"/>
    <p:sldId id="753" r:id="rId359"/>
    <p:sldId id="359" r:id="rId360"/>
    <p:sldId id="360" r:id="rId361"/>
    <p:sldId id="361" r:id="rId362"/>
    <p:sldId id="755" r:id="rId363"/>
    <p:sldId id="363" r:id="rId364"/>
    <p:sldId id="364" r:id="rId365"/>
    <p:sldId id="344" r:id="rId366"/>
    <p:sldId id="345" r:id="rId367"/>
    <p:sldId id="752" r:id="rId368"/>
    <p:sldId id="343" r:id="rId369"/>
    <p:sldId id="347" r:id="rId370"/>
    <p:sldId id="348" r:id="rId371"/>
    <p:sldId id="349" r:id="rId372"/>
    <p:sldId id="350" r:id="rId373"/>
    <p:sldId id="351" r:id="rId374"/>
    <p:sldId id="352" r:id="rId375"/>
    <p:sldId id="353" r:id="rId376"/>
    <p:sldId id="354" r:id="rId377"/>
    <p:sldId id="769" r:id="rId378"/>
    <p:sldId id="608" r:id="rId379"/>
    <p:sldId id="609" r:id="rId380"/>
    <p:sldId id="754" r:id="rId381"/>
    <p:sldId id="607" r:id="rId382"/>
    <p:sldId id="625" r:id="rId383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2DA4170-F762-425B-95F8-DAAFDEEB0953}">
          <p14:sldIdLst>
            <p14:sldId id="256"/>
            <p14:sldId id="300"/>
            <p14:sldId id="502"/>
            <p14:sldId id="295"/>
            <p14:sldId id="741"/>
            <p14:sldId id="742"/>
          </p14:sldIdLst>
        </p14:section>
        <p14:section name="01.앱실행, 로그인" id="{7E43C6AD-2135-422B-B2B2-E0906DF4CC1E}">
          <p14:sldIdLst>
            <p14:sldId id="294"/>
            <p14:sldId id="745"/>
            <p14:sldId id="281"/>
            <p14:sldId id="265"/>
            <p14:sldId id="304"/>
            <p14:sldId id="287"/>
            <p14:sldId id="270"/>
            <p14:sldId id="271"/>
            <p14:sldId id="757"/>
            <p14:sldId id="743"/>
            <p14:sldId id="758"/>
            <p14:sldId id="273"/>
            <p14:sldId id="275"/>
            <p14:sldId id="276"/>
            <p14:sldId id="277"/>
            <p14:sldId id="279"/>
            <p14:sldId id="744"/>
            <p14:sldId id="301"/>
            <p14:sldId id="503"/>
            <p14:sldId id="284"/>
            <p14:sldId id="288"/>
            <p14:sldId id="289"/>
            <p14:sldId id="290"/>
            <p14:sldId id="308"/>
            <p14:sldId id="309"/>
            <p14:sldId id="310"/>
            <p14:sldId id="724"/>
            <p14:sldId id="780"/>
            <p14:sldId id="386"/>
            <p14:sldId id="782"/>
            <p14:sldId id="313"/>
            <p14:sldId id="783"/>
            <p14:sldId id="779"/>
            <p14:sldId id="420"/>
            <p14:sldId id="311"/>
            <p14:sldId id="777"/>
            <p14:sldId id="778"/>
            <p14:sldId id="314"/>
            <p14:sldId id="715"/>
            <p14:sldId id="317"/>
            <p14:sldId id="322"/>
            <p14:sldId id="716"/>
            <p14:sldId id="781"/>
            <p14:sldId id="318"/>
            <p14:sldId id="323"/>
            <p14:sldId id="717"/>
            <p14:sldId id="324"/>
            <p14:sldId id="718"/>
            <p14:sldId id="319"/>
            <p14:sldId id="315"/>
            <p14:sldId id="316"/>
            <p14:sldId id="321"/>
            <p14:sldId id="320"/>
            <p14:sldId id="326"/>
            <p14:sldId id="325"/>
            <p14:sldId id="759"/>
            <p14:sldId id="327"/>
            <p14:sldId id="328"/>
            <p14:sldId id="330"/>
            <p14:sldId id="329"/>
          </p14:sldIdLst>
        </p14:section>
        <p14:section name="02.마이페이지" id="{0DFCED7B-14DB-43DA-80A6-9739242572F6}">
          <p14:sldIdLst>
            <p14:sldId id="331"/>
            <p14:sldId id="746"/>
            <p14:sldId id="374"/>
            <p14:sldId id="375"/>
            <p14:sldId id="760"/>
            <p14:sldId id="332"/>
            <p14:sldId id="371"/>
            <p14:sldId id="372"/>
            <p14:sldId id="373"/>
            <p14:sldId id="747"/>
            <p14:sldId id="762"/>
            <p14:sldId id="748"/>
            <p14:sldId id="761"/>
            <p14:sldId id="749"/>
            <p14:sldId id="378"/>
            <p14:sldId id="379"/>
            <p14:sldId id="725"/>
            <p14:sldId id="380"/>
            <p14:sldId id="381"/>
            <p14:sldId id="382"/>
            <p14:sldId id="383"/>
            <p14:sldId id="726"/>
            <p14:sldId id="727"/>
            <p14:sldId id="384"/>
            <p14:sldId id="728"/>
            <p14:sldId id="385"/>
            <p14:sldId id="400"/>
            <p14:sldId id="401"/>
            <p14:sldId id="729"/>
            <p14:sldId id="402"/>
            <p14:sldId id="504"/>
            <p14:sldId id="403"/>
            <p14:sldId id="770"/>
            <p14:sldId id="404"/>
            <p14:sldId id="771"/>
            <p14:sldId id="730"/>
            <p14:sldId id="731"/>
            <p14:sldId id="732"/>
            <p14:sldId id="733"/>
            <p14:sldId id="734"/>
            <p14:sldId id="735"/>
            <p14:sldId id="736"/>
            <p14:sldId id="405"/>
            <p14:sldId id="737"/>
            <p14:sldId id="406"/>
            <p14:sldId id="738"/>
            <p14:sldId id="626"/>
            <p14:sldId id="407"/>
            <p14:sldId id="408"/>
            <p14:sldId id="739"/>
            <p14:sldId id="409"/>
            <p14:sldId id="740"/>
          </p14:sldIdLst>
        </p14:section>
        <p14:section name="업체정보관리" id="{50D8D151-F082-4229-B97C-00A16B270850}">
          <p14:sldIdLst>
            <p14:sldId id="410"/>
            <p14:sldId id="577"/>
            <p14:sldId id="411"/>
            <p14:sldId id="772"/>
            <p14:sldId id="412"/>
            <p14:sldId id="505"/>
            <p14:sldId id="506"/>
            <p14:sldId id="507"/>
            <p14:sldId id="508"/>
            <p14:sldId id="413"/>
            <p14:sldId id="719"/>
            <p14:sldId id="414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415"/>
            <p14:sldId id="518"/>
            <p14:sldId id="519"/>
            <p14:sldId id="517"/>
            <p14:sldId id="521"/>
            <p14:sldId id="773"/>
            <p14:sldId id="524"/>
            <p14:sldId id="522"/>
            <p14:sldId id="525"/>
            <p14:sldId id="526"/>
            <p14:sldId id="720"/>
            <p14:sldId id="528"/>
            <p14:sldId id="529"/>
            <p14:sldId id="530"/>
            <p14:sldId id="531"/>
            <p14:sldId id="532"/>
            <p14:sldId id="541"/>
            <p14:sldId id="756"/>
            <p14:sldId id="536"/>
            <p14:sldId id="537"/>
            <p14:sldId id="538"/>
            <p14:sldId id="539"/>
            <p14:sldId id="540"/>
            <p14:sldId id="533"/>
            <p14:sldId id="535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  <p14:sldId id="553"/>
            <p14:sldId id="556"/>
            <p14:sldId id="557"/>
            <p14:sldId id="560"/>
            <p14:sldId id="558"/>
            <p14:sldId id="559"/>
            <p14:sldId id="555"/>
            <p14:sldId id="554"/>
            <p14:sldId id="561"/>
            <p14:sldId id="562"/>
            <p14:sldId id="563"/>
            <p14:sldId id="564"/>
            <p14:sldId id="565"/>
            <p14:sldId id="566"/>
            <p14:sldId id="569"/>
            <p14:sldId id="567"/>
            <p14:sldId id="568"/>
            <p14:sldId id="570"/>
            <p14:sldId id="571"/>
            <p14:sldId id="572"/>
            <p14:sldId id="722"/>
          </p14:sldIdLst>
        </p14:section>
        <p14:section name="사용자정보관리" id="{41411C3E-8007-4445-AF0C-3F184754AE3A}">
          <p14:sldIdLst>
            <p14:sldId id="574"/>
            <p14:sldId id="578"/>
            <p14:sldId id="575"/>
            <p14:sldId id="576"/>
            <p14:sldId id="590"/>
            <p14:sldId id="591"/>
            <p14:sldId id="592"/>
            <p14:sldId id="588"/>
            <p14:sldId id="589"/>
            <p14:sldId id="593"/>
            <p14:sldId id="595"/>
            <p14:sldId id="596"/>
            <p14:sldId id="594"/>
            <p14:sldId id="579"/>
            <p14:sldId id="583"/>
            <p14:sldId id="580"/>
            <p14:sldId id="582"/>
            <p14:sldId id="584"/>
            <p14:sldId id="587"/>
            <p14:sldId id="586"/>
            <p14:sldId id="585"/>
          </p14:sldIdLst>
        </p14:section>
        <p14:section name="03.고객센터" id="{31AD4FE9-64B7-4CD8-8B66-89803A7FBCEB}">
          <p14:sldIdLst>
            <p14:sldId id="337"/>
            <p14:sldId id="763"/>
            <p14:sldId id="764"/>
            <p14:sldId id="765"/>
            <p14:sldId id="338"/>
            <p14:sldId id="766"/>
            <p14:sldId id="750"/>
            <p14:sldId id="767"/>
            <p14:sldId id="768"/>
            <p14:sldId id="388"/>
            <p14:sldId id="611"/>
            <p14:sldId id="612"/>
            <p14:sldId id="613"/>
            <p14:sldId id="614"/>
            <p14:sldId id="615"/>
            <p14:sldId id="616"/>
            <p14:sldId id="617"/>
            <p14:sldId id="389"/>
            <p14:sldId id="618"/>
            <p14:sldId id="619"/>
            <p14:sldId id="620"/>
            <p14:sldId id="621"/>
            <p14:sldId id="622"/>
            <p14:sldId id="623"/>
            <p14:sldId id="624"/>
            <p14:sldId id="390"/>
            <p14:sldId id="627"/>
            <p14:sldId id="774"/>
            <p14:sldId id="392"/>
            <p14:sldId id="393"/>
            <p14:sldId id="628"/>
            <p14:sldId id="629"/>
            <p14:sldId id="394"/>
            <p14:sldId id="775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68"/>
            <p14:sldId id="669"/>
            <p14:sldId id="670"/>
            <p14:sldId id="648"/>
            <p14:sldId id="649"/>
            <p14:sldId id="650"/>
            <p14:sldId id="723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661"/>
            <p14:sldId id="662"/>
            <p14:sldId id="663"/>
            <p14:sldId id="664"/>
            <p14:sldId id="665"/>
            <p14:sldId id="666"/>
            <p14:sldId id="667"/>
            <p14:sldId id="776"/>
            <p14:sldId id="395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597"/>
            <p14:sldId id="599"/>
            <p14:sldId id="600"/>
            <p14:sldId id="598"/>
            <p14:sldId id="601"/>
            <p14:sldId id="602"/>
            <p14:sldId id="603"/>
            <p14:sldId id="604"/>
            <p14:sldId id="605"/>
          </p14:sldIdLst>
        </p14:section>
        <p14:section name="04.인증센터" id="{370026AB-4560-42C7-933C-20AD7FF7D4C7}">
          <p14:sldIdLst>
            <p14:sldId id="340"/>
            <p14:sldId id="341"/>
            <p14:sldId id="751"/>
            <p14:sldId id="365"/>
            <p14:sldId id="366"/>
            <p14:sldId id="367"/>
            <p14:sldId id="368"/>
            <p14:sldId id="369"/>
            <p14:sldId id="370"/>
            <p14:sldId id="387"/>
          </p14:sldIdLst>
        </p14:section>
        <p14:section name="05.국방전자조달 소개" id="{317907BD-AF37-4930-AA6E-11361BD27737}">
          <p14:sldIdLst>
            <p14:sldId id="356"/>
            <p14:sldId id="357"/>
            <p14:sldId id="753"/>
            <p14:sldId id="359"/>
            <p14:sldId id="360"/>
            <p14:sldId id="361"/>
            <p14:sldId id="755"/>
            <p14:sldId id="363"/>
            <p14:sldId id="364"/>
          </p14:sldIdLst>
        </p14:section>
        <p14:section name="06.이용안내" id="{2AA9B4A0-6D89-4E2A-BCBC-A38FB8486982}">
          <p14:sldIdLst>
            <p14:sldId id="344"/>
            <p14:sldId id="345"/>
            <p14:sldId id="752"/>
            <p14:sldId id="343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769"/>
          </p14:sldIdLst>
        </p14:section>
        <p14:section name="07. 앱설정" id="{8336C8C1-3D30-4EFD-A9FE-B72CDC643A19}">
          <p14:sldIdLst>
            <p14:sldId id="608"/>
            <p14:sldId id="609"/>
            <p14:sldId id="754"/>
            <p14:sldId id="607"/>
            <p14:sldId id="62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B9BD5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869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62" y="96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theme" Target="theme/theme1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notesMaster" Target="notesMasters/notesMaster1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handoutMaster" Target="handoutMasters/handoutMaster1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presProps" Target="presProps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viewProps" Target="viewProps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tableStyles" Target="tableStyles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2026-07-23 (Thursday)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2026-07-23 (Thursday)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607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3237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343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7684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54155541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제개정일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00.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공통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hyperlink" Target="http://delis.mnd.go.kr:8080/" TargetMode="Externa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hyperlink" Target="http://developer.android.com/sdk/index.html" TargetMode="External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00.</a:t>
            </a:r>
            <a:r>
              <a:rPr lang="ko-KR" altLang="en-US" dirty="0" err="1"/>
              <a:t>스플래시</a:t>
            </a:r>
            <a:r>
              <a:rPr lang="ko-KR" altLang="en-US" dirty="0"/>
              <a:t> </a:t>
            </a:r>
            <a:r>
              <a:rPr lang="en-US" altLang="ko-KR" dirty="0"/>
              <a:t>~ </a:t>
            </a:r>
            <a:r>
              <a:rPr lang="ko-KR" altLang="en-US" dirty="0"/>
              <a:t>공통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8122379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355922"/>
              </p:ext>
            </p:extLst>
          </p:nvPr>
        </p:nvGraphicFramePr>
        <p:xfrm>
          <a:off x="652374" y="1286787"/>
          <a:ext cx="8782571" cy="3270414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4576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930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462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6208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70168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31982"/>
              </p:ext>
            </p:extLst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9630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574036"/>
              </p:ext>
            </p:extLst>
          </p:nvPr>
        </p:nvGraphicFramePr>
        <p:xfrm>
          <a:off x="988586" y="1265003"/>
          <a:ext cx="7926814" cy="4480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err="1"/>
                        <a:t>앱실행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로그인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err="1"/>
                        <a:t>마이페이지</a:t>
                      </a:r>
                      <a:r>
                        <a:rPr lang="ko-KR" altLang="en-US" sz="1200" dirty="0"/>
                        <a:t>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dirty="0"/>
                        <a:t>고객센터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8634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17802"/>
              </p:ext>
            </p:extLst>
          </p:nvPr>
        </p:nvGraphicFramePr>
        <p:xfrm>
          <a:off x="988586" y="1265003"/>
          <a:ext cx="7926814" cy="53492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69286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150" dirty="0"/>
                        <a:t>인증센터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150" dirty="0"/>
                        <a:t>국방전자조달 소개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150" dirty="0"/>
                        <a:t>이용안내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150" dirty="0"/>
                        <a:t>앱 설정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339340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341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86766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570426"/>
              </p:ext>
            </p:extLst>
          </p:nvPr>
        </p:nvGraphicFramePr>
        <p:xfrm>
          <a:off x="635474" y="1413419"/>
          <a:ext cx="8701200" cy="46175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MUI-MS-01-M01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앱실행스플래시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시 노출되는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로딩 시 보안 프로그램 동작 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/biz/cm/splash/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-01-M02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접근 권한 동의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-01-P03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 권한 동의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앱업데이트안내팝업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업데이트가 있는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-01-P05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앱오류안내팝업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장애 등 실행이 불가능한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-01-M06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앱이용안내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이용 안내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-01-M07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smtClean="0">
                          <a:latin typeface="+mn-ea"/>
                          <a:ea typeface="+mn-ea"/>
                        </a:rPr>
                        <a:t>메인홈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완료 후 노출되는 메인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비로그인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사용자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-P08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중요공지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메인에서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-M09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서브에서 검색 영역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아이콘을 클릭하는 경우 통합 검색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-M10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 검색 결과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81621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MUI-MS-01-M11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챗봇문의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5591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MUI-MS-01-M12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햄버거메뉴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메뉴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/biz/cm/menu/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MUI-MS-01-M13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알림현황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푸시 알림 현황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UC-ZZ-11-07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UC-ZZ-14-03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MUI-MS-01-P14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로그인업체설정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소속된 업체가 많은 경우 로그인 이후 로그인할 업체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635376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93442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667125"/>
              </p:ext>
            </p:extLst>
          </p:nvPr>
        </p:nvGraphicFramePr>
        <p:xfrm>
          <a:off x="635474" y="1413419"/>
          <a:ext cx="8701200" cy="3160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방식선택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mainLoginPage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01900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idPswdLoginPage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MUI-CM-03-M04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IdRegInfoFndngPage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찾기의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PswdFndngPage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MUI-CM-03-M07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PswdRegInfoFndngPage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성공 시 비밀번호 변경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460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MUI-CM-03-M09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사용자등록안내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UserRegInfoPage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 등록한 대상만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버전에서 사용자 등록이 가능함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페이지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등록만 가능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931461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7799172"/>
              </p:ext>
            </p:extLst>
          </p:nvPr>
        </p:nvGraphicFramePr>
        <p:xfrm>
          <a:off x="635474" y="1413419"/>
          <a:ext cx="8701200" cy="4739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간편인증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SimpleCert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93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FnstCert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59858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공동인증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JntCert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62041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모바일신분증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MobileIdntyCert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행안부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모바일 신분증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03305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휴대폰의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기능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25543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BioInfoCertRegPage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 프로세스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51901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MUI-CM-03-M20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생체인증등록완료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등록 완료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BioInfoCertRsltPage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96699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인증성공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실패안내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CertRsltPage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로그인 방식에 따른 인증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 안내 메시지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성공의 경우는 안내 메시지 또는 토스트 메시지 없이 메인 페이지 이동으로 변경될 수 있음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PcQRLgnPage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화면의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코드를 앱에서 읽어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시키는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로그아웃안내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LgoInfo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background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복귀 시 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</a:rPr>
                        <a:t>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MUI-CM-03-P19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로그인필요서비스안내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LgnSrvcInfo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비로그인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상태에서 로그인 서비스 사용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시도시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노출되는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NewIdChgInfo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구버전의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아이디로 로그인 하는 경우 신규 통합 아이디로 변경되는 사항 안내 팝업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NewIdChgInfo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5961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NewIdPwReg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아이디와 비밀번호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입력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NewIdPwReg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97124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통합로그인계정등록완료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NewIdCmptn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통합 아이디 등록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NewIdCmptn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5292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통합로그인계정 관련 추가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 smtClean="0"/>
                <a:t>MUI-CM-03-P21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MUI-CM-03-M22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MUI-CM-03-M23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038958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스플래시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로고 노출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507268" y="1632242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앱 실행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보안 프로그램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 여부 검증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안내 팝업 노출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16426" y="2307750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업데이트 있음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750504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실행 완료</a:t>
            </a: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종료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재기동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394799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미동의 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497391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동의 시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709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최초 기동 여부 검증</a:t>
            </a: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2"/>
            <a:endCxn id="91" idx="0"/>
          </p:cNvCxnSpPr>
          <p:nvPr/>
        </p:nvCxnSpPr>
        <p:spPr>
          <a:xfrm>
            <a:off x="4647742" y="2595750"/>
            <a:ext cx="0" cy="107521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 보기 선택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00122" y="3670961"/>
            <a:ext cx="82875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현 버전 최초 실행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2451749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405859" y="3670961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최신화 완료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STEP </a:t>
            </a:r>
            <a:r>
              <a:rPr lang="ko-KR" altLang="en-US" sz="800" dirty="0">
                <a:solidFill>
                  <a:schemeClr val="tx1"/>
                </a:solidFill>
              </a:rPr>
              <a:t>표시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40195" y="4349746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보기 선택 시</a:t>
            </a: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접근 권한 안내</a:t>
            </a: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푸시 동의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카메라 접근 동의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28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 진입</a:t>
            </a: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40" idx="1"/>
          </p:cNvCxnSpPr>
          <p:nvPr/>
        </p:nvCxnSpPr>
        <p:spPr>
          <a:xfrm>
            <a:off x="5097742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0" idx="3"/>
            <a:endCxn id="142" idx="1"/>
          </p:cNvCxnSpPr>
          <p:nvPr/>
        </p:nvCxnSpPr>
        <p:spPr>
          <a:xfrm>
            <a:off x="6928876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18" idx="1"/>
          </p:cNvCxnSpPr>
          <p:nvPr/>
        </p:nvCxnSpPr>
        <p:spPr>
          <a:xfrm>
            <a:off x="5097742" y="44937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2"/>
            <a:endCxn id="98" idx="0"/>
          </p:cNvCxnSpPr>
          <p:nvPr/>
        </p:nvCxnSpPr>
        <p:spPr>
          <a:xfrm>
            <a:off x="4647742" y="39589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2"/>
            <a:endCxn id="151" idx="0"/>
          </p:cNvCxnSpPr>
          <p:nvPr/>
        </p:nvCxnSpPr>
        <p:spPr>
          <a:xfrm>
            <a:off x="4647742" y="4637746"/>
            <a:ext cx="0" cy="3951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2"/>
            <a:endCxn id="151" idx="0"/>
          </p:cNvCxnSpPr>
          <p:nvPr/>
        </p:nvCxnSpPr>
        <p:spPr>
          <a:xfrm rot="5400000">
            <a:off x="5365745" y="3919743"/>
            <a:ext cx="395128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4528745" y="575716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4557742" y="5560902"/>
            <a:ext cx="180000" cy="180000"/>
            <a:chOff x="5058274" y="2498299"/>
            <a:chExt cx="180000" cy="180000"/>
          </a:xfrm>
        </p:grpSpPr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2"/>
            <a:endCxn id="192" idx="0"/>
          </p:cNvCxnSpPr>
          <p:nvPr/>
        </p:nvCxnSpPr>
        <p:spPr>
          <a:xfrm>
            <a:off x="4647742" y="5320874"/>
            <a:ext cx="0" cy="2400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2"/>
            <a:endCxn id="98" idx="0"/>
          </p:cNvCxnSpPr>
          <p:nvPr/>
        </p:nvCxnSpPr>
        <p:spPr>
          <a:xfrm rot="5400000">
            <a:off x="6283484" y="2323219"/>
            <a:ext cx="390785" cy="3662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333723" y="4349746"/>
            <a:ext cx="86401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이용안내 </a:t>
            </a:r>
            <a:r>
              <a:rPr lang="en-US" altLang="ko-KR" sz="800" dirty="0">
                <a:solidFill>
                  <a:schemeClr val="tx1"/>
                </a:solidFill>
              </a:rPr>
              <a:t>= </a:t>
            </a:r>
            <a:r>
              <a:rPr lang="ko-KR" altLang="en-US" sz="800" dirty="0">
                <a:solidFill>
                  <a:schemeClr val="tx1"/>
                </a:solidFill>
              </a:rPr>
              <a:t>도움말</a:t>
            </a: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2451749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647742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>
                <a:solidFill>
                  <a:schemeClr val="tx1"/>
                </a:solidFill>
              </a:rPr>
              <a:t>앱 실행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업데이트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필수</a:t>
            </a:r>
            <a:r>
              <a:rPr lang="en-US" altLang="ko-KR" sz="1200" dirty="0">
                <a:solidFill>
                  <a:schemeClr val="tx1"/>
                </a:solidFill>
              </a:rPr>
              <a:t>), </a:t>
            </a:r>
            <a:r>
              <a:rPr lang="ko-KR" altLang="en-US" sz="1200" dirty="0">
                <a:solidFill>
                  <a:schemeClr val="tx1"/>
                </a:solidFill>
              </a:rPr>
              <a:t>권한 동의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grpSp>
        <p:nvGrpSpPr>
          <p:cNvPr id="55" name="그룹 5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23423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햄버거 메뉴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3130536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3614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53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3130536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323679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3040535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3130535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3130535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메인 페이지</a:t>
            </a:r>
          </a:p>
        </p:txBody>
      </p: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</a:p>
        </p:txBody>
      </p:sp>
      <p:cxnSp>
        <p:nvCxnSpPr>
          <p:cNvPr id="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3266608" y="1772964"/>
            <a:ext cx="931134" cy="27109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18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 현황</a:t>
            </a:r>
          </a:p>
        </p:txBody>
      </p:sp>
      <p:cxnSp>
        <p:nvCxnSpPr>
          <p:cNvPr id="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3" idx="1"/>
          </p:cNvCxnSpPr>
          <p:nvPr/>
        </p:nvCxnSpPr>
        <p:spPr>
          <a:xfrm>
            <a:off x="3266608" y="1772964"/>
            <a:ext cx="931134" cy="33897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 결과</a:t>
            </a: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58" idx="3"/>
            <a:endCxn id="68" idx="1"/>
          </p:cNvCxnSpPr>
          <p:nvPr/>
        </p:nvCxnSpPr>
        <p:spPr>
          <a:xfrm>
            <a:off x="5097742" y="448387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43441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73" idx="1"/>
          </p:cNvCxnSpPr>
          <p:nvPr/>
        </p:nvCxnSpPr>
        <p:spPr>
          <a:xfrm>
            <a:off x="6928876" y="3130536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04" idx="2"/>
          </p:cNvCxnSpPr>
          <p:nvPr/>
        </p:nvCxnSpPr>
        <p:spPr>
          <a:xfrm flipV="1">
            <a:off x="8760010" y="3130535"/>
            <a:ext cx="398685" cy="1357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0186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6" idx="1"/>
          </p:cNvCxnSpPr>
          <p:nvPr/>
        </p:nvCxnSpPr>
        <p:spPr>
          <a:xfrm>
            <a:off x="6928876" y="3130536"/>
            <a:ext cx="931134" cy="20321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04" idx="2"/>
          </p:cNvCxnSpPr>
          <p:nvPr/>
        </p:nvCxnSpPr>
        <p:spPr>
          <a:xfrm flipV="1">
            <a:off x="8760010" y="3130535"/>
            <a:ext cx="398685" cy="203212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PC 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93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 메뉴 이동</a:t>
            </a:r>
          </a:p>
        </p:txBody>
      </p:sp>
      <p:cxnSp>
        <p:nvCxnSpPr>
          <p:cNvPr id="1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97" idx="1"/>
          </p:cNvCxnSpPr>
          <p:nvPr/>
        </p:nvCxnSpPr>
        <p:spPr>
          <a:xfrm>
            <a:off x="5097742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안내</a:t>
            </a:r>
          </a:p>
        </p:txBody>
      </p: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>
          <a:xfrm rot="16200000" flipH="1">
            <a:off x="5367916" y="1875576"/>
            <a:ext cx="390786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2184638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미로그인</a:t>
            </a:r>
            <a:r>
              <a:rPr lang="ko-KR" altLang="en-US" sz="800" dirty="0">
                <a:solidFill>
                  <a:schemeClr val="tx1"/>
                </a:solidFill>
              </a:rPr>
              <a:t> 상태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1866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페이지 이동</a:t>
            </a: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8" idx="2"/>
            <a:endCxn id="133" idx="0"/>
          </p:cNvCxnSpPr>
          <p:nvPr/>
        </p:nvCxnSpPr>
        <p:spPr>
          <a:xfrm>
            <a:off x="6478876" y="4627878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3" idx="3"/>
            <a:endCxn id="133" idx="1"/>
          </p:cNvCxnSpPr>
          <p:nvPr/>
        </p:nvCxnSpPr>
        <p:spPr>
          <a:xfrm flipV="1">
            <a:off x="5097742" y="5162663"/>
            <a:ext cx="93113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82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45" idx="1"/>
          </p:cNvCxnSpPr>
          <p:nvPr/>
        </p:nvCxnSpPr>
        <p:spPr>
          <a:xfrm>
            <a:off x="5097742" y="3130536"/>
            <a:ext cx="931134" cy="6817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6932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6" idx="2"/>
            <a:endCxn id="154" idx="0"/>
          </p:cNvCxnSpPr>
          <p:nvPr/>
        </p:nvCxnSpPr>
        <p:spPr>
          <a:xfrm>
            <a:off x="8310010" y="5306663"/>
            <a:ext cx="0" cy="38655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4" idx="2"/>
          </p:cNvCxnSpPr>
          <p:nvPr/>
        </p:nvCxnSpPr>
        <p:spPr>
          <a:xfrm flipV="1">
            <a:off x="8760010" y="3130535"/>
            <a:ext cx="398685" cy="270668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4" idx="2"/>
          </p:cNvCxnSpPr>
          <p:nvPr/>
        </p:nvCxnSpPr>
        <p:spPr>
          <a:xfrm>
            <a:off x="6928876" y="2451750"/>
            <a:ext cx="2229819" cy="678785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04" idx="2"/>
          </p:cNvCxnSpPr>
          <p:nvPr/>
        </p:nvCxnSpPr>
        <p:spPr>
          <a:xfrm>
            <a:off x="6928876" y="1772964"/>
            <a:ext cx="2229819" cy="1357571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69029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err="1">
                <a:solidFill>
                  <a:schemeClr val="tx1"/>
                </a:solidFill>
              </a:rPr>
              <a:t>챗봇</a:t>
            </a:r>
            <a:r>
              <a:rPr lang="ko-KR" altLang="en-US" sz="800" dirty="0">
                <a:solidFill>
                  <a:schemeClr val="tx1"/>
                </a:solidFill>
              </a:rPr>
              <a:t> 문의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71" idx="1"/>
          </p:cNvCxnSpPr>
          <p:nvPr/>
        </p:nvCxnSpPr>
        <p:spPr>
          <a:xfrm>
            <a:off x="3266608" y="1772964"/>
            <a:ext cx="931134" cy="40613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6359879" y="592471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6388876" y="5744298"/>
            <a:ext cx="180000" cy="180000"/>
            <a:chOff x="5058274" y="2498299"/>
            <a:chExt cx="180000" cy="180000"/>
          </a:xfrm>
        </p:grpSpPr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80" name="직선 화살표 연결선 1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71" idx="3"/>
            <a:endCxn id="177" idx="2"/>
          </p:cNvCxnSpPr>
          <p:nvPr/>
        </p:nvCxnSpPr>
        <p:spPr>
          <a:xfrm>
            <a:off x="5097742" y="5834298"/>
            <a:ext cx="129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3" idx="2"/>
            <a:endCxn id="177" idx="0"/>
          </p:cNvCxnSpPr>
          <p:nvPr/>
        </p:nvCxnSpPr>
        <p:spPr>
          <a:xfrm>
            <a:off x="6478876" y="5306663"/>
            <a:ext cx="0" cy="43763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5" idx="3"/>
            <a:endCxn id="177" idx="6"/>
          </p:cNvCxnSpPr>
          <p:nvPr/>
        </p:nvCxnSpPr>
        <p:spPr>
          <a:xfrm flipH="1">
            <a:off x="6568876" y="3812244"/>
            <a:ext cx="360000" cy="2022054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12" idx="3"/>
          </p:cNvCxnSpPr>
          <p:nvPr/>
        </p:nvCxnSpPr>
        <p:spPr>
          <a:xfrm>
            <a:off x="5097742" y="1772964"/>
            <a:ext cx="12700" cy="678786"/>
          </a:xfrm>
          <a:prstGeom prst="bentConnector3">
            <a:avLst>
              <a:gd name="adj1" fmla="val 368235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3667" y="1920752"/>
            <a:ext cx="99386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PC </a:t>
            </a:r>
            <a:r>
              <a:rPr lang="ko-KR" altLang="en-US" sz="800" dirty="0">
                <a:solidFill>
                  <a:schemeClr val="tx1"/>
                </a:solidFill>
              </a:rPr>
              <a:t>화면의 </a:t>
            </a:r>
            <a:r>
              <a:rPr lang="en-US" altLang="ko-KR" sz="800" dirty="0">
                <a:solidFill>
                  <a:schemeClr val="tx1"/>
                </a:solidFill>
              </a:rPr>
              <a:t>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화면 스캔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3289310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6" name="그룹 75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64839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196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72421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20390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행안부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10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107" idx="1"/>
          </p:cNvCxnSpPr>
          <p:nvPr/>
        </p:nvCxnSpPr>
        <p:spPr>
          <a:xfrm>
            <a:off x="5097742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7" idx="3"/>
            <a:endCxn id="76" idx="1"/>
          </p:cNvCxnSpPr>
          <p:nvPr/>
        </p:nvCxnSpPr>
        <p:spPr>
          <a:xfrm>
            <a:off x="5097742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 안내</a:t>
            </a: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실패 안내</a:t>
            </a: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24" idx="1"/>
          </p:cNvCxnSpPr>
          <p:nvPr/>
        </p:nvCxnSpPr>
        <p:spPr>
          <a:xfrm>
            <a:off x="6928876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7" idx="3"/>
            <a:endCxn id="125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188462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1682964"/>
            <a:ext cx="180000" cy="180000"/>
            <a:chOff x="5058274" y="2498299"/>
            <a:chExt cx="180000" cy="180000"/>
          </a:xfrm>
        </p:grpSpPr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68" name="직선 화살표 연결선 1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4" idx="3"/>
            <a:endCxn id="166" idx="2"/>
          </p:cNvCxnSpPr>
          <p:nvPr/>
        </p:nvCxnSpPr>
        <p:spPr>
          <a:xfrm>
            <a:off x="8760010" y="1772964"/>
            <a:ext cx="43693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242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cxnSp>
        <p:nvCxnSpPr>
          <p:cNvPr id="2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205" idx="1"/>
          </p:cNvCxnSpPr>
          <p:nvPr/>
        </p:nvCxnSpPr>
        <p:spPr>
          <a:xfrm>
            <a:off x="5097742" y="3130536"/>
            <a:ext cx="931134" cy="6758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3662423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sp>
        <p:nvSpPr>
          <p:cNvPr id="2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24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en-US" altLang="ko-KR" sz="700" dirty="0">
                <a:solidFill>
                  <a:prstClr val="black"/>
                </a:solidFill>
              </a:rPr>
              <a:t>(PC </a:t>
            </a:r>
            <a:r>
              <a:rPr lang="en-US" altLang="ko-KR" sz="700" dirty="0">
                <a:solidFill>
                  <a:prstClr val="black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solidFill>
                  <a:prstClr val="black"/>
                </a:solidFill>
                <a:sym typeface="Wingdings" panose="05000000000000000000" pitchFamily="2" charset="2"/>
              </a:rPr>
              <a:t>모바일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05" idx="3"/>
            <a:endCxn id="259" idx="1"/>
          </p:cNvCxnSpPr>
          <p:nvPr/>
        </p:nvCxnSpPr>
        <p:spPr>
          <a:xfrm>
            <a:off x="6928876" y="3806423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21807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없음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596219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5764482"/>
            <a:ext cx="180000" cy="180000"/>
            <a:chOff x="5058274" y="2498299"/>
            <a:chExt cx="180000" cy="180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9" idx="0"/>
            <a:endCxn id="76" idx="2"/>
          </p:cNvCxnSpPr>
          <p:nvPr/>
        </p:nvCxnSpPr>
        <p:spPr>
          <a:xfrm rot="16200000" flipV="1">
            <a:off x="7200500" y="2552913"/>
            <a:ext cx="387887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1508753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5" idx="3"/>
            <a:endCxn id="263" idx="3"/>
          </p:cNvCxnSpPr>
          <p:nvPr/>
        </p:nvCxnSpPr>
        <p:spPr>
          <a:xfrm flipH="1">
            <a:off x="8756934" y="2451750"/>
            <a:ext cx="3076" cy="2717175"/>
          </a:xfrm>
          <a:prstGeom prst="bentConnector3">
            <a:avLst>
              <a:gd name="adj1" fmla="val -743173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(1/3)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3" idx="2"/>
            <a:endCxn id="269" idx="2"/>
          </p:cNvCxnSpPr>
          <p:nvPr/>
        </p:nvCxnSpPr>
        <p:spPr>
          <a:xfrm rot="16200000" flipH="1">
            <a:off x="8481163" y="5138696"/>
            <a:ext cx="541557" cy="89001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24" idx="1"/>
          </p:cNvCxnSpPr>
          <p:nvPr/>
        </p:nvCxnSpPr>
        <p:spPr>
          <a:xfrm flipV="1">
            <a:off x="6928876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356830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4274050"/>
            <a:ext cx="1112636" cy="117511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1638" y="3967076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  <p:grpSp>
        <p:nvGrpSpPr>
          <p:cNvPr id="66" name="그룹 6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69" name="그룹 6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58770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3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33959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 안내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2"/>
            <a:endCxn id="108" idx="0"/>
          </p:cNvCxnSpPr>
          <p:nvPr/>
        </p:nvCxnSpPr>
        <p:spPr>
          <a:xfrm>
            <a:off x="4647742" y="39560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92" idx="1"/>
          </p:cNvCxnSpPr>
          <p:nvPr/>
        </p:nvCxnSpPr>
        <p:spPr>
          <a:xfrm>
            <a:off x="5097742" y="4490846"/>
            <a:ext cx="931134" cy="6780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512772" y="4625097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80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로그인</a:t>
            </a:r>
          </a:p>
        </p:txBody>
      </p:sp>
      <p:cxnSp>
        <p:nvCxnSpPr>
          <p:cNvPr id="244" name="직선 화살표 연결선 24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242" idx="1"/>
          </p:cNvCxnSpPr>
          <p:nvPr/>
        </p:nvCxnSpPr>
        <p:spPr>
          <a:xfrm>
            <a:off x="5097742" y="3812061"/>
            <a:ext cx="275919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0"/>
            <a:endCxn id="154" idx="2"/>
          </p:cNvCxnSpPr>
          <p:nvPr/>
        </p:nvCxnSpPr>
        <p:spPr>
          <a:xfrm flipV="1">
            <a:off x="6478876" y="463484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2492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본인인증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ko-KR" altLang="en-US" sz="700" dirty="0">
                <a:solidFill>
                  <a:schemeClr val="tx1"/>
                </a:solidFill>
              </a:rPr>
              <a:t> 등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103838" y="3668061"/>
            <a:ext cx="7469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Y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681839" y="4217818"/>
            <a:ext cx="76783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N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242" idx="1"/>
          </p:cNvCxnSpPr>
          <p:nvPr/>
        </p:nvCxnSpPr>
        <p:spPr>
          <a:xfrm flipV="1">
            <a:off x="6928876" y="3812061"/>
            <a:ext cx="928058" cy="67878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22061"/>
            <a:ext cx="180000" cy="180000"/>
            <a:chOff x="5058274" y="2498299"/>
            <a:chExt cx="180000" cy="180000"/>
          </a:xfrm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2" idx="3"/>
            <a:endCxn id="115" idx="2"/>
          </p:cNvCxnSpPr>
          <p:nvPr/>
        </p:nvCxnSpPr>
        <p:spPr>
          <a:xfrm>
            <a:off x="8756934" y="3812061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31" idx="1"/>
          </p:cNvCxnSpPr>
          <p:nvPr/>
        </p:nvCxnSpPr>
        <p:spPr>
          <a:xfrm>
            <a:off x="6928876" y="5168925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204511" y="50249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>
                <a:solidFill>
                  <a:schemeClr val="tx1"/>
                </a:solidFill>
              </a:rPr>
              <a:t>회원정보 없음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(2/3)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cxnSp>
        <p:nvCxnSpPr>
          <p:cNvPr id="5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1" idx="3"/>
            <a:endCxn id="115" idx="2"/>
          </p:cNvCxnSpPr>
          <p:nvPr/>
        </p:nvCxnSpPr>
        <p:spPr>
          <a:xfrm flipV="1">
            <a:off x="8756934" y="3812061"/>
            <a:ext cx="440014" cy="13568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1792299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949752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5658853"/>
            <a:ext cx="1112636" cy="38323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4350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간편인증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화살표 연결선 14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8" idx="3"/>
            <a:endCxn id="149" idx="1"/>
          </p:cNvCxnSpPr>
          <p:nvPr/>
        </p:nvCxnSpPr>
        <p:spPr>
          <a:xfrm>
            <a:off x="5097742" y="44908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4" idx="1"/>
          </p:cNvCxnSpPr>
          <p:nvPr/>
        </p:nvCxnSpPr>
        <p:spPr>
          <a:xfrm flipV="1">
            <a:off x="5097742" y="3130536"/>
            <a:ext cx="931134" cy="13603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26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사용자 등록 안내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ko-KR" altLang="en-US" sz="600" dirty="0">
                <a:solidFill>
                  <a:prstClr val="black"/>
                </a:solidFill>
              </a:rPr>
              <a:t>모바일 회원가입 불가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en-US" altLang="ko-KR" sz="700" dirty="0">
                <a:solidFill>
                  <a:schemeClr val="tx1"/>
                </a:solidFill>
              </a:rPr>
              <a:t>, </a:t>
            </a:r>
            <a:r>
              <a:rPr lang="ko-KR" altLang="en-US" sz="700" dirty="0">
                <a:solidFill>
                  <a:schemeClr val="tx1"/>
                </a:solidFill>
              </a:rPr>
              <a:t>본인인증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4" idx="3"/>
            <a:endCxn id="42" idx="1"/>
          </p:cNvCxnSpPr>
          <p:nvPr/>
        </p:nvCxnSpPr>
        <p:spPr>
          <a:xfrm>
            <a:off x="6928876" y="3130536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461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 완료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2" idx="2"/>
            <a:endCxn id="46" idx="0"/>
          </p:cNvCxnSpPr>
          <p:nvPr/>
        </p:nvCxnSpPr>
        <p:spPr>
          <a:xfrm>
            <a:off x="8306934" y="327453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18615"/>
            <a:ext cx="180000" cy="180000"/>
            <a:chOff x="5058274" y="2498299"/>
            <a:chExt cx="180000" cy="180000"/>
          </a:xfrm>
        </p:grpSpPr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6" idx="3"/>
            <a:endCxn id="66" idx="2"/>
          </p:cNvCxnSpPr>
          <p:nvPr/>
        </p:nvCxnSpPr>
        <p:spPr>
          <a:xfrm>
            <a:off x="8756934" y="3808615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성공</a:t>
            </a:r>
            <a:r>
              <a:rPr lang="en-US" altLang="ko-KR" sz="800" dirty="0">
                <a:solidFill>
                  <a:schemeClr val="tx1"/>
                </a:solidFill>
              </a:rPr>
              <a:t>,</a:t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83" idx="1"/>
          </p:cNvCxnSpPr>
          <p:nvPr/>
        </p:nvCxnSpPr>
        <p:spPr>
          <a:xfrm flipV="1">
            <a:off x="5097742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66" idx="2"/>
          </p:cNvCxnSpPr>
          <p:nvPr/>
        </p:nvCxnSpPr>
        <p:spPr>
          <a:xfrm>
            <a:off x="6928876" y="2451750"/>
            <a:ext cx="2268072" cy="1356865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(3/3)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2" idx="3"/>
            <a:endCxn id="66" idx="2"/>
          </p:cNvCxnSpPr>
          <p:nvPr/>
        </p:nvCxnSpPr>
        <p:spPr>
          <a:xfrm flipV="1">
            <a:off x="6928876" y="3808615"/>
            <a:ext cx="2268072" cy="678079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248291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</p:spTree>
    <p:extLst>
      <p:ext uri="{BB962C8B-B14F-4D97-AF65-F5344CB8AC3E}">
        <p14:creationId xmlns:p14="http://schemas.microsoft.com/office/powerpoint/2010/main" val="253015089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앱실행스플래시</a:t>
            </a:r>
            <a:r>
              <a:rPr lang="en-US" altLang="ko-KR" sz="1000" dirty="0">
                <a:solidFill>
                  <a:schemeClr val="tx1"/>
                </a:solidFill>
              </a:rPr>
              <a:t>–</a:t>
            </a:r>
            <a:r>
              <a:rPr lang="ko-KR" altLang="en-US" sz="1000" dirty="0">
                <a:solidFill>
                  <a:schemeClr val="tx1"/>
                </a:solidFill>
              </a:rPr>
              <a:t>로고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SplashPage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앱업데이트안내팝업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AppUpdateInfo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앱접근권한동의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앱접근권한동의팝업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앱오류안내팝업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AppErrInfo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앱이용안내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AppSrvcExpln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메인홈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MscrnPage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중요공지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시스템안내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결과목록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IntgSrch_Rslt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햄버거메뉴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MenuPage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사용자 등록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UserRegInfoPage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방식선택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MainLoginPage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알림현황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notiPrstPage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챗봇문의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ChatbotPage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480558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IdPswdLoginPage.tsx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IdRegInfoFndngPage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PswdRegInfoFndngPage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간편인증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SimpleCert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금융인증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FnstCert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공동인증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JntCert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모바일신분증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MobileIdntyCert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</a:rPr>
              <a:t>CertRsltPage.tsx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생체인증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생체인증등록완료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5035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PCQR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PcQRLgnPage.tsx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로그아웃안내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LgoInfo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로그인필요서비스안내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LgnSrvcInfo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310950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기동 시 노출되는 로고 </a:t>
            </a:r>
            <a:r>
              <a:rPr lang="ko-KR" altLang="en-US" dirty="0" err="1"/>
              <a:t>스플래시</a:t>
            </a:r>
            <a:r>
              <a:rPr lang="ko-KR" altLang="en-US" dirty="0"/>
              <a:t> 화면</a:t>
            </a:r>
            <a:endParaRPr lang="en-US" altLang="ko-KR" dirty="0"/>
          </a:p>
          <a:p>
            <a:pPr marL="369887" lvl="1"/>
            <a:r>
              <a:rPr lang="en-US" altLang="ko-KR" dirty="0"/>
              <a:t>1-1. </a:t>
            </a:r>
            <a:r>
              <a:rPr lang="ko-KR" altLang="en-US" dirty="0"/>
              <a:t>앱 실행 로딩 바 표시</a:t>
            </a:r>
            <a:endParaRPr lang="en-US" altLang="ko-KR" dirty="0"/>
          </a:p>
          <a:p>
            <a:pPr marL="369887" lvl="1"/>
            <a:r>
              <a:rPr lang="ko-KR" altLang="en-US" dirty="0"/>
              <a:t>보안 프로그램 로딩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앱실행스플래시</a:t>
            </a:r>
            <a:r>
              <a:rPr lang="en-US" altLang="ko-KR" dirty="0"/>
              <a:t>–</a:t>
            </a:r>
            <a:r>
              <a:rPr lang="ko-KR" altLang="en-US" dirty="0"/>
              <a:t>로고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 시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실행 로고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MUI-MS-01-M01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" name="직사각형 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1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  <p:sp>
          <p:nvSpPr>
            <p:cNvPr id="40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7445734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</a:t>
            </a:r>
            <a:r>
              <a:rPr lang="en-US" altLang="ko-KR" dirty="0"/>
              <a:t>ID, IP, </a:t>
            </a:r>
            <a:r>
              <a:rPr lang="ko-KR" altLang="en-US" dirty="0" err="1"/>
              <a:t>메뉴명</a:t>
            </a:r>
            <a:r>
              <a:rPr lang="en-US" altLang="ko-KR" dirty="0"/>
              <a:t>, OS, </a:t>
            </a:r>
            <a:r>
              <a:rPr lang="ko-KR" altLang="en-US" dirty="0"/>
              <a:t>접속방법</a:t>
            </a:r>
            <a:r>
              <a:rPr lang="en-US" altLang="ko-KR" dirty="0"/>
              <a:t>, </a:t>
            </a:r>
            <a:r>
              <a:rPr lang="ko-KR" altLang="en-US" dirty="0"/>
              <a:t>위치정보 수집</a:t>
            </a:r>
            <a:r>
              <a:rPr lang="en-US" altLang="ko-KR" dirty="0"/>
              <a:t>, </a:t>
            </a:r>
            <a:r>
              <a:rPr lang="ko-KR" altLang="en-US" dirty="0"/>
              <a:t>최근 접속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기능 사용시 사용되는 권한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버튼으로 필수 접근권한 </a:t>
            </a:r>
            <a:r>
              <a:rPr lang="ko-KR" altLang="en-US" dirty="0" err="1"/>
              <a:t>동의처리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 err="1">
                <a:solidFill>
                  <a:srgbClr val="FF0000"/>
                </a:solidFill>
              </a:rPr>
              <a:t>접근권한은</a:t>
            </a:r>
            <a:r>
              <a:rPr lang="ko-KR" altLang="en-US" dirty="0">
                <a:solidFill>
                  <a:srgbClr val="FF0000"/>
                </a:solidFill>
              </a:rPr>
              <a:t> 정책에 따라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ko-KR" altLang="en-US" dirty="0">
                <a:solidFill>
                  <a:srgbClr val="FF0000"/>
                </a:solidFill>
              </a:rPr>
              <a:t>추후 추가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변경될 수 있음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앱접근권한동의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앱에서 사용되는 접근권한 정보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MUI-MS-01-M02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0305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앱 접근권한 안내</a:t>
            </a: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1403619" y="1637051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3122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국방전자조달시스템에서는 다음 권한들을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서비스 시용을 위해 권한을 허용해 주시기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6736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29556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3" name="타원 2"/>
          <p:cNvSpPr/>
          <p:nvPr/>
        </p:nvSpPr>
        <p:spPr>
          <a:xfrm>
            <a:off x="881401" y="29490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29718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21" name="타원 20"/>
          <p:cNvSpPr/>
          <p:nvPr/>
        </p:nvSpPr>
        <p:spPr>
          <a:xfrm>
            <a:off x="881401" y="329060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6296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23" name="타원 22"/>
          <p:cNvSpPr/>
          <p:nvPr/>
        </p:nvSpPr>
        <p:spPr>
          <a:xfrm>
            <a:off x="881401" y="36230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95545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25" name="타원 24"/>
          <p:cNvSpPr/>
          <p:nvPr/>
        </p:nvSpPr>
        <p:spPr>
          <a:xfrm>
            <a:off x="881401" y="394887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38207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466410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28" name="타원 27"/>
          <p:cNvSpPr/>
          <p:nvPr/>
        </p:nvSpPr>
        <p:spPr>
          <a:xfrm>
            <a:off x="881401" y="465752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02307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30" name="타원 29"/>
          <p:cNvSpPr/>
          <p:nvPr/>
        </p:nvSpPr>
        <p:spPr>
          <a:xfrm>
            <a:off x="881401" y="501649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3818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33" name="타원 32"/>
          <p:cNvSpPr/>
          <p:nvPr/>
        </p:nvSpPr>
        <p:spPr>
          <a:xfrm>
            <a:off x="881401" y="53752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1721212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선택 </a:t>
            </a:r>
            <a:r>
              <a:rPr lang="ko-KR" altLang="en-US" sz="700" dirty="0" err="1">
                <a:latin typeface="+mn-ea"/>
              </a:rPr>
              <a:t>접근권한은</a:t>
            </a:r>
            <a:r>
              <a:rPr lang="ko-KR" altLang="en-US" sz="700" dirty="0">
                <a:latin typeface="+mn-ea"/>
              </a:rPr>
              <a:t> 관련 기능 </a:t>
            </a:r>
            <a:r>
              <a:rPr lang="ko-KR" altLang="en-US" sz="700" dirty="0" err="1">
                <a:latin typeface="+mn-ea"/>
              </a:rPr>
              <a:t>이용시</a:t>
            </a:r>
            <a:r>
              <a:rPr lang="ko-KR" altLang="en-US" sz="700" dirty="0">
                <a:latin typeface="+mn-ea"/>
              </a:rPr>
              <a:t> 동의하실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미동의 시에도 해당 </a:t>
            </a:r>
            <a:r>
              <a:rPr lang="ko-KR" altLang="en-US" sz="700" dirty="0" err="1">
                <a:latin typeface="+mn-ea"/>
              </a:rPr>
              <a:t>기능외</a:t>
            </a:r>
            <a:r>
              <a:rPr lang="ko-KR" altLang="en-US" sz="700" dirty="0">
                <a:latin typeface="+mn-ea"/>
              </a:rPr>
              <a:t> 앱 서비스 이용이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휴대폰의 보안설정에서 접근 권한을 변경하실 수 있습니다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6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3939824" y="2446664"/>
            <a:ext cx="2410182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71603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3" name="타원 62"/>
          <p:cNvSpPr/>
          <p:nvPr/>
        </p:nvSpPr>
        <p:spPr>
          <a:xfrm>
            <a:off x="881401" y="570945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50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48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2836" y="25191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0" name="직사각형 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우측 설계에서 </a:t>
              </a:r>
              <a:r>
                <a:rPr lang="ko-KR" altLang="en-US" sz="700" dirty="0" err="1" smtClean="0"/>
                <a:t>반복화면</a:t>
              </a:r>
              <a:r>
                <a:rPr lang="ko-KR" altLang="en-US" sz="700" dirty="0" smtClean="0"/>
                <a:t>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061273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팝업이 뜰 때 배경 </a:t>
            </a:r>
            <a:r>
              <a:rPr lang="en-US" altLang="ko-KR" dirty="0"/>
              <a:t>Dim </a:t>
            </a:r>
            <a:r>
              <a:rPr lang="ko-KR" altLang="en-US" dirty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미동의 한 기능 사용 요청 시 팝업 반복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배경은 접근권한 안내는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각 기능 페이지에서 팝업을 표시함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 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사용하려는 접근권한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취소 시 현재 팝업 닫고 끝내기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허용 시 접근권한 시스템 허용으로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사용하려는 기능 실행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허용 시 </a:t>
            </a:r>
            <a:r>
              <a:rPr lang="en-US" altLang="ko-KR" dirty="0"/>
              <a:t>: </a:t>
            </a:r>
            <a:r>
              <a:rPr lang="ko-KR" altLang="en-US" dirty="0"/>
              <a:t>허용 되었습니다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</a:t>
            </a:r>
            <a:r>
              <a:rPr lang="en-US" altLang="ko-KR" dirty="0"/>
              <a:t>: </a:t>
            </a:r>
            <a:r>
              <a:rPr lang="ko-KR" altLang="en-US" dirty="0"/>
              <a:t>취소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앱접근권한동의팝업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내에서 선택 접근권한 사용이 필요한 경우 팝업 표시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선택 접근권한 사용 시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MUI-MS-01-P03</a:t>
            </a:r>
            <a:endParaRPr lang="ko-KR" altLang="en-US" sz="10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0305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앱 접근권한 안내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403619" y="1637051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231220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국방전자조달시스템에서는 다음 권한들을 사용합니다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 algn="ctr"/>
              <a:r>
                <a:rPr lang="ko-KR" altLang="en-US" sz="700" dirty="0">
                  <a:latin typeface="+mn-ea"/>
                </a:rPr>
                <a:t>서비스 시용을 위해 권한을 허용해 주시기 바랍니다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67363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필수 접근권한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29556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및 앱 기록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앱 상태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버전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확인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앱 접근 메뉴 확인</a:t>
              </a:r>
            </a:p>
          </p:txBody>
        </p:sp>
        <p:sp>
          <p:nvSpPr>
            <p:cNvPr id="3" name="타원 2"/>
            <p:cNvSpPr/>
            <p:nvPr/>
          </p:nvSpPr>
          <p:spPr>
            <a:xfrm>
              <a:off x="881401" y="29490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29718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</a:t>
              </a:r>
              <a:r>
                <a:rPr lang="en-US" altLang="ko-KR" sz="700" b="1" dirty="0">
                  <a:latin typeface="+mn-ea"/>
                </a:rPr>
                <a:t>ID </a:t>
              </a:r>
              <a:r>
                <a:rPr lang="ko-KR" altLang="en-US" sz="700" b="1" dirty="0">
                  <a:latin typeface="+mn-ea"/>
                </a:rPr>
                <a:t>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기기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식별</a:t>
              </a:r>
              <a:r>
                <a:rPr lang="en-US" altLang="ko-KR" sz="700" dirty="0">
                  <a:latin typeface="+mn-ea"/>
                </a:rPr>
                <a:t>, OS </a:t>
              </a:r>
              <a:r>
                <a:rPr lang="ko-KR" altLang="en-US" sz="700" dirty="0">
                  <a:latin typeface="+mn-ea"/>
                </a:rPr>
                <a:t>식별</a:t>
              </a:r>
            </a:p>
          </p:txBody>
        </p:sp>
        <p:sp>
          <p:nvSpPr>
            <p:cNvPr id="21" name="타원 20"/>
            <p:cNvSpPr/>
            <p:nvPr/>
          </p:nvSpPr>
          <p:spPr>
            <a:xfrm>
              <a:off x="881401" y="329060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629610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인터넷 연결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</a:t>
              </a:r>
              <a:r>
                <a:rPr lang="en-US" altLang="ko-KR" sz="700" dirty="0">
                  <a:latin typeface="+mn-ea"/>
                </a:rPr>
                <a:t>IP, </a:t>
              </a:r>
              <a:r>
                <a:rPr lang="ko-KR" altLang="en-US" sz="700" dirty="0">
                  <a:latin typeface="+mn-ea"/>
                </a:rPr>
                <a:t>접속 정보 확인</a:t>
              </a:r>
            </a:p>
          </p:txBody>
        </p:sp>
        <p:sp>
          <p:nvSpPr>
            <p:cNvPr id="23" name="타원 22"/>
            <p:cNvSpPr/>
            <p:nvPr/>
          </p:nvSpPr>
          <p:spPr>
            <a:xfrm>
              <a:off x="881401" y="3623032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95545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위치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위치 정보 확인</a:t>
              </a:r>
            </a:p>
          </p:txBody>
        </p:sp>
        <p:sp>
          <p:nvSpPr>
            <p:cNvPr id="25" name="타원 24"/>
            <p:cNvSpPr/>
            <p:nvPr/>
          </p:nvSpPr>
          <p:spPr>
            <a:xfrm>
              <a:off x="881401" y="394887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4382074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선택 접근권한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4664103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전화 걸기 및 관리</a:t>
              </a:r>
            </a:p>
          </p:txBody>
        </p:sp>
        <p:sp>
          <p:nvSpPr>
            <p:cNvPr id="28" name="타원 27"/>
            <p:cNvSpPr/>
            <p:nvPr/>
          </p:nvSpPr>
          <p:spPr>
            <a:xfrm>
              <a:off x="881401" y="4657525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023077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사진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미디어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파일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이미지 파일첨부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문서 파일첨부</a:t>
              </a:r>
            </a:p>
          </p:txBody>
        </p:sp>
        <p:sp>
          <p:nvSpPr>
            <p:cNvPr id="30" name="타원 29"/>
            <p:cNvSpPr/>
            <p:nvPr/>
          </p:nvSpPr>
          <p:spPr>
            <a:xfrm>
              <a:off x="881401" y="5016499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3818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카메라</a:t>
              </a:r>
              <a:endParaRPr lang="en-US" altLang="ko-KR" sz="700" b="1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PC </a:t>
              </a:r>
              <a:r>
                <a:rPr lang="ko-KR" altLang="en-US" sz="700" dirty="0">
                  <a:latin typeface="+mn-ea"/>
                </a:rPr>
                <a:t>로그인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촬영 파일 등록</a:t>
              </a:r>
            </a:p>
          </p:txBody>
        </p:sp>
        <p:sp>
          <p:nvSpPr>
            <p:cNvPr id="33" name="타원 32"/>
            <p:cNvSpPr/>
            <p:nvPr/>
          </p:nvSpPr>
          <p:spPr>
            <a:xfrm>
              <a:off x="881401" y="53752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71603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알림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신청한 공고 알림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중요 알림 메시지</a:t>
              </a:r>
            </a:p>
          </p:txBody>
        </p:sp>
        <p:sp>
          <p:nvSpPr>
            <p:cNvPr id="63" name="타원 62"/>
            <p:cNvSpPr/>
            <p:nvPr/>
          </p:nvSpPr>
          <p:spPr>
            <a:xfrm>
              <a:off x="881401" y="570945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9424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439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모서리가 둥근 직사각형 4"/>
          <p:cNvSpPr/>
          <p:nvPr/>
        </p:nvSpPr>
        <p:spPr>
          <a:xfrm>
            <a:off x="763707" y="3002600"/>
            <a:ext cx="2579992" cy="1712020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282210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허용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282210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14932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76930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76" name="타원 75"/>
          <p:cNvSpPr/>
          <p:nvPr/>
        </p:nvSpPr>
        <p:spPr>
          <a:xfrm>
            <a:off x="881401" y="376272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8183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해당 기능을 사용하기 위해서는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다음 </a:t>
            </a:r>
            <a:r>
              <a:rPr lang="ko-KR" altLang="en-US" sz="700" dirty="0" err="1">
                <a:latin typeface="+mn-ea"/>
              </a:rPr>
              <a:t>접근권한이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857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1512487" y="5845175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취소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327050" y="5766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9470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8" name="그룹 47"/>
          <p:cNvGrpSpPr/>
          <p:nvPr/>
        </p:nvGrpSpPr>
        <p:grpSpPr>
          <a:xfrm>
            <a:off x="3092535" y="3149329"/>
            <a:ext cx="94010" cy="94010"/>
            <a:chOff x="6812560" y="3297172"/>
            <a:chExt cx="94010" cy="94010"/>
          </a:xfrm>
        </p:grpSpPr>
        <p:cxnSp>
          <p:nvCxnSpPr>
            <p:cNvPr id="49" name="직선 연결선 4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모서리가 둥근 직사각형 54"/>
          <p:cNvSpPr/>
          <p:nvPr/>
        </p:nvSpPr>
        <p:spPr>
          <a:xfrm>
            <a:off x="1512487" y="5571729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62247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허용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4110361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업데이트 필요 시 업데이트 안내 팝업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자동 업데이트가 되지 않는 사용자를 고려하여 앱 기동 시 버전 체크 후 필수 최신 업데이트를 위한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주요 업데이트 사항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설치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설치를 위해 앱스토어</a:t>
            </a:r>
            <a:r>
              <a:rPr lang="en-US" altLang="ko-KR" dirty="0"/>
              <a:t>, </a:t>
            </a:r>
            <a:r>
              <a:rPr lang="ko-KR" altLang="en-US" dirty="0"/>
              <a:t>구글 플레이 </a:t>
            </a:r>
            <a:r>
              <a:rPr lang="en-US" altLang="ko-KR" dirty="0"/>
              <a:t>(</a:t>
            </a:r>
            <a:r>
              <a:rPr lang="ko-KR" altLang="en-US" dirty="0"/>
              <a:t>앱 마켓</a:t>
            </a:r>
            <a:r>
              <a:rPr lang="en-US" altLang="ko-KR" dirty="0"/>
              <a:t>)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앱업데이트안내팝업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실행하는 경우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MUI-MS-01-P04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36515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설치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업데이트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원활한 앱 사용을 위해 최신버전 업데이트가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주요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보안 프로그램 최신화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국방전자조달시스템 업그레이드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2438876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실행을 할 수 없는 경우 사용자에게 안내하기 위한 팝업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오류</a:t>
            </a:r>
            <a:r>
              <a:rPr lang="en-US" altLang="ko-KR" dirty="0"/>
              <a:t>, </a:t>
            </a:r>
            <a:r>
              <a:rPr lang="ko-KR" altLang="en-US" dirty="0"/>
              <a:t>시스템 문제</a:t>
            </a:r>
            <a:r>
              <a:rPr lang="en-US" altLang="ko-KR" dirty="0"/>
              <a:t>, </a:t>
            </a:r>
            <a:r>
              <a:rPr lang="ko-KR" altLang="en-US" dirty="0"/>
              <a:t>네트워크 연결 지연 등으로 앱 구동에 문제가 있는 경우 사용자에게 안내하기 위한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 오류 사유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앱오류안내팝업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실행 시 오류가 발생하여 앱을 실행할 수 없는 경우 노출되는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MUI-MS-01-P05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2305144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실행 오류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다음과 같은 이유로 인하여 앱을 실행할 수 없습니다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서비스 사용에 불편을 드려 죄송합니다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시스템 보안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 보안 업데이트를 진행하고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예정시간</a:t>
            </a:r>
            <a:r>
              <a:rPr lang="en-US" altLang="ko-KR" sz="700" dirty="0">
                <a:latin typeface="+mn-ea"/>
              </a:rPr>
              <a:t>: 2025</a:t>
            </a:r>
            <a:r>
              <a:rPr lang="ko-KR" altLang="en-US" sz="700" dirty="0">
                <a:latin typeface="+mn-ea"/>
              </a:rPr>
              <a:t>년 </a:t>
            </a:r>
            <a:r>
              <a:rPr lang="en-US" altLang="ko-KR" sz="700" dirty="0">
                <a:latin typeface="+mn-ea"/>
              </a:rPr>
              <a:t>03</a:t>
            </a:r>
            <a:r>
              <a:rPr lang="ko-KR" altLang="en-US" sz="700" dirty="0">
                <a:latin typeface="+mn-ea"/>
              </a:rPr>
              <a:t>월 </a:t>
            </a:r>
            <a:r>
              <a:rPr lang="en-US" altLang="ko-KR" sz="700" dirty="0">
                <a:latin typeface="+mn-ea"/>
              </a:rPr>
              <a:t>13</a:t>
            </a:r>
            <a:r>
              <a:rPr lang="ko-KR" altLang="en-US" sz="700" dirty="0">
                <a:latin typeface="+mn-ea"/>
              </a:rPr>
              <a:t>일 </a:t>
            </a:r>
            <a:r>
              <a:rPr lang="en-US" altLang="ko-KR" sz="700" dirty="0">
                <a:latin typeface="+mn-ea"/>
              </a:rPr>
              <a:t>00</a:t>
            </a:r>
            <a:r>
              <a:rPr lang="ko-KR" altLang="en-US" sz="700" dirty="0">
                <a:latin typeface="+mn-ea"/>
              </a:rPr>
              <a:t>시부터 </a:t>
            </a:r>
            <a:r>
              <a:rPr lang="en-US" altLang="ko-KR" sz="700" dirty="0">
                <a:latin typeface="+mn-ea"/>
              </a:rPr>
              <a:t>04</a:t>
            </a:r>
            <a:r>
              <a:rPr lang="ko-KR" altLang="en-US" sz="700" dirty="0">
                <a:latin typeface="+mn-ea"/>
              </a:rPr>
              <a:t>시까지 </a:t>
            </a:r>
            <a:r>
              <a:rPr lang="en-US" altLang="ko-KR" sz="700" dirty="0">
                <a:latin typeface="+mn-ea"/>
              </a:rPr>
              <a:t>(4</a:t>
            </a:r>
            <a:r>
              <a:rPr lang="ko-KR" altLang="en-US" sz="700" dirty="0">
                <a:latin typeface="+mn-ea"/>
              </a:rPr>
              <a:t>시간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9008504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앱 이용에 대한 안내 화면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MUI-MS-01-P06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677959" y="1493927"/>
            <a:ext cx="2712027" cy="4740618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5891925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/>
          </a:bodyPr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로고 영역</a:t>
            </a:r>
            <a:r>
              <a:rPr lang="en-US" altLang="ko-KR" dirty="0"/>
              <a:t>, </a:t>
            </a:r>
            <a:r>
              <a:rPr lang="ko-KR" altLang="en-US" dirty="0"/>
              <a:t>상단 버튼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로고 또는 </a:t>
            </a:r>
            <a:r>
              <a:rPr lang="ko-KR" altLang="en-US" dirty="0" err="1"/>
              <a:t>홈아이콘</a:t>
            </a:r>
            <a:r>
              <a:rPr lang="ko-KR" altLang="en-US" dirty="0"/>
              <a:t> 클릭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아이콘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  &gt; 1. </a:t>
            </a:r>
            <a:r>
              <a:rPr lang="ko-KR" altLang="en-US" dirty="0">
                <a:solidFill>
                  <a:srgbClr val="FF0000"/>
                </a:solidFill>
              </a:rPr>
              <a:t>로그인 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로그인 후 </a:t>
            </a:r>
            <a:r>
              <a:rPr lang="ko-KR" altLang="en-US" dirty="0" smtClean="0">
                <a:solidFill>
                  <a:srgbClr val="FF0000"/>
                </a:solidFill>
              </a:rPr>
              <a:t>로그아웃</a:t>
            </a:r>
            <a:r>
              <a:rPr lang="en-US" altLang="ko-KR" dirty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아이콘 표시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  &gt; 2. </a:t>
            </a:r>
            <a:r>
              <a:rPr lang="ko-KR" altLang="en-US" dirty="0" err="1" smtClean="0">
                <a:solidFill>
                  <a:srgbClr val="FF0000"/>
                </a:solidFill>
              </a:rPr>
              <a:t>알림현황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en-US" altLang="ko-KR" dirty="0">
                <a:solidFill>
                  <a:srgbClr val="FF0000"/>
                </a:solidFill>
              </a:rPr>
              <a:t>(MUI-MS-01-M13)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햄버거 </a:t>
            </a:r>
            <a:r>
              <a:rPr lang="ko-KR" altLang="en-US" dirty="0" smtClean="0"/>
              <a:t>메뉴 </a:t>
            </a:r>
            <a:r>
              <a:rPr lang="en-US" altLang="ko-KR" dirty="0"/>
              <a:t>(MUI-MS-01-M12)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 공고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공고명</a:t>
            </a:r>
            <a:r>
              <a:rPr lang="en-US" altLang="ko-KR" dirty="0"/>
              <a:t>, </a:t>
            </a:r>
            <a:r>
              <a:rPr lang="ko-KR" altLang="en-US" dirty="0" err="1"/>
              <a:t>공고번호와</a:t>
            </a:r>
            <a:r>
              <a:rPr lang="ko-KR" altLang="en-US" dirty="0"/>
              <a:t> 업무 구분으로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입찰공고 화면으로 이동하여 </a:t>
            </a:r>
            <a:r>
              <a:rPr lang="ko-KR" altLang="en-US" dirty="0" err="1"/>
              <a:t>검색필터에</a:t>
            </a:r>
            <a:r>
              <a:rPr lang="ko-KR" altLang="en-US" dirty="0"/>
              <a:t> </a:t>
            </a:r>
            <a:r>
              <a:rPr lang="ko-KR" altLang="en-US" dirty="0" err="1"/>
              <a:t>검색어</a:t>
            </a:r>
            <a:r>
              <a:rPr lang="ko-KR" altLang="en-US" dirty="0"/>
              <a:t> 적용하여 결과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MUI-BD-01-M01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</a:t>
            </a:r>
            <a:r>
              <a:rPr lang="en-US" altLang="ko-KR" dirty="0" smtClean="0"/>
              <a:t>, </a:t>
            </a:r>
            <a:r>
              <a:rPr lang="en-US" altLang="ko-KR" dirty="0"/>
              <a:t>MUI-OP-01-M01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>, </a:t>
            </a:r>
            <a:r>
              <a:rPr lang="en-US" altLang="ko-KR" dirty="0"/>
              <a:t>MUI-BD-01-M01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개찰</a:t>
            </a:r>
            <a:r>
              <a:rPr lang="en-US" altLang="ko-KR" dirty="0" smtClean="0"/>
              <a:t>, </a:t>
            </a:r>
            <a:r>
              <a:rPr lang="en-US" altLang="ko-KR" dirty="0"/>
              <a:t>MUI-BD-08-M01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</a:t>
            </a:r>
            <a:r>
              <a:rPr lang="en-US" altLang="ko-KR" dirty="0" smtClean="0"/>
              <a:t>, </a:t>
            </a:r>
            <a:r>
              <a:rPr lang="en-US" altLang="ko-KR" dirty="0"/>
              <a:t>MUI-CT-01-M01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</a:t>
            </a:r>
            <a:r>
              <a:rPr lang="en-US" altLang="ko-KR" dirty="0" smtClean="0"/>
              <a:t>, </a:t>
            </a:r>
            <a:r>
              <a:rPr lang="en-US" altLang="ko-KR" dirty="0"/>
              <a:t>MUI-CM-04-M06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조달원 등록증</a:t>
            </a:r>
            <a:r>
              <a:rPr lang="en-US" altLang="ko-KR" dirty="0" smtClean="0"/>
              <a:t>(</a:t>
            </a:r>
            <a:r>
              <a:rPr lang="ko-KR" altLang="en-US" dirty="0" smtClean="0"/>
              <a:t>국내</a:t>
            </a:r>
            <a:r>
              <a:rPr lang="en-US" altLang="ko-KR" dirty="0"/>
              <a:t>) MUI-CM-01-M19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사전준비</a:t>
            </a:r>
            <a:r>
              <a:rPr lang="en-US" altLang="ko-KR" dirty="0"/>
              <a:t>, </a:t>
            </a:r>
            <a:r>
              <a:rPr lang="ko-KR" altLang="en-US" dirty="0"/>
              <a:t>국내조달</a:t>
            </a:r>
            <a:r>
              <a:rPr lang="en-US" altLang="ko-KR" dirty="0"/>
              <a:t>, </a:t>
            </a:r>
            <a:r>
              <a:rPr lang="ko-KR" altLang="en-US" dirty="0" err="1"/>
              <a:t>국외조달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가지 항목으로 </a:t>
            </a:r>
            <a:r>
              <a:rPr lang="ko-KR" altLang="en-US" dirty="0" smtClean="0"/>
              <a:t>제공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탭바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주요 사용하는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공지사항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공지사항 최근 </a:t>
            </a:r>
            <a:r>
              <a:rPr lang="en-US" altLang="ko-KR" dirty="0"/>
              <a:t>3</a:t>
            </a:r>
            <a:r>
              <a:rPr lang="ko-KR" altLang="en-US" dirty="0" smtClean="0"/>
              <a:t>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일반공지사항 </a:t>
            </a:r>
            <a:r>
              <a:rPr lang="en-US" altLang="ko-KR" dirty="0" smtClean="0"/>
              <a:t>MUI-CM-04-M01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방위사업청공지사항 </a:t>
            </a:r>
            <a:r>
              <a:rPr lang="en-US" altLang="ko-KR" dirty="0"/>
              <a:t>MUI-CM-04-M21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수요부대별공지사항 </a:t>
            </a:r>
            <a:r>
              <a:rPr lang="en-US" altLang="ko-KR" dirty="0" smtClean="0"/>
              <a:t>MUI-CM-04-M23 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배너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시 </a:t>
            </a:r>
            <a:r>
              <a:rPr lang="ko-KR" altLang="en-US" dirty="0" err="1"/>
              <a:t>플로팅</a:t>
            </a:r>
            <a:r>
              <a:rPr lang="ko-KR" altLang="en-US" dirty="0"/>
              <a:t> </a:t>
            </a:r>
            <a:r>
              <a:rPr lang="en-US" altLang="ko-KR" dirty="0"/>
              <a:t>Top </a:t>
            </a:r>
            <a:r>
              <a:rPr lang="ko-KR" altLang="en-US" dirty="0"/>
              <a:t>이동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푸터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푸터</a:t>
            </a:r>
            <a:r>
              <a:rPr lang="ko-KR" altLang="en-US" dirty="0" smtClean="0"/>
              <a:t> 영역은 표준 설계에 따름</a:t>
            </a:r>
            <a:r>
              <a:rPr lang="en-US" altLang="ko-KR" dirty="0" smtClean="0"/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메인홈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788121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2279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677960" y="5859779"/>
            <a:ext cx="2712027" cy="372519"/>
            <a:chOff x="3788901" y="5859779"/>
            <a:chExt cx="2712027" cy="37251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378890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4466908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144915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81985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타원 69"/>
            <p:cNvSpPr/>
            <p:nvPr/>
          </p:nvSpPr>
          <p:spPr>
            <a:xfrm>
              <a:off x="4028078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2308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홈</a:t>
              </a:r>
            </a:p>
          </p:txBody>
        </p:sp>
        <p:sp>
          <p:nvSpPr>
            <p:cNvPr id="73" name="타원 72"/>
            <p:cNvSpPr/>
            <p:nvPr/>
          </p:nvSpPr>
          <p:spPr>
            <a:xfrm>
              <a:off x="4716846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61076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통합검색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5386873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231103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챗봇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타원 78"/>
            <p:cNvSpPr/>
            <p:nvPr/>
          </p:nvSpPr>
          <p:spPr>
            <a:xfrm>
              <a:off x="6069480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13710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마이</a:t>
              </a:r>
            </a:p>
          </p:txBody>
        </p:sp>
      </p:grpSp>
      <p:sp>
        <p:nvSpPr>
          <p:cNvPr id="81" name="타원 80"/>
          <p:cNvSpPr/>
          <p:nvPr/>
        </p:nvSpPr>
        <p:spPr>
          <a:xfrm>
            <a:off x="244612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8317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31535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43038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41019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9927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바로가기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3900722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1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타원 96"/>
          <p:cNvSpPr/>
          <p:nvPr/>
        </p:nvSpPr>
        <p:spPr>
          <a:xfrm>
            <a:off x="5558730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587248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618624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3796969" y="1974039"/>
            <a:ext cx="2712027" cy="2638270"/>
            <a:chOff x="3796969" y="4333445"/>
            <a:chExt cx="2712027" cy="263827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35694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방위사업청</a:t>
              </a:r>
              <a:r>
                <a:rPr lang="ko-KR" altLang="en-US" sz="900" b="1" dirty="0">
                  <a:latin typeface="+mn-ea"/>
                </a:rPr>
                <a:t> 공지사항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585115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433344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585115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749883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749883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91465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91465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253933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 smtClean="0">
                  <a:latin typeface="+mn-ea"/>
                </a:rPr>
                <a:t>수요부대별</a:t>
              </a:r>
              <a:r>
                <a:rPr lang="ko-KR" altLang="en-US" sz="900" b="1" dirty="0" smtClean="0">
                  <a:latin typeface="+mn-ea"/>
                </a:rPr>
                <a:t> </a:t>
              </a:r>
              <a:r>
                <a:rPr lang="ko-KR" altLang="en-US" sz="900" b="1" dirty="0">
                  <a:latin typeface="+mn-ea"/>
                </a:rPr>
                <a:t>공지사항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482102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523043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482102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64687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64687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811637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811637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17757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일반 </a:t>
              </a:r>
              <a:r>
                <a:rPr lang="ko-KR" altLang="en-US" sz="900" b="1" dirty="0" smtClean="0">
                  <a:latin typeface="+mn-ea"/>
                </a:rPr>
                <a:t>공지사항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40574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6154071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40574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51429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04755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9717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56418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56418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728948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728948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7" name="모서리가 둥근 직사각형 146"/>
          <p:cNvSpPr/>
          <p:nvPr/>
        </p:nvSpPr>
        <p:spPr>
          <a:xfrm>
            <a:off x="4002170" y="4676843"/>
            <a:ext cx="2285490" cy="1277072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배너 영역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3788901" y="6018448"/>
            <a:ext cx="2712027" cy="218999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Footer</a:t>
            </a:r>
            <a:endParaRPr lang="ko-KR" altLang="en-US" dirty="0"/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59089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19937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4969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60427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91228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1508351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2125474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2742597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8653" y="45047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079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사용 안내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373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사전준비안내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47364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49034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1525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국내조달안내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53516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55186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그룹 128"/>
          <p:cNvGrpSpPr/>
          <p:nvPr/>
        </p:nvGrpSpPr>
        <p:grpSpPr>
          <a:xfrm rot="16200000">
            <a:off x="3143548" y="4560840"/>
            <a:ext cx="94010" cy="47005"/>
            <a:chOff x="6812560" y="3297172"/>
            <a:chExt cx="94010" cy="47005"/>
          </a:xfrm>
        </p:grpSpPr>
        <p:cxnSp>
          <p:nvCxnSpPr>
            <p:cNvPr id="133" name="직선 연결선 1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5" name="그룹 134"/>
          <p:cNvGrpSpPr/>
          <p:nvPr/>
        </p:nvGrpSpPr>
        <p:grpSpPr>
          <a:xfrm rot="16200000">
            <a:off x="3143549" y="5181230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7" name="그룹 126"/>
          <p:cNvGrpSpPr/>
          <p:nvPr/>
        </p:nvGrpSpPr>
        <p:grpSpPr>
          <a:xfrm>
            <a:off x="767702" y="2113949"/>
            <a:ext cx="2527420" cy="477995"/>
            <a:chOff x="786326" y="2270279"/>
            <a:chExt cx="2527420" cy="47799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타원 138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58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공고명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5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공고번호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42" name="타원 14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4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8" name="직사각형 127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1" name="직사각형 16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2026-06-23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2" name="직사각형 16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추가됨에 따라 모바일 </a:t>
              </a: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없다는 문구를 삭제함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grpSp>
        <p:nvGrpSpPr>
          <p:cNvPr id="163" name="그룹 162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165" name="직사각형 16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6" name="직사각형 16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en-US" altLang="ko-KR" sz="700" dirty="0" smtClean="0"/>
                <a:t>, </a:t>
              </a:r>
              <a:r>
                <a:rPr lang="ko-KR" altLang="en-US" sz="700" dirty="0" err="1" smtClean="0"/>
                <a:t>탭바</a:t>
              </a:r>
              <a:r>
                <a:rPr lang="ko-KR" altLang="en-US" sz="700" dirty="0" smtClean="0"/>
                <a:t> 노출 버튼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76699854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60321" y="72319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43CCF2E-4211-2C23-5344-1DCBE7D0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3" y="82501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877125-CEBE-DA88-38E6-DC2C1B0A09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4773906"/>
              </p:ext>
            </p:extLst>
          </p:nvPr>
        </p:nvGraphicFramePr>
        <p:xfrm>
          <a:off x="450088" y="1015825"/>
          <a:ext cx="8995591" cy="291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94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5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국방전자조달시스템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360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국방전자조달시스템내의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공고를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ko-KR" sz="800" dirty="0">
                          <a:effectLst/>
                        </a:rPr>
                        <a:t>UI-BD-01-M01(</a:t>
                      </a:r>
                      <a:r>
                        <a:rPr lang="ko-KR" altLang="en-US" sz="800" dirty="0">
                          <a:effectLst/>
                        </a:rPr>
                        <a:t>입찰공고통합목록</a:t>
                      </a: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입찰공고</a:t>
                      </a:r>
                      <a:r>
                        <a:rPr lang="en-US" altLang="ko-KR" sz="800" dirty="0">
                          <a:effectLst/>
                        </a:rPr>
                        <a:t>) </a:t>
                      </a:r>
                      <a:r>
                        <a:rPr lang="ko-KR" altLang="en-US" sz="800" dirty="0" smtClean="0">
                          <a:effectLst/>
                        </a:rPr>
                        <a:t>이동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사전준비안내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scwin.btn_bfhdReady_onclick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3390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국내조달안내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scwin.btn_dmstPrcmGd_onclick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UI-CM-04-M48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7605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scwin.btn_ovsPrcmGd_onclick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0474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방위사업청공지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scwin.btn_bizNotice_onclick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방위사업청공지사항의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UI-CM-04-M06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26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수요부대공지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scwin.btn_sbsdNotice_onclick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수요부대별공지사항의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87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일반공지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scwin.btn_gnrlNotice_onclick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일반공지사항의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/>
                        <a:t>UI-CM-04-M02 </a:t>
                      </a:r>
                      <a:r>
                        <a:rPr lang="ko-KR" altLang="en-US" sz="80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98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국방관련사이트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scwin.btn_ndSite_onclick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국방관련사이트 목록을 보여주고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견본신청안내 사이트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URL :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국방군수통합정보체계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hlinkClick r:id="rId2"/>
                        </a:rPr>
                        <a:t>http://delis.mnd.go.kr:8080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도 포함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143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5699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제목</a:t>
            </a:r>
            <a:r>
              <a:rPr lang="en-US" altLang="ko-KR" dirty="0"/>
              <a:t>, </a:t>
            </a:r>
            <a:r>
              <a:rPr lang="ko-KR" altLang="en-US" dirty="0"/>
              <a:t>내용을 타이틀 하단에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닫기 </a:t>
            </a:r>
            <a:r>
              <a:rPr lang="en-US" altLang="ko-KR" dirty="0"/>
              <a:t>(X) </a:t>
            </a:r>
            <a:r>
              <a:rPr lang="ko-KR" altLang="en-US" dirty="0"/>
              <a:t>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메인화면에</a:t>
            </a:r>
            <a:r>
              <a:rPr lang="ko-KR" altLang="en-US" dirty="0"/>
              <a:t> 노출되는 </a:t>
            </a:r>
            <a:r>
              <a:rPr lang="en-US" altLang="ko-KR" dirty="0"/>
              <a:t>[</a:t>
            </a:r>
            <a:r>
              <a:rPr lang="ko-KR" altLang="en-US" dirty="0"/>
              <a:t>중요 공지사항</a:t>
            </a:r>
            <a:r>
              <a:rPr lang="en-US" altLang="ko-KR" dirty="0"/>
              <a:t>], [</a:t>
            </a:r>
            <a:r>
              <a:rPr lang="ko-KR" altLang="en-US" dirty="0"/>
              <a:t>시스템 안내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최신 </a:t>
            </a:r>
            <a:r>
              <a:rPr lang="en-US" altLang="ko-KR" dirty="0"/>
              <a:t>1</a:t>
            </a:r>
            <a:r>
              <a:rPr lang="ko-KR" altLang="en-US" dirty="0"/>
              <a:t>종만 노출됨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더 이상 안보기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노출된 중요 공지사항은 더 이상 표시되지 않음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더보기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표시되고 있는</a:t>
            </a:r>
            <a:r>
              <a:rPr lang="en-US" altLang="ko-KR" dirty="0"/>
              <a:t> </a:t>
            </a:r>
            <a:r>
              <a:rPr lang="ko-KR" altLang="en-US" dirty="0"/>
              <a:t>공지사항의 </a:t>
            </a:r>
            <a:r>
              <a:rPr lang="ko-KR" altLang="en-US" dirty="0" err="1"/>
              <a:t>게시글</a:t>
            </a:r>
            <a:r>
              <a:rPr lang="ko-KR" altLang="en-US" dirty="0"/>
              <a:t> 상세 화면으로 이동 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중요 공지사항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팝업은 동일한 팝업에서 내용이 변경되어 표시됨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레이어 </a:t>
            </a:r>
            <a:r>
              <a:rPr lang="en-US" altLang="ko-KR" dirty="0">
                <a:solidFill>
                  <a:srgbClr val="FF0000"/>
                </a:solidFill>
              </a:rPr>
              <a:t>z-index</a:t>
            </a:r>
            <a:r>
              <a:rPr lang="ko-KR" altLang="en-US" dirty="0">
                <a:solidFill>
                  <a:srgbClr val="FF0000"/>
                </a:solidFill>
              </a:rPr>
              <a:t>는 시스템 안내 팝업이 상단이 되며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최신 등록된 중요 공지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종만을 표시함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중요공지</a:t>
            </a:r>
            <a:r>
              <a:rPr lang="en-US" altLang="ko-KR" dirty="0"/>
              <a:t>,</a:t>
            </a:r>
            <a:r>
              <a:rPr lang="ko-KR" altLang="en-US" dirty="0" err="1"/>
              <a:t>시스템안내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화면에서 노출되는 중요 공지사항과 시스템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/>
              <a:t>중요 공지사항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MUI-MS-01-P08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743977" y="2831066"/>
            <a:ext cx="2579992" cy="2064095"/>
            <a:chOff x="758359" y="2831066"/>
            <a:chExt cx="2579992" cy="2064095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58359" y="2831066"/>
              <a:ext cx="2579992" cy="2064095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101197" y="4453050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더보기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76053" y="4453050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 이상 안보기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6053" y="297779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중요 공지사항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5783" y="3210304"/>
              <a:ext cx="2305144" cy="10926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800" b="1" dirty="0">
                  <a:latin typeface="+mn-ea"/>
                </a:rPr>
                <a:t>제목을 표시합니다</a:t>
              </a:r>
              <a:r>
                <a:rPr lang="en-US" altLang="ko-KR" sz="800" b="1" dirty="0">
                  <a:latin typeface="+mn-ea"/>
                </a:rPr>
                <a:t>. </a:t>
              </a:r>
              <a:r>
                <a:rPr lang="ko-KR" altLang="en-US" sz="800" b="1" dirty="0">
                  <a:latin typeface="+mn-ea"/>
                </a:rPr>
                <a:t>제목은 볼드로 </a:t>
              </a:r>
              <a:r>
                <a:rPr lang="ko-KR" altLang="en-US" sz="800" b="1" dirty="0" err="1">
                  <a:latin typeface="+mn-ea"/>
                </a:rPr>
                <a:t>한줄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ko-KR" altLang="en-US" sz="800" b="1" dirty="0" err="1">
                  <a:latin typeface="+mn-ea"/>
                </a:rPr>
                <a:t>표시합</a:t>
              </a:r>
              <a:r>
                <a:rPr lang="en-US" altLang="ko-KR" sz="800" b="1" dirty="0">
                  <a:latin typeface="+mn-ea"/>
                </a:rPr>
                <a:t>…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공지사항 중에서 중요 공지로 등록한 최신 한가지를 노출합니다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중요 공지사항 </a:t>
              </a:r>
              <a:r>
                <a:rPr lang="ko-KR" altLang="en-US" sz="700" dirty="0" err="1">
                  <a:latin typeface="+mn-ea"/>
                </a:rPr>
                <a:t>메인홈에서</a:t>
              </a:r>
              <a:r>
                <a:rPr lang="ko-KR" altLang="en-US" sz="700" dirty="0">
                  <a:latin typeface="+mn-ea"/>
                </a:rPr>
                <a:t> 노출되는 것은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종입니다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표시되는 텍스트의 길이는 최대 </a:t>
              </a:r>
              <a:r>
                <a:rPr lang="en-US" altLang="ko-KR" sz="700" dirty="0">
                  <a:latin typeface="+mn-ea"/>
                </a:rPr>
                <a:t>5</a:t>
              </a:r>
              <a:r>
                <a:rPr lang="ko-KR" altLang="en-US" sz="700" dirty="0">
                  <a:latin typeface="+mn-ea"/>
                </a:rPr>
                <a:t>줄로 표시하고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이후 내용이 더 있는 경우는 </a:t>
              </a:r>
              <a:r>
                <a:rPr lang="en-US" altLang="ko-KR" sz="700" dirty="0">
                  <a:latin typeface="+mn-ea"/>
                </a:rPr>
                <a:t>… (</a:t>
              </a:r>
              <a:r>
                <a:rPr lang="ko-KR" altLang="en-US" sz="700" dirty="0" err="1">
                  <a:latin typeface="+mn-ea"/>
                </a:rPr>
                <a:t>말줄임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표시를 통해서 내용을 </a:t>
              </a:r>
              <a:r>
                <a:rPr lang="ko-KR" altLang="en-US" sz="700" dirty="0" err="1">
                  <a:latin typeface="+mn-ea"/>
                </a:rPr>
                <a:t>숨김처리</a:t>
              </a:r>
              <a:r>
                <a:rPr lang="ko-KR" altLang="en-US" sz="700" dirty="0">
                  <a:latin typeface="+mn-ea"/>
                </a:rPr>
                <a:t> 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</p:txBody>
        </p:sp>
        <p:grpSp>
          <p:nvGrpSpPr>
            <p:cNvPr id="8" name="그룹 7"/>
            <p:cNvGrpSpPr/>
            <p:nvPr/>
          </p:nvGrpSpPr>
          <p:grpSpPr>
            <a:xfrm>
              <a:off x="3090975" y="2966155"/>
              <a:ext cx="94010" cy="94010"/>
              <a:chOff x="6812560" y="3297172"/>
              <a:chExt cx="94010" cy="94010"/>
            </a:xfrm>
          </p:grpSpPr>
          <p:cxnSp>
            <p:nvCxnSpPr>
              <p:cNvPr id="5" name="직선 연결선 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9583" y="4362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66626" y="44230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2294" y="2792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634603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</a:t>
            </a:r>
            <a:r>
              <a:rPr lang="en-US" altLang="ko-KR" dirty="0"/>
              <a:t> </a:t>
            </a:r>
            <a:r>
              <a:rPr lang="ko-KR" altLang="en-US" dirty="0"/>
              <a:t>페이지로 이동하여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통합검색 솔루션 </a:t>
            </a:r>
            <a:r>
              <a:rPr lang="en-US" altLang="ko-KR" dirty="0" err="1" smtClean="0">
                <a:solidFill>
                  <a:srgbClr val="FF0000"/>
                </a:solidFill>
              </a:rPr>
              <a:t>konan</a:t>
            </a:r>
            <a:r>
              <a:rPr lang="en-US" altLang="ko-KR" dirty="0" smtClean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활용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 페이지 진입 시 검색 영역으로 포커스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자주 찾는 서비스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자주 사용하는 메뉴를 정의하여 </a:t>
            </a:r>
            <a:r>
              <a:rPr lang="en-US" altLang="ko-KR" dirty="0"/>
              <a:t>10</a:t>
            </a:r>
            <a:r>
              <a:rPr lang="ko-KR" altLang="en-US" dirty="0"/>
              <a:t>개까지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입력한 최근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en-US" altLang="ko-KR" dirty="0"/>
              <a:t>10</a:t>
            </a:r>
            <a:r>
              <a:rPr lang="ko-KR" altLang="en-US" dirty="0"/>
              <a:t>개까지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검색한 이력이 없는 경우 아래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최근 검색어가 없습니다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삭제로 검색 이력 삭제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페이지 진입 및 통합 검색 페이지 노출 정보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모서리가 둥근 직사각형 7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394390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4178760"/>
            <a:ext cx="2464791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방위사업청</a:t>
            </a:r>
            <a:r>
              <a:rPr lang="ko-KR" altLang="en-US" sz="700" dirty="0">
                <a:latin typeface="+mn-ea"/>
              </a:rPr>
              <a:t> 물품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국방부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민원서류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인증서 가져오기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241301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자주 찾는 서비스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2647865"/>
            <a:ext cx="246479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입찰 공고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대금청구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세금계산서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사전의향서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959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23431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3876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43647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3" name="그룹 112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4" name="직선 연결선 11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직선 연결선 11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그룹 115"/>
          <p:cNvGrpSpPr/>
          <p:nvPr/>
        </p:nvGrpSpPr>
        <p:grpSpPr>
          <a:xfrm>
            <a:off x="2518401" y="3968731"/>
            <a:ext cx="58075" cy="58074"/>
            <a:chOff x="6812560" y="3297172"/>
            <a:chExt cx="94010" cy="94010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1134" y="3943907"/>
            <a:ext cx="71420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삭제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4349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0573074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페이지에서 </a:t>
            </a:r>
            <a:r>
              <a:rPr lang="ko-KR" altLang="en-US" dirty="0" err="1"/>
              <a:t>검색어</a:t>
            </a:r>
            <a:r>
              <a:rPr lang="ko-KR" altLang="en-US" dirty="0"/>
              <a:t> 입력 </a:t>
            </a:r>
            <a:r>
              <a:rPr lang="ko-KR" altLang="en-US" dirty="0" err="1"/>
              <a:t>검색어</a:t>
            </a:r>
            <a:r>
              <a:rPr lang="ko-KR" altLang="en-US" dirty="0"/>
              <a:t> 입력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검색어</a:t>
            </a:r>
            <a:r>
              <a:rPr lang="ko-KR" altLang="en-US" dirty="0"/>
              <a:t> 초기화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검색어가 포함된 </a:t>
            </a:r>
            <a:r>
              <a:rPr lang="ko-KR" altLang="en-US" dirty="0" err="1"/>
              <a:t>메뉴명</a:t>
            </a:r>
            <a:r>
              <a:rPr lang="ko-KR" altLang="en-US" dirty="0"/>
              <a:t> 자동완성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</a:t>
            </a:r>
            <a:r>
              <a:rPr lang="ko-KR" altLang="en-US" dirty="0"/>
              <a:t>개 항목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자동완성 기능 </a:t>
            </a:r>
            <a:r>
              <a:rPr lang="ko-KR" altLang="en-US" dirty="0" err="1"/>
              <a:t>토글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ON/OFF</a:t>
            </a:r>
            <a:r>
              <a:rPr lang="ko-KR" altLang="en-US" dirty="0"/>
              <a:t>에 따라</a:t>
            </a:r>
            <a:r>
              <a:rPr lang="en-US" altLang="ko-KR" dirty="0"/>
              <a:t> </a:t>
            </a:r>
            <a:r>
              <a:rPr lang="ko-KR" altLang="en-US" dirty="0"/>
              <a:t>자동완성 표시</a:t>
            </a:r>
            <a:r>
              <a:rPr lang="en-US" altLang="ko-KR" dirty="0"/>
              <a:t>, </a:t>
            </a:r>
            <a:r>
              <a:rPr lang="ko-KR" altLang="en-US" dirty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3-1. ON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자동완성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3-2. OFF 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안내 메시지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검색어에</a:t>
            </a:r>
            <a:r>
              <a:rPr lang="ko-KR" altLang="en-US" dirty="0"/>
              <a:t> 따라 현재 앱 서비스에서 관련된 서비스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</a:t>
            </a:r>
            <a:r>
              <a:rPr lang="ko-KR" altLang="en-US" dirty="0" err="1"/>
              <a:t>검색어</a:t>
            </a:r>
            <a:r>
              <a:rPr lang="ko-KR" altLang="en-US" dirty="0"/>
              <a:t> 입력 및 자동완성 기능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1" name="그룹 70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모서리가 둥근 직사각형 9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08236" y="2362612"/>
            <a:ext cx="222671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서제출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관심</a:t>
            </a: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참가등록반려신청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룹 111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962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20" name="타원 119"/>
          <p:cNvSpPr/>
          <p:nvPr/>
        </p:nvSpPr>
        <p:spPr>
          <a:xfrm>
            <a:off x="770156" y="241857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70156" y="262363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70156" y="2832411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70156" y="3053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0156" y="3264527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70156" y="347378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10622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557484" y="3898193"/>
            <a:ext cx="299722" cy="167734"/>
            <a:chOff x="1358901" y="4039836"/>
            <a:chExt cx="299722" cy="167734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타원 130"/>
            <p:cNvSpPr/>
            <p:nvPr/>
          </p:nvSpPr>
          <p:spPr>
            <a:xfrm>
              <a:off x="150075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2" name="그룹 171"/>
          <p:cNvGrpSpPr/>
          <p:nvPr/>
        </p:nvGrpSpPr>
        <p:grpSpPr>
          <a:xfrm>
            <a:off x="6258711" y="1657580"/>
            <a:ext cx="94010" cy="94010"/>
            <a:chOff x="6812560" y="3297172"/>
            <a:chExt cx="94010" cy="94010"/>
          </a:xfrm>
        </p:grpSpPr>
        <p:cxnSp>
          <p:nvCxnSpPr>
            <p:cNvPr id="196" name="직선 연결선 19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7" name="직선 연결선 19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3" name="모서리가 둥근 직사각형 172"/>
          <p:cNvSpPr/>
          <p:nvPr/>
        </p:nvSpPr>
        <p:spPr>
          <a:xfrm>
            <a:off x="3890157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6159700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0157" y="2832411"/>
            <a:ext cx="252742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자동완성 기능이 꺼져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보다 빠른 검색을 위해 자동완성 기능을 켜주세요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7" name="타원 176"/>
          <p:cNvSpPr/>
          <p:nvPr/>
        </p:nvSpPr>
        <p:spPr>
          <a:xfrm>
            <a:off x="5950124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8" name="그룹 177"/>
          <p:cNvGrpSpPr/>
          <p:nvPr/>
        </p:nvGrpSpPr>
        <p:grpSpPr>
          <a:xfrm>
            <a:off x="5994029" y="2029333"/>
            <a:ext cx="58075" cy="58074"/>
            <a:chOff x="6812560" y="3297172"/>
            <a:chExt cx="94010" cy="94010"/>
          </a:xfrm>
        </p:grpSpPr>
        <p:cxnSp>
          <p:nvCxnSpPr>
            <p:cNvPr id="194" name="직선 연결선 19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5" name="직선 연결선 19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7402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28395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87" name="그룹 186"/>
          <p:cNvGrpSpPr/>
          <p:nvPr/>
        </p:nvGrpSpPr>
        <p:grpSpPr>
          <a:xfrm>
            <a:off x="5675257" y="3898193"/>
            <a:ext cx="299722" cy="167734"/>
            <a:chOff x="1358901" y="4039836"/>
            <a:chExt cx="299722" cy="167734"/>
          </a:xfrm>
        </p:grpSpPr>
        <p:sp>
          <p:nvSpPr>
            <p:cNvPr id="192" name="모서리가 둥근 직사각형 191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/>
            <p:cNvSpPr/>
            <p:nvPr/>
          </p:nvSpPr>
          <p:spPr>
            <a:xfrm>
              <a:off x="138010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28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5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0623" y="36564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90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98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2621807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199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5702555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243807872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그룹 105"/>
          <p:cNvGrpSpPr/>
          <p:nvPr/>
        </p:nvGrpSpPr>
        <p:grpSpPr>
          <a:xfrm>
            <a:off x="781461" y="3588685"/>
            <a:ext cx="2473257" cy="1073394"/>
            <a:chOff x="781461" y="1974079"/>
            <a:chExt cx="2473257" cy="1073394"/>
          </a:xfrm>
        </p:grpSpPr>
        <p:sp>
          <p:nvSpPr>
            <p:cNvPr id="10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158410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긴급공고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LDG0097-1</a:t>
              </a:r>
            </a:p>
            <a:p>
              <a:r>
                <a:rPr lang="ko-KR" altLang="en-US" sz="900" b="1" dirty="0" err="1"/>
                <a:t>특수작전용대물타격무인향</a:t>
              </a:r>
              <a:endParaRPr lang="ko-KR" altLang="en-US" sz="900" b="1" dirty="0"/>
            </a:p>
          </p:txBody>
        </p:sp>
        <p:sp>
          <p:nvSpPr>
            <p:cNvPr id="10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2493475"/>
              <a:ext cx="79669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공고일자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입찰참가신청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ko-KR" altLang="en-US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일참서제출</a:t>
              </a:r>
              <a:r>
                <a:rPr lang="ko-KR" altLang="en-US" sz="600" dirty="0">
                  <a:latin typeface="+mn-ea"/>
                </a:rPr>
                <a:t>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개찰일시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2478086"/>
              <a:ext cx="609141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2025-12-23 17:00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10:30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781461" y="19740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075655" y="19740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경쟁입찰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 기준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필터 설정 우측 </a:t>
            </a:r>
            <a:r>
              <a:rPr lang="en-US" altLang="ko-KR" dirty="0"/>
              <a:t>5</a:t>
            </a:r>
            <a:r>
              <a:rPr lang="ko-KR" altLang="en-US" dirty="0"/>
              <a:t>번 화면 참조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정렬 기준 기본값</a:t>
            </a:r>
            <a:r>
              <a:rPr lang="en-US" altLang="ko-KR" dirty="0"/>
              <a:t>: </a:t>
            </a:r>
            <a:r>
              <a:rPr lang="ko-KR" altLang="en-US" dirty="0" err="1"/>
              <a:t>관련도순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</a:t>
            </a:r>
            <a:r>
              <a:rPr lang="ko-KR" altLang="en-US" dirty="0" err="1"/>
              <a:t>구분자를</a:t>
            </a:r>
            <a:r>
              <a:rPr lang="ko-KR" altLang="en-US" dirty="0"/>
              <a:t> 통한 컨텐츠 분리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검색된 내역 중 </a:t>
            </a:r>
            <a:r>
              <a:rPr lang="ko-KR" altLang="en-US" dirty="0" err="1"/>
              <a:t>검색어와</a:t>
            </a:r>
            <a:r>
              <a:rPr lang="ko-KR" altLang="en-US" dirty="0"/>
              <a:t> 일치되는 결과 하이라이트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검색에서는 </a:t>
            </a:r>
            <a:r>
              <a:rPr lang="ko-KR" altLang="en-US" dirty="0" err="1"/>
              <a:t>검색대상별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개씩의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 표시 하단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검색 대상만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설정 화면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대상 체크박스로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체크</a:t>
            </a:r>
            <a:r>
              <a:rPr lang="en-US" altLang="ko-KR" dirty="0"/>
              <a:t>, </a:t>
            </a:r>
            <a:r>
              <a:rPr lang="ko-KR" altLang="en-US" dirty="0"/>
              <a:t>체크해제 시 </a:t>
            </a:r>
            <a:r>
              <a:rPr lang="en-US" altLang="ko-KR" dirty="0"/>
              <a:t>4</a:t>
            </a:r>
            <a:r>
              <a:rPr lang="ko-KR" altLang="en-US" dirty="0"/>
              <a:t>번 영역에 즉시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내 </a:t>
            </a:r>
            <a:r>
              <a:rPr lang="ko-KR" altLang="en-US" dirty="0" err="1"/>
              <a:t>재검색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포함 </a:t>
            </a:r>
            <a:r>
              <a:rPr lang="en-US" altLang="ko-KR" dirty="0"/>
              <a:t>+ </a:t>
            </a:r>
            <a:r>
              <a:rPr lang="ko-KR" altLang="en-US" dirty="0"/>
              <a:t>추가 </a:t>
            </a:r>
            <a:r>
              <a:rPr lang="ko-KR" altLang="en-US" dirty="0" err="1"/>
              <a:t>검색어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포함 </a:t>
            </a:r>
            <a:r>
              <a:rPr lang="en-US" altLang="ko-KR" dirty="0" smtClean="0"/>
              <a:t>- </a:t>
            </a:r>
            <a:r>
              <a:rPr lang="ko-KR" altLang="en-US" dirty="0"/>
              <a:t>입력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검색하여 </a:t>
            </a:r>
            <a:r>
              <a:rPr lang="ko-KR" altLang="en-US" dirty="0" err="1" smtClean="0"/>
              <a:t>제외처리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</a:t>
            </a:r>
            <a:r>
              <a:rPr lang="en-US" altLang="ko-KR" dirty="0"/>
              <a:t>-</a:t>
            </a:r>
            <a:r>
              <a:rPr lang="ko-KR" altLang="en-US" dirty="0" err="1"/>
              <a:t>결과목록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결과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 </a:t>
            </a:r>
            <a:r>
              <a:rPr lang="en-US" altLang="ko-KR" dirty="0"/>
              <a:t>– </a:t>
            </a:r>
            <a:r>
              <a:rPr lang="ko-KR" altLang="en-US" dirty="0"/>
              <a:t>결과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MUI-MS-01-M10</a:t>
            </a:r>
            <a:endParaRPr lang="ko-KR" altLang="en-US" sz="1000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타원 75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205466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검색대상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312278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적용된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‘</a:t>
            </a:r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’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검색 결과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모서리가 둥근 직사각형 50"/>
          <p:cNvSpPr/>
          <p:nvPr/>
        </p:nvSpPr>
        <p:spPr>
          <a:xfrm>
            <a:off x="77499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304453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통합검색</a:t>
            </a:r>
          </a:p>
        </p:txBody>
      </p:sp>
      <p:sp>
        <p:nvSpPr>
          <p:cNvPr id="55" name="타원 54"/>
          <p:cNvSpPr/>
          <p:nvPr/>
        </p:nvSpPr>
        <p:spPr>
          <a:xfrm>
            <a:off x="283496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룹 55"/>
          <p:cNvGrpSpPr/>
          <p:nvPr/>
        </p:nvGrpSpPr>
        <p:grpSpPr>
          <a:xfrm>
            <a:off x="2878866" y="2029333"/>
            <a:ext cx="58075" cy="58074"/>
            <a:chOff x="6812560" y="3297172"/>
            <a:chExt cx="94010" cy="94010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223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물품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3241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67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2889245"/>
            <a:ext cx="36739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63" name="타원 62"/>
          <p:cNvSpPr/>
          <p:nvPr/>
        </p:nvSpPr>
        <p:spPr>
          <a:xfrm>
            <a:off x="783686" y="292059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8924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정렬 기준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89245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관련도순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43548" y="2991068"/>
            <a:ext cx="94010" cy="47005"/>
            <a:chOff x="6812560" y="3297172"/>
            <a:chExt cx="94010" cy="47005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2475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입찰공고 </a:t>
            </a:r>
            <a:r>
              <a:rPr lang="en-US" altLang="ko-KR" sz="700" b="1" dirty="0">
                <a:latin typeface="+mn-ea"/>
              </a:rPr>
              <a:t>- 533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84011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개찰결과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- 27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2284818"/>
            <a:ext cx="2305144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개찰결과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낙찰자 안내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계약정보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사전규격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전자서고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892504" y="2351130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/>
          <p:cNvSpPr/>
          <p:nvPr/>
        </p:nvSpPr>
        <p:spPr>
          <a:xfrm>
            <a:off x="3892504" y="256835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룹 121"/>
          <p:cNvGrpSpPr/>
          <p:nvPr/>
        </p:nvGrpSpPr>
        <p:grpSpPr>
          <a:xfrm>
            <a:off x="6261284" y="2152350"/>
            <a:ext cx="91438" cy="45719"/>
            <a:chOff x="6812560" y="3297172"/>
            <a:chExt cx="94010" cy="47005"/>
          </a:xfrm>
        </p:grpSpPr>
        <p:cxnSp>
          <p:nvCxnSpPr>
            <p:cNvPr id="123" name="직선 연결선 1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8" name="직사각형 137"/>
          <p:cNvSpPr/>
          <p:nvPr/>
        </p:nvSpPr>
        <p:spPr>
          <a:xfrm>
            <a:off x="3892504" y="276544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3892504" y="298010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/>
          <p:cNvSpPr/>
          <p:nvPr/>
        </p:nvSpPr>
        <p:spPr>
          <a:xfrm>
            <a:off x="3892504" y="319207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3833106" y="230126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3833106" y="252337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3833106" y="2727088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218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446958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결과 내 </a:t>
            </a:r>
            <a:r>
              <a:rPr lang="ko-KR" altLang="en-US" sz="700" b="1" dirty="0" err="1">
                <a:latin typeface="+mn-ea"/>
              </a:rPr>
              <a:t>재검색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6261284" y="4567270"/>
            <a:ext cx="91438" cy="45719"/>
            <a:chOff x="6812560" y="3297172"/>
            <a:chExt cx="94010" cy="47005"/>
          </a:xfrm>
        </p:grpSpPr>
        <p:cxnSp>
          <p:nvCxnSpPr>
            <p:cNvPr id="155" name="직선 연결선 15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4720611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포함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제외</a:t>
            </a:r>
          </a:p>
        </p:txBody>
      </p:sp>
      <p:sp>
        <p:nvSpPr>
          <p:cNvPr id="158" name="타원 157"/>
          <p:cNvSpPr/>
          <p:nvPr/>
        </p:nvSpPr>
        <p:spPr>
          <a:xfrm>
            <a:off x="3892504" y="4777247"/>
            <a:ext cx="107950" cy="10795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3892504" y="4997807"/>
            <a:ext cx="107950" cy="10795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3888037" y="5340590"/>
            <a:ext cx="2527420" cy="285425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9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0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418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40505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endParaRPr kumimoji="1" lang="en-US" sz="1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0" name="타원 17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81" name="직사각형 180"/>
          <p:cNvSpPr/>
          <p:nvPr/>
        </p:nvSpPr>
        <p:spPr>
          <a:xfrm>
            <a:off x="3892504" y="340685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/>
          <p:cNvSpPr/>
          <p:nvPr/>
        </p:nvSpPr>
        <p:spPr>
          <a:xfrm>
            <a:off x="3892504" y="361882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44812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8314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8279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61143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3004764" y="3104689"/>
            <a:ext cx="776938" cy="1131139"/>
            <a:chOff x="3206014" y="3104689"/>
            <a:chExt cx="776938" cy="1131139"/>
          </a:xfrm>
        </p:grpSpPr>
        <p:sp>
          <p:nvSpPr>
            <p:cNvPr id="97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206014" y="3448043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206014" y="3104689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관련도순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9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264401" y="3448043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관련도순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xtBox 227">
              <a:extLst>
                <a:ext uri="{FF2B5EF4-FFF2-40B4-BE49-F238E27FC236}">
                  <a16:creationId xmlns:a16="http://schemas.microsoft.com/office/drawing/2014/main" id="{16FE1925-95A9-0AB2-6154-E506938CFD04}"/>
                </a:ext>
              </a:extLst>
            </p:cNvPr>
            <p:cNvSpPr txBox="1"/>
            <p:nvPr/>
          </p:nvSpPr>
          <p:spPr>
            <a:xfrm>
              <a:off x="3264401" y="3939461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>
                  <a:solidFill>
                    <a:prstClr val="black"/>
                  </a:solidFill>
                </a:rPr>
                <a:t>인기순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103" name="TextBox 230">
              <a:extLst>
                <a:ext uri="{FF2B5EF4-FFF2-40B4-BE49-F238E27FC236}">
                  <a16:creationId xmlns:a16="http://schemas.microsoft.com/office/drawing/2014/main" id="{DC4EA8A9-095A-0AC6-FEBF-364DA2336F3D}"/>
                </a:ext>
              </a:extLst>
            </p:cNvPr>
            <p:cNvSpPr txBox="1"/>
            <p:nvPr/>
          </p:nvSpPr>
          <p:spPr>
            <a:xfrm>
              <a:off x="3264401" y="3693752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 err="1">
                  <a:solidFill>
                    <a:prstClr val="black"/>
                  </a:solidFill>
                </a:rPr>
                <a:t>최신순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3786101" y="3252864"/>
              <a:ext cx="94010" cy="47005"/>
              <a:chOff x="661571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7" name="직선 연결선 11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" name="그룹 1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4621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모서리가 둥근 직사각형 110"/>
          <p:cNvSpPr/>
          <p:nvPr/>
        </p:nvSpPr>
        <p:spPr>
          <a:xfrm>
            <a:off x="1064111" y="2307300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1064111" y="2656028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솔루션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솔루션 화면 참고용 설계 내용이며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솔루션에서 제공되는 화면을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채팅 </a:t>
            </a:r>
            <a:r>
              <a:rPr lang="ko-KR" altLang="en-US" dirty="0"/>
              <a:t>메시지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입력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챗봇문의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MUI-MS-01-M11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774994" y="23327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챗봇</a:t>
            </a:r>
            <a:r>
              <a:rPr lang="ko-KR" altLang="en-US" sz="800" dirty="0">
                <a:latin typeface="+mn-ea"/>
              </a:rPr>
              <a:t> 문의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4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3" name="타원 112"/>
          <p:cNvSpPr/>
          <p:nvPr/>
        </p:nvSpPr>
        <p:spPr>
          <a:xfrm>
            <a:off x="3099089" y="265585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1064111" y="3234118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1064111" y="3582846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119" name="타원 118"/>
          <p:cNvSpPr/>
          <p:nvPr/>
        </p:nvSpPr>
        <p:spPr>
          <a:xfrm>
            <a:off x="774994" y="32596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3099089" y="35826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608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모서리가 둥근 직사각형 125"/>
          <p:cNvSpPr/>
          <p:nvPr/>
        </p:nvSpPr>
        <p:spPr>
          <a:xfrm>
            <a:off x="774994" y="4219387"/>
            <a:ext cx="217942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842727" y="4219387"/>
            <a:ext cx="398489" cy="23148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보내기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1930479"/>
            <a:ext cx="76863" cy="292489"/>
            <a:chOff x="3750067" y="4683795"/>
            <a:chExt cx="76863" cy="292489"/>
          </a:xfrm>
        </p:grpSpPr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2" name="타원 1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3" name="타원 1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3" name="타원 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4166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707680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햄버거 메뉴 닫기</a:t>
            </a:r>
            <a:r>
              <a:rPr lang="en-US" altLang="ko-KR" dirty="0"/>
              <a:t>, </a:t>
            </a:r>
            <a:r>
              <a:rPr lang="ko-KR" altLang="en-US" dirty="0"/>
              <a:t>설정 등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정보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로그인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사용자 정보</a:t>
            </a:r>
            <a:r>
              <a:rPr lang="en-US" altLang="ko-KR" dirty="0"/>
              <a:t>, </a:t>
            </a:r>
            <a:r>
              <a:rPr lang="ko-KR" altLang="en-US" dirty="0"/>
              <a:t>최근 로그인 </a:t>
            </a:r>
            <a:r>
              <a:rPr lang="ko-KR" altLang="en-US" dirty="0" smtClean="0"/>
              <a:t>시간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바로가기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>, </a:t>
            </a:r>
            <a:r>
              <a:rPr lang="en-US" altLang="ko-KR" dirty="0"/>
              <a:t>MUI-CM-06-M01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챗봇상담</a:t>
            </a:r>
            <a:r>
              <a:rPr lang="en-US" altLang="ko-KR" dirty="0" smtClean="0"/>
              <a:t>, </a:t>
            </a:r>
            <a:r>
              <a:rPr lang="en-US" altLang="ko-KR" dirty="0"/>
              <a:t>MUI-MS-01-M11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인증센터</a:t>
            </a:r>
            <a:r>
              <a:rPr lang="en-US" altLang="ko-KR" dirty="0" smtClean="0"/>
              <a:t>, </a:t>
            </a:r>
            <a:r>
              <a:rPr lang="en-US" altLang="ko-KR" dirty="0"/>
              <a:t>MUI-CM-04-M13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앱설정</a:t>
            </a:r>
            <a:r>
              <a:rPr lang="ko-KR" altLang="en-US" dirty="0" smtClean="0"/>
              <a:t> </a:t>
            </a:r>
            <a:r>
              <a:rPr lang="en-US" altLang="ko-KR" dirty="0"/>
              <a:t>MUI-MS-02-M01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메뉴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검색 </a:t>
            </a:r>
            <a:r>
              <a:rPr lang="ko-KR" altLang="en-US" dirty="0" err="1"/>
              <a:t>메뉴명</a:t>
            </a:r>
            <a:r>
              <a:rPr lang="ko-KR" altLang="en-US" dirty="0"/>
              <a:t> </a:t>
            </a:r>
            <a:r>
              <a:rPr lang="en-US" altLang="ko-KR" dirty="0" smtClean="0"/>
              <a:t>like </a:t>
            </a:r>
            <a:r>
              <a:rPr lang="ko-KR" altLang="en-US" dirty="0" smtClean="0"/>
              <a:t>값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전체 메뉴 목록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사이트맵</a:t>
            </a:r>
            <a:r>
              <a:rPr lang="ko-KR" altLang="en-US" dirty="0" smtClean="0"/>
              <a:t> 참조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햄버거메뉴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메뉴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햄버거 메뉴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MUI-MS-01-M12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6526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로그인 하기 </a:t>
            </a:r>
            <a:r>
              <a:rPr lang="en-US" altLang="ko-KR" sz="900" b="1" dirty="0">
                <a:latin typeface="+mn-ea"/>
              </a:rPr>
              <a:t>&gt;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" name="타원 80"/>
          <p:cNvSpPr/>
          <p:nvPr/>
        </p:nvSpPr>
        <p:spPr>
          <a:xfrm>
            <a:off x="87336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조달계획</a:t>
            </a: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1578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435692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4523936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281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91228" y="502721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91227" y="519422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10340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7403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8" name="그룹 137"/>
          <p:cNvGrpSpPr/>
          <p:nvPr/>
        </p:nvGrpSpPr>
        <p:grpSpPr>
          <a:xfrm flipV="1">
            <a:off x="3124233" y="3580677"/>
            <a:ext cx="94010" cy="47005"/>
            <a:chOff x="6812560" y="3297172"/>
            <a:chExt cx="94010" cy="47005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1" name="그룹 140"/>
          <p:cNvGrpSpPr/>
          <p:nvPr/>
        </p:nvGrpSpPr>
        <p:grpSpPr>
          <a:xfrm flipV="1">
            <a:off x="3124233" y="4195891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7" name="직선 연결선 15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58" name="그룹 157"/>
          <p:cNvGrpSpPr/>
          <p:nvPr/>
        </p:nvGrpSpPr>
        <p:grpSpPr>
          <a:xfrm flipV="1">
            <a:off x="3124233" y="4866176"/>
            <a:ext cx="94010" cy="47005"/>
            <a:chOff x="6812560" y="3297172"/>
            <a:chExt cx="94010" cy="47005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50165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91228" y="5700741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891227" y="5867750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41385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8" name="그룹 167"/>
          <p:cNvGrpSpPr/>
          <p:nvPr/>
        </p:nvGrpSpPr>
        <p:grpSpPr>
          <a:xfrm flipV="1">
            <a:off x="3124233" y="5539705"/>
            <a:ext cx="94010" cy="47005"/>
            <a:chOff x="6812560" y="3297172"/>
            <a:chExt cx="94010" cy="47005"/>
          </a:xfrm>
        </p:grpSpPr>
        <p:cxnSp>
          <p:nvCxnSpPr>
            <p:cNvPr id="169" name="직선 연결선 1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0" name="직선 연결선 1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0647"/>
            <a:ext cx="76863" cy="292489"/>
            <a:chOff x="3750067" y="4683795"/>
            <a:chExt cx="76863" cy="292489"/>
          </a:xfrm>
        </p:grpSpPr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1" name="타원 1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4" name="타원 1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83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/>
          <p:cNvSpPr/>
          <p:nvPr/>
        </p:nvSpPr>
        <p:spPr>
          <a:xfrm>
            <a:off x="7061636" y="6372000"/>
            <a:ext cx="2373964" cy="10344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감리 추가 사항 </a:t>
            </a:r>
            <a:r>
              <a:rPr lang="en-US" altLang="ko-KR" sz="800" dirty="0"/>
              <a:t>2026-04-08</a:t>
            </a:r>
            <a:endParaRPr lang="ko-KR" altLang="en-US" sz="8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/>
          <p:cNvSpPr/>
          <p:nvPr/>
        </p:nvSpPr>
        <p:spPr>
          <a:xfrm>
            <a:off x="399874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88526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>
            <a:off x="6199021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33803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7210" y="3651953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모서리가 둥근 직사각형 66"/>
          <p:cNvSpPr/>
          <p:nvPr/>
        </p:nvSpPr>
        <p:spPr>
          <a:xfrm>
            <a:off x="4016606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633729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모서리가 둥근 직사각형 69"/>
          <p:cNvSpPr/>
          <p:nvPr/>
        </p:nvSpPr>
        <p:spPr>
          <a:xfrm>
            <a:off x="5250852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5867975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480808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71024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16606" y="390933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모서리가 둥근 직사각형 74"/>
          <p:cNvSpPr/>
          <p:nvPr/>
        </p:nvSpPr>
        <p:spPr>
          <a:xfrm>
            <a:off x="4016605" y="407634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 flipV="1">
            <a:off x="6249611" y="3748296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8359" y="4766936"/>
            <a:ext cx="76863" cy="292489"/>
            <a:chOff x="3750067" y="4683795"/>
            <a:chExt cx="76863" cy="292489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34612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로그인</a:t>
            </a:r>
            <a:r>
              <a:rPr lang="en-US" altLang="ko-KR" sz="700" dirty="0">
                <a:latin typeface="+mn-ea"/>
              </a:rPr>
              <a:t> 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010033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err="1" smtClean="0">
                <a:latin typeface="+mn-ea"/>
              </a:rPr>
              <a:t>업체명</a:t>
            </a:r>
            <a:r>
              <a:rPr lang="en-US" altLang="ko-KR" sz="900" b="1" dirty="0" smtClean="0">
                <a:latin typeface="+mn-ea"/>
              </a:rPr>
              <a:t>]</a:t>
            </a:r>
            <a:endParaRPr lang="en-US" altLang="ko-KR" sz="900" b="1" dirty="0">
              <a:latin typeface="+mn-ea"/>
            </a:endParaRPr>
          </a:p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smtClean="0">
                <a:latin typeface="+mn-ea"/>
              </a:rPr>
              <a:t>사용자명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님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4023916" y="3028973"/>
            <a:ext cx="2255663" cy="306146"/>
            <a:chOff x="3982951" y="3679873"/>
            <a:chExt cx="2255663" cy="306146"/>
          </a:xfrm>
        </p:grpSpPr>
        <p:sp>
          <p:nvSpPr>
            <p:cNvPr id="113" name="모서리가 둥근 직사각형 11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입찰</a:t>
              </a: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906142" y="2861354"/>
            <a:ext cx="2255663" cy="306146"/>
            <a:chOff x="3982951" y="3679873"/>
            <a:chExt cx="2255663" cy="306146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메뉴명</a:t>
              </a:r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검색</a:t>
              </a:r>
            </a:p>
          </p:txBody>
        </p:sp>
      </p:grpSp>
      <p:sp>
        <p:nvSpPr>
          <p:cNvPr id="120" name="타원 119"/>
          <p:cNvSpPr/>
          <p:nvPr/>
        </p:nvSpPr>
        <p:spPr>
          <a:xfrm>
            <a:off x="2932305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6053940" y="3109506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5853385" y="3138180"/>
            <a:ext cx="87736" cy="8773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5784406" y="3090771"/>
            <a:ext cx="2311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X</a:t>
            </a:r>
            <a:endParaRPr lang="ko-KR" altLang="en-US" sz="600" dirty="0"/>
          </a:p>
        </p:txBody>
      </p:sp>
      <p:grpSp>
        <p:nvGrpSpPr>
          <p:cNvPr id="92" name="그룹 9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3" name="직사각형 9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업체명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사용자명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줄 표시로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019422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알림 현황에 진입한 이후 이탈하면 미확인 알림 카운트를 초기화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미확인된 사항은 미확인 레이블 처리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말머리</a:t>
            </a:r>
            <a:r>
              <a:rPr lang="en-US" altLang="ko-KR" dirty="0" smtClean="0"/>
              <a:t>, </a:t>
            </a:r>
            <a:r>
              <a:rPr lang="ko-KR" altLang="en-US" dirty="0" smtClean="0"/>
              <a:t>라벨</a:t>
            </a:r>
            <a:r>
              <a:rPr lang="en-US" altLang="ko-KR" dirty="0" smtClean="0"/>
              <a:t>, </a:t>
            </a:r>
            <a:r>
              <a:rPr lang="ko-KR" altLang="en-US" dirty="0" err="1"/>
              <a:t>뱃</a:t>
            </a:r>
            <a:r>
              <a:rPr lang="ko-KR" altLang="en-US" dirty="0" err="1" smtClean="0"/>
              <a:t>지</a:t>
            </a:r>
            <a:r>
              <a:rPr lang="ko-KR" altLang="en-US" dirty="0" smtClean="0"/>
              <a:t> 등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확인한 내역은 별도 표시 없음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딥링크를</a:t>
            </a:r>
            <a:r>
              <a:rPr lang="ko-KR" altLang="en-US" dirty="0"/>
              <a:t> 통해 해당 내역으로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알림현황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푸시 알림 현황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알림현황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알림현황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34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3825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미확인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 smtClean="0">
                <a:latin typeface="+mn-ea"/>
              </a:rPr>
              <a:t>조달계획이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891228" y="2137348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5347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미확인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smtClean="0">
                <a:latin typeface="+mn-ea"/>
              </a:rPr>
              <a:t>입찰참가 </a:t>
            </a:r>
            <a:r>
              <a:rPr lang="ko-KR" altLang="en-US" sz="800" dirty="0">
                <a:latin typeface="+mn-ea"/>
              </a:rPr>
              <a:t>신청 결과가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91228" y="275256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2375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계약이 완료되었습니다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891228" y="342284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49903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13596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9728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 수정 내역이 처리되었습니다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891228" y="409637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0949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71973"/>
            <a:ext cx="76863" cy="292489"/>
            <a:chOff x="3750067" y="4683795"/>
            <a:chExt cx="76863" cy="292489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339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66354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0327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29991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미확인 말머리 추가</a:t>
              </a:r>
              <a:endParaRPr lang="en-US" altLang="ko-KR" sz="700" dirty="0"/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77" name="직사각형 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뒤로가기로</a:t>
              </a:r>
              <a:r>
                <a:rPr lang="ko-KR" altLang="en-US" sz="700" dirty="0" smtClean="0"/>
                <a:t> 변경</a:t>
              </a:r>
              <a:r>
                <a:rPr lang="en-US" altLang="ko-KR" sz="700" dirty="0" smtClean="0"/>
                <a:t>,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페이지 타이틀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5906658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62490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687263"/>
            <a:ext cx="23265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dl_notiPrstList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73693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48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518654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9710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알림현황</a:t>
                      </a:r>
                      <a:r>
                        <a:rPr lang="ko-KR" altLang="en-US" sz="800" dirty="0">
                          <a:latin typeface="+mn-ea"/>
                        </a:rPr>
                        <a:t> 순번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563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53138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trsmrTelno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9817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368093"/>
              </p:ext>
            </p:extLst>
          </p:nvPr>
        </p:nvGraphicFramePr>
        <p:xfrm>
          <a:off x="453000" y="5217275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81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13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7455B0C-C2EF-1A1B-A18C-7249DC06C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51006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0FCB8FA-BCFF-84BA-1962-4E7A7E23CC6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38614CC-8BAB-700E-CBE4-C125849D2AB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12C71723-0E82-1006-498A-95EEC4909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18143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팝업 타이틀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하드코딩</a:t>
            </a:r>
            <a:r>
              <a:rPr lang="ko-KR" altLang="en-US" dirty="0" smtClean="0"/>
              <a:t> 메시지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</a:t>
            </a:r>
            <a:r>
              <a:rPr lang="ko-KR" altLang="en-US" dirty="0" err="1" smtClean="0"/>
              <a:t>팝업창</a:t>
            </a:r>
            <a:r>
              <a:rPr lang="ko-KR" altLang="en-US" dirty="0" smtClean="0"/>
              <a:t> 닫기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아이디를 통해 로그인한 사용자에게 </a:t>
            </a:r>
            <a:r>
              <a:rPr lang="ko-KR" altLang="en-US" dirty="0" err="1" smtClean="0"/>
              <a:t>통합계정을</a:t>
            </a:r>
            <a:r>
              <a:rPr lang="ko-KR" altLang="en-US" dirty="0" smtClean="0"/>
              <a:t> 안내하는 팝업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err="1" smtClean="0"/>
              <a:t>메인홈</a:t>
            </a:r>
            <a:r>
              <a:rPr lang="ko-KR" altLang="en-US" dirty="0" smtClean="0"/>
              <a:t>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MUI-CM-03-P21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83887" y="4365159"/>
            <a:ext cx="1602658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통합 로그인 계정 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584792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 로그인 계정 등록 안내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8863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국방전자조달시스템에서 통합 로그인 계정을 도입합니다</a:t>
            </a:r>
            <a:r>
              <a:rPr lang="en-US" altLang="ko-KR" sz="800" dirty="0" smtClean="0">
                <a:latin typeface="+mn-ea"/>
              </a:rPr>
              <a:t>.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120000"/>
              </a:lnSpc>
            </a:pPr>
            <a:endParaRPr lang="en-US" altLang="ko-KR" sz="800" dirty="0" smtClean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기존 아이디로 로그인하신 </a:t>
            </a:r>
            <a:r>
              <a:rPr lang="ko-KR" altLang="en-US" sz="800" dirty="0" err="1" smtClean="0">
                <a:latin typeface="+mn-ea"/>
              </a:rPr>
              <a:t>조달업체</a:t>
            </a:r>
            <a:r>
              <a:rPr lang="ko-KR" altLang="en-US" sz="800" dirty="0" smtClean="0">
                <a:latin typeface="+mn-ea"/>
              </a:rPr>
              <a:t> 사용자께서는 원활한 서비스 사용을 위해서 통합 로그인 계정을 새로 등록해 주시길 바랍니다</a:t>
            </a:r>
            <a:r>
              <a:rPr lang="en-US" altLang="ko-KR" sz="800" dirty="0" smtClean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524382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2" name="그룹 3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8" name="직사각형 3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23239710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 아이디로 로그인 했을 시 통합 계정으로 등록하는 화면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뒤로 이동 시 메인 화면으로 이동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주민등록번호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- 13</a:t>
            </a:r>
            <a:r>
              <a:rPr lang="ko-KR" altLang="en-US" sz="700" dirty="0" smtClean="0"/>
              <a:t>자리 중간 하이픈 자동 삽입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숫자 입력만 가능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버튼 클릭 시 </a:t>
            </a:r>
            <a:r>
              <a:rPr lang="en-US" altLang="ko-KR" sz="700" dirty="0" smtClean="0"/>
              <a:t>Nice </a:t>
            </a:r>
            <a:r>
              <a:rPr lang="ko-KR" altLang="en-US" sz="700" dirty="0" smtClean="0"/>
              <a:t>본인인증 솔루션 호출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본인 인증 실패 시 토스트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err="1" smtClean="0"/>
              <a:t>본인인증에</a:t>
            </a:r>
            <a:r>
              <a:rPr lang="ko-KR" altLang="en-US" sz="700" dirty="0" smtClean="0"/>
              <a:t> 실패했습니다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성공 시 </a:t>
            </a:r>
            <a:r>
              <a:rPr lang="en-US" altLang="ko-KR" sz="700" dirty="0" smtClean="0"/>
              <a:t>5</a:t>
            </a:r>
            <a:r>
              <a:rPr lang="ko-KR" altLang="en-US" sz="700" dirty="0" smtClean="0"/>
              <a:t>번 항목 참조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기존에 사용하던 업체 및 사용자 아이디 표시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본인인증 성공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메시지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주민등록번호 수정 불가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하단 통합 계정 아이디 입력 폼 추가 노출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아이디 중복 체크 유효성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미입력</a:t>
            </a:r>
            <a:r>
              <a:rPr lang="ko-KR" altLang="en-US" sz="700" dirty="0" smtClean="0"/>
              <a:t>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통합 계정 아이디를 입력해주세요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중복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이미 사용중인 계정입니다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사용 가능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사용이 가능합니다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비밀번호 확인 유효성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상기 입력 비밀번호와 같을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메시지 없음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입력 불가 특수문자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입력 불가 특수문자를 제외하고 비밀번호를 입력해주세요</a:t>
            </a:r>
            <a:r>
              <a:rPr lang="en-US" altLang="ko-KR" sz="700" dirty="0" smtClean="0"/>
              <a:t>..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비밀번호 패턴 불일치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9~16</a:t>
            </a:r>
            <a:r>
              <a:rPr lang="ko-KR" altLang="en-US" sz="700" dirty="0" smtClean="0"/>
              <a:t>자 숫자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영문</a:t>
            </a:r>
            <a:r>
              <a:rPr lang="en-US" altLang="ko-KR" sz="700" dirty="0" smtClean="0"/>
              <a:t> </a:t>
            </a:r>
            <a:r>
              <a:rPr lang="ko-KR" altLang="en-US" sz="700" dirty="0" smtClean="0"/>
              <a:t>소문자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특수문자 조합으로 입력해주세요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메인으로</a:t>
            </a:r>
            <a:r>
              <a:rPr lang="ko-KR" altLang="en-US" sz="700" dirty="0" smtClean="0"/>
              <a:t> 이동하고 팝업 메시지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통합 계정으로 새로 로그인해주세요</a:t>
            </a:r>
            <a:r>
              <a:rPr lang="en-US" altLang="ko-KR" sz="700" dirty="0" smtClean="0"/>
              <a:t>. (</a:t>
            </a:r>
            <a:r>
              <a:rPr lang="ko-KR" altLang="en-US" sz="700" dirty="0" smtClean="0"/>
              <a:t>취소</a:t>
            </a:r>
            <a:r>
              <a:rPr lang="en-US" altLang="ko-KR" sz="700" dirty="0" smtClean="0"/>
              <a:t>/</a:t>
            </a:r>
            <a:r>
              <a:rPr lang="ko-KR" altLang="en-US" sz="700" dirty="0" smtClean="0"/>
              <a:t>확인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버튼 하단에 도움말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도움말 하단 기존 사용자 아이디 목록 표시</a:t>
            </a:r>
            <a:endParaRPr lang="ko-KR" altLang="en-US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아이디로 로그인 한 경우 통합 아이디로 변경하도록 아이디 및 비밀번호를 </a:t>
            </a:r>
            <a:r>
              <a:rPr lang="ko-KR" altLang="en-US" dirty="0"/>
              <a:t>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err="1"/>
              <a:t>통합로그인계정등록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</a:t>
            </a:r>
            <a:endParaRPr lang="ko-KR" altLang="en-US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그룹 57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타원 60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</a:t>
            </a:r>
            <a:r>
              <a:rPr lang="ko-KR" altLang="en-US" sz="700" dirty="0" smtClean="0">
                <a:latin typeface="+mn-ea"/>
              </a:rPr>
              <a:t>아이디가 필요합니다</a:t>
            </a:r>
            <a:r>
              <a:rPr lang="en-US" altLang="ko-KR" sz="700" dirty="0" smtClean="0">
                <a:latin typeface="+mn-ea"/>
              </a:rPr>
              <a:t>.</a:t>
            </a:r>
            <a:r>
              <a:rPr lang="ko-KR" altLang="en-US" sz="700" dirty="0" smtClean="0">
                <a:latin typeface="+mn-ea"/>
              </a:rPr>
              <a:t> 통합 아이디를 등록하기 위해 본인인증을 해주세요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" name="그룹 80"/>
          <p:cNvGrpSpPr/>
          <p:nvPr/>
        </p:nvGrpSpPr>
        <p:grpSpPr>
          <a:xfrm>
            <a:off x="903580" y="3984685"/>
            <a:ext cx="2255663" cy="306146"/>
            <a:chOff x="3982951" y="3679873"/>
            <a:chExt cx="2255663" cy="306146"/>
          </a:xfrm>
        </p:grpSpPr>
        <p:sp>
          <p:nvSpPr>
            <p:cNvPr id="82" name="모서리가 둥근 직사각형 8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본인인증하기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87" name="그룹 86"/>
          <p:cNvGrpSpPr/>
          <p:nvPr/>
        </p:nvGrpSpPr>
        <p:grpSpPr>
          <a:xfrm>
            <a:off x="903581" y="2752065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>
            <a:off x="903581" y="3345730"/>
            <a:ext cx="2255663" cy="306146"/>
            <a:chOff x="3982951" y="3679873"/>
            <a:chExt cx="2255663" cy="306146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주민등록번호를  입력하세요</a:t>
              </a:r>
            </a:p>
          </p:txBody>
        </p: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8353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37922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통합 계정 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4022396" y="3939395"/>
            <a:ext cx="2255663" cy="306146"/>
            <a:chOff x="3982951" y="3679873"/>
            <a:chExt cx="2255663" cy="306146"/>
          </a:xfrm>
        </p:grpSpPr>
        <p:sp>
          <p:nvSpPr>
            <p:cNvPr id="97" name="모서리가 둥근 직사각형 9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4022396" y="4626464"/>
            <a:ext cx="2255663" cy="306146"/>
            <a:chOff x="3982951" y="3679873"/>
            <a:chExt cx="2255663" cy="306146"/>
          </a:xfrm>
        </p:grpSpPr>
        <p:sp>
          <p:nvSpPr>
            <p:cNvPr id="101" name="모서리가 둥근 직사각형 10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48752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04" name="그룹 103"/>
          <p:cNvGrpSpPr/>
          <p:nvPr/>
        </p:nvGrpSpPr>
        <p:grpSpPr>
          <a:xfrm>
            <a:off x="4022395" y="5854974"/>
            <a:ext cx="2255663" cy="306146"/>
            <a:chOff x="3982951" y="3679873"/>
            <a:chExt cx="2255663" cy="306146"/>
          </a:xfrm>
        </p:grpSpPr>
        <p:sp>
          <p:nvSpPr>
            <p:cNvPr id="105" name="모서리가 둥근 직사각형 10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통합 아이디 등록하기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277203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25235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116" name="타원 115"/>
          <p:cNvSpPr/>
          <p:nvPr/>
        </p:nvSpPr>
        <p:spPr>
          <a:xfrm>
            <a:off x="3974491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227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아이디와 비밀번호를 </a:t>
            </a:r>
            <a:r>
              <a:rPr lang="ko-KR" altLang="en-US" sz="700" dirty="0" smtClean="0">
                <a:latin typeface="+mn-ea"/>
              </a:rPr>
              <a:t>등록해주세요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9" name="그룹 118"/>
          <p:cNvGrpSpPr/>
          <p:nvPr/>
        </p:nvGrpSpPr>
        <p:grpSpPr>
          <a:xfrm>
            <a:off x="4023916" y="2752065"/>
            <a:ext cx="2255663" cy="306146"/>
            <a:chOff x="3982951" y="3679873"/>
            <a:chExt cx="2255663" cy="306146"/>
          </a:xfrm>
        </p:grpSpPr>
        <p:sp>
          <p:nvSpPr>
            <p:cNvPr id="120" name="모서리가 둥근 직사각형 11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4023916" y="3345730"/>
            <a:ext cx="2255663" cy="306146"/>
            <a:chOff x="3982951" y="3679873"/>
            <a:chExt cx="2255663" cy="306146"/>
          </a:xfrm>
        </p:grpSpPr>
        <p:sp>
          <p:nvSpPr>
            <p:cNvPr id="124" name="모서리가 둥근 직사각형 12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latin typeface="+mn-ea"/>
                </a:rPr>
                <a:t>123456-7******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27" name="그룹 126"/>
          <p:cNvGrpSpPr/>
          <p:nvPr/>
        </p:nvGrpSpPr>
        <p:grpSpPr>
          <a:xfrm>
            <a:off x="4022396" y="5258804"/>
            <a:ext cx="2255663" cy="306146"/>
            <a:chOff x="3982951" y="3679873"/>
            <a:chExt cx="2255663" cy="306146"/>
          </a:xfrm>
        </p:grpSpPr>
        <p:sp>
          <p:nvSpPr>
            <p:cNvPr id="128" name="모서리가 둥근 직사각형 12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1198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60480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32" name="그룹 131"/>
          <p:cNvGrpSpPr/>
          <p:nvPr/>
        </p:nvGrpSpPr>
        <p:grpSpPr>
          <a:xfrm>
            <a:off x="5723978" y="3939395"/>
            <a:ext cx="554080" cy="306146"/>
            <a:chOff x="3982951" y="3679873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solidFill>
                    <a:schemeClr val="bg1"/>
                  </a:solidFill>
                  <a:latin typeface="+mn-ea"/>
                </a:rPr>
                <a:t>중복체크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304798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714770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404182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user123456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814154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user234567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52996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기존 사용자 아이디</a:t>
            </a:r>
            <a:r>
              <a:rPr lang="en-US" altLang="ko-KR" sz="800" b="1" dirty="0" smtClean="0">
                <a:latin typeface="+mn-ea"/>
              </a:rPr>
              <a:t> </a:t>
            </a:r>
            <a:r>
              <a:rPr lang="ko-KR" altLang="en-US" sz="800" b="1" dirty="0" smtClean="0">
                <a:latin typeface="+mn-ea"/>
              </a:rPr>
              <a:t>목록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52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0409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업체에서 등록</a:t>
            </a:r>
            <a:r>
              <a:rPr lang="en-US" altLang="ko-KR" sz="700" dirty="0" smtClean="0">
                <a:latin typeface="+mn-ea"/>
              </a:rPr>
              <a:t>, </a:t>
            </a:r>
            <a:r>
              <a:rPr lang="ko-KR" altLang="en-US" sz="700" dirty="0" smtClean="0">
                <a:latin typeface="+mn-ea"/>
              </a:rPr>
              <a:t>생성한 </a:t>
            </a:r>
            <a:r>
              <a:rPr lang="ko-KR" altLang="en-US" sz="700" dirty="0">
                <a:latin typeface="+mn-ea"/>
              </a:rPr>
              <a:t>기존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아이디 정보입니다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544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127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21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8536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374" y="22351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grpSp>
        <p:nvGrpSpPr>
          <p:cNvPr id="147" name="그룹 146"/>
          <p:cNvGrpSpPr/>
          <p:nvPr/>
        </p:nvGrpSpPr>
        <p:grpSpPr>
          <a:xfrm>
            <a:off x="6694978" y="5658670"/>
            <a:ext cx="2652743" cy="769170"/>
            <a:chOff x="734683" y="4769160"/>
            <a:chExt cx="2652743" cy="769170"/>
          </a:xfrm>
        </p:grpSpPr>
        <p:sp>
          <p:nvSpPr>
            <p:cNvPr id="148" name="모서리가 둥근 직사각형 14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50" name="타원 14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1" name="그룹 15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2" name="직선 연결선 15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3" name="직선 연결선 15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" name="꺾인 연결선 4"/>
          <p:cNvCxnSpPr>
            <a:stCxn id="82" idx="3"/>
            <a:endCxn id="95" idx="1"/>
          </p:cNvCxnSpPr>
          <p:nvPr/>
        </p:nvCxnSpPr>
        <p:spPr>
          <a:xfrm flipV="1">
            <a:off x="3159243" y="3846124"/>
            <a:ext cx="863153" cy="291634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꺾인 연결선 153"/>
          <p:cNvCxnSpPr>
            <a:stCxn id="82" idx="3"/>
            <a:endCxn id="105" idx="1"/>
          </p:cNvCxnSpPr>
          <p:nvPr/>
        </p:nvCxnSpPr>
        <p:spPr>
          <a:xfrm>
            <a:off x="3159243" y="4137758"/>
            <a:ext cx="863152" cy="1870289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39774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325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9164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8</a:t>
            </a:r>
            <a:endParaRPr lang="ko-KR" altLang="en-US" sz="900" b="1" dirty="0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60493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7922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448752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51198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12043" y="3560186"/>
            <a:ext cx="3590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성공 시</a:t>
            </a:r>
            <a:endParaRPr lang="en-US" altLang="ko-KR" sz="700" dirty="0" smtClean="0">
              <a:latin typeface="+mn-ea"/>
            </a:endParaRPr>
          </a:p>
          <a:p>
            <a:pPr algn="ctr"/>
            <a:r>
              <a:rPr lang="ko-KR" altLang="en-US" sz="700" dirty="0" err="1" smtClean="0">
                <a:latin typeface="+mn-ea"/>
              </a:rPr>
              <a:t>추가노출</a:t>
            </a:r>
            <a:endParaRPr lang="ko-KR" altLang="en-US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598657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60931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731428"/>
              </p:ext>
            </p:extLst>
          </p:nvPr>
        </p:nvGraphicFramePr>
        <p:xfrm>
          <a:off x="455204" y="2835901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본인인증 체크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scwin.btn_cert_onclick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본인인증을 확인한다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>
                          <a:latin typeface="+mn-ea"/>
                          <a:ea typeface="+mn-ea"/>
                        </a:rPr>
                        <a:t>값 획득하기 위해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69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중복체크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등록하려는 사용자 아이디 중복 체크한다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56633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 아이디 등록하기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통합로그인 계정을 생성한다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7281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57819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통합로그인계정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7943844"/>
              </p:ext>
            </p:extLst>
          </p:nvPr>
        </p:nvGraphicFramePr>
        <p:xfrm>
          <a:off x="454850" y="1104443"/>
          <a:ext cx="8623561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3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412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이름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존재시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생략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0408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8542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userEnpswdChk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83128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8724168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등록한 </a:t>
            </a:r>
            <a:r>
              <a:rPr lang="ko-KR" altLang="en-US" dirty="0" smtClean="0"/>
              <a:t>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메인홈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바로가기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통합로그인계정등록완료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통합 로그인 계정 등록 완료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통합로그인계정등록완료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통합 로그인 계정 </a:t>
            </a:r>
            <a:r>
              <a:rPr lang="ko-KR" altLang="en-US" sz="800" dirty="0" smtClean="0"/>
              <a:t>등록 완료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smtClean="0">
                <a:latin typeface="+mn-ea"/>
              </a:rPr>
              <a:t>통합 로그인 계정을 </a:t>
            </a:r>
            <a:r>
              <a:rPr lang="ko-KR" altLang="en-US" sz="900" b="1" dirty="0">
                <a:latin typeface="+mn-ea"/>
              </a:rPr>
              <a:t>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로그인 계정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메인홈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ko-KR" altLang="en-US" sz="700" b="1" dirty="0" err="1" smtClean="0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  <p:sp>
        <p:nvSpPr>
          <p:cNvPr id="30" name="타원 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64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493212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26862"/>
              </p:ext>
            </p:extLst>
          </p:nvPr>
        </p:nvGraphicFramePr>
        <p:xfrm>
          <a:off x="455204" y="2285057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선택화면으로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메인홈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578848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251795"/>
              </p:ext>
            </p:extLst>
          </p:nvPr>
        </p:nvGraphicFramePr>
        <p:xfrm>
          <a:off x="454850" y="11044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049392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업체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통합계정아이디를 통해 </a:t>
            </a:r>
            <a:r>
              <a:rPr lang="ko-KR" altLang="en-US" dirty="0" err="1" smtClean="0">
                <a:solidFill>
                  <a:srgbClr val="FF0000"/>
                </a:solidFill>
              </a:rPr>
              <a:t>로그인을</a:t>
            </a:r>
            <a:r>
              <a:rPr lang="ko-KR" altLang="en-US" dirty="0" smtClean="0">
                <a:solidFill>
                  <a:srgbClr val="FF0000"/>
                </a:solidFill>
              </a:rPr>
              <a:t> 한 경우에 표시됨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소속된 업체가 하나인 경우는 팝업을 띄우지 않고 업체를 </a:t>
            </a:r>
            <a:r>
              <a:rPr lang="ko-KR" altLang="en-US" dirty="0" smtClean="0"/>
              <a:t>설정하여 로그인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업체가 </a:t>
            </a:r>
            <a:r>
              <a:rPr lang="en-US" altLang="ko-KR" dirty="0"/>
              <a:t>2</a:t>
            </a:r>
            <a:r>
              <a:rPr lang="ko-KR" altLang="en-US" dirty="0"/>
              <a:t>개 이상인 </a:t>
            </a:r>
            <a:r>
              <a:rPr lang="ko-KR" altLang="en-US" dirty="0" smtClean="0"/>
              <a:t>경우 사용자가 선택할 수 있는 목록 표시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업체명</a:t>
            </a:r>
            <a:r>
              <a:rPr lang="ko-KR" altLang="en-US" dirty="0"/>
              <a:t> 및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</a:t>
            </a:r>
            <a:r>
              <a:rPr lang="ko-KR" altLang="en-US" dirty="0" err="1" smtClean="0"/>
              <a:t>미선택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 로그인 클릭 시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업체를 선택해주세요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로그아웃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로그인 성공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로그인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로그인업체설정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소속된 업체가 많은 경우 로그인 이후 팝업에서 업체를 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로그인업체설정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MUI-MS-01-P14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로그인</a:t>
            </a:r>
            <a:r>
              <a:rPr lang="en-US" altLang="ko-KR" sz="900" dirty="0" smtClean="0">
                <a:latin typeface="+mn-ea"/>
              </a:rPr>
              <a:t> </a:t>
            </a:r>
            <a:r>
              <a:rPr lang="ko-KR" altLang="en-US" sz="900" dirty="0">
                <a:latin typeface="+mn-ea"/>
              </a:rPr>
              <a:t>업체 </a:t>
            </a:r>
            <a:r>
              <a:rPr lang="ko-KR" altLang="en-US" sz="900" dirty="0" smtClean="0">
                <a:latin typeface="+mn-ea"/>
              </a:rPr>
              <a:t>설정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2016743" y="5153262"/>
            <a:ext cx="76863" cy="292489"/>
            <a:chOff x="3750067" y="4683795"/>
            <a:chExt cx="76863" cy="292489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3960054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b="1" kern="0" dirty="0">
                <a:solidFill>
                  <a:srgbClr val="0070C0"/>
                </a:solidFill>
              </a:rPr>
              <a:t>A </a:t>
            </a:r>
            <a:r>
              <a:rPr kumimoji="1" lang="ko-KR" altLang="en-US" sz="800" b="1" kern="0" dirty="0" err="1">
                <a:solidFill>
                  <a:srgbClr val="0070C0"/>
                </a:solidFill>
              </a:rPr>
              <a:t>업체명</a:t>
            </a:r>
            <a:endParaRPr kumimoji="1" lang="en-US" sz="8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371590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781562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597" y="3566337"/>
            <a:ext cx="249254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업체 정보로 국방전자조달시스템을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업체를 변경하려면 </a:t>
            </a:r>
            <a:r>
              <a:rPr lang="ko-KR" altLang="en-US" sz="700" dirty="0" err="1">
                <a:latin typeface="+mn-ea"/>
              </a:rPr>
              <a:t>재로그인이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059438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123-45-67890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470974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147-02-58369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880946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258-01-47369</a:t>
            </a:r>
          </a:p>
        </p:txBody>
      </p:sp>
      <p:grpSp>
        <p:nvGrpSpPr>
          <p:cNvPr id="49" name="그룹 48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588237" y="5745391"/>
              <a:ext cx="1706884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noProof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선택 로그인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728232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로그아웃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업체선택</a:t>
              </a:r>
              <a:r>
                <a:rPr lang="ko-KR" altLang="en-US" sz="700" dirty="0" smtClean="0"/>
                <a:t> 팝업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로그인 업체 설정으로</a:t>
              </a:r>
              <a:r>
                <a:rPr lang="ko-KR" altLang="en-US" sz="700" dirty="0" smtClean="0"/>
                <a:t> 타이틀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4878174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556585"/>
              </p:ext>
            </p:extLst>
          </p:nvPr>
        </p:nvGraphicFramePr>
        <p:xfrm>
          <a:off x="455204" y="228505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선택 로그인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선택한 업체로 로그인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180"/>
              </p:ext>
            </p:extLst>
          </p:nvPr>
        </p:nvGraphicFramePr>
        <p:xfrm>
          <a:off x="454850" y="11044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1091197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</a:t>
            </a:r>
            <a:r>
              <a:rPr lang="en-US" altLang="ko-KR" dirty="0" smtClean="0"/>
              <a:t>, </a:t>
            </a:r>
            <a:r>
              <a:rPr lang="ko-KR" altLang="en-US" dirty="0" smtClean="0"/>
              <a:t>기관 선택 탭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화면은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선택에 따른 분기 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Any-ID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로그인 </a:t>
            </a:r>
            <a:r>
              <a:rPr lang="ko-KR" altLang="en-US" dirty="0"/>
              <a:t>방식 </a:t>
            </a:r>
            <a:r>
              <a:rPr lang="ko-KR" altLang="en-US" dirty="0" smtClean="0"/>
              <a:t>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anyID</a:t>
            </a:r>
            <a:r>
              <a:rPr lang="en-US" altLang="ko-KR" dirty="0" smtClean="0"/>
              <a:t> </a:t>
            </a:r>
            <a:r>
              <a:rPr lang="ko-KR" altLang="en-US" dirty="0" smtClean="0"/>
              <a:t>솔루션 화면 활용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en-US" altLang="ko-KR" dirty="0" err="1" smtClean="0">
                <a:solidFill>
                  <a:srgbClr val="FF0000"/>
                </a:solidFill>
              </a:rPr>
              <a:t>anyID</a:t>
            </a:r>
            <a:r>
              <a:rPr lang="en-US" altLang="ko-KR" dirty="0" smtClean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정책에 따라 개인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기업 선택 </a:t>
            </a:r>
            <a:r>
              <a:rPr lang="ko-KR" altLang="en-US" dirty="0" err="1" smtClean="0">
                <a:solidFill>
                  <a:srgbClr val="FF0000"/>
                </a:solidFill>
              </a:rPr>
              <a:t>로그인이</a:t>
            </a:r>
            <a:r>
              <a:rPr lang="ko-KR" altLang="en-US" dirty="0" smtClean="0">
                <a:solidFill>
                  <a:srgbClr val="FF0000"/>
                </a:solidFill>
              </a:rPr>
              <a:t> 추가될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 사용에 따른 등록된 </a:t>
            </a:r>
            <a:r>
              <a:rPr lang="ko-KR" altLang="en-US" dirty="0" err="1" smtClean="0"/>
              <a:t>생체인증</a:t>
            </a:r>
            <a:r>
              <a:rPr lang="en-US" altLang="ko-KR" dirty="0" smtClean="0"/>
              <a:t>, ID</a:t>
            </a:r>
            <a:r>
              <a:rPr lang="ko-KR" altLang="en-US" dirty="0" smtClean="0"/>
              <a:t>를 사용한 </a:t>
            </a:r>
            <a:r>
              <a:rPr lang="en-US" altLang="ko-KR" dirty="0" smtClean="0"/>
              <a:t>ID/PW </a:t>
            </a:r>
            <a:r>
              <a:rPr lang="ko-KR" altLang="en-US" dirty="0" smtClean="0"/>
              <a:t>로그인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모바일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체크 및 로그인 처리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미등록 시 </a:t>
            </a:r>
            <a:r>
              <a:rPr lang="en-US" altLang="ko-KR" dirty="0" smtClean="0"/>
              <a:t>MUI-CM-03-M14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ID/PW </a:t>
            </a:r>
            <a:r>
              <a:rPr lang="ko-KR" altLang="en-US" dirty="0" smtClean="0"/>
              <a:t>로그인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</a:t>
            </a:r>
            <a:r>
              <a:rPr lang="ko-KR" altLang="en-US" dirty="0" smtClean="0"/>
              <a:t> 기존 </a:t>
            </a:r>
            <a:r>
              <a:rPr lang="en-US" altLang="ko-KR" dirty="0" smtClean="0"/>
              <a:t>ID</a:t>
            </a:r>
            <a:r>
              <a:rPr lang="ko-KR" altLang="en-US" dirty="0" smtClean="0"/>
              <a:t>와 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구분하지 않고 입력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기존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입력하여 로그인 하는 경우 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생성하도록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 smtClean="0"/>
              <a:t>로그인 이동</a:t>
            </a:r>
            <a:endParaRPr lang="en-US" altLang="ko-KR" dirty="0" smtClean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모바일에서 사용자 등록은 불가하며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 등록 안내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36072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간편 인증</a:t>
            </a:r>
          </a:p>
        </p:txBody>
      </p:sp>
      <p:sp>
        <p:nvSpPr>
          <p:cNvPr id="25" name="타원 24"/>
          <p:cNvSpPr/>
          <p:nvPr/>
        </p:nvSpPr>
        <p:spPr>
          <a:xfrm>
            <a:off x="1272622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45433"/>
            <a:ext cx="2305144" cy="4770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통합로그인은 한 번의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로그인으로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연계된 모든 공공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웹서비스를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이용할 수 있는 인증 서비스입니다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  <a:p>
            <a:endParaRPr lang="en-US" altLang="ko-KR" sz="300" dirty="0">
              <a:solidFill>
                <a:srgbClr val="1D1D1D"/>
              </a:solidFill>
              <a:latin typeface="Pretendard GOV"/>
            </a:endParaRPr>
          </a:p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 smtClean="0">
                <a:solidFill>
                  <a:srgbClr val="1D1D1D"/>
                </a:solidFill>
                <a:latin typeface="Pretendard GOV"/>
              </a:rPr>
              <a:t>로그인은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 하단의 국방전자조달시스템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09632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3985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392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3702685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187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모서리가 둥근 직사각형 43"/>
          <p:cNvSpPr/>
          <p:nvPr/>
        </p:nvSpPr>
        <p:spPr>
          <a:xfrm>
            <a:off x="3826691" y="4319007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5461" y="4417291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로그인에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어려움이 있으신가요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?</a:t>
            </a: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비밀번호 자동완성기능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(ex.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알패스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은 사용할 수 없습니다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1577-1118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대표전화로 전화주세요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서비스에 로그인할 수 있도록 도와드리겠습니다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46" name="타원 45"/>
          <p:cNvSpPr/>
          <p:nvPr/>
        </p:nvSpPr>
        <p:spPr>
          <a:xfrm>
            <a:off x="3911503" y="440764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 flipV="1">
            <a:off x="6260324" y="4456138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2123386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56" name="타원 55"/>
          <p:cNvSpPr/>
          <p:nvPr/>
        </p:nvSpPr>
        <p:spPr>
          <a:xfrm>
            <a:off x="2459936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36072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타원 58"/>
          <p:cNvSpPr/>
          <p:nvPr/>
        </p:nvSpPr>
        <p:spPr>
          <a:xfrm>
            <a:off x="1272622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모서리가 둥근 직사각형 59"/>
          <p:cNvSpPr/>
          <p:nvPr/>
        </p:nvSpPr>
        <p:spPr>
          <a:xfrm>
            <a:off x="2123386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2459936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4030026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04892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생체인증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4366576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5217340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92206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68" name="타원 67"/>
          <p:cNvSpPr/>
          <p:nvPr/>
        </p:nvSpPr>
        <p:spPr>
          <a:xfrm>
            <a:off x="5553890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03580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  <a:latin typeface="+mn-ea"/>
              </a:rPr>
              <a:t>조달업체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기관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en-US" altLang="ko-KR" sz="700" dirty="0" smtClean="0"/>
                <a:t>Any-ID </a:t>
              </a:r>
              <a:r>
                <a:rPr lang="ko-KR" altLang="en-US" sz="700" dirty="0" smtClean="0"/>
                <a:t>시스템 영역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(</a:t>
              </a:r>
              <a:r>
                <a:rPr lang="ko-KR" altLang="en-US" sz="700" dirty="0" smtClean="0"/>
                <a:t>솔루션에 따라 변경될 수 있음</a:t>
              </a:r>
              <a:r>
                <a:rPr lang="en-US" altLang="ko-KR" sz="700" dirty="0" smtClean="0"/>
                <a:t>)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402000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정부 통합로그인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86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857491" y="3402669"/>
            <a:ext cx="301752" cy="137160"/>
            <a:chOff x="840582" y="1601197"/>
            <a:chExt cx="301752" cy="137160"/>
          </a:xfrm>
        </p:grpSpPr>
        <p:sp>
          <p:nvSpPr>
            <p:cNvPr id="87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44724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아직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</a:p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사용자가 아니신가요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?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8675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 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2325760" y="3626446"/>
            <a:ext cx="874449" cy="252000"/>
            <a:chOff x="-2180572" y="3259503"/>
            <a:chExt cx="874449" cy="252000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등록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2325760" y="3914618"/>
            <a:ext cx="874449" cy="252000"/>
            <a:chOff x="-2180572" y="3259503"/>
            <a:chExt cx="874449" cy="252000"/>
          </a:xfrm>
        </p:grpSpPr>
        <p:sp>
          <p:nvSpPr>
            <p:cNvPr id="96" name="모서리가 둥근 직사각형 95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관리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623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20508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30955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1554012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</a:t>
            </a:r>
            <a:r>
              <a:rPr lang="en-US" altLang="ko-KR" dirty="0"/>
              <a:t>, </a:t>
            </a:r>
            <a:r>
              <a:rPr lang="ko-KR" altLang="en-US" dirty="0"/>
              <a:t>기관 선택 탭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화면은 </a:t>
            </a:r>
            <a:r>
              <a:rPr lang="ko-KR" altLang="en-US" dirty="0" smtClean="0"/>
              <a:t>기관 </a:t>
            </a:r>
            <a:r>
              <a:rPr lang="ko-KR" altLang="en-US" dirty="0"/>
              <a:t>선택에 따른 분기 </a:t>
            </a:r>
            <a:r>
              <a:rPr lang="ko-KR" altLang="en-US" dirty="0" smtClean="0"/>
              <a:t>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기관은 </a:t>
            </a:r>
            <a:r>
              <a:rPr lang="en-US" altLang="ko-KR" dirty="0" smtClean="0"/>
              <a:t>radio </a:t>
            </a:r>
            <a:r>
              <a:rPr lang="ko-KR" altLang="en-US" dirty="0" smtClean="0"/>
              <a:t>형태</a:t>
            </a:r>
            <a:r>
              <a:rPr lang="en-US" altLang="ko-KR" dirty="0" smtClean="0"/>
              <a:t>. </a:t>
            </a:r>
            <a:r>
              <a:rPr lang="ko-KR" altLang="en-US" dirty="0" smtClean="0"/>
              <a:t>단일 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ID/PW </a:t>
            </a:r>
            <a:r>
              <a:rPr lang="ko-KR" altLang="en-US" dirty="0" smtClean="0"/>
              <a:t>단일 로그인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03580" y="3959869"/>
            <a:ext cx="2255663" cy="606288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54658" y="4197659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25" name="타원 24"/>
          <p:cNvSpPr/>
          <p:nvPr/>
        </p:nvSpPr>
        <p:spPr>
          <a:xfrm>
            <a:off x="1110938" y="406709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8026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기관을 선택한 후 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2037805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latin typeface="+mn-ea"/>
              </a:rPr>
              <a:t>조달업체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solidFill>
                  <a:schemeClr val="bg1"/>
                </a:solidFill>
                <a:latin typeface="+mn-ea"/>
              </a:rPr>
              <a:t>기관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기관 선택에 따른 기관 세부 조건 설정 이후 로그인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60955" y="3144992"/>
            <a:ext cx="10711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기관을 선택해주세요</a:t>
            </a:r>
            <a:r>
              <a:rPr lang="en-US" altLang="ko-KR" sz="800" b="1" dirty="0" smtClean="0">
                <a:latin typeface="+mn-ea"/>
              </a:rPr>
              <a:t>.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903580" y="3382015"/>
            <a:ext cx="1075272" cy="187200"/>
          </a:xfrm>
          <a:prstGeom prst="roundRect">
            <a:avLst>
              <a:gd name="adj" fmla="val 17463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</a:rPr>
              <a:t>방위사업청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2083971" y="3382015"/>
            <a:ext cx="1075272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수요부대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타원 87"/>
          <p:cNvSpPr/>
          <p:nvPr/>
        </p:nvSpPr>
        <p:spPr>
          <a:xfrm>
            <a:off x="947497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2119124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14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54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142808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3040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737434"/>
              </p:ext>
            </p:extLst>
          </p:nvPr>
        </p:nvGraphicFramePr>
        <p:xfrm>
          <a:off x="455204" y="971284"/>
          <a:ext cx="8995591" cy="27206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scwin.btn_privtCrtfLogin_onclick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scwin.btn_jntCrtfLogin_onclick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scwin.btn_fnncCrtfLogin_onclick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scwin.btn_idPswdLogin_onclick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334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scwin.btn_moblCrtfLogin_onclick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417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scwin.tacpg_select_onclick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또는 기관 탭을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3645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 또는 수요부대를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28998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B89B8A1-DF0A-933E-6384-FF117D512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3499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9531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아이디는 이전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및 통합 </a:t>
            </a:r>
            <a:r>
              <a:rPr lang="en-US" altLang="ko-KR" dirty="0" smtClean="0"/>
              <a:t>ID(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)</a:t>
            </a:r>
            <a:r>
              <a:rPr lang="ko-KR" altLang="en-US" dirty="0" smtClean="0"/>
              <a:t>를</a:t>
            </a:r>
            <a:r>
              <a:rPr lang="en-US" altLang="ko-KR" dirty="0" smtClean="0"/>
              <a:t> </a:t>
            </a:r>
            <a:r>
              <a:rPr lang="ko-KR" altLang="en-US" dirty="0" smtClean="0"/>
              <a:t>둘다 사용할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(as-is </a:t>
            </a:r>
            <a:r>
              <a:rPr lang="ko-KR" altLang="en-US" dirty="0" smtClean="0"/>
              <a:t>나라장터 등록 </a:t>
            </a:r>
            <a:r>
              <a:rPr lang="en-US" altLang="ko-KR" dirty="0" smtClean="0"/>
              <a:t>ID) ID</a:t>
            </a:r>
            <a:r>
              <a:rPr lang="ko-KR" altLang="en-US" dirty="0" smtClean="0"/>
              <a:t>로 로그인 시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생성 안내 화면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로 로그인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하나인 경우 업체 선택 팝업 </a:t>
            </a:r>
            <a:r>
              <a:rPr lang="ko-KR" altLang="en-US" dirty="0" err="1" smtClean="0"/>
              <a:t>미노출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여러 개인 경우 업체 선택 팝업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</a:t>
            </a:r>
            <a:r>
              <a:rPr lang="ko-KR" altLang="en-US" dirty="0" err="1"/>
              <a:t>마스킹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입력 시 </a:t>
            </a:r>
            <a:r>
              <a:rPr lang="ko-KR" altLang="en-US" dirty="0" err="1"/>
              <a:t>마스킹</a:t>
            </a:r>
            <a:r>
              <a:rPr lang="ko-KR" altLang="en-US" dirty="0"/>
              <a:t> 보기 아이콘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기관사용자는 해당 영역 하단은 표시하지 않음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아이디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비밀번호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처음 </a:t>
            </a:r>
            <a:r>
              <a:rPr lang="ko-KR" altLang="en-US" dirty="0" err="1" smtClean="0"/>
              <a:t>방문하셨나요</a:t>
            </a:r>
            <a:r>
              <a:rPr lang="en-US" altLang="ko-KR" dirty="0"/>
              <a:t>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08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아이디</a:t>
            </a:r>
            <a:r>
              <a:rPr lang="en-US" altLang="ko-KR" sz="900" b="1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비밀번호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>
                <a:latin typeface="+mn-ea"/>
              </a:rPr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273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25" name="타원 24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등록한 </a:t>
            </a:r>
            <a:r>
              <a:rPr lang="ko-KR" altLang="en-US" sz="700" dirty="0">
                <a:latin typeface="+mn-ea"/>
              </a:rPr>
              <a:t>아이디와 비밀번호를 이용하여 로그인합니다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22629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또는 비밀번호를 </a:t>
            </a:r>
            <a:r>
              <a:rPr lang="ko-KR" altLang="en-US" sz="700" dirty="0" err="1">
                <a:latin typeface="+mn-ea"/>
              </a:rPr>
              <a:t>잊어버렸나요</a:t>
            </a:r>
            <a:r>
              <a:rPr lang="en-US" altLang="ko-KR" sz="700" dirty="0">
                <a:latin typeface="+mn-ea"/>
              </a:rPr>
              <a:t>?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985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461729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 찾기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106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05041" y="4702277"/>
            <a:ext cx="2652743" cy="1097816"/>
            <a:chOff x="734683" y="4769160"/>
            <a:chExt cx="2652743" cy="1097816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34683" y="4769160"/>
              <a:ext cx="2652743" cy="1097816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비밀번호찾기를 통해 비밀번호를 변경할 경우 로그인 제한이 해제됩니다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6" name="타원 4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0" name="직선 연결선 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" name="그룹 51"/>
          <p:cNvGrpSpPr/>
          <p:nvPr/>
        </p:nvGrpSpPr>
        <p:grpSpPr>
          <a:xfrm>
            <a:off x="4023916" y="2828026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비밀번호 찾기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43880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8232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817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4023916" y="4045163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903581" y="2774518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461587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2265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08576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232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075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1" name="직사각형 9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기관 선택 추가</a:t>
              </a:r>
              <a:endParaRPr lang="en-US" altLang="ko-KR" sz="700" dirty="0"/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073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956" y="2178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88" name="직사각형 8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설명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4</a:t>
              </a:r>
              <a:r>
                <a:rPr lang="ko-KR" altLang="en-US" sz="700" dirty="0" smtClean="0"/>
                <a:t>번 영역 설명을 추가함</a:t>
              </a:r>
              <a:r>
                <a:rPr lang="en-US" altLang="ko-KR" sz="700" dirty="0" smtClean="0"/>
                <a:t>.</a:t>
              </a:r>
              <a:br>
                <a:rPr lang="en-US" altLang="ko-KR" sz="700" dirty="0" smtClean="0"/>
              </a:br>
              <a:r>
                <a:rPr lang="ko-KR" altLang="en-US" sz="700" dirty="0" err="1" smtClean="0"/>
                <a:t>조달업체</a:t>
              </a:r>
              <a:r>
                <a:rPr lang="ko-KR" altLang="en-US" sz="700" dirty="0" smtClean="0"/>
                <a:t> 사용자에게만 노출되는 영역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05976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058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8102633"/>
              </p:ext>
            </p:extLst>
          </p:nvPr>
        </p:nvGraphicFramePr>
        <p:xfrm>
          <a:off x="455204" y="935766"/>
          <a:ext cx="8995591" cy="1944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비밀번호가 일치하면 로그인한다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같은 아이디로 등록한 업체가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있을때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업체 선택창이 나온다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(UI-CM-02-P12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퇴사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탈퇴한 회원은 로그인이 불가능하다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ID/PW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비밀번호 변경일이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일이 경과되면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- 60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이상 장기 미사용자도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아이디찾기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비밀번호찾기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scwin.btn_pswdFndng_onclick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7DF8D80-32E8-5CA9-48DC-8E274B9F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247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338686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아이디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920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5836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본인인증을 </a:t>
            </a:r>
            <a:r>
              <a:rPr lang="ko-KR" altLang="en-US" sz="900" b="1" dirty="0">
                <a:latin typeface="+mn-ea"/>
              </a:rPr>
              <a:t>통해 아이디를 찾을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188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4086107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85319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25" name="타원 24"/>
          <p:cNvSpPr/>
          <p:nvPr/>
        </p:nvSpPr>
        <p:spPr>
          <a:xfrm>
            <a:off x="1062376" y="4125304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그룹 38"/>
          <p:cNvGrpSpPr/>
          <p:nvPr/>
        </p:nvGrpSpPr>
        <p:grpSpPr>
          <a:xfrm rot="16200000" flipH="1">
            <a:off x="2958652" y="2698407"/>
            <a:ext cx="94010" cy="47005"/>
            <a:chOff x="6812560" y="3297172"/>
            <a:chExt cx="94010" cy="47005"/>
          </a:xfrm>
        </p:grpSpPr>
        <p:cxnSp>
          <p:nvCxnSpPr>
            <p:cNvPr id="40" name="직선 연결선 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직선 연결선 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2" name="그룹 41"/>
          <p:cNvGrpSpPr/>
          <p:nvPr/>
        </p:nvGrpSpPr>
        <p:grpSpPr>
          <a:xfrm rot="16200000" flipH="1">
            <a:off x="2958653" y="3083465"/>
            <a:ext cx="94010" cy="47005"/>
            <a:chOff x="6812560" y="3297172"/>
            <a:chExt cx="94010" cy="47005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직선 연결선 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5" name="그룹 44"/>
          <p:cNvGrpSpPr/>
          <p:nvPr/>
        </p:nvGrpSpPr>
        <p:grpSpPr>
          <a:xfrm rot="16200000" flipH="1">
            <a:off x="2958653" y="346445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 rot="16200000" flipH="1">
            <a:off x="2958654" y="3849517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그룹 51"/>
          <p:cNvGrpSpPr/>
          <p:nvPr/>
        </p:nvGrpSpPr>
        <p:grpSpPr>
          <a:xfrm rot="16200000" flipH="1">
            <a:off x="2958654" y="4215678"/>
            <a:ext cx="94010" cy="47005"/>
            <a:chOff x="6812560" y="3297172"/>
            <a:chExt cx="94010" cy="47005"/>
          </a:xfrm>
        </p:grpSpPr>
        <p:cxnSp>
          <p:nvCxnSpPr>
            <p:cNvPr id="53" name="직선 연결선 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직선 연결선 5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28583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ID, </a:t>
            </a:r>
            <a:r>
              <a:rPr lang="ko-KR" altLang="en-US" dirty="0" smtClean="0"/>
              <a:t>기존</a:t>
            </a:r>
            <a:r>
              <a:rPr lang="en-US" altLang="ko-KR" dirty="0" smtClean="0"/>
              <a:t> ID</a:t>
            </a:r>
            <a:r>
              <a:rPr lang="ko-KR" altLang="en-US" dirty="0" smtClean="0"/>
              <a:t>를 둘다 조회함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</a:t>
            </a:r>
            <a:r>
              <a:rPr lang="ko-KR" altLang="en-US" dirty="0" err="1" smtClean="0"/>
              <a:t>찾기결과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</a:t>
            </a:r>
            <a:r>
              <a:rPr lang="ko-KR" altLang="en-US" dirty="0" smtClean="0"/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등록정보로찾기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68344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아이디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>
                <a:latin typeface="+mn-ea"/>
              </a:rPr>
              <a:t>아이디</a:t>
            </a:r>
            <a:r>
              <a:rPr lang="en-US" altLang="ko-KR" sz="1000" b="1" dirty="0">
                <a:latin typeface="+mn-ea"/>
              </a:rPr>
              <a:t> </a:t>
            </a:r>
            <a:r>
              <a:rPr lang="ko-KR" altLang="en-US" sz="1000" b="1" dirty="0" err="1">
                <a:latin typeface="+mn-ea"/>
              </a:rPr>
              <a:t>등록정보로</a:t>
            </a:r>
            <a:r>
              <a:rPr lang="ko-KR" altLang="en-US" sz="10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05713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204262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4207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8953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05713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5" name="직사각형 4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 주민등록번호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사용자 생년월일</a:t>
              </a:r>
              <a:endParaRPr lang="en-US" altLang="ko-KR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059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2" name="그룹 51"/>
          <p:cNvGrpSpPr/>
          <p:nvPr/>
        </p:nvGrpSpPr>
        <p:grpSpPr>
          <a:xfrm>
            <a:off x="903581" y="4854131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71519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0013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71519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9" name="그룹 58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0" name="직사각형 5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0805865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492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070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가 있는 경우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추가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+mn-ea"/>
                </a:rPr>
                <a:t>ID/PW 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rgbClr val="0070C0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14500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err="1">
                <a:latin typeface="+mn-ea"/>
              </a:rPr>
              <a:t>소속업체명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33720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㈜</a:t>
            </a:r>
            <a:r>
              <a:rPr lang="en-US" altLang="ko-KR" sz="800" dirty="0">
                <a:latin typeface="+mn-ea"/>
              </a:rPr>
              <a:t>ABC </a:t>
            </a:r>
            <a:r>
              <a:rPr lang="ko-KR" altLang="en-US" sz="800" dirty="0">
                <a:latin typeface="+mn-ea"/>
              </a:rPr>
              <a:t>업체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가입된 </a:t>
            </a:r>
            <a:r>
              <a:rPr lang="ko-KR" altLang="en-US" sz="800" b="1" dirty="0" err="1">
                <a:latin typeface="+mn-ea"/>
              </a:rPr>
              <a:t>인증정보가</a:t>
            </a:r>
            <a:r>
              <a:rPr lang="ko-KR" altLang="en-US" sz="800" b="1" dirty="0">
                <a:latin typeface="+mn-ea"/>
              </a:rPr>
              <a:t> 없습니다</a:t>
            </a:r>
            <a:r>
              <a:rPr lang="en-US" altLang="ko-KR" sz="800" b="1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6426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694905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609230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아이디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8014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abcdef1234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88538928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아이디 입력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아이디 미 입력</a:t>
            </a:r>
            <a:r>
              <a:rPr lang="en-US" altLang="ko-KR" dirty="0"/>
              <a:t>, </a:t>
            </a:r>
            <a:r>
              <a:rPr lang="ko-KR" altLang="en-US" dirty="0"/>
              <a:t>없는 아이디로</a:t>
            </a:r>
            <a:r>
              <a:rPr lang="en-US" altLang="ko-KR" dirty="0"/>
              <a:t> </a:t>
            </a:r>
            <a:r>
              <a:rPr lang="ko-KR" altLang="en-US" dirty="0"/>
              <a:t>인증 방식 클릭 시 유효성 메시지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아이디를 정확히 입력해주세요</a:t>
            </a:r>
            <a:r>
              <a:rPr lang="en-US" altLang="ko-KR" dirty="0" smtClean="0">
                <a:sym typeface="Wingdings" panose="05000000000000000000" pitchFamily="2" charset="2"/>
              </a:rPr>
              <a:t>.</a:t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통합 </a:t>
            </a:r>
            <a:r>
              <a:rPr lang="en-US" altLang="ko-KR" dirty="0" smtClean="0">
                <a:sym typeface="Wingdings" panose="05000000000000000000" pitchFamily="2" charset="2"/>
              </a:rPr>
              <a:t>ID, </a:t>
            </a:r>
            <a:r>
              <a:rPr lang="ko-KR" altLang="en-US" dirty="0" smtClean="0">
                <a:sym typeface="Wingdings" panose="05000000000000000000" pitchFamily="2" charset="2"/>
              </a:rPr>
              <a:t>기존</a:t>
            </a:r>
            <a:r>
              <a:rPr lang="en-US" altLang="ko-KR" dirty="0" smtClean="0">
                <a:sym typeface="Wingdings" panose="05000000000000000000" pitchFamily="2" charset="2"/>
              </a:rPr>
              <a:t> ID </a:t>
            </a:r>
            <a:r>
              <a:rPr lang="ko-KR" altLang="en-US" dirty="0" smtClean="0">
                <a:sym typeface="Wingdings" panose="05000000000000000000" pitchFamily="2" charset="2"/>
              </a:rPr>
              <a:t>모두 설정 가능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PW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294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880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본인인증을 </a:t>
            </a:r>
            <a:r>
              <a:rPr lang="ko-KR" altLang="en-US" sz="700" dirty="0">
                <a:latin typeface="+mn-ea"/>
              </a:rPr>
              <a:t>통해 비밀번호를 변경할 수 있습니다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7869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아이디를 입력해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363962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3883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369266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402468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2389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407772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440567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504887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4458720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479073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88994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484377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5156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5256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5209939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519609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482661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443558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4063749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367706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8516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2715160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4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474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 smtClean="0">
                <a:latin typeface="+mn-ea"/>
              </a:rPr>
              <a:t>비밀번호</a:t>
            </a:r>
            <a:r>
              <a:rPr lang="en-US" altLang="ko-KR" sz="1000" b="1" dirty="0" smtClean="0">
                <a:latin typeface="+mn-ea"/>
              </a:rPr>
              <a:t> </a:t>
            </a:r>
            <a:r>
              <a:rPr lang="ko-KR" altLang="en-US" sz="1000" b="1" dirty="0" smtClean="0">
                <a:latin typeface="+mn-ea"/>
              </a:rPr>
              <a:t>찾기</a:t>
            </a:r>
            <a:endParaRPr lang="ko-KR" altLang="en-US" sz="1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9400719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 아이디 체계가 개편되어</a:t>
            </a:r>
            <a:r>
              <a:rPr lang="en-US" altLang="ko-KR" dirty="0" smtClean="0">
                <a:solidFill>
                  <a:srgbClr val="FF0000"/>
                </a:solidFill>
              </a:rPr>
              <a:t>, 1</a:t>
            </a:r>
            <a:r>
              <a:rPr lang="ko-KR" altLang="en-US" dirty="0" smtClean="0">
                <a:solidFill>
                  <a:srgbClr val="FF0000"/>
                </a:solidFill>
              </a:rPr>
              <a:t>사용자당 </a:t>
            </a:r>
            <a:r>
              <a:rPr lang="en-US" altLang="ko-KR" dirty="0" smtClean="0">
                <a:solidFill>
                  <a:srgbClr val="FF0000"/>
                </a:solidFill>
              </a:rPr>
              <a:t>1</a:t>
            </a:r>
            <a:r>
              <a:rPr lang="ko-KR" altLang="en-US" dirty="0" smtClean="0">
                <a:solidFill>
                  <a:srgbClr val="FF0000"/>
                </a:solidFill>
              </a:rPr>
              <a:t>개의 통합 아이디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여러 개의 기존 아이디가 존재함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strike="sngStrike" dirty="0" smtClean="0"/>
              <a:t>- as-is</a:t>
            </a:r>
            <a:r>
              <a:rPr lang="ko-KR" altLang="en-US" strike="sngStrike" dirty="0" smtClean="0"/>
              <a:t>에서는 업체별로 사용자가 사용할 아이디를 계속 추가하는 </a:t>
            </a:r>
            <a:r>
              <a:rPr lang="ko-KR" altLang="en-US" strike="sngStrike" dirty="0" err="1" smtClean="0"/>
              <a:t>방식이었음</a:t>
            </a:r>
            <a:r>
              <a:rPr lang="en-US" altLang="ko-KR" strike="sngStrike" dirty="0" smtClean="0"/>
              <a:t>.</a:t>
            </a:r>
            <a:br>
              <a:rPr lang="en-US" altLang="ko-KR" strike="sngStrike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현재 화면에 사용자 구분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사업자 아이디가 무의미해지고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화면이 일부 변경될 수 있음</a:t>
            </a:r>
            <a:r>
              <a:rPr lang="en-US" altLang="ko-KR" strike="sngStrike" dirty="0" smtClean="0"/>
              <a:t>.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입력된 통합 </a:t>
            </a:r>
            <a:r>
              <a:rPr lang="en-US" altLang="ko-KR" dirty="0" smtClean="0">
                <a:solidFill>
                  <a:srgbClr val="FF0000"/>
                </a:solidFill>
              </a:rPr>
              <a:t>ID, </a:t>
            </a:r>
            <a:r>
              <a:rPr lang="ko-KR" altLang="en-US" dirty="0" smtClean="0">
                <a:solidFill>
                  <a:srgbClr val="FF0000"/>
                </a:solidFill>
              </a:rPr>
              <a:t>기존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에 해당하는 비밀번호 변경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PW</a:t>
            </a:r>
            <a:r>
              <a:rPr lang="ko-KR" altLang="en-US" dirty="0" err="1" smtClean="0"/>
              <a:t>찾기결과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MUI-CM-03-M08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/>
              <a:t>등록정보로찾기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9367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640810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327879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894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89806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7388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등록정보로</a:t>
            </a:r>
            <a:r>
              <a:rPr lang="ko-KR" altLang="en-US" sz="900" b="1" dirty="0" smtClean="0">
                <a:latin typeface="+mn-ea"/>
              </a:rPr>
              <a:t> 비밀번호 </a:t>
            </a:r>
            <a:r>
              <a:rPr lang="ko-KR" altLang="en-US" sz="900" b="1" dirty="0">
                <a:latin typeface="+mn-ea"/>
              </a:rPr>
              <a:t>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653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003671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690740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5180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34147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3674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8894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85653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55180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2" name="직사각형 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정책이 정해지면 화면 변경이 필요함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55" name="타원 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9112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6" name="그룹 55"/>
          <p:cNvGrpSpPr/>
          <p:nvPr/>
        </p:nvGrpSpPr>
        <p:grpSpPr>
          <a:xfrm>
            <a:off x="903581" y="5361205"/>
            <a:ext cx="2255663" cy="306146"/>
            <a:chOff x="3982951" y="3679873"/>
            <a:chExt cx="2255663" cy="306146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2227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70721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522227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3" name="직사각형 6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설명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3254469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9238255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6935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성공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가입된 회원정보가 없습니다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809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0594341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850" y="243854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64431" y="266513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변경 후 팝업창을 닫는다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006" y="25464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0AF6C9-C709-F6C4-EBB7-941260BA2671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740078-1B99-5D65-4402-EA876D5A9371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33C64EE-8936-FE7A-54C5-A4C0C59C2C5D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FDDEEA3E-F413-E306-6738-F0835981E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105000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안내 내용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 사용자 등록 기능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모바일에서 지원하지 않음을 추가 표시함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사용자등록안내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등록 안내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조달업체</a:t>
            </a:r>
            <a:r>
              <a:rPr lang="ko-KR" altLang="en-US" sz="900" b="1" dirty="0">
                <a:latin typeface="+mn-ea"/>
              </a:rPr>
              <a:t> 사용자 등록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7312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96324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 입찰 참여 및 기타 업무를 처리하고자 하는 모든 업체는 공인인증기관에서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공인인증서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를 발급받은 후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 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한 다음 국방전자조달에서 사용자 등록을 하여야 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C7585BD-E4E5-B25B-BCA1-A3526AA5E5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31" b="12877"/>
          <a:stretch/>
        </p:blipFill>
        <p:spPr>
          <a:xfrm>
            <a:off x="3433859" y="2144043"/>
            <a:ext cx="3618456" cy="234589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32379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조달업체</a:t>
            </a:r>
            <a:r>
              <a:rPr lang="ko-KR" altLang="en-US" sz="800" dirty="0">
                <a:latin typeface="+mn-ea"/>
              </a:rPr>
              <a:t> 사용자 등록하기 전 안내사항을 꼭 확인하신 후 등록하여 주시기 바랍니다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13264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에서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하고 승인을 받으신 후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 dirty="0">
                <a:latin typeface="+mn-ea"/>
              </a:rPr>
              <a:t>일이 경과하여야 국방전자조달에서 사용자 등록을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업체 등록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사용자 등록은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PC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버전에서 가능하며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모바일에서는 지원하지 않습니다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1134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등록대상자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77559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나라장터에서 업체 등록과 공인인증서를 발급 받은 업체로 전자입찰 참여 및 기타 업무를 처리하고자 하는 업체 사용자</a:t>
            </a:r>
            <a:endParaRPr lang="en-US" altLang="ko-KR" sz="700" dirty="0">
              <a:latin typeface="+mn-ea"/>
            </a:endParaRP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업체 사용자 유형 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업체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59588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67598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등록방법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42194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최초 등록 사용자는 업체대표자로 등록되며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등록 완료 후 사용자 등록이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외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업체대표자의 승인 후 </a:t>
            </a:r>
            <a:r>
              <a:rPr lang="ko-KR" altLang="en-US" sz="700" dirty="0" err="1">
                <a:latin typeface="+mn-ea"/>
              </a:rPr>
              <a:t>로그인이</a:t>
            </a:r>
            <a:r>
              <a:rPr lang="ko-KR" altLang="en-US" sz="700" dirty="0">
                <a:latin typeface="+mn-ea"/>
              </a:rPr>
              <a:t>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입찰대리인은 먼저 나라장터에 등록하여야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익일 국방전자조달에 </a:t>
            </a:r>
            <a:r>
              <a:rPr lang="ko-KR" altLang="en-US" sz="700" dirty="0" err="1">
                <a:latin typeface="+mn-ea"/>
              </a:rPr>
              <a:t>해당정보가</a:t>
            </a:r>
            <a:r>
              <a:rPr lang="ko-KR" altLang="en-US" sz="700" dirty="0">
                <a:latin typeface="+mn-ea"/>
              </a:rPr>
              <a:t> 연계된 후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사용자등록이 가능합니다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772388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850262"/>
            <a:ext cx="230514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* </a:t>
            </a:r>
            <a:r>
              <a:rPr lang="ko-KR" altLang="en-US" sz="700" dirty="0" err="1">
                <a:latin typeface="+mn-ea"/>
              </a:rPr>
              <a:t>조달업체</a:t>
            </a:r>
            <a:r>
              <a:rPr lang="ko-KR" altLang="en-US" sz="700" dirty="0">
                <a:latin typeface="+mn-ea"/>
              </a:rPr>
              <a:t> 대표사용자는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일반사용자의 승인 및 </a:t>
            </a:r>
            <a:r>
              <a:rPr lang="ko-KR" altLang="en-US" sz="700" dirty="0" err="1">
                <a:latin typeface="+mn-ea"/>
              </a:rPr>
              <a:t>사용중단</a:t>
            </a:r>
            <a:r>
              <a:rPr lang="ko-KR" altLang="en-US" sz="700" dirty="0">
                <a:latin typeface="+mn-ea"/>
              </a:rPr>
              <a:t> 관리 권한이 부여 됨으로 관리자급에서 등록을 하시기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62136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입찰서 제출은 업체대표자와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예외처리자만 가능합니다</a:t>
            </a:r>
            <a:r>
              <a:rPr lang="en-US" altLang="ko-KR" sz="700" dirty="0">
                <a:latin typeface="+mn-ea"/>
              </a:rPr>
              <a:t>. (</a:t>
            </a:r>
            <a:r>
              <a:rPr lang="ko-KR" altLang="en-US" sz="700" dirty="0">
                <a:latin typeface="+mn-ea"/>
              </a:rPr>
              <a:t>외국인대표자 제외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91698" y="17683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</a:t>
            </a:r>
            <a:r>
              <a:rPr lang="ko-KR" altLang="en-US" sz="800" dirty="0">
                <a:latin typeface="+mn-ea"/>
              </a:rPr>
              <a:t>버전 콘텐츠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2736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7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7194983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간편인증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간편인증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간편인증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MUI-CM-03-P10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간편인증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국민인증서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통신사</a:t>
              </a:r>
              <a:r>
                <a:rPr lang="en-US" altLang="ko-KR" sz="600" dirty="0">
                  <a:latin typeface="+mn-ea"/>
                </a:rPr>
                <a:t>PASS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하나인증서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2105953" y="4290048"/>
            <a:ext cx="1190153" cy="533671"/>
            <a:chOff x="808931" y="3518717"/>
            <a:chExt cx="1190153" cy="533671"/>
          </a:xfrm>
        </p:grpSpPr>
        <p:sp>
          <p:nvSpPr>
            <p:cNvPr id="60" name="모서리가 둥근 직사각형 5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뱅크샐러드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우리인증서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775628" y="5061379"/>
            <a:ext cx="1190153" cy="533671"/>
            <a:chOff x="808931" y="3518717"/>
            <a:chExt cx="1190153" cy="533671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신한인증서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>
                  <a:latin typeface="+mn-ea"/>
                </a:rPr>
                <a:t>인증서</a:t>
              </a: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2105953" y="5061379"/>
            <a:ext cx="530538" cy="533671"/>
            <a:chOff x="808931" y="3518717"/>
            <a:chExt cx="530538" cy="533671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카카오톡</a:t>
              </a:r>
              <a:endParaRPr lang="ko-KR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717298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금융인증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r>
              <a:rPr lang="ko-KR" altLang="en-US" dirty="0">
                <a:latin typeface="+mn-ea"/>
              </a:rPr>
              <a:t> 솔루션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금융인증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MUI-CM-03-P11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금융인증서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금융인증서를 이용하기 위해 </a:t>
            </a:r>
            <a:r>
              <a:rPr lang="ko-KR" altLang="en-US" sz="900" b="1" dirty="0" err="1">
                <a:latin typeface="+mn-ea"/>
              </a:rPr>
              <a:t>클라우드</a:t>
            </a:r>
            <a:endParaRPr lang="en-US" altLang="ko-KR" sz="900" b="1" dirty="0">
              <a:latin typeface="+mn-ea"/>
            </a:endParaRPr>
          </a:p>
          <a:p>
            <a:pPr algn="ctr"/>
            <a:r>
              <a:rPr lang="ko-KR" altLang="en-US" sz="900" b="1" dirty="0">
                <a:latin typeface="+mn-ea"/>
              </a:rPr>
              <a:t>저장소에 연결합니다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84140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2940613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69" name="모서리가 둥근 직사각형 68"/>
          <p:cNvSpPr/>
          <p:nvPr/>
        </p:nvSpPr>
        <p:spPr>
          <a:xfrm>
            <a:off x="903581" y="322834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327554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010-1234-5678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휴대폰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문자인증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940613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327554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휴대폰번호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36126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711846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1900/01/31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711846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생년월일</a:t>
            </a:r>
          </a:p>
        </p:txBody>
      </p:sp>
    </p:spTree>
    <p:extLst>
      <p:ext uri="{BB962C8B-B14F-4D97-AF65-F5344CB8AC3E}">
        <p14:creationId xmlns:p14="http://schemas.microsoft.com/office/powerpoint/2010/main" val="261896263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유무에 따라 표출 화면이 달라짐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r>
              <a:rPr lang="ko-KR" altLang="en-US" dirty="0"/>
              <a:t> 솔루션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공동인증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MUI-CM-03-P12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공동인증서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5730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err="1">
                <a:latin typeface="+mn-ea"/>
              </a:rPr>
              <a:t>공동인증서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903580" y="4358983"/>
            <a:ext cx="2255663" cy="306146"/>
            <a:chOff x="3982951" y="3679873"/>
            <a:chExt cx="2255663" cy="306146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668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인증서가 없습니다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26283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모바일신분증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 신분증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MUI-CM-03-P13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모바일 신분증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정부앱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 err="1">
                  <a:latin typeface="+mn-ea"/>
                </a:rPr>
                <a:t>올원뱅크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KB</a:t>
              </a:r>
              <a:r>
                <a:rPr lang="ko-KR" altLang="en-US" sz="600" dirty="0" err="1">
                  <a:latin typeface="+mn-ea"/>
                </a:rPr>
                <a:t>스타뱅크</a:t>
              </a:r>
              <a:endParaRPr lang="ko-KR" altLang="en-US" sz="600" dirty="0">
                <a:latin typeface="+mn-ea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502717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latin typeface="+mn-ea"/>
              </a:rPr>
              <a:t>※ </a:t>
            </a:r>
            <a:r>
              <a:rPr lang="ko-KR" altLang="en-US" sz="600" dirty="0">
                <a:latin typeface="+mn-ea"/>
              </a:rPr>
              <a:t>모바일 신분증을 발급받을 앱을 선택해주세요</a:t>
            </a:r>
            <a:r>
              <a:rPr lang="en-US" altLang="ko-KR" sz="600" dirty="0">
                <a:latin typeface="+mn-ea"/>
              </a:rPr>
              <a:t>.</a:t>
            </a:r>
            <a:endParaRPr lang="ko-KR" altLang="en-US" sz="600" dirty="0"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58693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978328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600" dirty="0">
                <a:latin typeface="+mn-ea"/>
              </a:rPr>
              <a:t>사용 가이드</a:t>
            </a:r>
          </a:p>
        </p:txBody>
      </p:sp>
      <p:sp>
        <p:nvSpPr>
          <p:cNvPr id="73" name="타원 72"/>
          <p:cNvSpPr/>
          <p:nvPr/>
        </p:nvSpPr>
        <p:spPr>
          <a:xfrm>
            <a:off x="2542510" y="593051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52584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진입 전 등록된 </a:t>
            </a:r>
            <a:r>
              <a:rPr lang="ko-KR" altLang="en-US" dirty="0" err="1"/>
              <a:t>생체인증이</a:t>
            </a:r>
            <a:r>
              <a:rPr lang="ko-KR" altLang="en-US" dirty="0"/>
              <a:t> 있는 경우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로그인을</a:t>
            </a:r>
            <a:r>
              <a:rPr lang="ko-KR" altLang="en-US" dirty="0"/>
              <a:t>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즉시 로그인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대기화면은</a:t>
            </a:r>
            <a:r>
              <a:rPr lang="ko-KR" altLang="en-US" dirty="0"/>
              <a:t> 시스템에 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 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등록 페이지 이동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ko-KR" altLang="en-US" dirty="0">
                <a:sym typeface="Wingdings" panose="05000000000000000000" pitchFamily="2" charset="2"/>
              </a:rPr>
              <a:t>취소 버튼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이전 로그인 선택 화면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8869" y="58533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생체인증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편리한 </a:t>
            </a:r>
            <a:r>
              <a:rPr lang="ko-KR" altLang="en-US" sz="900" b="1" dirty="0" err="1">
                <a:latin typeface="+mn-ea"/>
              </a:rPr>
              <a:t>로그인을</a:t>
            </a:r>
            <a:r>
              <a:rPr lang="ko-KR" altLang="en-US" sz="900" b="1" dirty="0">
                <a:latin typeface="+mn-ea"/>
              </a:rPr>
              <a:t> 위해</a:t>
            </a:r>
            <a:endParaRPr lang="en-US" altLang="ko-KR" sz="900" b="1" dirty="0"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생체정보를 등록할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1549317" y="5786374"/>
            <a:ext cx="1667454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등록하기</a:t>
              </a: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846055" y="5786374"/>
            <a:ext cx="626335" cy="306146"/>
            <a:chOff x="3982951" y="3679873"/>
            <a:chExt cx="2255663" cy="306146"/>
          </a:xfrm>
        </p:grpSpPr>
        <p:sp>
          <p:nvSpPr>
            <p:cNvPr id="91" name="모서리가 둥근 직사각형 9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취소</a:t>
              </a:r>
            </a:p>
          </p:txBody>
        </p:sp>
      </p:grpSp>
      <p:grpSp>
        <p:nvGrpSpPr>
          <p:cNvPr id="93" name="그룹 92"/>
          <p:cNvGrpSpPr/>
          <p:nvPr/>
        </p:nvGrpSpPr>
        <p:grpSpPr>
          <a:xfrm>
            <a:off x="705041" y="4962893"/>
            <a:ext cx="2652743" cy="612161"/>
            <a:chOff x="734683" y="4769159"/>
            <a:chExt cx="2652743" cy="612161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34683" y="4769159"/>
              <a:ext cx="2652743" cy="61216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가능한 디바이스에서 등록 후 이용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97" name="타원 96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1549301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</a:t>
            </a:r>
            <a:r>
              <a:rPr lang="en-US" altLang="ko-KR" dirty="0"/>
              <a:t> </a:t>
            </a:r>
            <a:r>
              <a:rPr lang="ko-KR" altLang="en-US" dirty="0"/>
              <a:t>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Any-ID </a:t>
            </a:r>
            <a:r>
              <a:rPr lang="ko-KR" altLang="en-US" dirty="0"/>
              <a:t>본인 </a:t>
            </a:r>
            <a:r>
              <a:rPr lang="ko-KR" altLang="en-US" dirty="0" smtClean="0"/>
              <a:t>인증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endParaRPr lang="en-US" altLang="ko-KR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우측에 표시된 인증방식 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2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번 항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MUI-CM-03-M03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의 일부 항목 제거하고 사용됨</a:t>
            </a:r>
            <a:r>
              <a:rPr lang="en-US" altLang="ko-KR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ko-KR" altLang="en-US" sz="1000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생체인증등록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그룹 52"/>
          <p:cNvGrpSpPr/>
          <p:nvPr/>
        </p:nvGrpSpPr>
        <p:grpSpPr>
          <a:xfrm>
            <a:off x="903581" y="3198842"/>
            <a:ext cx="2255663" cy="306146"/>
            <a:chOff x="3982951" y="3679873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성명을 입력해주세요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5990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059907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54383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1399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03581" y="256112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66033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아이디를 입력해주세요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05041" y="4959509"/>
            <a:ext cx="2652743" cy="638164"/>
            <a:chOff x="734683" y="4769160"/>
            <a:chExt cx="2652743" cy="638164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734683" y="4769160"/>
              <a:ext cx="2652743" cy="63816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사용자 정보를 입력한 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간편인증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또는 본인인증을 진행하면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디바이스에 저장된 생체정보를 사용할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2" name="그룹 10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3" name="직선 연결선 10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419041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0287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38191" y="5786374"/>
            <a:ext cx="2386443" cy="306146"/>
            <a:chOff x="3982951" y="3679873"/>
            <a:chExt cx="2255663" cy="306146"/>
          </a:xfrm>
        </p:grpSpPr>
        <p:sp>
          <p:nvSpPr>
            <p:cNvPr id="115" name="모서리가 둥근 직사각형 11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생체인증</a:t>
            </a:r>
            <a:r>
              <a:rPr lang="ko-KR" altLang="en-US" sz="900" b="1" dirty="0" smtClean="0">
                <a:latin typeface="+mn-ea"/>
              </a:rPr>
              <a:t> 등록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인증하기로 수정함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73" name="모서리가 둥근 직사각형 72"/>
          <p:cNvSpPr/>
          <p:nvPr/>
        </p:nvSpPr>
        <p:spPr>
          <a:xfrm>
            <a:off x="4117524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4117524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117524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117524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6" name="타원 85"/>
          <p:cNvSpPr/>
          <p:nvPr/>
        </p:nvSpPr>
        <p:spPr>
          <a:xfrm>
            <a:off x="4243828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타원 86"/>
          <p:cNvSpPr/>
          <p:nvPr/>
        </p:nvSpPr>
        <p:spPr>
          <a:xfrm>
            <a:off x="4243828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타원 87"/>
          <p:cNvSpPr/>
          <p:nvPr/>
        </p:nvSpPr>
        <p:spPr>
          <a:xfrm>
            <a:off x="4243828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4243828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0" name="그룹 89"/>
          <p:cNvGrpSpPr/>
          <p:nvPr/>
        </p:nvGrpSpPr>
        <p:grpSpPr>
          <a:xfrm rot="16200000" flipH="1">
            <a:off x="6140104" y="2698407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 flipH="1">
            <a:off x="6140105" y="3083465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0" name="그룹 109"/>
          <p:cNvGrpSpPr/>
          <p:nvPr/>
        </p:nvGrpSpPr>
        <p:grpSpPr>
          <a:xfrm rot="16200000" flipH="1">
            <a:off x="6140105" y="3464459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7" name="직선 연결선 1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8" name="그룹 117"/>
          <p:cNvGrpSpPr/>
          <p:nvPr/>
        </p:nvGrpSpPr>
        <p:grpSpPr>
          <a:xfrm rot="16200000" flipH="1">
            <a:off x="6140106" y="3849517"/>
            <a:ext cx="94010" cy="47005"/>
            <a:chOff x="6812560" y="3297172"/>
            <a:chExt cx="94010" cy="47005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0" name="직선 연결선 11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89341" y="2349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6266011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본인 </a:t>
            </a:r>
            <a:r>
              <a:rPr lang="ko-KR" altLang="en-US" dirty="0"/>
              <a:t>인증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메시지는 좌측 화면으로 복귀하여 토스트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“</a:t>
            </a:r>
            <a:r>
              <a:rPr lang="ko-KR" altLang="en-US" dirty="0">
                <a:sym typeface="Wingdings" panose="05000000000000000000" pitchFamily="2" charset="2"/>
              </a:rPr>
              <a:t>회원정보가 없습니다</a:t>
            </a:r>
            <a:r>
              <a:rPr lang="en-US" altLang="ko-KR" dirty="0">
                <a:sym typeface="Wingdings" panose="05000000000000000000" pitchFamily="2" charset="2"/>
              </a:rPr>
              <a:t>.” </a:t>
            </a:r>
            <a:r>
              <a:rPr lang="ko-KR" altLang="en-US" dirty="0">
                <a:sym typeface="Wingdings" panose="05000000000000000000" pitchFamily="2" charset="2"/>
              </a:rPr>
              <a:t>등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버튼 표시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진행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로그인 성공 시 메인 화면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생체인증등록완료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19271" y="2419419"/>
            <a:ext cx="2624283" cy="3673101"/>
            <a:chOff x="737559" y="2419419"/>
            <a:chExt cx="2624283" cy="367310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34614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본인 인증이 완료되었습니다</a:t>
              </a:r>
              <a:r>
                <a:rPr lang="en-US" altLang="ko-KR" sz="900" b="1" dirty="0">
                  <a:latin typeface="+mn-ea"/>
                </a:rPr>
                <a:t>.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651557"/>
              <a:ext cx="2305144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dirty="0">
                  <a:latin typeface="+mn-ea"/>
                </a:rPr>
                <a:t>디바이스에 등록된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>
                  <a:latin typeface="+mn-ea"/>
                </a:rPr>
                <a:t>모든 </a:t>
              </a:r>
              <a:r>
                <a:rPr lang="ko-KR" altLang="en-US" sz="800" dirty="0" err="1">
                  <a:latin typeface="+mn-ea"/>
                </a:rPr>
                <a:t>얼굴정보</a:t>
              </a:r>
              <a:r>
                <a:rPr lang="en-US" altLang="ko-KR" sz="800" dirty="0">
                  <a:latin typeface="+mn-ea"/>
                </a:rPr>
                <a:t>, </a:t>
              </a:r>
              <a:r>
                <a:rPr lang="ko-KR" altLang="en-US" sz="800" dirty="0">
                  <a:latin typeface="+mn-ea"/>
                </a:rPr>
                <a:t>지문정보를</a:t>
              </a:r>
              <a:r>
                <a:rPr lang="en-US" altLang="ko-KR" sz="800" dirty="0">
                  <a:latin typeface="+mn-ea"/>
                </a:rPr>
                <a:t> </a:t>
              </a:r>
              <a:r>
                <a:rPr lang="ko-KR" altLang="en-US" sz="800" dirty="0">
                  <a:latin typeface="+mn-ea"/>
                </a:rPr>
                <a:t>이용하여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 err="1">
                  <a:latin typeface="+mn-ea"/>
                </a:rPr>
                <a:t>로그인을</a:t>
              </a:r>
              <a:r>
                <a:rPr lang="ko-KR" altLang="en-US" sz="800" dirty="0">
                  <a:latin typeface="+mn-ea"/>
                </a:rPr>
                <a:t> 진행합니다</a:t>
              </a:r>
              <a:r>
                <a:rPr lang="en-US" altLang="ko-KR" sz="800" dirty="0">
                  <a:latin typeface="+mn-ea"/>
                </a:rPr>
                <a:t>.</a:t>
              </a:r>
            </a:p>
          </p:txBody>
        </p:sp>
        <p:sp>
          <p:nvSpPr>
            <p:cNvPr id="126" name="타원 125"/>
            <p:cNvSpPr/>
            <p:nvPr/>
          </p:nvSpPr>
          <p:spPr>
            <a:xfrm>
              <a:off x="1720489" y="2419419"/>
              <a:ext cx="658422" cy="65841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37559" y="56678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2" name="그룹 131"/>
            <p:cNvGrpSpPr/>
            <p:nvPr/>
          </p:nvGrpSpPr>
          <p:grpSpPr>
            <a:xfrm>
              <a:off x="861782" y="5786374"/>
              <a:ext cx="2370716" cy="306146"/>
              <a:chOff x="3982951" y="3679873"/>
              <a:chExt cx="2255663" cy="306146"/>
            </a:xfrm>
          </p:grpSpPr>
          <p:sp>
            <p:nvSpPr>
              <p:cNvPr id="133" name="모서리가 둥근 직사각형 132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259991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>
                    <a:solidFill>
                      <a:schemeClr val="bg1"/>
                    </a:solidFill>
                    <a:latin typeface="+mn-ea"/>
                  </a:rPr>
                  <a:t>생체인증</a:t>
                </a:r>
                <a:r>
                  <a:rPr lang="ko-KR" altLang="en-US" sz="700" b="1" dirty="0">
                    <a:solidFill>
                      <a:schemeClr val="bg1"/>
                    </a:solidFill>
                    <a:latin typeface="+mn-ea"/>
                  </a:rPr>
                  <a:t> 로그인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726680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실패한 경우 로그인 선택 화면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성공한 경우 메인 홈으로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인증성공</a:t>
            </a:r>
            <a:r>
              <a:rPr lang="en-US" altLang="ko-KR" dirty="0"/>
              <a:t>/</a:t>
            </a:r>
            <a:r>
              <a:rPr lang="ko-KR" altLang="en-US" dirty="0" err="1"/>
              <a:t>실패안내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 토스트 메시지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5" name="모서리가 둥근 직사각형 34"/>
          <p:cNvSpPr/>
          <p:nvPr/>
        </p:nvSpPr>
        <p:spPr>
          <a:xfrm>
            <a:off x="1337508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인증에 실패 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37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8640229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675398" y="1854537"/>
            <a:ext cx="2712028" cy="43777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카메라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QR </a:t>
            </a:r>
            <a:r>
              <a:rPr lang="ko-KR" altLang="en-US" dirty="0"/>
              <a:t>스캔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 </a:t>
            </a:r>
            <a:r>
              <a:rPr lang="ko-KR" altLang="en-US" dirty="0"/>
              <a:t>로그인 성공</a:t>
            </a:r>
            <a:r>
              <a:rPr lang="en-US" altLang="ko-KR" dirty="0"/>
              <a:t>, </a:t>
            </a:r>
            <a:r>
              <a:rPr lang="ko-KR" altLang="en-US" dirty="0"/>
              <a:t>실패 시 토스트 메시지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PCQR</a:t>
            </a:r>
            <a:r>
              <a:rPr lang="ko-KR" altLang="en-US" dirty="0"/>
              <a:t>로그인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</a:t>
            </a:r>
            <a:r>
              <a:rPr lang="ko-KR" altLang="en-US" dirty="0">
                <a:latin typeface="+mn-ea"/>
              </a:rPr>
              <a:t>화면의 </a:t>
            </a:r>
            <a:r>
              <a:rPr lang="en-US" altLang="ko-KR" dirty="0">
                <a:latin typeface="+mn-ea"/>
              </a:rPr>
              <a:t>QR</a:t>
            </a:r>
            <a:r>
              <a:rPr lang="ko-KR" altLang="en-US" dirty="0">
                <a:latin typeface="+mn-ea"/>
              </a:rPr>
              <a:t>코드를 앱에서 읽어 </a:t>
            </a:r>
            <a:r>
              <a:rPr lang="en-US" altLang="ko-KR" dirty="0">
                <a:latin typeface="+mn-ea"/>
              </a:rPr>
              <a:t>PC </a:t>
            </a:r>
            <a:r>
              <a:rPr lang="ko-KR" altLang="en-US" dirty="0">
                <a:latin typeface="+mn-ea"/>
              </a:rPr>
              <a:t>로그인 시키는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PC QR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MUI-CM-03-M17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PC QR </a:t>
            </a:r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534732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카메라에 </a:t>
            </a:r>
            <a:r>
              <a:rPr lang="en-US" altLang="ko-KR" sz="800" dirty="0">
                <a:latin typeface="+mn-ea"/>
              </a:rPr>
              <a:t>PC </a:t>
            </a:r>
            <a:r>
              <a:rPr lang="ko-KR" altLang="en-US" sz="800" dirty="0">
                <a:latin typeface="+mn-ea"/>
              </a:rPr>
              <a:t>화면</a:t>
            </a:r>
            <a:r>
              <a:rPr lang="en-US" altLang="ko-KR" sz="800" dirty="0">
                <a:latin typeface="+mn-ea"/>
              </a:rPr>
              <a:t> QR </a:t>
            </a:r>
            <a:r>
              <a:rPr lang="ko-KR" altLang="en-US" sz="800" dirty="0">
                <a:latin typeface="+mn-ea"/>
              </a:rPr>
              <a:t>코드를 스캔해주세요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1193342" y="2824417"/>
            <a:ext cx="1676140" cy="16761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65789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background</a:t>
            </a:r>
            <a:r>
              <a:rPr lang="ko-KR" altLang="en-US" dirty="0"/>
              <a:t>에서 복귀 시 </a:t>
            </a:r>
            <a:r>
              <a:rPr lang="ko-KR" altLang="en-US" dirty="0" smtClean="0"/>
              <a:t>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백그라운드 앱 상태에서 오래 머물러 연결이 끊어진 경우</a:t>
            </a:r>
            <a:r>
              <a:rPr lang="en-US" altLang="ko-KR" dirty="0"/>
              <a:t>, </a:t>
            </a:r>
            <a:r>
              <a:rPr lang="ko-KR" altLang="en-US" dirty="0" err="1"/>
              <a:t>재로그인</a:t>
            </a:r>
            <a:r>
              <a:rPr lang="ko-KR" altLang="en-US" dirty="0"/>
              <a:t>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햄버거 메뉴에서 로그아웃 버튼을 클릭한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메인 페이지로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로그아웃안내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384229" y="584517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" name="직사각형 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2026-06-18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타임아웃 설명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98161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로그인이</a:t>
            </a:r>
            <a:r>
              <a:rPr lang="ko-KR" altLang="en-US" dirty="0"/>
              <a:t> 필요한 서비스 메뉴에 접근하는 경우 노출되는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하기 버튼 클릭 시 로그인 선택 화면으로 </a:t>
            </a:r>
            <a:r>
              <a:rPr lang="ko-KR" altLang="en-US" dirty="0" smtClean="0"/>
              <a:t>이동</a:t>
            </a:r>
            <a:r>
              <a:rPr lang="en-US" altLang="ko-KR" dirty="0"/>
              <a:t> </a:t>
            </a:r>
            <a:r>
              <a:rPr lang="en-US" altLang="ko-KR" dirty="0" smtClean="0"/>
              <a:t>MUI-CM-03-M01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로그인 이후 </a:t>
            </a:r>
            <a:r>
              <a:rPr lang="ko-KR" altLang="en-US" dirty="0" err="1" smtClean="0"/>
              <a:t>메인홈으로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</a:t>
            </a:r>
            <a:r>
              <a:rPr lang="en-US" altLang="ko-KR" dirty="0" smtClean="0"/>
              <a:t> </a:t>
            </a:r>
            <a:r>
              <a:rPr lang="ko-KR" altLang="en-US" dirty="0" smtClean="0"/>
              <a:t>만약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처리 후 진입하고자 했던 화면으로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로그인필요서비스안내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비로그인</a:t>
            </a:r>
            <a:r>
              <a:rPr lang="ko-KR" altLang="en-US" dirty="0"/>
              <a:t> 상태에서 로그인 서비스 사용 </a:t>
            </a:r>
            <a:r>
              <a:rPr lang="ko-KR" altLang="en-US" dirty="0" err="1"/>
              <a:t>시도시</a:t>
            </a:r>
            <a:r>
              <a:rPr lang="ko-KR" altLang="en-US" dirty="0"/>
              <a:t> 노출되는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MUI-CM-03-P19</a:t>
            </a:r>
            <a:endParaRPr lang="ko-KR" altLang="en-US" sz="10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743977" y="3253736"/>
            <a:ext cx="2579992" cy="1200743"/>
            <a:chOff x="3859820" y="2317399"/>
            <a:chExt cx="2579992" cy="1200743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85982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0265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로그인 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3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97751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7751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안내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724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해당 서비스를 사용하기 위해서는 </a:t>
              </a:r>
              <a:r>
                <a:rPr lang="ko-KR" altLang="en-US" sz="700" dirty="0" err="1">
                  <a:latin typeface="+mn-ea"/>
                </a:rPr>
                <a:t>로그인이</a:t>
              </a:r>
              <a:r>
                <a:rPr lang="ko-KR" altLang="en-US" sz="700" dirty="0">
                  <a:latin typeface="+mn-ea"/>
                </a:rPr>
                <a:t> 필요합니다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지금 바로 로그인 하시겠습니까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6" name="그룹 45"/>
            <p:cNvGrpSpPr/>
            <p:nvPr/>
          </p:nvGrpSpPr>
          <p:grpSpPr>
            <a:xfrm>
              <a:off x="6188648" y="2464129"/>
              <a:ext cx="94010" cy="94010"/>
              <a:chOff x="6812560" y="3297172"/>
              <a:chExt cx="94010" cy="94010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0337842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0717557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마이페이지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마이페이지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서브 메인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나의진행업무현황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세부 스텝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진행중인 이력 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표시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나의업무이력현황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종료된 이력정보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관심입찰공고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입찰공고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 표시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입찰서 제출일 등 조달업무 관련 캘린더 표시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개별 등록한 일정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MUI-CM-06-M07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일정 상세 정보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일정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는 해당 공고로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등록한 일정은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시트로 추가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8000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업무 캘린더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개별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7734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캘린더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등록한 일정 삭제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6570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MUI-CM-06-M10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312154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첨언상세보기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67596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첨부파일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02690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개인별수신처 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 수신처 내역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717066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268680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2/5)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135144"/>
              </p:ext>
            </p:extLst>
          </p:nvPr>
        </p:nvGraphicFramePr>
        <p:xfrm>
          <a:off x="635474" y="1413419"/>
          <a:ext cx="8701200" cy="4889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관심법령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ItrstSttPage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중 사용자가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3925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나의 게시물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MyPstPage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내가 작성한 게시물을 모아볼 수 있는 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12172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디지털캐비닛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 캐비닛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사용자가 등록한 자료 폴더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918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폴더설정권한관리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설정 권한 관리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MdigitalCabinetMng.tsx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폴더내파일목록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내 파일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정보 진입 버튼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4106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6272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업체일반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탭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01060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936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3636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781249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ID</a:t>
              </a:r>
              <a:r>
                <a:rPr lang="ko-KR" altLang="en-US" dirty="0" smtClean="0"/>
                <a:t>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등록 </a:t>
              </a:r>
              <a:r>
                <a:rPr lang="en-US" altLang="ko-KR" sz="700" dirty="0" smtClean="0"/>
                <a:t>(MUI-CM-01-M22), </a:t>
              </a:r>
              <a:r>
                <a:rPr lang="ko-KR" altLang="en-US" sz="700" dirty="0"/>
                <a:t>국내소재상사 정보 </a:t>
              </a:r>
              <a:r>
                <a:rPr lang="ko-KR" altLang="en-US" sz="700" dirty="0" smtClean="0"/>
                <a:t>등록 </a:t>
              </a:r>
              <a:r>
                <a:rPr lang="en-US" altLang="ko-KR" sz="700" dirty="0" smtClean="0"/>
                <a:t>(MUI-CM-01-M23) </a:t>
              </a:r>
              <a:r>
                <a:rPr lang="ko-KR" altLang="en-US" sz="700" dirty="0" smtClean="0"/>
                <a:t>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44107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3/5)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488539"/>
              </p:ext>
            </p:extLst>
          </p:nvPr>
        </p:nvGraphicFramePr>
        <p:xfrm>
          <a:off x="635474" y="1413419"/>
          <a:ext cx="8701200" cy="4645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 신청 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AddRegInfoAplyListPage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60533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947651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52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DmstLctnColInfoAddRegPage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물품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정보 등록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077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MUI-CM-01-M22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담당자정보저장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dmstLctnColInfoAddReg_Pic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담당자 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_Pic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42800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MUI-CM-01-M23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dmstLctnColInfoAddReg_Cmbz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국내소재상사정보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_Cmbz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5958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endParaRPr lang="en-US" sz="8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26729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018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등록대상품목선택팝업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4641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품목조회팝업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보안측정인원등록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ScrtyMsrmtPrsnlReg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487025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4/5)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3947794"/>
              </p:ext>
            </p:extLst>
          </p:nvPr>
        </p:nvGraphicFramePr>
        <p:xfrm>
          <a:off x="635474" y="1413419"/>
          <a:ext cx="8701200" cy="4645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FSC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9168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주거래은행선택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주거래은행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57416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행정정보공동이용사전동의서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사전동의서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9049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확인팝업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25977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군수품무역대리업신청및발급목록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42566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MUI-CM-01-M16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신청내역상세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내역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03322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갱신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94242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65690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24702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신청서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4188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국외조달원등록증신청안내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 조달원 등록증 신청 안내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4958610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1835708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8323606"/>
              </p:ext>
            </p:extLst>
          </p:nvPr>
        </p:nvGraphicFramePr>
        <p:xfrm>
          <a:off x="635474" y="1413419"/>
          <a:ext cx="8701200" cy="42297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 정보관리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IndvIdntIdntyPage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CrtfMng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인증서 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99962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CrtfIdnty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 인증서 확인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1925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업체소속사용자목록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PrcmBzentyUserMngPage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상태변경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회원탈퇴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 탈퇴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 App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675565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483731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6"/>
            <a:endCxn id="73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3" idx="3"/>
            <a:endCxn id="88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세부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스탭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89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358283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387280" y="3479748"/>
            <a:ext cx="180000" cy="180000"/>
            <a:chOff x="5058274" y="2498299"/>
            <a:chExt cx="180000" cy="180000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6039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 링크 </a:t>
            </a:r>
            <a:r>
              <a:rPr lang="ko-KR" altLang="en-US" sz="800" dirty="0" err="1">
                <a:solidFill>
                  <a:schemeClr val="tx1"/>
                </a:solidFill>
              </a:rPr>
              <a:t>웹뷰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073540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988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업무캘린더</a:t>
            </a:r>
            <a:r>
              <a:rPr lang="en-US" altLang="ko-KR" sz="800" dirty="0" smtClean="0">
                <a:solidFill>
                  <a:schemeClr val="tx1"/>
                </a:solidFill>
              </a:rPr>
              <a:t/>
            </a:r>
            <a:br>
              <a:rPr lang="en-US" altLang="ko-KR" sz="800" dirty="0" smtClean="0">
                <a:solidFill>
                  <a:schemeClr val="tx1"/>
                </a:solidFill>
              </a:rPr>
            </a:br>
            <a:r>
              <a:rPr lang="ko-KR" altLang="en-US" sz="800" dirty="0" smtClean="0">
                <a:solidFill>
                  <a:schemeClr val="tx1"/>
                </a:solidFill>
              </a:rPr>
              <a:t>일정 </a:t>
            </a:r>
            <a:r>
              <a:rPr lang="ko-KR" altLang="en-US" sz="800" dirty="0">
                <a:solidFill>
                  <a:schemeClr val="tx1"/>
                </a:solidFill>
              </a:rPr>
              <a:t>상세 정보</a:t>
            </a:r>
          </a:p>
        </p:txBody>
      </p:sp>
      <p:sp>
        <p:nvSpPr>
          <p:cNvPr id="12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6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7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2" idx="1"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3" idx="1"/>
          </p:cNvCxnSpPr>
          <p:nvPr/>
        </p:nvCxnSpPr>
        <p:spPr>
          <a:xfrm>
            <a:off x="2495193" y="1772964"/>
            <a:ext cx="931134" cy="3141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5" idx="1"/>
          </p:cNvCxnSpPr>
          <p:nvPr/>
        </p:nvCxnSpPr>
        <p:spPr>
          <a:xfrm>
            <a:off x="2495193" y="1772964"/>
            <a:ext cx="931134" cy="35913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6" idx="1"/>
          </p:cNvCxnSpPr>
          <p:nvPr/>
        </p:nvCxnSpPr>
        <p:spPr>
          <a:xfrm>
            <a:off x="2495193" y="1772964"/>
            <a:ext cx="931134" cy="40410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7" idx="1"/>
          </p:cNvCxnSpPr>
          <p:nvPr/>
        </p:nvCxnSpPr>
        <p:spPr>
          <a:xfrm>
            <a:off x="2495193" y="1772964"/>
            <a:ext cx="931134" cy="44907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 삭제</a:t>
            </a: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8" idx="3"/>
            <a:endCxn id="92" idx="1"/>
          </p:cNvCxnSpPr>
          <p:nvPr/>
        </p:nvCxnSpPr>
        <p:spPr>
          <a:xfrm>
            <a:off x="432632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직선 화살표 연결선 13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9" idx="3"/>
            <a:endCxn id="118" idx="1"/>
          </p:cNvCxnSpPr>
          <p:nvPr/>
        </p:nvCxnSpPr>
        <p:spPr>
          <a:xfrm flipV="1">
            <a:off x="4326327" y="2217540"/>
            <a:ext cx="931134" cy="509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19" idx="1"/>
          </p:cNvCxnSpPr>
          <p:nvPr/>
        </p:nvCxnSpPr>
        <p:spPr>
          <a:xfrm>
            <a:off x="4321277" y="2672314"/>
            <a:ext cx="936184" cy="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6" idx="3"/>
            <a:endCxn id="120" idx="1"/>
          </p:cNvCxnSpPr>
          <p:nvPr/>
        </p:nvCxnSpPr>
        <p:spPr>
          <a:xfrm>
            <a:off x="4326327" y="312198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화살표 연결선 1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2" idx="3"/>
            <a:endCxn id="111" idx="1"/>
          </p:cNvCxnSpPr>
          <p:nvPr/>
        </p:nvCxnSpPr>
        <p:spPr>
          <a:xfrm>
            <a:off x="4326327" y="4465003"/>
            <a:ext cx="931134" cy="135503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21" idx="1"/>
          </p:cNvCxnSpPr>
          <p:nvPr/>
        </p:nvCxnSpPr>
        <p:spPr>
          <a:xfrm>
            <a:off x="615746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1" idx="3"/>
            <a:endCxn id="106" idx="2"/>
          </p:cNvCxnSpPr>
          <p:nvPr/>
        </p:nvCxnSpPr>
        <p:spPr>
          <a:xfrm>
            <a:off x="7988595" y="1772964"/>
            <a:ext cx="398685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3"/>
            <a:endCxn id="106" idx="2"/>
          </p:cNvCxnSpPr>
          <p:nvPr/>
        </p:nvCxnSpPr>
        <p:spPr>
          <a:xfrm>
            <a:off x="6157461" y="2217540"/>
            <a:ext cx="2229819" cy="1352208"/>
          </a:xfrm>
          <a:prstGeom prst="bentConnector3">
            <a:avLst>
              <a:gd name="adj1" fmla="val 9100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9" idx="3"/>
            <a:endCxn id="106" idx="2"/>
          </p:cNvCxnSpPr>
          <p:nvPr/>
        </p:nvCxnSpPr>
        <p:spPr>
          <a:xfrm>
            <a:off x="6157461" y="2672988"/>
            <a:ext cx="2229819" cy="896760"/>
          </a:xfrm>
          <a:prstGeom prst="bentConnector3">
            <a:avLst>
              <a:gd name="adj1" fmla="val 9100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1" idx="3"/>
            <a:endCxn id="106" idx="2"/>
          </p:cNvCxnSpPr>
          <p:nvPr/>
        </p:nvCxnSpPr>
        <p:spPr>
          <a:xfrm flipV="1">
            <a:off x="6157461" y="3569748"/>
            <a:ext cx="2229819" cy="2250291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상세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cxnSp>
        <p:nvCxnSpPr>
          <p:cNvPr id="1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43" idx="1"/>
          </p:cNvCxnSpPr>
          <p:nvPr/>
        </p:nvCxnSpPr>
        <p:spPr>
          <a:xfrm>
            <a:off x="4326327" y="3569748"/>
            <a:ext cx="931134" cy="4515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0" idx="3"/>
            <a:endCxn id="130" idx="1"/>
          </p:cNvCxnSpPr>
          <p:nvPr/>
        </p:nvCxnSpPr>
        <p:spPr>
          <a:xfrm>
            <a:off x="6157461" y="3121989"/>
            <a:ext cx="931134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개인별수신처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관리</a:t>
            </a:r>
          </a:p>
        </p:txBody>
      </p:sp>
      <p:cxnSp>
        <p:nvCxnSpPr>
          <p:cNvPr id="1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46" idx="1"/>
          </p:cNvCxnSpPr>
          <p:nvPr/>
        </p:nvCxnSpPr>
        <p:spPr>
          <a:xfrm>
            <a:off x="4326327" y="3569748"/>
            <a:ext cx="931134" cy="89525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3" idx="3"/>
            <a:endCxn id="106" idx="2"/>
          </p:cNvCxnSpPr>
          <p:nvPr/>
        </p:nvCxnSpPr>
        <p:spPr>
          <a:xfrm flipV="1">
            <a:off x="6157461" y="3569748"/>
            <a:ext cx="2229819" cy="451590"/>
          </a:xfrm>
          <a:prstGeom prst="bentConnector3">
            <a:avLst>
              <a:gd name="adj1" fmla="val 9139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6" idx="3"/>
            <a:endCxn id="106" idx="2"/>
          </p:cNvCxnSpPr>
          <p:nvPr/>
        </p:nvCxnSpPr>
        <p:spPr>
          <a:xfrm flipV="1">
            <a:off x="6157461" y="3569748"/>
            <a:ext cx="2229819" cy="895255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7461" y="6033380"/>
            <a:ext cx="1205458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외부 브라우저 사용될 수 있음</a:t>
            </a:r>
          </a:p>
        </p:txBody>
      </p:sp>
      <p:sp>
        <p:nvSpPr>
          <p:cNvPr id="1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52" idx="1"/>
          </p:cNvCxnSpPr>
          <p:nvPr/>
        </p:nvCxnSpPr>
        <p:spPr>
          <a:xfrm>
            <a:off x="2495193" y="1772964"/>
            <a:ext cx="931134" cy="224837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93645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 등록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smtClean="0">
                <a:solidFill>
                  <a:schemeClr val="tx1"/>
                </a:solidFill>
              </a:rPr>
              <a:t>수정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0" idx="3"/>
            <a:endCxn id="154" idx="1"/>
          </p:cNvCxnSpPr>
          <p:nvPr/>
        </p:nvCxnSpPr>
        <p:spPr>
          <a:xfrm>
            <a:off x="6157461" y="3121989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6" idx="2"/>
          </p:cNvCxnSpPr>
          <p:nvPr/>
        </p:nvCxnSpPr>
        <p:spPr>
          <a:xfrm>
            <a:off x="7993645" y="3121989"/>
            <a:ext cx="393635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직선 화살표 연결선 15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0" idx="3"/>
            <a:endCxn id="106" idx="2"/>
          </p:cNvCxnSpPr>
          <p:nvPr/>
        </p:nvCxnSpPr>
        <p:spPr>
          <a:xfrm>
            <a:off x="7988595" y="3569748"/>
            <a:ext cx="39868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89592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(2/4)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5287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60254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522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50189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2" name="직사각형 9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추가정보 신청 목록에서 업체정보 추가등록으로 이동하는 편의 기능 제거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상위 서브 </a:t>
              </a:r>
              <a:r>
                <a:rPr lang="ko-KR" altLang="en-US" sz="700" dirty="0" err="1" smtClean="0"/>
                <a:t>메인에</a:t>
              </a:r>
              <a:r>
                <a:rPr lang="ko-KR" altLang="en-US" sz="700" dirty="0" smtClean="0"/>
                <a:t> 존재하는 버튼을 통해서 진입</a:t>
              </a:r>
              <a:endParaRPr lang="en-US" altLang="ko-KR" sz="700" dirty="0"/>
            </a:p>
          </p:txBody>
        </p:sp>
      </p:grpSp>
      <p:sp>
        <p:nvSpPr>
          <p:cNvPr id="9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479748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7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 상세</a:t>
            </a:r>
          </a:p>
        </p:txBody>
      </p:sp>
      <p:sp>
        <p:nvSpPr>
          <p:cNvPr id="2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추가정보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목록</a:t>
            </a:r>
          </a:p>
        </p:txBody>
      </p:sp>
      <p:sp>
        <p:nvSpPr>
          <p:cNvPr id="2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군수품무역대리업 신청 및 발급 목록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신규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갱신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</a:p>
        </p:txBody>
      </p:sp>
      <p:cxnSp>
        <p:nvCxnSpPr>
          <p:cNvPr id="219" name="직선 화살표 연결선 2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5" idx="3"/>
            <a:endCxn id="218" idx="1"/>
          </p:cNvCxnSpPr>
          <p:nvPr/>
        </p:nvCxnSpPr>
        <p:spPr>
          <a:xfrm>
            <a:off x="6157461" y="44710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83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담당자 </a:t>
            </a:r>
            <a:r>
              <a:rPr lang="ko-KR" altLang="en-US" sz="800" dirty="0" smtClean="0">
                <a:solidFill>
                  <a:schemeClr val="tx1"/>
                </a:solidFill>
              </a:rPr>
              <a:t>정보 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4" idx="3"/>
            <a:endCxn id="249" idx="1"/>
          </p:cNvCxnSpPr>
          <p:nvPr/>
        </p:nvCxnSpPr>
        <p:spPr>
          <a:xfrm>
            <a:off x="6157461" y="267271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/>
          <p:cNvGrpSpPr/>
          <p:nvPr/>
        </p:nvGrpSpPr>
        <p:grpSpPr>
          <a:xfrm>
            <a:off x="6360366" y="3559177"/>
            <a:ext cx="2226642" cy="603901"/>
            <a:chOff x="7012608" y="2367957"/>
            <a:chExt cx="2226642" cy="603901"/>
          </a:xfrm>
        </p:grpSpPr>
        <p:sp>
          <p:nvSpPr>
            <p:cNvPr id="223" name="사각형: 둥근 모서리 5">
              <a:extLst>
                <a:ext uri="{FF2B5EF4-FFF2-40B4-BE49-F238E27FC236}">
                  <a16:creationId xmlns:a16="http://schemas.microsoft.com/office/drawing/2014/main" id="{410E5459-200D-7630-863C-88E5109259DF}"/>
                </a:ext>
              </a:extLst>
            </p:cNvPr>
            <p:cNvSpPr/>
            <p:nvPr/>
          </p:nvSpPr>
          <p:spPr>
            <a:xfrm>
              <a:off x="7012608" y="2367957"/>
              <a:ext cx="2226642" cy="603901"/>
            </a:xfrm>
            <a:prstGeom prst="roundRect">
              <a:avLst>
                <a:gd name="adj" fmla="val 4682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7074008" y="2439075"/>
              <a:ext cx="1200650" cy="46166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 err="1">
                  <a:solidFill>
                    <a:schemeClr val="tx1"/>
                  </a:solidFill>
                </a:rPr>
                <a:t>품류선택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조합</a:t>
              </a:r>
              <a:r>
                <a:rPr lang="en-US" altLang="ko-KR" sz="600" dirty="0">
                  <a:solidFill>
                    <a:schemeClr val="tx1"/>
                  </a:solidFill>
                </a:rPr>
                <a:t>/</a:t>
              </a:r>
              <a:r>
                <a:rPr lang="ko-KR" altLang="en-US" sz="600" dirty="0">
                  <a:solidFill>
                    <a:schemeClr val="tx1"/>
                  </a:solidFill>
                </a:rPr>
                <a:t>단체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등록대상 품목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품목 조회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행정정보공동이용 </a:t>
              </a:r>
              <a:r>
                <a:rPr lang="ko-KR" altLang="en-US" sz="600" dirty="0" err="1">
                  <a:solidFill>
                    <a:schemeClr val="tx1"/>
                  </a:solidFill>
                </a:rPr>
                <a:t>사전동의서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365671" y="2531408"/>
              <a:ext cx="788677" cy="2769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보안측정인원등록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en-US" altLang="ko-KR" sz="600" dirty="0">
                  <a:solidFill>
                    <a:schemeClr val="tx1"/>
                  </a:solidFill>
                </a:rPr>
                <a:t>FSC </a:t>
              </a:r>
              <a:r>
                <a:rPr lang="ko-KR" altLang="en-US" sz="600" dirty="0">
                  <a:solidFill>
                    <a:schemeClr val="tx1"/>
                  </a:solidFill>
                </a:rPr>
                <a:t>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주거래은행 선택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360366" y="3435184"/>
            <a:ext cx="68929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등록 개별 팝업</a:t>
            </a:r>
          </a:p>
        </p:txBody>
      </p:sp>
      <p:sp>
        <p:nvSpPr>
          <p:cNvPr id="22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2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5" idx="3"/>
            <a:endCxn id="227" idx="1"/>
          </p:cNvCxnSpPr>
          <p:nvPr/>
        </p:nvCxnSpPr>
        <p:spPr>
          <a:xfrm>
            <a:off x="6157461" y="4471014"/>
            <a:ext cx="931134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67969" y="1917460"/>
            <a:ext cx="634789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일반정보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물품</a:t>
            </a:r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내자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시설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국내소재상사</a:t>
            </a:r>
          </a:p>
        </p:txBody>
      </p:sp>
      <p:sp>
        <p:nvSpPr>
          <p:cNvPr id="2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2511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등록증 발급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8358283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5" idx="2"/>
            <a:endCxn id="232" idx="0"/>
          </p:cNvCxnSpPr>
          <p:nvPr/>
        </p:nvCxnSpPr>
        <p:spPr>
          <a:xfrm>
            <a:off x="5707461" y="4615014"/>
            <a:ext cx="0" cy="16914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5" idx="3"/>
            <a:endCxn id="230" idx="1"/>
          </p:cNvCxnSpPr>
          <p:nvPr/>
        </p:nvCxnSpPr>
        <p:spPr>
          <a:xfrm>
            <a:off x="6157461" y="4471014"/>
            <a:ext cx="931134" cy="92416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화살표 연결선 2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7" idx="3"/>
            <a:endCxn id="231" idx="1"/>
          </p:cNvCxnSpPr>
          <p:nvPr/>
        </p:nvCxnSpPr>
        <p:spPr>
          <a:xfrm>
            <a:off x="7988595" y="4928155"/>
            <a:ext cx="36968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8" idx="3"/>
            <a:endCxn id="231" idx="1"/>
          </p:cNvCxnSpPr>
          <p:nvPr/>
        </p:nvCxnSpPr>
        <p:spPr>
          <a:xfrm>
            <a:off x="7988595" y="4471014"/>
            <a:ext cx="369688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1" idx="3"/>
            <a:endCxn id="211" idx="6"/>
          </p:cNvCxnSpPr>
          <p:nvPr/>
        </p:nvCxnSpPr>
        <p:spPr>
          <a:xfrm flipH="1" flipV="1">
            <a:off x="8898283" y="3569748"/>
            <a:ext cx="360000" cy="1358407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0" idx="3"/>
            <a:endCxn id="211" idx="6"/>
          </p:cNvCxnSpPr>
          <p:nvPr/>
        </p:nvCxnSpPr>
        <p:spPr>
          <a:xfrm flipV="1">
            <a:off x="7988595" y="3569748"/>
            <a:ext cx="909688" cy="1825433"/>
          </a:xfrm>
          <a:prstGeom prst="bentConnector3">
            <a:avLst>
              <a:gd name="adj1" fmla="val 16437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4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</a:t>
            </a:r>
          </a:p>
        </p:txBody>
      </p:sp>
      <p:cxnSp>
        <p:nvCxnSpPr>
          <p:cNvPr id="242" name="직선 화살표 연결선 2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0" idx="3"/>
            <a:endCxn id="241" idx="1"/>
          </p:cNvCxnSpPr>
          <p:nvPr/>
        </p:nvCxnSpPr>
        <p:spPr>
          <a:xfrm>
            <a:off x="6157461" y="582208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3" idx="3"/>
            <a:endCxn id="211" idx="0"/>
          </p:cNvCxnSpPr>
          <p:nvPr/>
        </p:nvCxnSpPr>
        <p:spPr>
          <a:xfrm>
            <a:off x="6157461" y="1771664"/>
            <a:ext cx="2650822" cy="170808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613049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국외조달원등록증신청안내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1" idx="3"/>
            <a:endCxn id="211" idx="6"/>
          </p:cNvCxnSpPr>
          <p:nvPr/>
        </p:nvCxnSpPr>
        <p:spPr>
          <a:xfrm flipV="1">
            <a:off x="7988595" y="3569748"/>
            <a:ext cx="909688" cy="2252337"/>
          </a:xfrm>
          <a:prstGeom prst="bentConnector3">
            <a:avLst>
              <a:gd name="adj1" fmla="val 16533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5" idx="3"/>
            <a:endCxn id="211" idx="6"/>
          </p:cNvCxnSpPr>
          <p:nvPr/>
        </p:nvCxnSpPr>
        <p:spPr>
          <a:xfrm flipV="1">
            <a:off x="6157461" y="3569748"/>
            <a:ext cx="2740822" cy="2704751"/>
          </a:xfrm>
          <a:prstGeom prst="bentConnector3">
            <a:avLst>
              <a:gd name="adj1" fmla="val 12168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528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</a:p>
        </p:txBody>
      </p:sp>
      <p:cxnSp>
        <p:nvCxnSpPr>
          <p:cNvPr id="25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9" idx="3"/>
            <a:endCxn id="211" idx="0"/>
          </p:cNvCxnSpPr>
          <p:nvPr/>
        </p:nvCxnSpPr>
        <p:spPr>
          <a:xfrm>
            <a:off x="7988595" y="2672710"/>
            <a:ext cx="819688" cy="807038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65996" y="34202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업체정보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추가등록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600" dirty="0" smtClean="0">
                <a:solidFill>
                  <a:schemeClr val="tx1"/>
                </a:solidFill>
              </a:rPr>
              <a:t>(</a:t>
            </a:r>
            <a:r>
              <a:rPr lang="ko-KR" altLang="en-US" sz="600" dirty="0" smtClean="0">
                <a:solidFill>
                  <a:schemeClr val="tx1"/>
                </a:solidFill>
              </a:rPr>
              <a:t>물품 내자</a:t>
            </a:r>
            <a:r>
              <a:rPr lang="en-US" altLang="ko-KR" sz="600" dirty="0" smtClean="0">
                <a:solidFill>
                  <a:schemeClr val="tx1"/>
                </a:solidFill>
              </a:rPr>
              <a:t>)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2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65996" y="387275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국내소재상사 </a:t>
            </a:r>
            <a:r>
              <a:rPr lang="ko-KR" altLang="en-US" sz="800" dirty="0" smtClean="0">
                <a:solidFill>
                  <a:schemeClr val="tx1"/>
                </a:solidFill>
              </a:rPr>
              <a:t>정보 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4" idx="1"/>
          </p:cNvCxnSpPr>
          <p:nvPr/>
        </p:nvCxnSpPr>
        <p:spPr>
          <a:xfrm flipV="1">
            <a:off x="4329031" y="2672710"/>
            <a:ext cx="932977" cy="22419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3" idx="1"/>
          </p:cNvCxnSpPr>
          <p:nvPr/>
        </p:nvCxnSpPr>
        <p:spPr>
          <a:xfrm flipV="1">
            <a:off x="4329031" y="1771664"/>
            <a:ext cx="932977" cy="31430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40" idx="1"/>
          </p:cNvCxnSpPr>
          <p:nvPr/>
        </p:nvCxnSpPr>
        <p:spPr>
          <a:xfrm>
            <a:off x="4329031" y="4914678"/>
            <a:ext cx="932977" cy="9074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45" idx="1"/>
          </p:cNvCxnSpPr>
          <p:nvPr/>
        </p:nvCxnSpPr>
        <p:spPr>
          <a:xfrm>
            <a:off x="4329031" y="4914678"/>
            <a:ext cx="932977" cy="135982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20" idx="1"/>
          </p:cNvCxnSpPr>
          <p:nvPr/>
        </p:nvCxnSpPr>
        <p:spPr>
          <a:xfrm flipV="1">
            <a:off x="4329031" y="3122385"/>
            <a:ext cx="932977" cy="179229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5" idx="1"/>
          </p:cNvCxnSpPr>
          <p:nvPr/>
        </p:nvCxnSpPr>
        <p:spPr>
          <a:xfrm flipV="1">
            <a:off x="4329031" y="4471014"/>
            <a:ext cx="932977" cy="4436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53" idx="1"/>
          </p:cNvCxnSpPr>
          <p:nvPr/>
        </p:nvCxnSpPr>
        <p:spPr>
          <a:xfrm flipV="1">
            <a:off x="4329031" y="3564281"/>
            <a:ext cx="936965" cy="13503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54" idx="1"/>
          </p:cNvCxnSpPr>
          <p:nvPr/>
        </p:nvCxnSpPr>
        <p:spPr>
          <a:xfrm flipV="1">
            <a:off x="4329031" y="4016751"/>
            <a:ext cx="936965" cy="8979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55411" y="2897152"/>
            <a:ext cx="1112636" cy="1345330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324765" y="2893518"/>
            <a:ext cx="102431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 smtClean="0">
                <a:solidFill>
                  <a:schemeClr val="tx1"/>
                </a:solidFill>
              </a:rPr>
              <a:t>업체정보 추가 등록</a:t>
            </a:r>
            <a:r>
              <a:rPr lang="en-US" altLang="ko-KR" sz="600" dirty="0" smtClean="0">
                <a:solidFill>
                  <a:schemeClr val="tx1"/>
                </a:solidFill>
              </a:rPr>
              <a:t/>
            </a:r>
            <a:br>
              <a:rPr lang="en-US" altLang="ko-KR" sz="600" dirty="0" smtClean="0">
                <a:solidFill>
                  <a:schemeClr val="tx1"/>
                </a:solidFill>
              </a:rPr>
            </a:br>
            <a:r>
              <a:rPr lang="ko-KR" altLang="en-US" sz="600" dirty="0" smtClean="0">
                <a:solidFill>
                  <a:schemeClr val="tx1"/>
                </a:solidFill>
              </a:rPr>
              <a:t>모바일에 맞게 화면 분리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0" idx="3"/>
            <a:endCxn id="211" idx="0"/>
          </p:cNvCxnSpPr>
          <p:nvPr/>
        </p:nvCxnSpPr>
        <p:spPr>
          <a:xfrm>
            <a:off x="6157461" y="3122385"/>
            <a:ext cx="2650822" cy="35736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3" idx="3"/>
            <a:endCxn id="223" idx="1"/>
          </p:cNvCxnSpPr>
          <p:nvPr/>
        </p:nvCxnSpPr>
        <p:spPr>
          <a:xfrm>
            <a:off x="6165996" y="3564281"/>
            <a:ext cx="194370" cy="2968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4" idx="3"/>
            <a:endCxn id="223" idx="1"/>
          </p:cNvCxnSpPr>
          <p:nvPr/>
        </p:nvCxnSpPr>
        <p:spPr>
          <a:xfrm flipV="1">
            <a:off x="6165996" y="3861128"/>
            <a:ext cx="194370" cy="15562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3" idx="0"/>
            <a:endCxn id="211" idx="0"/>
          </p:cNvCxnSpPr>
          <p:nvPr/>
        </p:nvCxnSpPr>
        <p:spPr>
          <a:xfrm rot="5400000" flipH="1" flipV="1">
            <a:off x="8101271" y="2852165"/>
            <a:ext cx="79429" cy="1334596"/>
          </a:xfrm>
          <a:prstGeom prst="bentConnector3">
            <a:avLst>
              <a:gd name="adj1" fmla="val 55226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865750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(3/4)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6862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3596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58563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35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849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 사용자 관리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2" idx="1"/>
          </p:cNvCxnSpPr>
          <p:nvPr/>
        </p:nvCxnSpPr>
        <p:spPr>
          <a:xfrm rot="16200000" flipH="1">
            <a:off x="5010477" y="3517206"/>
            <a:ext cx="1644659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5934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25349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34259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7" idx="3"/>
            <a:endCxn id="108" idx="1"/>
          </p:cNvCxnSpPr>
          <p:nvPr/>
        </p:nvCxnSpPr>
        <p:spPr>
          <a:xfrm>
            <a:off x="6858152" y="3116989"/>
            <a:ext cx="23044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6" idx="1"/>
          </p:cNvCxnSpPr>
          <p:nvPr/>
        </p:nvCxnSpPr>
        <p:spPr>
          <a:xfrm flipV="1">
            <a:off x="4326327" y="2676223"/>
            <a:ext cx="931134" cy="26823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7" idx="1"/>
          </p:cNvCxnSpPr>
          <p:nvPr/>
        </p:nvCxnSpPr>
        <p:spPr>
          <a:xfrm rot="16200000" flipH="1">
            <a:off x="5684423" y="2843260"/>
            <a:ext cx="296766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38713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개인신원확인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62" idx="1"/>
          </p:cNvCxnSpPr>
          <p:nvPr/>
        </p:nvCxnSpPr>
        <p:spPr>
          <a:xfrm rot="16200000" flipH="1">
            <a:off x="5235243" y="3292440"/>
            <a:ext cx="1195126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322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</a:rPr>
              <a:t>) </a:t>
            </a:r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인증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0" idx="1"/>
          </p:cNvCxnSpPr>
          <p:nvPr/>
        </p:nvCxnSpPr>
        <p:spPr>
          <a:xfrm rot="16200000" flipH="1">
            <a:off x="5457956" y="3069727"/>
            <a:ext cx="749700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175" idx="2"/>
          </p:cNvCxnSpPr>
          <p:nvPr/>
        </p:nvCxnSpPr>
        <p:spPr>
          <a:xfrm>
            <a:off x="7988595" y="3116989"/>
            <a:ext cx="729688" cy="8983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0" idx="3"/>
            <a:endCxn id="175" idx="2"/>
          </p:cNvCxnSpPr>
          <p:nvPr/>
        </p:nvCxnSpPr>
        <p:spPr>
          <a:xfrm>
            <a:off x="6858152" y="3569923"/>
            <a:ext cx="1860131" cy="445426"/>
          </a:xfrm>
          <a:prstGeom prst="bentConnector3">
            <a:avLst>
              <a:gd name="adj1" fmla="val 7996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75" idx="2"/>
          </p:cNvCxnSpPr>
          <p:nvPr/>
        </p:nvCxnSpPr>
        <p:spPr>
          <a:xfrm flipV="1">
            <a:off x="7988595" y="4015349"/>
            <a:ext cx="729688" cy="44953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9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</a:t>
            </a:r>
            <a:r>
              <a:rPr lang="ko-KR" altLang="en-US" sz="800" dirty="0" err="1">
                <a:solidFill>
                  <a:schemeClr val="tx1"/>
                </a:solidFill>
              </a:rPr>
              <a:t>상태변경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2" idx="3"/>
            <a:endCxn id="99" idx="1"/>
          </p:cNvCxnSpPr>
          <p:nvPr/>
        </p:nvCxnSpPr>
        <p:spPr>
          <a:xfrm>
            <a:off x="6858152" y="4464882"/>
            <a:ext cx="23044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175" idx="2"/>
          </p:cNvCxnSpPr>
          <p:nvPr/>
        </p:nvCxnSpPr>
        <p:spPr>
          <a:xfrm>
            <a:off x="6858152" y="4015349"/>
            <a:ext cx="186013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959807" y="4192141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대표자만 표시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9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</p:spTree>
    <p:extLst>
      <p:ext uri="{BB962C8B-B14F-4D97-AF65-F5344CB8AC3E}">
        <p14:creationId xmlns:p14="http://schemas.microsoft.com/office/powerpoint/2010/main" val="23147377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(4/4)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6917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4145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59113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408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04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4673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35890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6" idx="1"/>
          </p:cNvCxnSpPr>
          <p:nvPr/>
        </p:nvCxnSpPr>
        <p:spPr>
          <a:xfrm flipV="1">
            <a:off x="4326327" y="4025890"/>
            <a:ext cx="931134" cy="178788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0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내 파일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818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설정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권한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37" idx="1"/>
          </p:cNvCxnSpPr>
          <p:nvPr/>
        </p:nvCxnSpPr>
        <p:spPr>
          <a:xfrm flipV="1">
            <a:off x="4326327" y="4464746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6" idx="3"/>
            <a:endCxn id="175" idx="2"/>
          </p:cNvCxnSpPr>
          <p:nvPr/>
        </p:nvCxnSpPr>
        <p:spPr>
          <a:xfrm>
            <a:off x="6157461" y="4025890"/>
            <a:ext cx="256082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7" idx="3"/>
            <a:endCxn id="175" idx="2"/>
          </p:cNvCxnSpPr>
          <p:nvPr/>
        </p:nvCxnSpPr>
        <p:spPr>
          <a:xfrm flipV="1">
            <a:off x="6157461" y="4025890"/>
            <a:ext cx="2560822" cy="4388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75" idx="2"/>
          </p:cNvCxnSpPr>
          <p:nvPr/>
        </p:nvCxnSpPr>
        <p:spPr>
          <a:xfrm flipV="1">
            <a:off x="4326327" y="4025890"/>
            <a:ext cx="4391956" cy="2237556"/>
          </a:xfrm>
          <a:prstGeom prst="bentConnector3">
            <a:avLst>
              <a:gd name="adj1" fmla="val 7082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9116" y="3760565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대표자만 관리 표시</a:t>
            </a:r>
          </a:p>
        </p:txBody>
      </p: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0143" y="1769731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</p:spTree>
    <p:extLst>
      <p:ext uri="{BB962C8B-B14F-4D97-AF65-F5344CB8AC3E}">
        <p14:creationId xmlns:p14="http://schemas.microsoft.com/office/powerpoint/2010/main" val="276941833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마이페이지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MyPage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세부스텝팝업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MyPrgrsHstryDtl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나의진행업무현황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나의업무이력현황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MyTaskHstryPage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관심입찰공고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ItrstBidPbancPage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일정상세정보팝업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TaskCldrDtlPage.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수정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TaskCldrRegPage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삭제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TaskCldrDelPage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문서함상세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492727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DocBoxDtl_Info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첨언상세보기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DocBoxDtl_AtchOpnn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개인별수신처관리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IndvRcofcMngPage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관심법령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ItrstSttPage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나의게시물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디지털캐비닛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(2/5)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폴더설정권한관리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digitalCabinetMng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폴더내파일목록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digitalCabinetFileListPage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dirty="0">
                <a:solidFill>
                  <a:schemeClr val="tx1"/>
                </a:solidFill>
              </a:rPr>
              <a:t> 1)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294384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업체정보관리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bzentyGnrlInfoDtlPage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업체일반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 smtClean="0">
                <a:solidFill>
                  <a:schemeClr val="tx1"/>
                </a:solidFill>
                <a:latin typeface="+mn-ea"/>
              </a:rPr>
              <a:t>bzentyGnrlInfoDtl_Gnrl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시설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bzentyGnrlInfoDtl_Fclt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추가정보신청목록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DmstLctnColInfoAddRegPage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(3/5)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신청내역상세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신청내역상세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국내소재상사신청정보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조합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단체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AsctGrpChc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FSC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FSCChc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품류선택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KnditmChc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보안측정인원등록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ScrtyMsrmtPrsnlReg.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품목 조회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ItemInq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41300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등록대상 품목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RegTrgtItemChc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90347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7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dmstLctnColInfoAddReg_Cmbz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2" idx="0"/>
            <a:endCxn id="9" idx="2"/>
          </p:cNvCxnSpPr>
          <p:nvPr/>
        </p:nvCxnSpPr>
        <p:spPr>
          <a:xfrm flipH="1" flipV="1">
            <a:off x="4823691" y="3810190"/>
            <a:ext cx="509121" cy="602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3" idx="0"/>
            <a:endCxn id="9" idx="2"/>
          </p:cNvCxnSpPr>
          <p:nvPr/>
        </p:nvCxnSpPr>
        <p:spPr>
          <a:xfrm flipV="1">
            <a:off x="3855704" y="3810190"/>
            <a:ext cx="967987" cy="10801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4" idx="0"/>
            <a:endCxn id="9" idx="2"/>
          </p:cNvCxnSpPr>
          <p:nvPr/>
        </p:nvCxnSpPr>
        <p:spPr>
          <a:xfrm flipV="1">
            <a:off x="3855704" y="3810190"/>
            <a:ext cx="967987" cy="6023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41251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6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6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담당자정보저장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600" dirty="0" err="1">
                <a:solidFill>
                  <a:schemeClr val="tx1"/>
                </a:solidFill>
                <a:latin typeface="+mn-ea"/>
              </a:rPr>
              <a:t>dmstLctnColInfoAddReg_Pic</a:t>
            </a:r>
            <a:r>
              <a:rPr lang="en-US" altLang="ko-KR" sz="6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6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88483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주거래은행 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BankChc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행정정보공동이용 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사전동의서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확인팝업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Confirm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군수품무역대리업신청및발급목록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DfEqpmntTradeAgncAplyDtlPage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신규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갱신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(4/5)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국내조달원확인서신청목록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조달원확인서신청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국외조달원등록증신청안내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ovsdmstSosCnfdoc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560544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사용자정보관리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비밀번호인증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IndvCertPage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</a:rPr>
              <a:t>개인정보상세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UserMngController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개인정보수정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IndvInfoMdfcnPage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비밀번호변경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개인신원확인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IndvIdntIdntyPage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인증서관리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CrtfMng.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(5/5)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개인정보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CrtfIdnty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4329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 소속 사용자 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PrcmBzentyUserMngPage.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8" idx="3"/>
            <a:endCxn id="9" idx="1"/>
          </p:cNvCxnSpPr>
          <p:nvPr/>
        </p:nvCxnSpPr>
        <p:spPr>
          <a:xfrm flipV="1">
            <a:off x="2992582" y="2990174"/>
            <a:ext cx="967509" cy="22398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알림서비스신청및해지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NotiSrvcAplyPage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3" idx="3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회원탈퇴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MbWithdrawal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상태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PrcmBzentyUserSttsChg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endCxn id="67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5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066553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r="4806" b="32893"/>
          <a:stretch/>
        </p:blipFill>
        <p:spPr>
          <a:xfrm>
            <a:off x="856015" y="4368527"/>
            <a:ext cx="2362786" cy="1856909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>
            <a:normAutofit fontScale="92500" lnSpcReduction="10000"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진행 업무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진행중인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등 하단 메뉴 진입 시 검색 필터에 해당 정보를 </a:t>
            </a:r>
            <a:r>
              <a:rPr lang="ko-KR" altLang="en-US" dirty="0" err="1" smtClean="0"/>
              <a:t>필터링</a:t>
            </a:r>
            <a:r>
              <a:rPr lang="ko-KR" altLang="en-US" dirty="0" smtClean="0"/>
              <a:t> 하여 진입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입찰참가신청 건만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MUI-CM-06-M02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업무 이력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</a:t>
            </a:r>
            <a:r>
              <a:rPr lang="en-US" altLang="ko-KR" dirty="0"/>
              <a:t>, </a:t>
            </a:r>
            <a:r>
              <a:rPr lang="ko-KR" altLang="en-US" dirty="0"/>
              <a:t>취소</a:t>
            </a:r>
            <a:r>
              <a:rPr lang="en-US" altLang="ko-KR" dirty="0"/>
              <a:t>, </a:t>
            </a:r>
            <a:r>
              <a:rPr lang="ko-KR" altLang="en-US" dirty="0"/>
              <a:t>포기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MUI-CM-06-M04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입찰 공고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 </a:t>
            </a:r>
            <a:r>
              <a:rPr lang="en-US" altLang="ko-KR" dirty="0" smtClean="0"/>
              <a:t>MUI-CM-06-M05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</a:t>
            </a:r>
            <a:r>
              <a:rPr lang="ko-KR" altLang="en-US" dirty="0" smtClean="0"/>
              <a:t>캘린더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클릭 시 </a:t>
            </a:r>
            <a:r>
              <a:rPr lang="en-US" altLang="ko-KR" dirty="0" smtClean="0"/>
              <a:t>MUI-CM-06-M06 </a:t>
            </a:r>
            <a:r>
              <a:rPr lang="ko-KR" altLang="en-US" dirty="0" smtClean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즐겨찾기</a:t>
            </a:r>
            <a:r>
              <a:rPr lang="ko-KR" altLang="en-US" dirty="0"/>
              <a:t> 입찰공고</a:t>
            </a:r>
            <a:r>
              <a:rPr lang="en-US" altLang="ko-KR" dirty="0"/>
              <a:t>, </a:t>
            </a:r>
            <a:r>
              <a:rPr lang="ko-KR" altLang="en-US" dirty="0"/>
              <a:t>개인이 작성한 캘린더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캘린더에 노출</a:t>
            </a:r>
            <a:r>
              <a:rPr lang="en-US" altLang="ko-KR" dirty="0"/>
              <a:t>, </a:t>
            </a:r>
            <a:r>
              <a:rPr lang="ko-KR" altLang="en-US" dirty="0"/>
              <a:t>업무가 있는 날짜에 표식 </a:t>
            </a:r>
            <a:r>
              <a:rPr lang="ko-KR" altLang="en-US" dirty="0" smtClean="0"/>
              <a:t>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날짜 선택 시 하단 </a:t>
            </a:r>
            <a:r>
              <a:rPr lang="en-US" altLang="ko-KR" dirty="0" smtClean="0"/>
              <a:t>6</a:t>
            </a:r>
            <a:r>
              <a:rPr lang="ko-KR" altLang="en-US" dirty="0" err="1" smtClean="0"/>
              <a:t>번항에</a:t>
            </a:r>
            <a:r>
              <a:rPr lang="ko-KR" altLang="en-US" dirty="0" smtClean="0"/>
              <a:t> </a:t>
            </a:r>
            <a:r>
              <a:rPr lang="en-US" altLang="ko-KR" dirty="0" smtClean="0"/>
              <a:t>3</a:t>
            </a:r>
            <a:r>
              <a:rPr lang="ko-KR" altLang="en-US" dirty="0" smtClean="0"/>
              <a:t>개까지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공고 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해당 입찰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개인이 작성한 스케줄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- 6~7 </a:t>
            </a:r>
            <a:r>
              <a:rPr lang="ko-KR" altLang="en-US" dirty="0"/>
              <a:t>항목은 합쳐서 최대 </a:t>
            </a:r>
            <a:r>
              <a:rPr lang="en-US" altLang="ko-KR" dirty="0"/>
              <a:t>3</a:t>
            </a:r>
            <a:r>
              <a:rPr lang="ko-KR" altLang="en-US" dirty="0"/>
              <a:t>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바텀시트로</a:t>
            </a:r>
            <a:r>
              <a:rPr lang="ko-KR" altLang="en-US" dirty="0"/>
              <a:t> 세부 정보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MUI-CM-06-P07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받은 문서 등으로 진입할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검색 필터에 해당 정보로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</a:t>
            </a:r>
            <a:r>
              <a:rPr lang="ko-KR" altLang="en-US" dirty="0" err="1" smtClean="0"/>
              <a:t>한달이내</a:t>
            </a:r>
            <a:r>
              <a:rPr lang="ko-KR" altLang="en-US" dirty="0" smtClean="0"/>
              <a:t>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문서함 클릭 </a:t>
            </a:r>
            <a:r>
              <a:rPr lang="en-US" altLang="ko-KR" dirty="0" smtClean="0"/>
              <a:t>- MUI-CM-06-M10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 등 클릭 시 </a:t>
            </a:r>
            <a:r>
              <a:rPr lang="en-US" altLang="ko-KR" dirty="0" smtClean="0"/>
              <a:t>MUI-CM-06-M10</a:t>
            </a:r>
            <a:r>
              <a:rPr lang="ko-KR" altLang="en-US" dirty="0" smtClean="0"/>
              <a:t>이동하면서 검색 필터 적용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즐겨찾기한</a:t>
            </a:r>
            <a:r>
              <a:rPr lang="ko-KR" altLang="en-US" dirty="0"/>
              <a:t> </a:t>
            </a:r>
            <a:r>
              <a:rPr lang="ko-KR" altLang="en-US" dirty="0" err="1"/>
              <a:t>관심법령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MUI-CM-06-M13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나의 게시물 </a:t>
            </a:r>
            <a:r>
              <a:rPr lang="en-US" altLang="ko-KR" dirty="0"/>
              <a:t>MUI-CM-06-M17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205597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[A </a:t>
            </a:r>
            <a:r>
              <a:rPr lang="ko-KR" altLang="en-US" sz="800" b="1" dirty="0">
                <a:latin typeface="+mn-ea"/>
              </a:rPr>
              <a:t>업체</a:t>
            </a:r>
            <a:r>
              <a:rPr lang="en-US" altLang="ko-KR" sz="800" b="1" dirty="0">
                <a:latin typeface="+mn-ea"/>
              </a:rPr>
              <a:t>] </a:t>
            </a:r>
            <a:r>
              <a:rPr lang="ko-KR" altLang="en-US" sz="800" b="1" dirty="0">
                <a:latin typeface="+mn-ea"/>
              </a:rPr>
              <a:t>홍길동 님</a:t>
            </a:r>
          </a:p>
        </p:txBody>
      </p:sp>
      <p:sp>
        <p:nvSpPr>
          <p:cNvPr id="43" name="타원 42"/>
          <p:cNvSpPr/>
          <p:nvPr/>
        </p:nvSpPr>
        <p:spPr>
          <a:xfrm>
            <a:off x="3044537" y="199596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/>
          <p:cNvSpPr txBox="1"/>
          <p:nvPr/>
        </p:nvSpPr>
        <p:spPr>
          <a:xfrm>
            <a:off x="3002436" y="1977892"/>
            <a:ext cx="2824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900" dirty="0"/>
              <a:t>⚙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5" name="모서리가 둥근 직사각형 44"/>
          <p:cNvSpPr/>
          <p:nvPr/>
        </p:nvSpPr>
        <p:spPr>
          <a:xfrm>
            <a:off x="903581" y="2423118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/>
          <p:cNvGrpSpPr/>
          <p:nvPr/>
        </p:nvGrpSpPr>
        <p:grpSpPr>
          <a:xfrm>
            <a:off x="903581" y="2344367"/>
            <a:ext cx="2255663" cy="306146"/>
            <a:chOff x="903581" y="2074658"/>
            <a:chExt cx="2255663" cy="30614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진행 업무 현황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21050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입찰참가신청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적격심사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기술평가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사양서평가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0713" y="2721050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2721050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511341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업무 이력 현황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3893585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입찰공고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429257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업무 캘린더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2737360" y="4273131"/>
            <a:ext cx="419793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600" b="1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&gt;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8" name="그룹 67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1" name="타원 7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4018745" y="5462173"/>
            <a:ext cx="2255663" cy="306146"/>
            <a:chOff x="903581" y="2074658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법령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4018745" y="255130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27957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26475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41727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모서리가 둥근 직사각형 83"/>
          <p:cNvSpPr/>
          <p:nvPr/>
        </p:nvSpPr>
        <p:spPr>
          <a:xfrm>
            <a:off x="4150219" y="26421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27313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8745" y="3060026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3045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1562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150219" y="31508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2400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4018745" y="356875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8132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66502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>
            <a:off x="4150219" y="365955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74876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4018745" y="4379511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그룹 101"/>
          <p:cNvGrpSpPr/>
          <p:nvPr/>
        </p:nvGrpSpPr>
        <p:grpSpPr>
          <a:xfrm>
            <a:off x="4018745" y="4300760"/>
            <a:ext cx="2255663" cy="306146"/>
            <a:chOff x="903581" y="2074658"/>
            <a:chExt cx="2255663" cy="306146"/>
          </a:xfrm>
        </p:grpSpPr>
        <p:sp>
          <p:nvSpPr>
            <p:cNvPr id="103" name="모서리가 둥근 직사각형 10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문서함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4677443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받은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보낸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반려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임시저장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5877" y="4677443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86447" y="4677443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783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66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824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086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2958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37357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43921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5662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pic>
        <p:nvPicPr>
          <p:cNvPr id="120" name="그림 119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75623" r="4806" b="2422"/>
          <a:stretch/>
        </p:blipFill>
        <p:spPr>
          <a:xfrm>
            <a:off x="3964017" y="1859484"/>
            <a:ext cx="2362786" cy="607512"/>
          </a:xfrm>
          <a:prstGeom prst="rect">
            <a:avLst/>
          </a:prstGeom>
        </p:spPr>
      </p:pic>
      <p:grpSp>
        <p:nvGrpSpPr>
          <p:cNvPr id="118" name="그룹 117"/>
          <p:cNvGrpSpPr/>
          <p:nvPr/>
        </p:nvGrpSpPr>
        <p:grpSpPr>
          <a:xfrm>
            <a:off x="4018745" y="5841212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게시물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889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 smtClean="0"/>
              <a:t>10</a:t>
            </a:r>
            <a:endParaRPr lang="ko-KR" altLang="en-US" sz="800" b="1" dirty="0"/>
          </a:p>
        </p:txBody>
      </p:sp>
    </p:spTree>
    <p:extLst>
      <p:ext uri="{BB962C8B-B14F-4D97-AF65-F5344CB8AC3E}">
        <p14:creationId xmlns:p14="http://schemas.microsoft.com/office/powerpoint/2010/main" val="93852922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페이지 또는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 보관함 </a:t>
            </a:r>
            <a:r>
              <a:rPr lang="en-US" altLang="ko-KR" dirty="0"/>
              <a:t>MUI-CM-01-M71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latin typeface="+mn-ea"/>
              </a:rPr>
              <a:t>업체정보 관리 </a:t>
            </a:r>
            <a:r>
              <a:rPr lang="en-US" altLang="ko-KR" dirty="0" smtClean="0">
                <a:latin typeface="+mn-ea"/>
              </a:rPr>
              <a:t>MUI-CM-01-M01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사용자 정보 관리 </a:t>
            </a:r>
            <a:r>
              <a:rPr lang="en-US" altLang="ko-KR" dirty="0" smtClean="0">
                <a:latin typeface="+mn-ea"/>
              </a:rPr>
              <a:t>MUI-CM-02-M01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디지털 캐비닛 </a:t>
            </a:r>
            <a:r>
              <a:rPr lang="en-US" altLang="ko-KR" dirty="0" smtClean="0">
                <a:latin typeface="+mn-ea"/>
              </a:rPr>
              <a:t>MUI-CM-06-M14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알림 서비스 </a:t>
            </a:r>
            <a:r>
              <a:rPr lang="en-US" altLang="ko-KR" dirty="0">
                <a:latin typeface="+mn-ea"/>
              </a:rPr>
              <a:t>MUI-CM-02-M09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2411372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2793616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사용자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3173892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디지털 캐비닛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3559184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202149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보관함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10362424" y="585047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회원탈퇴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국외보관함</a:t>
              </a:r>
              <a:r>
                <a:rPr lang="ko-KR" altLang="en-US" sz="700" dirty="0" smtClean="0"/>
                <a:t> 추가</a:t>
              </a:r>
              <a:endParaRPr lang="en-US" altLang="ko-KR" sz="700" dirty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회원탈퇴 제거 </a:t>
              </a:r>
              <a:r>
                <a:rPr lang="en-US" altLang="ko-KR" sz="700" dirty="0" smtClean="0"/>
                <a:t>– </a:t>
              </a:r>
              <a:r>
                <a:rPr lang="ko-KR" altLang="en-US" sz="700" dirty="0" smtClean="0"/>
                <a:t>회원탈퇴는 사용자 정보 화면으로 이동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5078510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30297"/>
            <a:ext cx="217424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dl_wdgtList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90978"/>
              </p:ext>
            </p:extLst>
          </p:nvPr>
        </p:nvGraphicFramePr>
        <p:xfrm>
          <a:off x="452999" y="1814051"/>
          <a:ext cx="8994883" cy="1867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위젯명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위젯명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wdgtMyTaskPrgrsPrst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2393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wdgtMyPst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811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wdgtItrstPbanc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875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wdgtTaskCldr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817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wdgtMyDocBox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187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wdgtNotiPrst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7758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wdgtItrstStt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32971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054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027433"/>
              </p:ext>
            </p:extLst>
          </p:nvPr>
        </p:nvGraphicFramePr>
        <p:xfrm>
          <a:off x="453000" y="4200291"/>
          <a:ext cx="8995591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사용자가 정의한 위젯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scwin.showMore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위젯 정보의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UI-CM-06-M03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UI-CM-06-M05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UI-CM-06-M06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7293962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FAC1962-C944-E2B4-5DF0-0324665AB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777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57D18B0-B117-96B9-3853-C02FAA96F96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8E0EA43-D1BD-0BAA-E3BC-D7F36797F54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35F1B0E-0FD5-E54A-A8DB-6022A7B6F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3152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</a:t>
            </a:r>
            <a:r>
              <a:rPr lang="ko-KR" altLang="en-US" dirty="0" smtClean="0">
                <a:sym typeface="Wingdings" panose="05000000000000000000" pitchFamily="2" charset="2"/>
              </a:rPr>
              <a:t>호출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MUI-CM-06-P03</a:t>
            </a:r>
            <a:endParaRPr lang="en-US" altLang="ko-KR" dirty="0" smtClean="0">
              <a:sym typeface="Wingdings" panose="05000000000000000000" pitchFamily="2" charset="2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665237"/>
            <a:chOff x="781461" y="2610063"/>
            <a:chExt cx="2473257" cy="665237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25771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2026-03-30 16:30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665237"/>
            <a:chOff x="778515" y="2610063"/>
            <a:chExt cx="2476203" cy="66523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460048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2026-03-15 11:30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1211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적격심사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48687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45827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09786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17" name="그룹 1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60259543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 단계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진행 단계 클릭 시 선택이 유지되며</a:t>
            </a:r>
            <a:r>
              <a:rPr lang="en-US" altLang="ko-KR" dirty="0" smtClean="0"/>
              <a:t>,</a:t>
            </a:r>
            <a:r>
              <a:rPr lang="ko-KR" altLang="en-US" dirty="0" smtClean="0"/>
              <a:t> 하단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버튼으로 해당하는 목록으로 이동함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공고에 매칭되는 정보만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해당 공고의 정보가 사용자가 선택하는 목록에 없는 경우 정보가 없음을 표시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</a:t>
            </a:r>
            <a:r>
              <a:rPr lang="ko-KR" altLang="en-US" dirty="0" smtClean="0">
                <a:solidFill>
                  <a:srgbClr val="FF0000"/>
                </a:solidFill>
              </a:rPr>
              <a:t> 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목록까지 해당 공고가 표시되고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전자계약</a:t>
            </a:r>
            <a:r>
              <a:rPr lang="ko-KR" altLang="en-US" dirty="0" smtClean="0">
                <a:solidFill>
                  <a:srgbClr val="FF0000"/>
                </a:solidFill>
              </a:rPr>
              <a:t> 목록부터는 해당 공고가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선택된 목록에는 검색 영역이 숨겨지고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선택한 공고에 해당하는 정보만 표시함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목록에서 해당 공고가 표시될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검색 영역이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상기 표시된 단계 상태에 선택된 목록으로 이동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세부 스텝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진행중인 공고의 진행 단계를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진행 단계 확인</a:t>
            </a:r>
          </a:p>
          <a:p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진행 단계 확인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26417" b="16151"/>
          <a:stretch/>
        </p:blipFill>
        <p:spPr>
          <a:xfrm>
            <a:off x="754234" y="2403907"/>
            <a:ext cx="2563266" cy="3320488"/>
          </a:xfrm>
          <a:prstGeom prst="rect">
            <a:avLst/>
          </a:prstGeom>
        </p:spPr>
      </p:pic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29" name="그룹 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0" name="직사각형 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명칭 </a:t>
              </a:r>
              <a:r>
                <a:rPr lang="en-US" altLang="ko-KR" sz="700" dirty="0" smtClean="0"/>
                <a:t>[</a:t>
              </a:r>
              <a:r>
                <a:rPr lang="ko-KR" altLang="en-US" sz="700" dirty="0" smtClean="0"/>
                <a:t>공고 </a:t>
              </a:r>
              <a:r>
                <a:rPr lang="ko-KR" altLang="en-US" sz="700" dirty="0" err="1" smtClean="0"/>
                <a:t>바로가기</a:t>
              </a:r>
              <a:r>
                <a:rPr lang="en-US" altLang="ko-KR" sz="700" dirty="0" smtClean="0"/>
                <a:t>]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[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바로가기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]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 변경</a:t>
              </a:r>
              <a:endParaRPr lang="en-US" altLang="ko-KR" sz="700" dirty="0" smtClean="0">
                <a:sym typeface="Wingdings" panose="05000000000000000000" pitchFamily="2" charset="2"/>
              </a:endParaRPr>
            </a:p>
            <a:p>
              <a:pPr marL="228600" indent="-228600">
                <a:buAutoNum type="arabicPeriod"/>
              </a:pPr>
              <a:r>
                <a:rPr lang="ko-KR" altLang="en-US" sz="700" dirty="0" smtClean="0">
                  <a:sym typeface="Wingdings" panose="05000000000000000000" pitchFamily="2" charset="2"/>
                </a:rPr>
                <a:t>설명 추가 작성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7286207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이력 현황에 표시되는 </a:t>
            </a:r>
            <a:r>
              <a:rPr lang="en-US" altLang="ko-KR" dirty="0" smtClean="0"/>
              <a:t>4</a:t>
            </a:r>
            <a:r>
              <a:rPr lang="ko-KR" altLang="en-US" dirty="0" smtClean="0"/>
              <a:t>가지 현황을 선택하여 볼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각각 표시되는 항목은 개별 목록에 따라 다름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표시 정보 아래의 목록 참조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입찰서 제출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공개수의협상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계약통합목록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진행중인 </a:t>
            </a:r>
            <a:r>
              <a:rPr lang="ko-KR" altLang="en-US" dirty="0"/>
              <a:t>업무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상세 화면으로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 진행 상세 </a:t>
            </a:r>
            <a:r>
              <a:rPr lang="en-US" altLang="ko-KR" dirty="0" smtClean="0"/>
              <a:t>MUI-BD-03-M02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상세는 조건에 따라 분기되어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MUI-CT-01-M03 </a:t>
            </a:r>
            <a:r>
              <a:rPr lang="ko-KR" altLang="en-US" dirty="0" err="1"/>
              <a:t>물품전자계약진행상세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MUI-CT-01-M04 </a:t>
            </a:r>
            <a:r>
              <a:rPr lang="ko-KR" altLang="en-US" dirty="0" err="1"/>
              <a:t>물품전자계약확정상세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MUI-CT-01-M09 </a:t>
            </a:r>
            <a:r>
              <a:rPr lang="ko-KR" altLang="en-US" dirty="0" err="1"/>
              <a:t>공사전자계약진행상세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MUI-CT-01-M07 </a:t>
            </a:r>
            <a:r>
              <a:rPr lang="ko-KR" altLang="en-US" dirty="0" smtClean="0"/>
              <a:t>물품총액계약서상세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MUI-CT-01-M08 </a:t>
            </a:r>
            <a:r>
              <a:rPr lang="ko-KR" altLang="en-US" dirty="0" smtClean="0"/>
              <a:t>물품단가계약서상세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MUI-CT-01-M05 </a:t>
            </a:r>
            <a:r>
              <a:rPr lang="ko-KR" altLang="en-US" dirty="0" smtClean="0"/>
              <a:t>물품일반계약서상세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MUI-CT-01-M10 </a:t>
            </a:r>
            <a:r>
              <a:rPr lang="ko-KR" altLang="en-US" dirty="0" smtClean="0"/>
              <a:t>공사계약서상세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MUI-CT-01-M06 </a:t>
            </a:r>
            <a:r>
              <a:rPr lang="ko-KR" altLang="en-US" dirty="0"/>
              <a:t>물품수정계약서상세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나의업무이력현황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업무 이력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7276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65283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65283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367106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751142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994104"/>
            <a:ext cx="2476203" cy="1080735"/>
            <a:chOff x="778515" y="2610063"/>
            <a:chExt cx="2476203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7017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>
                  <a:latin typeface="+mn-ea"/>
                </a:rPr>
                <a:t>입찰서제출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9942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9656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755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168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265283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25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20491" y="1941161"/>
            <a:ext cx="2621844" cy="199577"/>
            <a:chOff x="720490" y="1941161"/>
            <a:chExt cx="2938973" cy="199577"/>
          </a:xfrm>
        </p:grpSpPr>
        <p:sp>
          <p:nvSpPr>
            <p:cNvPr id="11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20490" y="1941161"/>
              <a:ext cx="698735" cy="199577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>
                  <a:solidFill>
                    <a:schemeClr val="bg1"/>
                  </a:solidFill>
                </a:rPr>
                <a:t>입찰참가신청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66334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 err="1"/>
                <a:t>입찰서제출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213531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공개수의협상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960728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계약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상단 분기 버튼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66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0027646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입찰공고 내역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표시 아이콘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smtClean="0"/>
              <a:t>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페이지 유지 시 </a:t>
            </a:r>
            <a:r>
              <a:rPr lang="ko-KR" altLang="en-US" dirty="0" err="1" smtClean="0"/>
              <a:t>리로드하지</a:t>
            </a:r>
            <a:r>
              <a:rPr lang="ko-KR" altLang="en-US" dirty="0" smtClean="0"/>
              <a:t> 않고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별 하이라이트가 </a:t>
            </a:r>
            <a:r>
              <a:rPr lang="en-US" altLang="ko-KR" dirty="0" smtClean="0"/>
              <a:t>OFF</a:t>
            </a:r>
            <a:r>
              <a:rPr lang="ko-KR" altLang="en-US" dirty="0" smtClean="0"/>
              <a:t>으로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페이지를 이탈했다 다시 접근하는 경우 </a:t>
            </a:r>
            <a:r>
              <a:rPr lang="ko-KR" altLang="en-US" dirty="0" err="1" smtClean="0">
                <a:solidFill>
                  <a:srgbClr val="FF0000"/>
                </a:solidFill>
              </a:rPr>
              <a:t>즐겨찾기</a:t>
            </a:r>
            <a:r>
              <a:rPr lang="ko-KR" altLang="en-US" dirty="0" smtClean="0">
                <a:solidFill>
                  <a:srgbClr val="FF0000"/>
                </a:solidFill>
              </a:rPr>
              <a:t> 된 항목만 표시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strike="sngStrike" dirty="0" err="1"/>
              <a:t>즐겨찾기</a:t>
            </a:r>
            <a:r>
              <a:rPr lang="ko-KR" altLang="en-US" strike="sngStrike" dirty="0"/>
              <a:t> 해제 팝업</a:t>
            </a:r>
            <a:r>
              <a:rPr lang="en-US" altLang="ko-KR" strike="sngStrike" dirty="0"/>
              <a:t/>
            </a:r>
            <a:br>
              <a:rPr lang="en-US" altLang="ko-KR" strike="sngStrike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다음부터 묻지 않기를 통해 앱 </a:t>
            </a:r>
            <a:r>
              <a:rPr lang="ko-KR" altLang="en-US" strike="sngStrike" dirty="0" err="1"/>
              <a:t>스토리지에</a:t>
            </a:r>
            <a:r>
              <a:rPr lang="ko-KR" altLang="en-US" strike="sngStrike" dirty="0"/>
              <a:t> 내역 저장하고</a:t>
            </a:r>
            <a:r>
              <a:rPr lang="en-US" altLang="ko-KR" strike="sngStrike" dirty="0"/>
              <a:t>, </a:t>
            </a:r>
            <a:r>
              <a:rPr lang="ko-KR" altLang="en-US" strike="sngStrike" dirty="0"/>
              <a:t>클릭 이후 즉시 </a:t>
            </a:r>
            <a:r>
              <a:rPr lang="ko-KR" altLang="en-US" strike="sngStrike" dirty="0" err="1"/>
              <a:t>즐겨찾기</a:t>
            </a:r>
            <a:r>
              <a:rPr lang="ko-KR" altLang="en-US" strike="sngStrike" dirty="0"/>
              <a:t> </a:t>
            </a:r>
            <a:r>
              <a:rPr lang="ko-KR" altLang="en-US" strike="sngStrike" dirty="0" smtClean="0"/>
              <a:t>해제</a:t>
            </a:r>
            <a:endParaRPr lang="en-US" altLang="ko-KR" strike="sngStrike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즐겨찾기</a:t>
            </a:r>
            <a:r>
              <a:rPr lang="ko-KR" altLang="en-US" dirty="0" smtClean="0"/>
              <a:t> 해제 시 토스트 메시지 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관심입찰공고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관심입찰공고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2178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07637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6" y="3638607"/>
            <a:ext cx="2476202" cy="1080735"/>
            <a:chOff x="778516" y="2610063"/>
            <a:chExt cx="2476202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78516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075656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42334" y="2522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9" name="포인트가 5개인 별 98"/>
          <p:cNvSpPr/>
          <p:nvPr/>
        </p:nvSpPr>
        <p:spPr>
          <a:xfrm>
            <a:off x="3095327" y="252217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포인트가 5개인 별 99"/>
          <p:cNvSpPr/>
          <p:nvPr/>
        </p:nvSpPr>
        <p:spPr>
          <a:xfrm>
            <a:off x="3095327" y="378195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3861751" y="3094459"/>
            <a:ext cx="2579992" cy="1519296"/>
            <a:chOff x="3905688" y="3002600"/>
            <a:chExt cx="2579992" cy="1519296"/>
          </a:xfrm>
        </p:grpSpPr>
        <p:sp>
          <p:nvSpPr>
            <p:cNvPr id="110" name="모서리가 둥근 직사각형 109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해제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관심공고</a:t>
              </a:r>
              <a:r>
                <a:rPr lang="ko-KR" altLang="en-US" sz="900" b="1" dirty="0">
                  <a:latin typeface="+mn-ea"/>
                </a:rPr>
                <a:t> 해제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94108" y="3769306"/>
              <a:ext cx="153441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다음부터 묻지 않기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해제하면 관심입찰공고 목록과 업무 캘린더에서 선택하신 입찰공고가 사라집니다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</a:t>
              </a:r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8" name="그룹 117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" name="그룹 4"/>
          <p:cNvGrpSpPr/>
          <p:nvPr/>
        </p:nvGrpSpPr>
        <p:grpSpPr>
          <a:xfrm>
            <a:off x="4514140" y="3832746"/>
            <a:ext cx="221536" cy="184666"/>
            <a:chOff x="3830871" y="2481673"/>
            <a:chExt cx="221536" cy="184666"/>
          </a:xfrm>
        </p:grpSpPr>
        <p:sp>
          <p:nvSpPr>
            <p:cNvPr id="123" name="직사각형 122"/>
            <p:cNvSpPr/>
            <p:nvPr/>
          </p:nvSpPr>
          <p:spPr>
            <a:xfrm>
              <a:off x="3890202" y="252003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30871" y="2481673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31929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cxnSp>
        <p:nvCxnSpPr>
          <p:cNvPr id="7" name="직선 연결선 6"/>
          <p:cNvCxnSpPr/>
          <p:nvPr/>
        </p:nvCxnSpPr>
        <p:spPr>
          <a:xfrm flipH="1">
            <a:off x="3700924" y="2940208"/>
            <a:ext cx="2917590" cy="1763745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4435552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관심공고에서 제외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58536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360965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6865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01"/>
            <a:ext cx="28539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dl_itrstBidPbancList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806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003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6655"/>
          <a:ext cx="8994883" cy="2836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51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61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taskSeNm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:GTSA0001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g2bPbancNoCycl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prcmNo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prdcpvSbmsnDcmntDdlnDt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4571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bidRegDdlnDt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224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tndrSbmsnDdlnDt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470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bdopnDt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0713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332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bidShp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:BMDC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81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678110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090E7E8-C9B9-2137-4E56-5636F631CC8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8CDD53D7-9569-50DE-5C9A-9DA088329DC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6369C9BE-4C9F-797E-A3BA-7BAB624BF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070199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617717"/>
            <a:ext cx="1222242" cy="22659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D9706EB-63A9-0124-E495-42F1454AEE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868603"/>
              </p:ext>
            </p:extLst>
          </p:nvPr>
        </p:nvGraphicFramePr>
        <p:xfrm>
          <a:off x="453000" y="87210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9133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140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343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입찰건명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02181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B5224CA-452A-F073-EA56-08ACA48E9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6138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064795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 스케줄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 smtClean="0"/>
              <a:t>관심공고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클릭 시 해당 공고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 등록 </a:t>
            </a:r>
            <a:r>
              <a:rPr lang="ko-KR" altLang="en-US" dirty="0" smtClean="0"/>
              <a:t>스케줄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상세내역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바텀</a:t>
            </a:r>
            <a:r>
              <a:rPr lang="ko-KR" altLang="en-US" dirty="0" smtClean="0"/>
              <a:t> 시트 호출 </a:t>
            </a:r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해당일에 일정이 없는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일정 없음  텍스트 및 일정 등록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57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1" name="모서리가 둥근 직사각형 70"/>
          <p:cNvSpPr/>
          <p:nvPr/>
        </p:nvSpPr>
        <p:spPr>
          <a:xfrm>
            <a:off x="778516" y="450477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474925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460104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909990" y="459558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468479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78516" y="5013501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2579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1097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9990" y="51043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1935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78516" y="552222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7667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6184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909990" y="56130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7022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3350" r="4806" b="2041"/>
          <a:stretch/>
        </p:blipFill>
        <p:spPr>
          <a:xfrm>
            <a:off x="739935" y="1892593"/>
            <a:ext cx="2545377" cy="2219046"/>
          </a:xfrm>
          <a:prstGeom prst="rect">
            <a:avLst/>
          </a:prstGeom>
        </p:spPr>
      </p:pic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1856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28385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2026</a:t>
            </a:r>
            <a:r>
              <a:rPr lang="ko-KR" altLang="en-US" sz="800" b="1" dirty="0">
                <a:latin typeface="+mn-ea"/>
              </a:rPr>
              <a:t>년 </a:t>
            </a:r>
            <a:r>
              <a:rPr lang="en-US" altLang="ko-KR" sz="800" b="1" dirty="0">
                <a:latin typeface="+mn-ea"/>
              </a:rPr>
              <a:t>8</a:t>
            </a:r>
            <a:r>
              <a:rPr lang="ko-KR" altLang="en-US" sz="800" b="1" dirty="0">
                <a:latin typeface="+mn-ea"/>
              </a:rPr>
              <a:t>월 </a:t>
            </a:r>
            <a:r>
              <a:rPr lang="en-US" altLang="ko-KR" sz="800" b="1" dirty="0">
                <a:latin typeface="+mn-ea"/>
              </a:rPr>
              <a:t>12</a:t>
            </a:r>
            <a:r>
              <a:rPr lang="ko-KR" altLang="en-US" sz="800" b="1" dirty="0">
                <a:latin typeface="+mn-ea"/>
              </a:rPr>
              <a:t>일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6243" y="425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5" name="포인트가 5개인 별 94"/>
          <p:cNvSpPr/>
          <p:nvPr/>
        </p:nvSpPr>
        <p:spPr>
          <a:xfrm>
            <a:off x="2777831" y="4658958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포인트가 5개인 별 95"/>
          <p:cNvSpPr/>
          <p:nvPr/>
        </p:nvSpPr>
        <p:spPr>
          <a:xfrm>
            <a:off x="2777831" y="5167683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3646" y="5193517"/>
            <a:ext cx="2476202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27315" y="4266950"/>
            <a:ext cx="527403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769" y="49596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표시할 일정이 없습니다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1515996"/>
            <a:ext cx="2712027" cy="2890970"/>
            <a:chOff x="3777376" y="1515996"/>
            <a:chExt cx="2712027" cy="2890970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32878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업무 캘린더</a:t>
              </a: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5" name="그룹 104"/>
            <p:cNvGrpSpPr/>
            <p:nvPr/>
          </p:nvGrpSpPr>
          <p:grpSpPr>
            <a:xfrm rot="5400000">
              <a:off x="3851819" y="1640499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8" name="타원 107"/>
            <p:cNvSpPr/>
            <p:nvPr/>
          </p:nvSpPr>
          <p:spPr>
            <a:xfrm>
              <a:off x="6141343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6090092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t="3350" r="4806" b="2041"/>
            <a:stretch/>
          </p:blipFill>
          <p:spPr>
            <a:xfrm>
              <a:off x="3836741" y="1892593"/>
              <a:ext cx="2545377" cy="2219046"/>
            </a:xfrm>
            <a:prstGeom prst="rect">
              <a:avLst/>
            </a:prstGeom>
          </p:spPr>
        </p:pic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41856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5322" y="4283855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2026</a:t>
              </a:r>
              <a:r>
                <a:rPr lang="ko-KR" altLang="en-US" sz="800" b="1" dirty="0">
                  <a:latin typeface="+mn-ea"/>
                </a:rPr>
                <a:t>년 </a:t>
              </a:r>
              <a:r>
                <a:rPr lang="en-US" altLang="ko-KR" sz="800" b="1" dirty="0">
                  <a:latin typeface="+mn-ea"/>
                </a:rPr>
                <a:t>8</a:t>
              </a:r>
              <a:r>
                <a:rPr lang="ko-KR" altLang="en-US" sz="800" b="1" dirty="0">
                  <a:latin typeface="+mn-ea"/>
                </a:rPr>
                <a:t>월 </a:t>
              </a:r>
              <a:r>
                <a:rPr lang="en-US" altLang="ko-KR" sz="800" b="1" dirty="0">
                  <a:latin typeface="+mn-ea"/>
                </a:rPr>
                <a:t>12</a:t>
              </a:r>
              <a:r>
                <a:rPr lang="ko-KR" altLang="en-US" sz="800" b="1" dirty="0">
                  <a:latin typeface="+mn-ea"/>
                </a:rPr>
                <a:t>일</a:t>
              </a:r>
            </a:p>
          </p:txBody>
        </p:sp>
      </p:grp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807" y="18854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0302360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060654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348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41543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수정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수정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 시 확인 팝업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팝업에서 삭제 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삭제되었습니다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 메시지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일정 상세 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상세 정보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82728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90860"/>
            <a:ext cx="25326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2585131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2026</a:t>
            </a:r>
            <a:r>
              <a:rPr lang="ko-KR" altLang="en-US" sz="800" dirty="0">
                <a:latin typeface="+mn-ea"/>
              </a:rPr>
              <a:t>년 </a:t>
            </a:r>
            <a:r>
              <a:rPr lang="en-US" altLang="ko-KR" sz="800" dirty="0">
                <a:latin typeface="+mn-ea"/>
              </a:rPr>
              <a:t>8</a:t>
            </a:r>
            <a:r>
              <a:rPr lang="ko-KR" altLang="en-US" sz="800" dirty="0">
                <a:latin typeface="+mn-ea"/>
              </a:rPr>
              <a:t>월 </a:t>
            </a:r>
            <a:r>
              <a:rPr lang="en-US" altLang="ko-KR" sz="800" dirty="0">
                <a:latin typeface="+mn-ea"/>
              </a:rPr>
              <a:t>12</a:t>
            </a:r>
            <a:r>
              <a:rPr lang="ko-KR" altLang="en-US" sz="800" dirty="0">
                <a:latin typeface="+mn-ea"/>
              </a:rPr>
              <a:t>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선택 날짜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029079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작성한 스케줄이 있는 경우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28004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674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873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084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0630888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미입력</a:t>
            </a:r>
            <a:r>
              <a:rPr lang="ko-KR" altLang="en-US" dirty="0"/>
              <a:t> 유효성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수정에 따라 버튼 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등록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수정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일정을 등록하거나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수정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등록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034351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619437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06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8812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1556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모서리가 둥근 직사각형 39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0925" y="2655701"/>
            <a:ext cx="134873" cy="137278"/>
          </a:xfrm>
          <a:prstGeom prst="rect">
            <a:avLst/>
          </a:prstGeom>
        </p:spPr>
      </p:pic>
      <p:sp>
        <p:nvSpPr>
          <p:cNvPr id="42" name="모서리가 둥근 직사각형 41"/>
          <p:cNvSpPr/>
          <p:nvPr/>
        </p:nvSpPr>
        <p:spPr>
          <a:xfrm>
            <a:off x="720467" y="3244531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20467" y="3823033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8301" y="160835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799" y="184693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 rot="5400000">
            <a:off x="3877242" y="1640498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3" name="타원 52"/>
          <p:cNvSpPr/>
          <p:nvPr/>
        </p:nvSpPr>
        <p:spPr>
          <a:xfrm>
            <a:off x="6166766" y="158037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/>
          <p:cNvSpPr txBox="1"/>
          <p:nvPr/>
        </p:nvSpPr>
        <p:spPr>
          <a:xfrm>
            <a:off x="6115515" y="1515995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8908" y="1493926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3802083" y="1908438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4888096" y="1945065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6291022" y="2079481"/>
            <a:ext cx="94010" cy="94010"/>
            <a:chOff x="6812560" y="3297172"/>
            <a:chExt cx="94010" cy="94010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1160" y="2060160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수정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83" y="23215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616642" y="5828261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31159" y="5828261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034350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245731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619436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54068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5881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0155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3842696" y="260497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03154" y="2655700"/>
            <a:ext cx="134873" cy="137278"/>
          </a:xfrm>
          <a:prstGeom prst="rect">
            <a:avLst/>
          </a:prstGeom>
        </p:spPr>
      </p:pic>
      <p:sp>
        <p:nvSpPr>
          <p:cNvPr id="73" name="모서리가 둥근 직사각형 72"/>
          <p:cNvSpPr/>
          <p:nvPr/>
        </p:nvSpPr>
        <p:spPr>
          <a:xfrm>
            <a:off x="3842696" y="3244530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latin typeface="+mn-ea"/>
              </a:rPr>
              <a:t>작성한 제목이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3842696" y="3823032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작성한 내용이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 err="1">
                <a:solidFill>
                  <a:schemeClr val="tx1"/>
                </a:solidFill>
              </a:rPr>
              <a:t>여러줄이</a:t>
            </a:r>
            <a:r>
              <a:rPr lang="ko-KR" altLang="en-US" sz="800" dirty="0">
                <a:solidFill>
                  <a:schemeClr val="tx1"/>
                </a:solidFill>
              </a:rPr>
              <a:t> 있는 경우 맞춰서 표시 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en-US" altLang="ko-KR" sz="800" dirty="0">
                <a:solidFill>
                  <a:schemeClr val="tx1"/>
                </a:solidFill>
              </a:rPr>
              <a:t>Input </a:t>
            </a:r>
            <a:r>
              <a:rPr lang="ko-KR" altLang="en-US" sz="800" dirty="0">
                <a:solidFill>
                  <a:schemeClr val="tx1"/>
                </a:solidFill>
              </a:rPr>
              <a:t>박스의 기본 세로 크기는 </a:t>
            </a:r>
            <a:r>
              <a:rPr lang="en-US" altLang="ko-KR" sz="800" dirty="0">
                <a:solidFill>
                  <a:schemeClr val="tx1"/>
                </a:solidFill>
              </a:rPr>
              <a:t>10</a:t>
            </a:r>
            <a:r>
              <a:rPr lang="ko-KR" altLang="en-US" sz="800" dirty="0">
                <a:solidFill>
                  <a:schemeClr val="tx1"/>
                </a:solidFill>
              </a:rPr>
              <a:t>줄이며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입력한 내용에 따라 늘어나며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6862046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확인 팝업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삭제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741416" y="3094459"/>
            <a:ext cx="2579992" cy="1519296"/>
            <a:chOff x="3905688" y="3002600"/>
            <a:chExt cx="2579992" cy="151929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삭제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일정 삭제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업무 캘린더에 등록된 일정을 삭제합니다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삭제된 일정은 복구할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정말 삭제할까요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53" name="직선 연결선 52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3296569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456713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7871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43737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있는 경우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 데이터 항목이 따로 존재하여</a:t>
            </a:r>
            <a:r>
              <a:rPr lang="en-US" altLang="ko-KR" dirty="0" smtClean="0"/>
              <a:t>, </a:t>
            </a:r>
            <a:r>
              <a:rPr lang="ko-KR" altLang="en-US" dirty="0" smtClean="0"/>
              <a:t>하나로 합쳐서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이때 받은 데이터 영역의 정보를 레이블로 표시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임시저장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반려받은</a:t>
            </a:r>
            <a:r>
              <a:rPr lang="ko-KR" altLang="en-US" dirty="0" smtClean="0"/>
              <a:t>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반려한 문서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상세 화면 이동 </a:t>
            </a:r>
            <a:r>
              <a:rPr lang="en-US" altLang="ko-KR" dirty="0"/>
              <a:t>MUI-CM-06-M11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806173"/>
            <a:chOff x="781461" y="2610063"/>
            <a:chExt cx="2473257" cy="806173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3245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4" name="그룹 73"/>
          <p:cNvGrpSpPr/>
          <p:nvPr/>
        </p:nvGrpSpPr>
        <p:grpSpPr>
          <a:xfrm>
            <a:off x="781461" y="3436694"/>
            <a:ext cx="2473257" cy="821562"/>
            <a:chOff x="781461" y="2610063"/>
            <a:chExt cx="2473257" cy="821562"/>
          </a:xfrm>
        </p:grpSpPr>
        <p:sp>
          <p:nvSpPr>
            <p:cNvPr id="7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수신처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7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송신일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확인일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보낸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4" name="모서리가 둥근 직사각형 83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564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6" name="그룹 85"/>
          <p:cNvGrpSpPr/>
          <p:nvPr/>
        </p:nvGrpSpPr>
        <p:grpSpPr>
          <a:xfrm>
            <a:off x="781461" y="4493250"/>
            <a:ext cx="2473257" cy="532810"/>
            <a:chOff x="781461" y="2610063"/>
            <a:chExt cx="2473257" cy="532810"/>
          </a:xfrm>
        </p:grpSpPr>
        <p:sp>
          <p:nvSpPr>
            <p:cNvPr id="8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2199"/>
              <a:ext cx="230832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8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006810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</p:txBody>
        </p:sp>
        <p:sp>
          <p:nvSpPr>
            <p:cNvPr id="90" name="모서리가 둥근 직사각형 89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임시저장</a:t>
              </a:r>
              <a:endParaRPr lang="ko-KR" altLang="en-US" sz="600" dirty="0"/>
            </a:p>
          </p:txBody>
        </p:sp>
      </p:grp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4081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1" name="타원 10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103" name="그룹 102"/>
          <p:cNvGrpSpPr/>
          <p:nvPr/>
        </p:nvGrpSpPr>
        <p:grpSpPr>
          <a:xfrm>
            <a:off x="3896624" y="1979532"/>
            <a:ext cx="2473258" cy="806173"/>
            <a:chOff x="781460" y="2610063"/>
            <a:chExt cx="2473258" cy="806173"/>
          </a:xfrm>
        </p:grpSpPr>
        <p:sp>
          <p:nvSpPr>
            <p:cNvPr id="10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781460" y="2610063"/>
              <a:ext cx="575363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반려받은</a:t>
              </a:r>
              <a:r>
                <a:rPr lang="ko-KR" altLang="en-US" sz="600" dirty="0"/>
                <a:t> 문서</a:t>
              </a:r>
            </a:p>
          </p:txBody>
        </p:sp>
      </p:grp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2908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/>
          <p:cNvGrpSpPr/>
          <p:nvPr/>
        </p:nvGrpSpPr>
        <p:grpSpPr>
          <a:xfrm>
            <a:off x="3896625" y="3020581"/>
            <a:ext cx="2473257" cy="821562"/>
            <a:chOff x="781461" y="2610063"/>
            <a:chExt cx="2473257" cy="821562"/>
          </a:xfrm>
        </p:grpSpPr>
        <p:sp>
          <p:nvSpPr>
            <p:cNvPr id="1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781461" y="2610063"/>
              <a:ext cx="51345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반려한 문서</a:t>
              </a:r>
            </a:p>
          </p:txBody>
        </p:sp>
      </p:grp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39495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49637499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</a:t>
            </a:r>
            <a:r>
              <a:rPr lang="ko-KR" altLang="en-US" dirty="0" err="1"/>
              <a:t>있는경우</a:t>
            </a:r>
            <a:r>
              <a:rPr lang="ko-KR" altLang="en-US" dirty="0"/>
              <a:t>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정렬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초기값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문서구분</a:t>
            </a:r>
            <a:r>
              <a:rPr lang="en-US" altLang="ko-KR" dirty="0"/>
              <a:t>: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 여부</a:t>
            </a:r>
            <a:r>
              <a:rPr lang="en-US" altLang="ko-KR" dirty="0"/>
              <a:t>: 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기간</a:t>
            </a:r>
            <a:r>
              <a:rPr lang="en-US" altLang="ko-KR" dirty="0"/>
              <a:t>: 1</a:t>
            </a:r>
            <a:r>
              <a:rPr lang="ko-KR" altLang="en-US" dirty="0"/>
              <a:t>개월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</a:t>
            </a:r>
            <a:r>
              <a:rPr lang="ko-KR" altLang="en-US" dirty="0" err="1">
                <a:latin typeface="+mn-ea"/>
              </a:rPr>
              <a:t>검색필터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1" name="그룹 80"/>
          <p:cNvGrpSpPr/>
          <p:nvPr/>
        </p:nvGrpSpPr>
        <p:grpSpPr>
          <a:xfrm>
            <a:off x="3135090" y="1650089"/>
            <a:ext cx="94010" cy="94010"/>
            <a:chOff x="6812560" y="3297172"/>
            <a:chExt cx="94010" cy="94010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2769812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5228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4170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9" name="그룹 108"/>
          <p:cNvGrpSpPr/>
          <p:nvPr/>
        </p:nvGrpSpPr>
        <p:grpSpPr>
          <a:xfrm>
            <a:off x="672112" y="3614651"/>
            <a:ext cx="2712027" cy="1085258"/>
            <a:chOff x="675399" y="1921801"/>
            <a:chExt cx="2712027" cy="1085258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첨언</a:t>
              </a:r>
              <a:r>
                <a:rPr lang="en-US" altLang="ko-KR" sz="700" b="1" dirty="0">
                  <a:latin typeface="+mn-ea"/>
                </a:rPr>
                <a:t>, </a:t>
              </a:r>
              <a:r>
                <a:rPr lang="ko-KR" altLang="en-US" sz="700" b="1" dirty="0">
                  <a:latin typeface="+mn-ea"/>
                </a:rPr>
                <a:t>첨부 여부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2" name="직사각형 111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23" name="직선 연결선 1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9" name="직선 연결선 1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6" name="직사각형 115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00705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672112" y="4775939"/>
            <a:ext cx="2712027" cy="797589"/>
            <a:chOff x="675399" y="3490553"/>
            <a:chExt cx="2712027" cy="797589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35" name="그룹 13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4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7" name="그림 14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3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38" name="그룹 13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4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4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4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2" name="그림 14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0" name="그룹 149"/>
          <p:cNvGrpSpPr/>
          <p:nvPr/>
        </p:nvGrpSpPr>
        <p:grpSpPr>
          <a:xfrm>
            <a:off x="797174" y="1977748"/>
            <a:ext cx="2468249" cy="1536487"/>
            <a:chOff x="3898850" y="4660546"/>
            <a:chExt cx="2468249" cy="1536487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문서 구분</a:t>
              </a:r>
            </a:p>
          </p:txBody>
        </p:sp>
        <p:grpSp>
          <p:nvGrpSpPr>
            <p:cNvPr id="152" name="그룹 151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보낸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반려한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임시 저장</a:t>
              </a:r>
            </a:p>
          </p:txBody>
        </p:sp>
      </p:grpSp>
      <p:sp>
        <p:nvSpPr>
          <p:cNvPr id="156" name="직사각형 155"/>
          <p:cNvSpPr/>
          <p:nvPr/>
        </p:nvSpPr>
        <p:spPr>
          <a:xfrm>
            <a:off x="769934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/>
          <p:cNvSpPr/>
          <p:nvPr/>
        </p:nvSpPr>
        <p:spPr>
          <a:xfrm>
            <a:off x="769934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/>
          <p:cNvSpPr/>
          <p:nvPr/>
        </p:nvSpPr>
        <p:spPr>
          <a:xfrm>
            <a:off x="769934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/>
          <p:cNvSpPr/>
          <p:nvPr/>
        </p:nvSpPr>
        <p:spPr>
          <a:xfrm>
            <a:off x="769867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TextBox 159"/>
          <p:cNvSpPr txBox="1"/>
          <p:nvPr/>
        </p:nvSpPr>
        <p:spPr>
          <a:xfrm>
            <a:off x="710536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1" name="직사각형 160"/>
          <p:cNvSpPr/>
          <p:nvPr/>
        </p:nvSpPr>
        <p:spPr>
          <a:xfrm>
            <a:off x="769934" y="3144406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/>
          <p:cNvSpPr/>
          <p:nvPr/>
        </p:nvSpPr>
        <p:spPr>
          <a:xfrm>
            <a:off x="769934" y="33590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3209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6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04155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smtClean="0"/>
              <a:t>추가 정보가 </a:t>
            </a:r>
            <a:r>
              <a:rPr lang="ko-KR" altLang="en-US" dirty="0"/>
              <a:t>발생하는 </a:t>
            </a:r>
            <a:r>
              <a:rPr lang="ko-KR" altLang="en-US" dirty="0" smtClean="0"/>
              <a:t>경우 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문서정보</a:t>
            </a:r>
            <a:r>
              <a:rPr lang="en-US" altLang="ko-KR" dirty="0"/>
              <a:t>,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 err="1"/>
              <a:t>반려사유</a:t>
            </a:r>
            <a:r>
              <a:rPr lang="en-US" altLang="ko-KR" dirty="0"/>
              <a:t>, </a:t>
            </a:r>
            <a:r>
              <a:rPr lang="ko-KR" altLang="en-US" dirty="0"/>
              <a:t>첨부파일 순으로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MUI-CM-06-T01 </a:t>
            </a:r>
            <a:r>
              <a:rPr lang="ko-KR" altLang="en-US" dirty="0" err="1" smtClean="0"/>
              <a:t>문서정보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MUI-CM-06-T02 </a:t>
            </a:r>
            <a:r>
              <a:rPr lang="ko-KR" altLang="en-US" dirty="0"/>
              <a:t>첨언상세보기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MUI-CM-06-T03 </a:t>
            </a:r>
            <a:r>
              <a:rPr lang="ko-KR" altLang="en-US" dirty="0"/>
              <a:t>첨부파일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2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1816476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1647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26449"/>
            <a:ext cx="76863" cy="292489"/>
            <a:chOff x="3750067" y="4683795"/>
            <a:chExt cx="76863" cy="292489"/>
          </a:xfrm>
        </p:grpSpPr>
        <p:sp>
          <p:nvSpPr>
            <p:cNvPr id="176" name="타원 17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206" name="그룹 205"/>
          <p:cNvGrpSpPr/>
          <p:nvPr/>
        </p:nvGrpSpPr>
        <p:grpSpPr>
          <a:xfrm>
            <a:off x="3869962" y="1597475"/>
            <a:ext cx="1636583" cy="107722"/>
            <a:chOff x="764168" y="4142235"/>
            <a:chExt cx="1636583" cy="107722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6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56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96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sp>
        <p:nvSpPr>
          <p:cNvPr id="6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70" name="평행 사변형 69"/>
          <p:cNvSpPr/>
          <p:nvPr/>
        </p:nvSpPr>
        <p:spPr>
          <a:xfrm rot="16200000" flipH="1">
            <a:off x="2743131" y="2136323"/>
            <a:ext cx="1696903" cy="408308"/>
          </a:xfrm>
          <a:prstGeom prst="parallelogram">
            <a:avLst>
              <a:gd name="adj" fmla="val 3306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613105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문서정보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</a:t>
            </a:r>
            <a:r>
              <a:rPr lang="ko-KR" altLang="en-US" dirty="0" err="1">
                <a:latin typeface="+mn-ea"/>
              </a:rPr>
              <a:t>문서정보</a:t>
            </a:r>
            <a:r>
              <a:rPr lang="ko-KR" altLang="en-US" dirty="0">
                <a:latin typeface="+mn-ea"/>
              </a:rPr>
              <a:t>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97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1455567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첨언 상세 내용 </a:t>
            </a:r>
            <a:r>
              <a:rPr lang="ko-KR" altLang="en-US" dirty="0" smtClean="0"/>
              <a:t>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첨언상세보기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첨언상세보기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58764" y="3188926"/>
            <a:ext cx="65201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1" name="직사각형 11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0152696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첨부파일 </a:t>
            </a:r>
            <a:r>
              <a:rPr lang="ko-KR" altLang="en-US" dirty="0"/>
              <a:t>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첨부파일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첨부파일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33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3423" y="3187842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992981" y="3187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74274"/>
            <a:ext cx="76863" cy="292489"/>
            <a:chOff x="3750067" y="4683795"/>
            <a:chExt cx="76863" cy="292489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749627" y="2968841"/>
            <a:ext cx="1636583" cy="107722"/>
            <a:chOff x="764168" y="4142235"/>
            <a:chExt cx="1636583" cy="107722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첨부파일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4163" y="33225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8" name="그룹 7"/>
          <p:cNvGrpSpPr/>
          <p:nvPr/>
        </p:nvGrpSpPr>
        <p:grpSpPr>
          <a:xfrm>
            <a:off x="675399" y="3352396"/>
            <a:ext cx="2712027" cy="1351549"/>
            <a:chOff x="675399" y="1880640"/>
            <a:chExt cx="2712027" cy="1351549"/>
          </a:xfrm>
        </p:grpSpPr>
        <p:grpSp>
          <p:nvGrpSpPr>
            <p:cNvPr id="94" name="그룹 93"/>
            <p:cNvGrpSpPr/>
            <p:nvPr/>
          </p:nvGrpSpPr>
          <p:grpSpPr>
            <a:xfrm>
              <a:off x="705041" y="1880640"/>
              <a:ext cx="2652743" cy="906290"/>
              <a:chOff x="675929" y="1954020"/>
              <a:chExt cx="2652743" cy="906290"/>
            </a:xfrm>
          </p:grpSpPr>
          <p:sp>
            <p:nvSpPr>
              <p:cNvPr id="95" name="모서리가 둥근 직사각형 94"/>
              <p:cNvSpPr/>
              <p:nvPr/>
            </p:nvSpPr>
            <p:spPr>
              <a:xfrm>
                <a:off x="675929" y="2089138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163659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217520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1</a:t>
                </a:r>
              </a:p>
            </p:txBody>
          </p:sp>
          <p:sp>
            <p:nvSpPr>
              <p:cNvPr id="98" name="타원 97"/>
              <p:cNvSpPr/>
              <p:nvPr/>
            </p:nvSpPr>
            <p:spPr>
              <a:xfrm>
                <a:off x="3063926" y="2199381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9" name="모서리가 둥근 직사각형 98"/>
              <p:cNvSpPr/>
              <p:nvPr/>
            </p:nvSpPr>
            <p:spPr>
              <a:xfrm>
                <a:off x="675929" y="2495824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570345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624206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2</a:t>
                </a:r>
              </a:p>
            </p:txBody>
          </p:sp>
          <p:sp>
            <p:nvSpPr>
              <p:cNvPr id="103" name="타원 102"/>
              <p:cNvSpPr/>
              <p:nvPr/>
            </p:nvSpPr>
            <p:spPr>
              <a:xfrm>
                <a:off x="3063926" y="2606067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1954020"/>
                <a:ext cx="47434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6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73442" y="1954020"/>
                <a:ext cx="32496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다운로드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1074" y="195402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번호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1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1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1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1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20" name="모서리가 둥근 직사각형 119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21" name="모서리가 둥근 직사각형 120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22" name="모서리가 둥근 직사각형 121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6110122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3517"/>
            <a:ext cx="27208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dl_rcptnDocBoxList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95811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7271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도착일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도착일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접수확인일시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95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8030594"/>
              </p:ext>
            </p:extLst>
          </p:nvPr>
        </p:nvGraphicFramePr>
        <p:xfrm>
          <a:off x="453000" y="432189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9B3FC3F-44C8-AA76-E87C-D8F513C0C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2052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856F0DC-4AC5-DFA7-F72E-BA04B94B5918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329A1BF-B567-C483-B2E8-33E3874D72AC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D469DDBC-E680-75E9-4D85-0D21C7C9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90802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170111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32564"/>
            <a:ext cx="25814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첨언상세보기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dm_addCnInfo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930709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검색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6318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029ECBC4-6D9B-D7FA-B257-E87707339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181698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5BFF1C7-887B-32AA-24EE-EBE46D67EEA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FA3ED1D-D653-0078-76A8-8AD322EB9D0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77BEF055-45FA-F5E1-7995-1C9453CA2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398114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7" y="25782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481090"/>
            <a:ext cx="28042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dl_atchDocList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7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받은 문서 또는 보낸 문서에서 받아온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325813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804861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scwin.btn_dwnld_onclick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선택한 파일을 다운로드 한다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첨부파일다운로드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00316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76484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첨부문서명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첨부문서명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파일명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28218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5505DE0D-16CC-3C4F-C939-DC20317EC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7030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02BF9D5-5273-4F6F-CB5E-11F91278AED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D826C1C-0132-3CB3-AC8A-80FE3A0C3571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AD4D73E-E849-1E51-9D60-482A015D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917010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27581"/>
            <a:ext cx="26920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dl_sendDocBoxList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746398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1335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송신일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확인일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0437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937466"/>
              </p:ext>
            </p:extLst>
          </p:nvPr>
        </p:nvGraphicFramePr>
        <p:xfrm>
          <a:off x="453000" y="432189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CAFF8A0-50EC-82AE-BA5A-D1527BD4D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993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E98179B-2A5F-DCA0-6FB1-5254512490D4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0AFDD93-06A1-7721-9E3F-045B7346CD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4735F0DC-C396-6A0B-A66C-37731D6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8712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96950"/>
            <a:ext cx="27000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dl_tmprDocBoxList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176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8070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작성일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02248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300619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27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388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scwin.grd_tmprDocBoxList_oncellclick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BE24769-50A8-B14F-3957-A7A3A03C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19584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7F39A60-AAE4-10F9-971A-14BEA40553D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5504B0-219F-7020-36D2-5A22C9604AF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794ABDE-C3BD-6C8C-B743-65102D92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37851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0796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9458"/>
            <a:ext cx="23794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dl_rjctDocBoxList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866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반려받은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반려한 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81463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343690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반려처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rturId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반려자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반려여부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362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151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25064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0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9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scwin.grd_rjctDocBoxList_oncellclick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팝업창이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/>
                        <a:t>UI-CM-06-P13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844FB6C-BF5D-D2C1-8CC7-7295814E1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340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F34269-FA1F-CAFC-925F-EB508475034C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36E5A4B-8498-C576-9110-316A94C9091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63761980-DED2-5628-B24D-04AFEFCB2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487930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79953"/>
            <a:ext cx="2376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dm_rjctRsnInfo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63707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반려사유 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1AFFECE-E5E8-396C-84F0-3EB6A65AC3F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BA240484-4FCF-6BAA-7C44-24FA614779E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E6A817EE-0532-A5EC-D59B-9990726EE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559202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개인별 수신처 정보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모바일에서 조회만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상세화면</a:t>
            </a:r>
            <a:r>
              <a:rPr lang="ko-KR" altLang="en-US" dirty="0" smtClean="0"/>
              <a:t> 없음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개인별수신처관리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개인별수신처관리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개인별 수신처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25444"/>
            <a:ext cx="2473257" cy="498731"/>
            <a:chOff x="781461" y="2794394"/>
            <a:chExt cx="2473257" cy="49873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048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781461" y="3018547"/>
            <a:ext cx="2473257" cy="498731"/>
            <a:chOff x="781461" y="2794394"/>
            <a:chExt cx="2473257" cy="498731"/>
          </a:xfrm>
        </p:grpSpPr>
        <p:sp>
          <p:nvSpPr>
            <p:cNvPr id="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8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9791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762982998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097698"/>
            <a:ext cx="28955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dl_indvRcofcList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96653"/>
              </p:ext>
            </p:extLst>
          </p:nvPr>
        </p:nvGraphicFramePr>
        <p:xfrm>
          <a:off x="452999" y="1381452"/>
          <a:ext cx="8994883" cy="134581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전자문서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:XSTORECATE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부신부서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2896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3143381"/>
              </p:ext>
            </p:extLst>
          </p:nvPr>
        </p:nvGraphicFramePr>
        <p:xfrm>
          <a:off x="453000" y="356781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37E3C67-E84D-7FF6-3F6C-3608A6AC5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4511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05B97E-644A-CE99-3CF6-BB586B8CAA5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EE7967-76BA-EAD7-3853-B4F644E279C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23DC1AB0-DD2A-250D-CC23-F4690B66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607164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별표 하이라이트가 꺼지고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현재 페이지에서는 유지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페이지를 이탈했다가 다시 돌아오는 경우 </a:t>
            </a:r>
            <a:r>
              <a:rPr lang="ko-KR" altLang="en-US" dirty="0" err="1" smtClean="0"/>
              <a:t>즐겨찾기</a:t>
            </a:r>
            <a:r>
              <a:rPr lang="ko-KR" altLang="en-US" dirty="0" smtClean="0"/>
              <a:t> 된 관심 법령만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별도의 해제 메시지 없음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외부 페이지 링크로 법령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외부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은 법령 </a:t>
            </a:r>
            <a:r>
              <a:rPr lang="ko-KR" altLang="en-US" dirty="0" err="1" smtClean="0"/>
              <a:t>등록시</a:t>
            </a:r>
            <a:r>
              <a:rPr lang="ko-KR" altLang="en-US" dirty="0" smtClean="0"/>
              <a:t> 관리자가 작성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54041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32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2397456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86427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30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290769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374517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329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3417932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78989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9019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399165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1559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2583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436072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0097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5048449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44736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dl_itrstSttList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378913"/>
              </p:ext>
            </p:extLst>
          </p:nvPr>
        </p:nvGraphicFramePr>
        <p:xfrm>
          <a:off x="452999" y="175593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18733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4300751"/>
              </p:ext>
            </p:extLst>
          </p:nvPr>
        </p:nvGraphicFramePr>
        <p:xfrm>
          <a:off x="453000" y="446547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6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04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001118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7F5CC1D-2566-7E2B-B0F3-7FAF0EF6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34289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7615BA-8AA0-390C-2414-6B3A13575B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4B53F6-B152-0E8A-06E0-7268AD46F0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080E219-6A88-FE2C-9DE5-38900941F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151131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작성한 게시물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작성 </a:t>
            </a:r>
            <a:r>
              <a:rPr lang="ko-KR" altLang="en-US" strike="sngStrike" dirty="0" smtClean="0"/>
              <a:t>위치정보 </a:t>
            </a:r>
            <a:r>
              <a:rPr lang="en-US" altLang="ko-KR" strike="sngStrike" dirty="0" smtClean="0"/>
              <a:t>(</a:t>
            </a:r>
            <a:r>
              <a:rPr lang="ko-KR" altLang="en-US" strike="sngStrike" dirty="0" smtClean="0"/>
              <a:t>삭제</a:t>
            </a:r>
            <a:r>
              <a:rPr lang="en-US" altLang="ko-KR" strike="sngStrike" dirty="0" smtClean="0"/>
              <a:t>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클릭 시 해당 게시물 화면으로 이동하여 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  <a:p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게시물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36949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970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268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61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131886"/>
            <a:ext cx="2061246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두줄이</a:t>
            </a:r>
            <a:r>
              <a:rPr lang="ko-KR" altLang="en-US" sz="900" b="1" dirty="0">
                <a:solidFill>
                  <a:prstClr val="black"/>
                </a:solidFill>
              </a:rPr>
              <a:t> 되는 경우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두줄까지</a:t>
            </a:r>
            <a:r>
              <a:rPr lang="ko-KR" altLang="en-US" sz="900" b="1" dirty="0">
                <a:solidFill>
                  <a:prstClr val="black"/>
                </a:solidFill>
              </a:rPr>
              <a:t> 표시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883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604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3572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 rot="16200000" flipH="1">
            <a:off x="3096543" y="2498546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9" name="그룹 58"/>
          <p:cNvGrpSpPr/>
          <p:nvPr/>
        </p:nvGrpSpPr>
        <p:grpSpPr>
          <a:xfrm rot="16200000" flipH="1">
            <a:off x="3096545" y="4373782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619927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927022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169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050567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16200000" flipH="1">
            <a:off x="3096543" y="308861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10000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517094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4" y="3640639"/>
            <a:ext cx="15607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rot="16200000" flipH="1">
            <a:off x="3096543" y="367869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0007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556108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56" name="그룹 5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7" name="직사각형 5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작성 위치정보 표시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3899640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폴더 상세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폴더의</a:t>
            </a:r>
            <a:r>
              <a:rPr lang="en-US" altLang="ko-KR" dirty="0"/>
              <a:t> </a:t>
            </a:r>
            <a:r>
              <a:rPr lang="ko-KR" altLang="en-US" dirty="0"/>
              <a:t>생성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권한 </a:t>
            </a:r>
            <a:r>
              <a:rPr lang="ko-KR" altLang="en-US" dirty="0"/>
              <a:t>관리는 업체 대표자에게만 표시됨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업로드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디지털 캐비닛 선택으로 진입하는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권한 버튼 숨김 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 캐비닛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사용자가 등록한 자료 폴더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35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45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타원 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33470" y="2567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5356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25866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57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78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0088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912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100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7122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42221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6037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313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2480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843470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80031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509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12136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4263126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0" name="타원 139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그룹 140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53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6078185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폴더명</a:t>
            </a:r>
            <a:r>
              <a:rPr lang="en-US" altLang="ko-KR" dirty="0"/>
              <a:t>, </a:t>
            </a:r>
            <a:r>
              <a:rPr lang="ko-KR" altLang="en-US" dirty="0"/>
              <a:t>폴더 사이즈</a:t>
            </a:r>
            <a:r>
              <a:rPr lang="en-US" altLang="ko-KR" dirty="0"/>
              <a:t>, </a:t>
            </a:r>
            <a:r>
              <a:rPr lang="ko-KR" altLang="en-US" dirty="0"/>
              <a:t>사용자 권한을 조정할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권한 설정은 업체 대표자만 가능함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취소시</a:t>
            </a:r>
            <a:r>
              <a:rPr lang="en-US" altLang="ko-KR" dirty="0"/>
              <a:t> </a:t>
            </a:r>
            <a:r>
              <a:rPr lang="ko-KR" altLang="en-US" dirty="0"/>
              <a:t>팝업 그대로 닫힘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ko-KR" altLang="en-US" dirty="0"/>
              <a:t>저장 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변경 저장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설정 권한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폴더의 권한 설정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권한 설정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양쪽 모서리가 둥근 사각형 5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67" name="직선 연결선 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직선 연결선 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권한 설정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저장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959173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폴더 사이즈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폴더명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54425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사용자 권한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129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403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모서리가 둥근 직사각형 81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720467" y="316935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10MB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03259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3264043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4" name="모서리가 둥근 직사각형 93"/>
          <p:cNvSpPr/>
          <p:nvPr/>
        </p:nvSpPr>
        <p:spPr>
          <a:xfrm>
            <a:off x="712057" y="376985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384437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김대표</a:t>
            </a:r>
            <a:endParaRPr lang="en-US" altLang="ko-KR" sz="800" b="1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2025-01-15 13:25</a:t>
            </a:r>
          </a:p>
        </p:txBody>
      </p:sp>
      <p:sp>
        <p:nvSpPr>
          <p:cNvPr id="99" name="모서리가 둥근 직사각형 98"/>
          <p:cNvSpPr/>
          <p:nvPr/>
        </p:nvSpPr>
        <p:spPr>
          <a:xfrm>
            <a:off x="712057" y="417654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25106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ko-KR" altLang="en-US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박영업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14:47 </a:t>
            </a: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617677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6" name="그룹 115"/>
          <p:cNvGrpSpPr/>
          <p:nvPr/>
        </p:nvGrpSpPr>
        <p:grpSpPr>
          <a:xfrm>
            <a:off x="2305867" y="3874106"/>
            <a:ext cx="993848" cy="155984"/>
            <a:chOff x="808107" y="2288229"/>
            <a:chExt cx="1811459" cy="168318"/>
          </a:xfrm>
        </p:grpSpPr>
        <p:sp>
          <p:nvSpPr>
            <p:cNvPr id="11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2305867" y="4280792"/>
            <a:ext cx="993848" cy="155984"/>
            <a:chOff x="808107" y="2288229"/>
            <a:chExt cx="1811459" cy="168318"/>
          </a:xfrm>
        </p:grpSpPr>
        <p:sp>
          <p:nvSpPr>
            <p:cNvPr id="12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3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5" name="모서리가 둥근 직사각형 134"/>
          <p:cNvSpPr/>
          <p:nvPr/>
        </p:nvSpPr>
        <p:spPr>
          <a:xfrm>
            <a:off x="712057" y="4581074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655595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en-US" altLang="ko-KR" sz="800" b="1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James </a:t>
            </a:r>
            <a:r>
              <a:rPr lang="en-US" altLang="ko-KR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Burkley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16:22</a:t>
            </a:r>
          </a:p>
        </p:txBody>
      </p:sp>
      <p:grpSp>
        <p:nvGrpSpPr>
          <p:cNvPr id="144" name="그룹 143"/>
          <p:cNvGrpSpPr/>
          <p:nvPr/>
        </p:nvGrpSpPr>
        <p:grpSpPr>
          <a:xfrm>
            <a:off x="2305867" y="4685325"/>
            <a:ext cx="993848" cy="155984"/>
            <a:chOff x="808107" y="2288229"/>
            <a:chExt cx="1811459" cy="168318"/>
          </a:xfrm>
        </p:grpSpPr>
        <p:sp>
          <p:nvSpPr>
            <p:cNvPr id="14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32020"/>
            <a:ext cx="76863" cy="292489"/>
            <a:chOff x="3750067" y="4683795"/>
            <a:chExt cx="76863" cy="292489"/>
          </a:xfrm>
        </p:grpSpPr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2" name="타원 15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5148498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896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53662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3741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fldrSz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3156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D3DF6E4-3604-ED94-DEC3-2A8F6364DA0E}"/>
              </a:ext>
            </a:extLst>
          </p:cNvPr>
          <p:cNvSpPr txBox="1"/>
          <p:nvPr/>
        </p:nvSpPr>
        <p:spPr>
          <a:xfrm>
            <a:off x="463235" y="2347416"/>
            <a:ext cx="305909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권한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dl_digitalCabinetAuthrtList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28DE66F-5F85-32C0-B139-005B58225AB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5955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authrtSe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권한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접근권한코드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68353" y="3427342"/>
            <a:ext cx="32979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366953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(MB)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(Y/N)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3235" y="487937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13785"/>
              </p:ext>
            </p:extLst>
          </p:nvPr>
        </p:nvGraphicFramePr>
        <p:xfrm>
          <a:off x="455204" y="5100670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34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846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312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변경된 정보를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 권한이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820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345BDA-72F8-A50F-5DEE-1DC664B80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9874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C302D0-0791-F56B-8FCB-36A5979D6C4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7D3E1E8-2A83-F048-7179-4CE69B789918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7" name="Text Box 73">
              <a:extLst>
                <a:ext uri="{FF2B5EF4-FFF2-40B4-BE49-F238E27FC236}">
                  <a16:creationId xmlns:a16="http://schemas.microsoft.com/office/drawing/2014/main" id="{E5988E95-6757-1BE7-B513-585E4D65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11325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상위 폴더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파일 등록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파일첨부</a:t>
            </a:r>
            <a:r>
              <a:rPr lang="en-US" altLang="ko-KR" dirty="0"/>
              <a:t>, </a:t>
            </a:r>
            <a:r>
              <a:rPr lang="ko-KR" altLang="en-US" dirty="0"/>
              <a:t>파일 업로드 </a:t>
            </a:r>
            <a:r>
              <a:rPr lang="en-US" altLang="ko-KR" dirty="0"/>
              <a:t>&gt; </a:t>
            </a:r>
            <a:r>
              <a:rPr lang="ko-KR" altLang="en-US" dirty="0"/>
              <a:t>디지털 캐비닛 선택으로 진입하는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파일업로드에서 진입하여 파일을 첨부하는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업로드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내 파일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파일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MUI-CM-06-M16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924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0620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5" name="그룹 104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36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022049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파일 업로드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935984" y="57421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433306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02438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192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329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fldrSz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수정일시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38119" y="2449502"/>
            <a:ext cx="32771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33001" y="273325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EACD273-95D4-61F0-0E38-A6B2B35E67F9}"/>
              </a:ext>
            </a:extLst>
          </p:cNvPr>
          <p:cNvSpPr txBox="1"/>
          <p:nvPr/>
        </p:nvSpPr>
        <p:spPr>
          <a:xfrm>
            <a:off x="463575" y="42673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49227A-FD55-5483-94A2-84441908A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609147"/>
              </p:ext>
            </p:extLst>
          </p:nvPr>
        </p:nvGraphicFramePr>
        <p:xfrm>
          <a:off x="433001" y="4551087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09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6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scwin.fldrInfo_onclick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해당하는 파일목록 정보를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384D4DE-1334-2648-261A-B57C67E0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09" y="442250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4350DC5-4272-6447-12B9-D0BD5DC6A6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205CD74-5F48-3EBE-9AE5-0C8C7BC4E2C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6EE07283-DD02-DC10-0DF5-55ADA551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5031933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선택된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사용중인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MUI-CM-01-M02 </a:t>
            </a:r>
            <a:r>
              <a:rPr lang="ko-KR" altLang="en-US" dirty="0" smtClean="0"/>
              <a:t>업체정보상세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MUI-CM-01-M03 </a:t>
            </a:r>
            <a:r>
              <a:rPr lang="ko-KR" altLang="en-US" dirty="0" smtClean="0"/>
              <a:t>추가정보신청목록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이동없음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담당자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MUI-CM-01-M05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물품 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MUI-CM-01-M22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국내소재상사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군수품무역대리업 신청 및 발급 목록 </a:t>
            </a:r>
            <a:r>
              <a:rPr lang="en-US" altLang="ko-KR" dirty="0" smtClean="0"/>
              <a:t>MUI-CM-01-M15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조달원 확인서 신청 목록 </a:t>
            </a:r>
            <a:r>
              <a:rPr lang="en-US" altLang="ko-KR" dirty="0" smtClean="0"/>
              <a:t>MUI-CM-01-M19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조달원 확인서 신청 </a:t>
            </a:r>
            <a:r>
              <a:rPr lang="en-US" altLang="ko-KR" dirty="0"/>
              <a:t>MUI-CM-01-P20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국외 조달원등록증 </a:t>
            </a:r>
            <a:r>
              <a:rPr lang="ko-KR" altLang="en-US" dirty="0" smtClean="0"/>
              <a:t>신청안내 </a:t>
            </a:r>
            <a:r>
              <a:rPr lang="en-US" altLang="ko-KR" dirty="0" smtClean="0"/>
              <a:t>MUI-CM-01-P21</a:t>
            </a: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63608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 상세보기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45852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추가정보 신청 목록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4023916" y="1684175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군수품무역대리업 신청 및 발급 목록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4023916" y="207281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국내 조달원 </a:t>
              </a:r>
              <a:r>
                <a:rPr lang="ko-KR" altLang="en-US" sz="800" b="1" dirty="0">
                  <a:latin typeface="+mn-ea"/>
                </a:rPr>
                <a:t>확인서 </a:t>
              </a:r>
              <a:r>
                <a:rPr lang="ko-KR" altLang="en-US" sz="800" b="1" dirty="0" smtClean="0">
                  <a:latin typeface="+mn-ea"/>
                </a:rPr>
                <a:t>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379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4023916" y="246144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국내 조달원 </a:t>
              </a:r>
              <a:r>
                <a:rPr lang="ko-KR" altLang="en-US" sz="800" b="1" dirty="0">
                  <a:latin typeface="+mn-ea"/>
                </a:rPr>
                <a:t>확인서 </a:t>
              </a:r>
              <a:r>
                <a:rPr lang="ko-KR" altLang="en-US" sz="800" b="1" dirty="0" smtClean="0">
                  <a:latin typeface="+mn-ea"/>
                </a:rPr>
                <a:t>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43" name="그룹 42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64" name="직선 연결선 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직사각형 4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4511691"/>
            <a:ext cx="2255663" cy="865240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809622"/>
            <a:ext cx="1731957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담당자 정보 </a:t>
            </a:r>
            <a:r>
              <a:rPr lang="ko-KR" altLang="en-US" sz="700" dirty="0" err="1" smtClean="0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물품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내자</a:t>
            </a:r>
            <a:r>
              <a:rPr lang="en-US" altLang="ko-KR" sz="700" dirty="0" smtClean="0">
                <a:latin typeface="+mn-ea"/>
              </a:rPr>
              <a:t>) </a:t>
            </a:r>
            <a:r>
              <a:rPr lang="ko-KR" altLang="en-US" sz="700" dirty="0" smtClean="0">
                <a:latin typeface="+mn-ea"/>
              </a:rPr>
              <a:t>정보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국내소재상사 정보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4809622"/>
            <a:ext cx="173253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903581" y="4426128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업체정보 </a:t>
              </a:r>
              <a:r>
                <a:rPr lang="ko-KR" altLang="en-US" sz="800" b="1" dirty="0" err="1">
                  <a:latin typeface="+mn-ea"/>
                </a:rPr>
                <a:t>추가등록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2" name="직사각형 7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하위 버튼 구조 추가</a:t>
              </a:r>
              <a:endParaRPr lang="ko-KR" altLang="en-US" sz="700" dirty="0"/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09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75" name="그룹 74"/>
          <p:cNvGrpSpPr/>
          <p:nvPr/>
        </p:nvGrpSpPr>
        <p:grpSpPr>
          <a:xfrm>
            <a:off x="4023916" y="2874833"/>
            <a:ext cx="2255663" cy="306146"/>
            <a:chOff x="903581" y="2074658"/>
            <a:chExt cx="2255663" cy="306146"/>
          </a:xfrm>
        </p:grpSpPr>
        <p:sp>
          <p:nvSpPr>
            <p:cNvPr id="76" name="모서리가 둥근 직사각형 7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국외 </a:t>
              </a:r>
              <a:r>
                <a:rPr lang="ko-KR" altLang="en-US" sz="800" b="1" dirty="0" smtClean="0">
                  <a:latin typeface="+mn-ea"/>
                </a:rPr>
                <a:t>조달원 등록증 신청 안내</a:t>
              </a:r>
              <a:endParaRPr lang="ko-KR" altLang="en-US" sz="8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238977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199505"/>
              </p:ext>
            </p:extLst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676398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나라장터 갱신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 제한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제한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갱신은 </a:t>
            </a:r>
            <a:r>
              <a:rPr lang="en-US" altLang="ko-KR" dirty="0"/>
              <a:t>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회로 제한됩니다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콘텐츠 표시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grpSp>
        <p:nvGrpSpPr>
          <p:cNvPr id="8" name="그룹 7"/>
          <p:cNvGrpSpPr/>
          <p:nvPr/>
        </p:nvGrpSpPr>
        <p:grpSpPr>
          <a:xfrm>
            <a:off x="720490" y="3219475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17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8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25" name="평행 사변형 124"/>
          <p:cNvSpPr/>
          <p:nvPr/>
        </p:nvSpPr>
        <p:spPr>
          <a:xfrm rot="16200000" flipH="1">
            <a:off x="2896851" y="1982604"/>
            <a:ext cx="1389463" cy="408308"/>
          </a:xfrm>
          <a:prstGeom prst="parallelogram">
            <a:avLst>
              <a:gd name="adj" fmla="val 247469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51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9691775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업체일반</a:t>
            </a:r>
            <a:r>
              <a:rPr lang="ko-KR" altLang="en-US" dirty="0" smtClean="0"/>
              <a:t>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사업구분은</a:t>
            </a:r>
            <a:r>
              <a:rPr lang="ko-KR" altLang="en-US" dirty="0" smtClean="0"/>
              <a:t> 여러 개 노출될 수 있음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데이터가 없는 경우 표시 정보 데이터 확인이 필요함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2210568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17"/>
          <p:cNvGrpSpPr/>
          <p:nvPr/>
        </p:nvGrpSpPr>
        <p:grpSpPr>
          <a:xfrm>
            <a:off x="670228" y="1852205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1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554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5543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5215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5543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5543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76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18577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3528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3907778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일반 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수의계약 배제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 3</a:t>
            </a:r>
            <a:r>
              <a:rPr lang="ko-KR" altLang="en-US" dirty="0" smtClean="0"/>
              <a:t>개월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배제된 정보가 없는 경우 표시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수의계약에 배제된 사실이 없습니다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11781" y="1909918"/>
            <a:ext cx="2630093" cy="2031034"/>
            <a:chOff x="720490" y="2967388"/>
            <a:chExt cx="2630093" cy="2031034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수의계약배제</a:t>
              </a: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3274873"/>
              <a:ext cx="792000" cy="17170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계약포기사유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285608N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5608N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원격관제시스템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2025-10-18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맑은 고딕" panose="020B0503020000020004" pitchFamily="50" charset="-127"/>
                  <a:cs typeface="Segoe UI" panose="020B0502040204020203" pitchFamily="34" charset="0"/>
                </a:rPr>
                <a:t>방위사업청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일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포기합니다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2025-09-01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556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782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919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344542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배제기간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0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4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8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8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54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8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8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5021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8565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5460" y="16399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0787" y="163994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1781" y="18565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893012" y="163994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58093" y="163994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82" name="그룹 181"/>
          <p:cNvGrpSpPr/>
          <p:nvPr/>
        </p:nvGrpSpPr>
        <p:grpSpPr>
          <a:xfrm>
            <a:off x="3828452" y="1903968"/>
            <a:ext cx="2630093" cy="1169259"/>
            <a:chOff x="720490" y="2967388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3274873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대표대표자여부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대표자영문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Hong </a:t>
              </a:r>
              <a:r>
                <a:rPr lang="en-US" altLang="ko-KR" sz="700" dirty="0" err="1">
                  <a:latin typeface="+mn-ea"/>
                </a:rPr>
                <a:t>kil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dong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abcde@dapa.go.kr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51969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5" name="그룹 204"/>
          <p:cNvGrpSpPr/>
          <p:nvPr/>
        </p:nvGrpSpPr>
        <p:grpSpPr>
          <a:xfrm>
            <a:off x="3836701" y="3566683"/>
            <a:ext cx="2630093" cy="966004"/>
            <a:chOff x="720490" y="2967388"/>
            <a:chExt cx="2630093" cy="966004"/>
          </a:xfrm>
        </p:grpSpPr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입찰대리인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34" name="직선 연결선 2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0" name="직사각형 209"/>
            <p:cNvSpPr/>
            <p:nvPr/>
          </p:nvSpPr>
          <p:spPr>
            <a:xfrm>
              <a:off x="722583" y="3274873"/>
              <a:ext cx="792000" cy="6463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직위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과장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6" name="직선 연결선 2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9668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25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2315386" y="1952353"/>
            <a:ext cx="713326" cy="188135"/>
            <a:chOff x="1823840" y="2598090"/>
            <a:chExt cx="1213581" cy="188135"/>
          </a:xfrm>
        </p:grpSpPr>
        <p:sp>
          <p:nvSpPr>
            <p:cNvPr id="101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823840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455404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700" kern="0" dirty="0">
                  <a:solidFill>
                    <a:srgbClr val="0070C0"/>
                  </a:solidFill>
                  <a:latin typeface="+mn-ea"/>
                </a:rPr>
                <a:t>3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srgbClr val="0070C0"/>
                </a:solidFill>
                <a:latin typeface="+mn-ea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4272" y="4264461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3" name="직사각형 8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5567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9685058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1968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업체일반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8532"/>
          <a:ext cx="8994883" cy="446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bzentyEngNm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ntnCd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opbizYmd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hmpgAddr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rprsvTelno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rprsvFxno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949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fndnYmd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860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66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hdofcBrno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4063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empCnt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666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bizCd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687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entTpcd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274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0297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77407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entSeRlvtYr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4591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rgnCd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5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fctryFndnSpcsYn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0311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bplcSecd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986147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051650A0-6477-9D01-FA0C-D7C3BF87DA84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3" name="Text Box 73">
            <a:extLst>
              <a:ext uri="{FF2B5EF4-FFF2-40B4-BE49-F238E27FC236}">
                <a16:creationId xmlns:a16="http://schemas.microsoft.com/office/drawing/2014/main" id="{258E0144-829A-EA7C-666D-8E58B6D64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8756976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60676" y="810730"/>
            <a:ext cx="26391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상태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부정당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dl_bzentySttsList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47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상태구분코드로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crtrYmd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rmrkCn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378ACA8-0DBB-242F-7302-6161CBC92EC3}"/>
              </a:ext>
            </a:extLst>
          </p:cNvPr>
          <p:cNvSpPr txBox="1"/>
          <p:nvPr/>
        </p:nvSpPr>
        <p:spPr>
          <a:xfrm>
            <a:off x="460676" y="2627659"/>
            <a:ext cx="32835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수의계약배제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dl_bzentyRlsVltrnsRstricList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A266717-41A4-FFE0-9028-C30737B2931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62151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prcmNo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pbancNm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bdopnYmd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exclPrd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배제기간 종료일자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시작일자로 기간 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exclRsn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9006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56021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3B252C2-8DD7-95F1-F37C-1DD64918DF71}"/>
              </a:ext>
            </a:extLst>
          </p:cNvPr>
          <p:cNvSpPr txBox="1"/>
          <p:nvPr/>
        </p:nvSpPr>
        <p:spPr>
          <a:xfrm>
            <a:off x="430810" y="4807345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대표자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dl_bzentyRprsvList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0C2491EF-77B1-8CF0-7D2E-53A4A7C6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1084"/>
              </p:ext>
            </p:extLst>
          </p:nvPr>
        </p:nvGraphicFramePr>
        <p:xfrm>
          <a:off x="425692" y="50317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rprsvEngNm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대표자이메일주소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568EBA1-28CC-955A-4797-32A7FB98B4A6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 Box 73">
            <a:extLst>
              <a:ext uri="{FF2B5EF4-FFF2-40B4-BE49-F238E27FC236}">
                <a16:creationId xmlns:a16="http://schemas.microsoft.com/office/drawing/2014/main" id="{802FEBB7-652C-3886-F1E0-11862D6BD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146239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58118" y="811578"/>
            <a:ext cx="27561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입찰대리인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dl_bzentyBidAgtList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783636"/>
              </p:ext>
            </p:extLst>
          </p:nvPr>
        </p:nvGraphicFramePr>
        <p:xfrm>
          <a:off x="458117" y="1022781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agtJbpsNm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84BD3DB-3D3A-4BBF-F92F-9CA0617EEF7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809A899B-AE9E-80CA-B3B3-E3F17745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70353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682E38-8D2E-2EA1-FA7C-426AFDAB2F3C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799547"/>
          <a:ext cx="8995591" cy="138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일반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수의계약배제조회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scwin.btn_rlsVltrnsRstricList_onclick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수의계약배제정보를 조회한다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조건에 따라 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개월 수의계약배제 정보를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2398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조달업체정보수신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조달업체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99126BC-7F95-33D5-ED23-60F3C4E82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68334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521E2C-E736-42FD-BA08-C70A616ED481}"/>
              </a:ext>
            </a:extLst>
          </p:cNvPr>
          <p:cNvSpPr txBox="1"/>
          <p:nvPr/>
        </p:nvSpPr>
        <p:spPr>
          <a:xfrm>
            <a:off x="458117" y="5729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</p:spTree>
    <p:extLst>
      <p:ext uri="{BB962C8B-B14F-4D97-AF65-F5344CB8AC3E}">
        <p14:creationId xmlns:p14="http://schemas.microsoft.com/office/powerpoint/2010/main" val="306032788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</a:t>
            </a:r>
            <a:r>
              <a:rPr lang="ko-KR" altLang="en-US" dirty="0" smtClean="0"/>
              <a:t>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5012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556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9333" y="163908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4660" y="163908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408018" y="185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16885" y="163908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1966" y="163908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483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2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90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902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902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902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270782"/>
            <a:ext cx="2630093" cy="1169259"/>
            <a:chOff x="720490" y="2967388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6366" y="3566639"/>
            <a:ext cx="2630093" cy="966004"/>
            <a:chOff x="720490" y="2967388"/>
            <a:chExt cx="2630093" cy="966004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5042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790431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21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41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3880034" y="4417833"/>
            <a:ext cx="2543426" cy="608387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479652"/>
            <a:ext cx="215431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물품</a:t>
            </a:r>
            <a:r>
              <a:rPr lang="en-US" altLang="ko-KR" sz="700" b="1" dirty="0">
                <a:latin typeface="Consolas" panose="020B0609020204030204" pitchFamily="49" charset="0"/>
              </a:rPr>
              <a:t>[</a:t>
            </a:r>
            <a:r>
              <a:rPr lang="ko-KR" altLang="en-US" sz="700" b="1" dirty="0">
                <a:latin typeface="Consolas" panose="020B0609020204030204" pitchFamily="49" charset="0"/>
              </a:rPr>
              <a:t>내자</a:t>
            </a:r>
            <a:r>
              <a:rPr lang="en-US" altLang="ko-KR" sz="700" b="1" dirty="0">
                <a:latin typeface="Consolas" panose="020B0609020204030204" pitchFamily="49" charset="0"/>
              </a:rPr>
              <a:t>]</a:t>
            </a:r>
            <a:r>
              <a:rPr lang="ko-KR" altLang="en-US" sz="700" b="1" dirty="0">
                <a:latin typeface="Consolas" panose="020B0609020204030204" pitchFamily="49" charset="0"/>
              </a:rPr>
              <a:t>업체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공장등록증명서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관련업체만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인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 err="1">
                <a:latin typeface="Consolas" panose="020B0609020204030204" pitchFamily="49" charset="0"/>
              </a:rPr>
              <a:t>허가증사본</a:t>
            </a:r>
            <a:r>
              <a:rPr lang="ko-KR" altLang="en-US" sz="700" dirty="0">
                <a:latin typeface="Consolas" panose="020B0609020204030204" pitchFamily="49" charset="0"/>
              </a:rPr>
              <a:t>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해당품목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180" name="타원 179"/>
          <p:cNvSpPr/>
          <p:nvPr/>
        </p:nvSpPr>
        <p:spPr>
          <a:xfrm>
            <a:off x="3953173" y="448438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0" name="그룹 159"/>
          <p:cNvGrpSpPr/>
          <p:nvPr/>
        </p:nvGrpSpPr>
        <p:grpSpPr>
          <a:xfrm>
            <a:off x="670228" y="1855689"/>
            <a:ext cx="2717198" cy="303979"/>
            <a:chOff x="675399" y="1846937"/>
            <a:chExt cx="2717198" cy="30397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80966" y="18556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2" name="직사각형 11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83900738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5597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997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5F4BF4-FFA6-A8E0-BAA2-8E1C1F22F9AA}"/>
              </a:ext>
            </a:extLst>
          </p:cNvPr>
          <p:cNvSpPr txBox="1"/>
          <p:nvPr/>
        </p:nvSpPr>
        <p:spPr>
          <a:xfrm>
            <a:off x="455559" y="2074614"/>
            <a:ext cx="36810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A928137-514C-9ABE-6A4F-A4CBC3407BFF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229305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3370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업태구분코드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MBTC (CODE_VLUE like ‘1%’)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827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477628B-DB8C-186D-A7E8-513CE70CB873}"/>
              </a:ext>
            </a:extLst>
          </p:cNvPr>
          <p:cNvSpPr txBox="1"/>
          <p:nvPr/>
        </p:nvSpPr>
        <p:spPr>
          <a:xfrm>
            <a:off x="458117" y="3636964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9B016F-59AB-0FCE-204C-B71BDF4D991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861969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391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품목등재구분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ITRGDVCD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1344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42305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2679792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E4990925-92C3-E007-B9FA-BA5B8BF20032}"/>
              </a:ext>
            </a:extLst>
          </p:cNvPr>
          <p:cNvSpPr txBox="1"/>
          <p:nvPr/>
        </p:nvSpPr>
        <p:spPr>
          <a:xfrm>
            <a:off x="460676" y="5486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2DA2A7-544D-3515-5CBD-3763E6944CE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681315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조달원확인서신청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scwin.btn_sosCnfdocAply_onclick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 확인서 신청서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9" name="Text Box 73">
            <a:extLst>
              <a:ext uri="{FF2B5EF4-FFF2-40B4-BE49-F238E27FC236}">
                <a16:creationId xmlns:a16="http://schemas.microsoft.com/office/drawing/2014/main" id="{204B93B3-59EC-7870-C562-484E348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557039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C1C9B76-0F5C-A916-E7F3-A4F4CC861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118782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시설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시설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090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70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022056" y="1855314"/>
            <a:ext cx="185793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70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70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108"/>
            <a:ext cx="2630093" cy="2051510"/>
            <a:chOff x="720490" y="4465173"/>
            <a:chExt cx="2630093" cy="2051510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7412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해제일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평가액</a:t>
              </a:r>
              <a:r>
                <a:rPr lang="ko-KR" altLang="en-US" sz="700" dirty="0">
                  <a:latin typeface="+mn-ea"/>
                </a:rPr>
                <a:t> 기준년도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입찰제한대상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96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741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741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741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741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215176"/>
            <a:ext cx="2630093" cy="756958"/>
            <a:chOff x="720490" y="2967388"/>
            <a:chExt cx="2630093" cy="756958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시설정보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전화번호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3288" y="3111091"/>
            <a:ext cx="2633171" cy="1775727"/>
            <a:chOff x="717412" y="2967388"/>
            <a:chExt cx="2633171" cy="1775727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시설면허정보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4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공통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면허유효기간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폐업여부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소방공사업</a:t>
              </a:r>
              <a:r>
                <a:rPr lang="en-US" altLang="ko-KR" sz="700" dirty="0">
                  <a:latin typeface="+mn-ea"/>
                </a:rPr>
                <a:t> [0001]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1999-12-31 ~ 2000-01-01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417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54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43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7412" y="4441695"/>
              <a:ext cx="263317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시공능력평가액은 </a:t>
              </a:r>
              <a:r>
                <a:rPr lang="ko-KR" altLang="en-US" sz="700" dirty="0" err="1">
                  <a:solidFill>
                    <a:srgbClr val="FF0000"/>
                  </a:solidFill>
                  <a:latin typeface="+mn-ea"/>
                </a:rPr>
                <a:t>해당협회에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 등록된 금액과 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동일하지 않을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.</a:t>
              </a:r>
            </a:p>
          </p:txBody>
        </p: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486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1824" y="4365750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991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4081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876497" y="1854026"/>
            <a:ext cx="224359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6489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701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434385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73471" y="803322"/>
            <a:ext cx="256377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시설정보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dm_bzentyFcltInfo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1012431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lcofcTelno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73471" y="1816320"/>
            <a:ext cx="29276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시설면허정보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dl_bzentyFcltLcnsList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02882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lcnsAcqsYmd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lcnsExpryYmd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035AD7-61D7-42A4-0EE3-846A701AAECE}"/>
              </a:ext>
            </a:extLst>
          </p:cNvPr>
          <p:cNvSpPr txBox="1"/>
          <p:nvPr/>
        </p:nvSpPr>
        <p:spPr>
          <a:xfrm>
            <a:off x="460676" y="3810138"/>
            <a:ext cx="287795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주력분야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dl_bzentyFcltMfrcFldList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2A68A4-F4C6-2E22-999E-2BD5A6683B4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2857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mfrcFldRmvYmd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evlAmtCrtrYr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mfrcFldDsgnYmd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excptnMttrCd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특이사항코드로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9174944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A7DED2-DDAA-2987-A018-643D3CE5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646844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0322" y="597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34444"/>
          <a:ext cx="8995591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시설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시설면허정보 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시설면허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1E445BA-02EE-5737-FF0C-91467146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189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41576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법인 개인 구분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법인</a:t>
            </a:r>
            <a:r>
              <a:rPr lang="en-US" altLang="ko-KR" dirty="0"/>
              <a:t> </a:t>
            </a:r>
            <a:r>
              <a:rPr lang="ko-KR" altLang="en-US" dirty="0"/>
              <a:t>또는 개인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국내소재상사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443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6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602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602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346458" y="1852629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602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602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2925419"/>
            <a:ext cx="2630093" cy="2274245"/>
            <a:chOff x="720490" y="4465173"/>
            <a:chExt cx="2630093" cy="2274245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9667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군납최초</a:t>
              </a:r>
              <a:r>
                <a:rPr lang="ko-KR" altLang="en-US" sz="700" dirty="0">
                  <a:latin typeface="+mn-ea"/>
                </a:rPr>
                <a:t> 참여일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(F)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(T)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Dun`s Number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300,000,000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한국외환은행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307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53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31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31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31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21" name="그룹 120"/>
          <p:cNvGrpSpPr/>
          <p:nvPr/>
        </p:nvGrpSpPr>
        <p:grpSpPr>
          <a:xfrm>
            <a:off x="670228" y="184976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9713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613843" y="225031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개인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3836701" y="1929674"/>
            <a:ext cx="2630093" cy="756958"/>
            <a:chOff x="720490" y="2967388"/>
            <a:chExt cx="2630093" cy="756958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21487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 Codes (Federal Supply Classification Codes)</a:t>
              </a:r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77" name="직선 연결선 1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항공기 </a:t>
              </a:r>
              <a:r>
                <a:rPr lang="ko-KR" altLang="en-US" sz="700" dirty="0" err="1">
                  <a:latin typeface="+mn-ea"/>
                </a:rPr>
                <a:t>부수품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2" name="그룹 181"/>
          <p:cNvGrpSpPr/>
          <p:nvPr/>
        </p:nvGrpSpPr>
        <p:grpSpPr>
          <a:xfrm>
            <a:off x="716366" y="2210863"/>
            <a:ext cx="2630093" cy="2255186"/>
            <a:chOff x="720490" y="4465173"/>
            <a:chExt cx="2630093" cy="225518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 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7"/>
              <a:ext cx="792000" cy="19477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취급품목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개업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무기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90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20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176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078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963651444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해외관련</a:t>
            </a:r>
            <a:r>
              <a:rPr lang="ko-KR" altLang="en-US" dirty="0" smtClean="0"/>
              <a:t> 업체 정보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4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87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215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215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8758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215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215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46" name="그룹 145"/>
          <p:cNvGrpSpPr/>
          <p:nvPr/>
        </p:nvGrpSpPr>
        <p:grpSpPr>
          <a:xfrm>
            <a:off x="716366" y="1925803"/>
            <a:ext cx="2630093" cy="1169259"/>
            <a:chOff x="720490" y="4465173"/>
            <a:chExt cx="2630093" cy="1169259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해외관련</a:t>
              </a:r>
              <a:r>
                <a:rPr lang="ko-KR" altLang="en-US" sz="700" dirty="0">
                  <a:latin typeface="+mn-ea"/>
                </a:rPr>
                <a:t> 업체정보</a:t>
              </a:r>
            </a:p>
          </p:txBody>
        </p:sp>
        <p:grpSp>
          <p:nvGrpSpPr>
            <p:cNvPr id="149" name="그룹 148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15" name="직선 연결선 2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/>
            <p:cNvSpPr/>
            <p:nvPr/>
          </p:nvSpPr>
          <p:spPr>
            <a:xfrm>
              <a:off x="722583" y="4772658"/>
              <a:ext cx="792000" cy="848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 Corp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프랑스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+33-1-34-88-30-00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471" y="31785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4" name="모서리가 둥근 직사각형 243"/>
          <p:cNvSpPr/>
          <p:nvPr/>
        </p:nvSpPr>
        <p:spPr>
          <a:xfrm>
            <a:off x="764771" y="3255073"/>
            <a:ext cx="2543426" cy="485210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7851" y="3316891"/>
            <a:ext cx="215431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국내소재상사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보안측정결과서 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246" name="타원 245"/>
          <p:cNvSpPr/>
          <p:nvPr/>
        </p:nvSpPr>
        <p:spPr>
          <a:xfrm>
            <a:off x="837910" y="332162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8" name="직사각형 4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  <p:sp>
        <p:nvSpPr>
          <p:cNvPr id="43" name="타원 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72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52423526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58117" y="810854"/>
            <a:ext cx="346305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 구분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9291"/>
          <a:ext cx="8994883" cy="225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645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02070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7394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8880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512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241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2946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scrtyMsrmtScr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55222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54738" y="3303474"/>
            <a:ext cx="21598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 Codes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52395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67FBFABC-E371-E401-4A89-DA12D13DB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7343ACF-5BC3-E425-3D2D-99FD5BAE7747}"/>
              </a:ext>
            </a:extLst>
          </p:cNvPr>
          <p:cNvSpPr txBox="1"/>
          <p:nvPr/>
        </p:nvSpPr>
        <p:spPr>
          <a:xfrm>
            <a:off x="460676" y="4187679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3424BA-7526-CE95-2C32-8EB6AC874394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41205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30384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0B1330-1965-F7B3-6343-F3DFC320FABC}"/>
              </a:ext>
            </a:extLst>
          </p:cNvPr>
          <p:cNvSpPr txBox="1"/>
          <p:nvPr/>
        </p:nvSpPr>
        <p:spPr>
          <a:xfrm>
            <a:off x="455559" y="810880"/>
            <a:ext cx="28891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해외관련 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dl_rltBzentyList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F40061-64B0-F241-8E6C-7410FA619430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103136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bzentyNtnNm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8670465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784294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44A396A-9808-139A-7902-BB55FB3F41B5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FEBA482D-2159-14A9-177A-11A52856A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328358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36181E-20DF-7FEF-8E97-4499D0663810}"/>
              </a:ext>
            </a:extLst>
          </p:cNvPr>
          <p:cNvSpPr txBox="1"/>
          <p:nvPr/>
        </p:nvSpPr>
        <p:spPr>
          <a:xfrm>
            <a:off x="460322" y="5882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AB1A6D0-A54B-6213-F6C8-3BE1C47DEC0F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2483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국내소재상사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국외조달원등록증 신청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scwin.btn_ovsSosAplyGd_onclick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신청서 안내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C03E5E3-1A31-5A2B-C8FA-04267014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0696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5021704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서류 </a:t>
            </a:r>
            <a:r>
              <a:rPr lang="ko-KR" altLang="en-US" dirty="0"/>
              <a:t>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즉시 발급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타이틀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</a:t>
            </a:r>
            <a:r>
              <a:rPr lang="ko-KR" altLang="en-US" dirty="0" smtClean="0"/>
              <a:t>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MUI-CM-01-P20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MUI-CM-01-M19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국내 조달원 </a:t>
            </a:r>
            <a:r>
              <a:rPr lang="ko-KR" altLang="en-US" sz="800" dirty="0">
                <a:latin typeface="+mn-ea"/>
              </a:rPr>
              <a:t>확인서 신청 목록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95645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 err="1"/>
                <a:t>입찰참가용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592072"/>
            <a:ext cx="2473257" cy="942236"/>
            <a:chOff x="781461" y="2610063"/>
            <a:chExt cx="2473257" cy="942236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2020101010</a:t>
              </a: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확인용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701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4785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신청인을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</a:t>
            </a:r>
            <a:r>
              <a:rPr lang="ko-KR" altLang="en-US" sz="9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확인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4457309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필수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업체정보관리에서 진입한 경우 신청목록으로 이동</a:t>
            </a:r>
            <a:r>
              <a:rPr lang="en-US" altLang="ko-KR" dirty="0" smtClean="0"/>
              <a:t>. </a:t>
            </a:r>
            <a:r>
              <a:rPr lang="en-US" altLang="ko-KR" dirty="0"/>
              <a:t>MUI-CM-01-M03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953467"/>
            <a:ext cx="2712027" cy="3278832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99009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3124510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0518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확인서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3665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48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4433682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010-1234-5678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2947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연락처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903581" y="5065353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신청사유를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작성해주세요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9264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신청사유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9264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88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성명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795966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4482273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16299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522093" y="3760674"/>
            <a:ext cx="34710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조달원 확인서 신청서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dm_sosCnfdocAplyInfo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398498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3235" y="50252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5255952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9401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7182860-4B9B-70CE-622F-13259DE8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5118" y="514233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5507F8-28E0-D2CA-01CD-17DF2435587F}"/>
              </a:ext>
            </a:extLst>
          </p:cNvPr>
          <p:cNvSpPr txBox="1"/>
          <p:nvPr/>
        </p:nvSpPr>
        <p:spPr>
          <a:xfrm>
            <a:off x="458117" y="803113"/>
            <a:ext cx="27368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E81E11-11C2-8458-E644-A59A8353417A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6543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666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A0CC25-8071-DF85-A256-E63F30ED3979}"/>
              </a:ext>
            </a:extLst>
          </p:cNvPr>
          <p:cNvSpPr txBox="1"/>
          <p:nvPr/>
        </p:nvSpPr>
        <p:spPr>
          <a:xfrm>
            <a:off x="462690" y="1915388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2E04866-3FC5-182D-95B7-506561A0BF7E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213589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42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상태는 발급으로 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시 바로 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2FD39B29-B133-C3EF-9680-05C8D964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08654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42720F-AF70-E4AE-D8B4-96C457197793}"/>
              </a:ext>
            </a:extLst>
          </p:cNvPr>
          <p:cNvSpPr txBox="1"/>
          <p:nvPr/>
        </p:nvSpPr>
        <p:spPr>
          <a:xfrm>
            <a:off x="460322" y="6203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655E8-CDC4-162F-5F06-66C766C37F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774719"/>
              </p:ext>
            </p:extLst>
          </p:nvPr>
        </p:nvGraphicFramePr>
        <p:xfrm>
          <a:off x="455204" y="851006"/>
          <a:ext cx="8995591" cy="157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802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0797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카드 </a:t>
                      </a:r>
                      <a:r>
                        <a:rPr lang="ko-KR" altLang="en-US" sz="800" dirty="0"/>
                        <a:t>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scwin.btn_otpt_onclick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국내조달원확인서를  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OZ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리포트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80C0FEC0-EB0B-0C17-7551-2AEA97E9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05" y="7373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2578771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파일명 정보 표시</a:t>
            </a:r>
            <a:r>
              <a:rPr lang="en-US" altLang="ko-KR" dirty="0"/>
              <a:t>,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다운로드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경로 </a:t>
            </a:r>
            <a:r>
              <a:rPr lang="en-US" altLang="ko-KR" dirty="0"/>
              <a:t>/download/manual/AppCertOfRegi.pdf </a:t>
            </a:r>
            <a:r>
              <a:rPr lang="ko-KR" altLang="en-US" dirty="0"/>
              <a:t>파일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닫기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국외 조달원등록증 신청안내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24538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noProof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140165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처리절자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922514"/>
            <a:ext cx="25326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조회</a:t>
            </a:r>
            <a:r>
              <a:rPr lang="ko-KR" altLang="en-US" sz="700" dirty="0">
                <a:latin typeface="+mn-ea"/>
              </a:rPr>
              <a:t> 에서 영문상호명이 있어야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빈 값인 경우 조달청에서 등록하세요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Tx/>
              <a:buChar char="-"/>
            </a:pPr>
            <a:r>
              <a:rPr lang="ko-KR" altLang="en-US" sz="700" dirty="0">
                <a:latin typeface="+mn-ea"/>
              </a:rPr>
              <a:t>업체정보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대표자 주소 등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변경사항이 있는 경우 나라장터</a:t>
            </a:r>
            <a:r>
              <a:rPr lang="en-US" altLang="ko-KR" sz="700" dirty="0">
                <a:latin typeface="+mn-ea"/>
              </a:rPr>
              <a:t>(www.g2b.go.kr)</a:t>
            </a:r>
            <a:r>
              <a:rPr lang="ko-KR" altLang="en-US" sz="700" dirty="0">
                <a:latin typeface="+mn-ea"/>
              </a:rPr>
              <a:t>에 변경 요청하여 승인 처리되면  다음 날 국방전자조달</a:t>
            </a:r>
            <a:r>
              <a:rPr lang="en-US" altLang="ko-KR" sz="700" dirty="0">
                <a:latin typeface="+mn-ea"/>
              </a:rPr>
              <a:t>(www.d2b.go.kr)</a:t>
            </a:r>
            <a:r>
              <a:rPr lang="ko-KR" altLang="en-US" sz="700" dirty="0">
                <a:latin typeface="+mn-ea"/>
              </a:rPr>
              <a:t>에 자동 반영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추가정보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신청 버튼</a:t>
            </a:r>
            <a:r>
              <a:rPr lang="ko-KR" altLang="en-US" sz="700" dirty="0">
                <a:latin typeface="+mn-ea"/>
              </a:rPr>
              <a:t> 클릭 후 </a:t>
            </a:r>
            <a:r>
              <a:rPr lang="ko-KR" altLang="en-US" sz="700" dirty="0" err="1">
                <a:latin typeface="+mn-ea"/>
              </a:rPr>
              <a:t>일반정보에</a:t>
            </a:r>
            <a:r>
              <a:rPr lang="ko-KR" altLang="en-US" sz="700" dirty="0">
                <a:latin typeface="+mn-ea"/>
              </a:rPr>
              <a:t>  대표자명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), </a:t>
            </a:r>
            <a:r>
              <a:rPr lang="ko-KR" altLang="en-US" sz="700" dirty="0">
                <a:latin typeface="+mn-ea"/>
              </a:rPr>
              <a:t>주소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은 필수입니다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 err="1">
                <a:latin typeface="+mn-ea"/>
              </a:rPr>
              <a:t>빈값인경우</a:t>
            </a:r>
            <a:r>
              <a:rPr lang="ko-KR" altLang="en-US" sz="700" dirty="0">
                <a:latin typeface="+mn-ea"/>
              </a:rPr>
              <a:t> 추가정보등록 후 신청하세요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양식 다운로드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341961"/>
            <a:ext cx="248428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국외조달원</a:t>
            </a:r>
            <a:r>
              <a:rPr lang="ko-KR" altLang="en-US" sz="800" dirty="0">
                <a:latin typeface="+mn-ea"/>
              </a:rPr>
              <a:t> 등록증 발급 신청서 양식을  하여 수기로 작성 후 팩스 또는 직접 방문 접수합니다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71170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신청서 </a:t>
            </a:r>
            <a:r>
              <a:rPr lang="ko-KR" altLang="en-US" sz="700" b="1" dirty="0" err="1">
                <a:latin typeface="+mn-ea"/>
              </a:rPr>
              <a:t>확인사항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803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213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718021" y="266646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8698" y="274098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등록증 신청서 양식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AppCertOfRegi.pdf : [51KB]</a:t>
            </a:r>
          </a:p>
        </p:txBody>
      </p:sp>
      <p:sp>
        <p:nvSpPr>
          <p:cNvPr id="42" name="타원 41"/>
          <p:cNvSpPr/>
          <p:nvPr/>
        </p:nvSpPr>
        <p:spPr>
          <a:xfrm>
            <a:off x="3078140" y="277670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249765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현재 업체 정보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추가등록</a:t>
            </a:r>
            <a:r>
              <a:rPr lang="ko-KR" altLang="en-US" dirty="0"/>
              <a:t> 내역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내역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/>
              <a:t>상태값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</a:t>
            </a:r>
            <a:r>
              <a:rPr lang="en-US" altLang="ko-KR" dirty="0" smtClean="0">
                <a:latin typeface="+mn-ea"/>
              </a:rPr>
              <a:t>’)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상태값에</a:t>
            </a:r>
            <a:r>
              <a:rPr lang="ko-KR" altLang="en-US" dirty="0" smtClean="0"/>
              <a:t> 상관 없이 상세 페이지 진입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MUI-CM-01-T05 </a:t>
            </a:r>
            <a:r>
              <a:rPr lang="ko-KR" altLang="en-US" dirty="0" smtClean="0"/>
              <a:t>물품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신청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MUI-CM-01-T06 </a:t>
            </a:r>
            <a:r>
              <a:rPr lang="ko-KR" altLang="en-US" dirty="0" smtClean="0"/>
              <a:t>국내소재상사신청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담당자 변경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저장 건의 경우 목록에 표시하지 않음</a:t>
            </a:r>
            <a:r>
              <a:rPr lang="en-US" altLang="ko-KR" dirty="0" smtClean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추가정보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649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78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3070829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3102174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3070829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070829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3172652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3556688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추가정보구분 </a:t>
              </a:r>
              <a:r>
                <a:rPr lang="en-US" altLang="ko-KR" sz="900" b="1" dirty="0"/>
                <a:t>- </a:t>
              </a:r>
              <a:r>
                <a:rPr lang="ko-KR" altLang="en-US" sz="900" b="1" dirty="0"/>
                <a:t>물품</a:t>
              </a:r>
              <a:r>
                <a:rPr lang="en-US" altLang="ko-KR" sz="900" b="1" dirty="0"/>
                <a:t>(</a:t>
              </a:r>
              <a:r>
                <a:rPr lang="ko-KR" altLang="en-US" sz="900" b="1" dirty="0"/>
                <a:t>내자</a:t>
              </a:r>
              <a:r>
                <a:rPr lang="en-US" altLang="ko-KR" sz="900" b="1" dirty="0"/>
                <a:t>)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업무구분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1818649" y="3139237"/>
              <a:ext cx="1413849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물품</a:t>
              </a:r>
              <a:r>
                <a:rPr lang="en-US" altLang="ko-KR" sz="600" dirty="0">
                  <a:latin typeface="+mn-ea"/>
                </a:rPr>
                <a:t>(</a:t>
              </a:r>
              <a:r>
                <a:rPr lang="ko-KR" altLang="en-US" sz="600" dirty="0">
                  <a:latin typeface="+mn-ea"/>
                </a:rPr>
                <a:t>내자</a:t>
              </a:r>
              <a:r>
                <a:rPr lang="en-US" altLang="ko-KR" sz="600" dirty="0">
                  <a:latin typeface="+mn-ea"/>
                </a:rPr>
                <a:t>) | </a:t>
              </a:r>
              <a:r>
                <a:rPr lang="ko-KR" altLang="en-US" sz="600" dirty="0">
                  <a:latin typeface="+mn-ea"/>
                </a:rPr>
                <a:t>공사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일반용역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외자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접수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312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89"/>
            <a:ext cx="2446613" cy="317086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220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91086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err="1"/>
              <a:t>업체코드</a:t>
            </a:r>
            <a:r>
              <a:rPr lang="ko-KR" altLang="en-US" sz="700" dirty="0"/>
              <a:t> </a:t>
            </a:r>
            <a:r>
              <a:rPr lang="en-US" altLang="ko-KR" sz="700" dirty="0"/>
              <a:t>7004F</a:t>
            </a:r>
          </a:p>
          <a:p>
            <a:r>
              <a:rPr lang="ko-KR" altLang="en-US" sz="900" b="1" dirty="0"/>
              <a:t>주식회사 국방전자조달</a:t>
            </a:r>
          </a:p>
        </p:txBody>
      </p:sp>
      <p:sp>
        <p:nvSpPr>
          <p:cNvPr id="15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326151"/>
            <a:ext cx="53860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대표자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사업자등록번호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주소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등록구분</a:t>
            </a:r>
            <a:endParaRPr lang="en-US" altLang="ko-KR" sz="600" dirty="0">
              <a:latin typeface="+mn-ea"/>
            </a:endParaRPr>
          </a:p>
        </p:txBody>
      </p:sp>
      <p:sp>
        <p:nvSpPr>
          <p:cNvPr id="151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1727214" y="2310762"/>
            <a:ext cx="15052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홍길동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123-45-67890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서울특별시 중구 세종대로 </a:t>
            </a:r>
            <a:r>
              <a:rPr lang="en-US" altLang="ko-KR" sz="600" dirty="0">
                <a:latin typeface="+mn-ea"/>
              </a:rPr>
              <a:t>110 (</a:t>
            </a:r>
            <a:r>
              <a:rPr lang="ko-KR" altLang="en-US" sz="600" dirty="0">
                <a:latin typeface="+mn-ea"/>
              </a:rPr>
              <a:t>태평로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 dirty="0">
                <a:latin typeface="+mn-ea"/>
              </a:rPr>
              <a:t>가</a:t>
            </a:r>
            <a:r>
              <a:rPr lang="en-US" altLang="ko-KR" sz="600" dirty="0">
                <a:latin typeface="+mn-ea"/>
              </a:rPr>
              <a:t>)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-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7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버튼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진입 포인트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smtClean="0"/>
                <a:t>상위 메뉴에서 업체정보 추가 등록 통일되게 진입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15641412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기본값 </a:t>
            </a:r>
            <a:r>
              <a:rPr lang="en-US" altLang="ko-KR" dirty="0" smtClean="0"/>
              <a:t>1</a:t>
            </a:r>
            <a:r>
              <a:rPr lang="ko-KR" altLang="en-US" dirty="0" smtClean="0"/>
              <a:t>개월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처리 </a:t>
            </a:r>
            <a:r>
              <a:rPr lang="ko-KR" altLang="en-US" dirty="0" err="1" smtClean="0"/>
              <a:t>상태값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(‘F’)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검색필터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smtClean="0">
                <a:latin typeface="+mn-ea"/>
              </a:rPr>
              <a:t>추가정보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목록의 </a:t>
            </a:r>
            <a:r>
              <a:rPr lang="ko-KR" altLang="en-US" dirty="0" err="1" smtClean="0">
                <a:latin typeface="+mn-ea"/>
              </a:rPr>
              <a:t>검색필터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4" name="모서리가 둥근 직사각형 93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97" name="직선 연결선 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2" name="그룹 101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5" name="모서리가 둥근 직사각형 10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품명을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목록과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화면</a:t>
              </a:r>
              <a:r>
                <a:rPr lang="en-US" altLang="ko-KR" sz="700" dirty="0" smtClean="0"/>
                <a:t> </a:t>
              </a:r>
              <a:r>
                <a:rPr lang="ko-KR" altLang="en-US" sz="700" dirty="0" smtClean="0"/>
                <a:t>분리</a:t>
              </a:r>
              <a:r>
                <a:rPr lang="en-US" altLang="ko-KR" sz="700" dirty="0" smtClean="0"/>
                <a:t> </a:t>
              </a:r>
              <a:endParaRPr lang="ko-KR" altLang="en-US" sz="700" dirty="0"/>
            </a:p>
          </p:txBody>
        </p:sp>
      </p:grp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76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53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5739633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9677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534866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21699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(‘A’)/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554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738315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2198112"/>
            <a:ext cx="297574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2063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addInfoCdNm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국내소재상사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F125368-2857-C82E-1284-3681067E57A2}"/>
              </a:ext>
            </a:extLst>
          </p:cNvPr>
          <p:cNvSpPr txBox="1"/>
          <p:nvPr/>
        </p:nvSpPr>
        <p:spPr>
          <a:xfrm>
            <a:off x="452999" y="399991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A706DBE-0422-0FB5-452E-C5076DB39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207010"/>
              </p:ext>
            </p:extLst>
          </p:nvPr>
        </p:nvGraphicFramePr>
        <p:xfrm>
          <a:off x="455204" y="4191095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scwin.btn_bzentyInfoAddRegAplySrch_onclick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추가등록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scwin.grd_bzentyInfoAddRegAplyList_oncellclick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추가등록정보 신청 상세조회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9E9827DD-9569-58C6-A5A8-D5F9A0717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40593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3C2A901-2C93-18D5-49AD-6B86C606B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751436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600147"/>
            <a:chOff x="720490" y="4465173"/>
            <a:chExt cx="2630093" cy="16001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47283" y="2869262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8800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76415535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96321CF-EFC5-26E2-090C-8CF7B965CFBA}"/>
              </a:ext>
            </a:extLst>
          </p:cNvPr>
          <p:cNvSpPr txBox="1"/>
          <p:nvPr/>
        </p:nvSpPr>
        <p:spPr>
          <a:xfrm>
            <a:off x="474315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E1DDAE6-399C-5859-4E69-5305126997B8}"/>
              </a:ext>
            </a:extLst>
          </p:cNvPr>
          <p:cNvGraphicFramePr>
            <a:graphicFrameLocks noGrp="1"/>
          </p:cNvGraphicFramePr>
          <p:nvPr/>
        </p:nvGraphicFramePr>
        <p:xfrm>
          <a:off x="474315" y="1024937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CEC06C9-0FC7-2BF3-5CEB-CB78D451E6FB}"/>
              </a:ext>
            </a:extLst>
          </p:cNvPr>
          <p:cNvSpPr txBox="1"/>
          <p:nvPr/>
        </p:nvSpPr>
        <p:spPr>
          <a:xfrm>
            <a:off x="482823" y="4356619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CC68990-859E-3037-E963-31F8A2C42A4A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456782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88BFD90-EEC4-AF19-B43C-80320D9DE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E76E3AA-F395-D558-C9E9-19120457B5D8}"/>
              </a:ext>
            </a:extLst>
          </p:cNvPr>
          <p:cNvSpPr txBox="1"/>
          <p:nvPr/>
        </p:nvSpPr>
        <p:spPr>
          <a:xfrm>
            <a:off x="474315" y="262560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D29EF-B202-6F60-88C5-CFDB8D291C7E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2847240"/>
          <a:ext cx="8994883" cy="1407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97393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4B50EA-5906-EB6B-7138-D3E9BBE51945}"/>
              </a:ext>
            </a:extLst>
          </p:cNvPr>
          <p:cNvSpPr txBox="1"/>
          <p:nvPr/>
        </p:nvSpPr>
        <p:spPr>
          <a:xfrm>
            <a:off x="453000" y="2536597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B578D07-5309-68EA-0BE0-60EAC189B148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75028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14950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956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8341192-35F9-FD22-371F-1BFB9813957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1AA5351-B4D7-2A42-A2FD-535C648BA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33D6EF6-B35E-C07B-C39C-1AAFB1030A81}"/>
              </a:ext>
            </a:extLst>
          </p:cNvPr>
          <p:cNvSpPr txBox="1"/>
          <p:nvPr/>
        </p:nvSpPr>
        <p:spPr>
          <a:xfrm>
            <a:off x="455558" y="875109"/>
            <a:ext cx="367465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dm_knditmInfoAsctGrpInfo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A4CC9-2271-61B9-E859-7A8617C8C15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0028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506251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904140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169259"/>
            <a:chOff x="720490" y="4465173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보안측정인원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9"/>
              <a:ext cx="792000" cy="8617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2261591"/>
            <a:chOff x="720490" y="2967388"/>
            <a:chExt cx="2630093" cy="2261591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72436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기관명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등기일자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등기목적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공급업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군수품 </a:t>
              </a:r>
              <a:r>
                <a:rPr lang="ko-KR" altLang="en-US" sz="700" dirty="0" err="1">
                  <a:latin typeface="+mn-ea"/>
                </a:rPr>
                <a:t>무역대리업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</a:t>
              </a:r>
              <a:r>
                <a:rPr lang="ko-KR" altLang="en-US" sz="700" dirty="0">
                  <a:latin typeface="+mn-ea"/>
                </a:rPr>
                <a:t> 비대상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729060" y="161336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법인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939993" y="4988057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다운로드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6" name="직사각형 13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30257964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</a:t>
            </a:r>
            <a:r>
              <a:rPr lang="ko-KR" altLang="en-US" dirty="0" smtClean="0">
                <a:latin typeface="+mn-ea"/>
              </a:rPr>
              <a:t>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/>
          <p:cNvGrpSpPr/>
          <p:nvPr/>
        </p:nvGrpSpPr>
        <p:grpSpPr>
          <a:xfrm>
            <a:off x="720490" y="1926939"/>
            <a:ext cx="2630093" cy="756006"/>
            <a:chOff x="720490" y="4465173"/>
            <a:chExt cx="2630093" cy="75600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9"/>
              <a:ext cx="792000" cy="44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866974"/>
            <a:ext cx="2630093" cy="1847384"/>
            <a:chOff x="720490" y="4465173"/>
            <a:chExt cx="2630093" cy="184738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8"/>
              <a:ext cx="792000" cy="1539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군납최초참여일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Dun’s Number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농협은행 과천 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728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96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7639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809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468407575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47174" y="3909817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121660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1687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taskHdlrRsltCd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976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3EA6E52F-BCA3-96C8-67C6-5E72F655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04E473-0C76-97CA-2568-CFE2A9FA3350}"/>
              </a:ext>
            </a:extLst>
          </p:cNvPr>
          <p:cNvSpPr txBox="1"/>
          <p:nvPr/>
        </p:nvSpPr>
        <p:spPr>
          <a:xfrm>
            <a:off x="455558" y="2386850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BCFB3BB-1666-4E22-E474-40FF6DDFA289}"/>
              </a:ext>
            </a:extLst>
          </p:cNvPr>
          <p:cNvGraphicFramePr>
            <a:graphicFrameLocks noGrp="1"/>
          </p:cNvGraphicFramePr>
          <p:nvPr/>
        </p:nvGraphicFramePr>
        <p:xfrm>
          <a:off x="464066" y="2608489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23429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C9223-6B36-72B2-E590-EA6F1BDF23A1}"/>
              </a:ext>
            </a:extLst>
          </p:cNvPr>
          <p:cNvSpPr txBox="1"/>
          <p:nvPr/>
        </p:nvSpPr>
        <p:spPr>
          <a:xfrm>
            <a:off x="452999" y="2453560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1FD1C73-2B10-B728-AEA1-41D040F8CC8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72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E2433EC-83E1-AA99-16EC-8E7F3A34098B}"/>
              </a:ext>
            </a:extLst>
          </p:cNvPr>
          <p:cNvSpPr txBox="1"/>
          <p:nvPr/>
        </p:nvSpPr>
        <p:spPr>
          <a:xfrm>
            <a:off x="450440" y="3452123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98065F-80E8-B992-6DDD-013FDDB112C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366580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02567EC-AC2D-D7F0-9930-7CFF5017627D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5C4B852D-8926-43DC-F609-972BFE9A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66105B-EE72-9A35-138D-E979B30E8004}"/>
              </a:ext>
            </a:extLst>
          </p:cNvPr>
          <p:cNvSpPr txBox="1"/>
          <p:nvPr/>
        </p:nvSpPr>
        <p:spPr>
          <a:xfrm>
            <a:off x="452999" y="86763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A946394-CDEF-ED25-B2A5-A7B1388904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126752"/>
              </p:ext>
            </p:extLst>
          </p:nvPr>
        </p:nvGraphicFramePr>
        <p:xfrm>
          <a:off x="453000" y="107883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첨부파일명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9211054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EA09851-DB8A-5E75-D951-D3802196DB2B}"/>
              </a:ext>
            </a:extLst>
          </p:cNvPr>
          <p:cNvSpPr txBox="1"/>
          <p:nvPr/>
        </p:nvSpPr>
        <p:spPr>
          <a:xfrm>
            <a:off x="455204" y="5912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F02EB9-4E0B-A76D-D6AA-BDE3E1762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768327"/>
              </p:ext>
            </p:extLst>
          </p:nvPr>
        </p:nvGraphicFramePr>
        <p:xfrm>
          <a:off x="455204" y="82704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E3266B3-2502-5567-2F29-36F4DC570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1012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761505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</a:t>
            </a:r>
            <a:r>
              <a:rPr lang="ko-KR" altLang="en-US" dirty="0"/>
              <a:t>정보만 저장 시 즉시 완료 처리 </a:t>
            </a:r>
            <a:r>
              <a:rPr lang="en-US" altLang="ko-KR" dirty="0"/>
              <a:t>&gt; </a:t>
            </a:r>
            <a:r>
              <a:rPr lang="ko-KR" altLang="en-US" dirty="0"/>
              <a:t>목록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 </a:t>
            </a:r>
            <a:r>
              <a:rPr lang="en-US" altLang="ko-KR" dirty="0"/>
              <a:t>: </a:t>
            </a:r>
            <a:r>
              <a:rPr lang="ko-KR" altLang="en-US" dirty="0"/>
              <a:t>저장되었습니다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3673" y="491781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담당자정보는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저장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버튼 클릭 시 승인 없이 변경됩니다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5" name="그룹 10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담당자 정보 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1" name="직사각형 1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</a:t>
              </a:r>
              <a:endParaRPr lang="ko-KR" altLang="en-US" sz="700" dirty="0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12134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담당자명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903581" y="2268480"/>
            <a:ext cx="2255663" cy="306146"/>
            <a:chOff x="3982951" y="3679873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21" name="그룹 120"/>
          <p:cNvGrpSpPr/>
          <p:nvPr/>
        </p:nvGrpSpPr>
        <p:grpSpPr>
          <a:xfrm>
            <a:off x="903581" y="2955549"/>
            <a:ext cx="2255663" cy="306146"/>
            <a:chOff x="3982951" y="3679873"/>
            <a:chExt cx="2255663" cy="306146"/>
          </a:xfrm>
        </p:grpSpPr>
        <p:sp>
          <p:nvSpPr>
            <p:cNvPr id="122" name="모서리가 둥근 직사각형 12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66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전화번호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842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팩스번호</a:t>
            </a:r>
            <a:endParaRPr lang="ko-KR" altLang="en-US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903581" y="3631341"/>
            <a:ext cx="2255663" cy="306146"/>
            <a:chOff x="3982951" y="3679873"/>
            <a:chExt cx="2255663" cy="306146"/>
          </a:xfrm>
        </p:grpSpPr>
        <p:sp>
          <p:nvSpPr>
            <p:cNvPr id="129" name="모서리가 둥근 직사각형 12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31" name="그룹 130"/>
          <p:cNvGrpSpPr/>
          <p:nvPr/>
        </p:nvGrpSpPr>
        <p:grpSpPr>
          <a:xfrm>
            <a:off x="903581" y="4318410"/>
            <a:ext cx="2255663" cy="306146"/>
            <a:chOff x="3982951" y="3679873"/>
            <a:chExt cx="2255663" cy="306146"/>
          </a:xfrm>
        </p:grpSpPr>
        <p:sp>
          <p:nvSpPr>
            <p:cNvPr id="132" name="모서리가 둥근 직사각형 1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17947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err="1" smtClean="0"/>
              <a:t>이메일주소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81661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12134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17947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452232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</a:t>
            </a:r>
            <a:r>
              <a:rPr lang="ko-KR" altLang="en-US" dirty="0" smtClean="0"/>
              <a:t>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/>
              <a:t>정보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대표품류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 err="1"/>
              <a:t>품류</a:t>
            </a:r>
            <a:r>
              <a:rPr lang="ko-KR" altLang="en-US" dirty="0"/>
              <a:t>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MUI-CM-01-P06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</a:t>
            </a:r>
            <a:r>
              <a:rPr lang="en-US" altLang="ko-KR" dirty="0"/>
              <a:t>: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MUI-CM-01-P07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업태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제조</a:t>
            </a:r>
            <a:r>
              <a:rPr lang="en-US" altLang="ko-KR" dirty="0"/>
              <a:t>(’11’)/</a:t>
            </a:r>
            <a:r>
              <a:rPr lang="ko-KR" altLang="en-US" dirty="0"/>
              <a:t>판매</a:t>
            </a:r>
            <a:r>
              <a:rPr lang="en-US" altLang="ko-KR" dirty="0"/>
              <a:t>(‘12’)/</a:t>
            </a:r>
            <a:r>
              <a:rPr lang="ko-KR" altLang="en-US" dirty="0" err="1"/>
              <a:t>조합및단체</a:t>
            </a:r>
            <a:r>
              <a:rPr lang="en-US" altLang="ko-KR" dirty="0"/>
              <a:t>(‘13’)/</a:t>
            </a:r>
            <a:r>
              <a:rPr lang="ko-KR" altLang="en-US" dirty="0"/>
              <a:t>용역</a:t>
            </a:r>
            <a:r>
              <a:rPr lang="en-US" altLang="ko-KR" dirty="0"/>
              <a:t>(‘14’)/</a:t>
            </a:r>
            <a:r>
              <a:rPr lang="ko-KR" altLang="en-US" dirty="0" err="1"/>
              <a:t>벤처제조</a:t>
            </a:r>
            <a:r>
              <a:rPr lang="en-US" altLang="ko-KR" dirty="0"/>
              <a:t>(‘15’)/</a:t>
            </a:r>
            <a:r>
              <a:rPr lang="ko-KR" altLang="en-US" dirty="0" err="1"/>
              <a:t>벤처판매</a:t>
            </a:r>
            <a:r>
              <a:rPr lang="en-US" altLang="ko-KR" dirty="0"/>
              <a:t>(‘16’)/</a:t>
            </a:r>
            <a:r>
              <a:rPr lang="ko-KR" altLang="en-US" dirty="0" err="1"/>
              <a:t>벤처용역</a:t>
            </a:r>
            <a:r>
              <a:rPr lang="en-US" altLang="ko-KR" dirty="0"/>
              <a:t>(‘17’)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53" name="그룹 152"/>
          <p:cNvGrpSpPr/>
          <p:nvPr/>
        </p:nvGrpSpPr>
        <p:grpSpPr>
          <a:xfrm>
            <a:off x="3832576" y="1573405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73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2203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40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8270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8270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4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41685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31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760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13751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6257515" y="2195010"/>
            <a:ext cx="94010" cy="47005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19171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35761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6" name="타원 245"/>
          <p:cNvSpPr/>
          <p:nvPr/>
        </p:nvSpPr>
        <p:spPr>
          <a:xfrm>
            <a:off x="6249717" y="1930795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6249717" y="2372863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26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06" name="그룹 1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7" name="직사각형 1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8" name="직사각형 1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 제거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75500751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등록품목</a:t>
            </a:r>
            <a:r>
              <a:rPr lang="ko-KR" altLang="en-US" dirty="0"/>
              <a:t> 명세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</a:t>
            </a:r>
            <a:r>
              <a:rPr lang="en-US" altLang="ko-KR" dirty="0"/>
              <a:t>, </a:t>
            </a:r>
            <a:r>
              <a:rPr lang="ko-KR" altLang="en-US" dirty="0"/>
              <a:t>변경</a:t>
            </a:r>
            <a:r>
              <a:rPr lang="en-US" altLang="ko-KR" dirty="0"/>
              <a:t>, </a:t>
            </a:r>
            <a:r>
              <a:rPr lang="ko-KR" altLang="en-US" dirty="0"/>
              <a:t>삭제한 내역을 초기상태로 </a:t>
            </a:r>
            <a:r>
              <a:rPr lang="ko-KR" altLang="en-US" dirty="0" smtClean="0"/>
              <a:t>되돌림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초기화 되었습니다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명세 내역 중에서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아래 목록에서 검색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등록대상 품목 선택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MUI-CM-01-P08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품목 삭제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갱신 </a:t>
            </a:r>
            <a:r>
              <a:rPr lang="en-US" altLang="ko-KR" dirty="0"/>
              <a:t>: </a:t>
            </a:r>
            <a:r>
              <a:rPr lang="ko-KR" altLang="en-US" dirty="0"/>
              <a:t>선택된 품목 만료 갱신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선택하여 갱신 시 </a:t>
            </a:r>
            <a:r>
              <a:rPr lang="en-US" altLang="ko-KR" dirty="0"/>
              <a:t>[</a:t>
            </a:r>
            <a:r>
              <a:rPr lang="ko-KR" altLang="en-US" dirty="0" err="1"/>
              <a:t>접수상태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ko-KR" altLang="en-US" dirty="0" err="1"/>
              <a:t>상태값</a:t>
            </a:r>
            <a:r>
              <a:rPr lang="ko-KR" altLang="en-US" dirty="0"/>
              <a:t> 임시 변경 </a:t>
            </a:r>
            <a:r>
              <a:rPr lang="en-US" altLang="ko-KR" dirty="0"/>
              <a:t>- </a:t>
            </a:r>
            <a:r>
              <a:rPr lang="ko-KR" altLang="en-US" dirty="0"/>
              <a:t>갱신 접수 신청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다음 페이지의 </a:t>
            </a:r>
            <a:r>
              <a:rPr lang="ko-KR" altLang="en-US" dirty="0" err="1"/>
              <a:t>설명글에</a:t>
            </a:r>
            <a:r>
              <a:rPr lang="ko-KR" altLang="en-US" dirty="0"/>
              <a:t> 해당 내용 존재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만료되기 전 </a:t>
            </a:r>
            <a:r>
              <a:rPr lang="en-US" altLang="ko-KR" dirty="0"/>
              <a:t>90</a:t>
            </a:r>
            <a:r>
              <a:rPr lang="ko-KR" altLang="en-US" dirty="0"/>
              <a:t>일 이내 갱신 신청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만료된 이후는 만료 품목 삭제 후 조달청 승인 이후에 별도 신규 추가 필요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삭제</a:t>
            </a:r>
            <a:r>
              <a:rPr lang="en-US" altLang="ko-KR" dirty="0"/>
              <a:t>, </a:t>
            </a:r>
            <a:r>
              <a:rPr lang="ko-KR" altLang="en-US" dirty="0"/>
              <a:t>선택 갱신을 위한 선택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on/off </a:t>
            </a:r>
            <a:r>
              <a:rPr lang="ko-KR" altLang="en-US" dirty="0" err="1" smtClean="0"/>
              <a:t>토글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품목 조회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>
                <a:latin typeface="+mn-ea"/>
              </a:rPr>
              <a:t>MUI-CM-01-P09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166" y="190347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등록품목명세</a:t>
            </a:r>
          </a:p>
        </p:txBody>
      </p:sp>
      <p:grpSp>
        <p:nvGrpSpPr>
          <p:cNvPr id="125" name="그룹 124"/>
          <p:cNvGrpSpPr/>
          <p:nvPr/>
        </p:nvGrpSpPr>
        <p:grpSpPr>
          <a:xfrm flipV="1">
            <a:off x="3134253" y="2016804"/>
            <a:ext cx="94010" cy="47005"/>
            <a:chOff x="6812560" y="3297172"/>
            <a:chExt cx="94010" cy="47005"/>
          </a:xfrm>
        </p:grpSpPr>
        <p:cxnSp>
          <p:nvCxnSpPr>
            <p:cNvPr id="137" name="직선 연결선 1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8" name="직선 연결선 13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4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21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TextBox 2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8502" y="261419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회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등록품목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신청은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30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개 이내로 신청해주시기 바랍니다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1423023" y="225344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검색 코드를 입력해주세요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32175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품목 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55" name="타원 254"/>
          <p:cNvSpPr/>
          <p:nvPr/>
        </p:nvSpPr>
        <p:spPr>
          <a:xfrm>
            <a:off x="3091939" y="2302674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5310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" name="그룹 14"/>
          <p:cNvGrpSpPr/>
          <p:nvPr/>
        </p:nvGrpSpPr>
        <p:grpSpPr>
          <a:xfrm>
            <a:off x="711195" y="2937990"/>
            <a:ext cx="2630093" cy="2684352"/>
            <a:chOff x="3836701" y="2666788"/>
            <a:chExt cx="2630093" cy="2684352"/>
          </a:xfrm>
        </p:grpSpPr>
        <p:sp>
          <p:nvSpPr>
            <p:cNvPr id="126" name="직사각형 125"/>
            <p:cNvSpPr/>
            <p:nvPr/>
          </p:nvSpPr>
          <p:spPr>
            <a:xfrm>
              <a:off x="3838794" y="2981260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98126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981260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981260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2123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4260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63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346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483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620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85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0191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44008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신규 추가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394565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삭제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933880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갱신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965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103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240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470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238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9046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적격상태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466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</a:p>
        </p:txBody>
      </p:sp>
      <p:grpSp>
        <p:nvGrpSpPr>
          <p:cNvPr id="207" name="그룹 206"/>
          <p:cNvGrpSpPr/>
          <p:nvPr/>
        </p:nvGrpSpPr>
        <p:grpSpPr>
          <a:xfrm>
            <a:off x="3143548" y="2992289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49865" y="196684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8005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2913383" y="2312615"/>
            <a:ext cx="126000" cy="126000"/>
            <a:chOff x="2913383" y="2291727"/>
            <a:chExt cx="145884" cy="145882"/>
          </a:xfrm>
        </p:grpSpPr>
        <p:sp>
          <p:nvSpPr>
            <p:cNvPr id="226" name="타원 225"/>
            <p:cNvSpPr/>
            <p:nvPr/>
          </p:nvSpPr>
          <p:spPr>
            <a:xfrm>
              <a:off x="2913383" y="2291727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7" name="그룹 226"/>
            <p:cNvGrpSpPr/>
            <p:nvPr/>
          </p:nvGrpSpPr>
          <p:grpSpPr>
            <a:xfrm>
              <a:off x="2957288" y="2335631"/>
              <a:ext cx="58075" cy="58074"/>
              <a:chOff x="6812560" y="3297172"/>
              <a:chExt cx="94010" cy="94010"/>
            </a:xfrm>
          </p:grpSpPr>
          <p:cxnSp>
            <p:nvCxnSpPr>
              <p:cNvPr id="228" name="직선 연결선 22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3823529" y="1568325"/>
            <a:ext cx="2630093" cy="2369880"/>
            <a:chOff x="3823529" y="2016849"/>
            <a:chExt cx="2630093" cy="2369880"/>
          </a:xfrm>
        </p:grpSpPr>
        <p:sp>
          <p:nvSpPr>
            <p:cNvPr id="271" name="직사각형 270"/>
            <p:cNvSpPr/>
            <p:nvPr/>
          </p:nvSpPr>
          <p:spPr>
            <a:xfrm>
              <a:off x="3825622" y="2016849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3529" y="201684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2686" y="2016849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69534" y="2016849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2222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2479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4616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6753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8702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083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2976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5207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05477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7321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9458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15960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3826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28015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90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54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5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2410716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</a:t>
            </a:r>
            <a:r>
              <a:rPr lang="ko-KR" altLang="en-US" dirty="0" smtClean="0"/>
              <a:t>닫힘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 동의 </a:t>
            </a:r>
            <a:r>
              <a:rPr lang="ko-KR" altLang="en-US" dirty="0" smtClean="0"/>
              <a:t>체크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호출 </a:t>
            </a:r>
            <a:r>
              <a:rPr lang="en-US" altLang="ko-KR" dirty="0" smtClean="0"/>
              <a:t>MUI-CM-01-P13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미체크한</a:t>
            </a:r>
            <a:r>
              <a:rPr lang="ko-KR" altLang="en-US" dirty="0"/>
              <a:t> 상태로 등록 신청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모달</a:t>
            </a:r>
            <a:r>
              <a:rPr lang="ko-KR" altLang="en-US" dirty="0"/>
              <a:t> 확인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메시지 </a:t>
            </a:r>
            <a:r>
              <a:rPr lang="en-US" altLang="ko-KR" dirty="0"/>
              <a:t>: </a:t>
            </a:r>
            <a:r>
              <a:rPr lang="ko-KR" altLang="en-US" dirty="0"/>
              <a:t>동의여부에 체크하지 않는 경우 오프라인으로 서류를 제출하셔야 합니다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</a:t>
            </a:r>
            <a:r>
              <a:rPr lang="en-US" altLang="ko-KR" dirty="0"/>
              <a:t>, </a:t>
            </a:r>
            <a:r>
              <a:rPr lang="ko-KR" altLang="en-US" dirty="0"/>
              <a:t>닫기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 시 다음 </a:t>
            </a:r>
            <a:r>
              <a:rPr lang="ko-KR" altLang="en-US" dirty="0" smtClean="0"/>
              <a:t>프로세스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740592" y="1919057"/>
            <a:ext cx="2543426" cy="4002058"/>
          </a:xfrm>
          <a:prstGeom prst="roundRect">
            <a:avLst>
              <a:gd name="adj" fmla="val 382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43672" y="1980876"/>
            <a:ext cx="2154318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등록하시려는 품목이 상단에 이미 등록되어진 상태라면 별도로 추가하실 필요가 없습니다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신규 품목은 우측의 추가 버튼을 이용해 리스트에 추가 후 접수해 주시면 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삭제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>
                <a:latin typeface="Consolas" panose="020B0609020204030204" pitchFamily="49" charset="0"/>
              </a:rPr>
              <a:t>갱신이 필요한 경우에는 선택에 체크 후 우측의 해당업무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삭제 혹은 갱신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ko-KR" altLang="en-US" sz="700" dirty="0">
                <a:latin typeface="Consolas" panose="020B0609020204030204" pitchFamily="49" charset="0"/>
              </a:rPr>
              <a:t>버튼을 꼭 클릭하신 후 접수해 주시기 바랍니다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부적격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</a:t>
            </a:r>
            <a:r>
              <a:rPr lang="ko-KR" altLang="en-US" sz="700" dirty="0" err="1">
                <a:latin typeface="Consolas" panose="020B0609020204030204" pitchFamily="49" charset="0"/>
              </a:rPr>
              <a:t>등록품목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ko-KR" altLang="en-US" sz="700" dirty="0" err="1">
                <a:latin typeface="Consolas" panose="020B0609020204030204" pitchFamily="49" charset="0"/>
              </a:rPr>
              <a:t>신청조회</a:t>
            </a:r>
            <a:r>
              <a:rPr lang="ko-KR" altLang="en-US" sz="700" dirty="0">
                <a:latin typeface="Consolas" panose="020B0609020204030204" pitchFamily="49" charset="0"/>
              </a:rPr>
              <a:t>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만료된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추가정보신청조회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2016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년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11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월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30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일까지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유예기간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는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만료일자와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상관없이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갱신신청이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가능합니다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갱신은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만료전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90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일부터 가능하며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만료된 건은 삭제 후 추가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신규신청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해 주시기 바랍니다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9" name="타원 298"/>
          <p:cNvSpPr/>
          <p:nvPr/>
        </p:nvSpPr>
        <p:spPr>
          <a:xfrm>
            <a:off x="813731" y="1985612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3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3880034" y="2372951"/>
            <a:ext cx="2543426" cy="2071729"/>
          </a:xfrm>
          <a:prstGeom prst="roundRect">
            <a:avLst>
              <a:gd name="adj" fmla="val 245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2434770"/>
            <a:ext cx="215431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팩스번호</a:t>
            </a:r>
            <a:r>
              <a:rPr lang="en-US" altLang="ko-KR" sz="700" dirty="0">
                <a:latin typeface="Consolas" panose="020B0609020204030204" pitchFamily="49" charset="0"/>
              </a:rPr>
              <a:t>) 02-773-7587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인</a:t>
            </a:r>
            <a:r>
              <a:rPr lang="en-US" altLang="ko-KR" sz="700" b="1" dirty="0">
                <a:latin typeface="맑은 고딕" panose="020B0503020000020004" pitchFamily="50" charset="-127"/>
              </a:rPr>
              <a:t>,</a:t>
            </a:r>
            <a:r>
              <a:rPr lang="ko-KR" altLang="en-US" sz="700" b="1" dirty="0">
                <a:latin typeface="맑은 고딕" panose="020B0503020000020004" pitchFamily="50" charset="-127"/>
              </a:rPr>
              <a:t>허가증 사본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 </a:t>
            </a:r>
            <a:r>
              <a:rPr lang="en-US" altLang="ko-KR" sz="700" b="1" dirty="0">
                <a:latin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해당 공무원이 </a:t>
            </a:r>
            <a:r>
              <a:rPr lang="ko-KR" altLang="en-US" sz="700" b="1" dirty="0" err="1">
                <a:solidFill>
                  <a:srgbClr val="0070C0"/>
                </a:solidFill>
                <a:latin typeface="맑은 고딕" panose="020B0503020000020004" pitchFamily="50" charset="-127"/>
              </a:rPr>
              <a:t>행정정보공동이용센터</a:t>
            </a:r>
            <a:r>
              <a:rPr lang="en-US" altLang="ko-KR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(www.share.go.kr)</a:t>
            </a: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에서 직접 조회가 가능한 업체는 별도 제출 불필요</a:t>
            </a:r>
          </a:p>
        </p:txBody>
      </p:sp>
      <p:sp>
        <p:nvSpPr>
          <p:cNvPr id="105" name="타원 104"/>
          <p:cNvSpPr/>
          <p:nvPr/>
        </p:nvSpPr>
        <p:spPr>
          <a:xfrm>
            <a:off x="3953173" y="243950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6" name="그룹 105"/>
          <p:cNvGrpSpPr/>
          <p:nvPr/>
        </p:nvGrpSpPr>
        <p:grpSpPr>
          <a:xfrm flipV="1">
            <a:off x="6259047" y="2509984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9" name="그룹 108"/>
          <p:cNvGrpSpPr/>
          <p:nvPr/>
        </p:nvGrpSpPr>
        <p:grpSpPr>
          <a:xfrm flipV="1">
            <a:off x="3091512" y="2056090"/>
            <a:ext cx="94010" cy="47005"/>
            <a:chOff x="6812560" y="3297172"/>
            <a:chExt cx="94010" cy="47005"/>
          </a:xfrm>
        </p:grpSpPr>
        <p:cxnSp>
          <p:nvCxnSpPr>
            <p:cNvPr id="110" name="직선 연결선 10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" name="그룹 6"/>
          <p:cNvGrpSpPr/>
          <p:nvPr/>
        </p:nvGrpSpPr>
        <p:grpSpPr>
          <a:xfrm>
            <a:off x="3888037" y="1899559"/>
            <a:ext cx="2522014" cy="342712"/>
            <a:chOff x="3888037" y="3794514"/>
            <a:chExt cx="2522014" cy="342712"/>
          </a:xfrm>
        </p:grpSpPr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1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1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16" name="타원 115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1573405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20" name="그룹 119"/>
          <p:cNvGrpSpPr/>
          <p:nvPr/>
        </p:nvGrpSpPr>
        <p:grpSpPr>
          <a:xfrm flipV="1">
            <a:off x="6255634" y="1686736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1608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2455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16413446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28252" y="811137"/>
            <a:ext cx="31087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dm_regTrgtItemSearchInfo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02234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28252" y="3183315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340175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CBA9035-2FE4-43FC-851D-ACB8514226FD}"/>
              </a:ext>
            </a:extLst>
          </p:cNvPr>
          <p:cNvSpPr txBox="1"/>
          <p:nvPr/>
        </p:nvSpPr>
        <p:spPr>
          <a:xfrm>
            <a:off x="428252" y="4481928"/>
            <a:ext cx="364098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76D32D8-6D11-9959-CAB9-BEFE1941BB67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4694428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0C5FB957-A45F-4B4F-2640-D8567226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AA4D52-15F1-C1B7-19DD-B51414D0715F}"/>
              </a:ext>
            </a:extLst>
          </p:cNvPr>
          <p:cNvSpPr txBox="1"/>
          <p:nvPr/>
        </p:nvSpPr>
        <p:spPr>
          <a:xfrm>
            <a:off x="428252" y="1569936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694037-F3B9-2054-5F07-92A12737A9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794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5655330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78400772-3B60-9124-A735-5290802322DE}"/>
              </a:ext>
            </a:extLst>
          </p:cNvPr>
          <p:cNvSpPr txBox="1"/>
          <p:nvPr/>
        </p:nvSpPr>
        <p:spPr>
          <a:xfrm>
            <a:off x="500368" y="863475"/>
            <a:ext cx="27545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303F721-3421-5776-2FB7-04CBF1253BEC}"/>
              </a:ext>
            </a:extLst>
          </p:cNvPr>
          <p:cNvGraphicFramePr>
            <a:graphicFrameLocks noGrp="1"/>
          </p:cNvGraphicFramePr>
          <p:nvPr/>
        </p:nvGraphicFramePr>
        <p:xfrm>
          <a:off x="500368" y="1091804"/>
          <a:ext cx="883572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(`’1’)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(‘3’)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86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91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rgstrtItemDelYmd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408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lastChgYmd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616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rcptStts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2674162"/>
                  </a:ext>
                </a:extLst>
              </a:tr>
            </a:tbl>
          </a:graphicData>
        </a:graphic>
      </p:graphicFrame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E873DA-3FA4-E42A-8661-789027343A34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91366235-70F1-95B2-0D00-97A6E6460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594219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160</a:t>
            </a:fld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B819BD-609A-92E3-FF98-CA2AAE2373C2}"/>
              </a:ext>
            </a:extLst>
          </p:cNvPr>
          <p:cNvSpPr txBox="1"/>
          <p:nvPr/>
        </p:nvSpPr>
        <p:spPr>
          <a:xfrm>
            <a:off x="528410" y="6180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B8B68-4462-5720-2F41-CE4CD60912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79505"/>
              </p:ext>
            </p:extLst>
          </p:nvPr>
        </p:nvGraphicFramePr>
        <p:xfrm>
          <a:off x="523292" y="854685"/>
          <a:ext cx="8995591" cy="3230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업체일반 정보와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담당자 정보 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담당자정보를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승인없이 반영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대표품류</a:t>
                      </a:r>
                      <a:r>
                        <a:rPr lang="ko-KR" altLang="en-US" sz="800" dirty="0"/>
                        <a:t>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scwin.btn_rprsKnditmSrch_onclick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단체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scwin.btn_asctGrpSrch_onclick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품목 코드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등록품목명세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4500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추가를 위한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60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140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갱신 요청한다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9141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등록품목명세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품목코드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조회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행정정보공동이용 사전동의서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584524"/>
                  </a:ext>
                </a:extLst>
              </a:tr>
            </a:tbl>
          </a:graphicData>
        </a:graphic>
      </p:graphicFrame>
      <p:sp>
        <p:nvSpPr>
          <p:cNvPr id="3" name="Text Box 73">
            <a:extLst>
              <a:ext uri="{FF2B5EF4-FFF2-40B4-BE49-F238E27FC236}">
                <a16:creationId xmlns:a16="http://schemas.microsoft.com/office/drawing/2014/main" id="{D81CD3F1-A5D8-37E1-591B-2AC7425F1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1117" y="73693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644609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</a:t>
            </a:r>
            <a:r>
              <a:rPr lang="ko-KR" altLang="en-US" dirty="0" smtClean="0"/>
              <a:t>등록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</a:t>
            </a:r>
            <a:r>
              <a:rPr lang="en-US" altLang="ko-KR" dirty="0"/>
              <a:t>: </a:t>
            </a:r>
            <a:r>
              <a:rPr lang="ko-KR" altLang="en-US" dirty="0"/>
              <a:t>입력된 내역을 </a:t>
            </a:r>
            <a:r>
              <a:rPr lang="ko-KR" altLang="en-US" dirty="0" err="1"/>
              <a:t>최초상태로</a:t>
            </a:r>
            <a:r>
              <a:rPr lang="ko-KR" altLang="en-US" dirty="0"/>
              <a:t> 되돌림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보안측정인원 등록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MUI-CM-01-P10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항목 </a:t>
            </a:r>
            <a:r>
              <a:rPr lang="ko-KR" altLang="en-US" dirty="0" smtClean="0"/>
              <a:t>삭제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뷰어 솔루션 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003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3987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610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610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20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3951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09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54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449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65" name="그룹 264"/>
          <p:cNvGrpSpPr/>
          <p:nvPr/>
        </p:nvGrpSpPr>
        <p:grpSpPr>
          <a:xfrm>
            <a:off x="720490" y="3447830"/>
            <a:ext cx="2630093" cy="2261591"/>
            <a:chOff x="720490" y="2967388"/>
            <a:chExt cx="2630093" cy="2261591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267" name="그룹 2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86" name="직선 연결선 28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직사각형 267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6" y="3274873"/>
              <a:ext cx="877795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 err="1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err="1">
                <a:latin typeface="+mn-ea"/>
              </a:endParaRPr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6527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674" y="4710211"/>
            <a:ext cx="94010" cy="47005"/>
            <a:chOff x="6812560" y="3297172"/>
            <a:chExt cx="94010" cy="47005"/>
          </a:xfrm>
        </p:grpSpPr>
        <p:cxnSp>
          <p:nvCxnSpPr>
            <p:cNvPr id="292" name="직선 연결선 2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직선 연결선 2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5067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3138674" y="5564290"/>
            <a:ext cx="94010" cy="47005"/>
            <a:chOff x="6812560" y="3297172"/>
            <a:chExt cx="94010" cy="47005"/>
          </a:xfrm>
        </p:grpSpPr>
        <p:cxnSp>
          <p:nvCxnSpPr>
            <p:cNvPr id="296" name="직선 연결선 29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7" name="직선 연결선 29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791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9" name="모서리가 둥근 직사각형 298"/>
          <p:cNvSpPr/>
          <p:nvPr/>
        </p:nvSpPr>
        <p:spPr>
          <a:xfrm>
            <a:off x="1558562" y="3503354"/>
            <a:ext cx="920382" cy="149124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300" name="모서리가 둥근 직사각형 299"/>
          <p:cNvSpPr/>
          <p:nvPr/>
        </p:nvSpPr>
        <p:spPr>
          <a:xfrm>
            <a:off x="1558563" y="3503354"/>
            <a:ext cx="462756" cy="149124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800" kern="0">
              <a:solidFill>
                <a:prstClr val="white"/>
              </a:solidFill>
              <a:latin typeface="맑은 고딕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94333" y="3529894"/>
            <a:ext cx="38880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법인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57089" y="3529894"/>
            <a:ext cx="3631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개인</a:t>
            </a:r>
          </a:p>
        </p:txBody>
      </p:sp>
      <p:sp>
        <p:nvSpPr>
          <p:cNvPr id="3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22618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4359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8622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0795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0152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2892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dd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09" name="그림 3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4027628"/>
            <a:ext cx="134873" cy="137278"/>
          </a:xfrm>
          <a:prstGeom prst="rect">
            <a:avLst/>
          </a:prstGeom>
        </p:spPr>
      </p:pic>
      <p:pic>
        <p:nvPicPr>
          <p:cNvPr id="310" name="그림 30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5301615"/>
            <a:ext cx="134873" cy="137278"/>
          </a:xfrm>
          <a:prstGeom prst="rect">
            <a:avLst/>
          </a:prstGeom>
        </p:spPr>
      </p:pic>
      <p:sp>
        <p:nvSpPr>
          <p:cNvPr id="313" name="TextBox 3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1" y="1596718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314" name="그룹 313"/>
          <p:cNvGrpSpPr/>
          <p:nvPr/>
        </p:nvGrpSpPr>
        <p:grpSpPr>
          <a:xfrm flipV="1">
            <a:off x="6259758" y="1710049"/>
            <a:ext cx="94010" cy="47005"/>
            <a:chOff x="6812560" y="3297172"/>
            <a:chExt cx="94010" cy="47005"/>
          </a:xfrm>
        </p:grpSpPr>
        <p:cxnSp>
          <p:nvCxnSpPr>
            <p:cNvPr id="315" name="직선 연결선 31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6" name="직선 연결선 31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19042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" name="그룹 21"/>
          <p:cNvGrpSpPr/>
          <p:nvPr/>
        </p:nvGrpSpPr>
        <p:grpSpPr>
          <a:xfrm>
            <a:off x="3836700" y="2038216"/>
            <a:ext cx="2630093" cy="1391691"/>
            <a:chOff x="3836700" y="3066437"/>
            <a:chExt cx="2630093" cy="1391691"/>
          </a:xfrm>
        </p:grpSpPr>
        <p:sp>
          <p:nvSpPr>
            <p:cNvPr id="331" name="직사각형 330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4188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3844006" y="3066437"/>
              <a:ext cx="2610413" cy="162000"/>
              <a:chOff x="3844007" y="3066437"/>
              <a:chExt cx="1044904" cy="162000"/>
            </a:xfrm>
          </p:grpSpPr>
          <p:sp>
            <p:nvSpPr>
              <p:cNvPr id="343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3844007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신규 추가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344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4394564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선택 삭제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35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6016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75370" y="166009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6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3297" y="61640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2232" y="5821046"/>
            <a:ext cx="2619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 품목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취급업체는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부대명란에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비대상”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측정일자란은 “입력당일일자” 로 입력해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주십시요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28" name="그룹 127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132" name="직사각형 1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5" name="직사각형 13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2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87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32151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76343217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FSC </a:t>
            </a:r>
            <a:r>
              <a:rPr lang="ko-KR" altLang="en-US" dirty="0" smtClean="0"/>
              <a:t>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MUI-CM-01-P11</a:t>
            </a:r>
            <a:br>
              <a:rPr lang="en-US" altLang="ko-KR" dirty="0" smtClean="0"/>
            </a:br>
            <a:r>
              <a:rPr lang="ko-KR" altLang="en-US" dirty="0" smtClean="0"/>
              <a:t>선택 삭제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목록 선택 사항 삭제 확인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없이 선택 삭제 버튼 클릭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선택 항목이 없습니다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주거래은행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MUI-CM-01-P12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팝업 없음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동의 체크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193488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2048217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2698005"/>
            <a:ext cx="792000" cy="648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9800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2698005"/>
            <a:ext cx="715881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순번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2698005"/>
            <a:ext cx="178408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테스트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29291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1428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34683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397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6618" y="15837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영업정보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5" name="그룹 194"/>
          <p:cNvGrpSpPr/>
          <p:nvPr/>
        </p:nvGrpSpPr>
        <p:grpSpPr>
          <a:xfrm flipV="1">
            <a:off x="6258705" y="1697095"/>
            <a:ext cx="94010" cy="47005"/>
            <a:chOff x="6812560" y="3297172"/>
            <a:chExt cx="94010" cy="47005"/>
          </a:xfrm>
        </p:grpSpPr>
        <p:cxnSp>
          <p:nvCxnSpPr>
            <p:cNvPr id="208" name="직선 연결선 2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9" name="직선 연결선 2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6" name="직사각형 195"/>
          <p:cNvSpPr/>
          <p:nvPr/>
        </p:nvSpPr>
        <p:spPr>
          <a:xfrm>
            <a:off x="3837740" y="1891249"/>
            <a:ext cx="792000" cy="15398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47" y="189124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04" y="1891249"/>
            <a:ext cx="71588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연간매출액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자산규모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여신한도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주거래은행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군납최초참여일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거래기간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Dun’s Number</a:t>
            </a: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1223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336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54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75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9835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191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4152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7389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6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56236" y="273764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27795" y="2385246"/>
            <a:ext cx="126518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67062" y="2385246"/>
            <a:ext cx="12711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20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97149"/>
            <a:ext cx="76863" cy="292489"/>
            <a:chOff x="3750067" y="4683795"/>
            <a:chExt cx="76863" cy="292489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192215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119141" y="1891249"/>
            <a:ext cx="123357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1382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367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228815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은행</a:t>
            </a:r>
            <a:endParaRPr lang="en-US" altLang="ko-KR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27133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지점</a:t>
            </a:r>
            <a:endParaRPr lang="en-US" altLang="ko-KR" sz="700" dirty="0">
              <a:latin typeface="+mn-ea"/>
            </a:endParaRPr>
          </a:p>
        </p:txBody>
      </p:sp>
      <p:sp>
        <p:nvSpPr>
          <p:cNvPr id="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575654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68570" y="27882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2800568"/>
            <a:ext cx="134873" cy="137278"/>
          </a:xfrm>
          <a:prstGeom prst="rect">
            <a:avLst/>
          </a:prstGeom>
        </p:spPr>
      </p:pic>
      <p:sp>
        <p:nvSpPr>
          <p:cNvPr id="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43563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3015378"/>
            <a:ext cx="134873" cy="137278"/>
          </a:xfrm>
          <a:prstGeom prst="rect">
            <a:avLst/>
          </a:prstGeom>
        </p:spPr>
      </p:pic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00539" y="3021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~</a:t>
            </a:r>
          </a:p>
        </p:txBody>
      </p:sp>
      <p:sp>
        <p:nvSpPr>
          <p:cNvPr id="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32247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1746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2698" y="3015378"/>
            <a:ext cx="134873" cy="13727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3880034" y="4335828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397647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보안측정결과서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</a:t>
            </a:r>
            <a:r>
              <a:rPr lang="en-US" altLang="ko-KR" sz="700" b="1" dirty="0">
                <a:latin typeface="맑은 고딕" panose="020B0503020000020004" pitchFamily="50" charset="-127"/>
              </a:rPr>
              <a:t> 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타원 91"/>
          <p:cNvSpPr/>
          <p:nvPr/>
        </p:nvSpPr>
        <p:spPr>
          <a:xfrm>
            <a:off x="3953173" y="44023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3" name="그룹 92"/>
          <p:cNvGrpSpPr/>
          <p:nvPr/>
        </p:nvGrpSpPr>
        <p:grpSpPr>
          <a:xfrm flipV="1">
            <a:off x="6259047" y="4472861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88037" y="3862436"/>
            <a:ext cx="2522014" cy="342712"/>
            <a:chOff x="3888037" y="3794514"/>
            <a:chExt cx="2522014" cy="342712"/>
          </a:xfrm>
        </p:grpSpPr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9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9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00" name="모서리가 둥근 직사각형 99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3536282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03" name="그룹 102"/>
          <p:cNvGrpSpPr/>
          <p:nvPr/>
        </p:nvGrpSpPr>
        <p:grpSpPr>
          <a:xfrm flipV="1">
            <a:off x="6255634" y="3649613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2" name="직선 연결선 1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7" name="그룹 11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21" name="타원 120"/>
          <p:cNvSpPr/>
          <p:nvPr/>
        </p:nvSpPr>
        <p:spPr>
          <a:xfrm>
            <a:off x="5169760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6076492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257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39288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1185933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5794" y="2450608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689347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82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scrtyMsrmtRslt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8117" y="506805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724917"/>
              </p:ext>
            </p:extLst>
          </p:nvPr>
        </p:nvGraphicFramePr>
        <p:xfrm>
          <a:off x="458117" y="52810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51595A2-D8F5-2926-33B2-CCF0EB248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59D74-D4EA-34F7-19AD-4EB41F2EAAB7}"/>
              </a:ext>
            </a:extLst>
          </p:cNvPr>
          <p:cNvSpPr txBox="1"/>
          <p:nvPr/>
        </p:nvSpPr>
        <p:spPr>
          <a:xfrm>
            <a:off x="465794" y="89162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6179DD-A3CE-1CE4-4FC8-371172AF62A7}"/>
              </a:ext>
            </a:extLst>
          </p:cNvPr>
          <p:cNvGraphicFramePr>
            <a:graphicFrameLocks noGrp="1"/>
          </p:cNvGraphicFramePr>
          <p:nvPr/>
        </p:nvGraphicFramePr>
        <p:xfrm>
          <a:off x="460676" y="1115997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2597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5559" y="771706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98538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5A1E6DD-0E0E-2CF0-D8EA-229A368A69E5}"/>
              </a:ext>
            </a:extLst>
          </p:cNvPr>
          <p:cNvSpPr txBox="1"/>
          <p:nvPr/>
        </p:nvSpPr>
        <p:spPr>
          <a:xfrm>
            <a:off x="455558" y="1750511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B06246B-78E5-9F4F-A0D1-AB612259FD85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196171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AA11892-67D6-D975-F687-EACF685C812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91763952-0038-ACB5-0038-6E291733E5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1F6010CD-0871-4D71-9A54-5EAEF62D3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639113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8A3ED33-EB3B-311D-F1BA-9C062ED6DA05}"/>
              </a:ext>
            </a:extLst>
          </p:cNvPr>
          <p:cNvSpPr txBox="1"/>
          <p:nvPr/>
        </p:nvSpPr>
        <p:spPr>
          <a:xfrm>
            <a:off x="455204" y="67327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D31076B-307A-A070-51E8-7DCC5611D928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09064"/>
          <a:ext cx="8995591" cy="2210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등록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UI-CM-01-P16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scwin.btn_fscDel_onclick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주거래은행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1118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국내소재상사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95363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720F39F-F732-38C9-13B7-2F90D542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921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798056B3-B053-7055-7C75-1972FFCEB2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639307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r>
              <a:rPr lang="ko-KR" altLang="en-US" dirty="0" err="1"/>
              <a:t>을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품류선택</a:t>
            </a:r>
            <a:endParaRPr lang="ko-KR" altLang="en-US" dirty="0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MUI-CM-01-P06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tx1"/>
                </a:solidFill>
              </a:rPr>
              <a:t>품류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05772618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6" y="811812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1023015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39406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378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66303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78688"/>
              </p:ext>
            </p:extLst>
          </p:nvPr>
        </p:nvGraphicFramePr>
        <p:xfrm>
          <a:off x="455558" y="2899666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2" name="Text Box 73">
            <a:extLst>
              <a:ext uri="{FF2B5EF4-FFF2-40B4-BE49-F238E27FC236}">
                <a16:creationId xmlns:a16="http://schemas.microsoft.com/office/drawing/2014/main" id="{D4162E81-8A34-0A70-B464-DE534D08C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7839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878C8DF-CE95-0969-EF4C-146F0D10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401735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단체명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조합코드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05297923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24637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입력 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21594"/>
            <a:ext cx="22543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4003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59178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2841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scwin.btn_asctGrdSrch_onclick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7A9D0A13-E633-48CC-1B27-7E5B35798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271226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 Box 73">
            <a:extLst>
              <a:ext uri="{FF2B5EF4-FFF2-40B4-BE49-F238E27FC236}">
                <a16:creationId xmlns:a16="http://schemas.microsoft.com/office/drawing/2014/main" id="{17EF71F0-EA5E-971E-1F0F-9270878CE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765328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품류</a:t>
            </a:r>
            <a:r>
              <a:rPr lang="en-US" altLang="ko-KR" dirty="0"/>
              <a:t>, </a:t>
            </a:r>
            <a:r>
              <a:rPr lang="ko-KR" altLang="en-US" dirty="0"/>
              <a:t>품명</a:t>
            </a:r>
            <a:r>
              <a:rPr lang="en-US" altLang="ko-KR" dirty="0"/>
              <a:t>, </a:t>
            </a:r>
            <a:r>
              <a:rPr lang="ko-KR" altLang="en-US" dirty="0" err="1"/>
              <a:t>업종코드</a:t>
            </a:r>
            <a:r>
              <a:rPr lang="ko-KR" altLang="en-US" dirty="0"/>
              <a:t> 조건 설정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err="1">
                <a:solidFill>
                  <a:srgbClr val="FF0000"/>
                </a:solidFill>
              </a:rPr>
              <a:t>품류의</a:t>
            </a:r>
            <a:r>
              <a:rPr lang="ko-KR" altLang="en-US" dirty="0">
                <a:solidFill>
                  <a:srgbClr val="FF0000"/>
                </a:solidFill>
              </a:rPr>
              <a:t> 경우 </a:t>
            </a:r>
            <a:r>
              <a:rPr lang="ko-KR" altLang="en-US" dirty="0" err="1">
                <a:solidFill>
                  <a:srgbClr val="FF0000"/>
                </a:solidFill>
              </a:rPr>
              <a:t>드롭다운</a:t>
            </a:r>
            <a:r>
              <a:rPr lang="ko-KR" altLang="en-US" dirty="0">
                <a:solidFill>
                  <a:srgbClr val="FF0000"/>
                </a:solidFill>
              </a:rPr>
              <a:t> 선택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품명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업종코드는</a:t>
            </a:r>
            <a:r>
              <a:rPr lang="ko-KR" altLang="en-US" dirty="0">
                <a:solidFill>
                  <a:srgbClr val="FF0000"/>
                </a:solidFill>
              </a:rPr>
              <a:t> 입력 검색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적용하기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표시개수</a:t>
            </a:r>
            <a:r>
              <a:rPr lang="ko-KR" altLang="en-US" dirty="0"/>
              <a:t>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추가 로드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등록대상 품목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입력해주세요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검색조건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7892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7877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선택해주세요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708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1440240" y="3607819"/>
            <a:ext cx="1849475" cy="162000"/>
            <a:chOff x="1440240" y="3697863"/>
            <a:chExt cx="3983148" cy="162000"/>
          </a:xfrm>
        </p:grpSpPr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40240" y="3697863"/>
              <a:ext cx="1234994" cy="162000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</a:rPr>
                <a:t>품류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815659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품명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188394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업종코드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3086905" y="3975898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3" name="그룹 122"/>
          <p:cNvGrpSpPr/>
          <p:nvPr/>
        </p:nvGrpSpPr>
        <p:grpSpPr>
          <a:xfrm>
            <a:off x="3836700" y="4599552"/>
            <a:ext cx="2630093" cy="1543815"/>
            <a:chOff x="3836700" y="3380909"/>
            <a:chExt cx="2630093" cy="1543815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삭제여부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1234567890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 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8609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상세보기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36700" y="4706456"/>
              <a:ext cx="2630093" cy="16200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적용하기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&gt;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9247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35444" y="6172490"/>
            <a:ext cx="76863" cy="292489"/>
            <a:chOff x="3750067" y="4683795"/>
            <a:chExt cx="76863" cy="292489"/>
          </a:xfrm>
        </p:grpSpPr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8938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61478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8174636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6502" y="1966289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606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741902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1906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등재요건코드로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4231" y="44409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D71539F7-D719-E668-93D4-7070D4913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602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096486"/>
              </p:ext>
            </p:extLst>
          </p:nvPr>
        </p:nvGraphicFramePr>
        <p:xfrm>
          <a:off x="450728" y="4677609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품목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품목코드</a:t>
                      </a:r>
                      <a:r>
                        <a:rPr lang="ko-KR" altLang="en-US" sz="800" dirty="0"/>
                        <a:t> 상세보기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품목의 상세정보를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249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적용하기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B1DDFE4-3EFD-C572-25BA-3E31DBC7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9188923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상위에서 선택한 품목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품목 정보의 상세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업종코드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값은 품목 정보를 통해 들어왔을 때 노출함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예를 들어 </a:t>
            </a:r>
            <a:r>
              <a:rPr lang="en-US" altLang="ko-KR" dirty="0"/>
              <a:t>[</a:t>
            </a:r>
            <a:r>
              <a:rPr lang="ko-KR" altLang="en-US" dirty="0"/>
              <a:t>등록대상 품목 선택</a:t>
            </a:r>
            <a:r>
              <a:rPr lang="en-US" altLang="ko-KR" dirty="0"/>
              <a:t>] </a:t>
            </a:r>
            <a:r>
              <a:rPr lang="ko-KR" altLang="en-US" dirty="0"/>
              <a:t>품목 코드를 통해 접근했을 때 등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품목 조회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239138"/>
            <a:ext cx="2712027" cy="1993161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2757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410182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908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/>
              <a:t>품목 조회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522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1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16084" y="5131966"/>
            <a:ext cx="2630656" cy="452455"/>
            <a:chOff x="3824022" y="5160789"/>
            <a:chExt cx="2630656" cy="452455"/>
          </a:xfrm>
        </p:grpSpPr>
        <p:sp>
          <p:nvSpPr>
            <p:cNvPr id="75" name="직사각형 74"/>
            <p:cNvSpPr/>
            <p:nvPr/>
          </p:nvSpPr>
          <p:spPr>
            <a:xfrm>
              <a:off x="3826115" y="5160789"/>
              <a:ext cx="792000" cy="4524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516078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3179" y="5160789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70028" y="5160789"/>
              <a:ext cx="178465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3918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6056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090" y="4829459"/>
            <a:ext cx="17758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1234567890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829459"/>
            <a:ext cx="84376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품목 코드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842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039694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0322" y="1795605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204356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품목 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2F61A5C-A648-D9E6-5526-6D8BEEA5B061}"/>
              </a:ext>
            </a:extLst>
          </p:cNvPr>
          <p:cNvSpPr txBox="1"/>
          <p:nvPr/>
        </p:nvSpPr>
        <p:spPr>
          <a:xfrm>
            <a:off x="471620" y="839274"/>
            <a:ext cx="268078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dm_itemDtlInfo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4B03EF8-44BD-58B1-6DF4-D0A6F76F08BC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6364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632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872E36D-7EF0-0ED9-122D-F6E4C783D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902" y="1926722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87A0C63-89B0-F26C-155A-035A23D62921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5" name="Text Box 73">
            <a:extLst>
              <a:ext uri="{FF2B5EF4-FFF2-40B4-BE49-F238E27FC236}">
                <a16:creationId xmlns:a16="http://schemas.microsoft.com/office/drawing/2014/main" id="{2804CB70-CFA7-31A1-1A73-6F4C96572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9403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 등록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적격여부 </a:t>
            </a:r>
            <a:r>
              <a:rPr lang="en-US" altLang="ko-KR" dirty="0"/>
              <a:t>: </a:t>
            </a:r>
            <a:r>
              <a:rPr lang="ko-KR" altLang="en-US" dirty="0"/>
              <a:t>적격</a:t>
            </a:r>
            <a:r>
              <a:rPr lang="en-US" altLang="ko-KR" dirty="0"/>
              <a:t>, </a:t>
            </a:r>
            <a:r>
              <a:rPr lang="ko-KR" altLang="en-US" dirty="0"/>
              <a:t>부적격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인원 정보는 필수 아님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첨부파일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파일 업로드 버튼 </a:t>
            </a:r>
            <a:r>
              <a:rPr lang="ko-KR" altLang="en-US" dirty="0" err="1">
                <a:latin typeface="+mn-ea"/>
              </a:rPr>
              <a:t>클릭시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캐비닛 파일 선택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파일 업로드 선택 팝업 호출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첨부파일 명 입력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업로드 파일 삭제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32231"/>
            <a:ext cx="2154318" cy="16087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보안측정인원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3282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1571" y="3412216"/>
            <a:ext cx="138461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+mn-ea"/>
              </a:rPr>
              <a:t>첨부파일</a:t>
            </a:r>
            <a:r>
              <a:rPr lang="ko-KR" altLang="en-US" sz="8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05041" y="41857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29203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3141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705041" y="459244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69871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72082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05041" y="3729525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050641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44285" y="4050641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1805" y="4050641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697246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28045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705041" y="499445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1007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12283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705041" y="540114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50741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52952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1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505943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089151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24173" y="2393975"/>
            <a:ext cx="2630093" cy="677031"/>
            <a:chOff x="3836700" y="3380909"/>
            <a:chExt cx="2630093" cy="677031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6770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421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191" y="286139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141" name="그림 1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2873752"/>
            <a:ext cx="134873" cy="137278"/>
          </a:xfrm>
          <a:prstGeom prst="rect">
            <a:avLst/>
          </a:prstGeom>
        </p:spPr>
      </p:pic>
      <p:sp>
        <p:nvSpPr>
          <p:cNvPr id="1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6606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3153204" y="2718956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21479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62774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02155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43450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64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9" name="직사각형 158"/>
          <p:cNvSpPr/>
          <p:nvPr/>
        </p:nvSpPr>
        <p:spPr>
          <a:xfrm>
            <a:off x="7072313" y="6061717"/>
            <a:ext cx="2370049" cy="22310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/>
              <a:t>보안측정인원</a:t>
            </a:r>
            <a:endParaRPr lang="en-US" altLang="ko-KR" sz="400" dirty="0"/>
          </a:p>
          <a:p>
            <a:pPr algn="ctr"/>
            <a:r>
              <a:rPr lang="en-US" altLang="ko-KR" sz="400" dirty="0"/>
              <a:t>PC </a:t>
            </a:r>
            <a:r>
              <a:rPr lang="ko-KR" altLang="en-US" sz="400" dirty="0"/>
              <a:t>버전 필수가 아닌데 확인 필요함</a:t>
            </a:r>
            <a:r>
              <a:rPr lang="en-US" altLang="ko-KR" sz="400" dirty="0"/>
              <a:t>.</a:t>
            </a:r>
          </a:p>
          <a:p>
            <a:pPr algn="ctr"/>
            <a:r>
              <a:rPr lang="ko-KR" altLang="en-US" sz="400" dirty="0"/>
              <a:t>인원 정보 없이 등록이 가능한가</a:t>
            </a:r>
            <a:r>
              <a:rPr lang="en-US" altLang="ko-KR" sz="400" dirty="0"/>
              <a:t>?</a:t>
            </a:r>
            <a:endParaRPr lang="ko-KR" altLang="en-US" sz="400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365308085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3000" y="799547"/>
            <a:ext cx="3057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318475"/>
              </p:ext>
            </p:extLst>
          </p:nvPr>
        </p:nvGraphicFramePr>
        <p:xfrm>
          <a:off x="453000" y="101323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3864" y="2152029"/>
            <a:ext cx="2316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첨부파일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6422" y="23716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3000" y="315443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148475"/>
              </p:ext>
            </p:extLst>
          </p:nvPr>
        </p:nvGraphicFramePr>
        <p:xfrm>
          <a:off x="453864" y="3385622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등록된 보안측정인원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B0DEDB58-C0D1-7E30-B326-DB9170886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439" y="32687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E9B17219-4ACD-B931-51CC-530FEAE19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8255662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선택</a:t>
            </a:r>
            <a:r>
              <a:rPr lang="en-US" altLang="ko-KR" dirty="0"/>
              <a:t>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복수 선택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등록 클릭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  <a:r>
              <a:rPr lang="ko-KR" altLang="en-US" dirty="0"/>
              <a:t>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1003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7" name="그룹 96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선택 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493140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14217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36286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880535890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3379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FSC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0322" y="1613359"/>
            <a:ext cx="194180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189711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60322" y="284361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73285"/>
              </p:ext>
            </p:extLst>
          </p:nvPr>
        </p:nvGraphicFramePr>
        <p:xfrm>
          <a:off x="455204" y="318712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여러 개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92986A7-CA14-4045-6A5B-63863BF95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74564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 Box 73">
            <a:extLst>
              <a:ext uri="{FF2B5EF4-FFF2-40B4-BE49-F238E27FC236}">
                <a16:creationId xmlns:a16="http://schemas.microsoft.com/office/drawing/2014/main" id="{9B842BCE-D8EB-6471-148E-0CD16C89A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030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245543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  <a:r>
              <a:rPr lang="ko-KR" altLang="en-US" dirty="0"/>
              <a:t>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MUI-CM-01-P12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은행명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00100000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00200000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00300000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00400000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00500000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00600000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3969358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8" y="795708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0691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1639299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181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28593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48316" y="28162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304515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주거래은행 정보를 검색한다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주거래은행 정보가 부모 화면에 입력되며 팝업창은 닫힌다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070BEE7-E5D7-71A9-5361-75AADFD37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9328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884461B8-F59F-50CE-4437-D13ED6ED9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26321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물품등록</a:t>
            </a:r>
            <a:r>
              <a:rPr lang="en-US" altLang="ko-KR" dirty="0"/>
              <a:t>(</a:t>
            </a:r>
            <a:r>
              <a:rPr lang="ko-KR" altLang="en-US" dirty="0"/>
              <a:t>내자</a:t>
            </a:r>
            <a:r>
              <a:rPr lang="en-US" altLang="ko-KR" dirty="0"/>
              <a:t>)</a:t>
            </a:r>
            <a:r>
              <a:rPr lang="ko-KR" altLang="en-US" dirty="0"/>
              <a:t>인 경우만 노출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시 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모서리가 둥근 직사각형 37"/>
          <p:cNvSpPr/>
          <p:nvPr/>
        </p:nvSpPr>
        <p:spPr>
          <a:xfrm rot="5400000">
            <a:off x="2662242" y="27473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03768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59026" y="2140522"/>
            <a:ext cx="2543426" cy="2725586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106" y="2202341"/>
            <a:ext cx="2154318" cy="260840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r>
              <a:rPr lang="ko-KR" altLang="en-US" sz="800" b="1" dirty="0">
                <a:latin typeface="Consolas" panose="020B0609020204030204" pitchFamily="49" charset="0"/>
              </a:rPr>
              <a:t> 안내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ko-KR" altLang="en-US" sz="700" dirty="0">
                <a:latin typeface="Consolas" panose="020B0609020204030204" pitchFamily="49" charset="0"/>
              </a:rPr>
              <a:t> 제</a:t>
            </a:r>
            <a:r>
              <a:rPr lang="en-US" altLang="ko-KR" sz="700" dirty="0">
                <a:latin typeface="Consolas" panose="020B0609020204030204" pitchFamily="49" charset="0"/>
              </a:rPr>
              <a:t>42</a:t>
            </a:r>
            <a:r>
              <a:rPr lang="ko-KR" altLang="en-US" sz="700" dirty="0">
                <a:latin typeface="Consolas" panose="020B0609020204030204" pitchFamily="49" charset="0"/>
              </a:rPr>
              <a:t>조 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따라 행정정보 공동이용센터를 통하여 개인정보가 포함된 행정정보를 이용할 때에는 정보주체의 사전동의를 받도록 하고 있습니다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현재 사무를 처리하기 위하여 </a:t>
            </a:r>
            <a:r>
              <a:rPr lang="ko-KR" altLang="en-US" sz="7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700" dirty="0">
                <a:latin typeface="Consolas" panose="020B0609020204030204" pitchFamily="49" charset="0"/>
              </a:rPr>
              <a:t> 민원담당자가 본인의 정보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이름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 smtClean="0">
                <a:latin typeface="Consolas" panose="020B0609020204030204" pitchFamily="49" charset="0"/>
              </a:rPr>
              <a:t>사업자등록번호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latin typeface="Consolas" panose="020B0609020204030204" pitchFamily="49" charset="0"/>
              </a:rPr>
              <a:t>를 활용하여 행정정보를 열람합니다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사무의 처리와 관련하여 </a:t>
            </a:r>
            <a:r>
              <a:rPr lang="en-US" altLang="ko-KR" sz="700" dirty="0">
                <a:latin typeface="Consolas" panose="020B0609020204030204" pitchFamily="49" charset="0"/>
              </a:rPr>
              <a:t>『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』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조에 따른 행정정보 공동이용을 통하여 </a:t>
            </a:r>
            <a:r>
              <a:rPr lang="ko-KR" altLang="en-US" sz="700" dirty="0" err="1">
                <a:latin typeface="Consolas" panose="020B0609020204030204" pitchFamily="49" charset="0"/>
              </a:rPr>
              <a:t>이용기관의</a:t>
            </a:r>
            <a:r>
              <a:rPr lang="ko-KR" altLang="en-US" sz="700" dirty="0">
                <a:latin typeface="Consolas" panose="020B0609020204030204" pitchFamily="49" charset="0"/>
              </a:rPr>
              <a:t> 업무처리 담당자가 전자적으로 본인의 구비서류를 확인 하는 것에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아래에 기재된 </a:t>
            </a:r>
            <a:r>
              <a:rPr lang="ko-KR" altLang="en-US" sz="700" dirty="0" err="1">
                <a:latin typeface="Consolas" panose="020B0609020204030204" pitchFamily="49" charset="0"/>
              </a:rPr>
              <a:t>행정정보는</a:t>
            </a:r>
            <a:r>
              <a:rPr lang="ko-KR" altLang="en-US" sz="700" dirty="0">
                <a:latin typeface="Consolas" panose="020B0609020204030204" pitchFamily="49" charset="0"/>
              </a:rPr>
              <a:t> 목적 외의 용도로 사용할 수 없으며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동의하지 않는 경우 본인의 선택에 따라 서류로 대신 제출 할 수 있음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타원 57"/>
          <p:cNvSpPr/>
          <p:nvPr/>
        </p:nvSpPr>
        <p:spPr>
          <a:xfrm>
            <a:off x="832165" y="22070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9" name="그룹 58"/>
          <p:cNvGrpSpPr/>
          <p:nvPr/>
        </p:nvGrpSpPr>
        <p:grpSpPr>
          <a:xfrm flipV="1">
            <a:off x="3138039" y="2277555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22629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42914"/>
            <a:ext cx="2473940" cy="11705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공동이용의 목적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외 경쟁입찰에 참여하고자 하는 자의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업체등록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추가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및 입찰참가자격 확인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계약을 위해 제출하는 민원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행정정보 및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이용범위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국내업체품목등록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사업자등록증명원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)1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종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이용기관의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명칭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방위사업청</a:t>
            </a:r>
            <a:endParaRPr lang="ko-KR" altLang="en-US" sz="800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9865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4553124" y="4360817"/>
            <a:ext cx="1197246" cy="107722"/>
            <a:chOff x="4526323" y="5902014"/>
            <a:chExt cx="1197246" cy="107722"/>
          </a:xfrm>
        </p:grpSpPr>
        <p:sp>
          <p:nvSpPr>
            <p:cNvPr id="79" name="타원 78"/>
            <p:cNvSpPr/>
            <p:nvPr/>
          </p:nvSpPr>
          <p:spPr>
            <a:xfrm>
              <a:off x="4526323" y="5907195"/>
              <a:ext cx="106031" cy="973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타원 82"/>
            <p:cNvSpPr/>
            <p:nvPr/>
          </p:nvSpPr>
          <p:spPr>
            <a:xfrm>
              <a:off x="5277619" y="5907195"/>
              <a:ext cx="106031" cy="97360"/>
            </a:xfrm>
            <a:prstGeom prst="ellipse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94755" y="590201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 안함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54265" y="590201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동의함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</a:rPr>
                <a:t>신청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107186"/>
            <a:ext cx="2473940" cy="1363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b="1" spc="-87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행정정보 공동 이용</a:t>
            </a:r>
            <a:endParaRPr lang="ko-KR" altLang="en-US" sz="800" b="1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350548"/>
            <a:ext cx="2154318" cy="1640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619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0912135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181</a:t>
            </a:fld>
            <a:endParaRPr lang="ko-KR" alt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55204" y="73402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36579"/>
              </p:ext>
            </p:extLst>
          </p:nvPr>
        </p:nvGraphicFramePr>
        <p:xfrm>
          <a:off x="455204" y="96980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5FF12AC-7478-0A92-A25F-C8ED37CD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528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159870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</a:t>
            </a:r>
            <a:r>
              <a:rPr lang="ko-KR" altLang="en-US" dirty="0" err="1"/>
              <a:t>모달</a:t>
            </a:r>
            <a:r>
              <a:rPr lang="ko-KR" altLang="en-US" dirty="0"/>
              <a:t>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확인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클릭 시 토스트 메시지 </a:t>
            </a:r>
            <a:r>
              <a:rPr lang="en-US" altLang="ko-KR" dirty="0"/>
              <a:t>- </a:t>
            </a:r>
            <a:r>
              <a:rPr lang="ko-KR" altLang="en-US" dirty="0"/>
              <a:t>신청 완료되었습니다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데이터에 로드가 발생하는 경우 </a:t>
            </a:r>
            <a:r>
              <a:rPr lang="ko-KR" altLang="en-US" dirty="0" err="1"/>
              <a:t>스피너</a:t>
            </a:r>
            <a:r>
              <a:rPr lang="en-US" altLang="ko-KR" dirty="0"/>
              <a:t>, </a:t>
            </a:r>
            <a:r>
              <a:rPr lang="ko-KR" altLang="en-US" dirty="0"/>
              <a:t>로드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시 작성 화면 복귀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41416" y="3262742"/>
            <a:ext cx="2579992" cy="1200743"/>
            <a:chOff x="713510" y="2317399"/>
            <a:chExt cx="2579992" cy="1200743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업체정보 </a:t>
              </a:r>
              <a:r>
                <a:rPr lang="ko-KR" altLang="en-US" sz="900" b="1" dirty="0" err="1">
                  <a:latin typeface="+mn-ea"/>
                </a:rPr>
                <a:t>추가등록</a:t>
              </a:r>
              <a:r>
                <a:rPr lang="ko-KR" altLang="en-US" sz="900" b="1" dirty="0">
                  <a:latin typeface="+mn-ea"/>
                </a:rPr>
                <a:t> 신청 확인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신청서를 접수합니다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 err="1">
                  <a:latin typeface="+mn-ea"/>
                </a:rPr>
                <a:t>오기재된</a:t>
              </a:r>
              <a:r>
                <a:rPr lang="ko-KR" altLang="en-US" sz="700" dirty="0">
                  <a:latin typeface="+mn-ea"/>
                </a:rPr>
                <a:t> 사항이 없는지 모두 </a:t>
              </a:r>
              <a:r>
                <a:rPr lang="ko-KR" altLang="en-US" sz="700" dirty="0" err="1">
                  <a:latin typeface="+mn-ea"/>
                </a:rPr>
                <a:t>확인하셨나요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76" name="직선 연결선 7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3" y="33471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2540185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도움말 아코디언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콘텐츠 우측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업체 </a:t>
            </a:r>
            <a:r>
              <a:rPr lang="ko-KR" altLang="en-US" dirty="0" err="1">
                <a:latin typeface="+mn-ea"/>
              </a:rPr>
              <a:t>등록현황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적격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부적격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업체등록</a:t>
            </a:r>
            <a:r>
              <a:rPr lang="ko-KR" altLang="en-US" dirty="0">
                <a:latin typeface="+mn-ea"/>
              </a:rPr>
              <a:t> 안내 팝업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우측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신청 목록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클릭 시 </a:t>
            </a:r>
            <a:r>
              <a:rPr lang="ko-KR" altLang="en-US" dirty="0" err="1">
                <a:latin typeface="+mn-ea"/>
              </a:rPr>
              <a:t>상세화면</a:t>
            </a:r>
            <a:r>
              <a:rPr lang="ko-KR" altLang="en-US" dirty="0">
                <a:latin typeface="+mn-ea"/>
              </a:rPr>
              <a:t>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- 10</a:t>
            </a:r>
            <a:r>
              <a:rPr lang="ko-KR" altLang="en-US" dirty="0">
                <a:latin typeface="+mn-ea"/>
              </a:rPr>
              <a:t>개 미만 시 </a:t>
            </a:r>
            <a:r>
              <a:rPr lang="ko-KR" altLang="en-US" dirty="0" err="1">
                <a:latin typeface="+mn-ea"/>
              </a:rPr>
              <a:t>더보기</a:t>
            </a:r>
            <a:r>
              <a:rPr lang="ko-KR" altLang="en-US" dirty="0">
                <a:latin typeface="+mn-ea"/>
              </a:rPr>
              <a:t> 버튼 숨김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상단 레이블 </a:t>
            </a:r>
            <a:r>
              <a:rPr lang="en-US" altLang="ko-KR" dirty="0">
                <a:latin typeface="+mn-ea"/>
              </a:rPr>
              <a:t>[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진행상황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더하기 버튼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바텀</a:t>
            </a:r>
            <a:r>
              <a:rPr lang="ko-KR" altLang="en-US" dirty="0">
                <a:latin typeface="+mn-ea"/>
              </a:rPr>
              <a:t> 버튼 팝업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[</a:t>
            </a:r>
            <a:r>
              <a:rPr lang="ko-KR" altLang="en-US" dirty="0">
                <a:latin typeface="+mn-ea"/>
              </a:rPr>
              <a:t>신규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갱신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변경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버튼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클릭 시 구분 값 사용 및 신청 페이지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solidFill>
                  <a:srgbClr val="FF0000"/>
                </a:solidFill>
                <a:latin typeface="+mn-ea"/>
              </a:rPr>
              <a:t>  &gt;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구분이 실효나 말소일 경우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– [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변경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]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 버튼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Dim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처리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 </a:t>
            </a:r>
            <a:r>
              <a:rPr lang="ko-KR" altLang="en-US" dirty="0">
                <a:latin typeface="+mn-ea"/>
              </a:rPr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MUI-CM-01-M15</a:t>
            </a:r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타원 2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9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4635"/>
            <a:ext cx="2446613" cy="314008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1156" y="54973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181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그룹 36"/>
          <p:cNvGrpSpPr/>
          <p:nvPr/>
        </p:nvGrpSpPr>
        <p:grpSpPr>
          <a:xfrm>
            <a:off x="781461" y="2752959"/>
            <a:ext cx="2473257" cy="952943"/>
            <a:chOff x="781461" y="2610063"/>
            <a:chExt cx="2473257" cy="952943"/>
          </a:xfrm>
        </p:grpSpPr>
        <p:sp>
          <p:nvSpPr>
            <p:cNvPr id="3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접수번호 </a:t>
              </a:r>
              <a:r>
                <a:rPr lang="en-US" altLang="ko-KR" sz="900" b="1" dirty="0"/>
                <a:t>2026-0020</a:t>
              </a:r>
              <a:endParaRPr lang="ko-KR" altLang="en-US" sz="900" b="1" dirty="0"/>
            </a:p>
          </p:txBody>
        </p:sp>
        <p:sp>
          <p:nvSpPr>
            <p:cNvPr id="3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09008"/>
              <a:ext cx="53380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593" y="2993619"/>
              <a:ext cx="39754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신규</a:t>
              </a:r>
            </a:p>
          </p:txBody>
        </p:sp>
        <p:sp>
          <p:nvSpPr>
            <p:cNvPr id="105" name="모서리가 둥근 직사각형 104"/>
            <p:cNvSpPr/>
            <p:nvPr/>
          </p:nvSpPr>
          <p:spPr>
            <a:xfrm>
              <a:off x="1079210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저장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81461" y="3948771"/>
            <a:ext cx="2473257" cy="949566"/>
            <a:chOff x="781461" y="2610063"/>
            <a:chExt cx="2473257" cy="949566"/>
          </a:xfrm>
        </p:grpSpPr>
        <p:sp>
          <p:nvSpPr>
            <p:cNvPr id="4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2026-0019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4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3457"/>
              <a:ext cx="53380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953" y="3008068"/>
              <a:ext cx="397545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갱신</a:t>
              </a: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1079210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제출</a:t>
              </a:r>
            </a:p>
          </p:txBody>
        </p:sp>
      </p:grp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686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132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71408"/>
            <a:ext cx="12115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업체 </a:t>
            </a:r>
            <a:r>
              <a:rPr lang="ko-KR" altLang="en-US" sz="800" b="1" dirty="0" err="1">
                <a:latin typeface="+mn-ea"/>
              </a:rPr>
              <a:t>등록현황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496405" y="2345219"/>
            <a:ext cx="37049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적격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08250" y="2345219"/>
            <a:ext cx="72153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맑은 고딕"/>
              </a:rPr>
              <a:t>업체등록</a:t>
            </a: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 안내 </a:t>
            </a:r>
            <a:r>
              <a:rPr kumimoji="1" lang="en-US" altLang="ko-KR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&gt;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339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25916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15" name="타원 114"/>
          <p:cNvSpPr/>
          <p:nvPr/>
        </p:nvSpPr>
        <p:spPr>
          <a:xfrm>
            <a:off x="783686" y="195726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3143548" y="2039247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898850" y="1926097"/>
            <a:ext cx="24798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/>
              <a:t>말소 </a:t>
            </a:r>
            <a:r>
              <a:rPr lang="en-US" altLang="ko-KR" sz="800" dirty="0"/>
              <a:t>:  </a:t>
            </a:r>
            <a:r>
              <a:rPr lang="ko-KR" altLang="en-US" sz="800" dirty="0"/>
              <a:t>관리자의 직권으로 군수품무역대리업 관련 업무를 할 수 없음</a:t>
            </a:r>
            <a:r>
              <a:rPr lang="en-US" altLang="ko-KR" sz="800" dirty="0"/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/>
              <a:t>실효 </a:t>
            </a:r>
            <a:r>
              <a:rPr lang="en-US" altLang="ko-KR" sz="800" dirty="0"/>
              <a:t>: </a:t>
            </a:r>
            <a:r>
              <a:rPr lang="ko-KR" altLang="en-US" sz="800" dirty="0" err="1"/>
              <a:t>갱신기간이</a:t>
            </a:r>
            <a:r>
              <a:rPr lang="ko-KR" altLang="en-US" sz="800" dirty="0"/>
              <a:t> 지나 군수품무역대리업 관련 업무를 할 수 없음</a:t>
            </a:r>
            <a:r>
              <a:rPr lang="en-US" altLang="ko-KR" sz="800" dirty="0"/>
              <a:t>.</a:t>
            </a:r>
            <a:r>
              <a:rPr lang="ko-KR" altLang="en-US" sz="800" dirty="0"/>
              <a:t> 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23" name="타원 122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4" name="그룹 123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25" name="직선 연결선 12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641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양쪽 모서리가 둥근 사각형 127"/>
          <p:cNvSpPr/>
          <p:nvPr/>
        </p:nvSpPr>
        <p:spPr>
          <a:xfrm>
            <a:off x="3795734" y="2747653"/>
            <a:ext cx="2712027" cy="348464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4881747" y="2778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6284673" y="2912467"/>
            <a:ext cx="94010" cy="94010"/>
            <a:chOff x="6812560" y="3297172"/>
            <a:chExt cx="94010" cy="94010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893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업체등록</a:t>
            </a:r>
            <a:r>
              <a:rPr lang="ko-KR" altLang="en-US" sz="900" dirty="0">
                <a:latin typeface="+mn-ea"/>
              </a:rPr>
              <a:t> 안내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54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4" name="직사각형 143"/>
          <p:cNvSpPr/>
          <p:nvPr/>
        </p:nvSpPr>
        <p:spPr>
          <a:xfrm>
            <a:off x="3924812" y="3313018"/>
            <a:ext cx="2453872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등록하시는 경우 아래 등록신청서 및 첨부서류를 구비하여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등록신청서 및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ko-KR" altLang="en-US" sz="800" dirty="0">
                <a:latin typeface="Consolas" panose="020B0609020204030204" pitchFamily="49" charset="0"/>
              </a:rPr>
              <a:t> 서식은 국가법령정보센터</a:t>
            </a:r>
            <a:r>
              <a:rPr lang="en-US" altLang="ko-KR" sz="800" dirty="0">
                <a:latin typeface="Consolas" panose="020B0609020204030204" pitchFamily="49" charset="0"/>
              </a:rPr>
              <a:t>(www.law.go.kr)</a:t>
            </a:r>
            <a:r>
              <a:rPr lang="ko-KR" altLang="en-US" sz="800" dirty="0">
                <a:latin typeface="Consolas" panose="020B0609020204030204" pitchFamily="49" charset="0"/>
              </a:rPr>
              <a:t>에서 방위사업법 시행규칙을 검색하시어 별기 </a:t>
            </a:r>
            <a:r>
              <a:rPr lang="en-US" altLang="ko-KR" sz="800" dirty="0">
                <a:latin typeface="Consolas" panose="020B0609020204030204" pitchFamily="49" charset="0"/>
              </a:rPr>
              <a:t>3, </a:t>
            </a:r>
            <a:r>
              <a:rPr lang="ko-KR" altLang="en-US" sz="800" dirty="0">
                <a:latin typeface="Consolas" panose="020B0609020204030204" pitchFamily="49" charset="0"/>
              </a:rPr>
              <a:t>별지 </a:t>
            </a:r>
            <a:r>
              <a:rPr lang="en-US" altLang="ko-KR" sz="800" dirty="0">
                <a:latin typeface="Consolas" panose="020B0609020204030204" pitchFamily="49" charset="0"/>
              </a:rPr>
              <a:t>23 </a:t>
            </a:r>
            <a:r>
              <a:rPr lang="ko-KR" altLang="en-US" sz="800" dirty="0">
                <a:latin typeface="Consolas" panose="020B0609020204030204" pitchFamily="49" charset="0"/>
              </a:rPr>
              <a:t>서식을 사용하시면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변경 등록 시에는 등록 신청서 상에 변경되는 내용을 적으시고 증명되는 서류를 첨부하시면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 후 </a:t>
            </a:r>
            <a:r>
              <a:rPr lang="en-US" altLang="ko-KR" sz="800" dirty="0">
                <a:latin typeface="Consolas" panose="020B0609020204030204" pitchFamily="49" charset="0"/>
              </a:rPr>
              <a:t>3</a:t>
            </a:r>
            <a:r>
              <a:rPr lang="ko-KR" altLang="en-US" sz="800" dirty="0">
                <a:latin typeface="Consolas" panose="020B0609020204030204" pitchFamily="49" charset="0"/>
              </a:rPr>
              <a:t>년 유효기간이 만료 후에도 군수품무역대리업을 계속 수행하고 싶으시면 유효기간 만료 </a:t>
            </a:r>
            <a:r>
              <a:rPr lang="en-US" altLang="ko-KR" sz="800" dirty="0">
                <a:latin typeface="Consolas" panose="020B0609020204030204" pitchFamily="49" charset="0"/>
              </a:rPr>
              <a:t>1</a:t>
            </a:r>
            <a:r>
              <a:rPr lang="ko-KR" altLang="en-US" sz="800" dirty="0">
                <a:latin typeface="Consolas" panose="020B0609020204030204" pitchFamily="49" charset="0"/>
              </a:rPr>
              <a:t>개월 전부터 국방전자조달 시스템</a:t>
            </a:r>
            <a:r>
              <a:rPr lang="en-US" altLang="ko-KR" sz="800" dirty="0">
                <a:latin typeface="Consolas" panose="020B0609020204030204" pitchFamily="49" charset="0"/>
              </a:rPr>
              <a:t>(www.d2b.go.kr)</a:t>
            </a:r>
            <a:r>
              <a:rPr lang="ko-KR" altLang="en-US" sz="800" dirty="0">
                <a:latin typeface="Consolas" panose="020B0609020204030204" pitchFamily="49" charset="0"/>
              </a:rPr>
              <a:t>에 로그인후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 err="1">
                <a:latin typeface="Consolas" panose="020B0609020204030204" pitchFamily="49" charset="0"/>
              </a:rPr>
              <a:t>마이페이지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에서 아래와 같이 관련 서류를 첨부 후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등록 유효기간이 완료된 이후에는 신규로 다시 신청하시면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b="1" dirty="0">
                <a:latin typeface="Consolas" panose="020B0609020204030204" pitchFamily="49" charset="0"/>
              </a:rPr>
              <a:t> [ </a:t>
            </a:r>
            <a:r>
              <a:rPr lang="ko-KR" altLang="en-US" sz="800" b="1" dirty="0">
                <a:latin typeface="Consolas" panose="020B0609020204030204" pitchFamily="49" charset="0"/>
              </a:rPr>
              <a:t>등록 신청서 및 첨부서류 </a:t>
            </a:r>
            <a:r>
              <a:rPr lang="en-US" altLang="ko-KR" sz="800" b="1" dirty="0">
                <a:latin typeface="Consolas" panose="020B0609020204030204" pitchFamily="49" charset="0"/>
              </a:rPr>
              <a:t>] </a:t>
            </a:r>
          </a:p>
          <a:p>
            <a:r>
              <a:rPr lang="en-US" altLang="ko-KR" sz="800" dirty="0">
                <a:latin typeface="맑은 고딕" panose="020B0503020000020004" pitchFamily="50" charset="-127"/>
              </a:rPr>
              <a:t>☞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필요서류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안내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통합검색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&gt;</a:t>
            </a:r>
            <a:r>
              <a:rPr lang="ko-KR" altLang="en-US" sz="800" dirty="0">
                <a:solidFill>
                  <a:srgbClr val="996600"/>
                </a:solidFill>
                <a:latin typeface="Consolas" panose="020B0609020204030204" pitchFamily="49" charset="0"/>
              </a:rPr>
              <a:t>군수품무역대리업 신청서 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① 등록신청서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23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② 대표자 및 임원의 이력서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임원은 상법 등 관련 법률에 따라 이사 및 감사이며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해당 인원은 법인등기부 등본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임원에 관련된 사항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 기재된   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</a:t>
            </a:r>
            <a:r>
              <a:rPr lang="ko-KR" altLang="en-US" sz="800" dirty="0">
                <a:latin typeface="Consolas" panose="020B0609020204030204" pitchFamily="49" charset="0"/>
              </a:rPr>
              <a:t>모든 인원을 포함합니다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 </a:t>
            </a:r>
            <a:r>
              <a:rPr lang="ko-KR" altLang="en-US" sz="800" dirty="0">
                <a:latin typeface="Consolas" panose="020B0609020204030204" pitchFamily="49" charset="0"/>
              </a:rPr>
              <a:t>그러므로 법인등기부 상 임원은 모두 이력서 및 청렴서약서를 제출하셔야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③ 전체 직원 수 및 방위사업 관련 직원 수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성명 등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</a:t>
            </a:r>
            <a:endParaRPr lang="en-US" altLang="ko-KR" sz="800" b="1" dirty="0"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④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청렴서약서는 방위사업법 제 </a:t>
            </a:r>
            <a:r>
              <a:rPr lang="en-US" altLang="ko-KR" sz="800" dirty="0">
                <a:latin typeface="Consolas" panose="020B0609020204030204" pitchFamily="49" charset="0"/>
              </a:rPr>
              <a:t>6</a:t>
            </a:r>
            <a:r>
              <a:rPr lang="ko-KR" altLang="en-US" sz="800" dirty="0">
                <a:latin typeface="Consolas" panose="020B0609020204030204" pitchFamily="49" charset="0"/>
              </a:rPr>
              <a:t>조에 따라 대표 및 임원이 함께 제출하여야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※ </a:t>
            </a:r>
            <a:r>
              <a:rPr lang="ko-KR" altLang="en-US" sz="800" dirty="0">
                <a:latin typeface="Consolas" panose="020B0609020204030204" pitchFamily="49" charset="0"/>
              </a:rPr>
              <a:t>이력서와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별도 서식이 없습니다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일반적으로 이력서는 귀사에서 사용하시는 양식을 사용하시고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4</a:t>
            </a:r>
            <a:r>
              <a:rPr lang="ko-KR" altLang="en-US" sz="800" dirty="0" err="1">
                <a:latin typeface="Consolas" panose="020B0609020204030204" pitchFamily="49" charset="0"/>
              </a:rPr>
              <a:t>대보험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가입현황을</a:t>
            </a:r>
            <a:r>
              <a:rPr lang="ko-KR" altLang="en-US" sz="800" dirty="0">
                <a:latin typeface="Consolas" panose="020B0609020204030204" pitchFamily="49" charset="0"/>
              </a:rPr>
              <a:t> 활용하시면서 방위사업 </a:t>
            </a:r>
            <a:r>
              <a:rPr lang="ko-KR" altLang="en-US" sz="800" dirty="0" err="1">
                <a:latin typeface="Consolas" panose="020B0609020204030204" pitchFamily="49" charset="0"/>
              </a:rPr>
              <a:t>참여직원만</a:t>
            </a:r>
            <a:r>
              <a:rPr lang="ko-KR" altLang="en-US" sz="800" dirty="0">
                <a:latin typeface="Consolas" panose="020B0609020204030204" pitchFamily="49" charset="0"/>
              </a:rPr>
              <a:t> 표시하시면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grpSp>
        <p:nvGrpSpPr>
          <p:cNvPr id="145" name="그룹 144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08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13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1" name="타원 150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타원 156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8" name="그룹 15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36729599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</a:t>
            </a:r>
            <a:r>
              <a:rPr lang="ko-KR" altLang="en-US" dirty="0"/>
              <a:t>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</a:t>
            </a:r>
            <a:r>
              <a:rPr lang="ko-KR" altLang="en-US" sz="800" dirty="0">
                <a:latin typeface="+mn-ea"/>
              </a:rPr>
              <a:t>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818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38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8322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588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127204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/>
              <a:t>접수번호 </a:t>
            </a:r>
            <a:r>
              <a:rPr lang="en-US" altLang="ko-KR" sz="900" b="1" dirty="0"/>
              <a:t>2026-0020</a:t>
            </a:r>
            <a:endParaRPr lang="ko-KR" altLang="en-US" sz="900" b="1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81461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신규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079210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저장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768757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업체정보</a:t>
            </a:r>
          </a:p>
        </p:txBody>
      </p:sp>
      <p:grpSp>
        <p:nvGrpSpPr>
          <p:cNvPr id="129" name="그룹 128"/>
          <p:cNvGrpSpPr/>
          <p:nvPr/>
        </p:nvGrpSpPr>
        <p:grpSpPr>
          <a:xfrm flipV="1">
            <a:off x="3139424" y="3882088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0" name="직사각형 129"/>
          <p:cNvSpPr/>
          <p:nvPr/>
        </p:nvSpPr>
        <p:spPr>
          <a:xfrm>
            <a:off x="718459" y="4076242"/>
            <a:ext cx="792000" cy="21544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40762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76242"/>
            <a:ext cx="715881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상호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대표자성명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전화번호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팩스번호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E-mail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사업자번호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설립일자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반려사유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4076242"/>
            <a:ext cx="1784088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조달테스트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02-2345-6789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test@dapa.go.kr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123-45-67890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1999-01-02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서울특별시 종로구 </a:t>
            </a:r>
            <a:r>
              <a:rPr lang="en-US" altLang="ko-KR" sz="700" dirty="0">
                <a:latin typeface="+mn-ea"/>
              </a:rPr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반려 사유가 있는 경우 내역 표시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3073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5210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7347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9383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515249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3835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597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81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601460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89558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3825376" y="201407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08859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142453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53" name="타원 152"/>
          <p:cNvSpPr/>
          <p:nvPr/>
        </p:nvSpPr>
        <p:spPr>
          <a:xfrm>
            <a:off x="6148139" y="2124314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3825376" y="242075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9527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4913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66" name="타원 165"/>
          <p:cNvSpPr/>
          <p:nvPr/>
        </p:nvSpPr>
        <p:spPr>
          <a:xfrm>
            <a:off x="6148139" y="253100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1878953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57655" y="1878953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187895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3825376" y="2822120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96641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50502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215" name="타원 214"/>
          <p:cNvSpPr/>
          <p:nvPr/>
        </p:nvSpPr>
        <p:spPr>
          <a:xfrm>
            <a:off x="6148139" y="293236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모서리가 둥근 직사각형 215"/>
          <p:cNvSpPr/>
          <p:nvPr/>
        </p:nvSpPr>
        <p:spPr>
          <a:xfrm>
            <a:off x="3825376" y="322880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033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5718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233" name="타원 232"/>
          <p:cNvSpPr/>
          <p:nvPr/>
        </p:nvSpPr>
        <p:spPr>
          <a:xfrm>
            <a:off x="6148139" y="3339049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2" name="그룹 251"/>
          <p:cNvGrpSpPr/>
          <p:nvPr/>
        </p:nvGrpSpPr>
        <p:grpSpPr>
          <a:xfrm flipV="1">
            <a:off x="6220287" y="1679485"/>
            <a:ext cx="94010" cy="47005"/>
            <a:chOff x="6812560" y="3297172"/>
            <a:chExt cx="94010" cy="47005"/>
          </a:xfrm>
        </p:grpSpPr>
        <p:cxnSp>
          <p:nvCxnSpPr>
            <p:cNvPr id="253" name="직선 연결선 2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4" name="직선 연결선 25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5" name="모서리가 둥근 직사각형 254"/>
          <p:cNvSpPr/>
          <p:nvPr/>
        </p:nvSpPr>
        <p:spPr>
          <a:xfrm>
            <a:off x="3825376" y="36375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71208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659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258" name="타원 257"/>
          <p:cNvSpPr/>
          <p:nvPr/>
        </p:nvSpPr>
        <p:spPr>
          <a:xfrm>
            <a:off x="6148139" y="3747802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8618584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60676" y="2623970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48344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atrzStcd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(‘S’)/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13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73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26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7972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71743" y="799547"/>
            <a:ext cx="448737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323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ersrYmd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expryYmd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B6B666-3096-71A0-5E08-A5417DF73D6C}"/>
              </a:ext>
            </a:extLst>
          </p:cNvPr>
          <p:cNvSpPr txBox="1"/>
          <p:nvPr/>
        </p:nvSpPr>
        <p:spPr>
          <a:xfrm>
            <a:off x="458118" y="5674388"/>
            <a:ext cx="48897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07B84B-0786-4D7E-AF4E-4677156D325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89282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4399C34-F0AD-2FC9-C9A3-AB70DB543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13818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8A8E10-80BC-6069-7ED2-A71A25FB940D}"/>
              </a:ext>
            </a:extLst>
          </p:cNvPr>
          <p:cNvSpPr txBox="1"/>
          <p:nvPr/>
        </p:nvSpPr>
        <p:spPr>
          <a:xfrm>
            <a:off x="455204" y="7335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79CEB3-66DB-AEAC-E099-1C436911FB6A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63715"/>
          <a:ext cx="8995591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군수품무역대리업 등록증 발급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scwin.btn_dfEqpmntTradeAgncIssu_onclick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승인되고 만료일자가 지나지 않은 신청 목록이 있을 때 등록증을 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</a:t>
                      </a:r>
                      <a:r>
                        <a:rPr lang="en-US" altLang="ko-KR" sz="800" dirty="0">
                          <a:latin typeface="+mn-ea"/>
                        </a:rPr>
                        <a:t>R26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</a:rPr>
                        <a:t> (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OZPrint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(‘PVB021’))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변경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scwin.btn_mdfcn_onclick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조건에 따라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1,2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하나의 화면으로 이동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신청한 정보 변경 화면으로 이동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신규이고 진행상태가 저장일때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실효나 말소일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240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UI-CM-01-M24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225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scwin.btn_new_onclick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5985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5BD577E-BD73-83A5-547A-47F99BFA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4679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5161608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</a:t>
            </a:r>
            <a:r>
              <a:rPr lang="ko-KR" altLang="en-US" dirty="0" smtClean="0"/>
              <a:t>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해당 항목을 선택하여 파일 첨부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100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468167"/>
            <a:chOff x="716366" y="3768757"/>
            <a:chExt cx="2630093" cy="24681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2154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반려사유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사유가 있는 경우 내역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2369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6942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2328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19626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27078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2464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825376" y="360295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67747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3133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모서리가 둥근 직사각형 114"/>
          <p:cNvSpPr/>
          <p:nvPr/>
        </p:nvSpPr>
        <p:spPr>
          <a:xfrm>
            <a:off x="3825376" y="401170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408622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414008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0353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71223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29544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412117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>
              <a:gd name="adj1" fmla="val 7735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614478" cy="386907"/>
            <a:chOff x="595686" y="1210923"/>
            <a:chExt cx="998966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등록신청서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615439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이력서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err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청렴서약서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883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18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85480197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 smtClean="0"/>
              <a:t>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행정정보 공동이용 동의서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MUI-CM-01-P13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52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12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5465197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3000" y="814369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25002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3000" y="3575017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77694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E54D1D8-7E81-786A-8730-6DB0DAFFEE5A}"/>
              </a:ext>
            </a:extLst>
          </p:cNvPr>
          <p:cNvSpPr txBox="1"/>
          <p:nvPr/>
        </p:nvSpPr>
        <p:spPr>
          <a:xfrm>
            <a:off x="453000" y="4560633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DC00B-0F83-4847-B2AB-C0869EBE48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8553688"/>
              </p:ext>
            </p:extLst>
          </p:nvPr>
        </p:nvGraphicFramePr>
        <p:xfrm>
          <a:off x="453000" y="477183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70576C96-65C6-70F2-0515-AE53B835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2872026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190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313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011142"/>
              </p:ext>
            </p:extLst>
          </p:nvPr>
        </p:nvGraphicFramePr>
        <p:xfrm>
          <a:off x="455204" y="96249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FDA49AD-7FB8-F262-5777-4E8C7C062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455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45311062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변경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4432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0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변경사항을 입증할 수 있는 증빙서류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2"/>
            <a:ext cx="2652743" cy="444819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55729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등록증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(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등록증 기재사항을 변경하는 경우만 해당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)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6345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281920"/>
            <a:ext cx="2652743" cy="49064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65658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</a:rPr>
              <a:t>파일이 여려 개일 경우 압축해서 첨부 가능</a:t>
            </a:r>
            <a:r>
              <a:rPr lang="en-US" altLang="ko-KR" sz="700" dirty="0">
                <a:latin typeface="맑은 고딕" panose="020B0503020000020004" pitchFamily="50" charset="-127"/>
              </a:rPr>
              <a:t>)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47337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3986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44979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590434" cy="386907"/>
            <a:chOff x="595686" y="1210923"/>
            <a:chExt cx="959877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26528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변경사항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709255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등록증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584166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기타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571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33372679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61590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4" name="직사각형 7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9477886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828897"/>
            <a:ext cx="4291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2580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5558" y="3574102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7853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4A24014-24F4-E74D-8166-6F52F4F7A292}"/>
              </a:ext>
            </a:extLst>
          </p:cNvPr>
          <p:cNvSpPr txBox="1"/>
          <p:nvPr/>
        </p:nvSpPr>
        <p:spPr>
          <a:xfrm>
            <a:off x="455558" y="4601737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FECB-4C2F-1A23-26A3-9E629B2D43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203313"/>
              </p:ext>
            </p:extLst>
          </p:nvPr>
        </p:nvGraphicFramePr>
        <p:xfrm>
          <a:off x="455558" y="482318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21ED5F9-6963-2553-CA4F-E5B72C1FE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077761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02691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22947"/>
              </p:ext>
            </p:extLst>
          </p:nvPr>
        </p:nvGraphicFramePr>
        <p:xfrm>
          <a:off x="455204" y="940612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A8F8070-621E-67FD-DD1B-2672A1EBD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18310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7041904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개인</a:t>
            </a:r>
            <a:r>
              <a:rPr lang="en-US" altLang="ko-KR" dirty="0"/>
              <a:t>(</a:t>
            </a:r>
            <a:r>
              <a:rPr lang="ko-KR" altLang="en-US" dirty="0"/>
              <a:t>생체</a:t>
            </a:r>
            <a:r>
              <a:rPr lang="en-US" altLang="ko-KR" dirty="0"/>
              <a:t>)</a:t>
            </a:r>
            <a:r>
              <a:rPr lang="ko-KR" altLang="en-US" dirty="0"/>
              <a:t>인증</a:t>
            </a:r>
            <a:r>
              <a:rPr lang="en-US" altLang="ko-KR" dirty="0"/>
              <a:t>/</a:t>
            </a:r>
            <a:r>
              <a:rPr lang="ko-KR" altLang="en-US" dirty="0"/>
              <a:t>비밀번호 인증 이후 상세 화면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</a:t>
            </a:r>
            <a:r>
              <a:rPr lang="en-US" altLang="ko-KR" dirty="0" smtClean="0"/>
              <a:t>, </a:t>
            </a:r>
            <a:r>
              <a:rPr lang="ko-KR" altLang="en-US" dirty="0" smtClean="0"/>
              <a:t>생체 인증 </a:t>
            </a:r>
            <a:r>
              <a:rPr lang="en-US" altLang="ko-KR" dirty="0" smtClean="0"/>
              <a:t>MUI-CM-02-M02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개인정보 상세 </a:t>
            </a:r>
            <a:r>
              <a:rPr lang="en-US" altLang="ko-KR" dirty="0" smtClean="0"/>
              <a:t>MUI-CM-02-M03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변경 </a:t>
            </a:r>
            <a:r>
              <a:rPr lang="en-US" altLang="ko-KR" dirty="0" smtClean="0"/>
              <a:t>MUI-CM-02-M05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개인신원확인 </a:t>
            </a:r>
            <a:r>
              <a:rPr lang="en-US" altLang="ko-KR" dirty="0" smtClean="0"/>
              <a:t>MUI-CM-02-M06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회원탈퇴 </a:t>
            </a:r>
            <a:r>
              <a:rPr lang="en-US" altLang="ko-KR" dirty="0"/>
              <a:t>MUI-CM-02-P10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관리 권한이 있는 사용자에게 표시되는 </a:t>
            </a:r>
            <a:r>
              <a:rPr lang="ko-KR" altLang="en-US" dirty="0" smtClean="0"/>
              <a:t>목록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MUI-CM-02-M07</a:t>
            </a:r>
            <a:br>
              <a:rPr lang="en-US" altLang="ko-KR" dirty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 상세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비밀번호 변경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개인신원확인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소속 사용자 목록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 탈퇴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05041" y="5550907"/>
            <a:ext cx="2652743" cy="584974"/>
            <a:chOff x="734683" y="4769161"/>
            <a:chExt cx="2652743" cy="584974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4" name="타원 53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03947" y="48218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81753980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3601437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생체 인증이 등록되어 있다면</a:t>
            </a:r>
            <a:r>
              <a:rPr lang="en-US" altLang="ko-KR" dirty="0"/>
              <a:t>, </a:t>
            </a:r>
            <a:r>
              <a:rPr lang="ko-KR" altLang="en-US" dirty="0"/>
              <a:t>현재 페이지에서 생체 인증 </a:t>
            </a:r>
            <a:r>
              <a:rPr lang="ko-KR" altLang="en-US" dirty="0" smtClean="0"/>
              <a:t>진행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</a:t>
            </a:r>
            <a:r>
              <a:rPr lang="en-US" altLang="ko-KR" dirty="0"/>
              <a:t> </a:t>
            </a:r>
            <a:r>
              <a:rPr lang="ko-KR" altLang="en-US" dirty="0"/>
              <a:t>또는</a:t>
            </a:r>
            <a:r>
              <a:rPr lang="en-US" altLang="ko-KR" dirty="0"/>
              <a:t> </a:t>
            </a:r>
            <a:r>
              <a:rPr lang="ko-KR" altLang="en-US" dirty="0" err="1"/>
              <a:t>생체인증이</a:t>
            </a:r>
            <a:r>
              <a:rPr lang="ko-KR" altLang="en-US" dirty="0"/>
              <a:t> 정상적인 경우 하위 페이지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실패 시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생체인증에</a:t>
            </a:r>
            <a:r>
              <a:rPr lang="ko-KR" altLang="en-US" dirty="0" smtClean="0"/>
              <a:t> 실패했습니다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실패 시 유효성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비밀번호를 정확히 입력해주세요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비밀번호인증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683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Consolas" panose="020B0609020204030204" pitchFamily="49" charset="0"/>
              </a:rPr>
              <a:t>개인정보 접근을 위해 추가 인증이 필요합니다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u="sng" dirty="0">
              <a:latin typeface="맑은 고딕" panose="020B0503020000020004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705041" y="5217620"/>
            <a:ext cx="2652743" cy="896921"/>
            <a:chOff x="734683" y="4769160"/>
            <a:chExt cx="2652743" cy="896921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734683" y="4769160"/>
              <a:ext cx="2652743" cy="89692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접근이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5" name="타원 44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" name="그룹 45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/>
          <p:cNvGrpSpPr/>
          <p:nvPr/>
        </p:nvGrpSpPr>
        <p:grpSpPr>
          <a:xfrm>
            <a:off x="903581" y="2769869"/>
            <a:ext cx="2255663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309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65" name="그룹 64"/>
          <p:cNvGrpSpPr/>
          <p:nvPr/>
        </p:nvGrpSpPr>
        <p:grpSpPr>
          <a:xfrm>
            <a:off x="903580" y="3394047"/>
            <a:ext cx="2255663" cy="306146"/>
            <a:chOff x="3982951" y="3679873"/>
            <a:chExt cx="2255663" cy="306146"/>
          </a:xfrm>
        </p:grpSpPr>
        <p:sp>
          <p:nvSpPr>
            <p:cNvPr id="66" name="모서리가 둥근 직사각형 6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587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1755647330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0676" y="25103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804015"/>
              </p:ext>
            </p:extLst>
          </p:nvPr>
        </p:nvGraphicFramePr>
        <p:xfrm>
          <a:off x="455204" y="273861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7046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34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 진입을 위해 비밀번호 확인을 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A05DC22-1F45-1635-7D82-D1A256971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262758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B219E7-1AD6-2076-CF8E-791596C77351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85AAA0-E72E-16E1-4AF7-B7C28E2DC9C5}"/>
              </a:ext>
            </a:extLst>
          </p:cNvPr>
          <p:cNvSpPr txBox="1"/>
          <p:nvPr/>
        </p:nvSpPr>
        <p:spPr>
          <a:xfrm>
            <a:off x="460676" y="83324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AD1118-E107-46DC-3258-94C2124CA57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69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암호화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40EF4BA8-43E1-7E6B-53D1-6EEF9C750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4583951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조회화면으로 수정 불가능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수신설정</a:t>
            </a:r>
            <a:r>
              <a:rPr lang="ko-KR" altLang="en-US" dirty="0"/>
              <a:t> 역시 </a:t>
            </a:r>
            <a:r>
              <a:rPr lang="ko-KR" altLang="en-US" dirty="0" smtClean="0"/>
              <a:t>조회만 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수정 불가능</a:t>
            </a:r>
            <a:r>
              <a:rPr lang="en-US" altLang="ko-KR" dirty="0" smtClean="0"/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개인정보 수정하기 버튼으로 개인정보 수정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solidFill>
                  <a:srgbClr val="FF0000"/>
                </a:solidFill>
              </a:rPr>
              <a:t>사용자 관리 목록에서 진입하는 경우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타이틀 변경</a:t>
            </a:r>
            <a:r>
              <a:rPr lang="en-US" altLang="ko-KR" dirty="0"/>
              <a:t> - </a:t>
            </a:r>
            <a:r>
              <a:rPr lang="ko-KR" altLang="en-US" dirty="0"/>
              <a:t>사용자 상세정보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표시정보</a:t>
            </a:r>
            <a:r>
              <a:rPr lang="ko-KR" altLang="en-US" dirty="0"/>
              <a:t> 중 수신 설정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도움말 및 개인정보 수정 버튼 </a:t>
            </a:r>
            <a:r>
              <a:rPr lang="ko-KR" altLang="en-US" dirty="0" err="1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상세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/>
          <p:cNvGrpSpPr/>
          <p:nvPr/>
        </p:nvGrpSpPr>
        <p:grpSpPr>
          <a:xfrm>
            <a:off x="4023916" y="5111707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개인정보 수정하기</a:t>
              </a: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88338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Test1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4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49055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홍길동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241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2987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유형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7621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일반사용자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532846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실명인증이 필요합니다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903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실명인증여부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749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부서명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72129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총무팀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249176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abcde@dapa.go.kr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25361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이메일 주소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188459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010-1234-5678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16464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휴대전화번호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6974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전화번호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5934618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8618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팩스번호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3098934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02-2345-6789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958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10592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조달테스트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3825375" y="4332817"/>
            <a:ext cx="2652743" cy="633878"/>
            <a:chOff x="734683" y="4769160"/>
            <a:chExt cx="2652743" cy="633878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34683" y="4769160"/>
              <a:ext cx="2652743" cy="633878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상세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SMS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수신서비스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설정은 홈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마이페이지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알림서비스신청 화면에서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56" name="타원 15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60067123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Dim </a:t>
            </a:r>
            <a:r>
              <a:rPr lang="ko-KR" altLang="en-US" dirty="0"/>
              <a:t>항목은 수정불가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저장하기 클릭 시 </a:t>
            </a:r>
            <a:r>
              <a:rPr lang="ko-KR" altLang="en-US" dirty="0" smtClean="0"/>
              <a:t>수정된 개인정보를 저장하고 개인정보 </a:t>
            </a:r>
            <a:r>
              <a:rPr lang="ko-KR" altLang="en-US" dirty="0"/>
              <a:t>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개인정보를 수정하였습니다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개인정보수정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수정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4777593" y="4353970"/>
            <a:ext cx="1501986" cy="306146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저장하기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903581" y="2645240"/>
            <a:ext cx="2255663" cy="445081"/>
            <a:chOff x="903581" y="2736408"/>
            <a:chExt cx="2255663" cy="445081"/>
          </a:xfrm>
        </p:grpSpPr>
        <p:grpSp>
          <p:nvGrpSpPr>
            <p:cNvPr id="47" name="그룹 46"/>
            <p:cNvGrpSpPr/>
            <p:nvPr/>
          </p:nvGrpSpPr>
          <p:grpSpPr>
            <a:xfrm>
              <a:off x="903581" y="2875343"/>
              <a:ext cx="2255663" cy="306146"/>
              <a:chOff x="3982951" y="3679873"/>
              <a:chExt cx="2255663" cy="306146"/>
            </a:xfrm>
          </p:grpSpPr>
          <p:sp>
            <p:nvSpPr>
              <p:cNvPr id="49" name="모서리가 둥근 직사각형 4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Test1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7364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903581" y="3252410"/>
            <a:ext cx="2255663" cy="445081"/>
            <a:chOff x="903581" y="3368079"/>
            <a:chExt cx="2255663" cy="445081"/>
          </a:xfrm>
        </p:grpSpPr>
        <p:grpSp>
          <p:nvGrpSpPr>
            <p:cNvPr id="57" name="그룹 56"/>
            <p:cNvGrpSpPr/>
            <p:nvPr/>
          </p:nvGrpSpPr>
          <p:grpSpPr>
            <a:xfrm>
              <a:off x="903581" y="3507014"/>
              <a:ext cx="2255663" cy="306146"/>
              <a:chOff x="3982951" y="3679873"/>
              <a:chExt cx="2255663" cy="306146"/>
            </a:xfrm>
          </p:grpSpPr>
          <p:sp>
            <p:nvSpPr>
              <p:cNvPr id="58" name="모서리가 둥근 직사각형 5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홍길동</a:t>
                </a: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368079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사용자명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903581" y="2029873"/>
            <a:ext cx="2255663" cy="453278"/>
            <a:chOff x="903581" y="2090495"/>
            <a:chExt cx="2255663" cy="45327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09049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유형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903581" y="2237627"/>
              <a:ext cx="2255663" cy="306146"/>
              <a:chOff x="3982951" y="3679873"/>
              <a:chExt cx="2255663" cy="306146"/>
            </a:xfrm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일반사용자</a:t>
                </a: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903581" y="5090314"/>
            <a:ext cx="2255663" cy="445081"/>
            <a:chOff x="903581" y="5126437"/>
            <a:chExt cx="2255663" cy="445081"/>
          </a:xfrm>
        </p:grpSpPr>
        <p:grpSp>
          <p:nvGrpSpPr>
            <p:cNvPr id="68" name="그룹 67"/>
            <p:cNvGrpSpPr/>
            <p:nvPr/>
          </p:nvGrpSpPr>
          <p:grpSpPr>
            <a:xfrm>
              <a:off x="903581" y="5265372"/>
              <a:ext cx="2255663" cy="306146"/>
              <a:chOff x="3982951" y="3679873"/>
              <a:chExt cx="2255663" cy="306146"/>
            </a:xfrm>
          </p:grpSpPr>
          <p:sp>
            <p:nvSpPr>
              <p:cNvPr id="69" name="모서리가 둥근 직사각형 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실명인증이 필요합니다</a:t>
                </a:r>
                <a:r>
                  <a:rPr lang="en-US" altLang="ko-KR" sz="800" dirty="0">
                    <a:latin typeface="+mn-ea"/>
                  </a:rPr>
                  <a:t>.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126437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실명인증여부</a:t>
              </a: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903581" y="4474947"/>
            <a:ext cx="2255663" cy="453278"/>
            <a:chOff x="903581" y="4480524"/>
            <a:chExt cx="2255663" cy="45327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4480524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부서명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4627656"/>
              <a:ext cx="2255663" cy="306146"/>
              <a:chOff x="3982951" y="3679873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총무팀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9" name="그룹 18"/>
          <p:cNvGrpSpPr/>
          <p:nvPr/>
        </p:nvGrpSpPr>
        <p:grpSpPr>
          <a:xfrm>
            <a:off x="4023916" y="2253617"/>
            <a:ext cx="2255663" cy="445081"/>
            <a:chOff x="4023916" y="2330922"/>
            <a:chExt cx="2255663" cy="445081"/>
          </a:xfrm>
        </p:grpSpPr>
        <p:grpSp>
          <p:nvGrpSpPr>
            <p:cNvPr id="117" name="그룹 116"/>
            <p:cNvGrpSpPr/>
            <p:nvPr/>
          </p:nvGrpSpPr>
          <p:grpSpPr>
            <a:xfrm>
              <a:off x="4023916" y="2469857"/>
              <a:ext cx="2255663" cy="306146"/>
              <a:chOff x="3982951" y="3679873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이메일 주소를 입력해주세요</a:t>
                </a:r>
              </a:p>
            </p:txBody>
          </p: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33092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이메일 주소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2330922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023916" y="1646447"/>
            <a:ext cx="2255663" cy="445081"/>
            <a:chOff x="4023916" y="1699251"/>
            <a:chExt cx="2255663" cy="445081"/>
          </a:xfrm>
        </p:grpSpPr>
        <p:grpSp>
          <p:nvGrpSpPr>
            <p:cNvPr id="113" name="그룹 112"/>
            <p:cNvGrpSpPr/>
            <p:nvPr/>
          </p:nvGrpSpPr>
          <p:grpSpPr>
            <a:xfrm>
              <a:off x="4023916" y="1838186"/>
              <a:ext cx="2255663" cy="306146"/>
              <a:chOff x="3982951" y="3679873"/>
              <a:chExt cx="2255663" cy="306146"/>
            </a:xfrm>
          </p:grpSpPr>
          <p:sp>
            <p:nvSpPr>
              <p:cNvPr id="114" name="모서리가 둥근 직사각형 11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휴대전화번호를 입력해주세요</a:t>
                </a: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1699251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휴대전화번호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1699251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03581" y="5697486"/>
            <a:ext cx="2255661" cy="444066"/>
            <a:chOff x="903581" y="5758108"/>
            <a:chExt cx="2255661" cy="44406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124" name="모서리가 둥근 직사각형 12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6" name="모서리가 둥근 직사각형 12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8" name="모서리가 둥근 직사각형 12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32" name="그룹 131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" name="그룹 19"/>
          <p:cNvGrpSpPr/>
          <p:nvPr/>
        </p:nvGrpSpPr>
        <p:grpSpPr>
          <a:xfrm>
            <a:off x="4023916" y="2861802"/>
            <a:ext cx="2255661" cy="444066"/>
            <a:chOff x="4023916" y="2985652"/>
            <a:chExt cx="2255661" cy="444066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98565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팩스번호</a:t>
              </a:r>
            </a:p>
          </p:txBody>
        </p:sp>
        <p:grpSp>
          <p:nvGrpSpPr>
            <p:cNvPr id="137" name="그룹 136"/>
            <p:cNvGrpSpPr/>
            <p:nvPr/>
          </p:nvGrpSpPr>
          <p:grpSpPr>
            <a:xfrm>
              <a:off x="4023917" y="3123572"/>
              <a:ext cx="2255660" cy="306146"/>
              <a:chOff x="903582" y="5841774"/>
              <a:chExt cx="2255660" cy="306146"/>
            </a:xfrm>
          </p:grpSpPr>
          <p:sp>
            <p:nvSpPr>
              <p:cNvPr id="138" name="모서리가 둥근 직사각형 137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0" name="모서리가 둥근 직사각형 139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2345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2" name="모서리가 둥근 직사각형 141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6789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46" name="그룹 145"/>
            <p:cNvGrpSpPr/>
            <p:nvPr/>
          </p:nvGrpSpPr>
          <p:grpSpPr>
            <a:xfrm>
              <a:off x="4395068" y="3253143"/>
              <a:ext cx="94010" cy="47005"/>
              <a:chOff x="6812560" y="3297172"/>
              <a:chExt cx="94010" cy="47005"/>
            </a:xfrm>
          </p:grpSpPr>
          <p:cxnSp>
            <p:nvCxnSpPr>
              <p:cNvPr id="147" name="직선 연결선 1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903581" y="3859580"/>
            <a:ext cx="2255663" cy="453278"/>
            <a:chOff x="903581" y="3931203"/>
            <a:chExt cx="2255663" cy="453278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931203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latin typeface="+mn-ea"/>
                </a:rPr>
                <a:t>업체명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903581" y="4078335"/>
              <a:ext cx="2255663" cy="306146"/>
              <a:chOff x="3982951" y="3679873"/>
              <a:chExt cx="2255663" cy="306146"/>
            </a:xfrm>
          </p:grpSpPr>
          <p:sp>
            <p:nvSpPr>
              <p:cNvPr id="151" name="모서리가 둥근 직사각형 150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조달테스트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2" name="모서리가 둥근 직사각형 111"/>
          <p:cNvSpPr/>
          <p:nvPr/>
        </p:nvSpPr>
        <p:spPr>
          <a:xfrm>
            <a:off x="4032818" y="4353970"/>
            <a:ext cx="634976" cy="306146"/>
          </a:xfrm>
          <a:prstGeom prst="roundRect">
            <a:avLst>
              <a:gd name="adj" fmla="val 18626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7700890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15429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1681"/>
          <a:ext cx="8994883" cy="276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08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userInfoRlnmCd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N: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실명인증미완료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X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탈퇴사용자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가능하나 사용은 못함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7321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779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517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9183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9655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88691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292" y="399360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987807"/>
              </p:ext>
            </p:extLst>
          </p:nvPr>
        </p:nvGraphicFramePr>
        <p:xfrm>
          <a:off x="452292" y="422019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22933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9FE55562-B82C-BEB9-A24B-EE39573F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0839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D3F1CE97-139B-4066-3244-BEC387C65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066329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변경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입력은 </a:t>
            </a:r>
            <a:r>
              <a:rPr lang="ko-KR" altLang="en-US" dirty="0" err="1"/>
              <a:t>마스킹</a:t>
            </a:r>
            <a:r>
              <a:rPr lang="ko-KR" altLang="en-US" dirty="0"/>
              <a:t>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마스킹</a:t>
            </a:r>
            <a:r>
              <a:rPr lang="ko-KR" altLang="en-US" dirty="0"/>
              <a:t> 내역을 확인해볼 수 있는 눈 아이콘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변경 완료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확인 클릭 시 상위 목록으로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비밀번호 변경 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체크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동일한 비밀번호를 다시 한번 입력해주세요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유효성 메시지 </a:t>
            </a:r>
            <a:r>
              <a:rPr lang="en-US" altLang="ko-KR" dirty="0"/>
              <a:t>– </a:t>
            </a:r>
            <a:r>
              <a:rPr lang="ko-KR" altLang="en-US" dirty="0" smtClean="0"/>
              <a:t>입력 불가능한 특수문자를 제외하고 비밀번호를 입력해주세요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비밀번호는 </a:t>
            </a:r>
            <a:r>
              <a:rPr lang="en-US" altLang="ko-KR" dirty="0" smtClean="0"/>
              <a:t>9~16</a:t>
            </a:r>
            <a:r>
              <a:rPr lang="ko-KR" altLang="en-US" dirty="0" smtClean="0"/>
              <a:t>자로 숫자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영문 소문자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특수문자 조합으로 입력해주세요</a:t>
            </a:r>
            <a:r>
              <a:rPr lang="en-US" altLang="ko-KR" dirty="0" smtClean="0"/>
              <a:t>.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 변경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비밀번호가 변경되었습니다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확인</a:t>
              </a: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현재 비밀번호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*********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1968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713112"/>
            <a:ext cx="2305144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새로운 비밀번호로 로그인 하실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latin typeface="Consolas" panose="020B0609020204030204" pitchFamily="49" charset="0"/>
              </a:rPr>
              <a:t>생체인증이</a:t>
            </a:r>
            <a:r>
              <a:rPr lang="ko-KR" altLang="en-US" sz="800" dirty="0">
                <a:latin typeface="Consolas" panose="020B0609020204030204" pitchFamily="49" charset="0"/>
              </a:rPr>
              <a:t> 등록된 경우 새 비밀번호 입력없이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생체인증으로 로그인할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0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9549005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79988"/>
            <a:ext cx="25044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비밀번호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dm_pwsdChgInfo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642718"/>
              </p:ext>
            </p:extLst>
          </p:nvPr>
        </p:nvGraphicFramePr>
        <p:xfrm>
          <a:off x="455558" y="11637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68912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5052" y="3076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476674"/>
              </p:ext>
            </p:extLst>
          </p:nvPr>
        </p:nvGraphicFramePr>
        <p:xfrm>
          <a:off x="452292" y="33189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78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668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 변경하기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03717520-55AF-3645-D618-DFBA6DC1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320798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0E8BD3CE-7E40-FF1D-A628-4B8C69230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54597774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개인신원</a:t>
            </a:r>
            <a:r>
              <a:rPr lang="ko-KR" altLang="en-US" dirty="0"/>
              <a:t>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관리 </a:t>
            </a:r>
            <a:r>
              <a:rPr lang="en-US" altLang="ko-KR" dirty="0"/>
              <a:t>(MUI-CM-04-M14)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삭제 </a:t>
            </a:r>
            <a:r>
              <a:rPr lang="en-US" altLang="ko-KR" dirty="0"/>
              <a:t>(MUI-CM-04-P15) </a:t>
            </a:r>
            <a:br>
              <a:rPr lang="en-US" altLang="ko-KR" dirty="0"/>
            </a:br>
            <a:r>
              <a:rPr lang="ko-KR" altLang="en-US" dirty="0"/>
              <a:t>화면 재활용 </a:t>
            </a:r>
            <a:r>
              <a:rPr lang="en-US" altLang="ko-KR" dirty="0"/>
              <a:t>(</a:t>
            </a:r>
            <a:r>
              <a:rPr lang="ko-KR" altLang="en-US" dirty="0"/>
              <a:t>다음 페이지 참조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 이름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개인신원확인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개인신원</a:t>
            </a:r>
            <a:r>
              <a:rPr lang="ko-KR" altLang="en-US" dirty="0">
                <a:latin typeface="+mn-ea"/>
              </a:rPr>
              <a:t> 확인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개인 신원 확인을 진행합니다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903581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 신원 확인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713112"/>
            <a:ext cx="230514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개인신원확인 버튼을 클릭하여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창을 띄울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창이 나타나면 </a:t>
            </a:r>
            <a:r>
              <a:rPr lang="en-US" altLang="ko-KR" sz="800" dirty="0">
                <a:latin typeface="Consolas" panose="020B0609020204030204" pitchFamily="49" charset="0"/>
              </a:rPr>
              <a:t>[$</a:t>
            </a:r>
            <a:r>
              <a:rPr lang="ko-KR" altLang="en-US" sz="800" dirty="0" err="1">
                <a:latin typeface="Consolas" panose="020B0609020204030204" pitchFamily="49" charset="0"/>
              </a:rPr>
              <a:t>조달테스트</a:t>
            </a:r>
            <a:r>
              <a:rPr lang="en-US" altLang="ko-KR" sz="800" dirty="0">
                <a:latin typeface="Consolas" panose="020B0609020204030204" pitchFamily="49" charset="0"/>
              </a:rPr>
              <a:t>4]</a:t>
            </a:r>
            <a:r>
              <a:rPr lang="ko-KR" altLang="en-US" sz="800" dirty="0">
                <a:latin typeface="Consolas" panose="020B0609020204030204" pitchFamily="49" charset="0"/>
              </a:rPr>
              <a:t>님의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개인인증서를 선택하십시오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824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30210117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 인증서만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비밀번호 확인 </a:t>
            </a:r>
            <a:r>
              <a:rPr lang="ko-KR" altLang="en-US" dirty="0" smtClean="0"/>
              <a:t>팝업 </a:t>
            </a:r>
            <a:r>
              <a:rPr lang="en-US" altLang="ko-KR" dirty="0"/>
              <a:t>MUI-CM-04-P18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809206339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비밀번호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인증 성공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개인신원확인 </a:t>
            </a:r>
            <a:r>
              <a:rPr lang="en-US" altLang="ko-KR" dirty="0"/>
              <a:t>(MUI-CM-02-M06) </a:t>
            </a:r>
            <a:r>
              <a:rPr lang="ko-KR" altLang="en-US" dirty="0"/>
              <a:t>복귀 및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실패 시 현 팝업 유지 및 실패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현재 팝업 닫힘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양쪽 모서리가 둥근 사각형 35"/>
          <p:cNvSpPr/>
          <p:nvPr/>
        </p:nvSpPr>
        <p:spPr>
          <a:xfrm>
            <a:off x="679854" y="3259934"/>
            <a:ext cx="2712027" cy="296335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29656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3168793" y="3430977"/>
            <a:ext cx="94010" cy="94010"/>
            <a:chOff x="6812560" y="3297172"/>
            <a:chExt cx="94010" cy="94010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41165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개인 인증서 확인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6730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64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134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9" name="그룹 58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6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83793" y="5756042"/>
              <a:ext cx="1583022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인증하기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6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61785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88125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선택한 인증서로 개인 인증을 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인증이 완료되었습니다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</a:t>
            </a:r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암호를 정확히 입력해주세요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78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31572819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3235" y="799547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144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18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91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312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8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4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88691" y="459035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75349"/>
              </p:ext>
            </p:extLst>
          </p:nvPr>
        </p:nvGraphicFramePr>
        <p:xfrm>
          <a:off x="458117" y="48740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개인신원확인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scwin.btn_indvIdntIdnty_onclick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 인증서 팝업창을 호출 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E82BFC7-81B9-17E6-1DB9-00886D9B9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692" y="47489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54179F-5C20-0638-5B90-7A74D0C24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4C8EE8-D70D-B923-B10A-FFFAB00247F8}"/>
              </a:ext>
            </a:extLst>
          </p:cNvPr>
          <p:cNvSpPr txBox="1"/>
          <p:nvPr/>
        </p:nvSpPr>
        <p:spPr>
          <a:xfrm>
            <a:off x="452291" y="1668214"/>
            <a:ext cx="22383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인증서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dl_crtfList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F6F224-1953-9EA9-7A5C-98085B12C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070611"/>
              </p:ext>
            </p:extLst>
          </p:nvPr>
        </p:nvGraphicFramePr>
        <p:xfrm>
          <a:off x="455558" y="188655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fileRegYmd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4121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489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crtfDnVl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498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505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rmrk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91480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725996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사용자명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버튼 클릭 시 즉시 목록 초기화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명수</a:t>
            </a:r>
            <a:r>
              <a:rPr lang="en-US" altLang="ko-KR" dirty="0"/>
              <a:t>, </a:t>
            </a:r>
            <a:r>
              <a:rPr lang="ko-KR" altLang="en-US" dirty="0"/>
              <a:t>개수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</a:t>
            </a:r>
            <a:r>
              <a:rPr lang="en-US" altLang="ko-KR" dirty="0"/>
              <a:t>(5</a:t>
            </a:r>
            <a:r>
              <a:rPr lang="ko-KR" altLang="en-US" dirty="0" err="1"/>
              <a:t>번항</a:t>
            </a:r>
            <a:r>
              <a:rPr lang="en-US" altLang="ko-KR" dirty="0"/>
              <a:t>)</a:t>
            </a:r>
            <a:r>
              <a:rPr lang="ko-KR" altLang="en-US" dirty="0"/>
              <a:t>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으로 사용자명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상태변경</a:t>
            </a:r>
            <a:r>
              <a:rPr lang="ko-KR" altLang="en-US" dirty="0"/>
              <a:t> 버튼 클릭 시 상태 변경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클릭 시 사용자 정보 상세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목록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MUI-CM-02-M07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소속 사용자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40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1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114" name="모서리가 둥근 직사각형 113"/>
            <p:cNvSpPr/>
            <p:nvPr/>
          </p:nvSpPr>
          <p:spPr>
            <a:xfrm>
              <a:off x="1075655" y="2610063"/>
              <a:ext cx="34833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chemeClr val="dk1"/>
                  </a:solidFill>
                </a:rPr>
                <a:t>대표자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64812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826603"/>
            <a:ext cx="2476203" cy="1080735"/>
            <a:chOff x="778515" y="2610063"/>
            <a:chExt cx="2476203" cy="1080735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2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503451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입찰대리인</a:t>
              </a:r>
              <a:endParaRPr lang="ko-KR" altLang="en-US" sz="600" dirty="0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80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73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90649" y="3871431"/>
            <a:ext cx="4786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schemeClr val="dk1"/>
                </a:solidFill>
              </a:rPr>
              <a:t>입찰대리인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206222" y="3871431"/>
            <a:ext cx="46986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일반사용자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3871431"/>
            <a:ext cx="330486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대표자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87727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사용자유형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2895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92" name="그룹 191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4" name="직선 연결선 1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5" name="그룹 194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196" name="모서리가 둥근 직사각형 19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타원 19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사용자명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02" name="타원 20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그룹 20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1695628"/>
            <a:ext cx="245739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>
                <a:solidFill>
                  <a:srgbClr val="FF0000"/>
                </a:solidFill>
              </a:rPr>
              <a:t>퇴사자</a:t>
            </a:r>
            <a:r>
              <a:rPr lang="ko-KR" altLang="en-US" dirty="0">
                <a:solidFill>
                  <a:srgbClr val="FF0000"/>
                </a:solidFill>
              </a:rPr>
              <a:t> 계정 즉시 삭제 요망</a:t>
            </a:r>
            <a:endParaRPr lang="en-US" altLang="ko-KR" dirty="0">
              <a:solidFill>
                <a:srgbClr val="FF0000"/>
              </a:solidFill>
            </a:endParaRP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/>
              <a:t>퇴사자의</a:t>
            </a:r>
            <a:r>
              <a:rPr lang="ko-KR" altLang="en-US" dirty="0"/>
              <a:t> 계정을 방치할 경우</a:t>
            </a:r>
            <a:r>
              <a:rPr lang="en-US" altLang="ko-KR" dirty="0"/>
              <a:t>, </a:t>
            </a:r>
            <a:r>
              <a:rPr lang="ko-KR" altLang="en-US" dirty="0"/>
              <a:t>타사 이직 후 기존 </a:t>
            </a:r>
            <a:r>
              <a:rPr lang="en-US" altLang="ko-KR" dirty="0"/>
              <a:t>ID</a:t>
            </a:r>
            <a:r>
              <a:rPr lang="ko-KR" altLang="en-US" dirty="0"/>
              <a:t>를 통한 </a:t>
            </a:r>
            <a:r>
              <a:rPr lang="ko-KR" altLang="en-US" dirty="0">
                <a:solidFill>
                  <a:srgbClr val="FF0000"/>
                </a:solidFill>
              </a:rPr>
              <a:t>입찰</a:t>
            </a:r>
            <a:r>
              <a:rPr lang="en-US" altLang="ko-KR" dirty="0">
                <a:solidFill>
                  <a:srgbClr val="FF0000"/>
                </a:solidFill>
              </a:rPr>
              <a:t>/</a:t>
            </a:r>
            <a:r>
              <a:rPr lang="ko-KR" altLang="en-US" dirty="0">
                <a:solidFill>
                  <a:srgbClr val="FF0000"/>
                </a:solidFill>
              </a:rPr>
              <a:t>계약 정보 무단 열람 및 영업비밀 유출사고</a:t>
            </a:r>
            <a:r>
              <a:rPr lang="ko-KR" altLang="en-US" dirty="0"/>
              <a:t>가 발생할 수 있습니다</a:t>
            </a:r>
            <a:r>
              <a:rPr lang="en-US" altLang="ko-KR" dirty="0"/>
              <a:t>. 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계정 관리 소홀로 인해 야기되는 모든 </a:t>
            </a:r>
            <a:r>
              <a:rPr lang="ko-KR" altLang="en-US" dirty="0">
                <a:solidFill>
                  <a:srgbClr val="FF0000"/>
                </a:solidFill>
              </a:rPr>
              <a:t>법적 문제와 손해배상 책임은 해당 업체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대표자</a:t>
            </a:r>
            <a:r>
              <a:rPr lang="en-US" altLang="ko-KR" dirty="0">
                <a:solidFill>
                  <a:srgbClr val="FF0000"/>
                </a:solidFill>
              </a:rPr>
              <a:t>)</a:t>
            </a:r>
            <a:r>
              <a:rPr lang="ko-KR" altLang="en-US" dirty="0">
                <a:solidFill>
                  <a:srgbClr val="FF0000"/>
                </a:solidFill>
              </a:rPr>
              <a:t>에 귀속</a:t>
            </a:r>
            <a:r>
              <a:rPr lang="ko-KR" altLang="en-US" dirty="0"/>
              <a:t>되므로</a:t>
            </a:r>
            <a:r>
              <a:rPr lang="en-US" altLang="ko-KR" dirty="0"/>
              <a:t>, </a:t>
            </a:r>
            <a:r>
              <a:rPr lang="ko-KR" altLang="en-US" dirty="0"/>
              <a:t>퇴사 직원의 계정은 즉시 퇴사</a:t>
            </a:r>
            <a:r>
              <a:rPr lang="en-US" altLang="ko-KR" dirty="0"/>
              <a:t>(</a:t>
            </a:r>
            <a:r>
              <a:rPr lang="ko-KR" altLang="en-US" dirty="0"/>
              <a:t>탈퇴</a:t>
            </a:r>
            <a:r>
              <a:rPr lang="en-US" altLang="ko-KR" dirty="0"/>
              <a:t>)</a:t>
            </a:r>
            <a:r>
              <a:rPr lang="ko-KR" altLang="en-US" dirty="0"/>
              <a:t>해 주시기 바랍니다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4428555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5952149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cxnSp>
        <p:nvCxnSpPr>
          <p:cNvPr id="5" name="직선 화살표 연결선 4"/>
          <p:cNvCxnSpPr/>
          <p:nvPr/>
        </p:nvCxnSpPr>
        <p:spPr>
          <a:xfrm>
            <a:off x="3387426" y="2016004"/>
            <a:ext cx="33113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85" name="그룹 8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6" name="직사각형 8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상태 변경 버튼 위치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740395028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대상 사용자의 상태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수정 가능한 상태는 사용</a:t>
            </a:r>
            <a:r>
              <a:rPr lang="en-US" altLang="ko-KR" dirty="0"/>
              <a:t>, </a:t>
            </a:r>
            <a:r>
              <a:rPr lang="ko-KR" altLang="en-US" dirty="0"/>
              <a:t>탈퇴</a:t>
            </a:r>
            <a:r>
              <a:rPr lang="en-US" altLang="ko-KR" dirty="0"/>
              <a:t>, </a:t>
            </a:r>
            <a:r>
              <a:rPr lang="ko-KR" altLang="en-US" dirty="0"/>
              <a:t>사용중지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미승인</a:t>
            </a:r>
            <a:r>
              <a:rPr lang="ko-KR" altLang="en-US" dirty="0"/>
              <a:t> 상태로 변경 불가하여 선택지에서는 표시하지 않음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저장 시 목록에 즉시 반영</a:t>
            </a:r>
            <a:r>
              <a:rPr lang="en-US" altLang="ko-KR" dirty="0"/>
              <a:t>, </a:t>
            </a:r>
            <a:r>
              <a:rPr lang="ko-KR" altLang="en-US" dirty="0"/>
              <a:t>팝업 닫기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상태변경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151347"/>
            <a:ext cx="2712027" cy="208019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18797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322390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0306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사용자 상태 변경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44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496068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28998"/>
            <a:ext cx="67077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상태</a:t>
            </a:r>
            <a:endParaRPr lang="en-US" altLang="ko-KR" sz="8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9821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3143548" y="5059357"/>
            <a:ext cx="94010" cy="47005"/>
            <a:chOff x="6812560" y="3297172"/>
            <a:chExt cx="94010" cy="47005"/>
          </a:xfrm>
        </p:grpSpPr>
        <p:cxnSp>
          <p:nvCxnSpPr>
            <p:cNvPr id="74" name="직선 연결선 7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5" name="직선 연결선 7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78" name="모서리가 둥근 직사각형 77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81" name="모서리가 둥근 직사각형 80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38956224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034855"/>
              </p:ext>
            </p:extLst>
          </p:nvPr>
        </p:nvGraphicFramePr>
        <p:xfrm>
          <a:off x="453000" y="1051789"/>
          <a:ext cx="8994883" cy="2232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usngSecd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사용중지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 및 대표자가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재사용가능하게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변경가능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), M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후 대표자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전자조달 사용가능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T : FAX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개인탈퇴의사표시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조회불가 및 영구미사용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70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상태가 탈퇴일 때 탈퇴사유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5558" y="3541271"/>
            <a:ext cx="34053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351684"/>
              </p:ext>
            </p:extLst>
          </p:nvPr>
        </p:nvGraphicFramePr>
        <p:xfrm>
          <a:off x="455558" y="375495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612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75071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0235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119084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211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690014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96372"/>
              </p:ext>
            </p:extLst>
          </p:nvPr>
        </p:nvGraphicFramePr>
        <p:xfrm>
          <a:off x="455204" y="896006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scwin.btn_userSrch_onclick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업체 사용자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업체 사용자 목록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scwin.grd_userList_oncellclick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업체 사용자 상세정보가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623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상태저장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scwin.btn_sttsStrg_onclick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상태가 변경된다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87051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561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5638786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ko-KR" altLang="en-US" dirty="0"/>
              <a:t> 하단 내용 확인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수신정보</a:t>
            </a:r>
            <a:r>
              <a:rPr lang="ko-KR" altLang="en-US" dirty="0"/>
              <a:t> 표시 </a:t>
            </a:r>
            <a:r>
              <a:rPr lang="en-US" altLang="ko-KR" dirty="0"/>
              <a:t>(</a:t>
            </a:r>
            <a:r>
              <a:rPr lang="ko-KR" altLang="en-US" dirty="0"/>
              <a:t>개인정보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회원정보 상세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/>
              <a:t>MUI-CM-02-M03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수단 설정</a:t>
            </a:r>
            <a:r>
              <a:rPr lang="en-US" altLang="ko-KR" dirty="0"/>
              <a:t>, </a:t>
            </a:r>
            <a:r>
              <a:rPr lang="ko-KR" altLang="en-US" dirty="0"/>
              <a:t>알림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설정 </a:t>
            </a:r>
            <a:r>
              <a:rPr lang="en-US" altLang="ko-KR" dirty="0"/>
              <a:t>ON/OFF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r>
              <a:rPr lang="ko-KR" altLang="en-US" dirty="0"/>
              <a:t>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5744634"/>
            <a:ext cx="2527419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저장</a:t>
            </a:r>
            <a:endParaRPr kumimoji="1" lang="en-US" altLang="ko-KR" sz="1000" kern="0" dirty="0">
              <a:solidFill>
                <a:srgbClr val="0070C0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알림 서비스 신청 및 해지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6" name="타원 6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804476" y="244489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휴대전화번호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이메일</a:t>
            </a:r>
            <a:endParaRPr lang="en-US" altLang="ko-KR" sz="800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2160882" y="2468682"/>
            <a:ext cx="1128834" cy="4378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/>
              <a:t>010-****-1234</a:t>
            </a:r>
          </a:p>
          <a:p>
            <a:pPr algn="r">
              <a:lnSpc>
                <a:spcPct val="150000"/>
              </a:lnSpc>
            </a:pPr>
            <a:r>
              <a:rPr lang="en-US" altLang="ko-KR" sz="800" dirty="0"/>
              <a:t>user****@naver.com</a:t>
            </a:r>
          </a:p>
        </p:txBody>
      </p:sp>
      <p:sp>
        <p:nvSpPr>
          <p:cNvPr id="9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32224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개인정보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569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742894"/>
            <a:ext cx="218544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수신을 원하는 문자메시지 서비스에 체크하여 주시기 바랍니다</a:t>
            </a:r>
            <a:r>
              <a:rPr lang="en-US" altLang="ko-KR" dirty="0"/>
              <a:t>.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본 서비스는 단순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업무상 주요 부분은 국방전자조달시스템에서 직접 확인하시기 바랍니다</a:t>
            </a:r>
            <a:r>
              <a:rPr lang="en-US" altLang="ko-KR" dirty="0"/>
              <a:t>.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070963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수단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33899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467628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04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3400546"/>
            <a:ext cx="301752" cy="137160"/>
            <a:chOff x="840582" y="1601197"/>
            <a:chExt cx="301752" cy="137160"/>
          </a:xfrm>
        </p:grpSpPr>
        <p:sp>
          <p:nvSpPr>
            <p:cNvPr id="105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783686" y="2338852"/>
            <a:ext cx="5950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수신정보</a:t>
            </a:r>
            <a:endParaRPr lang="en-US" altLang="ko-KR" sz="800" b="1" dirty="0">
              <a:latin typeface="+mn-ea"/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974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850847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11887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입찰 단계별 안내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26493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적격심사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낙찰자 선정 등 전자입찰 단계별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주용사항을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12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180430"/>
            <a:ext cx="301752" cy="137160"/>
            <a:chOff x="840582" y="1601197"/>
            <a:chExt cx="301752" cy="137160"/>
          </a:xfrm>
        </p:grpSpPr>
        <p:sp>
          <p:nvSpPr>
            <p:cNvPr id="113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581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등록품목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727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조달업체의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등재 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품목코드의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1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642757"/>
            <a:ext cx="301752" cy="137160"/>
            <a:chOff x="840582" y="1601197"/>
            <a:chExt cx="301752" cy="137160"/>
          </a:xfrm>
        </p:grpSpPr>
        <p:sp>
          <p:nvSpPr>
            <p:cNvPr id="11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03804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관심 </a:t>
            </a:r>
            <a:r>
              <a:rPr lang="ko-KR" altLang="en-US" sz="800" dirty="0" err="1">
                <a:latin typeface="+mn-ea"/>
              </a:rPr>
              <a:t>계약팀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18410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관심 발주기관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에서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팝업에서 선택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3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5099600"/>
            <a:ext cx="301752" cy="137160"/>
            <a:chOff x="840582" y="1601197"/>
            <a:chExt cx="301752" cy="137160"/>
          </a:xfrm>
        </p:grpSpPr>
        <p:sp>
          <p:nvSpPr>
            <p:cNvPr id="124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50653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전자계약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계약단계</a:t>
            </a:r>
            <a:r>
              <a:rPr lang="ko-KR" altLang="en-US" sz="800" dirty="0">
                <a:latin typeface="+mn-ea"/>
              </a:rPr>
              <a:t> 안내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65259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전자계약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단계별 진행상황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전자세금계산서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승인현황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인지세납부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2921585" y="5568090"/>
            <a:ext cx="301752" cy="137160"/>
            <a:chOff x="840582" y="1350472"/>
            <a:chExt cx="301752" cy="137160"/>
          </a:xfrm>
        </p:grpSpPr>
        <p:sp>
          <p:nvSpPr>
            <p:cNvPr id="13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506535"/>
            <a:ext cx="2185443" cy="1664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 sz="1000" dirty="0" err="1"/>
              <a:t>업무도움</a:t>
            </a:r>
            <a:r>
              <a:rPr lang="ko-KR" altLang="en-US" sz="1000" dirty="0"/>
              <a:t> 내용</a:t>
            </a:r>
            <a:endParaRPr lang="en-US" altLang="ko-KR" sz="100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62171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 안내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76776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출납 항목이 확정 또는 반려되었을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1683267"/>
            <a:ext cx="301752" cy="137160"/>
            <a:chOff x="840582" y="1601197"/>
            <a:chExt cx="301752" cy="137160"/>
          </a:xfrm>
        </p:grpSpPr>
        <p:sp>
          <p:nvSpPr>
            <p:cNvPr id="13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090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지급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ko-KR" altLang="en-US" sz="800" dirty="0">
                <a:latin typeface="+mn-ea"/>
              </a:rPr>
              <a:t> 및 지급 안내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236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대금청구의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반려와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대금지급에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대해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2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151757"/>
            <a:ext cx="301752" cy="137160"/>
            <a:chOff x="840582" y="1350472"/>
            <a:chExt cx="301752" cy="137160"/>
          </a:xfrm>
        </p:grpSpPr>
        <p:sp>
          <p:nvSpPr>
            <p:cNvPr id="143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56413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납품실적증명서 발급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710186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납품실적증명서 발급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4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2625686"/>
            <a:ext cx="301752" cy="137160"/>
            <a:chOff x="840582" y="1601197"/>
            <a:chExt cx="301752" cy="137160"/>
          </a:xfrm>
        </p:grpSpPr>
        <p:sp>
          <p:nvSpPr>
            <p:cNvPr id="14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936060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품목등재</a:t>
            </a:r>
            <a:r>
              <a:rPr lang="ko-KR" altLang="en-US" sz="800" dirty="0">
                <a:latin typeface="+mn-ea"/>
              </a:rPr>
              <a:t> 신청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확정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갱신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082115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품목등록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관련 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5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997615"/>
            <a:ext cx="301752" cy="137160"/>
            <a:chOff x="840582" y="1350472"/>
            <a:chExt cx="301752" cy="137160"/>
          </a:xfrm>
        </p:grpSpPr>
        <p:sp>
          <p:nvSpPr>
            <p:cNvPr id="15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375434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나토 </a:t>
            </a:r>
            <a:r>
              <a:rPr lang="ko-KR" altLang="en-US" sz="800" dirty="0" err="1">
                <a:latin typeface="+mn-ea"/>
              </a:rPr>
              <a:t>생산자부호</a:t>
            </a:r>
            <a:r>
              <a:rPr lang="ko-KR" altLang="en-US" sz="800" dirty="0">
                <a:latin typeface="+mn-ea"/>
              </a:rPr>
              <a:t> 접수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완료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521489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나토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생산자부호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 시 등록된 전화번호로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6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436989"/>
            <a:ext cx="301752" cy="137160"/>
            <a:chOff x="840582" y="1350472"/>
            <a:chExt cx="301752" cy="137160"/>
          </a:xfrm>
        </p:grpSpPr>
        <p:sp>
          <p:nvSpPr>
            <p:cNvPr id="165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84472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9077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906278"/>
            <a:ext cx="301752" cy="137160"/>
            <a:chOff x="840582" y="1350472"/>
            <a:chExt cx="301752" cy="137160"/>
          </a:xfrm>
        </p:grpSpPr>
        <p:sp>
          <p:nvSpPr>
            <p:cNvPr id="17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313986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장애발생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복구 안내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460041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장애발생 및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복구사항을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375541"/>
            <a:ext cx="301752" cy="137160"/>
            <a:chOff x="840582" y="1350472"/>
            <a:chExt cx="301752" cy="137160"/>
          </a:xfrm>
        </p:grpSpPr>
        <p:sp>
          <p:nvSpPr>
            <p:cNvPr id="17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79069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93674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국방통합원가시스템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852248"/>
            <a:ext cx="301752" cy="137160"/>
            <a:chOff x="840582" y="1350472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타원 1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37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41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58192063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37094"/>
            <a:ext cx="268880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알림서비스신청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dl_notiSrvcList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959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srvcFld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NSMS_IDEN’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srvcExpln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999" y="241699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840451"/>
              </p:ext>
            </p:extLst>
          </p:nvPr>
        </p:nvGraphicFramePr>
        <p:xfrm>
          <a:off x="422425" y="2665093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scwin.btn_phoneNumChgMdfcn_onclick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상세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받을 서비스를 선택 후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9464746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B7AE143-4F02-387D-D43D-9D4379515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52880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5D0FC77-43D8-6A54-39F8-E8491B20C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0715359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 탈퇴는 </a:t>
            </a:r>
            <a:r>
              <a:rPr lang="ko-KR" altLang="en-US" dirty="0" err="1"/>
              <a:t>여러줄</a:t>
            </a:r>
            <a:r>
              <a:rPr lang="ko-KR" altLang="en-US" dirty="0"/>
              <a:t>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필요 시 확장하여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최대 </a:t>
            </a:r>
            <a:r>
              <a:rPr lang="en-US" altLang="ko-KR" dirty="0"/>
              <a:t>5</a:t>
            </a:r>
            <a:r>
              <a:rPr lang="ko-KR" altLang="en-US" dirty="0"/>
              <a:t>줄</a:t>
            </a:r>
            <a:r>
              <a:rPr lang="en-US" altLang="ko-KR" dirty="0"/>
              <a:t>, </a:t>
            </a:r>
            <a:r>
              <a:rPr lang="ko-KR" altLang="en-US" dirty="0"/>
              <a:t>이후 내부 스크롤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회원탈퇴 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회원탈퇴 확인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회원 탈퇴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메인으로</a:t>
            </a:r>
            <a:r>
              <a:rPr lang="ko-KR" altLang="en-US" dirty="0"/>
              <a:t>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회원탈퇴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회원탈퇴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2678353"/>
            <a:ext cx="2712027" cy="355318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27149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28493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8300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회원탈퇴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914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804476" y="4099049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Test1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18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</a:t>
            </a:r>
            <a:r>
              <a:rPr lang="en-US" altLang="ko-KR" sz="800" dirty="0">
                <a:latin typeface="+mn-ea"/>
              </a:rPr>
              <a:t>ID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회원탈퇴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705041" y="3147767"/>
            <a:ext cx="2652743" cy="626069"/>
            <a:chOff x="734683" y="4769160"/>
            <a:chExt cx="2652743" cy="62606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34683" y="4769160"/>
              <a:ext cx="2652743" cy="626069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주의사항</a:t>
              </a:r>
              <a:endParaRPr lang="en-US" altLang="ko-KR" sz="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회원정보가 삭제됩니다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되돌릴 수 없으며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재가입 하셔야 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1" name="타원 4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모서리가 둥근 직사각형 44"/>
          <p:cNvSpPr/>
          <p:nvPr/>
        </p:nvSpPr>
        <p:spPr>
          <a:xfrm>
            <a:off x="804476" y="5224296"/>
            <a:ext cx="2485240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67102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탈퇴 사유 작성</a:t>
            </a:r>
            <a:r>
              <a:rPr lang="ko-KR" altLang="en-US" sz="800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0202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804476" y="4683900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526706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사용자명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3955360" y="3262742"/>
            <a:ext cx="2579992" cy="1200743"/>
            <a:chOff x="713510" y="2317399"/>
            <a:chExt cx="2579992" cy="120074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C0000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회원탈퇴 확인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회원 탈퇴는 되돌릴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회원탈퇴를 할까요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52333" y="3130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05384094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65816"/>
              </p:ext>
            </p:extLst>
          </p:nvPr>
        </p:nvGraphicFramePr>
        <p:xfrm>
          <a:off x="453000" y="105178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564637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94642"/>
              </p:ext>
            </p:extLst>
          </p:nvPr>
        </p:nvGraphicFramePr>
        <p:xfrm>
          <a:off x="455204" y="2770629"/>
          <a:ext cx="8995591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회원탈퇴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 확인 팝업을 표시한다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회원탈퇴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UserWhdwlIdnty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회원탈퇴를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75491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651184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7674844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4284901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9238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방위사업청공지사항상세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D2b_NoticeDtlPage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12182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Dmdfrc_NoticeListPage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Dmdfrc_NoticeListPage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37020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Dmdfrc_NoticeDtlPage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17471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RpstrList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06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0849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0914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3490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617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514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9212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9403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자주묻는질문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및 답변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75279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0494414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419990"/>
              </p:ext>
            </p:extLst>
          </p:nvPr>
        </p:nvGraphicFramePr>
        <p:xfrm>
          <a:off x="635474" y="1413419"/>
          <a:ext cx="8701200" cy="5155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MUI-CM-04-M04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민원서류발급신청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민원서류발급신청 서브 메인 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3076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신청절차및안내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9678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2042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MUI-CM-04-P33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 목록의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2837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실적증명서확인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3933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상세 화면의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계약정보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0559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D2b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44376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17881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PrfmncPrdocDtl_UnitC.tsx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76882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PrfmncPrdocDtl_UnitD.tsx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605407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PrfmncPrdocDtl_UnitE.tsx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1597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PrfmncPrdocDtl_UnitF.tsx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4298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PrfmncPrdocDtl_UnitG.tsx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980613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2026-07-16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민원서류발급신청 서브 메인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84203072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(3/4)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3301379"/>
              </p:ext>
            </p:extLst>
          </p:nvPr>
        </p:nvGraphicFramePr>
        <p:xfrm>
          <a:off x="635474" y="1413419"/>
          <a:ext cx="8701200" cy="3891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PrfmncPrdocDtl_UnitH.tsx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89813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PrfmncPrdocDtl_UnitI.tsx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242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AplyInfo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94369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실적증명서제출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PrfmncPrdocSbmsn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온라인 제출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75975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계약정보선택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발급할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85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발급할 계약 목록에서 계약을 검색할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34202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신청정보입력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926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계약건에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맞는 실적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분기 화면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92098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23809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58999323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(4/4)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3948814"/>
              </p:ext>
            </p:extLst>
          </p:nvPr>
        </p:nvGraphicFramePr>
        <p:xfrm>
          <a:off x="635474" y="1413419"/>
          <a:ext cx="8701200" cy="5083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7219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9511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050989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48476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38567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8370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계약건에 맞는 실적 정보 입력 분기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4757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607414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국외조달원등록증신청목록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9455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국외조달원등록증신청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1773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조달업체선택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06186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법령정보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정보 목록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7701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858979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목록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91585" y="152904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상세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403476" y="1938391"/>
            <a:ext cx="410369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자료실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실적증명서신청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실적증명서확인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451013" y="303886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480010" y="284820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512469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신청</a:t>
            </a:r>
          </a:p>
        </p:txBody>
      </p: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65" idx="1"/>
          </p:cNvCxnSpPr>
          <p:nvPr/>
        </p:nvCxnSpPr>
        <p:spPr>
          <a:xfrm>
            <a:off x="3266608" y="2938208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2115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자주묻는</a:t>
            </a:r>
            <a:r>
              <a:rPr lang="ko-KR" altLang="en-US" sz="800" dirty="0">
                <a:solidFill>
                  <a:schemeClr val="tx1"/>
                </a:solidFill>
              </a:rPr>
              <a:t> 질문 목록</a:t>
            </a: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민원서류발급신청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신청절자</a:t>
            </a:r>
            <a:r>
              <a:rPr lang="ko-KR" altLang="en-US" sz="800" dirty="0">
                <a:solidFill>
                  <a:schemeClr val="tx1"/>
                </a:solidFill>
              </a:rPr>
              <a:t> 및 안내</a:t>
            </a: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5" idx="3"/>
            <a:endCxn id="98" idx="1"/>
          </p:cNvCxnSpPr>
          <p:nvPr/>
        </p:nvCxnSpPr>
        <p:spPr>
          <a:xfrm>
            <a:off x="5097742" y="3520830"/>
            <a:ext cx="933897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57" idx="1"/>
          </p:cNvCxnSpPr>
          <p:nvPr/>
        </p:nvCxnSpPr>
        <p:spPr>
          <a:xfrm>
            <a:off x="1435474" y="1772964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60" idx="1"/>
          </p:cNvCxnSpPr>
          <p:nvPr/>
        </p:nvCxnSpPr>
        <p:spPr>
          <a:xfrm>
            <a:off x="1435474" y="1772964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7073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목록</a:t>
            </a: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75" idx="1"/>
          </p:cNvCxnSpPr>
          <p:nvPr/>
        </p:nvCxnSpPr>
        <p:spPr>
          <a:xfrm>
            <a:off x="1435474" y="1772964"/>
            <a:ext cx="931134" cy="407835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731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상세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외부링크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80" idx="1"/>
          </p:cNvCxnSpPr>
          <p:nvPr/>
        </p:nvCxnSpPr>
        <p:spPr>
          <a:xfrm>
            <a:off x="3266608" y="585131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0" idx="3"/>
            <a:endCxn id="62" idx="1"/>
          </p:cNvCxnSpPr>
          <p:nvPr/>
        </p:nvCxnSpPr>
        <p:spPr>
          <a:xfrm>
            <a:off x="3266608" y="293820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00505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목록</a:t>
            </a:r>
          </a:p>
        </p:txBody>
      </p: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3" idx="1"/>
          </p:cNvCxnSpPr>
          <p:nvPr/>
        </p:nvCxnSpPr>
        <p:spPr>
          <a:xfrm>
            <a:off x="3266608" y="2938208"/>
            <a:ext cx="933897" cy="1747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2" idx="3"/>
            <a:endCxn id="104" idx="2"/>
          </p:cNvCxnSpPr>
          <p:nvPr/>
        </p:nvCxnSpPr>
        <p:spPr>
          <a:xfrm>
            <a:off x="5097742" y="2938208"/>
            <a:ext cx="438226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04" idx="2"/>
          </p:cNvCxnSpPr>
          <p:nvPr/>
        </p:nvCxnSpPr>
        <p:spPr>
          <a:xfrm>
            <a:off x="5097742" y="1772964"/>
            <a:ext cx="4382268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04" idx="2"/>
          </p:cNvCxnSpPr>
          <p:nvPr/>
        </p:nvCxnSpPr>
        <p:spPr>
          <a:xfrm>
            <a:off x="3266608" y="2355586"/>
            <a:ext cx="6213402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7" idx="3"/>
            <a:endCxn id="104" idx="2"/>
          </p:cNvCxnSpPr>
          <p:nvPr/>
        </p:nvCxnSpPr>
        <p:spPr>
          <a:xfrm flipV="1">
            <a:off x="8762773" y="2938208"/>
            <a:ext cx="717237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8" idx="3"/>
            <a:endCxn id="104" idx="2"/>
          </p:cNvCxnSpPr>
          <p:nvPr/>
        </p:nvCxnSpPr>
        <p:spPr>
          <a:xfrm flipV="1">
            <a:off x="8762773" y="2938208"/>
            <a:ext cx="717237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1" idx="3"/>
            <a:endCxn id="104" idx="2"/>
          </p:cNvCxnSpPr>
          <p:nvPr/>
        </p:nvCxnSpPr>
        <p:spPr>
          <a:xfrm flipV="1">
            <a:off x="6931639" y="2938208"/>
            <a:ext cx="2548371" cy="2330488"/>
          </a:xfrm>
          <a:prstGeom prst="bentConnector3">
            <a:avLst>
              <a:gd name="adj1" fmla="val 8554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04" idx="2"/>
          </p:cNvCxnSpPr>
          <p:nvPr/>
        </p:nvCxnSpPr>
        <p:spPr>
          <a:xfrm flipV="1">
            <a:off x="5097742" y="2938208"/>
            <a:ext cx="4382268" cy="2913109"/>
          </a:xfrm>
          <a:prstGeom prst="bentConnector3">
            <a:avLst>
              <a:gd name="adj1" fmla="val 9133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2773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검색</a:t>
            </a: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2773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실적증명서제출</a:t>
            </a: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47" idx="1"/>
          </p:cNvCxnSpPr>
          <p:nvPr/>
        </p:nvCxnSpPr>
        <p:spPr>
          <a:xfrm>
            <a:off x="6928876" y="3520830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48" idx="1"/>
          </p:cNvCxnSpPr>
          <p:nvPr/>
        </p:nvCxnSpPr>
        <p:spPr>
          <a:xfrm>
            <a:off x="6931639" y="410345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151" idx="1"/>
          </p:cNvCxnSpPr>
          <p:nvPr/>
        </p:nvCxnSpPr>
        <p:spPr>
          <a:xfrm>
            <a:off x="3266608" y="2938208"/>
            <a:ext cx="2765031" cy="2330488"/>
          </a:xfrm>
          <a:prstGeom prst="bentConnector3">
            <a:avLst>
              <a:gd name="adj1" fmla="val 1693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51" idx="1"/>
          </p:cNvCxnSpPr>
          <p:nvPr/>
        </p:nvCxnSpPr>
        <p:spPr>
          <a:xfrm>
            <a:off x="5100505" y="4686074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실적증명서신청목록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5" idx="3"/>
            <a:endCxn id="91" idx="1"/>
          </p:cNvCxnSpPr>
          <p:nvPr/>
        </p:nvCxnSpPr>
        <p:spPr>
          <a:xfrm>
            <a:off x="5097742" y="352083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2889685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방위사업청공지사항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D2b_NoticeListPage</a:t>
            </a:r>
            <a:r>
              <a:rPr lang="en-US" altLang="ko-KR" sz="700" dirty="0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 공지사항 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NoticeController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방위사업청공지사항상세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D2b_NoticeDtlPage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일반자료실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rpstrList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일반자료실상세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81448" y="5443501"/>
            <a:ext cx="1353773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계약관련서식자료실상세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시스템개선안내상세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790655" y="3810190"/>
            <a:ext cx="1033036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43881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자료실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RpstrController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자주묻는질문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FaqController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계약관련서식자료실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시스템개선안내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자주묻는질문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FaqListPage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9408263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신청절차및안내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검색필터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실적증명서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PrfmncPrdocPage_SrchFilter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실적증명서확인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>
                <a:solidFill>
                  <a:schemeClr val="tx1"/>
                </a:solidFill>
              </a:rPr>
              <a:t>상세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계약정보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PrfmncPrdocDtl_D2b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PrfmncPrdocDtl_UnitB.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PrfmncPrdocDtl_UnitD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855704" y="3810190"/>
            <a:ext cx="967987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PrfmncPrdocDtl_UnitF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PrfmncPrdocDtl_UnitH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PrfmncPrdocDtl_AplyInfo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7660632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실적증명서제출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PrfmncPrdocSbmsn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계약정보선택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CtrtInfoChc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계약정보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신청정보입력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PrfmncPrdocReg_AplyInpt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PrfmncPrdocReg_PrfmncInpt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PrfmncPrdocReg_D2b.</a:t>
            </a:r>
            <a:r>
              <a:rPr lang="en-US" altLang="ko-KR" sz="1000" dirty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PrfmncPrdocReg_UnitB.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H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0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PrfmncPrdocReg_UnitF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endCxn id="9" idx="1"/>
          </p:cNvCxnSpPr>
          <p:nvPr/>
        </p:nvCxnSpPr>
        <p:spPr>
          <a:xfrm flipV="1">
            <a:off x="2992582" y="2990174"/>
            <a:ext cx="967509" cy="307970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3661136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국외조달원등록증신청목록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국외조달원등록증신청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조달업체선택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ovsSosCnfdocChc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법령정보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SttInfoListPage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 smtClean="0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/>
              <a:t>법령정보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SttInfoController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242345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게시판 제목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게시판별</a:t>
            </a:r>
            <a:r>
              <a:rPr lang="ko-KR" altLang="en-US" dirty="0" smtClean="0"/>
              <a:t> 제목과 화면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일반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MUI-CM-04-M01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방위사업청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MUI-CM-04-M21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수요부대별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MUI-CM-04-M23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자료실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>
                <a:latin typeface="+mn-ea"/>
              </a:rPr>
              <a:t>일반 </a:t>
            </a:r>
            <a:r>
              <a:rPr lang="ko-KR" altLang="en-US" dirty="0" smtClean="0">
                <a:latin typeface="+mn-ea"/>
              </a:rPr>
              <a:t>자료실 </a:t>
            </a:r>
            <a:r>
              <a:rPr lang="en-US" altLang="ko-KR" dirty="0">
                <a:latin typeface="+mn-ea"/>
              </a:rPr>
              <a:t>MUI-CM-04-M25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수요부대별자료실 </a:t>
            </a:r>
            <a:r>
              <a:rPr lang="en-US" altLang="ko-KR" dirty="0">
                <a:latin typeface="+mn-ea"/>
              </a:rPr>
              <a:t>MUI-CM-04-M27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계약관련서식자료실 </a:t>
            </a:r>
            <a:r>
              <a:rPr lang="en-US" altLang="ko-KR" dirty="0">
                <a:latin typeface="+mn-ea"/>
              </a:rPr>
              <a:t>MUI-CM-04-M29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시스템개선안내 </a:t>
            </a:r>
            <a:r>
              <a:rPr lang="en-US" altLang="ko-KR" dirty="0" smtClean="0">
                <a:latin typeface="+mn-ea"/>
              </a:rPr>
              <a:t>MUI-CM-04-M31</a:t>
            </a:r>
            <a:br>
              <a:rPr lang="en-US" altLang="ko-KR" dirty="0" smtClean="0">
                <a:latin typeface="+mn-ea"/>
              </a:rPr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내용이 없을 때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업무도움</a:t>
            </a:r>
            <a:r>
              <a:rPr lang="ko-KR" altLang="en-US" dirty="0">
                <a:solidFill>
                  <a:srgbClr val="FF0000"/>
                </a:solidFill>
              </a:rPr>
              <a:t> </a:t>
            </a:r>
            <a:r>
              <a:rPr lang="ko-KR" altLang="en-US" dirty="0" err="1">
                <a:solidFill>
                  <a:srgbClr val="FF0000"/>
                </a:solidFill>
              </a:rPr>
              <a:t>미표시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 smtClean="0"/>
              <a:t>제목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긴급 상태</a:t>
            </a:r>
            <a:r>
              <a:rPr lang="en-US" altLang="ko-KR" dirty="0"/>
              <a:t>, </a:t>
            </a:r>
            <a:r>
              <a:rPr lang="ko-KR" altLang="en-US" dirty="0"/>
              <a:t>구분</a:t>
            </a:r>
            <a:r>
              <a:rPr lang="en-US" altLang="ko-KR" dirty="0"/>
              <a:t>, </a:t>
            </a:r>
            <a:r>
              <a:rPr lang="ko-KR" altLang="en-US" dirty="0"/>
              <a:t>첨부파일 유무에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고정 게시물 상단 고정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MUI-CM-04-M01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9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781461" y="3301466"/>
            <a:ext cx="2473257" cy="960061"/>
            <a:chOff x="781461" y="2610063"/>
            <a:chExt cx="2473257" cy="960061"/>
          </a:xfrm>
        </p:grpSpPr>
        <p:sp>
          <p:nvSpPr>
            <p:cNvPr id="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rgbClr val="FF0000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rgbClr val="FF0000"/>
                  </a:solidFill>
                </a:rPr>
                <a:t>긴급</a:t>
              </a:r>
              <a:endParaRPr lang="ko-KR" altLang="en-US" sz="600" dirty="0">
                <a:solidFill>
                  <a:srgbClr val="FF0000"/>
                </a:solidFill>
              </a:endParaRPr>
            </a:p>
          </p:txBody>
        </p:sp>
        <p:sp>
          <p:nvSpPr>
            <p:cNvPr id="93" name="모서리가 둥근 직사각형 92"/>
            <p:cNvSpPr/>
            <p:nvPr/>
          </p:nvSpPr>
          <p:spPr>
            <a:xfrm>
              <a:off x="1075985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첨부</a:t>
              </a: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033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466878" y="624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21034" y="592954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54" name="모서리가 둥근 직사각형 53"/>
          <p:cNvSpPr/>
          <p:nvPr/>
        </p:nvSpPr>
        <p:spPr>
          <a:xfrm>
            <a:off x="8423455" y="6107783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rgbClr val="FF0000"/>
                </a:solidFill>
              </a:rPr>
              <a:t>긴급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113622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63" name="그룹 62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66" name="그룹 65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타원 6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72" name="타원 7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74" name="직선 연결선 7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직선 연결선 7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60916" y="2274581"/>
            <a:ext cx="615387" cy="155984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내용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8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270279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8423455" y="6291860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첨부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29769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첨부파일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18" name="직선 연결선 1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9" name="직선 연결선 1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1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0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1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1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1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2" name="그림 11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3795734" y="3982653"/>
            <a:ext cx="2712027" cy="505089"/>
            <a:chOff x="3795734" y="4353857"/>
            <a:chExt cx="2712027" cy="50508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7" name="모서리가 둥근 직사각형 126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5" name="그룹 134"/>
          <p:cNvGrpSpPr/>
          <p:nvPr/>
        </p:nvGrpSpPr>
        <p:grpSpPr>
          <a:xfrm>
            <a:off x="3903622" y="2893083"/>
            <a:ext cx="2516607" cy="962554"/>
            <a:chOff x="778515" y="4388257"/>
            <a:chExt cx="2516607" cy="962554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8" name="모서리가 둥근 직사각형 137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제목을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1449284" y="4911422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내용을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898091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모서리가 둥근 직사각형 143"/>
            <p:cNvSpPr/>
            <p:nvPr/>
          </p:nvSpPr>
          <p:spPr>
            <a:xfrm>
              <a:off x="1449284" y="5163611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작성자를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5150280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작성자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81461" y="4496072"/>
            <a:ext cx="2473257" cy="775730"/>
            <a:chOff x="781461" y="2794394"/>
            <a:chExt cx="2473257" cy="775730"/>
          </a:xfrm>
        </p:grpSpPr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14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5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23247179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7862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226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61080"/>
            <a:ext cx="1739826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91237"/>
            <a:ext cx="2643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7725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59880"/>
            <a:ext cx="26647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02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790021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582286"/>
              </p:ext>
            </p:extLst>
          </p:nvPr>
        </p:nvGraphicFramePr>
        <p:xfrm>
          <a:off x="455204" y="5117006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참조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56360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108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966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BAA8C08-5016-C79A-863D-E64DA69FF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829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199A64B-B24C-1023-3D68-79D630B45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8242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816926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93844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15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408322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317824"/>
              </p:ext>
            </p:extLst>
          </p:nvPr>
        </p:nvGraphicFramePr>
        <p:xfrm>
          <a:off x="452999" y="5126719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UI-CM-04-M06 </a:t>
                      </a:r>
                      <a:r>
                        <a:rPr lang="ko-KR" altLang="en-US" sz="700" dirty="0"/>
                        <a:t>참조</a:t>
                      </a:r>
                      <a:endParaRPr lang="en-US" altLang="ko-KR" sz="7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9766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7851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4821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9C0B345-5E63-11C0-48DC-C656AFA8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9995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33D4DE3-F911-78F2-10FE-A62911F36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4199084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85299"/>
            <a:ext cx="30029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8206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2999" y="2361869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9650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67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688252"/>
              </p:ext>
            </p:extLst>
          </p:nvPr>
        </p:nvGraphicFramePr>
        <p:xfrm>
          <a:off x="453000" y="5122562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scwin.onpageload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894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5244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9541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3E69730-F912-80BF-AFBC-7B3EDB49E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9535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BCAF160D-5373-A7C1-903A-743FE322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258097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62441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7" y="452472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24473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13380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969614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5859305"/>
              </p:ext>
            </p:extLst>
          </p:nvPr>
        </p:nvGraphicFramePr>
        <p:xfrm>
          <a:off x="453000" y="4802860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5141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2076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0846136-7F2D-81A6-A241-F14986892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16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A3B3B5-2CBC-AA8F-2EC1-0AA49771634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BB55024-1BA7-9735-B079-6CF7208C64B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68D08FD-FECB-107D-6044-66A77FB6C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559936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0913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6" y="47039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95727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5559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47410"/>
              </p:ext>
            </p:extLst>
          </p:nvPr>
        </p:nvGraphicFramePr>
        <p:xfrm>
          <a:off x="452999" y="498209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UI-CM-04-M18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693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no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651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E07F60-1198-562C-BA09-023EF44C0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8549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A57D6A6-8272-5F70-29BF-68B8E46EC12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1858C29-5B48-9FAF-06BC-D55A9F54671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98645F1-9DDE-F296-834B-85F5E47FA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158677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 서식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928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507602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512867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60240"/>
              </p:ext>
            </p:extLst>
          </p:nvPr>
        </p:nvGraphicFramePr>
        <p:xfrm>
          <a:off x="453000" y="4707856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991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4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8D20C417-5A56-81AC-2847-631C94EE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7473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C36601D-D2A4-3814-8239-B46BF340B17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FCC17A70-90BB-3652-DDCB-BE850EBB396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26B8685-FC02-9CA0-9EB5-7B3C5330D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0065645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88089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5413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8" y="45744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77914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7825938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026901"/>
              </p:ext>
            </p:extLst>
          </p:nvPr>
        </p:nvGraphicFramePr>
        <p:xfrm>
          <a:off x="453000" y="4814735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UI-CM-04-M26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70857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0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inqCnt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091AC8A-3330-AEAC-F7A9-4EB782249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75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A590530-954E-F8EA-7610-BF1A2C38747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E60D4A2-25E6-85F7-28C9-C0A74FCE6EE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3F3AA198-D955-4F5B-8500-EEF578B5B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4527164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제목 </a:t>
            </a:r>
            <a:r>
              <a:rPr lang="ko-KR" altLang="en-US" dirty="0" smtClean="0">
                <a:solidFill>
                  <a:prstClr val="black"/>
                </a:solidFill>
              </a:rPr>
              <a:t>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ko-KR" altLang="en-US" dirty="0" err="1"/>
              <a:t>게시판별</a:t>
            </a:r>
            <a:r>
              <a:rPr lang="ko-KR" altLang="en-US" dirty="0"/>
              <a:t> 제목과 화면 </a:t>
            </a:r>
            <a:r>
              <a:rPr lang="en-US" altLang="ko-KR" dirty="0"/>
              <a:t>ID </a:t>
            </a:r>
            <a:r>
              <a:rPr lang="ko-KR" altLang="en-US" dirty="0"/>
              <a:t>정보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공지사항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</a:rPr>
              <a:t>일반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MUI-CM-04-M02</a:t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방위사업청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MUI-CM-04-M22</a:t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수요부대별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 smtClean="0">
                <a:solidFill>
                  <a:prstClr val="black"/>
                </a:solidFill>
              </a:rPr>
              <a:t>MUI-CM-04-M24</a:t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자료실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일반 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MUI-CM-04-M26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수요부대별자료실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MUI-CM-04-M28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계약관련서식자료실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MUI-CM-04-M30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시스템개선안내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MUI-CM-04-M32</a:t>
            </a: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</a:t>
            </a:r>
            <a:r>
              <a:rPr lang="ko-KR" altLang="en-US" dirty="0" smtClean="0">
                <a:solidFill>
                  <a:prstClr val="black"/>
                </a:solidFill>
              </a:rPr>
              <a:t>제목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작성 정보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내용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첨부파일이 있는 경우 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err="1">
                <a:solidFill>
                  <a:prstClr val="black"/>
                </a:solidFill>
              </a:rPr>
              <a:t>이전글</a:t>
            </a:r>
            <a:r>
              <a:rPr lang="en-US" altLang="ko-KR" dirty="0">
                <a:solidFill>
                  <a:prstClr val="black"/>
                </a:solidFill>
              </a:rPr>
              <a:t>, </a:t>
            </a:r>
            <a:r>
              <a:rPr lang="ko-KR" altLang="en-US" dirty="0" err="1">
                <a:solidFill>
                  <a:prstClr val="black"/>
                </a:solidFill>
              </a:rPr>
              <a:t>다음글</a:t>
            </a:r>
            <a:r>
              <a:rPr lang="ko-KR" altLang="en-US" dirty="0">
                <a:solidFill>
                  <a:prstClr val="black"/>
                </a:solidFill>
              </a:rPr>
              <a:t>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목록 버튼은 </a:t>
            </a:r>
            <a:r>
              <a:rPr lang="ko-KR" altLang="en-US" dirty="0" err="1">
                <a:solidFill>
                  <a:prstClr val="black"/>
                </a:solidFill>
              </a:rPr>
              <a:t>미표시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상세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70713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제목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267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55145"/>
            <a:ext cx="2473940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900" dirty="0"/>
              <a:t>연초에 공개되는 조달계획에서  알림</a:t>
            </a:r>
            <a:r>
              <a:rPr lang="en-US" altLang="ko-KR" sz="900" dirty="0"/>
              <a:t> </a:t>
            </a:r>
            <a:r>
              <a:rPr lang="ko-KR" altLang="en-US" sz="900" dirty="0"/>
              <a:t>신청한 품목에 대한 입찰공고가 시스템에 게시되면 알려드리는 서비스입니다</a:t>
            </a:r>
            <a:r>
              <a:rPr lang="en-US" altLang="ko-KR" sz="900" dirty="0"/>
              <a:t>.</a:t>
            </a:r>
            <a:endParaRPr kumimoji="1" lang="en-US" altLang="ko-KR" sz="9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770830"/>
            <a:ext cx="649855" cy="5601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작성자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담당부서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구분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게시기간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4186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93370" y="2770830"/>
            <a:ext cx="18850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홍길동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총무부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공통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en-US" altLang="ko-KR" sz="800" dirty="0"/>
              <a:t>2025-03-20 ~ 2025-10-05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534966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내용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45577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719398"/>
            <a:ext cx="2473940" cy="6647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/>
              <a:t>게시판에 작성된 내용이 표시됩니다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err="1"/>
              <a:t>여러줄이</a:t>
            </a:r>
            <a:r>
              <a:rPr lang="ko-KR" altLang="en-US" sz="900" dirty="0"/>
              <a:t> 작성되는 경우 모든 내용을 펼쳐서 표시합니다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en-US" altLang="ko-KR" sz="900" dirty="0"/>
              <a:t>⁞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675957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첨부파일 </a:t>
            </a:r>
            <a:r>
              <a:rPr lang="en-US" altLang="ko-KR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– 1</a:t>
            </a: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건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4764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591584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이전글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60249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776016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800" dirty="0" err="1"/>
              <a:t>이전글</a:t>
            </a:r>
            <a:r>
              <a:rPr lang="ko-KR" altLang="en-US" sz="800" dirty="0"/>
              <a:t> 제목이 표시됩니다</a:t>
            </a:r>
            <a:r>
              <a:rPr lang="en-US" altLang="ko-KR" sz="800" dirty="0"/>
              <a:t>. 1</a:t>
            </a:r>
            <a:r>
              <a:rPr lang="ko-KR" altLang="en-US" sz="800" dirty="0"/>
              <a:t>줄 표시 후 </a:t>
            </a:r>
            <a:r>
              <a:rPr lang="en-US" altLang="ko-KR" sz="800" dirty="0"/>
              <a:t>… </a:t>
            </a:r>
            <a:r>
              <a:rPr lang="ko-KR" altLang="en-US" sz="800" dirty="0"/>
              <a:t>처리 </a:t>
            </a:r>
            <a:r>
              <a:rPr lang="ko-KR" altLang="en-US" sz="800" dirty="0" err="1"/>
              <a:t>합니</a:t>
            </a:r>
            <a:endParaRPr lang="en-US" altLang="ko-KR" sz="800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720142" y="499259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120975"/>
            <a:ext cx="168273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338" y="512097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40" name="타원 39"/>
          <p:cNvSpPr/>
          <p:nvPr/>
        </p:nvSpPr>
        <p:spPr>
          <a:xfrm>
            <a:off x="3108139" y="510283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4857475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017655" y="4857475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6906" y="4857475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6080102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다음글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24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48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038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7714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6339841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5401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 상세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1583" y="760338"/>
            <a:ext cx="28010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일반공지사항상세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98432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97364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459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8273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5E44886-453C-E2A8-43AB-45CD5DD5B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369279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333802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3301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1048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96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8C9C022-1BF5-DB29-C801-02C2DB81A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066662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3821953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784924"/>
            <a:ext cx="3378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86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947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578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571A97F-CF42-5A35-D1E1-AC4904698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05373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126529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2920920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92577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60544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619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0439192-9EF1-341E-46D3-72EF8CE108E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D52ECC-C3A4-BA93-9971-1721B6FCA96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6F04475-2B6C-28FB-3AC1-03C72F8B4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3661687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13249723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31049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9516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3655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882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C6E5CCB0-8AFF-4C29-1159-B304CF288D0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EB764B7-87CD-91BE-5496-3D8BBFD4624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8423D76-6C3E-2B19-C6A3-2906EAFED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039804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6148301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계약관련서식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7409" y="799547"/>
            <a:ext cx="30671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918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234F8FA-1E0E-58B2-149D-6DF150C6D03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E0A0C8F-453B-36ED-E27D-3427DE0D8D1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335F206-DF0E-979F-DC20-E81D57CD1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880188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0928915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8" y="799547"/>
            <a:ext cx="28362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시스템개선안내상세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3613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2948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tkcgDeptNm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3758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39C9A060-CA73-CEE0-3F7F-523F9C3CF9AD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94039D6-5A81-7A0D-8459-4FB791039E6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5C4AD37-DEDE-FDB5-4DF5-9E17FC00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85395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387513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720490" y="3916314"/>
            <a:ext cx="2621844" cy="7890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구분 값을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시 질문 정렬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헤드라인 및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제목은 </a:t>
            </a:r>
            <a:r>
              <a:rPr lang="ko-KR" altLang="en-US" dirty="0" err="1"/>
              <a:t>말줄임</a:t>
            </a:r>
            <a:r>
              <a:rPr lang="ko-KR" altLang="en-US" dirty="0"/>
              <a:t> 없이 전체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답변 내용 확장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답변은 사용자 액션에 의해 닫힘 </a:t>
            </a:r>
            <a:r>
              <a:rPr lang="en-US" altLang="ko-KR" dirty="0"/>
              <a:t>(</a:t>
            </a:r>
            <a:r>
              <a:rPr lang="ko-KR" altLang="en-US" dirty="0"/>
              <a:t>다른 질문 클릭해도 이전 답변 닫히지 않음</a:t>
            </a:r>
            <a:r>
              <a:rPr lang="en-US" altLang="ko-KR" dirty="0" smtClean="0"/>
              <a:t>)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구분 값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자주 묻는 질문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 err="1">
                <a:solidFill>
                  <a:prstClr val="black"/>
                </a:solidFill>
              </a:rPr>
              <a:t>업체등록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b="1" dirty="0">
                <a:solidFill>
                  <a:prstClr val="black"/>
                </a:solidFill>
              </a:rPr>
              <a:t> 질문 제목 표시는 말 줄임 없이 전부 다 표시합니다</a:t>
            </a:r>
            <a:r>
              <a:rPr lang="en-US" altLang="ko-KR" sz="900" b="1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43641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54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3686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공통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6972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9313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7600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4" name="그룹 53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타원 55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61057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내용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전자계약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71" name="타원 70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77" name="직선 연결선 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3" name="타원 7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그룹 73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기타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1" name="그룹 80"/>
          <p:cNvGrpSpPr/>
          <p:nvPr/>
        </p:nvGrpSpPr>
        <p:grpSpPr>
          <a:xfrm flipV="1">
            <a:off x="3143548" y="342699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1631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053395"/>
            <a:ext cx="23695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b="1" dirty="0">
                <a:solidFill>
                  <a:prstClr val="black"/>
                </a:solidFill>
              </a:rPr>
              <a:t>답변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250562"/>
            <a:ext cx="236959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dirty="0">
                <a:solidFill>
                  <a:prstClr val="black"/>
                </a:solidFill>
              </a:rPr>
              <a:t> 질문 답변은 작성 내용에 맞게 </a:t>
            </a:r>
            <a:r>
              <a:rPr lang="ko-KR" altLang="en-US" sz="900" dirty="0" smtClean="0">
                <a:solidFill>
                  <a:prstClr val="black"/>
                </a:solidFill>
              </a:rPr>
              <a:t>최대 </a:t>
            </a:r>
            <a:r>
              <a:rPr lang="ko-KR" altLang="en-US" sz="900" dirty="0">
                <a:solidFill>
                  <a:prstClr val="black"/>
                </a:solidFill>
              </a:rPr>
              <a:t>높이를 조정하여 표시합니다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5014062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3328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5126184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61976" y="2971849"/>
            <a:ext cx="1194558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전체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전자입찰일반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업체등록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인증관련문의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입찰참가신청서제출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입찰서제출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홈페이지일반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전자문서유통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지문인식관련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전자계약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기타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윈도우</a:t>
            </a:r>
            <a:r>
              <a:rPr lang="en-US" altLang="ko-KR" sz="800" dirty="0"/>
              <a:t>10 PC</a:t>
            </a:r>
            <a:r>
              <a:rPr lang="ko-KR" altLang="en-US" sz="800" dirty="0"/>
              <a:t>환경설정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납품대가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선금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착</a:t>
            </a:r>
            <a:r>
              <a:rPr lang="en-US" altLang="ko-KR" sz="800" dirty="0"/>
              <a:t>·</a:t>
            </a:r>
            <a:r>
              <a:rPr lang="ko-KR" altLang="en-US" sz="800" dirty="0"/>
              <a:t>중도금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619255" y="26339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96058455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44679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4524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31646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588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10025"/>
              </p:ext>
            </p:extLst>
          </p:nvPr>
        </p:nvGraphicFramePr>
        <p:xfrm>
          <a:off x="453000" y="4646513"/>
          <a:ext cx="8995591" cy="989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자주묻는질문목록조회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104451"/>
              </p:ext>
            </p:extLst>
          </p:nvPr>
        </p:nvGraphicFramePr>
        <p:xfrm>
          <a:off x="452999" y="213285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2352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791297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F7EE0FB-D8AF-8ECC-1B05-8EC3FFBB1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252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93379-8E81-A2EF-EC6A-2F674260DD5A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0B2CBBE-A1E0-F75D-090F-7145E4B0A81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BFF2EDC-A101-D11D-326F-BDDDEBB0B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372412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화면 재사용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신청절차및안내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 </a:t>
            </a:r>
            <a:r>
              <a:rPr lang="ko-KR" altLang="en-US" dirty="0"/>
              <a:t>증명서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MUI-CM-04-M06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실적증명서신청 </a:t>
            </a:r>
            <a:r>
              <a:rPr lang="en-US" altLang="ko-KR" dirty="0" smtClean="0"/>
              <a:t>MUI-CM-04-M08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국외조달원등록증신청목록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국외조달원등록증신청 </a:t>
            </a:r>
            <a:r>
              <a:rPr lang="en-US" altLang="ko-KR" dirty="0"/>
              <a:t>MUI-CM-04-P10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민원서류발급신청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민원서류 발급 신청 메뉴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민원서류발급신청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민원서류발급신청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신청 절차 및 안내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진입점을</a:t>
              </a:r>
              <a:r>
                <a:rPr lang="ko-KR" altLang="en-US" sz="700" dirty="0" smtClean="0"/>
                <a:t> 위한 화면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382128872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 신청절차 및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신청절차 및 안내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신청절차 및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6983" y="2188499"/>
            <a:ext cx="2468859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국방전자조달 로그인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고객센터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민원서류발급신청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신청에서 납품 </a:t>
            </a:r>
            <a:r>
              <a:rPr lang="ko-KR" altLang="en-US" sz="800" dirty="0" err="1">
                <a:latin typeface="Consolas" panose="020B0609020204030204" pitchFamily="49" charset="0"/>
              </a:rPr>
              <a:t>계약정보</a:t>
            </a:r>
            <a:r>
              <a:rPr lang="ko-KR" altLang="en-US" sz="800" dirty="0">
                <a:latin typeface="Consolas" panose="020B0609020204030204" pitchFamily="49" charset="0"/>
              </a:rPr>
              <a:t> 목록에서 원하는 계약 선택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신청정보</a:t>
            </a:r>
            <a:r>
              <a:rPr lang="ko-KR" altLang="en-US" sz="800" dirty="0">
                <a:latin typeface="Consolas" panose="020B0609020204030204" pitchFamily="49" charset="0"/>
              </a:rPr>
              <a:t> 입력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미리보기</a:t>
            </a:r>
            <a:r>
              <a:rPr lang="ko-KR" altLang="en-US" sz="800" dirty="0">
                <a:latin typeface="Consolas" panose="020B0609020204030204" pitchFamily="49" charset="0"/>
              </a:rPr>
              <a:t> 및 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및 신청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증명원의</a:t>
            </a:r>
            <a:r>
              <a:rPr lang="ko-KR" altLang="en-US" sz="800" dirty="0">
                <a:latin typeface="Consolas" panose="020B0609020204030204" pitchFamily="49" charset="0"/>
              </a:rPr>
              <a:t> 사용목적에 따라서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납품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정산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선착중도금을 넣을 수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각군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</a:t>
            </a:r>
            <a:r>
              <a:rPr lang="ko-KR" altLang="en-US" sz="800" dirty="0" err="1">
                <a:latin typeface="Consolas" panose="020B0609020204030204" pitchFamily="49" charset="0"/>
              </a:rPr>
              <a:t>실적비율</a:t>
            </a:r>
            <a:r>
              <a:rPr lang="ko-KR" altLang="en-US" sz="800" dirty="0">
                <a:latin typeface="Consolas" panose="020B0609020204030204" pitchFamily="49" charset="0"/>
              </a:rPr>
              <a:t> 및 </a:t>
            </a:r>
            <a:r>
              <a:rPr lang="ko-KR" altLang="en-US" sz="800" dirty="0" err="1">
                <a:latin typeface="Consolas" panose="020B0609020204030204" pitchFamily="49" charset="0"/>
              </a:rPr>
              <a:t>실적금액을</a:t>
            </a:r>
            <a:r>
              <a:rPr lang="ko-KR" altLang="en-US" sz="800" dirty="0">
                <a:latin typeface="Consolas" panose="020B0609020204030204" pitchFamily="49" charset="0"/>
              </a:rPr>
              <a:t> 넣을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후 반드시 신청을 하셔야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또는 국방부 및 각군에서 처리됩니다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접수번호를 클릭하여 상세정보를 확인합니다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실적증명서는 상세정보 하단의 </a:t>
            </a:r>
            <a:r>
              <a:rPr lang="ko-KR" altLang="en-US" sz="800" dirty="0" err="1">
                <a:latin typeface="Consolas" panose="020B0609020204030204" pitchFamily="49" charset="0"/>
              </a:rPr>
              <a:t>발급버튼을</a:t>
            </a:r>
            <a:r>
              <a:rPr lang="ko-KR" altLang="en-US" sz="800" dirty="0">
                <a:latin typeface="Consolas" panose="020B0609020204030204" pitchFamily="49" charset="0"/>
              </a:rPr>
              <a:t> 클릭하여   가능합니다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4020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34740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신청절차 및 안내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실적증명서 신청 절차 및 안내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" name="그룹 1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" name="직선 연결선 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" name="타원 2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26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777" y="3500559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담당부서 및 연락처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7318" y="3783575"/>
            <a:ext cx="2468859" cy="145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en-US" altLang="ko-KR" sz="800" dirty="0">
                <a:latin typeface="Consolas" panose="020B0609020204030204" pitchFamily="49" charset="0"/>
              </a:rPr>
              <a:t>: 1577-1118(①</a:t>
            </a:r>
            <a:r>
              <a:rPr lang="ko-KR" altLang="en-US" sz="800" dirty="0">
                <a:latin typeface="Consolas" panose="020B0609020204030204" pitchFamily="49" charset="0"/>
              </a:rPr>
              <a:t>번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ko-KR" altLang="en-US" sz="800" dirty="0" err="1">
                <a:latin typeface="Consolas" panose="020B0609020204030204" pitchFamily="49" charset="0"/>
              </a:rPr>
              <a:t>발급담당자</a:t>
            </a:r>
            <a:endParaRPr lang="ko-KR" altLang="en-US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   </a:t>
            </a:r>
            <a:r>
              <a:rPr lang="en-US" altLang="ko-KR" sz="800" dirty="0">
                <a:latin typeface="Consolas" panose="020B0609020204030204" pitchFamily="49" charset="0"/>
              </a:rPr>
              <a:t>- </a:t>
            </a:r>
            <a:r>
              <a:rPr lang="ko-KR" altLang="en-US" sz="800" dirty="0" err="1">
                <a:latin typeface="Consolas" panose="020B0609020204030204" pitchFamily="49" charset="0"/>
              </a:rPr>
              <a:t>기반전력사업총괄팀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 err="1">
                <a:latin typeface="Consolas" panose="020B0609020204030204" pitchFamily="49" charset="0"/>
              </a:rPr>
              <a:t>윤준혁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(☎02-2079-4793)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- </a:t>
            </a:r>
            <a:r>
              <a:rPr lang="ko-KR" altLang="en-US" sz="800" dirty="0" err="1">
                <a:latin typeface="Consolas" panose="020B0609020204030204" pitchFamily="49" charset="0"/>
              </a:rPr>
              <a:t>미래전력사업총괄팀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>
                <a:latin typeface="Consolas" panose="020B0609020204030204" pitchFamily="49" charset="0"/>
              </a:rPr>
              <a:t>서정화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(☎02-2079-4021)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 군 계약 </a:t>
            </a:r>
            <a:r>
              <a:rPr lang="en-US" altLang="ko-KR" sz="800" dirty="0"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 군 계약담당부서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8325" y="1616997"/>
            <a:ext cx="2468859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각군에서 발급된 실적증명서는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정보가 포함되어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정보를 확인하려면 해당 프로그램을 설치하셔야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(PDF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파일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미검증시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조치 방법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물품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내자</a:t>
            </a:r>
            <a:r>
              <a:rPr lang="en-US" altLang="ko-KR" sz="800" dirty="0"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latin typeface="Consolas" panose="020B0609020204030204" pitchFamily="49" charset="0"/>
              </a:rPr>
              <a:t>납품실적증명서 발급은 방위사업청과 계약한 건에 한해 방위사업청에서 처리 가능하며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타 기관 및 부대와의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계약건은</a:t>
            </a:r>
            <a:r>
              <a:rPr lang="ko-KR" altLang="en-US" sz="800" dirty="0">
                <a:latin typeface="Consolas" panose="020B0609020204030204" pitchFamily="49" charset="0"/>
              </a:rPr>
              <a:t> 국방부 및 각군의 계약담당부서로 요청하셔야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291660458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/>
              <a:t>계약번호</a:t>
            </a:r>
            <a:r>
              <a:rPr lang="en-US" altLang="ko-KR" dirty="0"/>
              <a:t>, </a:t>
            </a:r>
            <a:r>
              <a:rPr lang="ko-KR" altLang="en-US" dirty="0" err="1"/>
              <a:t>검색필터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접수 목록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/>
              <a:t>접수 등 진행상태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목록에서 신청 접수할 수 있도록 </a:t>
            </a:r>
            <a:r>
              <a:rPr lang="en-US" altLang="ko-KR" dirty="0"/>
              <a:t>(+) </a:t>
            </a:r>
            <a:r>
              <a:rPr lang="ko-KR" altLang="en-US" dirty="0" err="1"/>
              <a:t>플로팅</a:t>
            </a:r>
            <a:r>
              <a:rPr lang="ko-KR" altLang="en-US" dirty="0"/>
              <a:t>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바텀시트</a:t>
            </a:r>
            <a:r>
              <a:rPr lang="ko-KR" altLang="en-US" dirty="0"/>
              <a:t> 노출 버튼 </a:t>
            </a:r>
            <a:r>
              <a:rPr lang="en-US" altLang="ko-KR" dirty="0"/>
              <a:t>[</a:t>
            </a:r>
            <a:r>
              <a:rPr lang="ko-KR" altLang="en-US" dirty="0"/>
              <a:t>실적증명서 신청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" name="모서리가 둥근 직사각형 26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6" name="모서리가 둥근 직사각형 115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78515" y="4600795"/>
            <a:ext cx="2476203" cy="1083172"/>
            <a:chOff x="778515" y="2610063"/>
            <a:chExt cx="2476203" cy="1083172"/>
          </a:xfrm>
        </p:grpSpPr>
        <p:sp>
          <p:nvSpPr>
            <p:cNvPr id="3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3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239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2026-03-20</a:t>
              </a: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39" name="모서리가 둥근 직사각형 38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152181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그룹 52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54" name="모서리가 둥근 직사각형 53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타원 72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76" name="그룹 7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9" name="그룹 7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9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8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82" name="그룹 8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8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8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8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00" name="그룹 9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07" name="직선 연결선 10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1" name="모서리가 둥근 직사각형 10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05" name="직선 연결선 10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4" name="직선 연결선 1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5" name="직선 연결선 1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2" name="모서리가 둥근 직사각형 11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22" name="직선 연결선 121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6" name="타원 125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13787799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781194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prcsStts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2157281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7079969"/>
              </p:ext>
            </p:extLst>
          </p:nvPr>
        </p:nvGraphicFramePr>
        <p:xfrm>
          <a:off x="452999" y="244103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prgrsStcd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DFB58E3-7D79-F186-0A97-7AE818C4DC2B}"/>
              </a:ext>
            </a:extLst>
          </p:cNvPr>
          <p:cNvSpPr txBox="1"/>
          <p:nvPr/>
        </p:nvSpPr>
        <p:spPr>
          <a:xfrm>
            <a:off x="460676" y="4869440"/>
            <a:ext cx="3985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0F32E6-E72F-D829-812E-A5DD7D1444C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15319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rgstrtIdntyYn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정상등록업체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 = 'MBTC'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CE08BAD-60BD-D79C-6308-E11F16EC7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69182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332946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247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29918" y="7926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604893"/>
              </p:ext>
            </p:extLst>
          </p:nvPr>
        </p:nvGraphicFramePr>
        <p:xfrm>
          <a:off x="429918" y="102284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scwin.btn_prfmncPrdocAplyList_onclick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실적증명서 신청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scwin.grd_prfmncPrdocAplyList_oncellclick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D5411A9-86B9-51C9-3795-C78FEC2B5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493" y="8520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72152727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발급 상태에서만 </a:t>
            </a:r>
            <a:r>
              <a:rPr lang="ko-KR" altLang="en-US" dirty="0" smtClean="0"/>
              <a:t>하단 실적증명서 발급 버튼 </a:t>
            </a:r>
            <a:r>
              <a:rPr lang="ko-KR" altLang="en-US" dirty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저장 등 타 상태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문서는 </a:t>
            </a:r>
            <a:r>
              <a:rPr lang="en-US" altLang="ko-KR" dirty="0"/>
              <a:t>PDF </a:t>
            </a:r>
            <a:r>
              <a:rPr lang="ko-KR" altLang="en-US" dirty="0"/>
              <a:t>파일로 </a:t>
            </a:r>
            <a:r>
              <a:rPr lang="ko-KR" altLang="en-US" dirty="0" err="1"/>
              <a:t>진본성</a:t>
            </a:r>
            <a:r>
              <a:rPr lang="ko-KR" altLang="en-US" dirty="0"/>
              <a:t> 검사 대상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문서 세부 </a:t>
            </a:r>
            <a:r>
              <a:rPr lang="ko-KR" altLang="en-US" dirty="0" smtClean="0"/>
              <a:t>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더하기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저장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 smtClean="0"/>
              <a:t>신청</a:t>
            </a:r>
            <a:r>
              <a:rPr lang="en-US" altLang="ko-KR" dirty="0" smtClean="0"/>
              <a:t>,</a:t>
            </a:r>
            <a:r>
              <a:rPr lang="ko-KR" altLang="en-US" dirty="0" smtClean="0"/>
              <a:t> 수정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</a:t>
            </a:r>
            <a:r>
              <a:rPr lang="ko-KR" altLang="en-US" dirty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접수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처리중</a:t>
            </a:r>
            <a:r>
              <a:rPr lang="ko-KR" altLang="en-US" dirty="0" smtClean="0"/>
              <a:t> 일 때</a:t>
            </a:r>
            <a:r>
              <a:rPr lang="en-US" altLang="ko-KR" dirty="0" smtClean="0"/>
              <a:t> </a:t>
            </a:r>
            <a:r>
              <a:rPr lang="ko-KR" altLang="en-US" dirty="0" smtClean="0"/>
              <a:t>버튼 없음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발급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 smtClean="0"/>
              <a:t>제출 버튼 표시</a:t>
            </a:r>
            <a:r>
              <a:rPr lang="en-US" altLang="ko-KR" dirty="0" smtClean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제출 </a:t>
            </a:r>
            <a:r>
              <a:rPr lang="ko-KR" altLang="en-US" dirty="0" smtClean="0"/>
              <a:t>클릭 시 실적증명서 </a:t>
            </a:r>
            <a:r>
              <a:rPr lang="ko-KR" altLang="en-US" dirty="0"/>
              <a:t>제출 </a:t>
            </a:r>
            <a:r>
              <a:rPr lang="en-US" altLang="ko-KR" dirty="0"/>
              <a:t>(MUI-CM-04-P20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제출은 타 기관 온라인 </a:t>
            </a:r>
            <a:r>
              <a:rPr lang="ko-KR" altLang="en-US" dirty="0" err="1" smtClean="0"/>
              <a:t>제출임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발급은 </a:t>
            </a:r>
            <a:r>
              <a:rPr lang="en-US" altLang="ko-KR" dirty="0" smtClean="0"/>
              <a:t>OZ </a:t>
            </a:r>
            <a:r>
              <a:rPr lang="ko-KR" altLang="en-US" dirty="0" smtClean="0"/>
              <a:t>리포트</a:t>
            </a:r>
            <a:r>
              <a:rPr lang="en-US" altLang="ko-KR" dirty="0" smtClean="0"/>
              <a:t>, PDF </a:t>
            </a:r>
            <a:r>
              <a:rPr lang="ko-KR" altLang="en-US" dirty="0" smtClean="0"/>
              <a:t>뷰어 서류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>
                <a:latin typeface="+mn-ea"/>
              </a:rPr>
              <a:t>발급기관이 </a:t>
            </a:r>
            <a:r>
              <a:rPr lang="ko-KR" altLang="en-US" dirty="0" err="1">
                <a:latin typeface="+mn-ea"/>
              </a:rPr>
              <a:t>부대일때는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pdfViewer</a:t>
            </a:r>
            <a:r>
              <a:rPr lang="ko-KR" altLang="en-US" dirty="0" smtClean="0">
                <a:latin typeface="+mn-ea"/>
              </a:rPr>
              <a:t>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반려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보류 상태일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삭제</a:t>
            </a:r>
            <a:r>
              <a:rPr lang="en-US" altLang="ko-KR" dirty="0" smtClean="0"/>
              <a:t> </a:t>
            </a:r>
            <a:r>
              <a:rPr lang="ko-KR" altLang="en-US" dirty="0"/>
              <a:t>클릭 시 확인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정말 </a:t>
            </a:r>
            <a:r>
              <a:rPr lang="ko-KR" altLang="en-US" dirty="0"/>
              <a:t>삭제하시겠습니까</a:t>
            </a:r>
            <a:r>
              <a:rPr lang="en-US" altLang="ko-KR" dirty="0"/>
              <a:t>? (N/Y)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공통 영역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</a:t>
            </a:r>
            <a:r>
              <a:rPr lang="ko-KR" altLang="en-US" sz="800" dirty="0" smtClean="0">
                <a:latin typeface="+mn-ea"/>
              </a:rPr>
              <a:t>확인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3154885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329269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329269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0929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타원 68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71" name="직선 연결선 70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3" name="직선 연결선 72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250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084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0842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50157" y="18250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66" name="평행 사변형 165"/>
          <p:cNvSpPr/>
          <p:nvPr/>
        </p:nvSpPr>
        <p:spPr>
          <a:xfrm rot="16200000" flipH="1">
            <a:off x="2586144" y="2295212"/>
            <a:ext cx="2010878" cy="408308"/>
          </a:xfrm>
          <a:prstGeom prst="parallelogram">
            <a:avLst>
              <a:gd name="adj" fmla="val 397035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98190" y="44051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9" name="타원 168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71" name="직선 연결선 170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2" name="직선 연결선 171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9" name="그룹 28"/>
          <p:cNvGrpSpPr/>
          <p:nvPr/>
        </p:nvGrpSpPr>
        <p:grpSpPr>
          <a:xfrm>
            <a:off x="675400" y="3615629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grpSp>
        <p:nvGrpSpPr>
          <p:cNvPr id="159" name="그룹 158"/>
          <p:cNvGrpSpPr/>
          <p:nvPr/>
        </p:nvGrpSpPr>
        <p:grpSpPr>
          <a:xfrm>
            <a:off x="781461" y="1974079"/>
            <a:ext cx="2473257" cy="1098561"/>
            <a:chOff x="781461" y="2610063"/>
            <a:chExt cx="2473257" cy="1098561"/>
          </a:xfrm>
        </p:grpSpPr>
        <p:sp>
          <p:nvSpPr>
            <p:cNvPr id="16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16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2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193" name="그룹 192"/>
          <p:cNvGrpSpPr/>
          <p:nvPr/>
        </p:nvGrpSpPr>
        <p:grpSpPr>
          <a:xfrm>
            <a:off x="3795735" y="1915960"/>
            <a:ext cx="2712026" cy="2504309"/>
            <a:chOff x="675400" y="3615629"/>
            <a:chExt cx="2712026" cy="2504309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220" name="직선 연결선 2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05" name="그룹 204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207" name="그룹 206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8" name="직선 연결선 2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9" name="직선 연결선 2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10" name="모서리가 둥근 직사각형 20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1" name="그룹 21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3" name="TextBox 21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85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80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252742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실적증명서 발급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4988270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문서 </a:t>
            </a:r>
            <a:r>
              <a:rPr lang="ko-KR" altLang="en-US" dirty="0"/>
              <a:t>세부 </a:t>
            </a:r>
            <a:r>
              <a:rPr lang="ko-KR" altLang="en-US" dirty="0" smtClean="0"/>
              <a:t>탭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기관</a:t>
            </a:r>
            <a:r>
              <a:rPr lang="en-US" altLang="ko-KR" dirty="0"/>
              <a:t>, </a:t>
            </a:r>
            <a:r>
              <a:rPr lang="ko-KR" altLang="en-US" dirty="0"/>
              <a:t>계약에 따라 </a:t>
            </a:r>
            <a:r>
              <a:rPr lang="ko-KR" altLang="en-US" dirty="0" err="1"/>
              <a:t>세부정보</a:t>
            </a:r>
            <a:r>
              <a:rPr lang="en-US" altLang="ko-KR" dirty="0"/>
              <a:t>(</a:t>
            </a:r>
            <a:r>
              <a:rPr lang="ko-KR" altLang="en-US" dirty="0" err="1"/>
              <a:t>신청정보</a:t>
            </a:r>
            <a:r>
              <a:rPr lang="en-US" altLang="ko-KR" dirty="0"/>
              <a:t>)</a:t>
            </a:r>
            <a:r>
              <a:rPr lang="ko-KR" altLang="en-US" dirty="0"/>
              <a:t>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 smtClean="0"/>
              <a:t>아닐때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495397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20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1633203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4981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9" name="그룹 28"/>
          <p:cNvGrpSpPr/>
          <p:nvPr/>
        </p:nvGrpSpPr>
        <p:grpSpPr>
          <a:xfrm>
            <a:off x="675400" y="1956141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42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99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10741294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 정보에 따라 세부정보표시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 목적에 따라 </a:t>
            </a:r>
            <a:r>
              <a:rPr lang="ko-KR" altLang="en-US" dirty="0" err="1"/>
              <a:t>세부정보</a:t>
            </a:r>
            <a:r>
              <a:rPr lang="ko-KR" altLang="en-US" dirty="0"/>
              <a:t> 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신청정보는</a:t>
            </a:r>
            <a:r>
              <a:rPr lang="ko-KR" altLang="en-US" dirty="0"/>
              <a:t> 공통 사항</a:t>
            </a:r>
            <a:r>
              <a:rPr lang="en-US" altLang="ko-KR" dirty="0"/>
              <a:t>, </a:t>
            </a:r>
            <a:r>
              <a:rPr lang="ko-KR" altLang="en-US" dirty="0"/>
              <a:t>모두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err="1"/>
              <a:t>세부정보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다름에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MUI-CM-04-T02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675400" y="1974254"/>
            <a:ext cx="2712026" cy="1252381"/>
            <a:chOff x="675400" y="2590223"/>
            <a:chExt cx="2712026" cy="12523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425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59759" y="2087585"/>
            <a:ext cx="94010" cy="47005"/>
            <a:chOff x="6812560" y="3297172"/>
            <a:chExt cx="94010" cy="47005"/>
          </a:xfrm>
        </p:grpSpPr>
        <p:cxnSp>
          <p:nvCxnSpPr>
            <p:cNvPr id="244" name="직선 연결선 24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5" name="직선 연결선 24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1" name="직사각형 230"/>
          <p:cNvSpPr/>
          <p:nvPr/>
        </p:nvSpPr>
        <p:spPr>
          <a:xfrm>
            <a:off x="3838794" y="2281740"/>
            <a:ext cx="792000" cy="32190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173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1739"/>
            <a:ext cx="792000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지출년도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중도금신청금액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보증보험번호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확인요청사항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1739"/>
            <a:ext cx="1784088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 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r>
              <a:rPr lang="ko-KR" altLang="en-US" sz="700" dirty="0">
                <a:latin typeface="+mn-ea"/>
              </a:rPr>
              <a:t> 표시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1234567890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없음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2026-02-02</a:t>
            </a: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28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65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025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39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14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751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888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5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9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25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327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465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602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739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5007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모서리가 둥근 직사각형 24"/>
          <p:cNvSpPr/>
          <p:nvPr/>
        </p:nvSpPr>
        <p:spPr>
          <a:xfrm>
            <a:off x="3577373" y="288168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3577373" y="331593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3577373" y="375155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3-3</a:t>
            </a:r>
            <a:endParaRPr lang="ko-KR" altLang="en-US" sz="900" b="1" dirty="0"/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3577373" y="4150679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3-4</a:t>
            </a:r>
            <a:endParaRPr lang="ko-KR" altLang="en-US" sz="900" b="1" dirty="0"/>
          </a:p>
        </p:txBody>
      </p:sp>
      <p:sp>
        <p:nvSpPr>
          <p:cNvPr id="257" name="모서리가 둥근 직사각형 256"/>
          <p:cNvSpPr/>
          <p:nvPr/>
        </p:nvSpPr>
        <p:spPr>
          <a:xfrm>
            <a:off x="3577373" y="458832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3-5</a:t>
            </a:r>
            <a:endParaRPr lang="ko-KR" altLang="en-US" sz="900" b="1" dirty="0"/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3577373" y="499888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3-6</a:t>
            </a:r>
            <a:endParaRPr lang="ko-KR" altLang="en-US" sz="900" b="1" dirty="0"/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3577373" y="531181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3-7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1802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683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0304" y="20462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16557683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63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6757"/>
            <a:ext cx="2630093" cy="1611734"/>
            <a:chOff x="720490" y="3930133"/>
            <a:chExt cx="2630093" cy="16117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7749"/>
            <a:ext cx="2630093" cy="1389048"/>
            <a:chOff x="720490" y="2590223"/>
            <a:chExt cx="2630093" cy="138904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2" name="그룹 111"/>
          <p:cNvGrpSpPr/>
          <p:nvPr/>
        </p:nvGrpSpPr>
        <p:grpSpPr>
          <a:xfrm>
            <a:off x="3836701" y="3756468"/>
            <a:ext cx="2630093" cy="1611734"/>
            <a:chOff x="720490" y="3930133"/>
            <a:chExt cx="2630093" cy="161173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직사각형 114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6757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32544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1. </a:t>
              </a:r>
              <a:r>
                <a:rPr lang="ko-KR" altLang="en-US" sz="700" dirty="0">
                  <a:latin typeface="+mn-ea"/>
                </a:rPr>
                <a:t>시공실적증명서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군시설공사</a:t>
              </a:r>
              <a:r>
                <a:rPr lang="ko-KR" altLang="en-US" sz="700" dirty="0">
                  <a:latin typeface="+mn-ea"/>
                </a:rPr>
                <a:t> 적격심사기준에 관한 훈령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국방부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436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63973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61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07" y="2009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72379393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4598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16366" y="1965600"/>
            <a:ext cx="2630093" cy="1904757"/>
            <a:chOff x="1108393" y="2993988"/>
            <a:chExt cx="2630093" cy="1904757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32" name="그룹 131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6" name="직사각형 135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54" name="그룹 153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직사각형 162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3" name="그룹 17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직사각형 179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43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716366" y="4025856"/>
            <a:ext cx="2630093" cy="957295"/>
            <a:chOff x="716366" y="4635456"/>
            <a:chExt cx="2630093" cy="95729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188" name="직선 연결선 1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5" name="직사각형 144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198" name="그룹 19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199" name="타원 19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8" name="타원 207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타원 208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93105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3836701" y="1965600"/>
            <a:ext cx="2630093" cy="2026729"/>
            <a:chOff x="3836701" y="2575200"/>
            <a:chExt cx="2630093" cy="2026729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27" name="그룹 226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8" name="직사각형 227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37" name="직사각형 236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직사각형 237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직사각형 238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TextBox 239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41" name="직사각형 240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직사각형 241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직사각형 249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직사각형 250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직사각형 252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91737065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400" y="1972911"/>
            <a:ext cx="2712026" cy="1870687"/>
            <a:chOff x="675400" y="2590223"/>
            <a:chExt cx="2712026" cy="187068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4" name="직사각형 123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675400" y="3872472"/>
            <a:ext cx="2712026" cy="1888105"/>
            <a:chOff x="675400" y="4489784"/>
            <a:chExt cx="2712026" cy="1888105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97269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111-22-33333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박길동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3795734" y="1972911"/>
            <a:ext cx="2712026" cy="1888105"/>
            <a:chOff x="3832578" y="3081088"/>
            <a:chExt cx="2712026" cy="188810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388573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222-33-44444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16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3795734" y="3967975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3795734" y="4864603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3995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87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0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488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0523183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795734" y="1980623"/>
            <a:ext cx="2712026" cy="894831"/>
            <a:chOff x="3832578" y="3081088"/>
            <a:chExt cx="2712026" cy="894831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675399" y="1976704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675399" y="2873332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675399" y="3773782"/>
            <a:ext cx="2712027" cy="789495"/>
            <a:chOff x="675399" y="1544009"/>
            <a:chExt cx="2712027" cy="789495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6" name="직선 연결선 1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/>
          <p:cNvGrpSpPr/>
          <p:nvPr/>
        </p:nvGrpSpPr>
        <p:grpSpPr>
          <a:xfrm>
            <a:off x="3795734" y="2983573"/>
            <a:ext cx="2712026" cy="894831"/>
            <a:chOff x="3832578" y="3081088"/>
            <a:chExt cx="2712026" cy="894831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23" name="그룹 122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44" name="직선 연결선 14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9" name="직사각형 128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3795734" y="3977663"/>
            <a:ext cx="2712026" cy="894831"/>
            <a:chOff x="3832578" y="3081088"/>
            <a:chExt cx="2712026" cy="89483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48" name="그룹 147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2" name="직사각형 151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795734" y="4981063"/>
            <a:ext cx="2712027" cy="606800"/>
            <a:chOff x="675399" y="1544009"/>
            <a:chExt cx="2712027" cy="606800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80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63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20071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5020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01098026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9" name="그룹 118"/>
          <p:cNvGrpSpPr/>
          <p:nvPr/>
        </p:nvGrpSpPr>
        <p:grpSpPr>
          <a:xfrm>
            <a:off x="720490" y="1980621"/>
            <a:ext cx="2630093" cy="2031034"/>
            <a:chOff x="720490" y="2590223"/>
            <a:chExt cx="2630093" cy="203103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24" name="그룹 12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1" name="직선 연결선 1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5" name="직사각형 124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kumimoji="1" lang="ko-KR" altLang="en-US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트럭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65793"/>
            <a:ext cx="76863" cy="292489"/>
            <a:chOff x="3750067" y="4683795"/>
            <a:chExt cx="76863" cy="292489"/>
          </a:xfrm>
        </p:grpSpPr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9279289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5703"/>
            <a:ext cx="2630093" cy="2246477"/>
            <a:chOff x="720490" y="3930133"/>
            <a:chExt cx="2630093" cy="2246477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신설공사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도로터널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69017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3.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6043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938567780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7" y="1980623"/>
            <a:ext cx="2630093" cy="2682044"/>
            <a:chOff x="720490" y="3930133"/>
            <a:chExt cx="2630093" cy="268204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43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4399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26188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3795734" y="1980623"/>
            <a:ext cx="2712027" cy="789495"/>
            <a:chOff x="675399" y="1544009"/>
            <a:chExt cx="2712027" cy="7894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620228628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72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7646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8638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11111 11111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은행 제출용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764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4.</a:t>
              </a:r>
              <a:r>
                <a:rPr lang="ko-KR" altLang="en-US" sz="700" dirty="0" err="1">
                  <a:latin typeface="+mn-ea"/>
                </a:rPr>
                <a:t>건설폐기물처리용역이행</a:t>
              </a:r>
              <a:r>
                <a:rPr lang="ko-KR" altLang="en-US" sz="700" dirty="0">
                  <a:latin typeface="+mn-ea"/>
                </a:rPr>
                <a:t>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건설폐기물처리용역 </a:t>
              </a:r>
              <a:r>
                <a:rPr lang="ko-KR" altLang="en-US" sz="700" dirty="0" err="1">
                  <a:latin typeface="+mn-ea"/>
                </a:rPr>
                <a:t>적격업체</a:t>
              </a:r>
              <a:r>
                <a:rPr lang="ko-KR" altLang="en-US" sz="700" dirty="0">
                  <a:latin typeface="+mn-ea"/>
                </a:rPr>
                <a:t> 평가기준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환경부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5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675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70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84605187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6" y="19806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704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8213171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43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806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4137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292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2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291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전년도 </a:t>
            </a:r>
            <a:r>
              <a:rPr lang="ko-KR" altLang="en-US" sz="700" dirty="0" err="1">
                <a:latin typeface="+mn-ea"/>
              </a:rPr>
              <a:t>이월공사액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계약액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미기성액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 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291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3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3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80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5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2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73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798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80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6.</a:t>
              </a:r>
              <a:r>
                <a:rPr lang="ko-KR" altLang="en-US" sz="700" dirty="0">
                  <a:latin typeface="+mn-ea"/>
                </a:rPr>
                <a:t>정보통신공사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정보통신공사업법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전기공제조합</a:t>
              </a:r>
              <a:r>
                <a:rPr lang="en-US" altLang="ko-KR" sz="700" dirty="0">
                  <a:latin typeface="+mn-ea"/>
                </a:rPr>
                <a:t>] 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4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096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5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95294745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소방시설 </a:t>
            </a: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공사지역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준공일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업종 </a:t>
            </a:r>
            <a:r>
              <a:rPr lang="ko-KR" altLang="en-US" sz="700" dirty="0" err="1"/>
              <a:t>표시영역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정부청사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군부대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경보설비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7.</a:t>
              </a:r>
              <a:r>
                <a:rPr lang="ko-KR" altLang="en-US" sz="700" dirty="0">
                  <a:latin typeface="+mn-ea"/>
                </a:rPr>
                <a:t>소방시설공사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소방시설공사업법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소방시설협회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12541886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5654740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전기 공사 내역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7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6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등록번호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 err="1">
                <a:latin typeface="+mn-ea"/>
              </a:rPr>
              <a:t>원도급자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6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발전설비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김길동</a:t>
            </a:r>
            <a:r>
              <a:rPr lang="ko-KR" altLang="en-US" sz="700" dirty="0"/>
              <a:t> </a:t>
            </a:r>
            <a:r>
              <a:rPr lang="ko-KR" altLang="en-US" sz="700" dirty="0" err="1"/>
              <a:t>주무관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일반경쟁입찰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3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8.</a:t>
              </a:r>
              <a:r>
                <a:rPr lang="ko-KR" altLang="en-US" sz="700" dirty="0">
                  <a:latin typeface="+mn-ea"/>
                </a:rPr>
                <a:t>전기공사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전기공사업법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전기공사협회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8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38417615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2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2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홍길동</a:t>
              </a:r>
              <a:endParaRPr lang="en-US" altLang="ko-KR" sz="700" dirty="0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4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8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5087822" y="2029245"/>
            <a:ext cx="243478" cy="144000"/>
            <a:chOff x="5087822" y="2638846"/>
            <a:chExt cx="243478" cy="144000"/>
          </a:xfrm>
        </p:grpSpPr>
        <p:sp>
          <p:nvSpPr>
            <p:cNvPr id="79" name="타원 78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3795734" y="4230015"/>
            <a:ext cx="2712027" cy="789495"/>
            <a:chOff x="675399" y="1544009"/>
            <a:chExt cx="2712027" cy="78949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325215457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명이 있는 경우에 따라 반복 테이블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675399" y="1998040"/>
            <a:ext cx="2712026" cy="3108762"/>
            <a:chOff x="675399" y="2607641"/>
            <a:chExt cx="2712026" cy="3108762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405594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661530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704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9035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3190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31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3189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주력분야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세부공증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전문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3189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신설공사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무기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4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80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7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4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9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51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63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6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4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9.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전문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919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5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298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10835656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9519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기성지급액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총계약금액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945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5922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94682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당년도 </a:t>
            </a:r>
            <a:r>
              <a:rPr lang="ko-KR" altLang="en-US" sz="700" dirty="0" err="1"/>
              <a:t>계약액</a:t>
            </a:r>
            <a:r>
              <a:rPr lang="ko-KR" altLang="en-US" sz="700" dirty="0"/>
              <a:t> 또는 </a:t>
            </a:r>
            <a:r>
              <a:rPr lang="ko-KR" altLang="en-US" sz="700" dirty="0" err="1"/>
              <a:t>이월금액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80001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누계기성액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19478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누계지급액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452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08529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6961592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2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291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624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0397"/>
            <a:ext cx="792000" cy="15158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039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0396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0396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err="1"/>
              <a:t>백원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공종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15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52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389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26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01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464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23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3903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291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10.</a:t>
              </a:r>
              <a:r>
                <a:rPr lang="ko-KR" altLang="en-US" sz="700" dirty="0">
                  <a:latin typeface="+mn-ea"/>
                </a:rPr>
                <a:t>건설공사 </a:t>
              </a:r>
              <a:r>
                <a:rPr lang="ko-KR" altLang="en-US" sz="700" dirty="0" err="1">
                  <a:latin typeface="+mn-ea"/>
                </a:rPr>
                <a:t>직접시공분</a:t>
              </a:r>
              <a:r>
                <a:rPr lang="ko-KR" altLang="en-US" sz="700" dirty="0">
                  <a:latin typeface="+mn-ea"/>
                </a:rPr>
                <a:t> 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0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4414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23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019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4880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15583355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7194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해당연도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2023</a:t>
            </a:r>
            <a:r>
              <a:rPr lang="ko-KR" altLang="en-US" sz="700" dirty="0"/>
              <a:t>년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2020-01-12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2020-01-13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4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763764"/>
            <a:ext cx="79200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en-US" altLang="ko-KR" sz="700" dirty="0"/>
              <a:t> 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 err="1"/>
              <a:t>전문공사</a:t>
            </a:r>
            <a:r>
              <a:rPr lang="en-US" altLang="ko-KR" sz="700" dirty="0"/>
              <a:t>)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13193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</a:t>
            </a:r>
            <a:r>
              <a:rPr lang="ko-KR" altLang="en-US" sz="700" dirty="0" err="1"/>
              <a:t>기성액</a:t>
            </a:r>
            <a:endParaRPr lang="en-US" altLang="ko-KR" sz="7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152690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25746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138529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62121000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382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추가사항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8713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2868"/>
            <a:ext cx="792000" cy="2360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28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2867"/>
            <a:ext cx="792000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실적비율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(%)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규격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품질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성능통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단위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비고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2867"/>
            <a:ext cx="1784088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2021 ~ 2023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계약목적과</a:t>
            </a:r>
            <a:r>
              <a:rPr lang="ko-KR" altLang="en-US" sz="700" dirty="0"/>
              <a:t> 동등이상물품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10,000,000,000 </a:t>
            </a:r>
            <a:r>
              <a:rPr lang="ko-KR" altLang="en-US" sz="700" dirty="0"/>
              <a:t>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ko-KR" altLang="en-US" sz="700" dirty="0"/>
              <a:t>규격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2023-01-01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</a:t>
            </a:r>
            <a:r>
              <a:rPr lang="ko-KR" altLang="en-US" sz="700" dirty="0"/>
              <a:t>톤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EA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용역범위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규모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비고사항</a:t>
            </a:r>
            <a:r>
              <a:rPr lang="ko-KR" altLang="en-US" sz="700" dirty="0"/>
              <a:t> 내용</a:t>
            </a:r>
            <a:endParaRPr lang="en-US" altLang="ko-KR" sz="700" dirty="0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39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76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3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0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5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1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48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7200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951" y="20425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04096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용역범위</a:t>
            </a:r>
            <a:r>
              <a:rPr lang="ko-KR" altLang="en-US" sz="700" dirty="0">
                <a:latin typeface="+mn-ea"/>
              </a:rPr>
              <a:t> 및 기준</a:t>
            </a: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면적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등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675400" y="1975382"/>
            <a:ext cx="2712026" cy="1252381"/>
            <a:chOff x="675400" y="2590223"/>
            <a:chExt cx="2712026" cy="125238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9" name="직사각형 88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40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1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3611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43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29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3564768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B126B0-6121-6E1B-9FD7-3B9617C44EC9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FB8EBB-8EF9-F488-DFB3-B80370C053BA}"/>
              </a:ext>
            </a:extLst>
          </p:cNvPr>
          <p:cNvSpPr txBox="1"/>
          <p:nvPr/>
        </p:nvSpPr>
        <p:spPr>
          <a:xfrm>
            <a:off x="452790" y="853264"/>
            <a:ext cx="36137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접수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E025457-997D-C977-E1C9-C1948C2ABD2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6694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prfmncRcptNo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prfmncPrgrsSttsCd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S: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 (I: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G: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C: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V: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:UG02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F9723FA-3390-6911-DF28-52F5717D8CE8}"/>
              </a:ext>
            </a:extLst>
          </p:cNvPr>
          <p:cNvSpPr txBox="1"/>
          <p:nvPr/>
        </p:nvSpPr>
        <p:spPr>
          <a:xfrm>
            <a:off x="452291" y="2166292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91EEA66-EC04-37FF-84E8-4EB475823449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2377495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CtrtOd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ctrtCnNm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8817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1331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416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289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enPicTel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09105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F8F539-94D0-0462-6FF9-5496DA8D913D}"/>
              </a:ext>
            </a:extLst>
          </p:cNvPr>
          <p:cNvSpPr txBox="1"/>
          <p:nvPr/>
        </p:nvSpPr>
        <p:spPr>
          <a:xfrm>
            <a:off x="452291" y="4339817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356711F-8FAB-DB6A-65D5-F428625BC21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55102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submOrgn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34EDD8DB-1E2E-4BD3-C8AE-EB01FBD5F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0768030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51763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722543"/>
              </p:ext>
            </p:extLst>
          </p:nvPr>
        </p:nvGraphicFramePr>
        <p:xfrm>
          <a:off x="458117" y="106296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납품일자로 바뀌기도 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107767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3052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38721"/>
            <a:ext cx="531933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4992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170D974-0CBE-8362-4AF3-B1753FC19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471391506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43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3575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공사설정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0676" y="3728980"/>
            <a:ext cx="446012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94018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049B929-F7AA-D9E8-2DD8-28188E1C4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39780094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5470042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904033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71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0080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21930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1D3215C-E2F4-C40C-F7A3-4F6C720F3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60953491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453000" y="90798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2546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70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49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335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47511D7-9F2F-423A-B5D3-FCB7AEF0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27158688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696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8130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9316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4E51481-49A1-4CBC-B70D-0ABB0FB95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4480877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58117" y="876843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052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5834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695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194A73B-531A-4109-5C94-B11B8548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92071789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931189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13453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132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171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3769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9BFF0B1-3A1B-ED08-BE98-7526C6B49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3962710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852989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4192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41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61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C1462B7-4D45-3B4A-3F1A-9F9CF4F2E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5417760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900279"/>
            <a:ext cx="55886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14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7320327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44084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7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485291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964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D1F168B-0104-B92B-7B82-804D5913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2784351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3002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7747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205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58118" y="3246314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4575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00694"/>
            <a:ext cx="42677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11897"/>
          <a:ext cx="8994883" cy="437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186E1B02-F69A-4581-7B7F-BF7BD8AEB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8672067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9289"/>
            <a:ext cx="64734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90492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98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897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395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08EA34B3-76D1-C847-6339-01547200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6290190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6434"/>
          <a:ext cx="8994883" cy="4316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9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81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73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691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6960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3781241-0BB5-4891-CAEC-3CB9CC53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0439800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97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402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03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8447F4-EDFE-DABF-2D95-B81612E7E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3720971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48936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60676" y="891040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46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86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02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4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232103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443306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23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5546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39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7492F64-418F-722D-475C-C50FFA98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058385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63235" y="8477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863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66004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7720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532CAE9-BD20-D658-EB25-3857A1260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6305860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835005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6208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DF6D55-F380-A2A7-BB37-A8355BD2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9552662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290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D9B532-37AB-1CCF-6506-88E049A395C9}"/>
              </a:ext>
            </a:extLst>
          </p:cNvPr>
          <p:cNvSpPr txBox="1"/>
          <p:nvPr/>
        </p:nvSpPr>
        <p:spPr>
          <a:xfrm>
            <a:off x="464598" y="6597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93D8B0E-1238-2AA7-F8A6-5003A89A9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86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D6FAFB4-C8C3-22D5-ADE8-1D6980C08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16354"/>
              </p:ext>
            </p:extLst>
          </p:nvPr>
        </p:nvGraphicFramePr>
        <p:xfrm>
          <a:off x="455204" y="886360"/>
          <a:ext cx="8995591" cy="196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신청 상세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scwin.btn_del_onclick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3727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수정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54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3869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scwin.btn_issu_onclick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발급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pdfViewer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215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제출 팝업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 제출용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4441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3952841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개월 이내 계약 목록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카드 선택으로 선택</a:t>
            </a:r>
            <a:r>
              <a:rPr lang="en-US" altLang="ko-KR" dirty="0"/>
              <a:t>, </a:t>
            </a:r>
            <a:r>
              <a:rPr lang="ko-KR" altLang="en-US" dirty="0"/>
              <a:t>선택 해제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상태에서 다음으로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</a:t>
            </a:r>
            <a:r>
              <a:rPr lang="en-US" altLang="ko-KR" dirty="0"/>
              <a:t>, </a:t>
            </a:r>
            <a:r>
              <a:rPr lang="ko-KR" altLang="en-US" dirty="0"/>
              <a:t>실적 정보 등이 입력된 상태에서 현재 화면으로 돌아와</a:t>
            </a:r>
            <a:r>
              <a:rPr lang="en-US" altLang="ko-KR" dirty="0"/>
              <a:t>, </a:t>
            </a:r>
            <a:r>
              <a:rPr lang="ko-KR" altLang="en-US" dirty="0"/>
              <a:t>선택된 계약을 해제하거나</a:t>
            </a:r>
            <a:r>
              <a:rPr lang="en-US" altLang="ko-KR" dirty="0"/>
              <a:t> </a:t>
            </a:r>
            <a:r>
              <a:rPr lang="ko-KR" altLang="en-US" dirty="0"/>
              <a:t>다른 계약 선택 등의 행동을 할 때</a:t>
            </a:r>
            <a:r>
              <a:rPr lang="en-US" altLang="ko-KR" dirty="0"/>
              <a:t>, </a:t>
            </a:r>
            <a:r>
              <a:rPr lang="ko-KR" altLang="en-US" dirty="0" err="1"/>
              <a:t>모달</a:t>
            </a:r>
            <a:r>
              <a:rPr lang="ko-KR" altLang="en-US" dirty="0"/>
              <a:t> 팝업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계약을 변경하시겠습니까</a:t>
            </a:r>
            <a:r>
              <a:rPr lang="en-US" altLang="ko-KR" dirty="0"/>
              <a:t>? (N/Y)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선택</a:t>
            </a:r>
            <a:r>
              <a:rPr lang="en-US" altLang="ko-KR" dirty="0"/>
              <a:t> </a:t>
            </a:r>
            <a:r>
              <a:rPr lang="ko-KR" altLang="en-US" dirty="0"/>
              <a:t>표시 </a:t>
            </a:r>
            <a:r>
              <a:rPr lang="en-US" altLang="ko-KR" dirty="0"/>
              <a:t>(ON/OFF)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선택 시 선택</a:t>
            </a:r>
            <a:r>
              <a:rPr lang="en-US" altLang="ko-KR" dirty="0"/>
              <a:t> </a:t>
            </a:r>
            <a:r>
              <a:rPr lang="ko-KR" altLang="en-US" dirty="0"/>
              <a:t>표시 변경 </a:t>
            </a:r>
            <a:r>
              <a:rPr lang="en-US" altLang="ko-KR" dirty="0"/>
              <a:t>(</a:t>
            </a:r>
            <a:r>
              <a:rPr lang="ko-KR" altLang="en-US" dirty="0"/>
              <a:t>버튼 영역 카드 전체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계약서 선택에 따라 이후 페이지 변경 표시</a:t>
            </a:r>
            <a:r>
              <a:rPr lang="en-US" altLang="ko-KR" dirty="0"/>
              <a:t> : </a:t>
            </a:r>
            <a:r>
              <a:rPr lang="en-US" altLang="ko-KR" dirty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  </a:t>
            </a:r>
            <a:r>
              <a:rPr lang="en-US" altLang="ko-KR" dirty="0"/>
              <a:t>&gt; </a:t>
            </a:r>
            <a:r>
              <a:rPr lang="ko-KR" altLang="en-US" dirty="0"/>
              <a:t>사용목적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시설공사일때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시설공사가 </a:t>
            </a:r>
            <a:r>
              <a:rPr lang="ko-KR" altLang="en-US" dirty="0" err="1"/>
              <a:t>아닐때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작성 내용이 있을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</a:t>
            </a:r>
            <a:r>
              <a:rPr lang="ko-KR" altLang="en-US" dirty="0" err="1"/>
              <a:t>모달</a:t>
            </a:r>
            <a:r>
              <a:rPr lang="ko-KR" altLang="en-US" dirty="0"/>
              <a:t> 팝업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작성을 취소하시겠습니까</a:t>
            </a:r>
            <a:r>
              <a:rPr lang="en-US" altLang="ko-KR" dirty="0"/>
              <a:t>? (N/Y)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 버튼 클릭 </a:t>
            </a:r>
            <a:r>
              <a:rPr lang="en-US" altLang="ko-KR" dirty="0"/>
              <a:t>: </a:t>
            </a:r>
            <a:r>
              <a:rPr lang="ko-KR" altLang="en-US" dirty="0" err="1"/>
              <a:t>신청정보</a:t>
            </a:r>
            <a:r>
              <a:rPr lang="ko-KR" altLang="en-US" dirty="0"/>
              <a:t> 입력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미 선택 시 다음 버튼 비활성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9" name="그룹 68"/>
          <p:cNvGrpSpPr/>
          <p:nvPr/>
        </p:nvGrpSpPr>
        <p:grpSpPr>
          <a:xfrm>
            <a:off x="680570" y="1580377"/>
            <a:ext cx="2712027" cy="266560"/>
            <a:chOff x="680570" y="1580377"/>
            <a:chExt cx="2712027" cy="2665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실적증명서 신청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" name="그룹 15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17" name="직선 연결선 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" name="타원 18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777002" y="2324641"/>
            <a:ext cx="2513244" cy="318596"/>
            <a:chOff x="781461" y="2056702"/>
            <a:chExt cx="2459755" cy="318596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056702"/>
              <a:ext cx="245975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dirty="0">
                  <a:latin typeface="+mn-ea"/>
                </a:rPr>
                <a:t>계약 정보 선택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267576"/>
              <a:ext cx="245975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정보로 실적 증명서를 신청할 수 있습니다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</p:grp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46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 rot="16200000">
            <a:off x="2500331" y="1999831"/>
            <a:ext cx="94010" cy="47005"/>
            <a:chOff x="6812560" y="3297172"/>
            <a:chExt cx="94010" cy="47005"/>
          </a:xfrm>
        </p:grpSpPr>
        <p:cxnSp>
          <p:nvCxnSpPr>
            <p:cNvPr id="88" name="직선 연결선 8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9" name="직선 연결선 8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0" name="그룹 89"/>
          <p:cNvGrpSpPr/>
          <p:nvPr/>
        </p:nvGrpSpPr>
        <p:grpSpPr>
          <a:xfrm rot="16200000">
            <a:off x="2887583" y="1999831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47925" y="1929352"/>
            <a:ext cx="1300316" cy="187961"/>
            <a:chOff x="747925" y="3237230"/>
            <a:chExt cx="1300316" cy="187961"/>
          </a:xfrm>
        </p:grpSpPr>
        <p:grpSp>
          <p:nvGrpSpPr>
            <p:cNvPr id="94" name="그룹 93"/>
            <p:cNvGrpSpPr/>
            <p:nvPr/>
          </p:nvGrpSpPr>
          <p:grpSpPr>
            <a:xfrm>
              <a:off x="747925" y="3237230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06821" y="3277349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 선택</a:t>
              </a: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2645773" y="1929352"/>
            <a:ext cx="187961" cy="187961"/>
            <a:chOff x="2058749" y="3237230"/>
            <a:chExt cx="187961" cy="187961"/>
          </a:xfrm>
        </p:grpSpPr>
        <p:sp>
          <p:nvSpPr>
            <p:cNvPr id="101" name="타원 100"/>
            <p:cNvSpPr/>
            <p:nvPr/>
          </p:nvSpPr>
          <p:spPr>
            <a:xfrm>
              <a:off x="2058749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13806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039523" y="1929352"/>
            <a:ext cx="187961" cy="187961"/>
            <a:chOff x="2714860" y="3237230"/>
            <a:chExt cx="187961" cy="187961"/>
          </a:xfrm>
        </p:grpSpPr>
        <p:sp>
          <p:nvSpPr>
            <p:cNvPr id="106" name="타원 105"/>
            <p:cNvSpPr/>
            <p:nvPr/>
          </p:nvSpPr>
          <p:spPr>
            <a:xfrm>
              <a:off x="2714860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69917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3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67174"/>
            <a:ext cx="2446613" cy="201941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67" name="그룹 266"/>
          <p:cNvGrpSpPr/>
          <p:nvPr/>
        </p:nvGrpSpPr>
        <p:grpSpPr>
          <a:xfrm>
            <a:off x="781461" y="3767371"/>
            <a:ext cx="2473257" cy="784763"/>
            <a:chOff x="781461" y="2610063"/>
            <a:chExt cx="2473257" cy="784763"/>
          </a:xfrm>
        </p:grpSpPr>
        <p:sp>
          <p:nvSpPr>
            <p:cNvPr id="2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 (00)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17827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62378" y="3102438"/>
              <a:ext cx="472886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1" name="모서리가 둥근 직사각형 27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2" name="모서리가 둥근 직사각형 271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0999"/>
            <a:ext cx="76863" cy="292489"/>
            <a:chOff x="3750067" y="4683795"/>
            <a:chExt cx="76863" cy="292489"/>
          </a:xfrm>
        </p:grpSpPr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292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47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361891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335783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357837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83" name="그룹 282"/>
          <p:cNvGrpSpPr/>
          <p:nvPr/>
        </p:nvGrpSpPr>
        <p:grpSpPr>
          <a:xfrm>
            <a:off x="3143548" y="3470204"/>
            <a:ext cx="94010" cy="47005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6" name="그룹 285"/>
          <p:cNvGrpSpPr/>
          <p:nvPr/>
        </p:nvGrpSpPr>
        <p:grpSpPr>
          <a:xfrm>
            <a:off x="767702" y="2757448"/>
            <a:ext cx="2527420" cy="477995"/>
            <a:chOff x="786326" y="2270279"/>
            <a:chExt cx="2527420" cy="477995"/>
          </a:xfrm>
        </p:grpSpPr>
        <p:sp>
          <p:nvSpPr>
            <p:cNvPr id="287" name="모서리가 둥근 직사각형 28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타원 28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9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94" name="그룹 293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95" name="직선 연결선 29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7" name="직선 연결선 2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226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8" name="타원 2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8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020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764560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970176"/>
            <a:ext cx="494347" cy="162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57834" y="38631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3" name="타원 3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374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126" name="그룹 125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447527401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계약을 검색하기 위한 검색 필터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0" name="그룹 219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타원 222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226" name="그룹 22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29" name="그룹 22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24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23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232" name="그룹 23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23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23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2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36" name="그림 2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48" name="그룹 247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50" name="그룹 24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1" name="모서리가 둥근 직사각형 25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3" name="그룹 25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64" name="직선 연결선 2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2" name="모서리가 둥근 직사각형 26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16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27" name="그룹 126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8" name="직사각형 12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9" name="직사각형 12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87351977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신청 정보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수량 </a:t>
            </a:r>
            <a:r>
              <a:rPr lang="en-US" altLang="ko-KR" dirty="0"/>
              <a:t>: 1 </a:t>
            </a:r>
            <a:r>
              <a:rPr lang="ko-KR" altLang="en-US" dirty="0"/>
              <a:t>통 </a:t>
            </a:r>
            <a:r>
              <a:rPr lang="en-US" altLang="ko-KR" dirty="0"/>
              <a:t>~10 </a:t>
            </a:r>
            <a:r>
              <a:rPr lang="ko-KR" altLang="en-US" dirty="0"/>
              <a:t>통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사용목적 </a:t>
            </a:r>
            <a:r>
              <a:rPr lang="en-US" altLang="ko-KR" dirty="0"/>
              <a:t>/ </a:t>
            </a:r>
            <a:r>
              <a:rPr lang="ko-KR" altLang="en-US" dirty="0" err="1"/>
              <a:t>제출유형</a:t>
            </a:r>
            <a:r>
              <a:rPr lang="ko-KR" altLang="en-US" dirty="0"/>
              <a:t>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사용목적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제출유형에</a:t>
            </a:r>
            <a:r>
              <a:rPr lang="ko-KR" altLang="en-US" dirty="0">
                <a:solidFill>
                  <a:srgbClr val="FF0000"/>
                </a:solidFill>
              </a:rPr>
              <a:t> 따라 실적정보입력 항목이 변경됨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A. </a:t>
            </a:r>
            <a:r>
              <a:rPr lang="ko-KR" altLang="en-US" dirty="0"/>
              <a:t>사용목적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선금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착수금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중도금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적격심사제출용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입찰참가용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기타 입력 시 추가 입력 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b. </a:t>
            </a:r>
            <a:r>
              <a:rPr lang="ko-KR" altLang="en-US" dirty="0" err="1"/>
              <a:t>제출유형</a:t>
            </a:r>
            <a:r>
              <a:rPr lang="ko-KR" altLang="en-US" dirty="0"/>
              <a:t>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- 1.</a:t>
            </a:r>
            <a:r>
              <a:rPr lang="ko-KR" altLang="en-US" sz="700" dirty="0"/>
              <a:t>시공실적증명서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적격심사기준에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 </a:t>
            </a:r>
            <a:br>
              <a:rPr lang="en-US" altLang="ko-KR" sz="700" dirty="0"/>
            </a:br>
            <a:r>
              <a:rPr lang="en-US" altLang="ko-KR" sz="700" dirty="0"/>
              <a:t>- 2.</a:t>
            </a:r>
            <a:r>
              <a:rPr lang="ko-KR" altLang="en-US" sz="700" dirty="0" err="1"/>
              <a:t>시공실적</a:t>
            </a:r>
            <a:r>
              <a:rPr lang="en-US" altLang="ko-KR" sz="700" dirty="0"/>
              <a:t>(</a:t>
            </a:r>
            <a:r>
              <a:rPr lang="ko-KR" altLang="en-US" sz="700" dirty="0" err="1"/>
              <a:t>기성율</a:t>
            </a:r>
            <a:r>
              <a:rPr lang="en-US" altLang="ko-KR" sz="700" dirty="0"/>
              <a:t>)</a:t>
            </a:r>
            <a:r>
              <a:rPr lang="ko-KR" altLang="en-US" sz="700" dirty="0"/>
              <a:t>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</a:t>
            </a:r>
            <a:r>
              <a:rPr lang="ko-KR" altLang="en-US" sz="700" dirty="0" err="1"/>
              <a:t>입찰참가자격사전심사</a:t>
            </a:r>
            <a:r>
              <a:rPr lang="ko-KR" altLang="en-US" sz="700" dirty="0"/>
              <a:t> 세부운영기준에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- 3.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종합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- 4.</a:t>
            </a:r>
            <a:r>
              <a:rPr lang="ko-KR" altLang="en-US" sz="700" dirty="0" err="1"/>
              <a:t>건설폐기물처리용역이행</a:t>
            </a:r>
            <a:r>
              <a:rPr lang="ko-KR" altLang="en-US" sz="700" dirty="0"/>
              <a:t>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건설폐기물처리용역 </a:t>
            </a:r>
            <a:r>
              <a:rPr lang="ko-KR" altLang="en-US" sz="700" dirty="0" err="1"/>
              <a:t>적격업체</a:t>
            </a:r>
            <a:r>
              <a:rPr lang="ko-KR" altLang="en-US" sz="700" dirty="0"/>
              <a:t> 평가기준</a:t>
            </a:r>
            <a:r>
              <a:rPr lang="en-US" altLang="ko-KR" sz="700" dirty="0"/>
              <a:t>/</a:t>
            </a:r>
            <a:r>
              <a:rPr lang="ko-KR" altLang="en-US" sz="700" dirty="0"/>
              <a:t>환경부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- 5.</a:t>
            </a:r>
            <a:r>
              <a:rPr lang="ko-KR" altLang="en-US" sz="700" dirty="0" err="1"/>
              <a:t>실적자료</a:t>
            </a:r>
            <a:r>
              <a:rPr lang="ko-KR" altLang="en-US" sz="700" dirty="0"/>
              <a:t> 발주기관 확인서 </a:t>
            </a:r>
            <a:r>
              <a:rPr lang="en-US" altLang="ko-KR" sz="700" dirty="0"/>
              <a:t>[</a:t>
            </a:r>
            <a:r>
              <a:rPr lang="ko-KR" altLang="en-US" sz="700" dirty="0"/>
              <a:t>최저가낙찰제 </a:t>
            </a:r>
            <a:r>
              <a:rPr lang="ko-KR" altLang="en-US" sz="700" dirty="0" err="1"/>
              <a:t>대상공사의</a:t>
            </a:r>
            <a:r>
              <a:rPr lang="ko-KR" altLang="en-US" sz="700" dirty="0"/>
              <a:t> 입찰금액 </a:t>
            </a:r>
            <a:r>
              <a:rPr lang="en-US" altLang="ko-KR" sz="700" dirty="0"/>
              <a:t>(</a:t>
            </a:r>
            <a:r>
              <a:rPr lang="ko-KR" altLang="en-US" sz="700" dirty="0"/>
              <a:t>원</a:t>
            </a:r>
            <a:r>
              <a:rPr lang="en-US" altLang="ko-KR" sz="700" dirty="0"/>
              <a:t>) </a:t>
            </a:r>
            <a:r>
              <a:rPr lang="ko-KR" altLang="en-US" sz="700" dirty="0"/>
              <a:t>적정성 세부심사기준에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- 6.</a:t>
            </a:r>
            <a:r>
              <a:rPr lang="ko-KR" altLang="en-US" sz="700" dirty="0"/>
              <a:t>정보통신공사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정보통신공사업법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전기공제조합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- 7.</a:t>
            </a:r>
            <a:r>
              <a:rPr lang="ko-KR" altLang="en-US" sz="700" dirty="0"/>
              <a:t>소방시설공사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소방시설공사업법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소방시설협회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- 8.</a:t>
            </a:r>
            <a:r>
              <a:rPr lang="ko-KR" altLang="en-US" sz="700" dirty="0"/>
              <a:t>전기공사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전기공사업법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전기공사협회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- 9.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전문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- 10.</a:t>
            </a:r>
            <a:r>
              <a:rPr lang="ko-KR" altLang="en-US" sz="700" dirty="0"/>
              <a:t>건설공사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 </a:t>
            </a:r>
            <a:r>
              <a:rPr lang="en-US" altLang="ko-KR" sz="700" dirty="0"/>
              <a:t>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신청정보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그룹 93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0034" y="1959757"/>
            <a:ext cx="2543426" cy="2532373"/>
            <a:chOff x="740592" y="2562912"/>
            <a:chExt cx="2543426" cy="2532373"/>
          </a:xfrm>
        </p:grpSpPr>
        <p:sp>
          <p:nvSpPr>
            <p:cNvPr id="164" name="모서리가 둥근 직사각형 163"/>
            <p:cNvSpPr/>
            <p:nvPr/>
          </p:nvSpPr>
          <p:spPr>
            <a:xfrm>
              <a:off x="740592" y="2562912"/>
              <a:ext cx="2543426" cy="2532373"/>
            </a:xfrm>
            <a:prstGeom prst="roundRect">
              <a:avLst>
                <a:gd name="adj" fmla="val 3825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43672" y="2624732"/>
              <a:ext cx="2154318" cy="24237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Consolas" panose="020B0609020204030204" pitchFamily="49" charset="0"/>
                </a:rPr>
                <a:t>유의사항</a:t>
              </a:r>
              <a:endParaRPr lang="en-US" altLang="ko-KR" sz="700" b="1" dirty="0">
                <a:latin typeface="Consolas" panose="020B0609020204030204" pitchFamily="49" charset="0"/>
              </a:endParaRP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납품실적증명서의 사용목적이 적격심사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입찰참가용일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대외기관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제출용만</a:t>
              </a:r>
              <a:r>
                <a:rPr lang="ko-KR" altLang="en-US" sz="700" dirty="0">
                  <a:latin typeface="Consolas" panose="020B0609020204030204" pitchFamily="49" charset="0"/>
                </a:rPr>
                <a:t> 발급합니다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청 내부 부서는 해당부서 담당자가 관련 시스템을 통하여 직접 확인 가능하니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담당자와 유선으로 협조하시기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실적증명서 발급 관련문의는 해당 군부대로 해주시기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해당 군부대의 연락처 확인이 어려울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안내센터로</a:t>
              </a:r>
              <a:r>
                <a:rPr lang="ko-KR" altLang="en-US" sz="700" dirty="0">
                  <a:latin typeface="Consolas" panose="020B0609020204030204" pitchFamily="49" charset="0"/>
                </a:rPr>
                <a:t> 문의하시면 안내 받으실 수 있습니다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  <a:br>
                <a:rPr lang="en-US" altLang="ko-KR" sz="700" dirty="0">
                  <a:latin typeface="Consolas" panose="020B0609020204030204" pitchFamily="49" charset="0"/>
                </a:rPr>
              </a:br>
              <a:r>
                <a:rPr lang="en-US" altLang="ko-KR" sz="700" dirty="0">
                  <a:latin typeface="Consolas" panose="020B0609020204030204" pitchFamily="49" charset="0"/>
                </a:rPr>
                <a:t>(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안내센터에서는 부대 연락처 확인만 가능하며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실적증명서 발급 안내는 불가</a:t>
              </a:r>
              <a:r>
                <a:rPr lang="en-US" altLang="ko-KR" sz="700" dirty="0">
                  <a:latin typeface="Consolas" panose="020B0609020204030204" pitchFamily="49" charset="0"/>
                </a:rPr>
                <a:t>)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안내센터 </a:t>
              </a:r>
              <a:r>
                <a:rPr lang="en-US" altLang="ko-KR" sz="700" dirty="0">
                  <a:latin typeface="Consolas" panose="020B0609020204030204" pitchFamily="49" charset="0"/>
                </a:rPr>
                <a:t>: 02-748-0114, 042-550-0114</a:t>
              </a: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13731" y="262946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091512" y="2664908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6" name="그룹 305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신청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11" name="그룹 310"/>
          <p:cNvGrpSpPr/>
          <p:nvPr/>
        </p:nvGrpSpPr>
        <p:grpSpPr>
          <a:xfrm>
            <a:off x="675400" y="2863500"/>
            <a:ext cx="2712026" cy="1467127"/>
            <a:chOff x="675400" y="2590223"/>
            <a:chExt cx="2712026" cy="1467127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4" name="직사각형 313"/>
            <p:cNvSpPr/>
            <p:nvPr/>
          </p:nvSpPr>
          <p:spPr>
            <a:xfrm>
              <a:off x="722583" y="2897708"/>
              <a:ext cx="792000" cy="1086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46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05735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098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08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0" name="그룹 329"/>
          <p:cNvGrpSpPr/>
          <p:nvPr/>
        </p:nvGrpSpPr>
        <p:grpSpPr>
          <a:xfrm>
            <a:off x="3153204" y="3489127"/>
            <a:ext cx="94010" cy="47005"/>
            <a:chOff x="6812560" y="3297172"/>
            <a:chExt cx="94010" cy="47005"/>
          </a:xfrm>
        </p:grpSpPr>
        <p:cxnSp>
          <p:nvCxnSpPr>
            <p:cNvPr id="331" name="직선 연결선 3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2" name="직선 연결선 3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66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83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3153204" y="3916614"/>
            <a:ext cx="94010" cy="47005"/>
            <a:chOff x="6812560" y="3297172"/>
            <a:chExt cx="94010" cy="47005"/>
          </a:xfrm>
        </p:grpSpPr>
        <p:cxnSp>
          <p:nvCxnSpPr>
            <p:cNvPr id="336" name="직선 연결선 3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7" name="직선 연결선 3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6242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기타 내용을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759699" y="4436191"/>
            <a:ext cx="2543426" cy="326142"/>
          </a:xfrm>
          <a:prstGeom prst="roundRect">
            <a:avLst>
              <a:gd name="adj" fmla="val 1903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545401"/>
            <a:ext cx="21543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</p:txBody>
      </p:sp>
      <p:sp>
        <p:nvSpPr>
          <p:cNvPr id="343" name="타원 342"/>
          <p:cNvSpPr/>
          <p:nvPr/>
        </p:nvSpPr>
        <p:spPr>
          <a:xfrm>
            <a:off x="832838" y="4502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4" name="그룹 343"/>
          <p:cNvGrpSpPr/>
          <p:nvPr/>
        </p:nvGrpSpPr>
        <p:grpSpPr>
          <a:xfrm>
            <a:off x="3110619" y="4575760"/>
            <a:ext cx="94010" cy="47005"/>
            <a:chOff x="6812560" y="3297172"/>
            <a:chExt cx="94010" cy="47005"/>
          </a:xfrm>
        </p:grpSpPr>
        <p:cxnSp>
          <p:nvCxnSpPr>
            <p:cNvPr id="345" name="직선 연결선 3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6" name="직선 연결선 3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48" name="그룹 347"/>
          <p:cNvGrpSpPr/>
          <p:nvPr/>
        </p:nvGrpSpPr>
        <p:grpSpPr>
          <a:xfrm>
            <a:off x="3790563" y="1498734"/>
            <a:ext cx="2717198" cy="357754"/>
            <a:chOff x="675399" y="1846937"/>
            <a:chExt cx="2717198" cy="357754"/>
          </a:xfrm>
        </p:grpSpPr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51" name="그룹 35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371" name="직선 연결선 3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2" name="그룹 35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369" name="타원 368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54" name="그룹 353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365" name="직선 연결선 3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5" name="그룹 35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363" name="타원 362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358" name="그룹 357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359" name="타원 3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379" name="TextBox 37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557995158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구분이 방위사업청인 경우 </a:t>
            </a:r>
            <a:r>
              <a:rPr lang="ko-KR" altLang="en-US" dirty="0" err="1"/>
              <a:t>작성항목</a:t>
            </a:r>
            <a:r>
              <a:rPr lang="en-US" altLang="ko-KR" dirty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/>
              <a:t>항목은 불러온 정보 기반으로 정보가 채워져 있으며</a:t>
            </a:r>
            <a:r>
              <a:rPr lang="en-US" altLang="ko-KR" dirty="0"/>
              <a:t>, </a:t>
            </a:r>
            <a:r>
              <a:rPr lang="ko-KR" altLang="en-US" dirty="0"/>
              <a:t>수정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변경에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저장</a:t>
            </a:r>
            <a:r>
              <a:rPr lang="en-US" altLang="ko-KR" dirty="0"/>
              <a:t>, </a:t>
            </a:r>
            <a:r>
              <a:rPr lang="ko-KR" altLang="en-US" dirty="0"/>
              <a:t>신청에 따라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신청이 완료되었습니다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신청한 이후 관리자 </a:t>
            </a:r>
            <a:r>
              <a:rPr lang="en-US" altLang="ko-KR" dirty="0" smtClean="0">
                <a:solidFill>
                  <a:srgbClr val="FF0000"/>
                </a:solidFill>
              </a:rPr>
              <a:t>[</a:t>
            </a:r>
            <a:r>
              <a:rPr lang="ko-KR" altLang="en-US" dirty="0" smtClean="0">
                <a:solidFill>
                  <a:srgbClr val="FF0000"/>
                </a:solidFill>
              </a:rPr>
              <a:t>발급</a:t>
            </a:r>
            <a:r>
              <a:rPr lang="en-US" altLang="ko-KR" dirty="0" smtClean="0">
                <a:solidFill>
                  <a:srgbClr val="FF0000"/>
                </a:solidFill>
              </a:rPr>
              <a:t>]</a:t>
            </a:r>
            <a:r>
              <a:rPr lang="ko-KR" altLang="en-US" dirty="0" smtClean="0">
                <a:solidFill>
                  <a:srgbClr val="FF0000"/>
                </a:solidFill>
              </a:rPr>
              <a:t> 상태에서 실적증명서를 제출할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28" name="그림 32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4935854"/>
            <a:ext cx="134873" cy="137278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87" name="그룹 86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88" name="직선 연결선 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99" name="그룹 98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716366" y="2869580"/>
            <a:ext cx="2630093" cy="2255186"/>
            <a:chOff x="3836701" y="2590223"/>
            <a:chExt cx="2630093" cy="2255186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20" name="직선 연결선 1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1" name="직선 연결선 1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직사각형 121"/>
            <p:cNvSpPr/>
            <p:nvPr/>
          </p:nvSpPr>
          <p:spPr>
            <a:xfrm>
              <a:off x="3838794" y="2897709"/>
              <a:ext cx="792000" cy="19386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정산금액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착수금액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중도금액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보증보험번호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확인요청사항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911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483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5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454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1161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년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81" name="그룹 180"/>
          <p:cNvGrpSpPr/>
          <p:nvPr/>
        </p:nvGrpSpPr>
        <p:grpSpPr>
          <a:xfrm>
            <a:off x="3153204" y="3269885"/>
            <a:ext cx="94010" cy="47005"/>
            <a:chOff x="6812560" y="3297172"/>
            <a:chExt cx="94010" cy="47005"/>
          </a:xfrm>
        </p:grpSpPr>
        <p:cxnSp>
          <p:nvCxnSpPr>
            <p:cNvPr id="182" name="직선 연결선 1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3" name="직선 연결선 1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213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773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51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707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2782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4931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123456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7070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929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2025-12-13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4587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366528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3370903" y="387307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3370903" y="409226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358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60033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3370903" y="49373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3081995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일반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팝업 도움말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>
                <a:latin typeface="맑은 고딕 (본문)"/>
              </a:rPr>
              <a:t>장기계속</a:t>
            </a:r>
            <a:r>
              <a:rPr lang="ko-KR" altLang="en-US" dirty="0">
                <a:latin typeface="맑은 고딕 (본문)"/>
              </a:rPr>
              <a:t> 또는 계속비공사는 </a:t>
            </a:r>
            <a:r>
              <a:rPr lang="ko-KR" altLang="en-US" dirty="0" err="1">
                <a:latin typeface="맑은 고딕 (본문)"/>
              </a:rPr>
              <a:t>총공사기준</a:t>
            </a:r>
            <a:r>
              <a:rPr lang="ko-KR" altLang="en-US" dirty="0">
                <a:latin typeface="맑은 고딕 (본문)"/>
              </a:rPr>
              <a:t> 작성</a:t>
            </a: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>- </a:t>
            </a: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  &gt;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날짜</a:t>
            </a:r>
            <a:r>
              <a:rPr lang="en-US" altLang="ko-KR" dirty="0"/>
              <a:t>, </a:t>
            </a:r>
            <a:r>
              <a:rPr lang="ko-KR" altLang="en-US" dirty="0"/>
              <a:t>일자 등은 날짜 검색 팝업 호출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입력 시 단위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2" name="그룹 161"/>
          <p:cNvGrpSpPr/>
          <p:nvPr/>
        </p:nvGrpSpPr>
        <p:grpSpPr>
          <a:xfrm>
            <a:off x="3836701" y="1947099"/>
            <a:ext cx="2630093" cy="1611734"/>
            <a:chOff x="720490" y="3930133"/>
            <a:chExt cx="2630093" cy="16117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2" name="직선 연결선 1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/>
          <p:cNvGrpSpPr/>
          <p:nvPr/>
        </p:nvGrpSpPr>
        <p:grpSpPr>
          <a:xfrm>
            <a:off x="720490" y="2862923"/>
            <a:ext cx="2630093" cy="1389048"/>
            <a:chOff x="720490" y="2590223"/>
            <a:chExt cx="2630093" cy="1389048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6" name="그룹 185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6" name="직선 연결선 19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7" name="직선 연결선 19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7" name="직사각형 18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8" name="그룹 197"/>
          <p:cNvGrpSpPr/>
          <p:nvPr/>
        </p:nvGrpSpPr>
        <p:grpSpPr>
          <a:xfrm>
            <a:off x="3836701" y="3726810"/>
            <a:ext cx="2630093" cy="1611734"/>
            <a:chOff x="720490" y="3930133"/>
            <a:chExt cx="2630093" cy="1611734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0" name="그룹 19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4" name="그룹 213"/>
          <p:cNvGrpSpPr/>
          <p:nvPr/>
        </p:nvGrpSpPr>
        <p:grpSpPr>
          <a:xfrm>
            <a:off x="4965217" y="1994801"/>
            <a:ext cx="243478" cy="144000"/>
            <a:chOff x="5087822" y="2638846"/>
            <a:chExt cx="243478" cy="144000"/>
          </a:xfrm>
        </p:grpSpPr>
        <p:sp>
          <p:nvSpPr>
            <p:cNvPr id="215" name="타원 21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모서리가 둥근 직사각형 21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199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219" name="그림 21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296967"/>
            <a:ext cx="134873" cy="137278"/>
          </a:xfrm>
          <a:prstGeom prst="rect">
            <a:avLst/>
          </a:prstGeom>
        </p:spPr>
      </p:pic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29016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207"/>
            <a:ext cx="134873" cy="137278"/>
          </a:xfrm>
          <a:prstGeom prst="rect">
            <a:avLst/>
          </a:prstGeom>
        </p:spPr>
      </p:pic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14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8422"/>
            <a:ext cx="134873" cy="137278"/>
          </a:xfrm>
          <a:prstGeom prst="rect">
            <a:avLst/>
          </a:prstGeom>
        </p:spPr>
      </p:pic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161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9372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1522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7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072919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0661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294159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2873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504374"/>
            <a:ext cx="134873" cy="137278"/>
          </a:xfrm>
          <a:prstGeom prst="rect">
            <a:avLst/>
          </a:prstGeom>
        </p:spPr>
      </p:pic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49756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713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9282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51432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24822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31538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4513093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계약에 정보가 있다면</a:t>
            </a:r>
            <a:r>
              <a:rPr lang="en-US" altLang="ko-KR" dirty="0"/>
              <a:t>, </a:t>
            </a:r>
            <a:r>
              <a:rPr lang="ko-KR" altLang="en-US" dirty="0"/>
              <a:t>정보 기반으로 완성</a:t>
            </a:r>
            <a:r>
              <a:rPr lang="en-US" altLang="ko-KR" dirty="0"/>
              <a:t>, </a:t>
            </a:r>
            <a:r>
              <a:rPr lang="ko-KR" altLang="en-US" dirty="0"/>
              <a:t>정보가 없는 경우 선택되어 있지 않음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716366" y="1930462"/>
            <a:ext cx="2630093" cy="1904757"/>
            <a:chOff x="1108393" y="2993988"/>
            <a:chExt cx="2630093" cy="190475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6" name="그룹 245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267" name="직선 연결선 2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47" name="직사각형 246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2" name="그룹 251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직사각형 26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TextBox 26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53" name="그룹 25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56" name="직사각형 255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직사각형 256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직사각형 257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TextBox 258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0" name="직사각형 259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직사각형 260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9" name="그룹 268"/>
          <p:cNvGrpSpPr/>
          <p:nvPr/>
        </p:nvGrpSpPr>
        <p:grpSpPr>
          <a:xfrm>
            <a:off x="716366" y="3990718"/>
            <a:ext cx="2630093" cy="957295"/>
            <a:chOff x="716366" y="4635456"/>
            <a:chExt cx="2630093" cy="957295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271" name="그룹 270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282" name="직선 연결선 2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2" name="직사각형 271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76" name="그룹 27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278" name="그룹 27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279" name="타원 27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타원 279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1" name="타원 280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284" name="그룹 283"/>
          <p:cNvGrpSpPr/>
          <p:nvPr/>
        </p:nvGrpSpPr>
        <p:grpSpPr>
          <a:xfrm>
            <a:off x="3836701" y="1930462"/>
            <a:ext cx="2630093" cy="2026729"/>
            <a:chOff x="3836701" y="2575200"/>
            <a:chExt cx="2630093" cy="202672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86" name="그룹 285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87" name="직사각형 286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93" name="직사각형 29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직사각형 29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직사각형 294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TextBox 29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7" name="직사각형 296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직사각형 297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직사각형 298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직사각형 299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직사각형 300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직사각형 301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직사각형 302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0975219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>
                <a:latin typeface="+mn-ea"/>
              </a:rPr>
              <a:t>도움말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공동수급체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구성원별로</a:t>
            </a:r>
            <a:r>
              <a:rPr lang="ko-KR" altLang="en-US" dirty="0">
                <a:latin typeface="+mn-ea"/>
              </a:rPr>
              <a:t> 구분 작성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7" name="그룹 116"/>
          <p:cNvGrpSpPr/>
          <p:nvPr/>
        </p:nvGrpSpPr>
        <p:grpSpPr>
          <a:xfrm>
            <a:off x="675400" y="1931806"/>
            <a:ext cx="2712026" cy="1870687"/>
            <a:chOff x="675400" y="2590223"/>
            <a:chExt cx="2712026" cy="187068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2" name="직선 연결선 16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0" name="직사각형 119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0" name="그룹 169"/>
          <p:cNvGrpSpPr/>
          <p:nvPr/>
        </p:nvGrpSpPr>
        <p:grpSpPr>
          <a:xfrm>
            <a:off x="675400" y="3831367"/>
            <a:ext cx="2712026" cy="1888105"/>
            <a:chOff x="675400" y="4489784"/>
            <a:chExt cx="2712026" cy="1888105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2" name="그룹 171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직사각형 172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9" name="그룹 188"/>
          <p:cNvGrpSpPr/>
          <p:nvPr/>
        </p:nvGrpSpPr>
        <p:grpSpPr>
          <a:xfrm>
            <a:off x="3795734" y="1931806"/>
            <a:ext cx="2712026" cy="1888105"/>
            <a:chOff x="3832578" y="3081088"/>
            <a:chExt cx="2712026" cy="1888105"/>
          </a:xfrm>
        </p:grpSpPr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1" name="그룹 190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06" name="직선 연결선 2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7" name="직선 연결선 2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2" name="직사각형 191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8" name="그룹 207"/>
          <p:cNvGrpSpPr/>
          <p:nvPr/>
        </p:nvGrpSpPr>
        <p:grpSpPr>
          <a:xfrm>
            <a:off x="3795734" y="3926870"/>
            <a:ext cx="2712027" cy="789495"/>
            <a:chOff x="675399" y="1544009"/>
            <a:chExt cx="2712027" cy="789495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10" name="그룹 20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6" name="그룹 215"/>
          <p:cNvGrpSpPr/>
          <p:nvPr/>
        </p:nvGrpSpPr>
        <p:grpSpPr>
          <a:xfrm>
            <a:off x="3795734" y="4823498"/>
            <a:ext cx="2712027" cy="789495"/>
            <a:chOff x="675399" y="1544009"/>
            <a:chExt cx="2712027" cy="78949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23" name="직선 연결선 2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26" name="그룹 225"/>
          <p:cNvGrpSpPr/>
          <p:nvPr/>
        </p:nvGrpSpPr>
        <p:grpSpPr>
          <a:xfrm>
            <a:off x="1323017" y="1994801"/>
            <a:ext cx="243478" cy="144000"/>
            <a:chOff x="5087822" y="2638846"/>
            <a:chExt cx="243478" cy="144000"/>
          </a:xfrm>
        </p:grpSpPr>
        <p:sp>
          <p:nvSpPr>
            <p:cNvPr id="227" name="타원 226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모서리가 둥근 직사각형 227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292366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292366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314437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314437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42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8959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288216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482863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482863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504934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504934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2792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494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478713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1709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3992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614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2933221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2933221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3153932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3153932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838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99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620401" y="2891723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755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38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89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25197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5138469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052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409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6" name="타원 3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71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39776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48792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333196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>
                <a:latin typeface="+mn-ea"/>
              </a:rPr>
              <a:t>하도급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도움말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하도급자별로 </a:t>
            </a:r>
            <a:r>
              <a:rPr lang="ko-KR" altLang="en-US" dirty="0" err="1">
                <a:latin typeface="+mn-ea"/>
              </a:rPr>
              <a:t>구분작성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전문건설업자에게 하도급 한 경우는 해당없음으로 표기</a:t>
            </a:r>
            <a:r>
              <a:rPr lang="en-US" altLang="ko-KR" dirty="0">
                <a:latin typeface="+mn-ea"/>
              </a:rPr>
              <a:t>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>
                <a:latin typeface="+mn-ea"/>
              </a:rPr>
              <a:t>[</a:t>
            </a:r>
            <a:r>
              <a:rPr lang="en-US" altLang="ko-KR" dirty="0"/>
              <a:t>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 </a:t>
            </a:r>
            <a:r>
              <a:rPr lang="ko-KR" altLang="en-US" dirty="0"/>
              <a:t>명칭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1795" y="1931536"/>
            <a:ext cx="221221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내용</a:t>
            </a:r>
          </a:p>
        </p:txBody>
      </p:sp>
      <p:grpSp>
        <p:nvGrpSpPr>
          <p:cNvPr id="212" name="그룹 211"/>
          <p:cNvGrpSpPr/>
          <p:nvPr/>
        </p:nvGrpSpPr>
        <p:grpSpPr>
          <a:xfrm flipV="1">
            <a:off x="6263882" y="2044867"/>
            <a:ext cx="94010" cy="47005"/>
            <a:chOff x="6812560" y="3297172"/>
            <a:chExt cx="94010" cy="47005"/>
          </a:xfrm>
        </p:grpSpPr>
        <p:cxnSp>
          <p:nvCxnSpPr>
            <p:cNvPr id="249" name="직선 연결선 24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0" name="직선 연결선 24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51" name="그룹 250"/>
          <p:cNvGrpSpPr/>
          <p:nvPr/>
        </p:nvGrpSpPr>
        <p:grpSpPr>
          <a:xfrm>
            <a:off x="675399" y="192761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3" name="그룹 252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675399" y="2824245"/>
            <a:ext cx="2712027" cy="789495"/>
            <a:chOff x="675399" y="1544009"/>
            <a:chExt cx="2712027" cy="789495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5" name="직선 연결선 2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7" name="그룹 266"/>
          <p:cNvGrpSpPr/>
          <p:nvPr/>
        </p:nvGrpSpPr>
        <p:grpSpPr>
          <a:xfrm>
            <a:off x="675399" y="3724695"/>
            <a:ext cx="2712027" cy="789495"/>
            <a:chOff x="675399" y="1544009"/>
            <a:chExt cx="2712027" cy="78949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9" name="그룹 26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73" name="직선 연결선 2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03" name="그룹 302"/>
          <p:cNvGrpSpPr/>
          <p:nvPr/>
        </p:nvGrpSpPr>
        <p:grpSpPr>
          <a:xfrm>
            <a:off x="3795734" y="4608602"/>
            <a:ext cx="2712027" cy="792634"/>
            <a:chOff x="675399" y="1544009"/>
            <a:chExt cx="2712027" cy="792634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5" name="그룹 30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9" name="직선 연결선 30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2250157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315779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405168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927558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2239021"/>
            <a:ext cx="2712026" cy="724779"/>
            <a:chOff x="3795734" y="2239021"/>
            <a:chExt cx="2712026" cy="724779"/>
          </a:xfrm>
        </p:grpSpPr>
        <p:sp>
          <p:nvSpPr>
            <p:cNvPr id="221" name="직사각형 220"/>
            <p:cNvSpPr/>
            <p:nvPr/>
          </p:nvSpPr>
          <p:spPr>
            <a:xfrm>
              <a:off x="3842917" y="2239021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223902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452774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6747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9250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29638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69574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27385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4354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261704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48328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71237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43" name="그룹 342"/>
          <p:cNvGrpSpPr/>
          <p:nvPr/>
        </p:nvGrpSpPr>
        <p:grpSpPr>
          <a:xfrm>
            <a:off x="4418527" y="1994801"/>
            <a:ext cx="243478" cy="144000"/>
            <a:chOff x="5087822" y="2638846"/>
            <a:chExt cx="243478" cy="144000"/>
          </a:xfrm>
        </p:grpSpPr>
        <p:sp>
          <p:nvSpPr>
            <p:cNvPr id="344" name="타원 343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모서리가 둥근 직사각형 344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346" name="타원 3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795734" y="3014373"/>
            <a:ext cx="2712026" cy="724779"/>
            <a:chOff x="3795734" y="3007446"/>
            <a:chExt cx="2712026" cy="724779"/>
          </a:xfrm>
        </p:grpSpPr>
        <p:sp>
          <p:nvSpPr>
            <p:cNvPr id="347" name="직사각형 346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1" name="직선 연결선 3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55" name="직선 연결선 3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59" name="그룹 358"/>
          <p:cNvGrpSpPr/>
          <p:nvPr/>
        </p:nvGrpSpPr>
        <p:grpSpPr>
          <a:xfrm>
            <a:off x="3795734" y="3790541"/>
            <a:ext cx="2712026" cy="724779"/>
            <a:chOff x="3795734" y="3007446"/>
            <a:chExt cx="2712026" cy="724779"/>
          </a:xfrm>
        </p:grpSpPr>
        <p:sp>
          <p:nvSpPr>
            <p:cNvPr id="360" name="직사각형 359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4" name="직선 연결선 3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 3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68" name="직선 연결선 3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2" name="타원 3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60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46513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25895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3393203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720490" y="1948159"/>
            <a:ext cx="2630093" cy="2031034"/>
            <a:chOff x="720490" y="2590223"/>
            <a:chExt cx="2630093" cy="20310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4" name="직선 연결선 18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33331"/>
            <a:ext cx="76863" cy="292489"/>
            <a:chOff x="3750067" y="4683795"/>
            <a:chExt cx="76863" cy="292489"/>
          </a:xfrm>
        </p:grpSpPr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9" name="타원 18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47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513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81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4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62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79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26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77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76474205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70276257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682044"/>
            <a:chOff x="720490" y="3930133"/>
            <a:chExt cx="2630093" cy="2682044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백만원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218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4296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16353341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수집</a:t>
            </a:r>
            <a:r>
              <a:rPr lang="en-US" altLang="ko-KR" dirty="0"/>
              <a:t>/</a:t>
            </a:r>
            <a:r>
              <a:rPr lang="ko-KR" altLang="en-US" dirty="0"/>
              <a:t>운반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중간처리용역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8" name="그룹 137"/>
          <p:cNvGrpSpPr/>
          <p:nvPr/>
        </p:nvGrpSpPr>
        <p:grpSpPr>
          <a:xfrm>
            <a:off x="3836701" y="1952113"/>
            <a:ext cx="2630093" cy="2031034"/>
            <a:chOff x="720490" y="3930133"/>
            <a:chExt cx="2630093" cy="203103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3" name="직선 연결선 18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4" name="직선 연결선 1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5" name="그룹 184"/>
          <p:cNvGrpSpPr/>
          <p:nvPr/>
        </p:nvGrpSpPr>
        <p:grpSpPr>
          <a:xfrm>
            <a:off x="720490" y="2860457"/>
            <a:ext cx="2630093" cy="1393412"/>
            <a:chOff x="720490" y="2590223"/>
            <a:chExt cx="2630093" cy="1393412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7" name="직선 연결선 1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8" name="직사각형 187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419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2993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6547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2005971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03" name="그룹 202"/>
          <p:cNvGrpSpPr/>
          <p:nvPr/>
        </p:nvGrpSpPr>
        <p:grpSpPr>
          <a:xfrm>
            <a:off x="4247045" y="2063468"/>
            <a:ext cx="94010" cy="47005"/>
            <a:chOff x="6812560" y="3297172"/>
            <a:chExt cx="94010" cy="47005"/>
          </a:xfrm>
        </p:grpSpPr>
        <p:cxnSp>
          <p:nvCxnSpPr>
            <p:cNvPr id="205" name="직선 연결선 2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6" name="직선 연결선 2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7322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963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9260"/>
            <a:ext cx="134873" cy="137278"/>
          </a:xfrm>
          <a:prstGeom prst="rect">
            <a:avLst/>
          </a:prstGeom>
        </p:spPr>
      </p:pic>
      <p:sp>
        <p:nvSpPr>
          <p:cNvPr id="2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24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11" name="그림 21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33412"/>
            <a:ext cx="134873" cy="137278"/>
          </a:xfrm>
          <a:prstGeom prst="rect">
            <a:avLst/>
          </a:prstGeom>
        </p:spPr>
      </p:pic>
      <p:sp>
        <p:nvSpPr>
          <p:cNvPr id="2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66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8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883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803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5258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3836701" y="4116532"/>
            <a:ext cx="2630093" cy="2031034"/>
            <a:chOff x="720490" y="3930133"/>
            <a:chExt cx="2630093" cy="2031034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32" name="직선 연결선 23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620639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4170390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6" name="그룹 235"/>
          <p:cNvGrpSpPr/>
          <p:nvPr/>
        </p:nvGrpSpPr>
        <p:grpSpPr>
          <a:xfrm>
            <a:off x="4247045" y="4227887"/>
            <a:ext cx="94010" cy="47005"/>
            <a:chOff x="6812560" y="3297172"/>
            <a:chExt cx="94010" cy="47005"/>
          </a:xfrm>
        </p:grpSpPr>
        <p:cxnSp>
          <p:nvCxnSpPr>
            <p:cNvPr id="237" name="직선 연결선 2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0" name="직선 연결선 2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5376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540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6" name="그림 265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683679"/>
            <a:ext cx="134873" cy="137278"/>
          </a:xfrm>
          <a:prstGeom prst="rect">
            <a:avLst/>
          </a:prstGeom>
        </p:spPr>
      </p:pic>
      <p:sp>
        <p:nvSpPr>
          <p:cNvPr id="2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6768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8" name="그림 2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897831"/>
            <a:ext cx="134873" cy="137278"/>
          </a:xfrm>
          <a:prstGeom prst="rect">
            <a:avLst/>
          </a:prstGeom>
        </p:spPr>
      </p:pic>
      <p:sp>
        <p:nvSpPr>
          <p:cNvPr id="2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8910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1026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7527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9675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31700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38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1869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3366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40745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88995832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3795734" y="1939881"/>
            <a:ext cx="2712026" cy="2290159"/>
            <a:chOff x="3795734" y="2590223"/>
            <a:chExt cx="2712026" cy="2290159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3838794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88038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MUI-CM-04-T16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/>
              <a:t>1,000 </a:t>
            </a:r>
            <a:r>
              <a:rPr kumimoji="1" lang="ko-KR" altLang="en-US" sz="700" kern="0" dirty="0"/>
              <a:t>천원</a:t>
            </a:r>
            <a:endParaRPr kumimoji="1" lang="en-US" altLang="ko-KR" sz="700" kern="0" dirty="0"/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3151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858"/>
            <a:ext cx="134873" cy="13727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5180"/>
            <a:ext cx="134873" cy="13727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932670"/>
            <a:ext cx="134873" cy="137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679074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720490" y="2863519"/>
            <a:ext cx="2630093" cy="1179711"/>
            <a:chOff x="720490" y="2590223"/>
            <a:chExt cx="2630093" cy="117971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59" name="그룹 15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4" name="직선 연결선 1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1" name="그룹 190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</a:t>
              </a: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직사각형 193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공사지역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332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60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37845073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675399" y="1941793"/>
            <a:ext cx="2712026" cy="2316283"/>
            <a:chOff x="675399" y="2590223"/>
            <a:chExt cx="2712026" cy="2316283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0" name="직사각형 109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grpSp>
        <p:nvGrpSpPr>
          <p:cNvPr id="128" name="그룹 127"/>
          <p:cNvGrpSpPr/>
          <p:nvPr/>
        </p:nvGrpSpPr>
        <p:grpSpPr>
          <a:xfrm>
            <a:off x="3795735" y="1941793"/>
            <a:ext cx="2712026" cy="2142112"/>
            <a:chOff x="675399" y="2590223"/>
            <a:chExt cx="2712026" cy="214211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30" name="그룹 129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1" name="직사각형 130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09205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864694653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720490" y="2863519"/>
            <a:ext cx="2630093" cy="1393412"/>
            <a:chOff x="720490" y="2590223"/>
            <a:chExt cx="2630093" cy="1393412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643" y="40696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 공사 내역</a:t>
              </a: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/>
                <a:t>김길동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주무관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111111</a:t>
              </a:r>
            </a:p>
          </p:txBody>
        </p: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292756454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하도급 업체 </a:t>
            </a:r>
            <a:r>
              <a:rPr lang="en-US" altLang="ko-KR" dirty="0"/>
              <a:t>2</a:t>
            </a:r>
            <a:r>
              <a:rPr lang="ko-KR" altLang="en-US" dirty="0"/>
              <a:t>군데 입력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438591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241" name="그룹 240"/>
          <p:cNvGrpSpPr/>
          <p:nvPr/>
        </p:nvGrpSpPr>
        <p:grpSpPr>
          <a:xfrm>
            <a:off x="675399" y="1940354"/>
            <a:ext cx="2712026" cy="2316283"/>
            <a:chOff x="675399" y="2590223"/>
            <a:chExt cx="2712026" cy="2316283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74" name="직선 연결선 2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7" name="직사각형 256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grpSp>
        <p:nvGrpSpPr>
          <p:cNvPr id="276" name="그룹 275"/>
          <p:cNvGrpSpPr/>
          <p:nvPr/>
        </p:nvGrpSpPr>
        <p:grpSpPr>
          <a:xfrm>
            <a:off x="3795735" y="1940354"/>
            <a:ext cx="2712026" cy="2142112"/>
            <a:chOff x="675399" y="2590223"/>
            <a:chExt cx="2712026" cy="214211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78" name="그룹 277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88" name="직선 연결선 2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9" name="직사각형 278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94" name="그룹 293"/>
          <p:cNvGrpSpPr/>
          <p:nvPr/>
        </p:nvGrpSpPr>
        <p:grpSpPr>
          <a:xfrm>
            <a:off x="5087822" y="1988977"/>
            <a:ext cx="243478" cy="144000"/>
            <a:chOff x="5087822" y="2638846"/>
            <a:chExt cx="243478" cy="144000"/>
          </a:xfrm>
        </p:grpSpPr>
        <p:sp>
          <p:nvSpPr>
            <p:cNvPr id="295" name="타원 29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6" name="모서리가 둥근 직사각형 29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97" name="그룹 296"/>
          <p:cNvGrpSpPr/>
          <p:nvPr/>
        </p:nvGrpSpPr>
        <p:grpSpPr>
          <a:xfrm>
            <a:off x="3795734" y="4189747"/>
            <a:ext cx="2712027" cy="789495"/>
            <a:chOff x="675399" y="1544009"/>
            <a:chExt cx="2712027" cy="789495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9" name="그룹 29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19820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7" name="타원 3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22722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51318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500653344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입력 테이블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en-US" altLang="ko-KR" dirty="0"/>
              <a:t>4</a:t>
            </a:r>
            <a:r>
              <a:rPr lang="ko-KR" altLang="en-US" dirty="0"/>
              <a:t>개 반복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 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0" name="그룹 119"/>
          <p:cNvGrpSpPr/>
          <p:nvPr/>
        </p:nvGrpSpPr>
        <p:grpSpPr>
          <a:xfrm>
            <a:off x="675399" y="1940354"/>
            <a:ext cx="2712026" cy="3108762"/>
            <a:chOff x="675399" y="2607641"/>
            <a:chExt cx="2712026" cy="3108762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0" name="직선 연결선 1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3" name="직사각형 122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3247"/>
            <a:ext cx="76863" cy="292489"/>
            <a:chOff x="3750067" y="4683795"/>
            <a:chExt cx="76863" cy="292489"/>
          </a:xfrm>
        </p:grpSpPr>
        <p:sp>
          <p:nvSpPr>
            <p:cNvPr id="165" name="타원 1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947309"/>
            <a:ext cx="134873" cy="13727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877"/>
            <a:ext cx="134873" cy="137278"/>
          </a:xfrm>
          <a:prstGeom prst="rect">
            <a:avLst/>
          </a:prstGeom>
        </p:spPr>
      </p:pic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44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14009338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15055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243738"/>
            <a:chOff x="720490" y="3930133"/>
            <a:chExt cx="2630093" cy="2243738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19362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74955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584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천원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91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478629436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1870756"/>
            <a:chOff x="3795734" y="1939881"/>
            <a:chExt cx="2712026" cy="187075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7"/>
              <a:ext cx="792000" cy="1517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81063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767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634198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376585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97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11205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5901584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비용정보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 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036160"/>
            <a:chOff x="720490" y="3930133"/>
            <a:chExt cx="2630093" cy="2036160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9"/>
              <a:ext cx="792000" cy="17286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68924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53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04080"/>
              <a:ext cx="792000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en-US" altLang="ko-KR" sz="700" dirty="0"/>
                <a:t> </a:t>
              </a:r>
              <a:r>
                <a:rPr lang="ko-KR" altLang="en-US" sz="700" dirty="0" err="1"/>
                <a:t>세부공종</a:t>
              </a:r>
              <a:r>
                <a:rPr lang="en-US" altLang="ko-KR" sz="700" dirty="0"/>
                <a:t>(</a:t>
              </a:r>
              <a:r>
                <a:rPr lang="ko-KR" altLang="en-US" sz="700" dirty="0" err="1"/>
                <a:t>전문공사</a:t>
              </a:r>
              <a:r>
                <a:rPr lang="en-US" altLang="ko-KR" sz="700" dirty="0"/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0792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81777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060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583729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85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375472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139425" y="2347239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직선 연결선 1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05" name="그림 104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793402"/>
            <a:ext cx="134873" cy="137278"/>
          </a:xfrm>
          <a:prstGeom prst="rect">
            <a:avLst/>
          </a:prstGeom>
        </p:spPr>
      </p:pic>
      <p:grpSp>
        <p:nvGrpSpPr>
          <p:cNvPr id="106" name="그룹 105"/>
          <p:cNvGrpSpPr/>
          <p:nvPr/>
        </p:nvGrpSpPr>
        <p:grpSpPr>
          <a:xfrm>
            <a:off x="3139425" y="2840003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64141882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1,000,000 </a:t>
            </a:r>
            <a:r>
              <a:rPr lang="ko-KR" altLang="en-US" dirty="0"/>
              <a:t>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노출항목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군수품</a:t>
            </a:r>
            <a:r>
              <a:rPr lang="en-US" altLang="ko-KR" dirty="0"/>
              <a:t>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그 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2873472"/>
            <a:ext cx="2712026" cy="2744695"/>
            <a:chOff x="3795734" y="2590223"/>
            <a:chExt cx="2712026" cy="2744695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추가사항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70" name="직선 연결선 16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2" name="직사각형 171"/>
            <p:cNvSpPr/>
            <p:nvPr/>
          </p:nvSpPr>
          <p:spPr>
            <a:xfrm>
              <a:off x="3838794" y="2897709"/>
              <a:ext cx="792000" cy="236095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실적비율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실적금액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품질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err="1">
                  <a:latin typeface="+mn-ea"/>
                </a:rPr>
                <a:t>성능통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33491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461893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용역범위</a:t>
              </a:r>
              <a:r>
                <a:rPr lang="ko-KR" altLang="en-US" sz="700" dirty="0">
                  <a:latin typeface="+mn-ea"/>
                </a:rPr>
                <a:t> 및 기준</a:t>
              </a:r>
            </a:p>
            <a:p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면적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9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6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09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586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80545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3139425" y="3267506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/>
          <p:cNvSpPr txBox="1"/>
          <p:nvPr/>
        </p:nvSpPr>
        <p:spPr>
          <a:xfrm>
            <a:off x="2333362" y="3194042"/>
            <a:ext cx="24718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~</a:t>
            </a:r>
            <a:endParaRPr lang="ko-KR" altLang="en-US" sz="700" dirty="0"/>
          </a:p>
        </p:txBody>
      </p: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2371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2121251" y="3267506"/>
            <a:ext cx="94010" cy="47005"/>
            <a:chOff x="6812560" y="3297172"/>
            <a:chExt cx="94010" cy="47005"/>
          </a:xfrm>
        </p:grpSpPr>
        <p:cxnSp>
          <p:nvCxnSpPr>
            <p:cNvPr id="220" name="직선 연결선 2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1" name="직선 연결선 2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337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223" name="그룹 222"/>
          <p:cNvGrpSpPr/>
          <p:nvPr/>
        </p:nvGrpSpPr>
        <p:grpSpPr>
          <a:xfrm>
            <a:off x="3139425" y="3488141"/>
            <a:ext cx="94010" cy="47005"/>
            <a:chOff x="6812560" y="3297172"/>
            <a:chExt cx="94010" cy="47005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직선 연결선 2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6509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9194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4304301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724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5180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7186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92106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1425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3589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66388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409440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219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52138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3370903" y="473270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4" name="모서리가 둥근 직사각형 243"/>
          <p:cNvSpPr/>
          <p:nvPr/>
        </p:nvSpPr>
        <p:spPr>
          <a:xfrm>
            <a:off x="3370903" y="493376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3370903" y="515327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  <p:sp>
        <p:nvSpPr>
          <p:cNvPr id="8" name="직사각형 7"/>
          <p:cNvSpPr/>
          <p:nvPr/>
        </p:nvSpPr>
        <p:spPr>
          <a:xfrm>
            <a:off x="7074694" y="5923505"/>
            <a:ext cx="2369315" cy="38898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err="1"/>
              <a:t>노차장님</a:t>
            </a:r>
            <a:r>
              <a:rPr lang="ko-KR" altLang="en-US" sz="400" dirty="0"/>
              <a:t> 확인 필요</a:t>
            </a:r>
            <a:r>
              <a:rPr lang="en-US" altLang="ko-KR" sz="400" dirty="0"/>
              <a:t>.</a:t>
            </a:r>
          </a:p>
          <a:p>
            <a:pPr algn="ctr"/>
            <a:endParaRPr lang="en-US" altLang="ko-KR" sz="400" dirty="0"/>
          </a:p>
          <a:p>
            <a:pPr algn="ctr"/>
            <a:r>
              <a:rPr lang="ko-KR" altLang="en-US" sz="400" dirty="0"/>
              <a:t>물품</a:t>
            </a:r>
            <a:r>
              <a:rPr lang="en-US" altLang="ko-KR" sz="400" dirty="0"/>
              <a:t>/</a:t>
            </a:r>
            <a:r>
              <a:rPr lang="ko-KR" altLang="en-US" sz="400" dirty="0" err="1"/>
              <a:t>군수품일때</a:t>
            </a:r>
            <a:r>
              <a:rPr lang="ko-KR" altLang="en-US" sz="400" dirty="0"/>
              <a:t> </a:t>
            </a:r>
            <a:r>
              <a:rPr lang="en-US" altLang="ko-KR" sz="400" dirty="0"/>
              <a:t>:  ②⑧⑨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④⑤⑥⑦ : active,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3 : disable</a:t>
            </a:r>
          </a:p>
          <a:p>
            <a:pPr algn="ctr"/>
            <a:r>
              <a:rPr lang="ko-KR" altLang="en-US" sz="400" dirty="0"/>
              <a:t>그 외 </a:t>
            </a:r>
            <a:r>
              <a:rPr lang="ko-KR" altLang="en-US" sz="400" dirty="0" err="1"/>
              <a:t>일때</a:t>
            </a:r>
            <a:r>
              <a:rPr lang="ko-KR" altLang="en-US" sz="400" dirty="0"/>
              <a:t>         </a:t>
            </a:r>
            <a:r>
              <a:rPr lang="en-US" altLang="ko-KR" sz="400" dirty="0"/>
              <a:t>:  ②⑧ : active, ④⑤⑥⑦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1,2 : disable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3423887248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ctrtInst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2999" y="2143255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303234"/>
              </p:ext>
            </p:extLst>
          </p:nvPr>
        </p:nvGraphicFramePr>
        <p:xfrm>
          <a:off x="452999" y="2354458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dsbofrTel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F34B8CE-1ABB-F150-1327-3373CEA1C65A}"/>
              </a:ext>
            </a:extLst>
          </p:cNvPr>
          <p:cNvSpPr txBox="1"/>
          <p:nvPr/>
        </p:nvSpPr>
        <p:spPr>
          <a:xfrm>
            <a:off x="452999" y="4677684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9045936-57F6-F3EA-C491-B82A0DED9AB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89136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sbmsnDeptNm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1DCF60F-18A8-3BB4-41A1-F17B43F7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8448984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22075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40913"/>
              </p:ext>
            </p:extLst>
          </p:nvPr>
        </p:nvGraphicFramePr>
        <p:xfrm>
          <a:off x="458117" y="1033278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089635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00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09033"/>
            <a:ext cx="52872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202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88E6329-F98D-BBA4-9329-4767233D4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614011127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750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36199"/>
              </p:ext>
            </p:extLst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4104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공사성질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msb_prfmncPrdocAplyCstrnTypeInfo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8353" y="3795223"/>
            <a:ext cx="44617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rad_prfmncPrdocAplyJntCtrcInfo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400642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3B425BEC-47CD-CD5A-3F29-5C4F48522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37094785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7731225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1064351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803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14700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3796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1386225-D664-D673-3575-749B0598A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090412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510736" y="952078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61923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128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2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CODE.getCsrtDivsSub1()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2DC87E8-B095-9797-67BA-FAE74F2A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5497814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759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7569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8755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6E16C6D-EBCC-AEC4-9DA3-3596FBA7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76448138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63235" y="837759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896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16782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27985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22AB7D3-1330-192A-380E-E2C81C8EB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24731997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887706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0989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652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266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477932"/>
          <a:ext cx="8994883" cy="2642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피난설비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소화용수설비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소화활동설비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57284C7-242C-13C2-BEA2-98E155EEF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222683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1066746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79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953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40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9858650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1096221"/>
            <a:ext cx="5659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307424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199488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6783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1903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509045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20248"/>
          <a:ext cx="8994883" cy="288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산업시설물전기설비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구조물전기설비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도로전기설비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공항전기설비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항만전기설비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전기철도설비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철도신호설비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전기설비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일반경쟁입찰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자가수요공사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67EA6EC-EB5B-ACE9-B68A-3273A9D77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4662702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1860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2403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66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654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3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60676" y="3418276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629479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66009"/>
            <a:ext cx="42357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77212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798F4079-1F4A-3AA2-EDD7-670B7B3A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64966135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3352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4555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9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39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460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FF465BE-D071-908C-E037-42D480D0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718580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508776" y="1135677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2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17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05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1466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48850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58117" y="905416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2DD5028-C8D4-B1A6-19BF-AF43B8A50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762814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61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281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28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571C2C5-D197-A374-72B6-4AC77070B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864905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55558" y="82660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010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79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52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107412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318615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39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2262D1C-90AA-8AB5-963B-11B9874C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5074540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58117" y="85043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990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77879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89082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6270751-BA05-4CEC-AF0D-C9D73F987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340472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906258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461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428832D-480D-B977-43BD-05C938EE3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3763543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333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AC4364-5513-3434-312C-776E5A3675B0}"/>
              </a:ext>
            </a:extLst>
          </p:cNvPr>
          <p:cNvSpPr txBox="1"/>
          <p:nvPr/>
        </p:nvSpPr>
        <p:spPr>
          <a:xfrm>
            <a:off x="455204" y="67304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C4DAA11-E016-20BA-01A0-52F16DF0C25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1489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내용을 임시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000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 신청 내용을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30561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DC6307A0-C88E-FC16-3BC3-BE78E930B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66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9802251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온라인 제출 대상 협회 </a:t>
            </a:r>
            <a:r>
              <a:rPr lang="en-US" altLang="ko-KR" dirty="0"/>
              <a:t>(7) :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건설산업정보원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대한전문건설협회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한국전기공사협회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한국정보통신공사협회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한국건설기술인협회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한국소방시설협회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제출 협회 명칭 표시 및 선택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제출이 되지 않은 상태에서는 레이블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상태에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비고 작성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기능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상태에 따라 제출하기 및 </a:t>
            </a:r>
            <a:r>
              <a:rPr lang="ko-KR" altLang="en-US" dirty="0" err="1"/>
              <a:t>제출취소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제출하기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송신완료</a:t>
            </a:r>
            <a:r>
              <a:rPr lang="ko-KR" altLang="en-US" dirty="0"/>
              <a:t> 건이 선택되는 경우 제출하기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 err="1"/>
              <a:t>제출취소</a:t>
            </a:r>
            <a:r>
              <a:rPr lang="ko-KR" altLang="en-US" dirty="0"/>
              <a:t> 명칭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제출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MUI-CM-04-P20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실적증명서 제출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24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23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392724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대한건설협회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2859859" y="3912224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66791"/>
            <a:ext cx="76863" cy="292489"/>
            <a:chOff x="3750067" y="4683795"/>
            <a:chExt cx="76863" cy="292489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7" y="3557443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온라인 제출 가능 협회 목록</a:t>
            </a:r>
          </a:p>
        </p:txBody>
      </p:sp>
      <p:sp>
        <p:nvSpPr>
          <p:cNvPr id="144" name="모서리가 둥근 직사각형 143"/>
          <p:cNvSpPr/>
          <p:nvPr/>
        </p:nvSpPr>
        <p:spPr>
          <a:xfrm>
            <a:off x="1486956" y="3933524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송신완료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168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810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3613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/>
              <a:t>건설산업정보원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57195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비고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2859859" y="4458703"/>
            <a:ext cx="398489" cy="16200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1059429" y="4532211"/>
            <a:ext cx="1713401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계약 금액이 다름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1595086" y="4367606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제출취소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642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3757098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A0099C-AAC0-1739-90BF-B50AFF63E31D}"/>
              </a:ext>
            </a:extLst>
          </p:cNvPr>
          <p:cNvSpPr txBox="1"/>
          <p:nvPr/>
        </p:nvSpPr>
        <p:spPr>
          <a:xfrm>
            <a:off x="471620" y="841653"/>
            <a:ext cx="307192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17A8E60-B99E-BD89-0635-F60DBC72D054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5285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issuNo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52C738E-BB4C-9DAB-6ADA-0F90D10C4093}"/>
              </a:ext>
            </a:extLst>
          </p:cNvPr>
          <p:cNvSpPr txBox="1"/>
          <p:nvPr/>
        </p:nvSpPr>
        <p:spPr>
          <a:xfrm>
            <a:off x="458117" y="51012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529455-CAFE-C9BD-2851-C328BCB75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89325"/>
              </p:ext>
            </p:extLst>
          </p:nvPr>
        </p:nvGraphicFramePr>
        <p:xfrm>
          <a:off x="458117" y="533283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협회로 제출된 실적증명서가 오류가 있어 연락을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받았을때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제출취소 버튼을 클릭하여 비고란에 제출취소 내용을 입력 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협회로 내용을 전송한다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31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발급된 실적증명서 정보를 선택된 협회로 제출된다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멀티로 협회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845261"/>
                  </a:ext>
                </a:extLst>
              </a:tr>
            </a:tbl>
          </a:graphicData>
        </a:graphic>
      </p:graphicFrame>
      <p:sp>
        <p:nvSpPr>
          <p:cNvPr id="16" name="Text Box 73">
            <a:extLst>
              <a:ext uri="{FF2B5EF4-FFF2-40B4-BE49-F238E27FC236}">
                <a16:creationId xmlns:a16="http://schemas.microsoft.com/office/drawing/2014/main" id="{459A654C-072C-1858-8B43-DE73F578A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518535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AE7EE7-C157-9ABD-C4DC-7CE0E7CF25A9}"/>
              </a:ext>
            </a:extLst>
          </p:cNvPr>
          <p:cNvSpPr txBox="1"/>
          <p:nvPr/>
        </p:nvSpPr>
        <p:spPr>
          <a:xfrm>
            <a:off x="471620" y="184721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9873AE5-958B-85FB-6950-78DEAD0BB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255155"/>
              </p:ext>
            </p:extLst>
          </p:nvPr>
        </p:nvGraphicFramePr>
        <p:xfrm>
          <a:off x="466502" y="205842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dmndNo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ctrtPrgrsCd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643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0644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5373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59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644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65377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2293BB-42BE-0AEB-7C7A-13CE286EA995}"/>
              </a:ext>
            </a:extLst>
          </p:cNvPr>
          <p:cNvSpPr txBox="1"/>
          <p:nvPr/>
        </p:nvSpPr>
        <p:spPr>
          <a:xfrm>
            <a:off x="471620" y="3998185"/>
            <a:ext cx="25942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제출 협회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dl_sbmsnAsctnList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289CC8-30BE-E6F5-0FCE-23C8F0334853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4209388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sbmsnSttsNm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sttsVl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조회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전송중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737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취소시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취소사유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송신완료시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4529864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3F69CE71-B32E-E7B4-EBB3-D9E34F009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862359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진행상태 </a:t>
            </a:r>
            <a:r>
              <a:rPr lang="en-US" altLang="ko-KR" dirty="0"/>
              <a:t>–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반려</a:t>
            </a:r>
            <a:r>
              <a:rPr lang="en-US" altLang="ko-KR" dirty="0"/>
              <a:t>, </a:t>
            </a:r>
            <a:r>
              <a:rPr lang="ko-KR" altLang="en-US" dirty="0"/>
              <a:t>승인 </a:t>
            </a:r>
            <a:r>
              <a:rPr lang="en-US" altLang="ko-KR" dirty="0"/>
              <a:t>3</a:t>
            </a:r>
            <a:r>
              <a:rPr lang="ko-KR" altLang="en-US" dirty="0"/>
              <a:t>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국외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반려 시 발급 사유 대신 반려 사유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상세 화면 없음</a:t>
            </a:r>
            <a:r>
              <a:rPr lang="en-US" altLang="ko-KR" dirty="0" smtClean="0"/>
              <a:t>. (</a:t>
            </a:r>
            <a:r>
              <a:rPr lang="ko-KR" altLang="en-US" dirty="0" smtClean="0"/>
              <a:t>리포트 연결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카드 클릭 시 발급된 등록증이 없는 경우 토스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승인된 후 확인 가능합니다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국외조달원등록증신청목록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등록증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06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7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43391"/>
            <a:ext cx="2473257" cy="1411269"/>
            <a:chOff x="781461" y="2610063"/>
            <a:chExt cx="2473257" cy="1411269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328835"/>
              <a:ext cx="307777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68988" y="3313446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929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947250"/>
            <a:ext cx="2473257" cy="1361867"/>
            <a:chOff x="781461" y="2610063"/>
            <a:chExt cx="2473257" cy="136186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294822"/>
              <a:ext cx="307777" cy="6746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03265" y="3279433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승인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534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91"/>
            <a:ext cx="2446613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발급 대상 </a:t>
              </a:r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업체명을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43744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903622" y="3693566"/>
            <a:ext cx="2516607" cy="467691"/>
            <a:chOff x="778515" y="4388257"/>
            <a:chExt cx="2516607" cy="46769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</a:t>
              </a:r>
            </a:p>
          </p:txBody>
        </p:sp>
        <p:grpSp>
          <p:nvGrpSpPr>
            <p:cNvPr id="113" name="그룹 112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모서리가 둥근 직사각형 11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9" name="그룹 118"/>
          <p:cNvGrpSpPr/>
          <p:nvPr/>
        </p:nvGrpSpPr>
        <p:grpSpPr>
          <a:xfrm>
            <a:off x="6226184" y="4042123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080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39" name="그룹 1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0" name="직사각형 1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1" name="직사각형 1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신청하기 버튼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65093300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60676" y="2195119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4103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60676" y="3846285"/>
            <a:ext cx="39487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정보 상세조회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692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aplcntJbgdNm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3317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015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430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3796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E7A915C-F6EF-335A-1F14-38483868E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03254323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338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02754" y="7007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2114135"/>
              </p:ext>
            </p:extLst>
          </p:nvPr>
        </p:nvGraphicFramePr>
        <p:xfrm>
          <a:off x="402754" y="927298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이벤트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scwin.btn_ovsSosAplyListSrch_onclick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국외조달원 등록증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scwin.btn_otpt_onclick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승인된 국외조달원 등록증을 발급한다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UI-CM-03-R13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80016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AC142F5-C333-78A7-1BB1-C49C4FDD7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0329" y="8103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7107048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Dim</a:t>
            </a:r>
            <a:r>
              <a:rPr lang="ko-KR" altLang="en-US" dirty="0"/>
              <a:t>은 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개인정보에서</a:t>
            </a:r>
            <a:r>
              <a:rPr lang="en-US" altLang="ko-KR" dirty="0"/>
              <a:t> </a:t>
            </a:r>
            <a:r>
              <a:rPr lang="ko-KR" altLang="en-US" dirty="0"/>
              <a:t>비어 있는 정보 </a:t>
            </a:r>
            <a:r>
              <a:rPr lang="en-US" altLang="ko-KR" dirty="0"/>
              <a:t>(</a:t>
            </a:r>
            <a:r>
              <a:rPr lang="ko-KR" altLang="en-US" dirty="0"/>
              <a:t>직위 등</a:t>
            </a:r>
            <a:r>
              <a:rPr lang="en-US" altLang="ko-KR" dirty="0"/>
              <a:t>)</a:t>
            </a:r>
            <a:r>
              <a:rPr lang="ko-KR" altLang="en-US" dirty="0"/>
              <a:t>는 비어 있는 상태로 자동 완성함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신청하기 이후 신청목록으로 이동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메뉴 목록에서 바로 신청하는 케이스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국외조달원등록증신청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858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3009851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조달테스트</a:t>
              </a:r>
              <a:r>
                <a:rPr lang="ko-KR" altLang="en-US" sz="700" dirty="0">
                  <a:latin typeface="+mn-ea"/>
                </a:rPr>
                <a:t> 업체</a:t>
              </a: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709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회사명 </a:t>
            </a:r>
            <a:r>
              <a:rPr lang="en-US" altLang="ko-KR" sz="700" b="1" dirty="0">
                <a:latin typeface="+mn-ea"/>
              </a:rPr>
              <a:t>(Company 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903581" y="3592499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직위를 입력해주세요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5356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직위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급</a:t>
            </a:r>
            <a:r>
              <a:rPr lang="en-US" altLang="ko-KR" sz="700" b="1" dirty="0">
                <a:latin typeface="+mn-ea"/>
              </a:rPr>
              <a:t>) (Position)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45356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28596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latin typeface="+mn-ea"/>
              </a:rPr>
              <a:t>(Name)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903581" y="2433098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7612452" y="5831196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29354" y="58819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17012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신청인 </a:t>
            </a:r>
            <a:r>
              <a:rPr lang="en-US" altLang="ko-KR" sz="800" b="1" dirty="0">
                <a:latin typeface="+mn-ea"/>
              </a:rPr>
              <a:t>(Applicant)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903581" y="4024090"/>
            <a:ext cx="2255661" cy="444066"/>
            <a:chOff x="903581" y="5758108"/>
            <a:chExt cx="2255661" cy="44406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연락처</a:t>
              </a:r>
              <a:r>
                <a:rPr lang="en-US" altLang="ko-KR" sz="700" b="1" dirty="0">
                  <a:latin typeface="+mn-ea"/>
                </a:rPr>
                <a:t> (Phone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Number)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70" name="그룹 69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74" name="모서리가 둥근 직사각형 7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010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6" name="모서리가 둥근 직사각형 7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8" name="모서리가 둥근 직사각형 7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72" name="직선 연결선 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9461" y="2197190"/>
            <a:ext cx="2255663" cy="925926"/>
          </a:xfrm>
          <a:prstGeom prst="roundRect">
            <a:avLst>
              <a:gd name="adj" fmla="val 10161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936" y="22964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사유를 입력해주세요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2058255"/>
            <a:ext cx="174577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발급신청사유 </a:t>
            </a:r>
            <a:r>
              <a:rPr lang="en-US" altLang="ko-KR" sz="700" b="1" dirty="0">
                <a:latin typeface="+mn-ea"/>
              </a:rPr>
              <a:t>(Reason of Application)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 *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205825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2" y="50881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(Company Name)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9" name="그룹 98"/>
          <p:cNvGrpSpPr/>
          <p:nvPr/>
        </p:nvGrpSpPr>
        <p:grpSpPr>
          <a:xfrm>
            <a:off x="903582" y="5235295"/>
            <a:ext cx="2255663" cy="306146"/>
            <a:chOff x="3982951" y="3679873"/>
            <a:chExt cx="2255663" cy="306146"/>
          </a:xfrm>
        </p:grpSpPr>
        <p:sp>
          <p:nvSpPr>
            <p:cNvPr id="100" name="모서리가 둥근 직사각형 9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업체를 선택해주세요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19209"/>
            <a:ext cx="221915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조달원 등록증</a:t>
            </a:r>
            <a:r>
              <a:rPr lang="en-US" altLang="ko-KR" sz="800" b="1" dirty="0">
                <a:latin typeface="+mn-ea"/>
              </a:rPr>
              <a:t>(Certificate of Registration)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6" y="50881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912494" y="5625023"/>
            <a:ext cx="2246750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업체 선택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393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5" y="55741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7" name="그룹 12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5" name="타원 1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TextBox 135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2" name="타원 141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TextBox 142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88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5" name="그룹 14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6" name="직사각형 14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7" name="직사각형 14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팝업에서 페이지로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325790915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862025"/>
            <a:ext cx="33989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신청인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95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empNm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aplcntJbgdNm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50440" y="2311319"/>
            <a:ext cx="40064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조달원 등록증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dm_ovsSosAplyDataInfo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0440" y="253383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)0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F8FDE6B-2650-DAD2-A3E3-004EBEA14F32}"/>
              </a:ext>
            </a:extLst>
          </p:cNvPr>
          <p:cNvSpPr txBox="1"/>
          <p:nvPr/>
        </p:nvSpPr>
        <p:spPr>
          <a:xfrm>
            <a:off x="430605" y="359849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35ADA8-DFB4-32D0-15BF-F937ED4E0D6B}"/>
              </a:ext>
            </a:extLst>
          </p:cNvPr>
          <p:cNvGraphicFramePr>
            <a:graphicFrameLocks noGrp="1"/>
          </p:cNvGraphicFramePr>
          <p:nvPr/>
        </p:nvGraphicFramePr>
        <p:xfrm>
          <a:off x="425487" y="382508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조달업체선택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D564D4C5-32F2-B2D3-17C5-8763B6DAB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062" y="367663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8052CAA-8680-E27F-8DFC-51FCF8EC9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01220778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MUI-CM-04-P23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업체코드를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81984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984311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99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850652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2635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1775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984311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099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6" y="499350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8571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54023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3112794" y="39239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0" name="그룹 99"/>
          <p:cNvGrpSpPr/>
          <p:nvPr/>
        </p:nvGrpSpPr>
        <p:grpSpPr>
          <a:xfrm>
            <a:off x="3156699" y="3967900"/>
            <a:ext cx="58075" cy="58074"/>
            <a:chOff x="6812560" y="3297172"/>
            <a:chExt cx="94010" cy="94010"/>
          </a:xfrm>
        </p:grpSpPr>
        <p:cxnSp>
          <p:nvCxnSpPr>
            <p:cNvPr id="103" name="직선 연결선 10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직선 연결선 10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8128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56767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656767"/>
            <a:ext cx="14184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업체정보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656767"/>
            <a:ext cx="43013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업체코드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42184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98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28818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김길순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0106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42184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098</a:t>
            </a:r>
          </a:p>
        </p:txBody>
      </p:sp>
      <p:grpSp>
        <p:nvGrpSpPr>
          <p:cNvPr id="119" name="그룹 118"/>
          <p:cNvGrpSpPr/>
          <p:nvPr/>
        </p:nvGrpSpPr>
        <p:grpSpPr>
          <a:xfrm rot="16200000">
            <a:off x="6266706" y="5431038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직선 연결선 1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86552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97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73186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박길동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447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86552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097</a:t>
            </a:r>
          </a:p>
        </p:txBody>
      </p:sp>
      <p:grpSp>
        <p:nvGrpSpPr>
          <p:cNvPr id="126" name="그룹 125"/>
          <p:cNvGrpSpPr/>
          <p:nvPr/>
        </p:nvGrpSpPr>
        <p:grpSpPr>
          <a:xfrm rot="16200000">
            <a:off x="6266706" y="5874718"/>
            <a:ext cx="94010" cy="47005"/>
            <a:chOff x="6812560" y="3297172"/>
            <a:chExt cx="94010" cy="47005"/>
          </a:xfrm>
        </p:grpSpPr>
        <p:cxnSp>
          <p:nvCxnSpPr>
            <p:cNvPr id="127" name="직선 연결선 1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8" name="직선 연결선 1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41566423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664054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1384" y="1800668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2092" y="200671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851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52977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8117" y="32325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021410"/>
              </p:ext>
            </p:extLst>
          </p:nvPr>
        </p:nvGraphicFramePr>
        <p:xfrm>
          <a:off x="461384" y="344534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조달업체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조달업체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52EBE13D-F697-3B6D-4DB3-0C32B29DA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8959" y="332842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395E996E-DD98-7B49-87F6-8505D83D7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5385429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법령 구분 탭으로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싱글 </a:t>
            </a:r>
            <a:r>
              <a:rPr lang="ko-KR" altLang="en-US" dirty="0" err="1"/>
              <a:t>셀렉트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법령 구분에 맞춰 하단 목록 재구성</a:t>
            </a:r>
            <a:r>
              <a:rPr lang="en-US" altLang="ko-KR" dirty="0"/>
              <a:t>(</a:t>
            </a:r>
            <a:r>
              <a:rPr lang="ko-KR" altLang="en-US" dirty="0" err="1"/>
              <a:t>법령구분에</a:t>
            </a:r>
            <a:r>
              <a:rPr lang="ko-KR" altLang="en-US" dirty="0"/>
              <a:t> 맞는 항목만 표시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err="1"/>
              <a:t>즐겨찾기</a:t>
            </a:r>
            <a:r>
              <a:rPr lang="ko-KR" altLang="en-US" dirty="0"/>
              <a:t> 및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stared </a:t>
            </a:r>
            <a:r>
              <a:rPr lang="ko-KR" altLang="en-US" dirty="0"/>
              <a:t>는 </a:t>
            </a:r>
            <a:r>
              <a:rPr lang="ko-KR" altLang="en-US" dirty="0" err="1"/>
              <a:t>토글</a:t>
            </a:r>
            <a:r>
              <a:rPr lang="ko-KR" altLang="en-US" dirty="0"/>
              <a:t> 방식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설정에 별다른 메시지 없이 </a:t>
            </a:r>
            <a:r>
              <a:rPr lang="en-US" altLang="ko-KR" dirty="0"/>
              <a:t>stared </a:t>
            </a:r>
            <a:r>
              <a:rPr lang="ko-KR" altLang="en-US" dirty="0"/>
              <a:t>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법령정보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법령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4205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81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3332745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99568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훈령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783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384298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309806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예규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8858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4353221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14278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지침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254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492694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50885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86112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71361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4508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1" name="그룹 50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52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법령명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8" name="타원 57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법령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대통령령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그룹 88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5" name="직선 연결선 9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0" name="타원 8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2" name="그룹 9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부령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7407357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39638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885461"/>
            <a:ext cx="24339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553618"/>
              </p:ext>
            </p:extLst>
          </p:nvPr>
        </p:nvGraphicFramePr>
        <p:xfrm>
          <a:off x="453000" y="415653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법령정보목록조회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scwin.grd_sttUrl_oncellclick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scwin.grd_sttItrst_oncellclick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 및 즐겨찾기 해제를 진행한다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법령정보즐겨찾기등록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977001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092852"/>
          <a:ext cx="8994883" cy="1819584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법령정보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</a:rPr>
                        <a:t>법령구분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sttItrst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즐겨찾기유무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5ED537-3CA0-2A94-77BF-1AD1B2F7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2870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893F1C-1BC1-9154-4086-3AB9A54D9213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5FDBB44-DC81-7EBC-28F5-AEF594630BC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8D1325CC-9FA9-0D81-6E38-0B5C4CD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05279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4. </a:t>
            </a:r>
            <a:r>
              <a:rPr lang="ko-KR" altLang="en-US" dirty="0"/>
              <a:t>인증센터 메뉴</a:t>
            </a:r>
            <a:endParaRPr lang="en-US" altLang="ko-KR" dirty="0"/>
          </a:p>
          <a:p>
            <a:r>
              <a:rPr lang="en-US" altLang="ko-KR" dirty="0"/>
              <a:t>4.1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290680"/>
              </p:ext>
            </p:extLst>
          </p:nvPr>
        </p:nvGraphicFramePr>
        <p:xfrm>
          <a:off x="635474" y="1413419"/>
          <a:ext cx="8701200" cy="25286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인증센터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인증서관리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보유하고 있는 인증서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인증서삭제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관리 화면에서 인증서 선택 삭제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인증서가져오기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→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인증서내보내기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 →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인증서비밀번호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비밀번호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5152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인증성공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실패메시지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CrtfInfoMsg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스마트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PKI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 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233387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3636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관리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(PC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Mobile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비밀번호 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내보내기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(Mobile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PC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삭제</a:t>
            </a: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34" idx="1"/>
          </p:cNvCxnSpPr>
          <p:nvPr/>
        </p:nvCxnSpPr>
        <p:spPr>
          <a:xfrm flipV="1">
            <a:off x="5097742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90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90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0" idx="3"/>
            <a:endCxn id="104" idx="2"/>
          </p:cNvCxnSpPr>
          <p:nvPr/>
        </p:nvCxnSpPr>
        <p:spPr>
          <a:xfrm flipV="1">
            <a:off x="8760010" y="2451749"/>
            <a:ext cx="4893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2307750"/>
            <a:ext cx="54983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가져온 이후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8478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인증센터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CertMngPage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인증서관리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 smtClean="0">
                <a:solidFill>
                  <a:schemeClr val="tx1"/>
                </a:solidFill>
                <a:latin typeface="+mn-ea"/>
              </a:rPr>
              <a:t>인증서삭제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Calibri" panose="020F0502020204030204" pitchFamily="34" charset="0"/>
              </a:rPr>
              <a:t>CrtfDelPage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외부솔루션</a:t>
            </a:r>
            <a:r>
              <a:rPr lang="ko-KR" altLang="en-US" sz="900" dirty="0"/>
              <a:t> </a:t>
            </a:r>
            <a:r>
              <a:rPr lang="en-US" altLang="ko-KR" sz="900" dirty="0" smtClean="0"/>
              <a:t>Controller&gt;&gt;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인증서가져오기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CrtfReceivePage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인증서내보내기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CrtfSendPage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인증서비밀번호확인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CrtfPswd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CrtfInfoMsg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399349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인증센터는</a:t>
            </a:r>
            <a:r>
              <a:rPr lang="en-US" altLang="ko-KR" dirty="0"/>
              <a:t> </a:t>
            </a:r>
            <a:r>
              <a:rPr lang="ko-KR" altLang="en-US" dirty="0" smtClean="0"/>
              <a:t>한국정보인증 스마트 </a:t>
            </a:r>
            <a:r>
              <a:rPr lang="en-US" altLang="ko-KR" dirty="0" smtClean="0"/>
              <a:t>PKI</a:t>
            </a:r>
            <a:r>
              <a:rPr lang="ko-KR" altLang="en-US" dirty="0"/>
              <a:t> 솔루션을 사용함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err="1"/>
              <a:t>SmartPKI</a:t>
            </a:r>
            <a:r>
              <a:rPr lang="en-US" altLang="ko-KR" dirty="0"/>
              <a:t> </a:t>
            </a:r>
            <a:r>
              <a:rPr lang="en-US" altLang="ko-KR" dirty="0" smtClean="0"/>
              <a:t>v2.2.5_AOS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개발자 </a:t>
            </a:r>
            <a:r>
              <a:rPr lang="en-US" altLang="ko-KR" dirty="0" smtClean="0"/>
              <a:t>SDK </a:t>
            </a:r>
            <a:r>
              <a:rPr lang="en-US" altLang="ko-KR" u="sng" dirty="0" smtClean="0">
                <a:hlinkClick r:id="rId2"/>
              </a:rPr>
              <a:t>http</a:t>
            </a:r>
            <a:r>
              <a:rPr lang="en-US" altLang="ko-KR" u="sng" dirty="0">
                <a:hlinkClick r:id="rId2"/>
              </a:rPr>
              <a:t>://developer.android.com/sdk/index.html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SmartPKI_v2.3.2_iOS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매뉴얼 확인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 관리 </a:t>
            </a:r>
            <a:r>
              <a:rPr lang="en-US" altLang="ko-KR" dirty="0"/>
              <a:t>MUI-CM-04-M14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인증서 가져오기 </a:t>
            </a:r>
            <a:r>
              <a:rPr lang="en-US" altLang="ko-KR" dirty="0" smtClean="0"/>
              <a:t>MUI-CM-04-M16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인증서내보내기 </a:t>
            </a:r>
            <a:r>
              <a:rPr lang="en-US" altLang="ko-KR" dirty="0"/>
              <a:t>MUI-CM-04-M17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모바일의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등록 사용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MUI-CM-03-M14 </a:t>
            </a:r>
            <a:r>
              <a:rPr lang="ko-KR" altLang="en-US" dirty="0" err="1"/>
              <a:t>생체인증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인증센터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" name="그룹 6"/>
          <p:cNvGrpSpPr/>
          <p:nvPr/>
        </p:nvGrpSpPr>
        <p:grpSpPr>
          <a:xfrm>
            <a:off x="903581" y="2145413"/>
            <a:ext cx="2255663" cy="306146"/>
            <a:chOff x="903581" y="2074658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관리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903581" y="2593969"/>
            <a:ext cx="2255663" cy="306146"/>
            <a:chOff x="903581" y="2461599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903581" y="2461599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560811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553117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가져오기</a:t>
              </a:r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903581" y="3042525"/>
            <a:ext cx="2255663" cy="306146"/>
            <a:chOff x="903581" y="2845891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내보내기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903581" y="3491082"/>
            <a:ext cx="2255663" cy="306146"/>
            <a:chOff x="903581" y="3230183"/>
            <a:chExt cx="2255663" cy="306146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903581" y="323018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3329395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332170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err="1">
                  <a:latin typeface="+mn-ea"/>
                </a:rPr>
                <a:t>생체인증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en-US" altLang="ko-KR" sz="800" b="1" dirty="0">
                  <a:latin typeface="+mn-ea"/>
                </a:rPr>
                <a:t>(</a:t>
              </a:r>
              <a:r>
                <a:rPr lang="ko-KR" altLang="en-US" sz="800" b="1" dirty="0">
                  <a:latin typeface="+mn-ea"/>
                </a:rPr>
                <a:t>얼굴</a:t>
              </a:r>
              <a:r>
                <a:rPr lang="en-US" altLang="ko-KR" sz="800" b="1" dirty="0">
                  <a:latin typeface="+mn-ea"/>
                </a:rPr>
                <a:t>, </a:t>
              </a:r>
              <a:r>
                <a:rPr lang="ko-KR" altLang="en-US" sz="800" b="1" dirty="0">
                  <a:latin typeface="+mn-ea"/>
                </a:rPr>
                <a:t>지문</a:t>
              </a:r>
              <a:r>
                <a:rPr lang="en-US" altLang="ko-KR" sz="800" b="1" dirty="0">
                  <a:latin typeface="+mn-ea"/>
                </a:rPr>
                <a:t>)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580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35" name="그룹 3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6" name="직사각형 3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솔루션 정보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디렉션</a:t>
              </a:r>
              <a:r>
                <a:rPr lang="ko-KR" altLang="en-US" sz="700" dirty="0" smtClean="0"/>
                <a:t>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95200231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보유하고 있는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MUI-CM-04-M14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6" name="모서리가 둥근 직사각형 35"/>
          <p:cNvSpPr/>
          <p:nvPr/>
        </p:nvSpPr>
        <p:spPr>
          <a:xfrm>
            <a:off x="2681859" y="2224346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2681859" y="2939927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2681859" y="3655508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15156713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인증서 관리 화면에서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메시지는 솔루션 메시지 활용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MUI-CM-04-P15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삭제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47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86815" y="5756042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삭제하기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632975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인증서는 스마트폰에서 삭제되는 것이며</a:t>
            </a:r>
            <a:r>
              <a:rPr lang="en-US" altLang="ko-KR" sz="700" dirty="0">
                <a:latin typeface="+mn-ea"/>
              </a:rPr>
              <a:t>,</a:t>
            </a:r>
            <a:r>
              <a:rPr lang="ko-KR" altLang="en-US" sz="700" dirty="0">
                <a:latin typeface="+mn-ea"/>
              </a:rPr>
              <a:t> 다른 디바이스에 저장된 인증서는 사용할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선택한 인증서를 삭제하시겠습니까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삭제하였습니다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775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934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384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2" name="그룹 91"/>
          <p:cNvGrpSpPr/>
          <p:nvPr/>
        </p:nvGrpSpPr>
        <p:grpSpPr>
          <a:xfrm rot="5400000">
            <a:off x="3868283" y="1640499"/>
            <a:ext cx="94010" cy="47005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타원 94"/>
          <p:cNvSpPr/>
          <p:nvPr/>
        </p:nvSpPr>
        <p:spPr>
          <a:xfrm>
            <a:off x="615780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048656" y="201078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10999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24999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3749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5826934" y="2230400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048656" y="2726364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8255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965576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30905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5826934" y="2945981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30504819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- 12</a:t>
            </a:r>
            <a:r>
              <a:rPr lang="ko-KR" altLang="en-US" dirty="0" smtClean="0"/>
              <a:t>자리 번호 입력 시 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버튼영역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인증서 비밀번호 입력 화면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PC → </a:t>
            </a:r>
            <a:r>
              <a:rPr lang="ko-KR" altLang="en-US" dirty="0"/>
              <a:t>모바일 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MUI-CM-04-M16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6890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가져오기를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으로 인증서를 가져옵니다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674396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445210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0428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 입력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01298" y="394052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그룹 60"/>
          <p:cNvGrpSpPr/>
          <p:nvPr/>
        </p:nvGrpSpPr>
        <p:grpSpPr>
          <a:xfrm>
            <a:off x="825521" y="4059066"/>
            <a:ext cx="2370716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22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8544393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선택 시 인증서 비밀번호 확인 이후 우측 화면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인증번호 </a:t>
            </a:r>
            <a:r>
              <a:rPr lang="en-US" altLang="ko-KR" dirty="0"/>
              <a:t>(</a:t>
            </a:r>
            <a:r>
              <a:rPr lang="ko-KR" altLang="en-US" dirty="0" err="1"/>
              <a:t>복사용</a:t>
            </a:r>
            <a:r>
              <a:rPr lang="en-US" altLang="ko-KR" dirty="0"/>
              <a:t>)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버튼 클릭 시 인증번호 복사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띄어쓰기 없는 </a:t>
            </a:r>
            <a:r>
              <a:rPr lang="en-US" altLang="ko-KR" dirty="0" smtClean="0"/>
              <a:t>12</a:t>
            </a:r>
            <a:r>
              <a:rPr lang="ko-KR" altLang="en-US" dirty="0" smtClean="0"/>
              <a:t>자리 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인증번호를 복사했습니다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인증서내보내기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en-US" altLang="ko-KR" dirty="0"/>
              <a:t>→ PC </a:t>
            </a:r>
            <a:r>
              <a:rPr lang="ko-KR" altLang="en-US" dirty="0"/>
              <a:t>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MUI-CM-04-M17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437362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내보내기를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인증서를 내보냅니다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4023916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1234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4794731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5678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5565545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9012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309552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903581" y="2386628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48584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6258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5081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903581" y="310220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20142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34142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46640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903581" y="381779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91700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05700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198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0090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내보내기 하려는 인증서를 선택해주세요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201178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4023916" y="2219217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318430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45842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583408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2386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30633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60" name="그룹 59"/>
          <p:cNvGrpSpPr/>
          <p:nvPr/>
        </p:nvGrpSpPr>
        <p:grpSpPr>
          <a:xfrm>
            <a:off x="4023915" y="3703056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인증번호 복사하기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4" name="직사각형 6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인증번호 복사하기 버튼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66514976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인증서 내보내기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가져오기 시 비밀번호 확인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내보내기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비밀번호 </a:t>
            </a:r>
            <a:r>
              <a:rPr lang="ko-KR" altLang="en-US" dirty="0" smtClean="0">
                <a:latin typeface="+mn-ea"/>
              </a:rPr>
              <a:t>확인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2230399"/>
            <a:ext cx="2712027" cy="399289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2267027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2401443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382122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비밀번호 확인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6435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41933" y="4038347"/>
            <a:ext cx="1646506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prstClr val="white"/>
                </a:solidFill>
              </a:rPr>
              <a:t>완료</a:t>
            </a:r>
            <a:endParaRPr kumimoji="1" lang="en-US" altLang="ko-KR" sz="1000" kern="0" dirty="0">
              <a:solidFill>
                <a:prstClr val="white"/>
              </a:solidFill>
            </a:endParaRPr>
          </a:p>
        </p:txBody>
      </p:sp>
      <p:sp>
        <p:nvSpPr>
          <p:cNvPr id="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3295" y="4038347"/>
            <a:ext cx="551805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51722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내보내기에 사용되는 인증서의 비밀번호를 확인합니다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인증서의 비밀번호를 입력해주세요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3631332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44645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보안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222033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스마트 </a:t>
            </a:r>
            <a:r>
              <a:rPr lang="en-US" altLang="ko-KR" dirty="0">
                <a:latin typeface="+mn-ea"/>
              </a:rPr>
              <a:t>PKI </a:t>
            </a:r>
            <a:r>
              <a:rPr lang="ko-KR" altLang="en-US" dirty="0">
                <a:latin typeface="+mn-ea"/>
              </a:rPr>
              <a:t>메시지 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각 인증 페이지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모서리가 둥근 직사각형 30"/>
          <p:cNvSpPr/>
          <p:nvPr/>
        </p:nvSpPr>
        <p:spPr>
          <a:xfrm>
            <a:off x="1181373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1181373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복사하였습니다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26388861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5. </a:t>
            </a:r>
            <a:r>
              <a:rPr lang="ko-KR" altLang="en-US" dirty="0"/>
              <a:t>국방전자조달 소개 메뉴</a:t>
            </a:r>
            <a:endParaRPr lang="en-US" altLang="ko-KR" dirty="0"/>
          </a:p>
          <a:p>
            <a:r>
              <a:rPr lang="en-US" altLang="ko-KR" dirty="0"/>
              <a:t>5.1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345089"/>
              </p:ext>
            </p:extLst>
          </p:nvPr>
        </p:nvGraphicFramePr>
        <p:xfrm>
          <a:off x="635474" y="1574092"/>
          <a:ext cx="8749092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4269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시스템소개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소개 정보를 안내한다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주요특징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주요 특징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연혁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인포그래픽스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인포그래픽스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관련시스템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관련시스템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665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이용문의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이용문의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809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:dsp="http://schemas.microsoft.com/office/drawing/2008/diagram" xmlns:dgm="http://schemas.openxmlformats.org/drawingml/2006/diagram" xmlns:c="http://schemas.openxmlformats.org/drawingml/2006/chart" xmlns="">
      <p:transition/>
    </mc:Fallback>
  </mc:AlternateContent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356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5.2.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시스템소개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019EDD-4322-2651-BC19-3D7C8083D355}"/>
              </a:ext>
            </a:extLst>
          </p:cNvPr>
          <p:cNvSpPr/>
          <p:nvPr/>
        </p:nvSpPr>
        <p:spPr>
          <a:xfrm>
            <a:off x="5097742" y="273203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04C0B0F-7275-1964-CD84-22454585E4D5}"/>
              </a:ext>
            </a:extLst>
          </p:cNvPr>
          <p:cNvGrpSpPr/>
          <p:nvPr/>
        </p:nvGrpSpPr>
        <p:grpSpPr>
          <a:xfrm>
            <a:off x="5126739" y="2516031"/>
            <a:ext cx="180000" cy="180000"/>
            <a:chOff x="5058274" y="2498299"/>
            <a:chExt cx="180000" cy="180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9B5D9EB-9463-896B-12A2-37CBFEB67E81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5035D845-DB68-ACE3-6F03-D835D7B8D78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연혁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인포그래픽스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관련시스템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이용문의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주요특징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133201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80794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28387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 flipV="1">
            <a:off x="3788168" y="2606031"/>
            <a:ext cx="1338571" cy="2401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2606031"/>
            <a:ext cx="1338571" cy="7642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2606031"/>
            <a:ext cx="1338571" cy="128833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7780215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시스템소개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IntroducePage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주요특징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FeaturePage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연혁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HistoryPage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인포그래픽스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GraphicPage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관련시스템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SystemPage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이용문의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InquiryPage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171057455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시스템소개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/>
              <a:t>시스템 소개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시스템소개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9840"/>
          <a:stretch/>
        </p:blipFill>
        <p:spPr>
          <a:xfrm>
            <a:off x="675399" y="1493927"/>
            <a:ext cx="2712027" cy="4732701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b="25674"/>
          <a:stretch/>
        </p:blipFill>
        <p:spPr>
          <a:xfrm>
            <a:off x="4572457" y="1273831"/>
            <a:ext cx="1202838" cy="5172892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4543567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주요특징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주요 특징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주요특징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MUI-CM-05-M02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142"/>
          <a:stretch/>
        </p:blipFill>
        <p:spPr>
          <a:xfrm>
            <a:off x="675399" y="1493928"/>
            <a:ext cx="2712027" cy="4715283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54237"/>
          <a:stretch/>
        </p:blipFill>
        <p:spPr>
          <a:xfrm>
            <a:off x="4028222" y="1493928"/>
            <a:ext cx="944988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45763" b="13601"/>
          <a:stretch/>
        </p:blipFill>
        <p:spPr>
          <a:xfrm>
            <a:off x="5353870" y="1493927"/>
            <a:ext cx="944988" cy="421018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735101353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연혁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연혁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연혁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MUI-CM-05-M03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81764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b="48548"/>
          <a:stretch/>
        </p:blipFill>
        <p:spPr>
          <a:xfrm>
            <a:off x="4068784" y="1493927"/>
            <a:ext cx="964771" cy="4723993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 rotWithShape="1">
          <a:blip r:embed="rId2"/>
          <a:srcRect t="51547"/>
          <a:stretch/>
        </p:blipFill>
        <p:spPr>
          <a:xfrm>
            <a:off x="5300924" y="1493927"/>
            <a:ext cx="964771" cy="4448698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87032311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개발기간 중 현행화 예정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인포그래픽스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인포그래픽스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인포그래픽스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6969B4D1-B485-E260-A44F-DFB4FE93A4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6861" y="1774041"/>
            <a:ext cx="3445451" cy="406927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401458451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관련시스템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관련시스템</a:t>
            </a:r>
            <a:r>
              <a:rPr lang="ko-KR" altLang="en-US" dirty="0">
                <a:latin typeface="+mn-ea"/>
              </a:rPr>
              <a:t>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관련시스템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MUI-CM-05-M05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64909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25789"/>
          <a:stretch/>
        </p:blipFill>
        <p:spPr>
          <a:xfrm>
            <a:off x="3795734" y="1493928"/>
            <a:ext cx="1280010" cy="471528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74486"/>
          <a:stretch/>
        </p:blipFill>
        <p:spPr>
          <a:xfrm>
            <a:off x="5227751" y="1493927"/>
            <a:ext cx="1280010" cy="1621123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5399210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이용문의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이용문의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이용문의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MUI-CM-05-M06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-1" b="71994"/>
          <a:stretch/>
        </p:blipFill>
        <p:spPr>
          <a:xfrm>
            <a:off x="679024" y="1493927"/>
            <a:ext cx="2708402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41561"/>
          <a:stretch/>
        </p:blipFill>
        <p:spPr>
          <a:xfrm>
            <a:off x="3795735" y="1493927"/>
            <a:ext cx="1300401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58439" b="23926"/>
          <a:stretch/>
        </p:blipFill>
        <p:spPr>
          <a:xfrm>
            <a:off x="5207360" y="1493927"/>
            <a:ext cx="1300401" cy="142820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6178583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6. </a:t>
            </a:r>
            <a:r>
              <a:rPr lang="ko-KR" altLang="en-US" dirty="0"/>
              <a:t>이용안내 메뉴</a:t>
            </a:r>
            <a:endParaRPr lang="en-US" altLang="ko-KR" dirty="0"/>
          </a:p>
          <a:p>
            <a:r>
              <a:rPr lang="en-US" altLang="ko-KR" dirty="0"/>
              <a:t>6.1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662148"/>
              </p:ext>
            </p:extLst>
          </p:nvPr>
        </p:nvGraphicFramePr>
        <p:xfrm>
          <a:off x="635474" y="1574093"/>
          <a:ext cx="8749092" cy="335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사전준비사항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사전준비사항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/biz/cm/p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reparation01/Preparation01Page.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청렴계약제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청렴계약제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국방조달참여절차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참여절차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전자입찰절차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전자대금청구절차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전자대금청구절차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등록절차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  <a:tr h="23903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변경안내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국외조달원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변경안내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87819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국외조달</a:t>
                      </a:r>
                      <a:r>
                        <a:rPr lang="ko-KR" altLang="en-US" sz="800" dirty="0">
                          <a:latin typeface="+mn-ea"/>
                        </a:rPr>
                        <a:t> 전자입찰절차 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보를 안내한다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</a:rPr>
                        <a:t>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0001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MUI-CM-05-M15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관련사이트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관련사이트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77910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-01-P06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앱 이용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AppSrvcExpln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스플래시에서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사용된 앱 이용 안내 다시 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26741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0446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:dsp="http://schemas.microsoft.com/office/drawing/2008/diagram" xmlns:dgm="http://schemas.openxmlformats.org/drawingml/2006/diagram" xmlns:c="http://schemas.openxmlformats.org/drawingml/2006/chart" xmlns="">
      <p:transition/>
    </mc:Fallback>
  </mc:AlternateContent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365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사전준비사항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5097742" y="3221511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국방조달참여절차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전자대금청구절차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국외조달원</a:t>
            </a:r>
            <a:r>
              <a:rPr lang="ko-KR" altLang="en-US" sz="800" dirty="0">
                <a:solidFill>
                  <a:schemeClr val="tx1"/>
                </a:solidFill>
              </a:rPr>
              <a:t> 등록절차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D378D86-4B1E-1F57-AC9B-76EEAE958A06}"/>
              </a:ext>
            </a:extLst>
          </p:cNvPr>
          <p:cNvSpPr/>
          <p:nvPr/>
        </p:nvSpPr>
        <p:spPr>
          <a:xfrm>
            <a:off x="2366608" y="427444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변경안내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BB1C59E-02BD-94B4-9458-F9347CA2D9FF}"/>
              </a:ext>
            </a:extLst>
          </p:cNvPr>
          <p:cNvSpPr/>
          <p:nvPr/>
        </p:nvSpPr>
        <p:spPr>
          <a:xfrm>
            <a:off x="2366608" y="479851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CD627301-C430-A011-579E-9C40E27EDB40}"/>
              </a:ext>
            </a:extLst>
          </p:cNvPr>
          <p:cNvCxnSpPr>
            <a:stCxn id="5" idx="4"/>
            <a:endCxn id="40" idx="1"/>
          </p:cNvCxnSpPr>
          <p:nvPr/>
        </p:nvCxnSpPr>
        <p:spPr>
          <a:xfrm rot="16200000" flipH="1">
            <a:off x="346599" y="2398432"/>
            <a:ext cx="305442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729A2AB8-659F-426C-56DA-422C8BAA20F7}"/>
              </a:ext>
            </a:extLst>
          </p:cNvPr>
          <p:cNvCxnSpPr>
            <a:stCxn id="5" idx="4"/>
            <a:endCxn id="41" idx="1"/>
          </p:cNvCxnSpPr>
          <p:nvPr/>
        </p:nvCxnSpPr>
        <p:spPr>
          <a:xfrm rot="16200000" flipH="1">
            <a:off x="84564" y="2660467"/>
            <a:ext cx="3578497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청렴계약제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20CDCE3D-4C6B-BA16-AA25-2DA6E66BCD2E}"/>
              </a:ext>
            </a:extLst>
          </p:cNvPr>
          <p:cNvSpPr/>
          <p:nvPr/>
        </p:nvSpPr>
        <p:spPr>
          <a:xfrm>
            <a:off x="2366608" y="532258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관련사이트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116E8111-1955-150D-AB7F-15AA6FB9F3C8}"/>
              </a:ext>
            </a:extLst>
          </p:cNvPr>
          <p:cNvCxnSpPr>
            <a:stCxn id="5" idx="4"/>
            <a:endCxn id="133" idx="1"/>
          </p:cNvCxnSpPr>
          <p:nvPr/>
        </p:nvCxnSpPr>
        <p:spPr>
          <a:xfrm rot="16200000" flipH="1">
            <a:off x="-177472" y="2922503"/>
            <a:ext cx="4102568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73A25C-8071-605A-9B3F-4CD21668733A}"/>
              </a:ext>
            </a:extLst>
          </p:cNvPr>
          <p:cNvSpPr/>
          <p:nvPr/>
        </p:nvSpPr>
        <p:spPr>
          <a:xfrm>
            <a:off x="2366608" y="584665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이용 안내</a:t>
            </a:r>
          </a:p>
        </p:txBody>
      </p:sp>
      <p:cxnSp>
        <p:nvCxnSpPr>
          <p:cNvPr id="137" name="연결선: 꺾임 136">
            <a:extLst>
              <a:ext uri="{FF2B5EF4-FFF2-40B4-BE49-F238E27FC236}">
                <a16:creationId xmlns:a16="http://schemas.microsoft.com/office/drawing/2014/main" id="{E817709E-FD18-1B63-CE48-BED45C5EF2E4}"/>
              </a:ext>
            </a:extLst>
          </p:cNvPr>
          <p:cNvCxnSpPr>
            <a:stCxn id="5" idx="4"/>
            <a:endCxn id="136" idx="1"/>
          </p:cNvCxnSpPr>
          <p:nvPr/>
        </p:nvCxnSpPr>
        <p:spPr>
          <a:xfrm rot="16200000" flipH="1">
            <a:off x="-439506" y="3184537"/>
            <a:ext cx="462663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203749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151342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98935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>
            <a:off x="3788168" y="2846228"/>
            <a:ext cx="1338571" cy="46528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3311511"/>
            <a:ext cx="1338571" cy="5878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3311511"/>
            <a:ext cx="1338571" cy="58285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0" idx="3"/>
            <a:endCxn id="19" idx="2"/>
          </p:cNvCxnSpPr>
          <p:nvPr/>
        </p:nvCxnSpPr>
        <p:spPr>
          <a:xfrm flipV="1">
            <a:off x="3788168" y="3311511"/>
            <a:ext cx="1338571" cy="110693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1" idx="3"/>
            <a:endCxn id="19" idx="2"/>
          </p:cNvCxnSpPr>
          <p:nvPr/>
        </p:nvCxnSpPr>
        <p:spPr>
          <a:xfrm flipV="1">
            <a:off x="3788168" y="3311511"/>
            <a:ext cx="1338571" cy="163100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3" idx="3"/>
            <a:endCxn id="19" idx="2"/>
          </p:cNvCxnSpPr>
          <p:nvPr/>
        </p:nvCxnSpPr>
        <p:spPr>
          <a:xfrm flipV="1">
            <a:off x="3788168" y="3311511"/>
            <a:ext cx="1338571" cy="215507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6" idx="3"/>
            <a:endCxn id="19" idx="2"/>
          </p:cNvCxnSpPr>
          <p:nvPr/>
        </p:nvCxnSpPr>
        <p:spPr>
          <a:xfrm flipV="1">
            <a:off x="3788168" y="3311511"/>
            <a:ext cx="1338571" cy="267914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9945476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사전준비사항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청렴계약제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국방조달참여절차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국내 </a:t>
            </a:r>
            <a:r>
              <a:rPr lang="en-US" altLang="ko-KR" sz="1100" dirty="0">
                <a:solidFill>
                  <a:schemeClr val="tx1"/>
                </a:solidFill>
              </a:rPr>
              <a:t>- </a:t>
            </a:r>
            <a:r>
              <a:rPr lang="ko-KR" altLang="en-US" sz="1100" dirty="0">
                <a:solidFill>
                  <a:schemeClr val="tx1"/>
                </a:solidFill>
              </a:rPr>
              <a:t>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전자대금청구절차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국외조달원등록절차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F66584F-EEE5-DF1C-E16B-45A654981E6D}"/>
              </a:ext>
            </a:extLst>
          </p:cNvPr>
          <p:cNvSpPr/>
          <p:nvPr/>
        </p:nvSpPr>
        <p:spPr>
          <a:xfrm>
            <a:off x="587330" y="4976710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변경안내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34360397-962A-DE55-F3AB-F52E7CF3D102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2419157" y="2990174"/>
            <a:ext cx="1540934" cy="22418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201F9E-7F68-9B8B-10DA-19342D571C18}"/>
              </a:ext>
            </a:extLst>
          </p:cNvPr>
          <p:cNvSpPr/>
          <p:nvPr/>
        </p:nvSpPr>
        <p:spPr>
          <a:xfrm>
            <a:off x="587330" y="5559027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0D4D0308-2143-C1F4-B3DA-D7229C517CFE}"/>
              </a:ext>
            </a:extLst>
          </p:cNvPr>
          <p:cNvCxnSpPr>
            <a:stCxn id="46" idx="3"/>
            <a:endCxn id="39" idx="1"/>
          </p:cNvCxnSpPr>
          <p:nvPr/>
        </p:nvCxnSpPr>
        <p:spPr>
          <a:xfrm flipV="1">
            <a:off x="2419157" y="2990174"/>
            <a:ext cx="1540934" cy="28241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F1979A7-187B-8CC0-5EAD-9E911A321D65}"/>
              </a:ext>
            </a:extLst>
          </p:cNvPr>
          <p:cNvSpPr/>
          <p:nvPr/>
        </p:nvSpPr>
        <p:spPr>
          <a:xfrm>
            <a:off x="2888323" y="5481964"/>
            <a:ext cx="1294602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관련사이트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SitePage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BBF5535-8BD2-DA27-9508-2AAACD963DE2}"/>
              </a:ext>
            </a:extLst>
          </p:cNvPr>
          <p:cNvSpPr/>
          <p:nvPr/>
        </p:nvSpPr>
        <p:spPr>
          <a:xfrm>
            <a:off x="4375355" y="5462214"/>
            <a:ext cx="1421601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앱 이용 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AppSrvcExpln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DCFF2270-4921-2DBE-4FE7-F47558EADD78}"/>
              </a:ext>
            </a:extLst>
          </p:cNvPr>
          <p:cNvCxnSpPr>
            <a:stCxn id="68" idx="0"/>
            <a:endCxn id="39" idx="2"/>
          </p:cNvCxnSpPr>
          <p:nvPr/>
        </p:nvCxnSpPr>
        <p:spPr>
          <a:xfrm flipV="1">
            <a:off x="3535624" y="3810190"/>
            <a:ext cx="1288067" cy="16717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E951C1A0-315F-228E-7726-753A2B3E22C9}"/>
              </a:ext>
            </a:extLst>
          </p:cNvPr>
          <p:cNvCxnSpPr>
            <a:stCxn id="69" idx="0"/>
            <a:endCxn id="39" idx="2"/>
          </p:cNvCxnSpPr>
          <p:nvPr/>
        </p:nvCxnSpPr>
        <p:spPr>
          <a:xfrm flipH="1" flipV="1">
            <a:off x="4823691" y="3810190"/>
            <a:ext cx="262465" cy="165202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D3CB4D9-52F7-0D5C-68EF-1168EC02BFE2}"/>
              </a:ext>
            </a:extLst>
          </p:cNvPr>
          <p:cNvSpPr/>
          <p:nvPr/>
        </p:nvSpPr>
        <p:spPr>
          <a:xfrm>
            <a:off x="6849666" y="2747194"/>
            <a:ext cx="1945632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공통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ComController</a:t>
            </a:r>
            <a:endParaRPr lang="en-US" altLang="ko-KR" sz="1100" dirty="0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263AF93D-84A9-5883-893A-24F5B3B4EDAB}"/>
              </a:ext>
            </a:extLst>
          </p:cNvPr>
          <p:cNvCxnSpPr>
            <a:cxnSpLocks/>
            <a:stCxn id="39" idx="3"/>
            <a:endCxn id="30" idx="1"/>
          </p:cNvCxnSpPr>
          <p:nvPr/>
        </p:nvCxnSpPr>
        <p:spPr>
          <a:xfrm>
            <a:off x="5687291" y="2990174"/>
            <a:ext cx="1162375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3540558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하단 </a:t>
            </a:r>
            <a:r>
              <a:rPr lang="en-US" altLang="ko-KR" dirty="0"/>
              <a:t>[</a:t>
            </a:r>
            <a:r>
              <a:rPr lang="ko-KR" altLang="en-US" dirty="0"/>
              <a:t>유의사항</a:t>
            </a:r>
            <a:r>
              <a:rPr lang="en-US" altLang="ko-KR" dirty="0"/>
              <a:t>]</a:t>
            </a:r>
            <a:r>
              <a:rPr lang="ko-KR" altLang="en-US" dirty="0"/>
              <a:t> 안내 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모바일에서는 사용자 등록되지 않습니다</a:t>
            </a:r>
            <a:r>
              <a:rPr lang="en-US" altLang="ko-KR" dirty="0"/>
              <a:t>. PC </a:t>
            </a:r>
            <a:r>
              <a:rPr lang="ko-KR" altLang="en-US" dirty="0"/>
              <a:t>버전에서 </a:t>
            </a:r>
            <a:r>
              <a:rPr lang="ko-KR" altLang="en-US" dirty="0" err="1"/>
              <a:t>업체등록</a:t>
            </a:r>
            <a:r>
              <a:rPr lang="ko-KR" altLang="en-US" dirty="0"/>
              <a:t> 및 사용자 등록을 진행한 이후 모바일 앱 서비스 사용이 가능합니다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사전준비사항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사전준비사항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사전준비사항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MUI-CM-05-M07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70846"/>
          <a:stretch/>
        </p:blipFill>
        <p:spPr>
          <a:xfrm>
            <a:off x="675399" y="1493928"/>
            <a:ext cx="2712027" cy="471528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39010"/>
          <a:stretch/>
        </p:blipFill>
        <p:spPr>
          <a:xfrm>
            <a:off x="3795734" y="1493927"/>
            <a:ext cx="1291541" cy="469786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61443"/>
          <a:stretch/>
        </p:blipFill>
        <p:spPr>
          <a:xfrm>
            <a:off x="5216220" y="1493927"/>
            <a:ext cx="1291541" cy="296990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1696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04237253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청렴계약제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청렴계약제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청렴계약제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MUI-CM-05-M08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47332"/>
          <a:stretch/>
        </p:blipFill>
        <p:spPr>
          <a:xfrm>
            <a:off x="675399" y="1493928"/>
            <a:ext cx="2712027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839" y="1493927"/>
            <a:ext cx="1435816" cy="4766110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5352500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국방조달참여절차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</a:t>
            </a:r>
            <a:r>
              <a:rPr lang="ko-KR" altLang="en-US" dirty="0" err="1">
                <a:latin typeface="+mn-ea"/>
              </a:rPr>
              <a:t>참여절차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국방조달참여절차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2"/>
          <a:srcRect b="80601"/>
          <a:stretch/>
        </p:blipFill>
        <p:spPr>
          <a:xfrm>
            <a:off x="3795734" y="1493927"/>
            <a:ext cx="1281087" cy="4723993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3"/>
          <a:srcRect b="24753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19435" b="60235"/>
          <a:stretch/>
        </p:blipFill>
        <p:spPr>
          <a:xfrm>
            <a:off x="5226674" y="1493928"/>
            <a:ext cx="1281087" cy="4950416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7513105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국내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전자입찰절차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916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64448"/>
          <a:stretch/>
        </p:blipFill>
        <p:spPr>
          <a:xfrm>
            <a:off x="3795734" y="1493928"/>
            <a:ext cx="1157008" cy="473270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35486" b="27326"/>
          <a:stretch/>
        </p:blipFill>
        <p:spPr>
          <a:xfrm>
            <a:off x="5350753" y="1493928"/>
            <a:ext cx="1157008" cy="495041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22755313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전자대금청구절차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전자대금청구절차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전자대금청구절차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MUI-CM-05-M11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6427"/>
          <a:stretch/>
        </p:blipFill>
        <p:spPr>
          <a:xfrm>
            <a:off x="675399" y="1493928"/>
            <a:ext cx="2717346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26769"/>
          <a:stretch/>
        </p:blipFill>
        <p:spPr>
          <a:xfrm>
            <a:off x="3790415" y="1493927"/>
            <a:ext cx="1241197" cy="4723993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73096"/>
          <a:stretch/>
        </p:blipFill>
        <p:spPr>
          <a:xfrm>
            <a:off x="5266564" y="1493927"/>
            <a:ext cx="1241197" cy="173549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96272065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등록절차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59751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15799"/>
          <a:stretch/>
        </p:blipFill>
        <p:spPr>
          <a:xfrm>
            <a:off x="3795734" y="1493926"/>
            <a:ext cx="1301150" cy="4741411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84046"/>
          <a:stretch/>
        </p:blipFill>
        <p:spPr>
          <a:xfrm>
            <a:off x="5212677" y="1493926"/>
            <a:ext cx="1301150" cy="89838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28916524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국외조달원</a:t>
            </a:r>
            <a:r>
              <a:rPr lang="ko-KR" altLang="en-US" dirty="0">
                <a:latin typeface="+mn-ea"/>
              </a:rPr>
              <a:t> 등록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변경안내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6369"/>
          <a:stretch/>
        </p:blipFill>
        <p:spPr>
          <a:xfrm>
            <a:off x="675399" y="1493928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71977"/>
          <a:stretch/>
        </p:blipFill>
        <p:spPr>
          <a:xfrm>
            <a:off x="3795735" y="1493927"/>
            <a:ext cx="1311846" cy="470657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28127" b="42347"/>
          <a:stretch/>
        </p:blipFill>
        <p:spPr>
          <a:xfrm>
            <a:off x="5195915" y="1493928"/>
            <a:ext cx="1311846" cy="4959124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77668449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국외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</a:t>
            </a:r>
            <a:r>
              <a:rPr lang="ko-KR" altLang="en-US" dirty="0">
                <a:latin typeface="+mn-ea"/>
              </a:rPr>
              <a:t> 전자입찰절차 정보를 안내한다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17079"/>
          <a:stretch/>
        </p:blipFill>
        <p:spPr>
          <a:xfrm>
            <a:off x="675399" y="1493927"/>
            <a:ext cx="2712028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5733" y="1493927"/>
            <a:ext cx="1161094" cy="4723993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1562" y="1496757"/>
            <a:ext cx="1216199" cy="4399165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935417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관련사이트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관련사이트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관련사이트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8789"/>
          <a:stretch/>
        </p:blipFill>
        <p:spPr>
          <a:xfrm>
            <a:off x="675399" y="1493927"/>
            <a:ext cx="2712027" cy="496783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/>
          <a:srcRect b="75403"/>
          <a:stretch/>
        </p:blipFill>
        <p:spPr>
          <a:xfrm>
            <a:off x="3805204" y="1493928"/>
            <a:ext cx="1230093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3"/>
          <a:srcRect t="24552" b="49629"/>
          <a:stretch/>
        </p:blipFill>
        <p:spPr>
          <a:xfrm>
            <a:off x="5277668" y="1493929"/>
            <a:ext cx="1230093" cy="4967832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0823945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앱 이용에 대한 안내 화면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MUI-MS-01-P06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677959" y="1493927"/>
            <a:ext cx="2712027" cy="4740618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1789045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7. </a:t>
            </a:r>
            <a:r>
              <a:rPr lang="ko-KR" altLang="en-US" dirty="0"/>
              <a:t>앱 설정</a:t>
            </a:r>
            <a:endParaRPr lang="en-US" altLang="ko-KR" dirty="0"/>
          </a:p>
          <a:p>
            <a:r>
              <a:rPr lang="en-US" altLang="ko-KR" dirty="0"/>
              <a:t>7.1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184140"/>
              </p:ext>
            </p:extLst>
          </p:nvPr>
        </p:nvGraphicFramePr>
        <p:xfrm>
          <a:off x="635474" y="1574093"/>
          <a:ext cx="8749092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AppStng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설정 정보를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AppStngPage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MUI-MS-02-P02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앱 캐시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캐시 정보를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MUI-MS-02-P03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모바일앱서비스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웹에서 로그인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사용하려할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앱을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8899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:dsp="http://schemas.microsoft.com/office/drawing/2008/diagram" xmlns:dgm="http://schemas.openxmlformats.org/drawingml/2006/diagram" xmlns:c="http://schemas.openxmlformats.org/drawingml/2006/chart" xmlns="">
      <p:transition/>
    </mc:Fallback>
  </mc:AlternateContent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378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1581494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72219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설정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776198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7863972" y="2664163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866198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224133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캐시 삭제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329441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모바일앱서비스 안내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5132838" y="171726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디바이스 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 앱 권한</a:t>
            </a:r>
          </a:p>
        </p:txBody>
      </p: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34" idx="1"/>
          </p:cNvCxnSpPr>
          <p:nvPr/>
        </p:nvCxnSpPr>
        <p:spPr>
          <a:xfrm>
            <a:off x="3788168" y="1866198"/>
            <a:ext cx="1344670" cy="51913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022376" y="3149934"/>
            <a:ext cx="75501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 err="1">
                <a:solidFill>
                  <a:schemeClr val="tx1"/>
                </a:solidFill>
              </a:rPr>
              <a:t>모바일웹</a:t>
            </a:r>
            <a:r>
              <a:rPr lang="ko-KR" altLang="en-US" sz="800" b="1" dirty="0">
                <a:solidFill>
                  <a:schemeClr val="tx1"/>
                </a:solidFill>
              </a:rPr>
              <a:t> 사용자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3348411"/>
            <a:ext cx="448641" cy="180000"/>
            <a:chOff x="4520608" y="1663914"/>
            <a:chExt cx="448641" cy="180000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49" idx="6"/>
            <a:endCxn id="37" idx="1"/>
          </p:cNvCxnSpPr>
          <p:nvPr/>
        </p:nvCxnSpPr>
        <p:spPr>
          <a:xfrm>
            <a:off x="1471017" y="3438411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" idx="3"/>
            <a:endCxn id="60" idx="1"/>
          </p:cNvCxnSpPr>
          <p:nvPr/>
        </p:nvCxnSpPr>
        <p:spPr>
          <a:xfrm flipV="1">
            <a:off x="3788168" y="1861261"/>
            <a:ext cx="1344670" cy="493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29441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연결</a:t>
            </a:r>
          </a:p>
        </p:txBody>
      </p:sp>
      <p:sp>
        <p:nvSpPr>
          <p:cNvPr id="63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80817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앱스토어</a:t>
            </a:r>
          </a:p>
        </p:txBody>
      </p:sp>
      <p:cxnSp>
        <p:nvCxnSpPr>
          <p:cNvPr id="6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63" idx="1"/>
          </p:cNvCxnSpPr>
          <p:nvPr/>
        </p:nvCxnSpPr>
        <p:spPr>
          <a:xfrm>
            <a:off x="3788168" y="3438411"/>
            <a:ext cx="1344670" cy="51376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7" idx="3"/>
            <a:endCxn id="62" idx="1"/>
          </p:cNvCxnSpPr>
          <p:nvPr/>
        </p:nvCxnSpPr>
        <p:spPr>
          <a:xfrm>
            <a:off x="3788168" y="3438411"/>
            <a:ext cx="134467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6554398" y="1861261"/>
            <a:ext cx="1338571" cy="89290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6554398" y="2385332"/>
            <a:ext cx="1338571" cy="36883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2" idx="3"/>
            <a:endCxn id="19" idx="2"/>
          </p:cNvCxnSpPr>
          <p:nvPr/>
        </p:nvCxnSpPr>
        <p:spPr>
          <a:xfrm flipV="1">
            <a:off x="6554398" y="2754163"/>
            <a:ext cx="1338571" cy="68424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3" idx="3"/>
            <a:endCxn id="19" idx="2"/>
          </p:cNvCxnSpPr>
          <p:nvPr/>
        </p:nvCxnSpPr>
        <p:spPr>
          <a:xfrm flipV="1">
            <a:off x="6554398" y="2754163"/>
            <a:ext cx="1338571" cy="119801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996C471-E44F-C5C9-F26F-9A9662EC602C}"/>
              </a:ext>
            </a:extLst>
          </p:cNvPr>
          <p:cNvSpPr/>
          <p:nvPr/>
        </p:nvSpPr>
        <p:spPr>
          <a:xfrm>
            <a:off x="2366607" y="3149935"/>
            <a:ext cx="133857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 smtClean="0">
                <a:solidFill>
                  <a:schemeClr val="tx1"/>
                </a:solidFill>
              </a:rPr>
              <a:t>서비스 사용 시도 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2838823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379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802607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설정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AppStngPage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2404804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앱 캐시 삭제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AppCashDel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3006722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모바일앱서비스 안내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AppSrvc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2049302"/>
            <a:ext cx="1559406" cy="94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669758"/>
            <a:ext cx="1559406" cy="3204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 flipV="1">
            <a:off x="2409921" y="2990174"/>
            <a:ext cx="1550170" cy="2758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499836018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ko-KR" altLang="en-US" dirty="0" err="1"/>
              <a:t>알림설정</a:t>
            </a:r>
            <a:r>
              <a:rPr lang="ko-KR" altLang="en-US" dirty="0"/>
              <a:t> 값과 동일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알림 서비스 신청 및 해지 페이지 </a:t>
            </a:r>
            <a:r>
              <a:rPr lang="ko-KR" altLang="en-US" dirty="0" err="1"/>
              <a:t>바로가기</a:t>
            </a:r>
            <a:r>
              <a:rPr lang="ko-KR" altLang="en-US" dirty="0"/>
              <a:t>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권한 설정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시스템 앱 설정으로 </a:t>
            </a:r>
            <a:r>
              <a:rPr lang="ko-KR" altLang="en-US" dirty="0" err="1">
                <a:sym typeface="Wingdings" panose="05000000000000000000" pitchFamily="2" charset="2"/>
              </a:rPr>
              <a:t>바로가기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버전 정보 아코디언으로 최소화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캐시 삭제 클릭 시 팝업 확인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약관</a:t>
            </a:r>
            <a:r>
              <a:rPr lang="en-US" altLang="ko-KR" dirty="0">
                <a:sym typeface="Wingdings" panose="05000000000000000000" pitchFamily="2" charset="2"/>
              </a:rPr>
              <a:t> dapa.go.kr</a:t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개인정보 처리방침 외부 브라우저 링크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저작권 정책 외부 브라우저 링크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설정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앱 설정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MUI-MS-02-M01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설정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5" name="그룹 2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타원 2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/>
          <p:cNvGrpSpPr/>
          <p:nvPr/>
        </p:nvGrpSpPr>
        <p:grpSpPr>
          <a:xfrm>
            <a:off x="903581" y="3648461"/>
            <a:ext cx="2255663" cy="306146"/>
            <a:chOff x="903581" y="2074658"/>
            <a:chExt cx="2255663" cy="306146"/>
          </a:xfrm>
        </p:grpSpPr>
        <p:sp>
          <p:nvSpPr>
            <p:cNvPr id="30" name="모서리가 둥근 직사각형 29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권한 설정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06602" y="5195084"/>
            <a:ext cx="2255663" cy="306146"/>
            <a:chOff x="903581" y="2845891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캐시 삭제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3483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074" y="200273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299999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446054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8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10973" y="2361554"/>
            <a:ext cx="301752" cy="137160"/>
            <a:chOff x="840582" y="1601197"/>
            <a:chExt cx="301752" cy="137160"/>
          </a:xfrm>
        </p:grpSpPr>
        <p:sp>
          <p:nvSpPr>
            <p:cNvPr id="8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4787" y="31909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8" name="그룹 97"/>
          <p:cNvGrpSpPr/>
          <p:nvPr/>
        </p:nvGrpSpPr>
        <p:grpSpPr>
          <a:xfrm>
            <a:off x="903581" y="2707140"/>
            <a:ext cx="2255663" cy="306146"/>
            <a:chOff x="903581" y="2074658"/>
            <a:chExt cx="2255663" cy="306146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sp>
        <p:nvSpPr>
          <p:cNvPr id="102" name="모서리가 둥근 직사각형 101"/>
          <p:cNvSpPr/>
          <p:nvPr/>
        </p:nvSpPr>
        <p:spPr>
          <a:xfrm>
            <a:off x="948491" y="4310789"/>
            <a:ext cx="2165844" cy="692962"/>
          </a:xfrm>
          <a:prstGeom prst="roundRect">
            <a:avLst>
              <a:gd name="adj" fmla="val 579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903581" y="409103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2548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</a:t>
            </a:r>
            <a:r>
              <a:rPr lang="ko-KR" altLang="en-US" sz="800" b="1" dirty="0" err="1">
                <a:latin typeface="+mn-ea"/>
              </a:rPr>
              <a:t>버전정보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9470" y="418254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800">
                <a:latin typeface="+mn-ea"/>
              </a:defRPr>
            </a:lvl1pPr>
          </a:lstStyle>
          <a:p>
            <a:pPr algn="r"/>
            <a:r>
              <a:rPr lang="en-US" altLang="ko-KR" dirty="0"/>
              <a:t>V 1.0.1</a:t>
            </a:r>
          </a:p>
        </p:txBody>
      </p:sp>
      <p:grpSp>
        <p:nvGrpSpPr>
          <p:cNvPr id="78" name="그룹 77"/>
          <p:cNvGrpSpPr/>
          <p:nvPr/>
        </p:nvGrpSpPr>
        <p:grpSpPr>
          <a:xfrm>
            <a:off x="2950527" y="422060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472572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현재 앱 버전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472572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V 1.0.1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638866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정보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638866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iPhone 16.2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805160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</a:t>
            </a:r>
            <a:r>
              <a:rPr lang="en-US" altLang="ko-KR" sz="800" dirty="0">
                <a:latin typeface="+mn-ea"/>
              </a:rPr>
              <a:t>OS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805160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err="1"/>
              <a:t>ios</a:t>
            </a:r>
            <a:endParaRPr lang="en-US" altLang="ko-KR" sz="800" dirty="0"/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캐시 삭제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앱에 임시 보관된 캐시를 삭제할까요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115" name="직선 연결선 11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6" name="직선 연결선 11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7" name="직사각형 116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MUI-MS-02-P02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앱 캐시 삭제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4034528" y="19847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개인정보처리방침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633" y="1684621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약관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8420" y="57259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4034528" y="2427296"/>
            <a:ext cx="2255663" cy="306146"/>
            <a:chOff x="903581" y="2074658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저작권 정책</a:t>
              </a:r>
              <a:endParaRPr lang="en-US" altLang="ko-KR" sz="800" b="1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140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19701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32993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880" y="16666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29785500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모바일 웹에서 서비스 사용 시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로그인 서비스를 사용하려 할 때 노출되는 팝업 메시지임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있다면 앱으로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있지 않다면 앱 설치 스토어로 연결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모바일앱서비스안내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모바일 웹에서 로그인 서비스를 </a:t>
            </a:r>
            <a:r>
              <a:rPr lang="ko-KR" altLang="en-US" dirty="0" err="1">
                <a:latin typeface="+mn-ea"/>
              </a:rPr>
              <a:t>사용하려할</a:t>
            </a:r>
            <a:r>
              <a:rPr lang="ko-KR" altLang="en-US" dirty="0">
                <a:latin typeface="+mn-ea"/>
              </a:rPr>
              <a:t> 때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모바일 앱을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모바일 웹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서비스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모바일앱서비스안내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MUI-MS-02-P03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grpSp>
        <p:nvGrpSpPr>
          <p:cNvPr id="19" name="Overlay and Alert">
            <a:extLst>
              <a:ext uri="{FF2B5EF4-FFF2-40B4-BE49-F238E27FC236}">
                <a16:creationId xmlns:a16="http://schemas.microsoft.com/office/drawing/2014/main" id="{8570DB11-89E5-44DD-9545-614AC5D78982}"/>
              </a:ext>
            </a:extLst>
          </p:cNvPr>
          <p:cNvGrpSpPr/>
          <p:nvPr/>
        </p:nvGrpSpPr>
        <p:grpSpPr>
          <a:xfrm>
            <a:off x="675401" y="1493927"/>
            <a:ext cx="2701627" cy="4738361"/>
            <a:chOff x="595686" y="1261242"/>
            <a:chExt cx="2286000" cy="4064000"/>
          </a:xfrm>
        </p:grpSpPr>
        <p:sp>
          <p:nvSpPr>
            <p:cNvPr id="20" name="Overlay">
              <a:extLst>
                <a:ext uri="{FF2B5EF4-FFF2-40B4-BE49-F238E27FC236}">
                  <a16:creationId xmlns:a16="http://schemas.microsoft.com/office/drawing/2014/main" id="{50423D8B-855D-4277-89CC-C6A83C80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86" y="1261242"/>
              <a:ext cx="2286000" cy="4064000"/>
            </a:xfrm>
            <a:prstGeom prst="rect">
              <a:avLst/>
            </a:prstGeom>
            <a:solidFill>
              <a:srgbClr val="000000">
                <a:alpha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Background">
              <a:extLst>
                <a:ext uri="{FF2B5EF4-FFF2-40B4-BE49-F238E27FC236}">
                  <a16:creationId xmlns:a16="http://schemas.microsoft.com/office/drawing/2014/main" id="{A1A44B50-9D70-4862-8DC3-A37BCACED50C}"/>
                </a:ext>
              </a:extLst>
            </p:cNvPr>
            <p:cNvSpPr/>
            <p:nvPr/>
          </p:nvSpPr>
          <p:spPr>
            <a:xfrm>
              <a:off x="781226" y="2038441"/>
              <a:ext cx="1914922" cy="2584963"/>
            </a:xfrm>
            <a:prstGeom prst="roundRect">
              <a:avLst>
                <a:gd name="adj" fmla="val 3509"/>
              </a:avLst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182880" tIns="128016" rIns="182880" bIns="4572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9B1AD0E-77B8-4F9D-ADEF-B1427C8D6092}"/>
              </a:ext>
            </a:extLst>
          </p:cNvPr>
          <p:cNvSpPr/>
          <p:nvPr/>
        </p:nvSpPr>
        <p:spPr>
          <a:xfrm>
            <a:off x="1078300" y="3553946"/>
            <a:ext cx="1962202" cy="9144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국방전자조달 모바일 서비스란</a:t>
            </a:r>
            <a:r>
              <a:rPr lang="en-US" altLang="ko-KR" sz="1000" b="1" dirty="0">
                <a:solidFill>
                  <a:schemeClr val="tx1"/>
                </a:solidFill>
              </a:rPr>
              <a:t>?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국방전자조달시스템에 게시되는 주요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조달정보를 언제 어디서나 조회할 수 있도록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스마트폰에서도 이용 가능한 모바일 앱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서비스입니다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각종 입찰공고는 물론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조달계획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입찰결과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</a:p>
          <a:p>
            <a:r>
              <a:rPr lang="ko-KR" altLang="en-US" sz="800" dirty="0">
                <a:solidFill>
                  <a:schemeClr val="tx1"/>
                </a:solidFill>
              </a:rPr>
              <a:t>계약정보 등 다양한 정보를 실시간으로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조회하실 수 있습니다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79">
            <a:extLst>
              <a:ext uri="{FF2B5EF4-FFF2-40B4-BE49-F238E27FC236}">
                <a16:creationId xmlns:a16="http://schemas.microsoft.com/office/drawing/2014/main" id="{3086DFF5-18F6-4939-8DBB-B672A87906A0}"/>
              </a:ext>
            </a:extLst>
          </p:cNvPr>
          <p:cNvSpPr/>
          <p:nvPr/>
        </p:nvSpPr>
        <p:spPr>
          <a:xfrm>
            <a:off x="1078300" y="5029200"/>
            <a:ext cx="1962202" cy="220443"/>
          </a:xfrm>
          <a:prstGeom prst="roundRect">
            <a:avLst/>
          </a:prstGeom>
          <a:solidFill>
            <a:srgbClr val="0070C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국방전자조달 앱 실행하기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C8E76FAB-6B90-42DF-A52B-36ACEC056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5001" y="2783146"/>
            <a:ext cx="1828800" cy="371475"/>
          </a:xfrm>
          <a:prstGeom prst="rect">
            <a:avLst/>
          </a:prstGeom>
          <a:solidFill>
            <a:schemeClr val="bg1"/>
          </a:solidFill>
          <a:ln>
            <a:solidFill>
              <a:srgbClr val="F5F5F5"/>
            </a:solidFill>
          </a:ln>
        </p:spPr>
      </p:pic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814437" y="23140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248384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17448</TotalTime>
  <Words>49494</Words>
  <Application>Microsoft Office PowerPoint</Application>
  <PresentationFormat>A4 용지(210x297mm)</PresentationFormat>
  <Paragraphs>21726</Paragraphs>
  <Slides>382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11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382</vt:i4>
      </vt:variant>
    </vt:vector>
  </HeadingPairs>
  <TitlesOfParts>
    <vt:vector size="394" baseType="lpstr">
      <vt:lpstr>Pretendard GOV</vt:lpstr>
      <vt:lpstr>Pretendard Medium</vt:lpstr>
      <vt:lpstr>맑은 고딕</vt:lpstr>
      <vt:lpstr>맑은 고딕 (본문)</vt:lpstr>
      <vt:lpstr>Arial</vt:lpstr>
      <vt:lpstr>Calibri</vt:lpstr>
      <vt:lpstr>Consolas</vt:lpstr>
      <vt:lpstr>Segoe UI</vt:lpstr>
      <vt:lpstr>Times New Roman</vt:lpstr>
      <vt:lpstr>Verdana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962</cp:revision>
  <cp:lastPrinted>2016-10-27T08:57:39Z</cp:lastPrinted>
  <dcterms:created xsi:type="dcterms:W3CDTF">2016-10-27T07:41:55Z</dcterms:created>
  <dcterms:modified xsi:type="dcterms:W3CDTF">2026-07-23T00:32:19Z</dcterms:modified>
  <cp:category>서브시스템/업무명</cp:category>
  <cp:contentStatus>0.1</cp:contentStatus>
</cp:coreProperties>
</file>