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688" r:id="rId3"/>
    <p:sldId id="676" r:id="rId4"/>
    <p:sldId id="356" r:id="rId5"/>
    <p:sldId id="260" r:id="rId6"/>
    <p:sldId id="264" r:id="rId7"/>
    <p:sldId id="291" r:id="rId8"/>
    <p:sldId id="358" r:id="rId9"/>
    <p:sldId id="273" r:id="rId10"/>
    <p:sldId id="292" r:id="rId11"/>
    <p:sldId id="677" r:id="rId12"/>
    <p:sldId id="306" r:id="rId13"/>
    <p:sldId id="689" r:id="rId14"/>
    <p:sldId id="328" r:id="rId15"/>
    <p:sldId id="690" r:id="rId16"/>
    <p:sldId id="678" r:id="rId17"/>
    <p:sldId id="679" r:id="rId18"/>
    <p:sldId id="680" r:id="rId19"/>
    <p:sldId id="660" r:id="rId20"/>
    <p:sldId id="661" r:id="rId21"/>
    <p:sldId id="662" r:id="rId22"/>
    <p:sldId id="663" r:id="rId23"/>
    <p:sldId id="666" r:id="rId24"/>
    <p:sldId id="664" r:id="rId25"/>
    <p:sldId id="681" r:id="rId26"/>
    <p:sldId id="682" r:id="rId27"/>
    <p:sldId id="683" r:id="rId28"/>
    <p:sldId id="665" r:id="rId29"/>
    <p:sldId id="684" r:id="rId30"/>
    <p:sldId id="685" r:id="rId31"/>
    <p:sldId id="671" r:id="rId32"/>
    <p:sldId id="674" r:id="rId33"/>
    <p:sldId id="686" r:id="rId34"/>
    <p:sldId id="687" r:id="rId3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688"/>
            <p14:sldId id="676"/>
            <p14:sldId id="356"/>
            <p14:sldId id="260"/>
          </p14:sldIdLst>
        </p14:section>
        <p14:section name="1.사전의향서" id="{A88D8C4A-42D5-488C-851B-9A15CEB54A60}">
          <p14:sldIdLst>
            <p14:sldId id="264"/>
            <p14:sldId id="291"/>
            <p14:sldId id="358"/>
            <p14:sldId id="273"/>
            <p14:sldId id="292"/>
            <p14:sldId id="677"/>
            <p14:sldId id="306"/>
            <p14:sldId id="689"/>
            <p14:sldId id="328"/>
            <p14:sldId id="690"/>
            <p14:sldId id="678"/>
            <p14:sldId id="679"/>
            <p14:sldId id="680"/>
          </p14:sldIdLst>
        </p14:section>
        <p14:section name="2.세금계산서" id="{019FD015-75A8-4452-8691-168FACA46FB5}">
          <p14:sldIdLst>
            <p14:sldId id="660"/>
            <p14:sldId id="661"/>
            <p14:sldId id="662"/>
            <p14:sldId id="663"/>
            <p14:sldId id="666"/>
            <p14:sldId id="664"/>
            <p14:sldId id="681"/>
            <p14:sldId id="682"/>
            <p14:sldId id="683"/>
            <p14:sldId id="665"/>
            <p14:sldId id="684"/>
            <p14:sldId id="685"/>
            <p14:sldId id="671"/>
            <p14:sldId id="674"/>
            <p14:sldId id="686"/>
            <p14:sldId id="6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32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2026-08-05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2026-08-05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6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06.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업무지원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06.</a:t>
            </a:r>
            <a:r>
              <a:rPr lang="ko-KR" altLang="en-US" dirty="0"/>
              <a:t>업무지원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D2BA-AP_3CD-0601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4505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4934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3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430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0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02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90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2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9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E11E0974-0B2E-0EBE-E5C5-FA7CE978C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57119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40724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세금계산서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18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18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19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20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smtClean="0">
                          <a:latin typeface="+mn-ea"/>
                          <a:ea typeface="+mn-ea"/>
                        </a:rPr>
                        <a:t>21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목록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67774"/>
              </p:ext>
            </p:extLst>
          </p:nvPr>
        </p:nvGraphicFramePr>
        <p:xfrm>
          <a:off x="635474" y="1413419"/>
          <a:ext cx="8701200" cy="20908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BfhdLoiList_SrchFilter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233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5343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상세내용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탭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품목명세서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BfhdLoiDtl_ItemList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탭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_ItemList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40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BfhdLoiWrt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사전의향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의견 작성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15376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793328" y="23691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사전의향서목록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655334" y="2423192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862194" y="2513192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24462" y="23691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693328" y="2513192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8365115" y="385160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8394112" y="364591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570725" y="35919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사전의향서상세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62" idx="1"/>
          </p:cNvCxnSpPr>
          <p:nvPr/>
        </p:nvCxnSpPr>
        <p:spPr>
          <a:xfrm rot="16200000" flipH="1">
            <a:off x="2867666" y="3032853"/>
            <a:ext cx="1078721" cy="3273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4158895" y="1453625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618305" y="2255081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080812" y="361624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264007" y="361624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264007" y="44831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의견작성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753920" y="3399459"/>
            <a:ext cx="2711195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5" idx="2"/>
            <a:endCxn id="30" idx="1"/>
          </p:cNvCxnSpPr>
          <p:nvPr/>
        </p:nvCxnSpPr>
        <p:spPr>
          <a:xfrm rot="5400000">
            <a:off x="6127565" y="4040682"/>
            <a:ext cx="722885" cy="450000"/>
          </a:xfrm>
          <a:prstGeom prst="bentConnector4">
            <a:avLst>
              <a:gd name="adj1" fmla="val 40040"/>
              <a:gd name="adj2" fmla="val 1508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7164007" y="3735913"/>
            <a:ext cx="1230105" cy="8912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32" idx="1"/>
          </p:cNvCxnSpPr>
          <p:nvPr/>
        </p:nvCxnSpPr>
        <p:spPr>
          <a:xfrm>
            <a:off x="4470725" y="3735913"/>
            <a:ext cx="28319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2" idx="3"/>
            <a:endCxn id="158" idx="2"/>
          </p:cNvCxnSpPr>
          <p:nvPr/>
        </p:nvCxnSpPr>
        <p:spPr>
          <a:xfrm>
            <a:off x="7465115" y="3735913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31" name="그룹 30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39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화면 영역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71293" y="2747194"/>
            <a:ext cx="221145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&lt;&lt;</a:t>
            </a:r>
            <a:r>
              <a:rPr lang="ko-KR" altLang="en-US" sz="1000" dirty="0" err="1"/>
              <a:t>사전의향서</a:t>
            </a:r>
            <a:r>
              <a:rPr lang="en-US" altLang="ko-KR" sz="1000" dirty="0"/>
              <a:t>Controller&gt;&gt;</a:t>
            </a:r>
          </a:p>
          <a:p>
            <a:pPr algn="ctr"/>
            <a:r>
              <a:rPr lang="en-US" altLang="ko-KR" sz="1000" dirty="0" err="1"/>
              <a:t>BfhdLoiController</a:t>
            </a:r>
            <a:endParaRPr lang="en-US" altLang="ko-KR" sz="1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61321"/>
            <a:ext cx="967509" cy="82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896613"/>
            <a:ext cx="967509" cy="93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641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84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7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6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사전의향서목록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25768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검색필터</a:t>
            </a:r>
            <a:r>
              <a:rPr lang="en-US" altLang="ko-KR" sz="1000" dirty="0" smtClean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사전의향서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61061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사전의향서상세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95048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BfhdLoiDtl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29034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품목명세서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BfhdLoiDtl_ItemList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563021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  <a:latin typeface="+mn-ea"/>
              </a:rPr>
              <a:t>의견작성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BfhdLoiWrt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</a:t>
            </a:r>
            <a:r>
              <a:rPr lang="ko-KR" altLang="en-US" dirty="0" smtClean="0"/>
              <a:t>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입력된 값을 불러와서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  &gt; </a:t>
            </a:r>
            <a:r>
              <a:rPr lang="ko-KR" altLang="en-US" dirty="0"/>
              <a:t>우측 </a:t>
            </a:r>
            <a:r>
              <a:rPr lang="ko-KR" altLang="en-US" dirty="0" err="1"/>
              <a:t>정보값</a:t>
            </a:r>
            <a:r>
              <a:rPr lang="ko-KR" altLang="en-US" dirty="0"/>
              <a:t> 참조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- </a:t>
            </a:r>
            <a:r>
              <a:rPr lang="ko-KR" altLang="en-US" dirty="0" smtClean="0">
                <a:solidFill>
                  <a:srgbClr val="FF0000"/>
                </a:solidFill>
              </a:rPr>
              <a:t>진행상태 값에 </a:t>
            </a:r>
            <a:r>
              <a:rPr lang="ko-KR" altLang="en-US" dirty="0" err="1" smtClean="0">
                <a:solidFill>
                  <a:srgbClr val="FF0000"/>
                </a:solidFill>
              </a:rPr>
              <a:t>빈값은</a:t>
            </a:r>
            <a:r>
              <a:rPr lang="ko-KR" altLang="en-US" dirty="0" smtClean="0">
                <a:solidFill>
                  <a:srgbClr val="FF0000"/>
                </a:solidFill>
              </a:rPr>
              <a:t> 사용자가 의견을 작성하지 않은 상태 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err="1" smtClean="0">
                <a:solidFill>
                  <a:srgbClr val="FF0000"/>
                </a:solidFill>
              </a:rPr>
              <a:t>임시저장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제출을 하지 않은 상태</a:t>
            </a:r>
            <a:r>
              <a:rPr lang="en-US" altLang="ko-KR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>
                <a:solidFill>
                  <a:srgbClr val="FF0000"/>
                </a:solidFill>
              </a:rPr>
              <a:t>임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사전의향서</a:t>
            </a:r>
            <a:r>
              <a:rPr lang="ko-KR" altLang="en-US" sz="800" dirty="0"/>
              <a:t>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01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6675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80453"/>
            <a:ext cx="2473257" cy="845407"/>
            <a:chOff x="781461" y="2610063"/>
            <a:chExt cx="2473257" cy="845407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 smtClean="0"/>
                <a:t>변속기 </a:t>
              </a:r>
              <a:r>
                <a:rPr lang="ko-KR" altLang="en-US" sz="900" b="1" dirty="0"/>
                <a:t>부품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39972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 smtClean="0"/>
                <a:t>접수일자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7122" y="3024583"/>
              <a:ext cx="904094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2025-05-01 ~ 2025-08-15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3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81461" y="4430971"/>
            <a:ext cx="2473257" cy="812896"/>
            <a:chOff x="781461" y="2610063"/>
            <a:chExt cx="2473257" cy="812896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dirty="0" smtClean="0"/>
                <a:t>장갑차 </a:t>
              </a:r>
              <a:r>
                <a:rPr lang="ko-KR" altLang="en-US" sz="900" b="1" dirty="0"/>
                <a:t>부품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22850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접수일자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42811" y="3007461"/>
              <a:ext cx="904094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 smtClean="0"/>
                <a:t>2025-07-01 </a:t>
              </a:r>
              <a:r>
                <a:rPr lang="en-US" altLang="ko-KR" sz="600" dirty="0"/>
                <a:t>~ </a:t>
              </a:r>
              <a:r>
                <a:rPr lang="en-US" altLang="ko-KR" sz="600" dirty="0" smtClean="0"/>
                <a:t>2025-10-30</a:t>
              </a:r>
              <a:endParaRPr lang="en-US" altLang="ko-KR" sz="600" dirty="0" smtClean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운영계약팀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홍길순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796345" y="2610063"/>
              <a:ext cx="317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미제출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124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63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329600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302973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633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8" name="모서리가 둥근 직사각형 10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제목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2" name="타원 11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6" name="직선 연결선 11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8" name="직사각형 8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</a:t>
              </a:r>
              <a:r>
                <a:rPr lang="en-US" altLang="ko-KR" sz="700" dirty="0" smtClean="0"/>
                <a:t> </a:t>
              </a:r>
              <a:r>
                <a:rPr lang="ko-KR" altLang="en-US" sz="700" dirty="0" smtClean="0"/>
                <a:t>표시 정보 정렬 변경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레이블 </a:t>
              </a:r>
              <a:r>
                <a:rPr lang="ko-KR" altLang="en-US" sz="700" dirty="0" err="1" smtClean="0"/>
                <a:t>정보값</a:t>
              </a:r>
              <a:r>
                <a:rPr lang="ko-KR" altLang="en-US" sz="700" dirty="0" smtClean="0"/>
                <a:t> 변경</a:t>
              </a:r>
              <a:endParaRPr lang="ko-KR" altLang="en-US" sz="700" dirty="0"/>
            </a:p>
          </p:txBody>
        </p:sp>
      </p:grpSp>
      <p:sp>
        <p:nvSpPr>
          <p:cNvPr id="3" name="직사각형 2"/>
          <p:cNvSpPr/>
          <p:nvPr/>
        </p:nvSpPr>
        <p:spPr>
          <a:xfrm>
            <a:off x="3764076" y="1660648"/>
            <a:ext cx="2845599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/>
              <a:t>※ </a:t>
            </a:r>
            <a:r>
              <a:rPr lang="ko-KR" altLang="en-US" sz="700" dirty="0"/>
              <a:t>진행상태 </a:t>
            </a:r>
            <a:r>
              <a:rPr lang="ko-KR" altLang="en-US" sz="700" dirty="0" err="1"/>
              <a:t>처리절차는</a:t>
            </a:r>
            <a:r>
              <a:rPr lang="ko-KR" altLang="en-US" sz="700" dirty="0"/>
              <a:t> 아래와 같습니다</a:t>
            </a:r>
            <a:r>
              <a:rPr lang="en-US" altLang="ko-KR" sz="7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 err="1"/>
              <a:t>빈값</a:t>
            </a:r>
            <a:r>
              <a:rPr lang="ko-KR" altLang="en-US" sz="700" dirty="0"/>
              <a:t>    </a:t>
            </a:r>
            <a:r>
              <a:rPr lang="en-US" altLang="ko-KR" sz="700" dirty="0"/>
              <a:t>: </a:t>
            </a:r>
            <a:r>
              <a:rPr lang="ko-KR" altLang="en-US" sz="700" dirty="0"/>
              <a:t>사전의향서를 </a:t>
            </a:r>
            <a:r>
              <a:rPr lang="ko-KR" altLang="en-US" sz="700" dirty="0" err="1"/>
              <a:t>임시저장</a:t>
            </a:r>
            <a:r>
              <a:rPr lang="en-US" altLang="ko-KR" sz="700" dirty="0"/>
              <a:t>/</a:t>
            </a:r>
            <a:r>
              <a:rPr lang="ko-KR" altLang="en-US" sz="700" dirty="0"/>
              <a:t>제출을 하지 않은 상태 입니다</a:t>
            </a:r>
            <a:r>
              <a:rPr lang="en-US" altLang="ko-KR" sz="700" dirty="0"/>
              <a:t>. </a:t>
            </a:r>
            <a:r>
              <a:rPr lang="ko-KR" altLang="en-US" sz="700" dirty="0" err="1"/>
              <a:t>사전의향서</a:t>
            </a:r>
            <a:r>
              <a:rPr lang="ko-KR" altLang="en-US" sz="700" dirty="0"/>
              <a:t> </a:t>
            </a:r>
            <a:r>
              <a:rPr lang="ko-KR" altLang="en-US" sz="700" dirty="0" err="1"/>
              <a:t>임시저장</a:t>
            </a:r>
            <a:r>
              <a:rPr lang="ko-KR" altLang="en-US" sz="700" dirty="0"/>
              <a:t> 및 제출이 가능합니다</a:t>
            </a:r>
            <a:r>
              <a:rPr lang="en-US" altLang="ko-KR" sz="7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 err="1"/>
              <a:t>미제출</a:t>
            </a:r>
            <a:r>
              <a:rPr lang="ko-KR" altLang="en-US" sz="700" dirty="0"/>
              <a:t> </a:t>
            </a:r>
            <a:r>
              <a:rPr lang="en-US" altLang="ko-KR" sz="700" dirty="0"/>
              <a:t>: </a:t>
            </a:r>
            <a:r>
              <a:rPr lang="ko-KR" altLang="en-US" sz="700" dirty="0"/>
              <a:t>사전의향서를 </a:t>
            </a:r>
            <a:r>
              <a:rPr lang="ko-KR" altLang="en-US" sz="700" dirty="0" err="1"/>
              <a:t>임시저장</a:t>
            </a:r>
            <a:r>
              <a:rPr lang="ko-KR" altLang="en-US" sz="700" dirty="0"/>
              <a:t> 한 상태입니다</a:t>
            </a:r>
            <a:r>
              <a:rPr lang="en-US" altLang="ko-KR" sz="700" dirty="0"/>
              <a:t>. </a:t>
            </a:r>
            <a:r>
              <a:rPr lang="ko-KR" altLang="en-US" sz="700" dirty="0" err="1"/>
              <a:t>사전의향서</a:t>
            </a:r>
            <a:r>
              <a:rPr lang="ko-KR" altLang="en-US" sz="700" dirty="0"/>
              <a:t> </a:t>
            </a:r>
            <a:r>
              <a:rPr lang="ko-KR" altLang="en-US" sz="700" dirty="0" err="1"/>
              <a:t>임시저장</a:t>
            </a:r>
            <a:r>
              <a:rPr lang="ko-KR" altLang="en-US" sz="700" dirty="0"/>
              <a:t> 및 제출이 가능합니다</a:t>
            </a:r>
            <a:r>
              <a:rPr lang="en-US" altLang="ko-KR" sz="7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/>
              <a:t>제출    </a:t>
            </a:r>
            <a:r>
              <a:rPr lang="en-US" altLang="ko-KR" sz="700" dirty="0"/>
              <a:t>: </a:t>
            </a:r>
            <a:r>
              <a:rPr lang="ko-KR" altLang="en-US" sz="700" dirty="0"/>
              <a:t>사전의향서를 제출한 상태입니다</a:t>
            </a:r>
            <a:r>
              <a:rPr lang="en-US" altLang="ko-KR" sz="700" dirty="0"/>
              <a:t>. </a:t>
            </a:r>
            <a:r>
              <a:rPr lang="ko-KR" altLang="en-US" sz="700" dirty="0" err="1"/>
              <a:t>사전의향서</a:t>
            </a:r>
            <a:r>
              <a:rPr lang="ko-KR" altLang="en-US" sz="700" dirty="0"/>
              <a:t> 수정이 불가합니다</a:t>
            </a:r>
            <a:r>
              <a:rPr lang="en-US" altLang="ko-KR" sz="700" dirty="0" smtClean="0"/>
              <a:t>.</a:t>
            </a:r>
            <a:endParaRPr lang="en-US" altLang="ko-KR" sz="700" dirty="0"/>
          </a:p>
        </p:txBody>
      </p:sp>
      <p:cxnSp>
        <p:nvCxnSpPr>
          <p:cNvPr id="7" name="꺾인 연결선 6"/>
          <p:cNvCxnSpPr>
            <a:endCxn id="3" idx="1"/>
          </p:cNvCxnSpPr>
          <p:nvPr/>
        </p:nvCxnSpPr>
        <p:spPr>
          <a:xfrm>
            <a:off x="3387426" y="2016004"/>
            <a:ext cx="376650" cy="67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555655"/>
              </p:ext>
            </p:extLst>
          </p:nvPr>
        </p:nvGraphicFramePr>
        <p:xfrm>
          <a:off x="3801286" y="3613845"/>
          <a:ext cx="3069778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제출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미제출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빈값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57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기간 </a:t>
            </a:r>
            <a:r>
              <a:rPr lang="ko-KR" altLang="en-US" dirty="0"/>
              <a:t>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호출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  &gt; </a:t>
            </a:r>
            <a:r>
              <a:rPr lang="ko-KR" altLang="en-US" dirty="0" smtClean="0">
                <a:sym typeface="Wingdings" panose="05000000000000000000" pitchFamily="2" charset="2"/>
              </a:rPr>
              <a:t>월 지정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</a:t>
            </a:r>
            <a:r>
              <a:rPr lang="ko-KR" altLang="en-US" dirty="0" smtClean="0">
                <a:sym typeface="Wingdings" panose="05000000000000000000" pitchFamily="2" charset="2"/>
              </a:rPr>
              <a:t>가능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모두 </a:t>
            </a:r>
            <a:r>
              <a:rPr lang="en-US" altLang="ko-KR" dirty="0" smtClean="0">
                <a:sym typeface="Wingdings" panose="05000000000000000000" pitchFamily="2" charset="2"/>
              </a:rPr>
              <a:t>like </a:t>
            </a:r>
            <a:r>
              <a:rPr lang="ko-KR" altLang="en-US" dirty="0" smtClean="0">
                <a:sym typeface="Wingdings" panose="05000000000000000000" pitchFamily="2" charset="2"/>
              </a:rPr>
              <a:t>검색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MUI-TS-01-P04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접수기간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기간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813628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5263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61" name="직사각형 6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</a:t>
              </a:r>
              <a:r>
                <a:rPr lang="en-US" altLang="ko-KR" sz="700" dirty="0" smtClean="0"/>
                <a:t> </a:t>
              </a:r>
              <a:r>
                <a:rPr lang="ko-KR" altLang="en-US" sz="700" dirty="0" smtClean="0"/>
                <a:t>필터 일부 제거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 (본문)"/>
                          <a:ea typeface="맑은 고딕" panose="020B0503020000020004" pitchFamily="50" charset="-127"/>
                          <a:cs typeface="+mn-cs"/>
                        </a:rPr>
                        <a:t>rcptYmdFr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0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7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7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2706355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927349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미제출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86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3770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79402"/>
              </p:ext>
            </p:extLst>
          </p:nvPr>
        </p:nvGraphicFramePr>
        <p:xfrm>
          <a:off x="453000" y="4612378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접수기간을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현재일자로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2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6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/>
                        <a:t>scwin.grd_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bfhdLoiTtl</a:t>
                      </a:r>
                      <a:r>
                        <a:rPr lang="en-US" altLang="ko-KR" sz="800" dirty="0" err="1"/>
                        <a:t>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MUI-TS-01-M02</a:t>
                      </a:r>
                      <a:r>
                        <a:rPr lang="en-US" altLang="ko-KR" sz="800" dirty="0" smtClean="0"/>
                        <a:t>) </a:t>
                      </a:r>
                      <a:r>
                        <a:rPr lang="ko-KR" altLang="en-US" sz="800" dirty="0"/>
                        <a:t>사전의향서 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F135EB-F5B9-1B5B-A5DF-50EE71F5B30C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7425F7B3-7DAE-3B72-855C-DEA9777B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932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지명경쟁업체로 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사전의향서상세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사전의향서목록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사전의향서</a:t>
            </a:r>
            <a:r>
              <a:rPr lang="ko-KR" altLang="en-US" dirty="0" smtClean="0">
                <a:latin typeface="+mn-ea"/>
              </a:rPr>
              <a:t>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사전의향서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024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3402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340244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3021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6631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7765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970667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70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970667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970667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017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154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291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45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70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847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4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8818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795735" y="1963613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9439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지명경쟁업체로 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91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35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693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3693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353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8808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9869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3200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7354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735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7354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7354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8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1216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587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675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7358" y="310122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675400" y="3070419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91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4522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품목명세서</a:t>
            </a:r>
            <a:r>
              <a:rPr lang="ko-KR" altLang="en-US" dirty="0"/>
              <a:t> 목록 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세부 </a:t>
            </a:r>
            <a:r>
              <a:rPr lang="ko-KR" altLang="en-US" dirty="0" err="1" smtClean="0"/>
              <a:t>노출항목은</a:t>
            </a:r>
            <a:r>
              <a:rPr lang="ko-KR" altLang="en-US" dirty="0" smtClean="0"/>
              <a:t> 우측 노출 항목 참조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건수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표시 개수 설정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의견 작성 </a:t>
            </a:r>
            <a:r>
              <a:rPr lang="ko-KR" altLang="en-US" dirty="0"/>
              <a:t>클릭 시 팝업으로 의견 작성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 작성 내역은 화면에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팝업에서 </a:t>
            </a:r>
            <a:r>
              <a:rPr lang="ko-KR" altLang="en-US" dirty="0" err="1"/>
              <a:t>임시저장</a:t>
            </a:r>
            <a:r>
              <a:rPr lang="ko-KR" altLang="en-US" dirty="0"/>
              <a:t> 또는 제출 클릭 시 본 화면에 내용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제출 기간이 지난 경우 </a:t>
            </a:r>
            <a:r>
              <a:rPr lang="ko-KR" altLang="en-US" dirty="0" err="1"/>
              <a:t>입력폼</a:t>
            </a:r>
            <a:r>
              <a:rPr lang="ko-KR" altLang="en-US" dirty="0"/>
              <a:t> 노출하지 않으며</a:t>
            </a:r>
            <a:r>
              <a:rPr lang="en-US" altLang="ko-KR" dirty="0"/>
              <a:t>, </a:t>
            </a:r>
            <a:r>
              <a:rPr lang="ko-KR" altLang="en-US" dirty="0"/>
              <a:t>입력된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재고번호</a:t>
            </a:r>
            <a:r>
              <a:rPr lang="ko-KR" altLang="en-US" dirty="0"/>
              <a:t> 팝업 </a:t>
            </a:r>
            <a:r>
              <a:rPr lang="ko-KR" altLang="en-US" dirty="0" smtClean="0"/>
              <a:t>호출 </a:t>
            </a:r>
            <a:r>
              <a:rPr lang="en-US" altLang="ko-KR" dirty="0"/>
              <a:t>(MUI-OP-01-P71 </a:t>
            </a:r>
            <a:r>
              <a:rPr lang="ko-KR" altLang="en-US" dirty="0" err="1" smtClean="0"/>
              <a:t>품목별검색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버튼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설정한 표시 개수만큼 더 불러옴</a:t>
            </a:r>
            <a:r>
              <a:rPr lang="en-US" altLang="ko-KR" dirty="0" smtClean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7327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2020658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597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16366" y="2571912"/>
            <a:ext cx="2630093" cy="2154437"/>
            <a:chOff x="701175" y="1924233"/>
            <a:chExt cx="2630093" cy="2154437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3"/>
              <a:ext cx="792000" cy="2154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구매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의견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최초조달원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제조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의견</a:t>
              </a:r>
              <a:r>
                <a:rPr lang="en-US" altLang="ko-KR" sz="700" dirty="0" smtClean="0">
                  <a:latin typeface="+mn-ea"/>
                </a:rPr>
                <a:t> 123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2147400"/>
              <a:chOff x="701175" y="1835481"/>
              <a:chExt cx="2630093" cy="214740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162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813082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7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377444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의견작성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2158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280867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859143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46209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282" y="5472979"/>
            <a:ext cx="2448261" cy="1407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</a:rPr>
              <a:t>제조</a:t>
            </a:r>
            <a:r>
              <a:rPr lang="en-US" altLang="ko-KR" sz="700" dirty="0">
                <a:solidFill>
                  <a:srgbClr val="FF0000"/>
                </a:solidFill>
              </a:rPr>
              <a:t>/</a:t>
            </a:r>
            <a:r>
              <a:rPr lang="ko-KR" altLang="en-US" sz="700" dirty="0">
                <a:solidFill>
                  <a:srgbClr val="FF0000"/>
                </a:solidFill>
              </a:rPr>
              <a:t>구매에서 </a:t>
            </a:r>
            <a:r>
              <a:rPr lang="en-US" altLang="ko-KR" sz="700" dirty="0">
                <a:solidFill>
                  <a:srgbClr val="FF0000"/>
                </a:solidFill>
              </a:rPr>
              <a:t>[</a:t>
            </a:r>
            <a:r>
              <a:rPr lang="ko-KR" altLang="en-US" sz="700" dirty="0" err="1">
                <a:solidFill>
                  <a:srgbClr val="FF0000"/>
                </a:solidFill>
              </a:rPr>
              <a:t>의견작성</a:t>
            </a:r>
            <a:r>
              <a:rPr lang="en-US" altLang="ko-KR" sz="700" dirty="0">
                <a:solidFill>
                  <a:srgbClr val="FF0000"/>
                </a:solidFill>
              </a:rPr>
              <a:t>] </a:t>
            </a:r>
            <a:r>
              <a:rPr lang="ko-KR" altLang="en-US" sz="700" dirty="0">
                <a:solidFill>
                  <a:srgbClr val="FF0000"/>
                </a:solidFill>
              </a:rPr>
              <a:t>선택 시 의견 작성 가능합니다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3156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93176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77" name="그룹 7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78" name="직사각형 7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 표시 정보 수정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제조</a:t>
              </a:r>
              <a:r>
                <a:rPr lang="en-US" altLang="ko-KR" sz="700" dirty="0" smtClean="0"/>
                <a:t>/</a:t>
              </a:r>
              <a:r>
                <a:rPr lang="ko-KR" altLang="en-US" sz="700" dirty="0" smtClean="0"/>
                <a:t>구매 및 의견 항목 </a:t>
              </a:r>
              <a:r>
                <a:rPr lang="en-US" altLang="ko-KR" sz="700" dirty="0" smtClean="0"/>
                <a:t>input </a:t>
              </a:r>
              <a:r>
                <a:rPr lang="ko-KR" altLang="en-US" sz="700" dirty="0" smtClean="0"/>
                <a:t>제거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팝업 정보 변경</a:t>
              </a:r>
              <a:endParaRPr lang="ko-KR" altLang="en-US" sz="700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28575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28575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387573"/>
            <a:ext cx="94010" cy="47005"/>
            <a:chOff x="6812560" y="3297172"/>
            <a:chExt cx="94010" cy="47005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579967"/>
              </p:ext>
            </p:extLst>
          </p:nvPr>
        </p:nvGraphicFramePr>
        <p:xfrm>
          <a:off x="4195940" y="1983162"/>
          <a:ext cx="2248720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4086210086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52184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99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0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507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550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66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37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292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044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3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02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72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89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7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24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31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033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59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95940" y="1647492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/>
              <a:t>목록 노출 항목</a:t>
            </a:r>
            <a:endParaRPr lang="ko-KR" altLang="en-US" sz="900" dirty="0"/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91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35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693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상세내용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3693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품목명세서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187930" y="1853538"/>
            <a:ext cx="542258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7" name="그룹 116"/>
          <p:cNvGrpSpPr/>
          <p:nvPr/>
        </p:nvGrpSpPr>
        <p:grpSpPr>
          <a:xfrm>
            <a:off x="2924086" y="1598808"/>
            <a:ext cx="422853" cy="187961"/>
            <a:chOff x="3641308" y="2234886"/>
            <a:chExt cx="422853" cy="187961"/>
          </a:xfrm>
        </p:grpSpPr>
        <p:sp>
          <p:nvSpPr>
            <p:cNvPr id="118" name="타원 11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9" name="그룹 118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0" name="타원 119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950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제조 또는 구매 선택 팝업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구매 선택 없이 의견 작성 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제조</a:t>
            </a:r>
            <a:r>
              <a:rPr lang="en-US" altLang="ko-KR" dirty="0" smtClean="0"/>
              <a:t>/</a:t>
            </a:r>
            <a:r>
              <a:rPr lang="ko-KR" altLang="en-US" dirty="0" smtClean="0"/>
              <a:t>구매를 먼저 선택해주세요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임시저장</a:t>
            </a:r>
            <a:r>
              <a:rPr lang="ko-KR" altLang="en-US" dirty="0" smtClean="0"/>
              <a:t> 클릭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임시저장</a:t>
            </a:r>
            <a:r>
              <a:rPr lang="ko-KR" altLang="en-US" dirty="0" smtClean="0"/>
              <a:t> 되었습니다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팝업 닫기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제출 클릭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제출되었습니다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팝업 닫기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임시저장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제출을 클릭하지 않고 닫을 시 </a:t>
            </a:r>
            <a:r>
              <a:rPr lang="en-US" altLang="ko-KR" dirty="0" smtClean="0"/>
              <a:t>(</a:t>
            </a:r>
            <a:r>
              <a:rPr lang="ko-KR" altLang="en-US" dirty="0" smtClean="0"/>
              <a:t>내용이 있는 경우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작성한 내용이 </a:t>
            </a:r>
            <a:r>
              <a:rPr lang="ko-KR" altLang="en-US" dirty="0" err="1" smtClean="0"/>
              <a:t>있습</a:t>
            </a:r>
            <a:r>
              <a:rPr lang="en-US" altLang="ko-KR" dirty="0" smtClean="0"/>
              <a:t>0</a:t>
            </a:r>
            <a:r>
              <a:rPr lang="ko-KR" altLang="en-US" dirty="0" err="1" smtClean="0"/>
              <a:t>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저장하지 않고 닫으시겠습니까</a:t>
            </a:r>
            <a:r>
              <a:rPr lang="en-US" altLang="ko-KR" dirty="0" smtClean="0"/>
              <a:t>? (Y/N)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작성된 의견이 없는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ko-KR" altLang="en-US" dirty="0" smtClean="0"/>
              <a:t>의견을 작성하고 </a:t>
            </a:r>
            <a:r>
              <a:rPr lang="ko-KR" altLang="en-US" dirty="0" err="1" smtClean="0"/>
              <a:t>임시저장</a:t>
            </a:r>
            <a:r>
              <a:rPr lang="en-US" altLang="ko-KR" dirty="0"/>
              <a:t> </a:t>
            </a:r>
            <a:r>
              <a:rPr lang="ko-KR" altLang="en-US" dirty="0" smtClean="0"/>
              <a:t>또는 제출을 해주시길 바랍니다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확인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의견작성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</a:t>
            </a:r>
            <a:r>
              <a:rPr lang="ko-KR" altLang="en-US" dirty="0" smtClean="0"/>
              <a:t>탭에서 </a:t>
            </a:r>
            <a:r>
              <a:rPr lang="ko-KR" altLang="en-US" dirty="0" err="1" smtClean="0"/>
              <a:t>의견작성</a:t>
            </a:r>
            <a:r>
              <a:rPr lang="ko-KR" altLang="en-US" dirty="0" smtClean="0"/>
              <a:t> 팝업 </a:t>
            </a:r>
            <a:r>
              <a:rPr lang="ko-KR" altLang="en-US" dirty="0"/>
              <a:t>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사전의향서목록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사전의향서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의견작성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MUI-TS-01-P03</a:t>
            </a:r>
            <a:endParaRPr lang="ko-KR" altLang="en-US" dirty="0"/>
          </a:p>
        </p:txBody>
      </p:sp>
      <p:grpSp>
        <p:nvGrpSpPr>
          <p:cNvPr id="77" name="그룹 7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78" name="직사각형 7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목록 표시 정보 수정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제조</a:t>
              </a:r>
              <a:r>
                <a:rPr lang="en-US" altLang="ko-KR" sz="700" dirty="0" smtClean="0"/>
                <a:t>/</a:t>
              </a:r>
              <a:r>
                <a:rPr lang="ko-KR" altLang="en-US" sz="700" dirty="0" smtClean="0"/>
                <a:t>구매 및 의견 항목 </a:t>
              </a:r>
              <a:r>
                <a:rPr lang="en-US" altLang="ko-KR" sz="700" dirty="0" smtClean="0"/>
                <a:t>input </a:t>
              </a:r>
              <a:r>
                <a:rPr lang="ko-KR" altLang="en-US" sz="700" dirty="0" smtClean="0"/>
                <a:t>제거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팝업 정보 변경</a:t>
              </a:r>
              <a:endParaRPr lang="ko-KR" altLang="en-US" sz="700" dirty="0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4973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양쪽 모서리가 둥근 사각형 101"/>
          <p:cNvSpPr/>
          <p:nvPr/>
        </p:nvSpPr>
        <p:spPr>
          <a:xfrm>
            <a:off x="678718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1764731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3167657" y="3182696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795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제조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 smtClean="0">
                <a:latin typeface="+mn-ea"/>
              </a:rPr>
              <a:t>구매</a:t>
            </a:r>
            <a:r>
              <a:rPr lang="en-US" altLang="ko-KR" sz="900" dirty="0" smtClean="0">
                <a:latin typeface="+mn-ea"/>
              </a:rPr>
              <a:t> </a:t>
            </a:r>
            <a:r>
              <a:rPr lang="ko-KR" altLang="en-US" sz="900" dirty="0" err="1" smtClean="0">
                <a:latin typeface="+mn-ea"/>
              </a:rPr>
              <a:t>의견작성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8718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모서리가 둥근 직사각형 116"/>
          <p:cNvSpPr/>
          <p:nvPr/>
        </p:nvSpPr>
        <p:spPr>
          <a:xfrm>
            <a:off x="1447197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795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구매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1447197" y="4193223"/>
            <a:ext cx="1845838" cy="244350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>
                <a:solidFill>
                  <a:schemeClr val="bg1"/>
                </a:solidFill>
                <a:latin typeface="맑은 고딕"/>
                <a:ea typeface="맑은 고딕" panose="020B0503020000020004" pitchFamily="50" charset="-127"/>
              </a:rPr>
              <a:t>제출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81279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1447197" y="387236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>
                <a:solidFill>
                  <a:schemeClr val="bg1">
                    <a:lumMod val="65000"/>
                  </a:schemeClr>
                </a:solidFill>
              </a:rPr>
              <a:t>의견을 작성하세요</a:t>
            </a:r>
            <a:r>
              <a:rPr kumimoji="1" lang="en-US" altLang="ko-KR" sz="700" kern="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795" y="394067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의견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807795" y="4193223"/>
            <a:ext cx="586688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임시저장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3073647" y="3661996"/>
            <a:ext cx="94010" cy="47005"/>
            <a:chOff x="6812560" y="3297172"/>
            <a:chExt cx="94010" cy="47005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" name="그룹 124"/>
          <p:cNvGrpSpPr/>
          <p:nvPr/>
        </p:nvGrpSpPr>
        <p:grpSpPr>
          <a:xfrm>
            <a:off x="3131542" y="3761146"/>
            <a:ext cx="776938" cy="897497"/>
            <a:chOff x="3004764" y="2490533"/>
            <a:chExt cx="776938" cy="897497"/>
          </a:xfrm>
        </p:grpSpPr>
        <p:sp>
          <p:nvSpPr>
            <p:cNvPr id="12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554143"/>
            </a:xfrm>
            <a:prstGeom prst="roundRect">
              <a:avLst>
                <a:gd name="adj" fmla="val 11988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선택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4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제조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TextBox 230">
              <a:extLst>
                <a:ext uri="{FF2B5EF4-FFF2-40B4-BE49-F238E27FC236}">
                  <a16:creationId xmlns:a16="http://schemas.microsoft.com/office/drawing/2014/main" id="{DC4EA8A9-095A-0AC6-FEBF-364DA2336F3D}"/>
                </a:ext>
              </a:extLst>
            </p:cNvPr>
            <p:cNvSpPr txBox="1"/>
            <p:nvPr/>
          </p:nvSpPr>
          <p:spPr>
            <a:xfrm>
              <a:off x="3063151" y="3079596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</a:rPr>
                <a:t>구매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147" name="그룹 146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6461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1610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18193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사전의향서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식별을 위한 사전의향서 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47485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69585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A7E6DC-64DA-F832-9B8C-583A3EE86AB5}"/>
              </a:ext>
            </a:extLst>
          </p:cNvPr>
          <p:cNvSpPr txBox="1"/>
          <p:nvPr/>
        </p:nvSpPr>
        <p:spPr>
          <a:xfrm>
            <a:off x="444290" y="2552943"/>
            <a:ext cx="178150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129D29-12E7-EC4C-5A21-9EA7614AFC21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76522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telNum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7B5F06-C68F-2911-0D19-44F26088A7F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608CDF3B-5A29-9ECB-44E4-5F1BF253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482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D770-B0E9-489E-BEA0-EE1CC1E3753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3366E91D-66A4-9A5D-F342-3775D21B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52534-CB1C-39EB-E291-645AA1AC444B}"/>
              </a:ext>
            </a:extLst>
          </p:cNvPr>
          <p:cNvSpPr txBox="1"/>
          <p:nvPr/>
        </p:nvSpPr>
        <p:spPr>
          <a:xfrm>
            <a:off x="444290" y="80519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82828CA-950F-BA1E-29D3-FFAF98E4A084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26184"/>
          <a:ext cx="8994883" cy="3878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항목의 선택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0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SPU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PRS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6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19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RCC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7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0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6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POD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34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4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9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78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60993"/>
              </p:ext>
            </p:extLst>
          </p:nvPr>
        </p:nvGraphicFramePr>
        <p:xfrm>
          <a:off x="453000" y="851801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mnftrPrchsSecd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을 선택할 수 있는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 활성화된다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임시저장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save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저장된다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submit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제출처리 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532B5-4519-DD07-2B67-714EA926EFF9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1C13369B-4248-C066-3634-FD775F16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1956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>
                <a:latin typeface="+mn-ea"/>
              </a:rPr>
              <a:t>세금계산서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31793"/>
              </p:ext>
            </p:extLst>
          </p:nvPr>
        </p:nvGraphicFramePr>
        <p:xfrm>
          <a:off x="635474" y="1413419"/>
          <a:ext cx="8701200" cy="1775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세금계산서계약목록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TxivList_CtrtList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세금계산서가 있는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8216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포함된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세금계산서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목록 조회 팝업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2477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TxivDtlPage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대한 일반 또는 수정세금계산서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MUI-TS-04-M04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발행일자별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세금계산서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진행현황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7885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28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32773" y="260891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세금계산서계약목록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694779" y="266291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901639" y="275291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63907" y="260891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732773" y="275291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4198340" y="169334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657750" y="249480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282773" y="224188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48" idx="1"/>
          </p:cNvCxnSpPr>
          <p:nvPr/>
        </p:nvCxnSpPr>
        <p:spPr>
          <a:xfrm rot="16200000" flipH="1">
            <a:off x="3704554" y="2475133"/>
            <a:ext cx="537573" cy="138113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63907" y="32904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세금계산서목록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>
            <a:off x="5563907" y="343448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8117178" y="355326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8146175" y="3344487"/>
            <a:ext cx="180000" cy="180000"/>
            <a:chOff x="5058274" y="2498299"/>
            <a:chExt cx="180000" cy="180000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495041" y="32904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5" idx="3"/>
            <a:endCxn id="53" idx="2"/>
          </p:cNvCxnSpPr>
          <p:nvPr/>
        </p:nvCxnSpPr>
        <p:spPr>
          <a:xfrm>
            <a:off x="7395041" y="343448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832773" y="397206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세금계산서진행현황목록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55" idx="1"/>
          </p:cNvCxnSpPr>
          <p:nvPr/>
        </p:nvCxnSpPr>
        <p:spPr>
          <a:xfrm flipV="1">
            <a:off x="3732773" y="3434487"/>
            <a:ext cx="2762268" cy="681573"/>
          </a:xfrm>
          <a:prstGeom prst="bentConnector3">
            <a:avLst>
              <a:gd name="adj1" fmla="val 837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1" idx="1"/>
          </p:cNvCxnSpPr>
          <p:nvPr/>
        </p:nvCxnSpPr>
        <p:spPr>
          <a:xfrm>
            <a:off x="1901639" y="2752914"/>
            <a:ext cx="931134" cy="13631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30" name="그룹 29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3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4197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706127" y="2747194"/>
            <a:ext cx="214178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 세금계산서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TaxivController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018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5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세금계산서계약목록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TxivList_CtrtListPage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14712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38948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</a:rPr>
              <a:t>-</a:t>
            </a:r>
            <a:r>
              <a:rPr lang="ko-KR" altLang="en-US" sz="1000" dirty="0">
                <a:solidFill>
                  <a:schemeClr val="tx1"/>
                </a:solidFill>
              </a:rPr>
              <a:t>세금계산서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61899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784851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38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206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72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계약에 여러 건의 세금계산서가 발행되었을 수 있음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 세부 세금계산서 목록을 </a:t>
            </a:r>
            <a:r>
              <a:rPr lang="ko-KR" altLang="en-US" dirty="0" err="1"/>
              <a:t>바텀</a:t>
            </a:r>
            <a:r>
              <a:rPr lang="ko-KR" altLang="en-US" dirty="0"/>
              <a:t> </a:t>
            </a:r>
            <a:r>
              <a:rPr lang="ko-KR" altLang="en-US" dirty="0" smtClean="0"/>
              <a:t>시트에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(</a:t>
            </a:r>
            <a:r>
              <a:rPr lang="en-US" altLang="ko-KR" dirty="0">
                <a:latin typeface="+mn-ea"/>
              </a:rPr>
              <a:t>MUI-TS-04-P02</a:t>
            </a:r>
            <a:r>
              <a:rPr lang="en-US" altLang="ko-KR" dirty="0" smtClean="0"/>
              <a:t>) </a:t>
            </a:r>
            <a:r>
              <a:rPr lang="ko-KR" altLang="en-US" dirty="0"/>
              <a:t>세금계산서목록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/>
              <a:t>세금계산서계약목록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계약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세금계산서계약목록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smtClean="0"/>
              <a:t>계약 </a:t>
            </a:r>
            <a:r>
              <a:rPr lang="ko-KR" altLang="en-US" sz="800" dirty="0" smtClean="0">
                <a:latin typeface="+mn-ea"/>
              </a:rPr>
              <a:t>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24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89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0" y="3369565"/>
            <a:ext cx="2473258" cy="821562"/>
            <a:chOff x="781460" y="2610063"/>
            <a:chExt cx="2473258" cy="821562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083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781460" y="2610063"/>
              <a:ext cx="4710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err="1">
                  <a:latin typeface="+mn-ea"/>
                </a:rPr>
                <a:t>bidxMtnm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6091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20083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2436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778515" y="2610063"/>
              <a:ext cx="47402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 err="1">
                  <a:latin typeface="+mn-ea"/>
                </a:rPr>
                <a:t>bidxMtnm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0156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786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544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17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15387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11" name="타원 1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4" name="그룹 1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20" name="표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14054"/>
              </p:ext>
            </p:extLst>
          </p:nvPr>
        </p:nvGraphicFramePr>
        <p:xfrm>
          <a:off x="3801286" y="2390827"/>
          <a:ext cx="3069778" cy="782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bidxMtnm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700" dirty="0" smtClean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</a:t>
                      </a:r>
                      <a:r>
                        <a:rPr lang="ko-KR" altLang="en-US" sz="70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표시값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추가 확인 필요</a:t>
                      </a:r>
                      <a:r>
                        <a:rPr lang="en-US" altLang="ko-KR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grpSp>
        <p:nvGrpSpPr>
          <p:cNvPr id="122" name="그룹 12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3" name="직사각형 12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24" name="직사각형 12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화면 표시 레이블 변경</a:t>
              </a:r>
              <a:endParaRPr lang="en-US" altLang="ko-KR" sz="700" dirty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추가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474432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선택한 항목의 </a:t>
            </a:r>
            <a:r>
              <a:rPr lang="ko-KR" altLang="en-US" dirty="0" err="1" smtClean="0"/>
              <a:t>계약번호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계약건명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세금계산서목록 </a:t>
            </a:r>
            <a:r>
              <a:rPr lang="ko-KR" altLang="en-US" dirty="0"/>
              <a:t>데이터 </a:t>
            </a:r>
            <a:r>
              <a:rPr lang="ko-KR" altLang="en-US" dirty="0" smtClean="0"/>
              <a:t>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뱃지에</a:t>
            </a:r>
            <a:r>
              <a:rPr lang="ko-KR" altLang="en-US" dirty="0" smtClean="0"/>
              <a:t> 구분과 진행상태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수정사유</a:t>
            </a:r>
            <a:r>
              <a:rPr lang="ko-KR" altLang="en-US" dirty="0" smtClean="0"/>
              <a:t>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수정사유는</a:t>
            </a:r>
            <a:r>
              <a:rPr lang="ko-KR" altLang="en-US" dirty="0" smtClean="0"/>
              <a:t> 없을 수 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없는 경우는 노출하지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계약금액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공급가액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발행일자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계약담당자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4</a:t>
            </a:r>
            <a:r>
              <a:rPr lang="ko-KR" altLang="en-US" dirty="0" smtClean="0"/>
              <a:t>종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선택항</a:t>
            </a:r>
            <a:r>
              <a:rPr lang="ko-KR" altLang="en-US" dirty="0" smtClean="0"/>
              <a:t> 항목 계약의 세금계산서 목록을 </a:t>
            </a:r>
            <a:r>
              <a:rPr lang="ko-KR" altLang="en-US" dirty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</a:t>
            </a:r>
            <a:r>
              <a:rPr lang="ko-KR" altLang="en-US" dirty="0" smtClean="0"/>
              <a:t>이동 </a:t>
            </a:r>
            <a:r>
              <a:rPr lang="en-US" altLang="ko-KR" dirty="0"/>
              <a:t>(MUI-TS-04-M03</a:t>
            </a:r>
            <a:r>
              <a:rPr lang="en-US" altLang="ko-KR" dirty="0" smtClean="0"/>
              <a:t>) </a:t>
            </a:r>
            <a:r>
              <a:rPr lang="ko-KR" altLang="en-US" dirty="0" smtClean="0"/>
              <a:t>세금계산서상세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뱃지</a:t>
            </a:r>
            <a:r>
              <a:rPr lang="ko-KR" altLang="en-US" dirty="0" smtClean="0"/>
              <a:t> 표시 레이블 참조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목록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/>
              <a:t>세금계산서계약목록 </a:t>
            </a:r>
            <a:r>
              <a:rPr lang="en-US" altLang="ko-KR" dirty="0" smtClean="0"/>
              <a:t>&gt; </a:t>
            </a:r>
            <a:r>
              <a:rPr lang="ko-KR" altLang="en-US" dirty="0"/>
              <a:t>세금계산서목록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MUI-TS-04-P02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계약</a:t>
            </a:r>
            <a:r>
              <a:rPr lang="ko-KR" altLang="en-US" sz="800" dirty="0" err="1">
                <a:latin typeface="+mn-ea"/>
              </a:rPr>
              <a:t>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smtClean="0">
                <a:latin typeface="+mn-ea"/>
              </a:rPr>
              <a:t>세금계산서 목록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81461" y="3199121"/>
            <a:ext cx="2473257" cy="946115"/>
            <a:chOff x="781461" y="2610063"/>
            <a:chExt cx="2473257" cy="94611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발행일자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계약담당자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8" y="2986791"/>
              <a:ext cx="65729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smtClean="0">
                  <a:latin typeface="+mn-ea"/>
                </a:rPr>
                <a:t>홍길동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일반</a:t>
              </a:r>
            </a:p>
          </p:txBody>
        </p:sp>
        <p:sp>
          <p:nvSpPr>
            <p:cNvPr id="196" name="모서리가 둥근 직사각형 195"/>
            <p:cNvSpPr/>
            <p:nvPr/>
          </p:nvSpPr>
          <p:spPr>
            <a:xfrm>
              <a:off x="1075654" y="2610063"/>
              <a:ext cx="4745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52538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86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1" name="그룹 210"/>
          <p:cNvGrpSpPr/>
          <p:nvPr/>
        </p:nvGrpSpPr>
        <p:grpSpPr>
          <a:xfrm>
            <a:off x="781461" y="4398952"/>
            <a:ext cx="2473257" cy="928289"/>
            <a:chOff x="781461" y="2610063"/>
            <a:chExt cx="2473257" cy="928289"/>
          </a:xfrm>
        </p:grpSpPr>
        <p:sp>
          <p:nvSpPr>
            <p:cNvPr id="21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21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075655" y="2610063"/>
              <a:ext cx="24514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20" name="모서리가 둥근 직사각형 219"/>
            <p:cNvSpPr/>
            <p:nvPr/>
          </p:nvSpPr>
          <p:spPr>
            <a:xfrm>
              <a:off x="1373979" y="2610063"/>
              <a:ext cx="66595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4429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868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4351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833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953600" y="19738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979518"/>
              </p:ext>
            </p:extLst>
          </p:nvPr>
        </p:nvGraphicFramePr>
        <p:xfrm>
          <a:off x="3801286" y="2390827"/>
          <a:ext cx="3069778" cy="1564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구분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reqDivsNm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진행상태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txivPrgrsStcd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A:</a:t>
                      </a:r>
                      <a:r>
                        <a:rPr lang="ko-KR" altLang="en-US" sz="700" dirty="0" smtClean="0"/>
                        <a:t>작성</a:t>
                      </a:r>
                      <a:r>
                        <a:rPr lang="en-US" altLang="ko-KR" sz="700" dirty="0" smtClean="0"/>
                        <a:t>, C:</a:t>
                      </a:r>
                      <a:r>
                        <a:rPr lang="ko-KR" altLang="en-US" sz="700" dirty="0" smtClean="0"/>
                        <a:t>폐기</a:t>
                      </a:r>
                      <a:r>
                        <a:rPr lang="en-US" altLang="ko-KR" sz="700" dirty="0" smtClean="0"/>
                        <a:t>, F: </a:t>
                      </a:r>
                      <a:r>
                        <a:rPr lang="ko-KR" altLang="en-US" sz="700" dirty="0" err="1" smtClean="0"/>
                        <a:t>서명실패</a:t>
                      </a:r>
                      <a:r>
                        <a:rPr lang="en-US" altLang="ko-KR" sz="700" dirty="0" smtClean="0"/>
                        <a:t>,S:</a:t>
                      </a:r>
                      <a:r>
                        <a:rPr lang="ko-KR" altLang="en-US" sz="700" dirty="0" smtClean="0"/>
                        <a:t>전자서명</a:t>
                      </a:r>
                      <a:r>
                        <a:rPr lang="en-US" altLang="ko-KR" sz="700" dirty="0" smtClean="0"/>
                        <a:t>, Y:</a:t>
                      </a:r>
                      <a:r>
                        <a:rPr lang="ko-KR" altLang="en-US" sz="700" dirty="0" smtClean="0"/>
                        <a:t>승인</a:t>
                      </a:r>
                      <a:r>
                        <a:rPr lang="en-US" altLang="ko-KR" sz="700" dirty="0" smtClean="0"/>
                        <a:t>, R:</a:t>
                      </a:r>
                      <a:r>
                        <a:rPr lang="ko-KR" altLang="en-US" sz="700" dirty="0" smtClean="0"/>
                        <a:t>반려</a:t>
                      </a:r>
                      <a:r>
                        <a:rPr lang="en-US" altLang="ko-KR" sz="700" dirty="0" smtClean="0"/>
                        <a:t>, T:</a:t>
                      </a:r>
                      <a:r>
                        <a:rPr lang="ko-KR" altLang="en-US" sz="700" dirty="0" smtClean="0"/>
                        <a:t>국세청</a:t>
                      </a:r>
                      <a:r>
                        <a:rPr lang="en-US" altLang="ko-KR" sz="700" dirty="0" smtClean="0"/>
                        <a:t>SEND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수정사유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txivMdfcnRncd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81414"/>
                  </a:ext>
                </a:extLst>
              </a:tr>
            </a:tbl>
          </a:graphicData>
        </a:graphic>
      </p:graphicFrame>
      <p:grpSp>
        <p:nvGrpSpPr>
          <p:cNvPr id="67" name="그룹 6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68" name="직사각형 6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화면 표시 레이블 변경</a:t>
              </a:r>
              <a:endParaRPr lang="en-US" altLang="ko-KR" sz="700" dirty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추가</a:t>
              </a:r>
              <a:endParaRPr lang="en-US" altLang="ko-KR" sz="7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729149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기본값은 현재 연도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sym typeface="Wingdings" panose="05000000000000000000" pitchFamily="2" charset="2"/>
              </a:rPr>
              <a:t>영역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계약번호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like </a:t>
            </a:r>
            <a:r>
              <a:rPr lang="ko-KR" altLang="en-US" dirty="0" smtClean="0">
                <a:sym typeface="Wingdings" panose="05000000000000000000" pitchFamily="2" charset="2"/>
              </a:rPr>
              <a:t>검색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검색 </a:t>
            </a: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세금계산서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MUI-TS-04-P05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7605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543589"/>
            <a:chOff x="675399" y="3490553"/>
            <a:chExt cx="2712027" cy="543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계약연도</a:t>
              </a:r>
              <a:r>
                <a:rPr lang="ko-KR" altLang="en-US" sz="700" b="1" dirty="0">
                  <a:latin typeface="+mn-ea"/>
                </a:rPr>
                <a:t>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연도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0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034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507850"/>
            <a:ext cx="2516607" cy="467691"/>
            <a:chOff x="778515" y="4388257"/>
            <a:chExt cx="2516607" cy="46769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계약번호를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</p:txBody>
        </p: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3" name="그룹 62"/>
          <p:cNvGrpSpPr/>
          <p:nvPr/>
        </p:nvGrpSpPr>
        <p:grpSpPr>
          <a:xfrm>
            <a:off x="3145721" y="2247351"/>
            <a:ext cx="91438" cy="45719"/>
            <a:chOff x="6812560" y="3297172"/>
            <a:chExt cx="94010" cy="47005"/>
          </a:xfrm>
        </p:grpSpPr>
        <p:cxnSp>
          <p:nvCxnSpPr>
            <p:cNvPr id="70" name="직선 연결선 6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그룹 71"/>
          <p:cNvGrpSpPr/>
          <p:nvPr/>
        </p:nvGrpSpPr>
        <p:grpSpPr>
          <a:xfrm>
            <a:off x="3282878" y="2211357"/>
            <a:ext cx="776938" cy="1211284"/>
            <a:chOff x="3004764" y="2490533"/>
            <a:chExt cx="776938" cy="1211284"/>
          </a:xfrm>
        </p:grpSpPr>
        <p:sp>
          <p:nvSpPr>
            <p:cNvPr id="73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2025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2026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2025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2024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⁞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77954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896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dml_SrchCtrtList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736891"/>
            <a:ext cx="214698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kern="1200" spc="-6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계약년도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항목 검색 조건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CTRT_YMD like ‘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%’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20645"/>
          <a:ext cx="8994883" cy="218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bidxMtnm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(WTB_PDB411.RPRS_ITEM_NM)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(WTB_PDB500N.CTRT_NM)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457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0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WTB_PVB134(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조달원공통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M/S)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WTB_PDB500N.FINL_USER_IDEN = WTB_PDU101.USER_ID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E3D9436D-3099-6420-C71A-FD88C714F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449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8ED3A-F52A-F319-8372-292D836D881F}"/>
              </a:ext>
            </a:extLst>
          </p:cNvPr>
          <p:cNvSpPr txBox="1"/>
          <p:nvPr/>
        </p:nvSpPr>
        <p:spPr>
          <a:xfrm>
            <a:off x="458117" y="797452"/>
            <a:ext cx="25156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787482-7219-3755-3826-A59DE5690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81206"/>
          <a:ext cx="8994883" cy="3080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3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9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</a:rPr>
                        <a:t>수정 세금계산서 </a:t>
                      </a:r>
                      <a:r>
                        <a:rPr lang="ko-KR" altLang="en-US" sz="800" dirty="0" err="1">
                          <a:latin typeface="+mn-ea"/>
                        </a:rPr>
                        <a:t>구분명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= “R”, “U“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“UR”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수정세금계산서 작성사유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 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45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1499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1787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1176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5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713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569330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22238"/>
              </p:ext>
            </p:extLst>
          </p:nvPr>
        </p:nvGraphicFramePr>
        <p:xfrm>
          <a:off x="453000" y="84746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0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05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계약년도를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scwin.btn_srchCtrtList_onclick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</a:rPr>
                        <a:t>계약목록 데이터를 조회한다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36445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1740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세금계산서 요약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뱃지는</a:t>
            </a:r>
            <a:r>
              <a:rPr lang="ko-KR" altLang="en-US" dirty="0" smtClean="0"/>
              <a:t> 이전 세금계산서목록에 표시된 </a:t>
            </a:r>
            <a:r>
              <a:rPr lang="ko-KR" altLang="en-US" dirty="0" err="1" smtClean="0"/>
              <a:t>뱃지</a:t>
            </a:r>
            <a:r>
              <a:rPr lang="ko-KR" altLang="en-US" dirty="0" smtClean="0"/>
              <a:t> 그대로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- </a:t>
            </a:r>
            <a:r>
              <a:rPr lang="ko-KR" altLang="en-US" dirty="0"/>
              <a:t>항목명</a:t>
            </a:r>
            <a:r>
              <a:rPr lang="en-US" altLang="ko-KR" dirty="0"/>
              <a:t>(</a:t>
            </a:r>
            <a:r>
              <a:rPr lang="ko-KR" altLang="en-US" dirty="0"/>
              <a:t>한글</a:t>
            </a:r>
            <a:r>
              <a:rPr lang="en-US" altLang="ko-KR" dirty="0"/>
              <a:t>)</a:t>
            </a:r>
            <a:r>
              <a:rPr lang="ko-KR" altLang="en-US" dirty="0"/>
              <a:t>의 경우 조건에 따라 변경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/>
              <a:t>As-is : </a:t>
            </a:r>
            <a:r>
              <a:rPr lang="en-US" altLang="ko-KR" dirty="0" err="1" smtClean="0"/>
              <a:t>commandMap.sOption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</a:t>
            </a:r>
            <a:r>
              <a:rPr lang="en-US" altLang="ko-KR" dirty="0"/>
              <a:t>) “1:</a:t>
            </a:r>
            <a:r>
              <a:rPr lang="ko-KR" altLang="en-US" dirty="0" err="1"/>
              <a:t>부대조달</a:t>
            </a:r>
            <a:r>
              <a:rPr lang="ko-KR" altLang="en-US" dirty="0"/>
              <a:t> 물품</a:t>
            </a:r>
            <a:r>
              <a:rPr lang="en-US" altLang="ko-KR" dirty="0"/>
              <a:t>,2:</a:t>
            </a:r>
            <a:r>
              <a:rPr lang="ko-KR" altLang="en-US" dirty="0" err="1"/>
              <a:t>부대조달</a:t>
            </a:r>
            <a:r>
              <a:rPr lang="ko-KR" altLang="en-US" dirty="0"/>
              <a:t> 시설</a:t>
            </a:r>
            <a:r>
              <a:rPr lang="en-US" altLang="ko-KR" dirty="0"/>
              <a:t>,3:</a:t>
            </a:r>
            <a:r>
              <a:rPr lang="ko-KR" altLang="en-US" dirty="0" err="1"/>
              <a:t>중앙조달”일</a:t>
            </a:r>
            <a:r>
              <a:rPr lang="ko-KR" altLang="en-US" dirty="0"/>
              <a:t> 경우 </a:t>
            </a:r>
            <a:r>
              <a:rPr lang="en-US" altLang="ko-KR" dirty="0"/>
              <a:t>[</a:t>
            </a:r>
            <a:r>
              <a:rPr lang="ko-KR" altLang="en-US" dirty="0" err="1"/>
              <a:t>계약번호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2</a:t>
            </a:r>
            <a:r>
              <a:rPr lang="en-US" altLang="ko-KR" dirty="0"/>
              <a:t>) “5:FMS” </a:t>
            </a:r>
            <a:r>
              <a:rPr lang="ko-KR" altLang="en-US" dirty="0"/>
              <a:t>일 경우 </a:t>
            </a:r>
            <a:r>
              <a:rPr lang="en-US" altLang="ko-KR" dirty="0"/>
              <a:t>[</a:t>
            </a:r>
            <a:r>
              <a:rPr lang="ko-KR" altLang="en-US" dirty="0"/>
              <a:t>재무관증빙번호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3</a:t>
            </a:r>
            <a:r>
              <a:rPr lang="en-US" altLang="ko-KR" dirty="0"/>
              <a:t>) “4:</a:t>
            </a:r>
            <a:r>
              <a:rPr lang="ko-KR" altLang="en-US" dirty="0" err="1"/>
              <a:t>상업조달</a:t>
            </a:r>
            <a:r>
              <a:rPr lang="ko-KR" altLang="en-US" dirty="0"/>
              <a:t>” 일 경우 </a:t>
            </a:r>
            <a:r>
              <a:rPr lang="en-US" altLang="ko-KR" dirty="0"/>
              <a:t>[</a:t>
            </a:r>
            <a:r>
              <a:rPr lang="ko-KR" altLang="en-US" dirty="0" err="1"/>
              <a:t>청구번호</a:t>
            </a:r>
            <a:r>
              <a:rPr lang="en-US" altLang="ko-KR" dirty="0"/>
              <a:t>]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공급자정보</a:t>
            </a:r>
            <a:r>
              <a:rPr lang="ko-KR" altLang="en-US" dirty="0" smtClean="0"/>
              <a:t> 항목설명 값에 맞춰 추가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세액구분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신고구분</a:t>
            </a:r>
            <a:r>
              <a:rPr lang="ko-KR" altLang="en-US" dirty="0" smtClean="0"/>
              <a:t> 값 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세액구분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과세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면세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신고구분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확정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세금계산서계약목록 </a:t>
            </a:r>
            <a:r>
              <a:rPr lang="en-US" altLang="ko-KR" dirty="0"/>
              <a:t>&gt; </a:t>
            </a:r>
            <a:r>
              <a:rPr lang="ko-KR" altLang="en-US" dirty="0" smtClean="0"/>
              <a:t>세금계산서목록 </a:t>
            </a:r>
            <a:r>
              <a:rPr lang="en-US" altLang="ko-KR" dirty="0" smtClean="0"/>
              <a:t>&gt; </a:t>
            </a:r>
            <a:r>
              <a:rPr lang="ko-KR" altLang="en-US" dirty="0"/>
              <a:t>세금계산서상세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MUI-TS-04-M03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56586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/>
              <a:t>계산서 </a:t>
            </a:r>
            <a:r>
              <a:rPr lang="ko-KR" altLang="en-US" sz="600" dirty="0" err="1" smtClean="0"/>
              <a:t>발행번호</a:t>
            </a:r>
            <a:endParaRPr lang="ko-KR" altLang="en-US" sz="800" b="1" dirty="0"/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공급가액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발행일자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68855" y="2478086"/>
            <a:ext cx="66364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/>
              <a:t>2118F-0000-0000</a:t>
            </a:r>
            <a:endParaRPr lang="en-US" altLang="ko-KR" sz="600" dirty="0" smtClean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000,000,000,000 </a:t>
            </a:r>
            <a:r>
              <a:rPr lang="ko-KR" altLang="en-US" sz="600" dirty="0">
                <a:latin typeface="+mn-ea"/>
              </a:rPr>
              <a:t>원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2025-10-15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642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49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098008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129353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211339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507036"/>
            <a:ext cx="12886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62036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814521"/>
            <a:ext cx="792000" cy="8681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145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814521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책번호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일련번호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814521"/>
            <a:ext cx="18144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1234-4567-7890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0000 000 00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00000-00000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456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593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730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060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826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800029"/>
            <a:ext cx="1237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공급자 정보</a:t>
            </a:r>
          </a:p>
        </p:txBody>
      </p:sp>
      <p:grpSp>
        <p:nvGrpSpPr>
          <p:cNvPr id="95" name="그룹 94"/>
          <p:cNvGrpSpPr/>
          <p:nvPr/>
        </p:nvGrpSpPr>
        <p:grpSpPr>
          <a:xfrm flipV="1">
            <a:off x="3143548" y="4913360"/>
            <a:ext cx="94010" cy="47005"/>
            <a:chOff x="6812560" y="3297172"/>
            <a:chExt cx="94010" cy="47005"/>
          </a:xfrm>
        </p:grpSpPr>
        <p:cxnSp>
          <p:nvCxnSpPr>
            <p:cNvPr id="96" name="직선 연결선 9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연결선 9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직사각형 97"/>
          <p:cNvSpPr/>
          <p:nvPr/>
        </p:nvSpPr>
        <p:spPr>
          <a:xfrm>
            <a:off x="722583" y="5107514"/>
            <a:ext cx="792000" cy="132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10751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107514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사업자번호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대표명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업체명</a:t>
            </a:r>
            <a:r>
              <a:rPr lang="en-US" altLang="ko-KR" sz="700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업태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주소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107514"/>
            <a:ext cx="18144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123-45-67890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</a:t>
            </a:r>
            <a:r>
              <a:rPr lang="ko-KR" altLang="en-US" sz="700" dirty="0">
                <a:latin typeface="+mn-ea"/>
              </a:rPr>
              <a:t>업체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종로구</a:t>
            </a:r>
            <a:r>
              <a:rPr lang="en-US" altLang="ko-KR" sz="700" dirty="0">
                <a:latin typeface="+mn-ea"/>
              </a:rPr>
              <a:t>…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86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3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0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6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770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9788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3839085" y="1525215"/>
            <a:ext cx="2660475" cy="1612847"/>
            <a:chOff x="3970705" y="3216762"/>
            <a:chExt cx="2660475" cy="1612847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공급받는자</a:t>
              </a:r>
              <a:r>
                <a:rPr lang="ko-KR" altLang="en-US" sz="700" dirty="0">
                  <a:latin typeface="+mn-ea"/>
                </a:rPr>
                <a:t>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972798" y="3524247"/>
              <a:ext cx="792000" cy="1305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827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923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6146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296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3" name="그룹 152"/>
          <p:cNvGrpSpPr/>
          <p:nvPr/>
        </p:nvGrpSpPr>
        <p:grpSpPr>
          <a:xfrm>
            <a:off x="3839085" y="3251096"/>
            <a:ext cx="2660475" cy="752297"/>
            <a:chOff x="3970705" y="3216762"/>
            <a:chExt cx="2660475" cy="752297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계약서 일반정보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98" name="직선 연결선 19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9" name="직사각형 158"/>
            <p:cNvSpPr/>
            <p:nvPr/>
          </p:nvSpPr>
          <p:spPr>
            <a:xfrm>
              <a:off x="3972798" y="3524247"/>
              <a:ext cx="792000" cy="4435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</a:t>
              </a: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2051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0" name="그룹 219"/>
          <p:cNvGrpSpPr/>
          <p:nvPr/>
        </p:nvGrpSpPr>
        <p:grpSpPr>
          <a:xfrm>
            <a:off x="3839085" y="4105058"/>
            <a:ext cx="2660475" cy="1508106"/>
            <a:chOff x="3970705" y="3524246"/>
            <a:chExt cx="2660475" cy="1508106"/>
          </a:xfrm>
        </p:grpSpPr>
        <p:sp>
          <p:nvSpPr>
            <p:cNvPr id="223" name="직사각형 222"/>
            <p:cNvSpPr/>
            <p:nvPr/>
          </p:nvSpPr>
          <p:spPr>
            <a:xfrm>
              <a:off x="3972798" y="3524246"/>
              <a:ext cx="792000" cy="1508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계약건명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2025-01-10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변속기 부품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643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7804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59657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102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50323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5" name="타원 1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423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82584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521809"/>
              </p:ext>
            </p:extLst>
          </p:nvPr>
        </p:nvGraphicFramePr>
        <p:xfrm>
          <a:off x="7154850" y="3621620"/>
          <a:ext cx="2248720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1071560277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7246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73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201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958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60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930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55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51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941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69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135797"/>
                  </a:ext>
                </a:extLst>
              </a:tr>
            </a:tbl>
          </a:graphicData>
        </a:graphic>
      </p:graphicFrame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920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768861" y="197122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일반</a:t>
            </a: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1063054" y="1971227"/>
            <a:ext cx="4745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347" y="37036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8953" y="3555977"/>
            <a:ext cx="1814470" cy="396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과세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확정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67" name="직사각형 16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요약정보 수정</a:t>
              </a:r>
              <a:endParaRPr lang="en-US" altLang="ko-KR" sz="700" dirty="0" smtClean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수정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9021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54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 경우 조건에 따라 변경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As-is :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commandMap.sOption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1) “1: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시설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,3: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2) “5:FMS”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재무관증빙번호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3) “4: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bookNo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regSn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4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69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5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15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9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5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54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59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9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4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50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85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:VATA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5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23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191FAC9D-E4E4-9782-8F9B-459B88AF5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2486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24503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40091"/>
              </p:ext>
            </p:extLst>
          </p:nvPr>
        </p:nvGraphicFramePr>
        <p:xfrm>
          <a:off x="453000" y="272850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72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10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세금계산서구분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화면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‘. 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으로 변경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및 작성화면은 동일한 화면 사용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scwin.btn_TxivDtlOtpt_onclick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세금계산서상세내용 팝업을 호출하여 해당 화면을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( Window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print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처리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71762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2517488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63A7A-3C64-D8D7-2D49-13287D99CFD9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422736-CCA7-9469-9BA9-B941106107D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</a:tbl>
          </a:graphicData>
        </a:graphic>
      </p:graphicFrame>
      <p:sp>
        <p:nvSpPr>
          <p:cNvPr id="9" name="Text Box 73">
            <a:extLst>
              <a:ext uri="{FF2B5EF4-FFF2-40B4-BE49-F238E27FC236}">
                <a16:creationId xmlns:a16="http://schemas.microsoft.com/office/drawing/2014/main" id="{EE39B7DB-6549-D18B-849E-7ED7453CA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880682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8078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</a:t>
            </a:r>
            <a:r>
              <a:rPr lang="ko-KR" altLang="en-US" dirty="0" smtClean="0"/>
              <a:t>이동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항목에 대한 정보 항목설명 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진행현황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81461" y="3367501"/>
            <a:ext cx="2473257" cy="1237060"/>
            <a:chOff x="781461" y="2610063"/>
            <a:chExt cx="2473257" cy="1237060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56586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/>
                <a:t>계산서 </a:t>
              </a:r>
              <a:r>
                <a:rPr lang="ko-KR" altLang="en-US" sz="600" dirty="0" err="1"/>
                <a:t>발행번호</a:t>
              </a:r>
              <a:endParaRPr lang="ko-KR" altLang="en-US" sz="800" b="1" dirty="0"/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제출일시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국세청결과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8" y="3139237"/>
              <a:ext cx="657296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4" y="2610063"/>
              <a:ext cx="4862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664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817013"/>
            <a:ext cx="2476203" cy="1237060"/>
            <a:chOff x="778515" y="2610063"/>
            <a:chExt cx="2476203" cy="1237060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565861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/>
                <a:t>계산서 </a:t>
              </a:r>
              <a:r>
                <a:rPr lang="ko-KR" altLang="en-US" sz="600" dirty="0" err="1"/>
                <a:t>발행번호</a:t>
              </a:r>
              <a:endParaRPr lang="ko-KR" altLang="en-US" sz="800" b="1" dirty="0"/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제출일시</a:t>
              </a:r>
              <a:endParaRPr lang="en-US" altLang="ko-KR" sz="6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 smtClean="0">
                  <a:latin typeface="+mn-ea"/>
                </a:rPr>
                <a:t>국세청결과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238" y="3139237"/>
              <a:ext cx="657296" cy="6924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 smtClean="0">
                  <a:latin typeface="+mn-ea"/>
                </a:rPr>
                <a:t>2025-10-15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수정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379571" y="2610063"/>
              <a:ext cx="67377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077463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984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06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79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547362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22810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84" name="직선 연결선 8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8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9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91" name="그룹 90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95" name="그룹 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0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15387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 smtClean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0" name="타원 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2" name="타원 1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3" name="그룹 1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52603"/>
              </p:ext>
            </p:extLst>
          </p:nvPr>
        </p:nvGraphicFramePr>
        <p:xfrm>
          <a:off x="3801286" y="2912756"/>
          <a:ext cx="3069778" cy="1564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구분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reqDivsNm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수정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진행상태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/>
                        <a:t>txivPrgrsStcd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smtClean="0"/>
                        <a:t>A:</a:t>
                      </a:r>
                      <a:r>
                        <a:rPr lang="ko-KR" altLang="en-US" sz="700" dirty="0" smtClean="0"/>
                        <a:t>작성</a:t>
                      </a:r>
                      <a:r>
                        <a:rPr lang="en-US" altLang="ko-KR" sz="700" dirty="0" smtClean="0"/>
                        <a:t>, C:</a:t>
                      </a:r>
                      <a:r>
                        <a:rPr lang="ko-KR" altLang="en-US" sz="700" dirty="0" smtClean="0"/>
                        <a:t>폐기</a:t>
                      </a:r>
                      <a:r>
                        <a:rPr lang="en-US" altLang="ko-KR" sz="700" dirty="0" smtClean="0"/>
                        <a:t>, F: </a:t>
                      </a:r>
                      <a:r>
                        <a:rPr lang="ko-KR" altLang="en-US" sz="700" dirty="0" err="1" smtClean="0"/>
                        <a:t>서명실패</a:t>
                      </a:r>
                      <a:r>
                        <a:rPr lang="en-US" altLang="ko-KR" sz="700" dirty="0" smtClean="0"/>
                        <a:t>,S:</a:t>
                      </a:r>
                      <a:r>
                        <a:rPr lang="ko-KR" altLang="en-US" sz="700" dirty="0" smtClean="0"/>
                        <a:t>전자서명</a:t>
                      </a:r>
                      <a:r>
                        <a:rPr lang="en-US" altLang="ko-KR" sz="700" dirty="0" smtClean="0"/>
                        <a:t>, Y:</a:t>
                      </a:r>
                      <a:r>
                        <a:rPr lang="ko-KR" altLang="en-US" sz="700" dirty="0" smtClean="0"/>
                        <a:t>승인</a:t>
                      </a:r>
                      <a:r>
                        <a:rPr lang="en-US" altLang="ko-KR" sz="700" dirty="0" smtClean="0"/>
                        <a:t>, R:</a:t>
                      </a:r>
                      <a:r>
                        <a:rPr lang="ko-KR" altLang="en-US" sz="700" dirty="0" smtClean="0"/>
                        <a:t>반려</a:t>
                      </a:r>
                      <a:r>
                        <a:rPr lang="en-US" altLang="ko-KR" sz="700" dirty="0" smtClean="0"/>
                        <a:t>, T:</a:t>
                      </a:r>
                      <a:r>
                        <a:rPr lang="ko-KR" altLang="en-US" sz="700" dirty="0" smtClean="0"/>
                        <a:t>국세청</a:t>
                      </a:r>
                      <a:r>
                        <a:rPr lang="en-US" altLang="ko-KR" sz="700" dirty="0" smtClean="0"/>
                        <a:t>SEND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0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수정사유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txivMdfcnRncd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78141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726044" y="1618501"/>
            <a:ext cx="289566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18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시 이후 </a:t>
            </a:r>
            <a:r>
              <a:rPr lang="ko-KR" altLang="en-US" sz="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제출건은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익일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09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시에 국세청으로 전송됩니다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</a:p>
        </p:txBody>
      </p:sp>
      <p:cxnSp>
        <p:nvCxnSpPr>
          <p:cNvPr id="7" name="꺾인 연결선 6"/>
          <p:cNvCxnSpPr/>
          <p:nvPr/>
        </p:nvCxnSpPr>
        <p:spPr>
          <a:xfrm flipV="1">
            <a:off x="3351767" y="1731467"/>
            <a:ext cx="353154" cy="26644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요약정보 수정</a:t>
              </a:r>
              <a:endParaRPr lang="en-US" altLang="ko-KR" sz="700" dirty="0" smtClean="0"/>
            </a:p>
            <a:p>
              <a:pPr marL="228600" indent="-228600">
                <a:buFontTx/>
                <a:buAutoNum type="arabicPeriod"/>
              </a:pPr>
              <a:r>
                <a:rPr lang="ko-KR" altLang="en-US" sz="700" dirty="0" smtClean="0"/>
                <a:t>설명 수정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93761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빠른 </a:t>
            </a:r>
            <a:r>
              <a:rPr lang="ko-KR" altLang="en-US" dirty="0">
                <a:sym typeface="Wingdings" panose="05000000000000000000" pitchFamily="2" charset="2"/>
              </a:rPr>
              <a:t>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</a:t>
            </a:r>
            <a:r>
              <a:rPr lang="ko-KR" altLang="en-US" dirty="0" smtClean="0">
                <a:sym typeface="Wingdings" panose="05000000000000000000" pitchFamily="2" charset="2"/>
              </a:rPr>
              <a:t>가능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계약번호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like </a:t>
            </a:r>
            <a:r>
              <a:rPr lang="ko-KR" altLang="en-US" dirty="0" smtClean="0">
                <a:sym typeface="Wingdings" panose="05000000000000000000" pitchFamily="2" charset="2"/>
              </a:rPr>
              <a:t>검색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smtClean="0">
                <a:sym typeface="Wingdings" panose="05000000000000000000" pitchFamily="2" charset="2"/>
              </a:rPr>
              <a:t>진행상태 값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>
                <a:latin typeface="+mn-ea"/>
              </a:rPr>
              <a:t>A:</a:t>
            </a:r>
            <a:r>
              <a:rPr lang="ko-KR" altLang="en-US" dirty="0">
                <a:latin typeface="+mn-ea"/>
              </a:rPr>
              <a:t>작성</a:t>
            </a:r>
            <a:r>
              <a:rPr lang="en-US" altLang="ko-KR" dirty="0">
                <a:latin typeface="+mn-ea"/>
              </a:rPr>
              <a:t>, C:</a:t>
            </a:r>
            <a:r>
              <a:rPr lang="ko-KR" altLang="en-US" dirty="0">
                <a:latin typeface="+mn-ea"/>
              </a:rPr>
              <a:t>폐기</a:t>
            </a:r>
            <a:r>
              <a:rPr lang="en-US" altLang="ko-KR" dirty="0">
                <a:latin typeface="+mn-ea"/>
              </a:rPr>
              <a:t>, F: </a:t>
            </a:r>
            <a:r>
              <a:rPr lang="ko-KR" altLang="en-US" dirty="0" err="1">
                <a:latin typeface="+mn-ea"/>
              </a:rPr>
              <a:t>서명실패</a:t>
            </a:r>
            <a:r>
              <a:rPr lang="en-US" altLang="ko-KR" dirty="0">
                <a:latin typeface="+mn-ea"/>
              </a:rPr>
              <a:t>,S:</a:t>
            </a:r>
            <a:r>
              <a:rPr lang="ko-KR" altLang="en-US" dirty="0">
                <a:latin typeface="+mn-ea"/>
              </a:rPr>
              <a:t>전자서명</a:t>
            </a:r>
            <a:r>
              <a:rPr lang="en-US" altLang="ko-KR" dirty="0">
                <a:latin typeface="+mn-ea"/>
              </a:rPr>
              <a:t>, Y:</a:t>
            </a:r>
            <a:r>
              <a:rPr lang="ko-KR" altLang="en-US" dirty="0">
                <a:latin typeface="+mn-ea"/>
              </a:rPr>
              <a:t>승인</a:t>
            </a:r>
            <a:r>
              <a:rPr lang="en-US" altLang="ko-KR" dirty="0">
                <a:latin typeface="+mn-ea"/>
              </a:rPr>
              <a:t>, R:</a:t>
            </a:r>
            <a:r>
              <a:rPr lang="ko-KR" altLang="en-US" dirty="0">
                <a:latin typeface="+mn-ea"/>
              </a:rPr>
              <a:t>반려</a:t>
            </a:r>
            <a:r>
              <a:rPr lang="en-US" altLang="ko-KR" dirty="0">
                <a:latin typeface="+mn-ea"/>
              </a:rPr>
              <a:t>, T:</a:t>
            </a:r>
            <a:r>
              <a:rPr lang="ko-KR" altLang="en-US" dirty="0">
                <a:latin typeface="+mn-ea"/>
              </a:rPr>
              <a:t>국세청</a:t>
            </a:r>
            <a:r>
              <a:rPr lang="en-US" altLang="ko-KR" dirty="0">
                <a:latin typeface="+mn-ea"/>
              </a:rPr>
              <a:t>SEND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세금계산서진행현황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798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발행일자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1362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3145721" y="2911318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1454056" y="309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계약번호를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50619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1454056" y="3315676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상태를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3145723" y="3404477"/>
            <a:ext cx="91438" cy="45719"/>
            <a:chOff x="6812560" y="3297172"/>
            <a:chExt cx="94010" cy="47005"/>
          </a:xfrm>
        </p:grpSpPr>
        <p:cxnSp>
          <p:nvCxnSpPr>
            <p:cNvPr id="164" name="직선 연결선 16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7" name="그룹 5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8" name="직사각형 5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2026-07-27 </a:t>
              </a:r>
              <a:r>
                <a:rPr lang="ko-KR" altLang="en-US" dirty="0" smtClean="0"/>
                <a:t>화면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FontTx/>
                <a:buAutoNum type="arabicPeriod"/>
              </a:pPr>
              <a:r>
                <a:rPr lang="ko-KR" altLang="en-US" sz="700" dirty="0" err="1" smtClean="0"/>
                <a:t>검색어</a:t>
              </a:r>
              <a:r>
                <a:rPr lang="ko-KR" altLang="en-US" sz="700" dirty="0" smtClean="0"/>
                <a:t> 일부 삭제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77049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2049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dmt_SrchTxivPrgrsPrst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73660"/>
            <a:ext cx="30494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94744"/>
              </p:ext>
            </p:extLst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발행일자시작일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시작일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종료일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 진행상태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17819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57414"/>
          <a:ext cx="8994883" cy="35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67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계산서구분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85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계산서발행번호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0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38935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9619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1999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9177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63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26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35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splrWrtDt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제출일시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As-is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WTB_XDT611.SUP_SIGN_DATE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7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elsgnRsltCd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국세청결과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1700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40D4824D-7A8A-6FF7-E945-AA3DA642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972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5F124-9EBA-E119-105D-59BDEB46042A}"/>
              </a:ext>
            </a:extLst>
          </p:cNvPr>
          <p:cNvSpPr txBox="1"/>
          <p:nvPr/>
        </p:nvSpPr>
        <p:spPr>
          <a:xfrm>
            <a:off x="458117" y="57779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09C01E7-E3D6-734F-7BFE-91353DFEF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766794"/>
              </p:ext>
            </p:extLst>
          </p:nvPr>
        </p:nvGraphicFramePr>
        <p:xfrm>
          <a:off x="453000" y="85592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06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dirty="0" err="1"/>
                        <a:t>scwin.btn_Srch</a:t>
                      </a:r>
                      <a:r>
                        <a:rPr lang="en-US" altLang="ko-KR" sz="800" b="0" dirty="0" err="1">
                          <a:solidFill>
                            <a:prstClr val="black"/>
                          </a:solidFill>
                        </a:rPr>
                        <a:t>TxivPrgrsPrst_onclick</a:t>
                      </a:r>
                      <a:endParaRPr lang="ko-KR" altLang="en-US" sz="800" b="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조건에 따른 세금계산서진행현황 목록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scwin.grd_TxivPrgrsPrst_onclick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세금계산서상세정보를 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 smtClean="0"/>
                        <a:t>(MUI-TS-04-M03) </a:t>
                      </a:r>
                      <a:r>
                        <a:rPr lang="ko-KR" altLang="en-US" sz="800" dirty="0" smtClean="0"/>
                        <a:t>세금계산서상세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24937"/>
                  </a:ext>
                </a:extLst>
              </a:tr>
            </a:tbl>
          </a:graphicData>
        </a:graphic>
      </p:graphicFrame>
      <p:sp>
        <p:nvSpPr>
          <p:cNvPr id="16" name="Text Box 73">
            <a:extLst>
              <a:ext uri="{FF2B5EF4-FFF2-40B4-BE49-F238E27FC236}">
                <a16:creationId xmlns:a16="http://schemas.microsoft.com/office/drawing/2014/main" id="{C50305C5-0706-6C5A-8776-896C01A4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91092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84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11202</TotalTime>
  <Words>4256</Words>
  <Application>Microsoft Office PowerPoint</Application>
  <PresentationFormat>A4 용지(210x297mm)</PresentationFormat>
  <Paragraphs>1840</Paragraphs>
  <Slides>34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2" baseType="lpstr">
      <vt:lpstr>Pretendard Medium</vt:lpstr>
      <vt:lpstr>맑은 고딕</vt:lpstr>
      <vt:lpstr>맑은 고딕 (본문)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706</cp:revision>
  <cp:lastPrinted>2016-10-27T08:57:39Z</cp:lastPrinted>
  <dcterms:created xsi:type="dcterms:W3CDTF">2016-10-27T07:41:55Z</dcterms:created>
  <dcterms:modified xsi:type="dcterms:W3CDTF">2026-08-05T07:58:50Z</dcterms:modified>
  <cp:category>서브시스템/업무명</cp:category>
  <cp:contentStatus>0.1</cp:contentStatus>
</cp:coreProperties>
</file>