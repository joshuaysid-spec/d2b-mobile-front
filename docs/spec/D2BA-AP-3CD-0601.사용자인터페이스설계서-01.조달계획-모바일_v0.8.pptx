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80"/>
  </p:notesMasterIdLst>
  <p:handoutMasterIdLst>
    <p:handoutMasterId r:id="rId81"/>
  </p:handoutMasterIdLst>
  <p:sldIdLst>
    <p:sldId id="256" r:id="rId2"/>
    <p:sldId id="300" r:id="rId3"/>
    <p:sldId id="656" r:id="rId4"/>
    <p:sldId id="356" r:id="rId5"/>
    <p:sldId id="260" r:id="rId6"/>
    <p:sldId id="264" r:id="rId7"/>
    <p:sldId id="725" r:id="rId8"/>
    <p:sldId id="291" r:id="rId9"/>
    <p:sldId id="358" r:id="rId10"/>
    <p:sldId id="727" r:id="rId11"/>
    <p:sldId id="657" r:id="rId12"/>
    <p:sldId id="658" r:id="rId13"/>
    <p:sldId id="292" r:id="rId14"/>
    <p:sldId id="620" r:id="rId15"/>
    <p:sldId id="623" r:id="rId16"/>
    <p:sldId id="686" r:id="rId17"/>
    <p:sldId id="687" r:id="rId18"/>
    <p:sldId id="688" r:id="rId19"/>
    <p:sldId id="689" r:id="rId20"/>
    <p:sldId id="690" r:id="rId21"/>
    <p:sldId id="306" r:id="rId22"/>
    <p:sldId id="645" r:id="rId23"/>
    <p:sldId id="314" r:id="rId24"/>
    <p:sldId id="629" r:id="rId25"/>
    <p:sldId id="315" r:id="rId26"/>
    <p:sldId id="630" r:id="rId27"/>
    <p:sldId id="639" r:id="rId28"/>
    <p:sldId id="701" r:id="rId29"/>
    <p:sldId id="643" r:id="rId30"/>
    <p:sldId id="702" r:id="rId31"/>
    <p:sldId id="640" r:id="rId32"/>
    <p:sldId id="703" r:id="rId33"/>
    <p:sldId id="332" r:id="rId34"/>
    <p:sldId id="631" r:id="rId35"/>
    <p:sldId id="705" r:id="rId36"/>
    <p:sldId id="691" r:id="rId37"/>
    <p:sldId id="692" r:id="rId38"/>
    <p:sldId id="693" r:id="rId39"/>
    <p:sldId id="694" r:id="rId40"/>
    <p:sldId id="695" r:id="rId41"/>
    <p:sldId id="696" r:id="rId42"/>
    <p:sldId id="697" r:id="rId43"/>
    <p:sldId id="646" r:id="rId44"/>
    <p:sldId id="719" r:id="rId45"/>
    <p:sldId id="720" r:id="rId46"/>
    <p:sldId id="721" r:id="rId47"/>
    <p:sldId id="722" r:id="rId48"/>
    <p:sldId id="723" r:id="rId49"/>
    <p:sldId id="724" r:id="rId50"/>
    <p:sldId id="698" r:id="rId51"/>
    <p:sldId id="699" r:id="rId52"/>
    <p:sldId id="700" r:id="rId53"/>
    <p:sldId id="706" r:id="rId54"/>
    <p:sldId id="660" r:id="rId55"/>
    <p:sldId id="661" r:id="rId56"/>
    <p:sldId id="665" r:id="rId57"/>
    <p:sldId id="707" r:id="rId58"/>
    <p:sldId id="668" r:id="rId59"/>
    <p:sldId id="708" r:id="rId60"/>
    <p:sldId id="672" r:id="rId61"/>
    <p:sldId id="663" r:id="rId62"/>
    <p:sldId id="664" r:id="rId63"/>
    <p:sldId id="709" r:id="rId64"/>
    <p:sldId id="710" r:id="rId65"/>
    <p:sldId id="711" r:id="rId66"/>
    <p:sldId id="682" r:id="rId67"/>
    <p:sldId id="712" r:id="rId68"/>
    <p:sldId id="713" r:id="rId69"/>
    <p:sldId id="714" r:id="rId70"/>
    <p:sldId id="670" r:id="rId71"/>
    <p:sldId id="726" r:id="rId72"/>
    <p:sldId id="685" r:id="rId73"/>
    <p:sldId id="673" r:id="rId74"/>
    <p:sldId id="674" r:id="rId75"/>
    <p:sldId id="715" r:id="rId76"/>
    <p:sldId id="716" r:id="rId77"/>
    <p:sldId id="717" r:id="rId78"/>
    <p:sldId id="718" r:id="rId79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E17E9566-FE8C-4BF9-8A43-99A4B4FC8091}">
          <p14:sldIdLst>
            <p14:sldId id="256"/>
            <p14:sldId id="300"/>
            <p14:sldId id="656"/>
            <p14:sldId id="356"/>
            <p14:sldId id="260"/>
          </p14:sldIdLst>
        </p14:section>
        <p14:section name="1.조달계획 통합 목록" id="{A88D8C4A-42D5-488C-851B-9A15CEB54A60}">
          <p14:sldIdLst>
            <p14:sldId id="264"/>
            <p14:sldId id="725"/>
            <p14:sldId id="291"/>
            <p14:sldId id="358"/>
            <p14:sldId id="727"/>
            <p14:sldId id="657"/>
            <p14:sldId id="658"/>
            <p14:sldId id="292"/>
            <p14:sldId id="620"/>
            <p14:sldId id="623"/>
            <p14:sldId id="686"/>
            <p14:sldId id="687"/>
            <p14:sldId id="688"/>
            <p14:sldId id="689"/>
            <p14:sldId id="690"/>
          </p14:sldIdLst>
        </p14:section>
        <p14:section name="2.조달계획상세조회" id="{019FD015-75A8-4452-8691-168FACA46FB5}">
          <p14:sldIdLst>
            <p14:sldId id="306"/>
            <p14:sldId id="645"/>
            <p14:sldId id="314"/>
            <p14:sldId id="629"/>
            <p14:sldId id="315"/>
            <p14:sldId id="630"/>
            <p14:sldId id="639"/>
            <p14:sldId id="701"/>
            <p14:sldId id="643"/>
            <p14:sldId id="702"/>
            <p14:sldId id="640"/>
            <p14:sldId id="703"/>
            <p14:sldId id="332"/>
            <p14:sldId id="631"/>
            <p14:sldId id="705"/>
            <p14:sldId id="691"/>
            <p14:sldId id="692"/>
            <p14:sldId id="693"/>
            <p14:sldId id="694"/>
            <p14:sldId id="695"/>
            <p14:sldId id="696"/>
            <p14:sldId id="697"/>
            <p14:sldId id="646"/>
            <p14:sldId id="719"/>
            <p14:sldId id="720"/>
            <p14:sldId id="721"/>
            <p14:sldId id="722"/>
            <p14:sldId id="723"/>
            <p14:sldId id="724"/>
            <p14:sldId id="698"/>
            <p14:sldId id="699"/>
            <p14:sldId id="700"/>
          </p14:sldIdLst>
        </p14:section>
        <p14:section name="[국외] 조달계획 상세" id="{0F550730-724B-41A3-91AD-127384FAF47D}">
          <p14:sldIdLst>
            <p14:sldId id="706"/>
            <p14:sldId id="660"/>
            <p14:sldId id="661"/>
            <p14:sldId id="665"/>
            <p14:sldId id="707"/>
            <p14:sldId id="668"/>
            <p14:sldId id="708"/>
            <p14:sldId id="672"/>
            <p14:sldId id="663"/>
            <p14:sldId id="664"/>
            <p14:sldId id="709"/>
            <p14:sldId id="710"/>
            <p14:sldId id="711"/>
            <p14:sldId id="682"/>
            <p14:sldId id="712"/>
            <p14:sldId id="713"/>
            <p14:sldId id="714"/>
            <p14:sldId id="670"/>
            <p14:sldId id="726"/>
            <p14:sldId id="685"/>
            <p14:sldId id="673"/>
            <p14:sldId id="674"/>
            <p14:sldId id="715"/>
            <p14:sldId id="716"/>
            <p14:sldId id="717"/>
            <p14:sldId id="7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04" y="102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99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486772-663E-498C-98A4-55676C0C79D5}" type="datetimeFigureOut">
              <a:rPr lang="ko-KR" altLang="en-US" smtClean="0"/>
              <a:t>2026-06-19 (Friday)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28BB6-27BE-4996-B82F-8E6CE98335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9048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880DED-BD55-4631-A63F-CC2459F192F4}" type="datetimeFigureOut">
              <a:rPr lang="ko-KR" altLang="en-US" smtClean="0"/>
              <a:t>2026-06-19 (Friday)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E14ED1-D705-4645-B89F-2D03A70CCA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730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018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57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250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76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D56036D5-DD5F-441E-9594-5002CA0E85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95427" y="5938279"/>
            <a:ext cx="1331674" cy="1648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6694" y="1306235"/>
            <a:ext cx="8640000" cy="612000"/>
          </a:xfrm>
          <a:prstGeom prst="rect">
            <a:avLst/>
          </a:prstGeom>
          <a:ln w="12700">
            <a:noFill/>
          </a:ln>
        </p:spPr>
        <p:txBody>
          <a:bodyPr anchor="b"/>
          <a:lstStyle>
            <a:lvl1pPr algn="r">
              <a:lnSpc>
                <a:spcPct val="100000"/>
              </a:lnSpc>
              <a:defRPr sz="2400" b="1" u="none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7669" y="1942226"/>
            <a:ext cx="8649025" cy="396376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마스터 부제목 스타일 편집</a:t>
            </a:r>
            <a:endParaRPr lang="en-US" dirty="0"/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637669" y="1925053"/>
            <a:ext cx="86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표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91678796"/>
              </p:ext>
            </p:extLst>
          </p:nvPr>
        </p:nvGraphicFramePr>
        <p:xfrm>
          <a:off x="4551204" y="3815479"/>
          <a:ext cx="4744543" cy="952503"/>
        </p:xfrm>
        <a:graphic>
          <a:graphicData uri="http://schemas.openxmlformats.org/drawingml/2006/table">
            <a:tbl>
              <a:tblPr firstRow="1" firstCol="1" bandRow="1"/>
              <a:tblGrid>
                <a:gridCol w="971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3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프로젝트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문서번호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제개정일</a:t>
                      </a:r>
                      <a:endParaRPr lang="ko-KR" sz="10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5183031"/>
                  </a:ext>
                </a:extLst>
              </a:tr>
            </a:tbl>
          </a:graphicData>
        </a:graphic>
      </p:graphicFrame>
      <p:sp>
        <p:nvSpPr>
          <p:cNvPr id="14" name="텍스트 개체 틀 12"/>
          <p:cNvSpPr>
            <a:spLocks noGrp="1"/>
          </p:cNvSpPr>
          <p:nvPr>
            <p:ph type="body" sz="quarter" idx="11"/>
          </p:nvPr>
        </p:nvSpPr>
        <p:spPr>
          <a:xfrm>
            <a:off x="5540722" y="3848071"/>
            <a:ext cx="3736946" cy="252000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ko-KR" altLang="ko-KR" sz="1000" kern="100" dirty="0">
              <a:effectLst/>
              <a:latin typeface="맑은 고딕" panose="020B0503020000020004" pitchFamily="50" charset="-127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텍스트 개체 틀 12"/>
          <p:cNvSpPr>
            <a:spLocks noGrp="1"/>
          </p:cNvSpPr>
          <p:nvPr>
            <p:ph type="body" sz="quarter" idx="12"/>
          </p:nvPr>
        </p:nvSpPr>
        <p:spPr>
          <a:xfrm>
            <a:off x="5540722" y="4163525"/>
            <a:ext cx="3736946" cy="252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직사각형 12"/>
          <p:cNvSpPr/>
          <p:nvPr userDrawn="1"/>
        </p:nvSpPr>
        <p:spPr>
          <a:xfrm>
            <a:off x="1527804" y="6225242"/>
            <a:ext cx="6858548" cy="408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en-US" altLang="ko-KR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Copyright © 2025 by </a:t>
            </a:r>
            <a:r>
              <a:rPr lang="ko-KR" altLang="en-US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방위사업청</a:t>
            </a:r>
            <a:endParaRPr lang="en-US" altLang="ko-KR" sz="900" kern="100" dirty="0">
              <a:effectLst/>
              <a:latin typeface="+mn-ea"/>
              <a:ea typeface="+mn-ea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ko-KR" altLang="en-US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방위사업청의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사전 승인 없이 본 내용의 전부 또는 일부에 대한 복사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전재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배포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사용을 금합니다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.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2" name="텍스트 개체 틀 12"/>
          <p:cNvSpPr>
            <a:spLocks noGrp="1"/>
          </p:cNvSpPr>
          <p:nvPr>
            <p:ph type="body" sz="quarter" idx="13"/>
          </p:nvPr>
        </p:nvSpPr>
        <p:spPr>
          <a:xfrm>
            <a:off x="5540722" y="4479945"/>
            <a:ext cx="3736946" cy="252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  <p:pic>
        <p:nvPicPr>
          <p:cNvPr id="17" name="그림 16" descr="그래픽, 폰트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9D3F7C-59D2-46B0-9671-095C3D9268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641" y="465349"/>
            <a:ext cx="1005840" cy="34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0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정이력/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6220" y="6588000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0" name="텍스트 개체 틀 12"/>
          <p:cNvSpPr>
            <a:spLocks noGrp="1"/>
          </p:cNvSpPr>
          <p:nvPr>
            <p:ph type="body" sz="quarter" idx="10"/>
          </p:nvPr>
        </p:nvSpPr>
        <p:spPr>
          <a:xfrm>
            <a:off x="2250485" y="821363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 u="sng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577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57199" y="612000"/>
            <a:ext cx="9001125" cy="324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400" b="1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6602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제목&amp;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734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67025" y="612000"/>
            <a:ext cx="9000000" cy="324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200" b="1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457200" y="1038808"/>
            <a:ext cx="9000000" cy="5424196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000" b="0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103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내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457200" y="612000"/>
            <a:ext cx="9000000" cy="5851004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100" b="0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396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서식없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5475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인터페이스 이미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72137626"/>
              </p:ext>
            </p:extLst>
          </p:nvPr>
        </p:nvGraphicFramePr>
        <p:xfrm>
          <a:off x="458167" y="719999"/>
          <a:ext cx="8988374" cy="57554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8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8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2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33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765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</a:t>
                      </a:r>
                      <a:r>
                        <a:rPr lang="en-US" altLang="ko-KR" sz="900" b="1" baseline="0" dirty="0"/>
                        <a:t> ID</a:t>
                      </a:r>
                      <a:endParaRPr lang="ko-KR" altLang="en-US" sz="900" b="1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 </a:t>
                      </a:r>
                      <a:r>
                        <a:rPr lang="ko-KR" altLang="en-US" sz="900" b="1" dirty="0"/>
                        <a:t>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화면경로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개요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322">
                <a:tc rowSpan="2"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설명 및 특이사항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1007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7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9DF8E3FD-B4FB-473B-BCAD-C4534B9A9D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2"/>
          </p:nvPr>
        </p:nvSpPr>
        <p:spPr>
          <a:xfrm>
            <a:off x="3390640" y="755764"/>
            <a:ext cx="2101850" cy="162201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2" name="텍스트 개체 틀 10"/>
          <p:cNvSpPr>
            <a:spLocks noGrp="1"/>
          </p:cNvSpPr>
          <p:nvPr>
            <p:ph type="body" sz="quarter" idx="13"/>
          </p:nvPr>
        </p:nvSpPr>
        <p:spPr>
          <a:xfrm>
            <a:off x="956623" y="1010025"/>
            <a:ext cx="8434506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텍스트 개체 틀 10"/>
          <p:cNvSpPr>
            <a:spLocks noGrp="1"/>
          </p:cNvSpPr>
          <p:nvPr>
            <p:ph type="body" sz="quarter" idx="14"/>
          </p:nvPr>
        </p:nvSpPr>
        <p:spPr>
          <a:xfrm>
            <a:off x="6238614" y="755764"/>
            <a:ext cx="3140076" cy="177622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10"/>
          <p:cNvSpPr>
            <a:spLocks noGrp="1"/>
          </p:cNvSpPr>
          <p:nvPr>
            <p:ph type="body" sz="quarter" idx="15"/>
          </p:nvPr>
        </p:nvSpPr>
        <p:spPr>
          <a:xfrm>
            <a:off x="956623" y="755764"/>
            <a:ext cx="1404000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9716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D11E9F2C-2481-4ADA-BED0-11F45689328C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685200" y="6640342"/>
            <a:ext cx="738733" cy="91480"/>
          </a:xfrm>
          <a:prstGeom prst="rect">
            <a:avLst/>
          </a:prstGeom>
        </p:spPr>
      </p:pic>
      <p:cxnSp>
        <p:nvCxnSpPr>
          <p:cNvPr id="8" name="직선 연결선 7"/>
          <p:cNvCxnSpPr/>
          <p:nvPr userDrawn="1"/>
        </p:nvCxnSpPr>
        <p:spPr>
          <a:xfrm>
            <a:off x="445168" y="540000"/>
            <a:ext cx="90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 userDrawn="1"/>
        </p:nvCxnSpPr>
        <p:spPr>
          <a:xfrm>
            <a:off x="465216" y="6588000"/>
            <a:ext cx="90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 userDrawn="1"/>
        </p:nvSpPr>
        <p:spPr>
          <a:xfrm>
            <a:off x="4950372" y="376754"/>
            <a:ext cx="4519928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ko-KR" altLang="en-US" sz="1000" b="1" kern="100" dirty="0" smtClean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사용자인터페이스설계서 </a:t>
            </a:r>
            <a:r>
              <a:rPr lang="en-US" altLang="ko-KR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– 01.</a:t>
            </a:r>
            <a:r>
              <a:rPr lang="ko-KR" altLang="en-US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조달계획</a:t>
            </a:r>
            <a:r>
              <a:rPr lang="en-US" altLang="ko-KR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-</a:t>
            </a:r>
            <a:r>
              <a:rPr lang="ko-KR" altLang="en-US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모바일</a:t>
            </a:r>
            <a:endParaRPr lang="ko-KR" altLang="en-US" sz="1000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445168" y="376754"/>
            <a:ext cx="393945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000" b="1" kern="100" dirty="0">
                <a:effectLst/>
              </a:rPr>
              <a:t>국방전자조달시스템 고도화 구축사업</a:t>
            </a:r>
          </a:p>
        </p:txBody>
      </p:sp>
      <p:pic>
        <p:nvPicPr>
          <p:cNvPr id="11" name="Picture 1">
            <a:extLst>
              <a:ext uri="{FF2B5EF4-FFF2-40B4-BE49-F238E27FC236}">
                <a16:creationId xmlns:a16="http://schemas.microsoft.com/office/drawing/2014/main" id="{3BECD7E0-1778-4975-BFA0-E9C4CE243F5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474463" y="6577231"/>
            <a:ext cx="668534" cy="233715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1401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  <p:sldLayoutId id="2147483664" r:id="rId4"/>
    <p:sldLayoutId id="2147483665" r:id="rId5"/>
    <p:sldLayoutId id="2147483666" r:id="rId6"/>
    <p:sldLayoutId id="2147483668" r:id="rId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제목 5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사용자인터페이스 설계서 </a:t>
            </a:r>
            <a:r>
              <a:rPr lang="en-US" altLang="ko-KR" dirty="0"/>
              <a:t>- </a:t>
            </a:r>
            <a:r>
              <a:rPr lang="ko-KR" altLang="en-US" dirty="0"/>
              <a:t>모바일</a:t>
            </a:r>
          </a:p>
        </p:txBody>
      </p:sp>
      <p:sp>
        <p:nvSpPr>
          <p:cNvPr id="54" name="부제목 5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01.</a:t>
            </a:r>
            <a:r>
              <a:rPr lang="ko-KR" altLang="en-US" dirty="0"/>
              <a:t>조달계획</a:t>
            </a:r>
          </a:p>
        </p:txBody>
      </p:sp>
      <p:sp>
        <p:nvSpPr>
          <p:cNvPr id="56" name="텍스트 개체 틀 5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국방전자조달시스템 고도화 구축사업</a:t>
            </a:r>
          </a:p>
        </p:txBody>
      </p:sp>
      <p:sp>
        <p:nvSpPr>
          <p:cNvPr id="57" name="텍스트 개체 틀 5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D2BA-AP-3CD-0601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2026.06.18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5632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F21A837-6853-B5CA-5641-F9A516F3B3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CF8D2BE-3FE8-714A-457C-A4A1521A282B}"/>
              </a:ext>
            </a:extLst>
          </p:cNvPr>
          <p:cNvSpPr/>
          <p:nvPr/>
        </p:nvSpPr>
        <p:spPr>
          <a:xfrm>
            <a:off x="3079266" y="1809750"/>
            <a:ext cx="3771900" cy="34004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본 문서는 국방전자조달시스템 고도화 구축 사업 이외의 어떠한 목적에도 사용을 금하며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사업관리기관 및 개발업체  요원 이외의 열람을 통제한다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sz="1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sz="1400" dirty="0">
                <a:solidFill>
                  <a:schemeClr val="tx1"/>
                </a:solidFill>
              </a:rPr>
              <a:t>본 문서는 방위사업청의 승인없이 발췌 및 복사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배포를 금지하며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방위사업청  문서관리규정에 의하여 관리한다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B3A35A62-3F88-2F9F-9F03-E16DFE92E11E}"/>
              </a:ext>
            </a:extLst>
          </p:cNvPr>
          <p:cNvSpPr txBox="1">
            <a:spLocks/>
          </p:cNvSpPr>
          <p:nvPr/>
        </p:nvSpPr>
        <p:spPr>
          <a:xfrm>
            <a:off x="2265216" y="978498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/>
              <a:t>경 고 문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812237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4" name="텍스트 개체 틀 15">
            <a:extLst>
              <a:ext uri="{FF2B5EF4-FFF2-40B4-BE49-F238E27FC236}">
                <a16:creationId xmlns:a16="http://schemas.microsoft.com/office/drawing/2014/main" id="{44A815B9-A3EA-BA0B-410C-A69AB9D1A0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0485" y="821363"/>
            <a:ext cx="5400000" cy="417890"/>
          </a:xfrm>
        </p:spPr>
        <p:txBody>
          <a:bodyPr/>
          <a:lstStyle/>
          <a:p>
            <a:r>
              <a:rPr lang="ko-KR" altLang="en-US" dirty="0" err="1"/>
              <a:t>제</a:t>
            </a:r>
            <a:r>
              <a:rPr lang="ko-KR" altLang="en-US" dirty="0" err="1">
                <a:sym typeface="Wingdings" panose="05000000000000000000" pitchFamily="2" charset="2"/>
              </a:rPr>
              <a:t></a:t>
            </a:r>
            <a:r>
              <a:rPr lang="ko-KR" altLang="en-US" dirty="0" err="1"/>
              <a:t>개</a:t>
            </a:r>
            <a:r>
              <a:rPr lang="ko-KR" altLang="en-US" dirty="0"/>
              <a:t> 정 이 력</a:t>
            </a:r>
          </a:p>
        </p:txBody>
      </p:sp>
      <p:graphicFrame>
        <p:nvGraphicFramePr>
          <p:cNvPr id="7" name="Group 759">
            <a:extLst>
              <a:ext uri="{FF2B5EF4-FFF2-40B4-BE49-F238E27FC236}">
                <a16:creationId xmlns:a16="http://schemas.microsoft.com/office/drawing/2014/main" id="{2831990E-7701-AF86-804F-42A7268A9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499876"/>
              </p:ext>
            </p:extLst>
          </p:nvPr>
        </p:nvGraphicFramePr>
        <p:xfrm>
          <a:off x="652374" y="1286787"/>
          <a:ext cx="8782571" cy="3980190"/>
        </p:xfrm>
        <a:graphic>
          <a:graphicData uri="http://schemas.openxmlformats.org/drawingml/2006/table">
            <a:tbl>
              <a:tblPr/>
              <a:tblGrid>
                <a:gridCol w="784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9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9745">
                  <a:extLst>
                    <a:ext uri="{9D8B030D-6E8A-4147-A177-3AD203B41FA5}">
                      <a16:colId xmlns:a16="http://schemas.microsoft.com/office/drawing/2014/main" val="35388339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제개정일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버전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제개정내용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승인자 및 관련근거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2025.11.03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0.1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서식 작성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신미영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2026.03.16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0.3.2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서식 수정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김민재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2026.04.23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0.4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차 작성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2026.06.16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0.4.1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작성 완료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내부 검토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2026.06.17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0.6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PL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검토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황종서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2026.06.17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0.7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품질 검토</a:t>
                      </a:r>
                    </a:p>
                  </a:txBody>
                  <a:tcPr marL="53975" marR="5397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김민재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2026.06.18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0.8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PM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박재욱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7859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7379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1881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723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0994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5132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144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444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7" name="텍스트 개체 틀 15">
            <a:extLst>
              <a:ext uri="{FF2B5EF4-FFF2-40B4-BE49-F238E27FC236}">
                <a16:creationId xmlns:a16="http://schemas.microsoft.com/office/drawing/2014/main" id="{74E68DA1-2E20-231A-31AD-28EAC2F24FE9}"/>
              </a:ext>
            </a:extLst>
          </p:cNvPr>
          <p:cNvSpPr txBox="1">
            <a:spLocks/>
          </p:cNvSpPr>
          <p:nvPr/>
        </p:nvSpPr>
        <p:spPr>
          <a:xfrm>
            <a:off x="2250485" y="959912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신구 변경 </a:t>
            </a:r>
            <a:r>
              <a:rPr lang="ko-KR" altLang="en-US" dirty="0" err="1"/>
              <a:t>내용표</a:t>
            </a:r>
            <a:endParaRPr lang="ko-KR" altLang="en-US" dirty="0"/>
          </a:p>
        </p:txBody>
      </p:sp>
      <p:graphicFrame>
        <p:nvGraphicFramePr>
          <p:cNvPr id="2" name="Group 759">
            <a:extLst>
              <a:ext uri="{FF2B5EF4-FFF2-40B4-BE49-F238E27FC236}">
                <a16:creationId xmlns:a16="http://schemas.microsoft.com/office/drawing/2014/main" id="{5676608D-A60D-BA94-7D8E-64B4323E3D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634942"/>
              </p:ext>
            </p:extLst>
          </p:nvPr>
        </p:nvGraphicFramePr>
        <p:xfrm>
          <a:off x="652374" y="1416776"/>
          <a:ext cx="8782571" cy="491472"/>
        </p:xfrm>
        <a:graphic>
          <a:graphicData uri="http://schemas.openxmlformats.org/drawingml/2006/table">
            <a:tbl>
              <a:tblPr/>
              <a:tblGrid>
                <a:gridCol w="59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0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84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4489">
                  <a:extLst>
                    <a:ext uri="{9D8B030D-6E8A-4147-A177-3AD203B41FA5}">
                      <a16:colId xmlns:a16="http://schemas.microsoft.com/office/drawing/2014/main" val="3538833938"/>
                    </a:ext>
                  </a:extLst>
                </a:gridCol>
                <a:gridCol w="938150">
                  <a:extLst>
                    <a:ext uri="{9D8B030D-6E8A-4147-A177-3AD203B41FA5}">
                      <a16:colId xmlns:a16="http://schemas.microsoft.com/office/drawing/2014/main" val="39264155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순번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구버전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신버전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변경 항목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 내용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860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목     차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2698922"/>
              </p:ext>
            </p:extLst>
          </p:nvPr>
        </p:nvGraphicFramePr>
        <p:xfrm>
          <a:off x="988586" y="1265003"/>
          <a:ext cx="7926814" cy="51022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19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2241"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조달계획 </a:t>
                      </a:r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통합목록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메뉴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1.1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1.2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흐름도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1.3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앱 구성 다이어그램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1.4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Layout</a:t>
                      </a: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200" dirty="0"/>
                        <a:t>국외 </a:t>
                      </a:r>
                      <a:r>
                        <a:rPr lang="ko-KR" altLang="en-US" sz="1200" dirty="0">
                          <a:latin typeface="+mn-ea"/>
                        </a:rPr>
                        <a:t>조달계획 통합</a:t>
                      </a:r>
                      <a:r>
                        <a:rPr lang="ko-KR" altLang="en-US" sz="1200" dirty="0"/>
                        <a:t> 목록 메뉴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2.1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2.2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흐름도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2.3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앱 구성 다이어그램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2.4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Layout</a:t>
                      </a: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endParaRPr lang="en-US" altLang="ko-KR" sz="12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4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4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6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7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8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52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52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53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54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55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9697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pPr>
              <a:lnSpc>
                <a:spcPct val="120000"/>
              </a:lnSpc>
            </a:pPr>
            <a:r>
              <a:rPr lang="en-US" altLang="ko-KR" dirty="0"/>
              <a:t>1. </a:t>
            </a:r>
            <a:r>
              <a:rPr lang="ko-KR" altLang="en-US" dirty="0">
                <a:latin typeface="+mn-ea"/>
              </a:rPr>
              <a:t>조달계획 통합</a:t>
            </a:r>
            <a:r>
              <a:rPr lang="ko-KR" altLang="en-US" dirty="0"/>
              <a:t> 목록 메뉴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dirty="0"/>
              <a:t>1.1 </a:t>
            </a:r>
            <a:r>
              <a:rPr lang="ko-KR" altLang="en-US" dirty="0"/>
              <a:t>화면 목록 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6015810"/>
              </p:ext>
            </p:extLst>
          </p:nvPr>
        </p:nvGraphicFramePr>
        <p:xfrm>
          <a:off x="635474" y="1253620"/>
          <a:ext cx="8701200" cy="478942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MUI-OP-01-M01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 통합목록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PrcmIPlanntgListPage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통합 목록 조회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prcmPlanIntgList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PrcmPlanIntgListPage.tsx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UC-OP-02-01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UC-OP-03-01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MUI-OP-01-M02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검색필터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PrcmPlanIntgList_SrchFilter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검색을 위한 검색 필터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prcmPlanIntgList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PrcmPlanIntgList_SrchFilter.tsx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UC-OP-02-01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UC-OP-03-01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MUI-OP-01-M03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조달계획상세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PrcmPlanDtlPage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 상세 중 상세 내용 탭 표시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PrcmPlanDtlPage.tsx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320861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MUI-OP-01-M03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상세내용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내용 탭 표시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424583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MUI-OP-01-M04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품목명세서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PrcmPlanDtl_PrdList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품목명세서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탭 표시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PrcmPlanDtl_PrdList.tsx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40808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MUI-OP-01-M05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업체의견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PrcmPlanDtl_OpnnList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탭 표시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PrcmPlanDtl_OpnnList.tsx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UC-OP-01-02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694996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MUI-OP-01-P06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업체의견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상세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PrcmPlanDtl_OpnnDtl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탭 목록에서 상세내용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PrcmPlanDtl_OpnnDtl.tsx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UC-OP-01-03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397847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MUI-OP-01-P06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업체의견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답변 상세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PprcmPlanDtl_OpnnDtl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탭 목록에서 관리자의 답변 내용 상세내용 조회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prcmPlanDtl_OpnnDtl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PrcmPlanDtl_OpnnDtl.tsx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UC-OP-01-03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414797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MUI-OP-01-P07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업체의견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등록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PrcmPlanDtl_OpnnReg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탭 목록에서 내용 작성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prcmPlanDtl_OpnnDtl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PrcmPlanDtl_OpnnReg.tsx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43582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MUI-OP-01-M08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계약특수조건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PrcmPlanDtl_spclCtrt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계약특수조건 탭 표시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PrcmPlanDtl_spclCtrt.tsx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578340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MUI-OP-01-M09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첨부서류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PrcmPlanDtl_Doc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첨부서류 탭 표시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PrcmPlanDtl_Doc.tsx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993972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MUI-OP-01-P10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입찰공고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알림신청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PrcmPlan_NotiAply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조달계획에서 입찰공고 이후 알림을 신청하는 팝업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PrcmPlan_NotiAply.tsx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57332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MUI-OP-01-P12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연관조달계획상세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AnlPrcmPlanDtl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 외 업무 상세화면에서 연관 된 조달계획 정보를 조회한다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AnlPrcmPlanDtl.tsx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1166199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39683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pPr>
              <a:lnSpc>
                <a:spcPct val="120000"/>
              </a:lnSpc>
            </a:pPr>
            <a:r>
              <a:rPr lang="en-US" altLang="ko-KR" dirty="0"/>
              <a:t>1. </a:t>
            </a:r>
            <a:r>
              <a:rPr lang="ko-KR" altLang="en-US" dirty="0">
                <a:latin typeface="+mn-ea"/>
              </a:rPr>
              <a:t>조달계획 통합</a:t>
            </a:r>
            <a:r>
              <a:rPr lang="ko-KR" altLang="en-US" dirty="0"/>
              <a:t> 목록 메뉴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dirty="0"/>
              <a:t>1.1 </a:t>
            </a:r>
            <a:r>
              <a:rPr lang="ko-KR" altLang="en-US" dirty="0"/>
              <a:t>화면 목록 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697133"/>
              </p:ext>
            </p:extLst>
          </p:nvPr>
        </p:nvGraphicFramePr>
        <p:xfrm>
          <a:off x="635474" y="1253620"/>
          <a:ext cx="8701200" cy="265054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MUI-OP-01-M11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사전규격상세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BfhdSpcfctDtlPage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사전규격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</a:t>
                      </a:r>
                      <a:r>
                        <a:rPr lang="ko-KR" altLang="en-US" sz="8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중 상세 내용 탭 표시 화면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BfhdSpcfctDtlPage.tsx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14012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MUI-OP-01-M11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상세내용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사전규격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</a:t>
                      </a:r>
                      <a:r>
                        <a:rPr lang="ko-KR" altLang="en-US" sz="8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중 상세 내용 탭 표시 화면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752319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MUI-OP-01-M05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업체의견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BfhdSpcfctDtl_OpnnList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 상세와 동일한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탭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BfhdSpcfctDtl_OpnnList.tsx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UC-OP-01-02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031660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MUI-OP-01-P06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업체의견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상세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BfhdSpcfctDtl_OpnnDtl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업체의견과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동일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BfhdSpcfctDtl_OpnnDtl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UC-OP-01-03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317732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MUI-OP-01-P06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업체의견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등록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BfhdSpcfctDtl_OpnnReg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업체의견과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동일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BfhdSpcfctDtl_OpnnReg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UC-OP-01-03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383956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MUI-OP-01-M09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첨부서류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BfhdSpcfctDtl_Doc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첨부서류 탭 표시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BfhdSpcfctDtl_Doc.tsx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954721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MUI-OP-01-P13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연관사전규격상세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AnlBfhdSpcfctDtl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타메뉴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상세화면에서 연관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사전규격을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조회할 경우 열리는 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팝업화면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AnlBfhdSpcfctDtl.tsx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217265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2994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1.2. </a:t>
            </a:r>
            <a:r>
              <a:rPr lang="ko-KR" altLang="en-US" dirty="0"/>
              <a:t>화면 흐름도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6608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조달 계획 목록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256C95A-5B12-C9E0-F2B5-BC9D5BAB5422}"/>
              </a:ext>
            </a:extLst>
          </p:cNvPr>
          <p:cNvGrpSpPr/>
          <p:nvPr/>
        </p:nvGrpSpPr>
        <p:grpSpPr>
          <a:xfrm>
            <a:off x="1228614" y="1682964"/>
            <a:ext cx="237994" cy="316983"/>
            <a:chOff x="4762389" y="1663914"/>
            <a:chExt cx="237994" cy="31698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5003F43-FF09-9E6F-5743-EDAC953723CE}"/>
                </a:ext>
              </a:extLst>
            </p:cNvPr>
            <p:cNvSpPr/>
            <p:nvPr/>
          </p:nvSpPr>
          <p:spPr>
            <a:xfrm>
              <a:off x="4789249" y="1663914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742BB0-8FB4-9410-125F-B3304E0DFFA4}"/>
                </a:ext>
              </a:extLst>
            </p:cNvPr>
            <p:cNvSpPr/>
            <p:nvPr/>
          </p:nvSpPr>
          <p:spPr>
            <a:xfrm>
              <a:off x="4762389" y="1857786"/>
              <a:ext cx="23799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시작</a:t>
              </a:r>
            </a:p>
          </p:txBody>
        </p:sp>
      </p:grp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" idx="6"/>
            <a:endCxn id="6" idx="1"/>
          </p:cNvCxnSpPr>
          <p:nvPr/>
        </p:nvCxnSpPr>
        <p:spPr>
          <a:xfrm>
            <a:off x="1435474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17D047-5413-1F47-3FD7-CCCD3C0C98ED}"/>
              </a:ext>
            </a:extLst>
          </p:cNvPr>
          <p:cNvSpPr/>
          <p:nvPr/>
        </p:nvSpPr>
        <p:spPr>
          <a:xfrm>
            <a:off x="758775" y="1231161"/>
            <a:ext cx="586699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목록</a:t>
            </a:r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</a:rPr>
              <a:t>작성</a:t>
            </a:r>
            <a:r>
              <a:rPr lang="en-US" altLang="ko-KR" sz="1000" b="1" dirty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619C48D-7E22-9D49-50C5-2404458A47CE}"/>
              </a:ext>
            </a:extLst>
          </p:cNvPr>
          <p:cNvSpPr txBox="1"/>
          <p:nvPr/>
        </p:nvSpPr>
        <p:spPr>
          <a:xfrm>
            <a:off x="777742" y="6257756"/>
            <a:ext cx="8640000" cy="269680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marL="87313" lvl="0" indent="-87313" fontAlgn="base" latinLnBrk="0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조달계획 진입 시 조달계획 목록이 먼저 노출되며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검색 필터에서 </a:t>
            </a:r>
            <a:r>
              <a:rPr lang="ko-KR" altLang="en-US" sz="800" kern="0" dirty="0" err="1">
                <a:solidFill>
                  <a:srgbClr val="0000FF"/>
                </a:solidFill>
                <a:latin typeface="+mn-ea"/>
              </a:rPr>
              <a:t>검색유형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조달계획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,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 </a:t>
            </a:r>
            <a:r>
              <a:rPr lang="ko-KR" altLang="en-US" sz="800" kern="0" dirty="0" err="1">
                <a:solidFill>
                  <a:srgbClr val="0000FF"/>
                </a:solidFill>
                <a:latin typeface="+mn-ea"/>
              </a:rPr>
              <a:t>사전규격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연간조달계획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) 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을 설정함</a:t>
            </a:r>
          </a:p>
        </p:txBody>
      </p:sp>
      <p:sp>
        <p:nvSpPr>
          <p:cNvPr id="6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검색 필터</a:t>
            </a: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" idx="3"/>
            <a:endCxn id="69" idx="1"/>
          </p:cNvCxnSpPr>
          <p:nvPr/>
        </p:nvCxnSpPr>
        <p:spPr>
          <a:xfrm>
            <a:off x="3266608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9220330" y="3196005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9249327" y="2988513"/>
            <a:ext cx="180000" cy="180000"/>
            <a:chOff x="5058274" y="2498299"/>
            <a:chExt cx="180000" cy="180000"/>
          </a:xfrm>
        </p:grpSpPr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231053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조달 계획 상세</a:t>
            </a:r>
          </a:p>
        </p:txBody>
      </p:sp>
      <p:cxnSp>
        <p:nvCxnSpPr>
          <p:cNvPr id="16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3"/>
            <a:endCxn id="162" idx="1"/>
          </p:cNvCxnSpPr>
          <p:nvPr/>
        </p:nvCxnSpPr>
        <p:spPr>
          <a:xfrm>
            <a:off x="3266608" y="1772964"/>
            <a:ext cx="931134" cy="68157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0"/>
            <a:endCxn id="6" idx="0"/>
          </p:cNvCxnSpPr>
          <p:nvPr/>
        </p:nvCxnSpPr>
        <p:spPr>
          <a:xfrm rot="16200000" flipV="1">
            <a:off x="3732175" y="713397"/>
            <a:ext cx="12700" cy="1831134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23C86455-E84C-0CEA-5C6B-05BE50ADCEF5}"/>
              </a:ext>
            </a:extLst>
          </p:cNvPr>
          <p:cNvSpPr/>
          <p:nvPr/>
        </p:nvSpPr>
        <p:spPr>
          <a:xfrm>
            <a:off x="1191585" y="1514853"/>
            <a:ext cx="30777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2816608" y="1261938"/>
            <a:ext cx="1670329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</a:rPr>
              <a:t>검색 반영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조달계획</a:t>
            </a:r>
            <a:r>
              <a:rPr lang="en-US" altLang="ko-KR" sz="800" dirty="0">
                <a:solidFill>
                  <a:schemeClr val="tx1"/>
                </a:solidFill>
              </a:rPr>
              <a:t>, </a:t>
            </a:r>
            <a:r>
              <a:rPr lang="ko-KR" altLang="en-US" sz="800" dirty="0" err="1">
                <a:solidFill>
                  <a:schemeClr val="tx1"/>
                </a:solidFill>
              </a:rPr>
              <a:t>사전규격</a:t>
            </a:r>
            <a:r>
              <a:rPr lang="ko-KR" altLang="en-US" sz="800" dirty="0">
                <a:solidFill>
                  <a:schemeClr val="tx1"/>
                </a:solidFill>
              </a:rPr>
              <a:t> 설정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293451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업체의견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168656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상세내용</a:t>
            </a:r>
          </a:p>
        </p:txBody>
      </p:sp>
      <p:sp>
        <p:nvSpPr>
          <p:cNvPr id="2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231053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품목명세서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355606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계약특수조건</a:t>
            </a:r>
          </a:p>
        </p:txBody>
      </p:sp>
      <p:sp>
        <p:nvSpPr>
          <p:cNvPr id="3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479774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사전규격</a:t>
            </a:r>
            <a:r>
              <a:rPr lang="ko-KR" altLang="en-US" sz="800" dirty="0">
                <a:solidFill>
                  <a:schemeClr val="tx1"/>
                </a:solidFill>
              </a:rPr>
              <a:t> 상세</a:t>
            </a:r>
          </a:p>
        </p:txBody>
      </p:sp>
      <p:cxnSp>
        <p:nvCxnSpPr>
          <p:cNvPr id="3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3"/>
            <a:endCxn id="34" idx="1"/>
          </p:cNvCxnSpPr>
          <p:nvPr/>
        </p:nvCxnSpPr>
        <p:spPr>
          <a:xfrm>
            <a:off x="3266608" y="1772964"/>
            <a:ext cx="931134" cy="316877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417690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첨부서류</a:t>
            </a: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162" idx="3"/>
            <a:endCxn id="25" idx="1"/>
          </p:cNvCxnSpPr>
          <p:nvPr/>
        </p:nvCxnSpPr>
        <p:spPr>
          <a:xfrm>
            <a:off x="5097742" y="2454537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62" idx="3"/>
            <a:endCxn id="24" idx="1"/>
          </p:cNvCxnSpPr>
          <p:nvPr/>
        </p:nvCxnSpPr>
        <p:spPr>
          <a:xfrm flipV="1">
            <a:off x="5097742" y="1830562"/>
            <a:ext cx="931134" cy="62397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62" idx="3"/>
            <a:endCxn id="23" idx="1"/>
          </p:cNvCxnSpPr>
          <p:nvPr/>
        </p:nvCxnSpPr>
        <p:spPr>
          <a:xfrm>
            <a:off x="5097742" y="2454537"/>
            <a:ext cx="931134" cy="62397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62" idx="3"/>
            <a:endCxn id="30" idx="1"/>
          </p:cNvCxnSpPr>
          <p:nvPr/>
        </p:nvCxnSpPr>
        <p:spPr>
          <a:xfrm>
            <a:off x="5097742" y="2454537"/>
            <a:ext cx="931134" cy="124553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62" idx="3"/>
            <a:endCxn id="38" idx="1"/>
          </p:cNvCxnSpPr>
          <p:nvPr/>
        </p:nvCxnSpPr>
        <p:spPr>
          <a:xfrm>
            <a:off x="5097742" y="2454537"/>
            <a:ext cx="931134" cy="186636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860010" y="293451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업체의견</a:t>
            </a:r>
            <a:r>
              <a:rPr lang="ko-KR" altLang="en-US" sz="800" dirty="0">
                <a:solidFill>
                  <a:schemeClr val="tx1"/>
                </a:solidFill>
              </a:rPr>
              <a:t> 상세</a:t>
            </a:r>
            <a:endParaRPr lang="en-US" altLang="ko-KR" sz="800" dirty="0">
              <a:solidFill>
                <a:schemeClr val="tx1"/>
              </a:solidFill>
            </a:endParaRPr>
          </a:p>
        </p:txBody>
      </p:sp>
      <p:sp>
        <p:nvSpPr>
          <p:cNvPr id="5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860010" y="355606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업체의견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등록</a:t>
            </a:r>
            <a:r>
              <a:rPr lang="en-US" altLang="ko-KR" sz="800" dirty="0">
                <a:solidFill>
                  <a:schemeClr val="tx1"/>
                </a:solidFill>
              </a:rPr>
              <a:t>/</a:t>
            </a:r>
            <a:r>
              <a:rPr lang="ko-KR" altLang="en-US" sz="800" dirty="0">
                <a:solidFill>
                  <a:schemeClr val="tx1"/>
                </a:solidFill>
              </a:rPr>
              <a:t>수정</a:t>
            </a:r>
          </a:p>
        </p:txBody>
      </p:sp>
      <p:cxnSp>
        <p:nvCxnSpPr>
          <p:cNvPr id="5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3" idx="3"/>
            <a:endCxn id="55" idx="1"/>
          </p:cNvCxnSpPr>
          <p:nvPr/>
        </p:nvCxnSpPr>
        <p:spPr>
          <a:xfrm>
            <a:off x="6928876" y="3078513"/>
            <a:ext cx="931134" cy="62155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23" idx="3"/>
            <a:endCxn id="54" idx="1"/>
          </p:cNvCxnSpPr>
          <p:nvPr/>
        </p:nvCxnSpPr>
        <p:spPr>
          <a:xfrm>
            <a:off x="6928876" y="3078513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479774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상세내용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7860904" y="3433393"/>
            <a:ext cx="54983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>
                <a:solidFill>
                  <a:schemeClr val="tx1"/>
                </a:solidFill>
              </a:rPr>
              <a:t>로그인 필요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88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5418580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업체의견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8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860010" y="5418580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업체의견</a:t>
            </a:r>
            <a:r>
              <a:rPr lang="ko-KR" altLang="en-US" sz="800" dirty="0">
                <a:solidFill>
                  <a:schemeClr val="tx1"/>
                </a:solidFill>
              </a:rPr>
              <a:t> 상세</a:t>
            </a:r>
            <a:endParaRPr lang="en-US" altLang="ko-KR" sz="800" dirty="0">
              <a:solidFill>
                <a:schemeClr val="tx1"/>
              </a:solidFill>
            </a:endParaRPr>
          </a:p>
        </p:txBody>
      </p:sp>
      <p:sp>
        <p:nvSpPr>
          <p:cNvPr id="9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860010" y="604013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업체의견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등록</a:t>
            </a:r>
            <a:r>
              <a:rPr lang="en-US" altLang="ko-KR" sz="800" dirty="0">
                <a:solidFill>
                  <a:schemeClr val="tx1"/>
                </a:solidFill>
              </a:rPr>
              <a:t>/</a:t>
            </a:r>
            <a:r>
              <a:rPr lang="ko-KR" altLang="en-US" sz="800" dirty="0">
                <a:solidFill>
                  <a:schemeClr val="tx1"/>
                </a:solidFill>
              </a:rPr>
              <a:t>수정</a:t>
            </a:r>
          </a:p>
        </p:txBody>
      </p:sp>
      <p:cxnSp>
        <p:nvCxnSpPr>
          <p:cNvPr id="9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88" idx="3"/>
            <a:endCxn id="90" idx="1"/>
          </p:cNvCxnSpPr>
          <p:nvPr/>
        </p:nvCxnSpPr>
        <p:spPr>
          <a:xfrm>
            <a:off x="6928876" y="5562580"/>
            <a:ext cx="931134" cy="62155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7860904" y="5917460"/>
            <a:ext cx="549831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>
                <a:solidFill>
                  <a:schemeClr val="tx1"/>
                </a:solidFill>
              </a:rPr>
              <a:t>로그인 필요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88" idx="3"/>
            <a:endCxn id="89" idx="1"/>
          </p:cNvCxnSpPr>
          <p:nvPr/>
        </p:nvCxnSpPr>
        <p:spPr>
          <a:xfrm>
            <a:off x="6928876" y="5562580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34" idx="3"/>
            <a:endCxn id="63" idx="1"/>
          </p:cNvCxnSpPr>
          <p:nvPr/>
        </p:nvCxnSpPr>
        <p:spPr>
          <a:xfrm>
            <a:off x="5097742" y="4941743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34" idx="3"/>
            <a:endCxn id="88" idx="1"/>
          </p:cNvCxnSpPr>
          <p:nvPr/>
        </p:nvCxnSpPr>
        <p:spPr>
          <a:xfrm>
            <a:off x="5097742" y="4941743"/>
            <a:ext cx="931134" cy="62083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54" idx="3"/>
            <a:endCxn id="158" idx="2"/>
          </p:cNvCxnSpPr>
          <p:nvPr/>
        </p:nvCxnSpPr>
        <p:spPr>
          <a:xfrm>
            <a:off x="8760010" y="3078513"/>
            <a:ext cx="489317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55" idx="3"/>
            <a:endCxn id="158" idx="2"/>
          </p:cNvCxnSpPr>
          <p:nvPr/>
        </p:nvCxnSpPr>
        <p:spPr>
          <a:xfrm flipV="1">
            <a:off x="8760010" y="3078513"/>
            <a:ext cx="489317" cy="62155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89" idx="3"/>
            <a:endCxn id="158" idx="2"/>
          </p:cNvCxnSpPr>
          <p:nvPr/>
        </p:nvCxnSpPr>
        <p:spPr>
          <a:xfrm flipV="1">
            <a:off x="8760010" y="3078513"/>
            <a:ext cx="489317" cy="248406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90" idx="3"/>
            <a:endCxn id="158" idx="2"/>
          </p:cNvCxnSpPr>
          <p:nvPr/>
        </p:nvCxnSpPr>
        <p:spPr>
          <a:xfrm flipV="1">
            <a:off x="8760010" y="3078513"/>
            <a:ext cx="489317" cy="310562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2366608" y="1918348"/>
            <a:ext cx="20518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</a:rPr>
              <a:t>국내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4197742" y="2619426"/>
            <a:ext cx="976229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</a:rPr>
              <a:t>국내 물품</a:t>
            </a:r>
            <a:r>
              <a:rPr lang="en-US" altLang="ko-KR" sz="800" dirty="0">
                <a:solidFill>
                  <a:schemeClr val="tx1"/>
                </a:solidFill>
              </a:rPr>
              <a:t>, </a:t>
            </a:r>
            <a:r>
              <a:rPr lang="ko-KR" altLang="en-US" sz="800" dirty="0">
                <a:solidFill>
                  <a:schemeClr val="tx1"/>
                </a:solidFill>
              </a:rPr>
              <a:t>용역</a:t>
            </a:r>
            <a:r>
              <a:rPr lang="en-US" altLang="ko-KR" sz="800" dirty="0">
                <a:solidFill>
                  <a:schemeClr val="tx1"/>
                </a:solidFill>
              </a:rPr>
              <a:t>, </a:t>
            </a:r>
            <a:r>
              <a:rPr lang="ko-KR" altLang="en-US" sz="800" dirty="0">
                <a:solidFill>
                  <a:schemeClr val="tx1"/>
                </a:solidFill>
              </a:rPr>
              <a:t>공사</a:t>
            </a:r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ko-KR" altLang="en-US" sz="800" dirty="0">
                <a:solidFill>
                  <a:schemeClr val="tx1"/>
                </a:solidFill>
              </a:rPr>
              <a:t>국외 조달판단내역</a:t>
            </a:r>
          </a:p>
        </p:txBody>
      </p:sp>
      <p:sp>
        <p:nvSpPr>
          <p:cNvPr id="5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860010" y="168656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연관사전규격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상세</a:t>
            </a:r>
            <a:endParaRPr lang="en-US" altLang="ko-KR" sz="800" dirty="0">
              <a:solidFill>
                <a:schemeClr val="tx1"/>
              </a:solidFill>
            </a:endParaRPr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24" idx="3"/>
            <a:endCxn id="57" idx="1"/>
          </p:cNvCxnSpPr>
          <p:nvPr/>
        </p:nvCxnSpPr>
        <p:spPr>
          <a:xfrm>
            <a:off x="6928876" y="1830562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57" idx="3"/>
            <a:endCxn id="158" idx="2"/>
          </p:cNvCxnSpPr>
          <p:nvPr/>
        </p:nvCxnSpPr>
        <p:spPr>
          <a:xfrm>
            <a:off x="8760010" y="1830562"/>
            <a:ext cx="489317" cy="124795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860010" y="479774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연관조달계획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상세</a:t>
            </a:r>
            <a:endParaRPr lang="en-US" altLang="ko-KR" sz="800" dirty="0">
              <a:solidFill>
                <a:schemeClr val="tx1"/>
              </a:solidFill>
            </a:endParaRP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3" idx="3"/>
            <a:endCxn id="61" idx="1"/>
          </p:cNvCxnSpPr>
          <p:nvPr/>
        </p:nvCxnSpPr>
        <p:spPr>
          <a:xfrm>
            <a:off x="6928876" y="4941743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1" idx="3"/>
            <a:endCxn id="158" idx="2"/>
          </p:cNvCxnSpPr>
          <p:nvPr/>
        </p:nvCxnSpPr>
        <p:spPr>
          <a:xfrm flipV="1">
            <a:off x="8760010" y="3078513"/>
            <a:ext cx="489317" cy="186323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0961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1.3 </a:t>
            </a:r>
            <a:r>
              <a:rPr lang="ko-KR" altLang="en-US" dirty="0"/>
              <a:t>앱 구성 다이어그램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265382" y="164413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조달계획통합목록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PrcmIPlanntgListPage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265382" y="224445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검색필터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 err="1">
                <a:solidFill>
                  <a:schemeClr val="tx1"/>
                </a:solidFill>
                <a:latin typeface="+mn-ea"/>
              </a:rPr>
              <a:t>PrcmPlanIntgList_SrchFilter</a:t>
            </a:r>
            <a:r>
              <a:rPr lang="en-US" altLang="ko-KR" sz="800" dirty="0" err="1">
                <a:solidFill>
                  <a:schemeClr val="tx1"/>
                </a:solidFill>
              </a:rPr>
              <a:t>.tsx</a:t>
            </a:r>
            <a:r>
              <a:rPr lang="en-US" altLang="ko-KR" sz="8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8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2844775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조달 계획 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PrcmPlanDtlPage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913418" y="2747194"/>
            <a:ext cx="1727200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/>
              <a:t>조달계획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/>
              <a:t>PrcmPlanController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992582" y="1865266"/>
            <a:ext cx="967509" cy="1124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992582" y="2465584"/>
            <a:ext cx="967509" cy="524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992582" y="2990174"/>
            <a:ext cx="967509" cy="75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12261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445093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사전규격</a:t>
            </a:r>
            <a:r>
              <a:rPr lang="ko-KR" altLang="en-US" sz="1000" dirty="0">
                <a:solidFill>
                  <a:schemeClr val="tx1"/>
                </a:solidFill>
              </a:rPr>
              <a:t> 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BfhdSpcfctDtlPage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04541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품목명세서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PrcmPlanDtl_PrdList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64572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0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업체의견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BfhdSpcfctDtl_OpnnList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.</a:t>
            </a:r>
            <a:r>
              <a:rPr lang="en-US" altLang="ko-KR" sz="1000" dirty="0" err="1">
                <a:solidFill>
                  <a:schemeClr val="tx1"/>
                </a:solidFill>
              </a:rPr>
              <a:t>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992582" y="2990174"/>
            <a:ext cx="967509" cy="676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992582" y="2990174"/>
            <a:ext cx="967509" cy="1276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992582" y="2990174"/>
            <a:ext cx="967509" cy="1876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524604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첨부서류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BfhdSpcfctDtl_Doc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6" idx="3"/>
            <a:endCxn id="9" idx="1"/>
          </p:cNvCxnSpPr>
          <p:nvPr/>
        </p:nvCxnSpPr>
        <p:spPr>
          <a:xfrm flipV="1">
            <a:off x="2992582" y="2990174"/>
            <a:ext cx="967509" cy="2477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8817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>
            <a:normAutofit lnSpcReduction="10000"/>
          </a:bodyPr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상단 </a:t>
            </a:r>
            <a:r>
              <a:rPr lang="en-US" altLang="ko-KR" dirty="0"/>
              <a:t>[</a:t>
            </a:r>
            <a:r>
              <a:rPr lang="ko-KR" altLang="en-US" dirty="0"/>
              <a:t>공지사항</a:t>
            </a:r>
            <a:r>
              <a:rPr lang="en-US" altLang="ko-KR" dirty="0"/>
              <a:t>] </a:t>
            </a:r>
            <a:r>
              <a:rPr lang="ko-KR" altLang="en-US" dirty="0"/>
              <a:t>및 </a:t>
            </a:r>
            <a:r>
              <a:rPr lang="en-US" altLang="ko-KR" dirty="0"/>
              <a:t>[</a:t>
            </a:r>
            <a:r>
              <a:rPr lang="ko-KR" altLang="en-US" dirty="0" err="1"/>
              <a:t>업무도움</a:t>
            </a:r>
            <a:r>
              <a:rPr lang="en-US" altLang="ko-KR" dirty="0"/>
              <a:t>]</a:t>
            </a:r>
            <a:r>
              <a:rPr lang="ko-KR" altLang="en-US" dirty="0"/>
              <a:t>은 기본 값으로 접힘 상태로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접힘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사용자 </a:t>
            </a:r>
            <a:r>
              <a:rPr lang="ko-KR" altLang="en-US" dirty="0" err="1"/>
              <a:t>클릭시</a:t>
            </a:r>
            <a:r>
              <a:rPr lang="ko-KR" altLang="en-US" dirty="0"/>
              <a:t> 확장하여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공지사항</a:t>
            </a:r>
            <a:r>
              <a:rPr lang="en-US" altLang="ko-KR" dirty="0"/>
              <a:t>, </a:t>
            </a:r>
            <a:r>
              <a:rPr lang="ko-KR" altLang="en-US" dirty="0" err="1"/>
              <a:t>업무도움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두가지가 노출될 수 있음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내역이 있는 경우 표시</a:t>
            </a:r>
            <a:r>
              <a:rPr lang="en-US" altLang="ko-KR" dirty="0"/>
              <a:t>, </a:t>
            </a:r>
            <a:r>
              <a:rPr lang="ko-KR" altLang="en-US" dirty="0"/>
              <a:t>내역이 없으면 항목을 표시하지 않음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>
                <a:solidFill>
                  <a:srgbClr val="FF0000"/>
                </a:solidFill>
              </a:rPr>
              <a:t>입찰공고는 </a:t>
            </a:r>
            <a:r>
              <a:rPr lang="en-US" altLang="ko-KR" dirty="0">
                <a:solidFill>
                  <a:srgbClr val="FF0000"/>
                </a:solidFill>
              </a:rPr>
              <a:t>[</a:t>
            </a:r>
            <a:r>
              <a:rPr lang="ko-KR" altLang="en-US" dirty="0">
                <a:solidFill>
                  <a:srgbClr val="FF0000"/>
                </a:solidFill>
              </a:rPr>
              <a:t>공지사항</a:t>
            </a:r>
            <a:r>
              <a:rPr lang="en-US" altLang="ko-KR" dirty="0">
                <a:solidFill>
                  <a:srgbClr val="FF0000"/>
                </a:solidFill>
              </a:rPr>
              <a:t>], [</a:t>
            </a:r>
            <a:r>
              <a:rPr lang="ko-KR" altLang="en-US" dirty="0" err="1">
                <a:solidFill>
                  <a:srgbClr val="FF0000"/>
                </a:solidFill>
              </a:rPr>
              <a:t>업무도움</a:t>
            </a:r>
            <a:r>
              <a:rPr lang="en-US" altLang="ko-KR" dirty="0">
                <a:solidFill>
                  <a:srgbClr val="FF0000"/>
                </a:solidFill>
              </a:rPr>
              <a:t>]</a:t>
            </a:r>
            <a:r>
              <a:rPr lang="ko-KR" altLang="en-US" dirty="0">
                <a:solidFill>
                  <a:srgbClr val="FF0000"/>
                </a:solidFill>
              </a:rPr>
              <a:t>이 존재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다른 목록 화면에서는 </a:t>
            </a:r>
            <a:r>
              <a:rPr lang="en-US" altLang="ko-KR" dirty="0">
                <a:solidFill>
                  <a:srgbClr val="FF0000"/>
                </a:solidFill>
              </a:rPr>
              <a:t>[</a:t>
            </a:r>
            <a:r>
              <a:rPr lang="ko-KR" altLang="en-US" dirty="0" err="1">
                <a:solidFill>
                  <a:srgbClr val="FF0000"/>
                </a:solidFill>
              </a:rPr>
              <a:t>업무도움</a:t>
            </a:r>
            <a:r>
              <a:rPr lang="en-US" altLang="ko-KR" dirty="0">
                <a:solidFill>
                  <a:srgbClr val="FF0000"/>
                </a:solidFill>
              </a:rPr>
              <a:t>] 1</a:t>
            </a:r>
            <a:r>
              <a:rPr lang="ko-KR" altLang="en-US" dirty="0">
                <a:solidFill>
                  <a:srgbClr val="FF0000"/>
                </a:solidFill>
              </a:rPr>
              <a:t>종만 존재함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유형 선택에 따라 콘텐츠 변경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유형은 단일 선택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이전 정보 저장하지 않음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상단 </a:t>
            </a:r>
            <a:r>
              <a:rPr lang="ko-KR" altLang="en-US" dirty="0"/>
              <a:t>검색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 err="1"/>
              <a:t>조달명</a:t>
            </a:r>
            <a:r>
              <a:rPr lang="ko-KR" altLang="en-US" dirty="0"/>
              <a:t> 선택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내용이 있는 경우 초기화 버튼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초기화 버튼 클릭 시 즉시 목록 초기화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검색 버튼은 표준에 따름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필터 버튼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 시 </a:t>
            </a:r>
            <a:r>
              <a:rPr lang="en-US" altLang="ko-KR" dirty="0"/>
              <a:t>:</a:t>
            </a:r>
            <a:r>
              <a:rPr lang="ko-KR" altLang="en-US" dirty="0"/>
              <a:t> 검색 필터 </a:t>
            </a:r>
            <a:r>
              <a:rPr lang="ko-KR" altLang="en-US" dirty="0" err="1"/>
              <a:t>풀페이지</a:t>
            </a:r>
            <a:r>
              <a:rPr lang="ko-KR" altLang="en-US" dirty="0"/>
              <a:t> 팝업 호출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검색 필터 설정이 있는 경우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건수</a:t>
            </a:r>
            <a:r>
              <a:rPr lang="en-US" altLang="ko-KR" dirty="0"/>
              <a:t>, </a:t>
            </a:r>
            <a:r>
              <a:rPr lang="ko-KR" altLang="en-US" dirty="0"/>
              <a:t>개수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레이블</a:t>
            </a:r>
            <a:r>
              <a:rPr lang="en-US" altLang="ko-KR" dirty="0"/>
              <a:t>(5</a:t>
            </a:r>
            <a:r>
              <a:rPr lang="ko-KR" altLang="en-US" dirty="0" err="1"/>
              <a:t>번항</a:t>
            </a:r>
            <a:r>
              <a:rPr lang="en-US" altLang="ko-KR" dirty="0"/>
              <a:t>)</a:t>
            </a:r>
            <a:r>
              <a:rPr lang="ko-KR" altLang="en-US" dirty="0"/>
              <a:t>을 통한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 </a:t>
            </a:r>
            <a:r>
              <a:rPr lang="en-US" altLang="ko-KR" dirty="0"/>
              <a:t>2</a:t>
            </a:r>
            <a:r>
              <a:rPr lang="ko-KR" altLang="en-US" dirty="0"/>
              <a:t>줄 표시 이후 </a:t>
            </a:r>
            <a:r>
              <a:rPr lang="ko-KR" altLang="en-US" dirty="0" err="1"/>
              <a:t>말줄임표</a:t>
            </a:r>
            <a:r>
              <a:rPr lang="en-US" altLang="ko-KR" dirty="0"/>
              <a:t>(…)</a:t>
            </a:r>
            <a:br>
              <a:rPr lang="en-US" altLang="ko-KR" dirty="0"/>
            </a:br>
            <a:r>
              <a:rPr lang="en-US" altLang="ko-KR" dirty="0"/>
              <a:t>- [</a:t>
            </a:r>
            <a:r>
              <a:rPr lang="ko-KR" altLang="en-US" dirty="0"/>
              <a:t>공통</a:t>
            </a:r>
            <a:r>
              <a:rPr lang="en-US" altLang="ko-KR" dirty="0"/>
              <a:t>] </a:t>
            </a:r>
            <a:r>
              <a:rPr lang="ko-KR" altLang="en-US" dirty="0"/>
              <a:t>카드 클릭으로 상세 이동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10</a:t>
            </a:r>
            <a:r>
              <a:rPr lang="ko-KR" altLang="en-US" dirty="0"/>
              <a:t>개 노출 이후 </a:t>
            </a:r>
            <a:r>
              <a:rPr lang="ko-KR" altLang="en-US" dirty="0" err="1"/>
              <a:t>더보기</a:t>
            </a:r>
            <a:r>
              <a:rPr lang="ko-KR" altLang="en-US" dirty="0"/>
              <a:t> 버튼 클릭으로 </a:t>
            </a:r>
            <a:r>
              <a:rPr lang="en-US" altLang="ko-KR" dirty="0"/>
              <a:t>10</a:t>
            </a:r>
            <a:r>
              <a:rPr lang="ko-KR" altLang="en-US" dirty="0"/>
              <a:t>개씩 추가 로드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표시 레이블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- 3</a:t>
            </a:r>
            <a:r>
              <a:rPr lang="ko-KR" altLang="en-US" dirty="0" err="1"/>
              <a:t>번항</a:t>
            </a:r>
            <a:r>
              <a:rPr lang="ko-KR" altLang="en-US" dirty="0"/>
              <a:t> 상단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조달계획 통합목록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</a:t>
            </a:r>
            <a:r>
              <a:rPr lang="ko-KR" altLang="en-US" dirty="0" err="1"/>
              <a:t>통합목록</a:t>
            </a:r>
            <a:r>
              <a:rPr lang="ko-KR" altLang="en-US" dirty="0"/>
              <a:t> 화면 </a:t>
            </a:r>
            <a:r>
              <a:rPr lang="en-US" altLang="ko-KR" dirty="0"/>
              <a:t>- </a:t>
            </a:r>
            <a:r>
              <a:rPr lang="ko-KR" altLang="en-US" dirty="0"/>
              <a:t>조달계획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조달계획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조달계획 </a:t>
            </a:r>
            <a:r>
              <a:rPr lang="ko-KR" altLang="en-US" sz="800" dirty="0" err="1">
                <a:latin typeface="+mn-ea"/>
              </a:rPr>
              <a:t>통합목록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23552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grpSp>
        <p:nvGrpSpPr>
          <p:cNvPr id="6" name="그룹 5"/>
          <p:cNvGrpSpPr/>
          <p:nvPr/>
        </p:nvGrpSpPr>
        <p:grpSpPr>
          <a:xfrm>
            <a:off x="781461" y="3642975"/>
            <a:ext cx="2473257" cy="1098561"/>
            <a:chOff x="781461" y="2610063"/>
            <a:chExt cx="2473257" cy="1098561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판단번호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6000A</a:t>
              </a:r>
            </a:p>
            <a:p>
              <a:r>
                <a:rPr lang="en-US" altLang="ko-KR" sz="900" b="1" dirty="0"/>
                <a:t>‘26</a:t>
              </a:r>
              <a:r>
                <a:rPr lang="ko-KR" altLang="en-US" sz="900" b="1" dirty="0"/>
                <a:t>년 </a:t>
              </a:r>
              <a:r>
                <a:rPr lang="en-US" altLang="ko-KR" sz="900" b="1" dirty="0"/>
                <a:t>K5</a:t>
              </a:r>
              <a:r>
                <a:rPr lang="ko-KR" altLang="en-US" sz="900" b="1" dirty="0"/>
                <a:t>방독면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발주예정월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계약방법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예산금액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538609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2026-03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화력총괄계약팀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총액제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5" y="2610063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수의계약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763829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778515" y="4942304"/>
            <a:ext cx="2476203" cy="1083172"/>
            <a:chOff x="778515" y="2610063"/>
            <a:chExt cx="2476203" cy="1083172"/>
          </a:xfrm>
        </p:grpSpPr>
        <p:sp>
          <p:nvSpPr>
            <p:cNvPr id="7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판단번호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2026-00590</a:t>
              </a:r>
            </a:p>
            <a:p>
              <a:r>
                <a:rPr lang="en-US" altLang="ko-KR" sz="900" b="1" dirty="0"/>
                <a:t>26-</a:t>
              </a:r>
              <a:r>
                <a:rPr lang="ko-KR" altLang="en-US" sz="900" b="1" dirty="0"/>
                <a:t>평 절개지 복구공사</a:t>
              </a:r>
            </a:p>
          </p:txBody>
        </p:sp>
        <p:sp>
          <p:nvSpPr>
            <p:cNvPr id="75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발주예정월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계약방법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예산금액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472886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제</a:t>
              </a:r>
              <a:r>
                <a:rPr lang="en-US" altLang="ko-KR" sz="600" dirty="0">
                  <a:latin typeface="+mn-ea"/>
                </a:rPr>
                <a:t>9911</a:t>
              </a:r>
              <a:r>
                <a:rPr lang="ko-KR" altLang="en-US" sz="600" dirty="0">
                  <a:latin typeface="+mn-ea"/>
                </a:rPr>
                <a:t>부대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총액제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92,472,000 </a:t>
              </a:r>
              <a:r>
                <a:rPr lang="ko-KR" altLang="en-US" sz="600" dirty="0">
                  <a:latin typeface="+mn-ea"/>
                </a:rPr>
                <a:t>원</a:t>
              </a:r>
            </a:p>
          </p:txBody>
        </p:sp>
        <p:sp>
          <p:nvSpPr>
            <p:cNvPr id="77" name="모서리가 둥근 직사각형 76"/>
            <p:cNvSpPr/>
            <p:nvPr/>
          </p:nvSpPr>
          <p:spPr>
            <a:xfrm>
              <a:off x="778515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공사</a:t>
              </a:r>
            </a:p>
          </p:txBody>
        </p:sp>
        <p:sp>
          <p:nvSpPr>
            <p:cNvPr id="78" name="모서리가 둥근 직사각형 77"/>
            <p:cNvSpPr/>
            <p:nvPr/>
          </p:nvSpPr>
          <p:spPr>
            <a:xfrm>
              <a:off x="1075655" y="2610063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제한경쟁</a:t>
              </a:r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82378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51908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00885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6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9567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7</a:t>
            </a:r>
            <a:endParaRPr lang="ko-KR" altLang="en-US" sz="900" b="1" dirty="0"/>
          </a:p>
        </p:txBody>
      </p:sp>
      <p:sp>
        <p:nvSpPr>
          <p:cNvPr id="80" name="모서리가 둥근 직사각형 79"/>
          <p:cNvSpPr/>
          <p:nvPr/>
        </p:nvSpPr>
        <p:spPr>
          <a:xfrm>
            <a:off x="4614060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914986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용역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521597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86" name="모서리가 둥근 직사각형 85"/>
          <p:cNvSpPr/>
          <p:nvPr/>
        </p:nvSpPr>
        <p:spPr>
          <a:xfrm>
            <a:off x="5519047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국외</a:t>
            </a:r>
          </a:p>
        </p:txBody>
      </p:sp>
      <p:sp>
        <p:nvSpPr>
          <p:cNvPr id="87" name="모서리가 둥근 직사각형 86"/>
          <p:cNvSpPr/>
          <p:nvPr/>
        </p:nvSpPr>
        <p:spPr>
          <a:xfrm>
            <a:off x="431863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전체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45" name="모서리가 둥근 직사각형 144"/>
          <p:cNvSpPr/>
          <p:nvPr/>
        </p:nvSpPr>
        <p:spPr>
          <a:xfrm>
            <a:off x="431863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일반경쟁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141375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계약방법</a:t>
            </a: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477609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지명경쟁</a:t>
            </a:r>
          </a:p>
        </p:txBody>
      </p:sp>
      <p:sp>
        <p:nvSpPr>
          <p:cNvPr id="149" name="모서리가 둥근 직사각형 148"/>
          <p:cNvSpPr/>
          <p:nvPr/>
        </p:nvSpPr>
        <p:spPr>
          <a:xfrm>
            <a:off x="523276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제한경쟁</a:t>
            </a: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569022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복수경쟁</a:t>
            </a:r>
            <a:endParaRPr lang="ko-KR" altLang="en-US" sz="600" dirty="0"/>
          </a:p>
        </p:txBody>
      </p:sp>
      <p:sp>
        <p:nvSpPr>
          <p:cNvPr id="151" name="모서리가 둥근 직사각형 150"/>
          <p:cNvSpPr/>
          <p:nvPr/>
        </p:nvSpPr>
        <p:spPr>
          <a:xfrm>
            <a:off x="6147576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sp>
        <p:nvSpPr>
          <p:cNvPr id="152" name="모서리가 둥근 직사각형 151"/>
          <p:cNvSpPr/>
          <p:nvPr/>
        </p:nvSpPr>
        <p:spPr>
          <a:xfrm>
            <a:off x="4318635" y="5307915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서류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3" name="모서리가 둥근 직사각형 152"/>
          <p:cNvSpPr/>
          <p:nvPr/>
        </p:nvSpPr>
        <p:spPr>
          <a:xfrm>
            <a:off x="5199541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동시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4" name="모서리가 둥근 직사각형 153"/>
          <p:cNvSpPr/>
          <p:nvPr/>
        </p:nvSpPr>
        <p:spPr>
          <a:xfrm>
            <a:off x="5885028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분리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5" name="모서리가 둥근 직사각형 154"/>
          <p:cNvSpPr/>
          <p:nvPr/>
        </p:nvSpPr>
        <p:spPr>
          <a:xfrm>
            <a:off x="4318635" y="5475884"/>
            <a:ext cx="501313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종합낙찰제</a:t>
            </a:r>
            <a:endParaRPr lang="ko-KR" altLang="en-US" sz="600" dirty="0"/>
          </a:p>
        </p:txBody>
      </p:sp>
      <p:sp>
        <p:nvSpPr>
          <p:cNvPr id="157" name="모서리가 둥근 직사각형 156"/>
          <p:cNvSpPr/>
          <p:nvPr/>
        </p:nvSpPr>
        <p:spPr>
          <a:xfrm>
            <a:off x="4876890" y="5475884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전자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8" name="모서리가 둥근 직사각형 157"/>
          <p:cNvSpPr/>
          <p:nvPr/>
        </p:nvSpPr>
        <p:spPr>
          <a:xfrm>
            <a:off x="5767485" y="5475884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역경매</a:t>
            </a:r>
            <a:endParaRPr lang="ko-KR" altLang="en-US" sz="600" dirty="0"/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304035" y="17591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8</a:t>
            </a:r>
            <a:endParaRPr lang="ko-KR" altLang="en-US" sz="900" b="1" dirty="0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4318635" y="5847205"/>
            <a:ext cx="57991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발주기관 전체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853044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발주기관</a:t>
            </a:r>
          </a:p>
        </p:txBody>
      </p:sp>
      <p:sp>
        <p:nvSpPr>
          <p:cNvPr id="163" name="모서리가 둥근 직사각형 162"/>
          <p:cNvSpPr/>
          <p:nvPr/>
        </p:nvSpPr>
        <p:spPr>
          <a:xfrm>
            <a:off x="4946591" y="5847205"/>
            <a:ext cx="47052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방위사업청</a:t>
            </a:r>
            <a:endParaRPr lang="ko-KR" altLang="en-US" sz="600" dirty="0"/>
          </a:p>
        </p:txBody>
      </p:sp>
      <p:sp>
        <p:nvSpPr>
          <p:cNvPr id="164" name="모서리가 둥근 직사각형 163"/>
          <p:cNvSpPr/>
          <p:nvPr/>
        </p:nvSpPr>
        <p:spPr>
          <a:xfrm>
            <a:off x="5462635" y="584720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조달본부</a:t>
            </a:r>
          </a:p>
        </p:txBody>
      </p:sp>
      <p:sp>
        <p:nvSpPr>
          <p:cNvPr id="165" name="모서리가 둥근 직사각형 164"/>
          <p:cNvSpPr/>
          <p:nvPr/>
        </p:nvSpPr>
        <p:spPr>
          <a:xfrm>
            <a:off x="590936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경리단</a:t>
            </a:r>
            <a:endParaRPr lang="ko-KR" altLang="en-US" sz="600" dirty="0"/>
          </a:p>
        </p:txBody>
      </p:sp>
      <p:sp>
        <p:nvSpPr>
          <p:cNvPr id="166" name="모서리가 둥근 직사각형 165"/>
          <p:cNvSpPr/>
          <p:nvPr/>
        </p:nvSpPr>
        <p:spPr>
          <a:xfrm>
            <a:off x="6282921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군수사</a:t>
            </a:r>
            <a:endParaRPr lang="ko-KR" altLang="en-US" sz="600" dirty="0"/>
          </a:p>
        </p:txBody>
      </p:sp>
      <p:sp>
        <p:nvSpPr>
          <p:cNvPr id="167" name="모서리가 둥근 직사각형 166"/>
          <p:cNvSpPr/>
          <p:nvPr/>
        </p:nvSpPr>
        <p:spPr>
          <a:xfrm>
            <a:off x="665814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교육사</a:t>
            </a:r>
          </a:p>
        </p:txBody>
      </p:sp>
      <p:sp>
        <p:nvSpPr>
          <p:cNvPr id="168" name="모서리가 둥근 직사각형 167"/>
          <p:cNvSpPr/>
          <p:nvPr/>
        </p:nvSpPr>
        <p:spPr>
          <a:xfrm>
            <a:off x="4321449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학교</a:t>
            </a:r>
          </a:p>
        </p:txBody>
      </p:sp>
      <p:sp>
        <p:nvSpPr>
          <p:cNvPr id="169" name="모서리가 둥근 직사각형 168"/>
          <p:cNvSpPr/>
          <p:nvPr/>
        </p:nvSpPr>
        <p:spPr>
          <a:xfrm>
            <a:off x="4639917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근지단</a:t>
            </a:r>
            <a:endParaRPr lang="ko-KR" altLang="en-US" sz="600" dirty="0"/>
          </a:p>
        </p:txBody>
      </p:sp>
      <p:sp>
        <p:nvSpPr>
          <p:cNvPr id="170" name="모서리가 둥근 직사각형 169"/>
          <p:cNvSpPr/>
          <p:nvPr/>
        </p:nvSpPr>
        <p:spPr>
          <a:xfrm>
            <a:off x="5025544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군병원</a:t>
            </a:r>
            <a:endParaRPr lang="ko-KR" altLang="en-US" sz="600" dirty="0"/>
          </a:p>
        </p:txBody>
      </p:sp>
      <p:sp>
        <p:nvSpPr>
          <p:cNvPr id="172" name="모서리가 둥근 직사각형 171"/>
          <p:cNvSpPr/>
          <p:nvPr/>
        </p:nvSpPr>
        <p:spPr>
          <a:xfrm>
            <a:off x="5413995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본부</a:t>
            </a:r>
          </a:p>
        </p:txBody>
      </p:sp>
      <p:sp>
        <p:nvSpPr>
          <p:cNvPr id="173" name="모서리가 둥근 직사각형 172"/>
          <p:cNvSpPr/>
          <p:nvPr/>
        </p:nvSpPr>
        <p:spPr>
          <a:xfrm>
            <a:off x="5727123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국방부</a:t>
            </a:r>
            <a:r>
              <a:rPr lang="en-US" altLang="ko-KR" sz="600" dirty="0"/>
              <a:t>-9</a:t>
            </a:r>
            <a:endParaRPr lang="ko-KR" altLang="en-US" sz="600" dirty="0"/>
          </a:p>
        </p:txBody>
      </p:sp>
      <p:sp>
        <p:nvSpPr>
          <p:cNvPr id="174" name="모서리가 둥근 직사각형 173"/>
          <p:cNvSpPr/>
          <p:nvPr/>
        </p:nvSpPr>
        <p:spPr>
          <a:xfrm>
            <a:off x="6198542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국방부</a:t>
            </a:r>
            <a:r>
              <a:rPr lang="en-US" altLang="ko-KR" sz="600" dirty="0"/>
              <a:t>-A</a:t>
            </a:r>
            <a:endParaRPr lang="ko-KR" altLang="en-US" sz="600" dirty="0"/>
          </a:p>
        </p:txBody>
      </p:sp>
      <p:sp>
        <p:nvSpPr>
          <p:cNvPr id="175" name="모서리가 둥근 직사각형 174"/>
          <p:cNvSpPr/>
          <p:nvPr/>
        </p:nvSpPr>
        <p:spPr>
          <a:xfrm>
            <a:off x="6669961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기타</a:t>
            </a:r>
          </a:p>
        </p:txBody>
      </p:sp>
      <p:sp>
        <p:nvSpPr>
          <p:cNvPr id="148" name="모서리가 둥근 직사각형 147"/>
          <p:cNvSpPr/>
          <p:nvPr/>
        </p:nvSpPr>
        <p:spPr>
          <a:xfrm>
            <a:off x="4321056" y="2203671"/>
            <a:ext cx="39399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조달계획</a:t>
            </a:r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4762118" y="220367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사전규격</a:t>
            </a:r>
            <a:endParaRPr lang="ko-KR" altLang="en-US" sz="600" dirty="0"/>
          </a:p>
        </p:txBody>
      </p:sp>
      <p:sp>
        <p:nvSpPr>
          <p:cNvPr id="159" name="모서리가 둥근 직사각형 158"/>
          <p:cNvSpPr/>
          <p:nvPr/>
        </p:nvSpPr>
        <p:spPr>
          <a:xfrm>
            <a:off x="5221341" y="2203671"/>
            <a:ext cx="56515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연간조달계획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209510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검색유형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0" name="모서리가 둥근 직사각형 179"/>
          <p:cNvSpPr/>
          <p:nvPr/>
        </p:nvSpPr>
        <p:spPr>
          <a:xfrm>
            <a:off x="4318635" y="2877159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총액제</a:t>
            </a:r>
            <a:endParaRPr lang="ko-KR" altLang="en-US" sz="600" dirty="0"/>
          </a:p>
        </p:txBody>
      </p:sp>
      <p:sp>
        <p:nvSpPr>
          <p:cNvPr id="181" name="모서리가 둥근 직사각형 180"/>
          <p:cNvSpPr/>
          <p:nvPr/>
        </p:nvSpPr>
        <p:spPr>
          <a:xfrm>
            <a:off x="4695883" y="2878607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단가제</a:t>
            </a:r>
            <a:endParaRPr lang="ko-KR" altLang="en-US" sz="6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입찰구분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79" name="그룹 178"/>
          <p:cNvGrpSpPr/>
          <p:nvPr/>
        </p:nvGrpSpPr>
        <p:grpSpPr>
          <a:xfrm>
            <a:off x="3024315" y="3434962"/>
            <a:ext cx="776938" cy="1131139"/>
            <a:chOff x="3004764" y="2490533"/>
            <a:chExt cx="776938" cy="1131139"/>
          </a:xfrm>
        </p:grpSpPr>
        <p:sp>
          <p:nvSpPr>
            <p:cNvPr id="182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4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0"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10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</a:p>
          </p:txBody>
        </p:sp>
        <p:sp>
          <p:nvSpPr>
            <p:cNvPr id="185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10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50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</a:p>
          </p:txBody>
        </p:sp>
        <p:grpSp>
          <p:nvGrpSpPr>
            <p:cNvPr id="186" name="그룹 185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187" name="직선 연결선 186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8" name="직선 연결선 187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89" name="TextBox 18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216231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3212177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3212177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192" name="그룹 191"/>
          <p:cNvGrpSpPr/>
          <p:nvPr/>
        </p:nvGrpSpPr>
        <p:grpSpPr>
          <a:xfrm>
            <a:off x="3143548" y="3324544"/>
            <a:ext cx="94010" cy="47005"/>
            <a:chOff x="6812560" y="3297172"/>
            <a:chExt cx="94010" cy="47005"/>
          </a:xfrm>
        </p:grpSpPr>
        <p:cxnSp>
          <p:nvCxnSpPr>
            <p:cNvPr id="193" name="직선 연결선 19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4" name="직선 연결선 19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5" name="그룹 194"/>
          <p:cNvGrpSpPr/>
          <p:nvPr/>
        </p:nvGrpSpPr>
        <p:grpSpPr>
          <a:xfrm>
            <a:off x="767702" y="2611788"/>
            <a:ext cx="2527420" cy="477995"/>
            <a:chOff x="786326" y="2270279"/>
            <a:chExt cx="2527420" cy="477995"/>
          </a:xfrm>
        </p:grpSpPr>
        <p:sp>
          <p:nvSpPr>
            <p:cNvPr id="196" name="모서리가 둥근 직사각형 195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7" name="타원 196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99" name="그룹 198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20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조달명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207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판단번호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200" name="타원 199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201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202" name="타원 201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03" name="그룹 202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204" name="직선 연결선 203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5" name="직선 연결선 20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21015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17700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타원 11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76394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21791" y="259181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55516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2321104"/>
            <a:ext cx="66385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b="1" dirty="0" smtClean="0">
                <a:latin typeface="+mn-ea"/>
              </a:rPr>
              <a:t>유형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19" name="모서리가 둥근 직사각형 118"/>
          <p:cNvSpPr/>
          <p:nvPr/>
        </p:nvSpPr>
        <p:spPr>
          <a:xfrm>
            <a:off x="1104835" y="2288962"/>
            <a:ext cx="685866" cy="187200"/>
          </a:xfrm>
          <a:prstGeom prst="roundRect">
            <a:avLst>
              <a:gd name="adj" fmla="val 17463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b="1" dirty="0" smtClean="0">
                <a:solidFill>
                  <a:schemeClr val="bg1"/>
                </a:solidFill>
              </a:rPr>
              <a:t>조달계획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  <p:grpSp>
        <p:nvGrpSpPr>
          <p:cNvPr id="124" name="그룹 123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25" name="직사각형 124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2026-06-18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26" name="직사각형 125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유형 추가</a:t>
              </a:r>
              <a:endParaRPr lang="ko-KR" altLang="en-US" sz="700" dirty="0"/>
            </a:p>
          </p:txBody>
        </p:sp>
      </p:grpSp>
      <p:sp>
        <p:nvSpPr>
          <p:cNvPr id="133" name="모서리가 둥근 직사각형 132"/>
          <p:cNvSpPr/>
          <p:nvPr/>
        </p:nvSpPr>
        <p:spPr>
          <a:xfrm>
            <a:off x="1857752" y="2288962"/>
            <a:ext cx="685866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/>
                </a:solidFill>
              </a:rPr>
              <a:t>사전규격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6" name="모서리가 둥근 직사각형 135"/>
          <p:cNvSpPr/>
          <p:nvPr/>
        </p:nvSpPr>
        <p:spPr>
          <a:xfrm>
            <a:off x="2604380" y="2288962"/>
            <a:ext cx="685866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</a:rPr>
              <a:t>연간조달계획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28350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3312487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>
            <a:normAutofit lnSpcReduction="10000"/>
          </a:bodyPr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상단 </a:t>
            </a:r>
            <a:r>
              <a:rPr lang="en-US" altLang="ko-KR" dirty="0"/>
              <a:t>[</a:t>
            </a:r>
            <a:r>
              <a:rPr lang="ko-KR" altLang="en-US" dirty="0"/>
              <a:t>공지사항</a:t>
            </a:r>
            <a:r>
              <a:rPr lang="en-US" altLang="ko-KR" dirty="0"/>
              <a:t>] </a:t>
            </a:r>
            <a:r>
              <a:rPr lang="ko-KR" altLang="en-US" dirty="0"/>
              <a:t>및 </a:t>
            </a:r>
            <a:r>
              <a:rPr lang="en-US" altLang="ko-KR" dirty="0"/>
              <a:t>[</a:t>
            </a:r>
            <a:r>
              <a:rPr lang="ko-KR" altLang="en-US" dirty="0" err="1"/>
              <a:t>업무도움</a:t>
            </a:r>
            <a:r>
              <a:rPr lang="en-US" altLang="ko-KR" dirty="0"/>
              <a:t>]</a:t>
            </a:r>
            <a:r>
              <a:rPr lang="ko-KR" altLang="en-US" dirty="0"/>
              <a:t>은 기본 값으로 접힘 상태로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접힘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사용자 </a:t>
            </a:r>
            <a:r>
              <a:rPr lang="ko-KR" altLang="en-US" dirty="0" err="1"/>
              <a:t>클릭시</a:t>
            </a:r>
            <a:r>
              <a:rPr lang="ko-KR" altLang="en-US" dirty="0"/>
              <a:t> 확장하여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공지사항</a:t>
            </a:r>
            <a:r>
              <a:rPr lang="en-US" altLang="ko-KR" dirty="0"/>
              <a:t>, </a:t>
            </a:r>
            <a:r>
              <a:rPr lang="ko-KR" altLang="en-US" dirty="0" err="1"/>
              <a:t>업무도움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두가지가 노출될 수 있음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내역이 있는 경우 표시</a:t>
            </a:r>
            <a:r>
              <a:rPr lang="en-US" altLang="ko-KR" dirty="0"/>
              <a:t>, </a:t>
            </a:r>
            <a:r>
              <a:rPr lang="ko-KR" altLang="en-US" dirty="0"/>
              <a:t>내역이 없으면 항목을 표시하지 않음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>
                <a:solidFill>
                  <a:srgbClr val="FF0000"/>
                </a:solidFill>
              </a:rPr>
              <a:t>입찰공고는 </a:t>
            </a:r>
            <a:r>
              <a:rPr lang="en-US" altLang="ko-KR" dirty="0">
                <a:solidFill>
                  <a:srgbClr val="FF0000"/>
                </a:solidFill>
              </a:rPr>
              <a:t>[</a:t>
            </a:r>
            <a:r>
              <a:rPr lang="ko-KR" altLang="en-US" dirty="0">
                <a:solidFill>
                  <a:srgbClr val="FF0000"/>
                </a:solidFill>
              </a:rPr>
              <a:t>공지사항</a:t>
            </a:r>
            <a:r>
              <a:rPr lang="en-US" altLang="ko-KR" dirty="0">
                <a:solidFill>
                  <a:srgbClr val="FF0000"/>
                </a:solidFill>
              </a:rPr>
              <a:t>], [</a:t>
            </a:r>
            <a:r>
              <a:rPr lang="ko-KR" altLang="en-US" dirty="0" err="1">
                <a:solidFill>
                  <a:srgbClr val="FF0000"/>
                </a:solidFill>
              </a:rPr>
              <a:t>업무도움</a:t>
            </a:r>
            <a:r>
              <a:rPr lang="en-US" altLang="ko-KR" dirty="0">
                <a:solidFill>
                  <a:srgbClr val="FF0000"/>
                </a:solidFill>
              </a:rPr>
              <a:t>]</a:t>
            </a:r>
            <a:r>
              <a:rPr lang="ko-KR" altLang="en-US" dirty="0">
                <a:solidFill>
                  <a:srgbClr val="FF0000"/>
                </a:solidFill>
              </a:rPr>
              <a:t>이 존재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다른 목록 화면에서는 </a:t>
            </a:r>
            <a:r>
              <a:rPr lang="en-US" altLang="ko-KR" dirty="0">
                <a:solidFill>
                  <a:srgbClr val="FF0000"/>
                </a:solidFill>
              </a:rPr>
              <a:t>[</a:t>
            </a:r>
            <a:r>
              <a:rPr lang="ko-KR" altLang="en-US" dirty="0" err="1">
                <a:solidFill>
                  <a:srgbClr val="FF0000"/>
                </a:solidFill>
              </a:rPr>
              <a:t>업무도움</a:t>
            </a:r>
            <a:r>
              <a:rPr lang="en-US" altLang="ko-KR" dirty="0">
                <a:solidFill>
                  <a:srgbClr val="FF0000"/>
                </a:solidFill>
              </a:rPr>
              <a:t>] 1</a:t>
            </a:r>
            <a:r>
              <a:rPr lang="ko-KR" altLang="en-US" dirty="0">
                <a:solidFill>
                  <a:srgbClr val="FF0000"/>
                </a:solidFill>
              </a:rPr>
              <a:t>종만 존재함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유형 선택에 따라 콘텐츠 변경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유형은 단일 선택</a:t>
            </a:r>
            <a:r>
              <a:rPr lang="en-US" altLang="ko-KR" dirty="0"/>
              <a:t>, </a:t>
            </a:r>
            <a:r>
              <a:rPr lang="ko-KR" altLang="en-US" dirty="0"/>
              <a:t>이전 정보 저장하지 않음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상단 </a:t>
            </a:r>
            <a:r>
              <a:rPr lang="ko-KR" altLang="en-US" dirty="0"/>
              <a:t>검색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 err="1"/>
              <a:t>조달명</a:t>
            </a:r>
            <a:r>
              <a:rPr lang="ko-KR" altLang="en-US" dirty="0"/>
              <a:t> 선택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내용이 있는 경우 초기화 버튼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초기화 버튼 클릭 시 즉시 목록 초기화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검색 버튼은 표준에 따름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필터 버튼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 시 </a:t>
            </a:r>
            <a:r>
              <a:rPr lang="en-US" altLang="ko-KR" dirty="0"/>
              <a:t>:</a:t>
            </a:r>
            <a:r>
              <a:rPr lang="ko-KR" altLang="en-US" dirty="0"/>
              <a:t> 검색 필터 </a:t>
            </a:r>
            <a:r>
              <a:rPr lang="ko-KR" altLang="en-US" dirty="0" err="1"/>
              <a:t>풀페이지</a:t>
            </a:r>
            <a:r>
              <a:rPr lang="ko-KR" altLang="en-US" dirty="0"/>
              <a:t> 팝업 호출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검색 필터 설정이 있는 경우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건수</a:t>
            </a:r>
            <a:r>
              <a:rPr lang="en-US" altLang="ko-KR" dirty="0"/>
              <a:t>, </a:t>
            </a:r>
            <a:r>
              <a:rPr lang="ko-KR" altLang="en-US" dirty="0"/>
              <a:t>개수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레이블</a:t>
            </a:r>
            <a:r>
              <a:rPr lang="en-US" altLang="ko-KR" dirty="0"/>
              <a:t>(5</a:t>
            </a:r>
            <a:r>
              <a:rPr lang="ko-KR" altLang="en-US" dirty="0" err="1"/>
              <a:t>번항</a:t>
            </a:r>
            <a:r>
              <a:rPr lang="en-US" altLang="ko-KR" dirty="0"/>
              <a:t>)</a:t>
            </a:r>
            <a:r>
              <a:rPr lang="ko-KR" altLang="en-US" dirty="0"/>
              <a:t>을 통한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 </a:t>
            </a:r>
            <a:r>
              <a:rPr lang="en-US" altLang="ko-KR" dirty="0"/>
              <a:t>2</a:t>
            </a:r>
            <a:r>
              <a:rPr lang="ko-KR" altLang="en-US" dirty="0"/>
              <a:t>줄 표시 이후 </a:t>
            </a:r>
            <a:r>
              <a:rPr lang="ko-KR" altLang="en-US" dirty="0" err="1"/>
              <a:t>말줄임표</a:t>
            </a:r>
            <a:r>
              <a:rPr lang="en-US" altLang="ko-KR" dirty="0"/>
              <a:t>(…)</a:t>
            </a:r>
            <a:br>
              <a:rPr lang="en-US" altLang="ko-KR" dirty="0"/>
            </a:br>
            <a:r>
              <a:rPr lang="en-US" altLang="ko-KR" dirty="0"/>
              <a:t>- [</a:t>
            </a:r>
            <a:r>
              <a:rPr lang="ko-KR" altLang="en-US" dirty="0"/>
              <a:t>공통</a:t>
            </a:r>
            <a:r>
              <a:rPr lang="en-US" altLang="ko-KR" dirty="0"/>
              <a:t>] </a:t>
            </a:r>
            <a:r>
              <a:rPr lang="ko-KR" altLang="en-US" dirty="0"/>
              <a:t>카드 클릭으로 상세 이동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10</a:t>
            </a:r>
            <a:r>
              <a:rPr lang="ko-KR" altLang="en-US" dirty="0"/>
              <a:t>개 노출 이후 </a:t>
            </a:r>
            <a:r>
              <a:rPr lang="ko-KR" altLang="en-US" dirty="0" err="1"/>
              <a:t>더보기</a:t>
            </a:r>
            <a:r>
              <a:rPr lang="ko-KR" altLang="en-US" dirty="0"/>
              <a:t> 버튼 클릭으로 </a:t>
            </a:r>
            <a:r>
              <a:rPr lang="en-US" altLang="ko-KR" dirty="0"/>
              <a:t>10</a:t>
            </a:r>
            <a:r>
              <a:rPr lang="ko-KR" altLang="en-US" dirty="0"/>
              <a:t>개씩 추가 로드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표시 레이블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- 3</a:t>
            </a:r>
            <a:r>
              <a:rPr lang="ko-KR" altLang="en-US" dirty="0" err="1"/>
              <a:t>번항</a:t>
            </a:r>
            <a:r>
              <a:rPr lang="ko-KR" altLang="en-US" dirty="0"/>
              <a:t> 상단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조달계획 </a:t>
            </a:r>
            <a:r>
              <a:rPr lang="ko-KR" altLang="en-US" dirty="0" err="1"/>
              <a:t>통합목록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</a:t>
            </a:r>
            <a:r>
              <a:rPr lang="ko-KR" altLang="en-US" dirty="0" err="1"/>
              <a:t>통합목록</a:t>
            </a:r>
            <a:r>
              <a:rPr lang="ko-KR" altLang="en-US" dirty="0"/>
              <a:t> 화면 </a:t>
            </a:r>
            <a:r>
              <a:rPr lang="en-US" altLang="ko-KR" dirty="0"/>
              <a:t>- </a:t>
            </a:r>
            <a:r>
              <a:rPr lang="ko-KR" altLang="en-US" dirty="0" err="1"/>
              <a:t>사전계획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조달계획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조달계획 </a:t>
            </a:r>
            <a:r>
              <a:rPr lang="ko-KR" altLang="en-US" sz="800" dirty="0" err="1">
                <a:latin typeface="+mn-ea"/>
              </a:rPr>
              <a:t>통합목록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/>
          <p:cNvGrpSpPr/>
          <p:nvPr/>
        </p:nvGrpSpPr>
        <p:grpSpPr>
          <a:xfrm>
            <a:off x="781461" y="3613432"/>
            <a:ext cx="2473257" cy="1098561"/>
            <a:chOff x="781461" y="2610063"/>
            <a:chExt cx="2473257" cy="1098561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판단번호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99001</a:t>
              </a:r>
            </a:p>
            <a:p>
              <a:r>
                <a:rPr lang="ko-KR" altLang="en-US" sz="900" b="1" dirty="0" err="1"/>
                <a:t>공마대</a:t>
              </a:r>
              <a:r>
                <a:rPr lang="ko-KR" altLang="en-US" sz="900" b="1" dirty="0"/>
                <a:t> 등 </a:t>
              </a:r>
              <a:r>
                <a:rPr lang="en-US" altLang="ko-KR" sz="900" b="1" dirty="0"/>
                <a:t>41</a:t>
              </a:r>
              <a:r>
                <a:rPr lang="ko-KR" altLang="en-US" sz="900" b="1" dirty="0"/>
                <a:t>종 구매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공개일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예산금액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접수기간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333464" y="3139237"/>
              <a:ext cx="904094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제</a:t>
              </a:r>
              <a:r>
                <a:rPr lang="en-US" altLang="ko-KR" sz="600" dirty="0">
                  <a:latin typeface="+mn-ea"/>
                </a:rPr>
                <a:t>8385</a:t>
              </a:r>
              <a:r>
                <a:rPr lang="ko-KR" altLang="en-US" sz="600" dirty="0">
                  <a:latin typeface="+mn-ea"/>
                </a:rPr>
                <a:t>부대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  <a:r>
                <a:rPr lang="ko-KR" altLang="en-US" sz="600" dirty="0">
                  <a:latin typeface="+mn-ea"/>
                </a:rPr>
                <a:t> </a:t>
              </a:r>
              <a:r>
                <a:rPr lang="en-US" altLang="ko-KR" sz="600" dirty="0">
                  <a:latin typeface="+mn-ea"/>
                </a:rPr>
                <a:t>~ 2026-02-12</a:t>
              </a: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5" y="2610063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수의계약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487092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778515" y="4912761"/>
            <a:ext cx="2476203" cy="1083172"/>
            <a:chOff x="778515" y="2610063"/>
            <a:chExt cx="2476203" cy="1083172"/>
          </a:xfrm>
        </p:grpSpPr>
        <p:sp>
          <p:nvSpPr>
            <p:cNvPr id="7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판단번호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03665</a:t>
              </a:r>
            </a:p>
            <a:p>
              <a:r>
                <a:rPr lang="en-US" altLang="ko-KR" sz="900" b="1" dirty="0"/>
                <a:t>26~27-N-</a:t>
              </a:r>
              <a:r>
                <a:rPr lang="ko-KR" altLang="en-US" sz="900" b="1" dirty="0"/>
                <a:t>정보체계 </a:t>
              </a:r>
              <a:r>
                <a:rPr lang="en-US" altLang="ko-KR" sz="900" b="1" dirty="0"/>
                <a:t>2</a:t>
              </a:r>
              <a:r>
                <a:rPr lang="ko-KR" altLang="en-US" sz="900" b="1" dirty="0"/>
                <a:t>차 재개발</a:t>
              </a:r>
            </a:p>
          </p:txBody>
        </p:sp>
        <p:sp>
          <p:nvSpPr>
            <p:cNvPr id="75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공개일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예산금액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접수기간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334219" y="3139237"/>
              <a:ext cx="904094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2026-01-03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국군재정관리단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2,596,060,616,000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2026-01-03</a:t>
              </a:r>
              <a:r>
                <a:rPr lang="ko-KR" altLang="en-US" sz="600" dirty="0">
                  <a:latin typeface="+mn-ea"/>
                </a:rPr>
                <a:t> </a:t>
              </a:r>
              <a:r>
                <a:rPr lang="en-US" altLang="ko-KR" sz="600" dirty="0">
                  <a:latin typeface="+mn-ea"/>
                </a:rPr>
                <a:t>~ 2026-01-14</a:t>
              </a:r>
            </a:p>
          </p:txBody>
        </p:sp>
        <p:sp>
          <p:nvSpPr>
            <p:cNvPr id="77" name="모서리가 둥근 직사각형 76"/>
            <p:cNvSpPr/>
            <p:nvPr/>
          </p:nvSpPr>
          <p:spPr>
            <a:xfrm>
              <a:off x="778515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용역</a:t>
              </a:r>
            </a:p>
          </p:txBody>
        </p:sp>
        <p:sp>
          <p:nvSpPr>
            <p:cNvPr id="78" name="모서리가 둥근 직사각형 77"/>
            <p:cNvSpPr/>
            <p:nvPr/>
          </p:nvSpPr>
          <p:spPr>
            <a:xfrm>
              <a:off x="1075655" y="2610063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제한경쟁</a:t>
              </a:r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79423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51619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55462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모서리가 둥근 직사각형 79"/>
          <p:cNvSpPr/>
          <p:nvPr/>
        </p:nvSpPr>
        <p:spPr>
          <a:xfrm>
            <a:off x="4614060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914986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용역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521597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86" name="모서리가 둥근 직사각형 85"/>
          <p:cNvSpPr/>
          <p:nvPr/>
        </p:nvSpPr>
        <p:spPr>
          <a:xfrm>
            <a:off x="5519047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국외</a:t>
            </a:r>
          </a:p>
        </p:txBody>
      </p:sp>
      <p:sp>
        <p:nvSpPr>
          <p:cNvPr id="87" name="모서리가 둥근 직사각형 86"/>
          <p:cNvSpPr/>
          <p:nvPr/>
        </p:nvSpPr>
        <p:spPr>
          <a:xfrm>
            <a:off x="431863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전체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45" name="모서리가 둥근 직사각형 144"/>
          <p:cNvSpPr/>
          <p:nvPr/>
        </p:nvSpPr>
        <p:spPr>
          <a:xfrm>
            <a:off x="431863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일반경쟁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141375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계약방법</a:t>
            </a: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477609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지명경쟁</a:t>
            </a:r>
          </a:p>
        </p:txBody>
      </p:sp>
      <p:sp>
        <p:nvSpPr>
          <p:cNvPr id="149" name="모서리가 둥근 직사각형 148"/>
          <p:cNvSpPr/>
          <p:nvPr/>
        </p:nvSpPr>
        <p:spPr>
          <a:xfrm>
            <a:off x="523276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제한경쟁</a:t>
            </a: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569022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복수경쟁</a:t>
            </a:r>
            <a:endParaRPr lang="ko-KR" altLang="en-US" sz="600" dirty="0"/>
          </a:p>
        </p:txBody>
      </p:sp>
      <p:sp>
        <p:nvSpPr>
          <p:cNvPr id="151" name="모서리가 둥근 직사각형 150"/>
          <p:cNvSpPr/>
          <p:nvPr/>
        </p:nvSpPr>
        <p:spPr>
          <a:xfrm>
            <a:off x="6147576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sp>
        <p:nvSpPr>
          <p:cNvPr id="152" name="모서리가 둥근 직사각형 151"/>
          <p:cNvSpPr/>
          <p:nvPr/>
        </p:nvSpPr>
        <p:spPr>
          <a:xfrm>
            <a:off x="4318635" y="5307915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서류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3" name="모서리가 둥근 직사각형 152"/>
          <p:cNvSpPr/>
          <p:nvPr/>
        </p:nvSpPr>
        <p:spPr>
          <a:xfrm>
            <a:off x="5199541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동시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4" name="모서리가 둥근 직사각형 153"/>
          <p:cNvSpPr/>
          <p:nvPr/>
        </p:nvSpPr>
        <p:spPr>
          <a:xfrm>
            <a:off x="5885028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분리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5" name="모서리가 둥근 직사각형 154"/>
          <p:cNvSpPr/>
          <p:nvPr/>
        </p:nvSpPr>
        <p:spPr>
          <a:xfrm>
            <a:off x="4318635" y="5475884"/>
            <a:ext cx="501313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종합낙찰제</a:t>
            </a:r>
            <a:endParaRPr lang="ko-KR" altLang="en-US" sz="600" dirty="0"/>
          </a:p>
        </p:txBody>
      </p:sp>
      <p:sp>
        <p:nvSpPr>
          <p:cNvPr id="157" name="모서리가 둥근 직사각형 156"/>
          <p:cNvSpPr/>
          <p:nvPr/>
        </p:nvSpPr>
        <p:spPr>
          <a:xfrm>
            <a:off x="4876890" y="5475884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전자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8" name="모서리가 둥근 직사각형 157"/>
          <p:cNvSpPr/>
          <p:nvPr/>
        </p:nvSpPr>
        <p:spPr>
          <a:xfrm>
            <a:off x="5767485" y="5475884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역경매</a:t>
            </a:r>
            <a:endParaRPr lang="ko-KR" altLang="en-US" sz="600" dirty="0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4318635" y="5847205"/>
            <a:ext cx="57991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발주기관 전체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853044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발주기관</a:t>
            </a:r>
          </a:p>
        </p:txBody>
      </p:sp>
      <p:sp>
        <p:nvSpPr>
          <p:cNvPr id="163" name="모서리가 둥근 직사각형 162"/>
          <p:cNvSpPr/>
          <p:nvPr/>
        </p:nvSpPr>
        <p:spPr>
          <a:xfrm>
            <a:off x="4946591" y="5847205"/>
            <a:ext cx="47052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방위사업청</a:t>
            </a:r>
            <a:endParaRPr lang="ko-KR" altLang="en-US" sz="600" dirty="0"/>
          </a:p>
        </p:txBody>
      </p:sp>
      <p:sp>
        <p:nvSpPr>
          <p:cNvPr id="164" name="모서리가 둥근 직사각형 163"/>
          <p:cNvSpPr/>
          <p:nvPr/>
        </p:nvSpPr>
        <p:spPr>
          <a:xfrm>
            <a:off x="5462635" y="584720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조달본부</a:t>
            </a:r>
          </a:p>
        </p:txBody>
      </p:sp>
      <p:sp>
        <p:nvSpPr>
          <p:cNvPr id="165" name="모서리가 둥근 직사각형 164"/>
          <p:cNvSpPr/>
          <p:nvPr/>
        </p:nvSpPr>
        <p:spPr>
          <a:xfrm>
            <a:off x="590936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경리단</a:t>
            </a:r>
            <a:endParaRPr lang="ko-KR" altLang="en-US" sz="600" dirty="0"/>
          </a:p>
        </p:txBody>
      </p:sp>
      <p:sp>
        <p:nvSpPr>
          <p:cNvPr id="166" name="모서리가 둥근 직사각형 165"/>
          <p:cNvSpPr/>
          <p:nvPr/>
        </p:nvSpPr>
        <p:spPr>
          <a:xfrm>
            <a:off x="6282921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군수사</a:t>
            </a:r>
            <a:endParaRPr lang="ko-KR" altLang="en-US" sz="600" dirty="0"/>
          </a:p>
        </p:txBody>
      </p:sp>
      <p:sp>
        <p:nvSpPr>
          <p:cNvPr id="167" name="모서리가 둥근 직사각형 166"/>
          <p:cNvSpPr/>
          <p:nvPr/>
        </p:nvSpPr>
        <p:spPr>
          <a:xfrm>
            <a:off x="665814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교육사</a:t>
            </a:r>
          </a:p>
        </p:txBody>
      </p:sp>
      <p:sp>
        <p:nvSpPr>
          <p:cNvPr id="168" name="모서리가 둥근 직사각형 167"/>
          <p:cNvSpPr/>
          <p:nvPr/>
        </p:nvSpPr>
        <p:spPr>
          <a:xfrm>
            <a:off x="4321449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학교</a:t>
            </a:r>
          </a:p>
        </p:txBody>
      </p:sp>
      <p:sp>
        <p:nvSpPr>
          <p:cNvPr id="169" name="모서리가 둥근 직사각형 168"/>
          <p:cNvSpPr/>
          <p:nvPr/>
        </p:nvSpPr>
        <p:spPr>
          <a:xfrm>
            <a:off x="4639917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근지단</a:t>
            </a:r>
            <a:endParaRPr lang="ko-KR" altLang="en-US" sz="600" dirty="0"/>
          </a:p>
        </p:txBody>
      </p:sp>
      <p:sp>
        <p:nvSpPr>
          <p:cNvPr id="170" name="모서리가 둥근 직사각형 169"/>
          <p:cNvSpPr/>
          <p:nvPr/>
        </p:nvSpPr>
        <p:spPr>
          <a:xfrm>
            <a:off x="5025544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군병원</a:t>
            </a:r>
            <a:endParaRPr lang="ko-KR" altLang="en-US" sz="600" dirty="0"/>
          </a:p>
        </p:txBody>
      </p:sp>
      <p:sp>
        <p:nvSpPr>
          <p:cNvPr id="172" name="모서리가 둥근 직사각형 171"/>
          <p:cNvSpPr/>
          <p:nvPr/>
        </p:nvSpPr>
        <p:spPr>
          <a:xfrm>
            <a:off x="5413995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본부</a:t>
            </a:r>
          </a:p>
        </p:txBody>
      </p:sp>
      <p:sp>
        <p:nvSpPr>
          <p:cNvPr id="173" name="모서리가 둥근 직사각형 172"/>
          <p:cNvSpPr/>
          <p:nvPr/>
        </p:nvSpPr>
        <p:spPr>
          <a:xfrm>
            <a:off x="5727123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국방부</a:t>
            </a:r>
            <a:r>
              <a:rPr lang="en-US" altLang="ko-KR" sz="600" dirty="0"/>
              <a:t>-9</a:t>
            </a:r>
            <a:endParaRPr lang="ko-KR" altLang="en-US" sz="600" dirty="0"/>
          </a:p>
        </p:txBody>
      </p:sp>
      <p:sp>
        <p:nvSpPr>
          <p:cNvPr id="174" name="모서리가 둥근 직사각형 173"/>
          <p:cNvSpPr/>
          <p:nvPr/>
        </p:nvSpPr>
        <p:spPr>
          <a:xfrm>
            <a:off x="6198542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국방부</a:t>
            </a:r>
            <a:r>
              <a:rPr lang="en-US" altLang="ko-KR" sz="600" dirty="0"/>
              <a:t>-A</a:t>
            </a:r>
            <a:endParaRPr lang="ko-KR" altLang="en-US" sz="600" dirty="0"/>
          </a:p>
        </p:txBody>
      </p:sp>
      <p:sp>
        <p:nvSpPr>
          <p:cNvPr id="175" name="모서리가 둥근 직사각형 174"/>
          <p:cNvSpPr/>
          <p:nvPr/>
        </p:nvSpPr>
        <p:spPr>
          <a:xfrm>
            <a:off x="6669961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기타</a:t>
            </a:r>
          </a:p>
        </p:txBody>
      </p:sp>
      <p:sp>
        <p:nvSpPr>
          <p:cNvPr id="148" name="모서리가 둥근 직사각형 147"/>
          <p:cNvSpPr/>
          <p:nvPr/>
        </p:nvSpPr>
        <p:spPr>
          <a:xfrm>
            <a:off x="4321056" y="2203671"/>
            <a:ext cx="39399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조달계획</a:t>
            </a:r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4762118" y="220367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사전규격</a:t>
            </a:r>
            <a:endParaRPr lang="ko-KR" altLang="en-US" sz="600" dirty="0"/>
          </a:p>
        </p:txBody>
      </p:sp>
      <p:sp>
        <p:nvSpPr>
          <p:cNvPr id="159" name="모서리가 둥근 직사각형 158"/>
          <p:cNvSpPr/>
          <p:nvPr/>
        </p:nvSpPr>
        <p:spPr>
          <a:xfrm>
            <a:off x="5221341" y="2203671"/>
            <a:ext cx="56515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연간조달계획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209510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검색유형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0" name="모서리가 둥근 직사각형 179"/>
          <p:cNvSpPr/>
          <p:nvPr/>
        </p:nvSpPr>
        <p:spPr>
          <a:xfrm>
            <a:off x="4318635" y="2877159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총액제</a:t>
            </a:r>
            <a:endParaRPr lang="ko-KR" altLang="en-US" sz="600" dirty="0"/>
          </a:p>
        </p:txBody>
      </p:sp>
      <p:sp>
        <p:nvSpPr>
          <p:cNvPr id="181" name="모서리가 둥근 직사각형 180"/>
          <p:cNvSpPr/>
          <p:nvPr/>
        </p:nvSpPr>
        <p:spPr>
          <a:xfrm>
            <a:off x="4695883" y="2878607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단가제</a:t>
            </a:r>
            <a:endParaRPr lang="ko-KR" altLang="en-US" sz="6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입찰구분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219185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3215131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3215131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110" name="그룹 109"/>
          <p:cNvGrpSpPr/>
          <p:nvPr/>
        </p:nvGrpSpPr>
        <p:grpSpPr>
          <a:xfrm>
            <a:off x="3143548" y="3327498"/>
            <a:ext cx="94010" cy="47005"/>
            <a:chOff x="6812560" y="3297172"/>
            <a:chExt cx="94010" cy="47005"/>
          </a:xfrm>
        </p:grpSpPr>
        <p:cxnSp>
          <p:nvCxnSpPr>
            <p:cNvPr id="111" name="직선 연결선 11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직선 연결선 11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3" name="그룹 112"/>
          <p:cNvGrpSpPr/>
          <p:nvPr/>
        </p:nvGrpSpPr>
        <p:grpSpPr>
          <a:xfrm>
            <a:off x="767702" y="2614742"/>
            <a:ext cx="2527420" cy="477995"/>
            <a:chOff x="786326" y="2270279"/>
            <a:chExt cx="2527420" cy="477995"/>
          </a:xfrm>
        </p:grpSpPr>
        <p:sp>
          <p:nvSpPr>
            <p:cNvPr id="114" name="모서리가 둥근 직사각형 113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타원 114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17" name="그룹 116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2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조달명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33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판단번호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18" name="타원 117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9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20" name="타원 119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3" name="그룹 122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4" name="직선 연결선 123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17996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41" name="그룹 140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142" name="직선 연결선 1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직선 연결선 1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4" name="타원 14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71" name="타원 1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23847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76" name="타원 1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01181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6</a:t>
            </a:r>
            <a:endParaRPr lang="ko-KR" altLang="en-US" sz="900" b="1" dirty="0"/>
          </a:p>
        </p:txBody>
      </p:sp>
      <p:sp>
        <p:nvSpPr>
          <p:cNvPr id="178" name="타원 17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93208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7</a:t>
            </a:r>
            <a:endParaRPr lang="ko-KR" altLang="en-US" sz="900" b="1" dirty="0"/>
          </a:p>
        </p:txBody>
      </p:sp>
      <p:sp>
        <p:nvSpPr>
          <p:cNvPr id="179" name="타원 17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304035" y="17591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8</a:t>
            </a:r>
            <a:endParaRPr lang="ko-KR" altLang="en-US" sz="900" b="1" dirty="0"/>
          </a:p>
        </p:txBody>
      </p:sp>
      <p:sp>
        <p:nvSpPr>
          <p:cNvPr id="182" name="타원 18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76689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84" name="타원 18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21791" y="259476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grpSp>
        <p:nvGrpSpPr>
          <p:cNvPr id="122" name="그룹 121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34" name="직사각형 133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2026-06-18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35" name="직사각형 134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유형 추가</a:t>
              </a:r>
              <a:endParaRPr lang="ko-KR" altLang="en-US" sz="700" dirty="0"/>
            </a:p>
          </p:txBody>
        </p:sp>
      </p:grp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675399" y="2210158"/>
            <a:ext cx="2712027" cy="345002"/>
            <a:chOff x="675399" y="2210158"/>
            <a:chExt cx="2712027" cy="345002"/>
          </a:xfrm>
        </p:grpSpPr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2210158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8" name="직선 연결선 13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2555160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2321104"/>
              <a:ext cx="66385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800" b="1" dirty="0" smtClean="0">
                  <a:latin typeface="+mn-ea"/>
                </a:rPr>
                <a:t>유형</a:t>
              </a:r>
              <a:endParaRPr lang="ko-KR" altLang="en-US" sz="800" b="1" dirty="0">
                <a:latin typeface="+mn-ea"/>
              </a:endParaRPr>
            </a:p>
          </p:txBody>
        </p:sp>
        <p:sp>
          <p:nvSpPr>
            <p:cNvPr id="140" name="모서리가 둥근 직사각형 139"/>
            <p:cNvSpPr/>
            <p:nvPr/>
          </p:nvSpPr>
          <p:spPr>
            <a:xfrm>
              <a:off x="1104835" y="2288962"/>
              <a:ext cx="685866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조달계획</a:t>
              </a:r>
            </a:p>
          </p:txBody>
        </p:sp>
        <p:sp>
          <p:nvSpPr>
            <p:cNvPr id="160" name="모서리가 둥근 직사각형 159"/>
            <p:cNvSpPr/>
            <p:nvPr/>
          </p:nvSpPr>
          <p:spPr>
            <a:xfrm>
              <a:off x="1857752" y="2288962"/>
              <a:ext cx="685866" cy="187200"/>
            </a:xfrm>
            <a:prstGeom prst="roundRect">
              <a:avLst>
                <a:gd name="adj" fmla="val 17463"/>
              </a:avLst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smtClean="0">
                  <a:solidFill>
                    <a:schemeClr val="bg1"/>
                  </a:solidFill>
                </a:rPr>
                <a:t>사전규격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185" name="모서리가 둥근 직사각형 184"/>
            <p:cNvSpPr/>
            <p:nvPr/>
          </p:nvSpPr>
          <p:spPr>
            <a:xfrm>
              <a:off x="2604380" y="2288962"/>
              <a:ext cx="685866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 smtClean="0">
                  <a:solidFill>
                    <a:schemeClr val="tx1"/>
                  </a:solidFill>
                </a:rPr>
                <a:t>연간조달계획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</p:grpSp>
      <p:sp>
        <p:nvSpPr>
          <p:cNvPr id="186" name="타원 18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26945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93396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>
            <a:normAutofit fontScale="92500"/>
          </a:bodyPr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상단 </a:t>
            </a:r>
            <a:r>
              <a:rPr lang="en-US" altLang="ko-KR" dirty="0"/>
              <a:t>[</a:t>
            </a:r>
            <a:r>
              <a:rPr lang="ko-KR" altLang="en-US" dirty="0"/>
              <a:t>공지사항</a:t>
            </a:r>
            <a:r>
              <a:rPr lang="en-US" altLang="ko-KR" dirty="0"/>
              <a:t>] </a:t>
            </a:r>
            <a:r>
              <a:rPr lang="ko-KR" altLang="en-US" dirty="0"/>
              <a:t>및 </a:t>
            </a:r>
            <a:r>
              <a:rPr lang="en-US" altLang="ko-KR" dirty="0"/>
              <a:t>[</a:t>
            </a:r>
            <a:r>
              <a:rPr lang="ko-KR" altLang="en-US" dirty="0" err="1"/>
              <a:t>업무도움</a:t>
            </a:r>
            <a:r>
              <a:rPr lang="en-US" altLang="ko-KR" dirty="0"/>
              <a:t>]</a:t>
            </a:r>
            <a:r>
              <a:rPr lang="ko-KR" altLang="en-US" dirty="0"/>
              <a:t>은 기본 값으로 접힘 상태로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접힘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사용자 </a:t>
            </a:r>
            <a:r>
              <a:rPr lang="ko-KR" altLang="en-US" dirty="0" err="1"/>
              <a:t>클릭시</a:t>
            </a:r>
            <a:r>
              <a:rPr lang="ko-KR" altLang="en-US" dirty="0"/>
              <a:t> 확장하여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공지사항</a:t>
            </a:r>
            <a:r>
              <a:rPr lang="en-US" altLang="ko-KR" dirty="0"/>
              <a:t>, </a:t>
            </a:r>
            <a:r>
              <a:rPr lang="ko-KR" altLang="en-US" dirty="0" err="1"/>
              <a:t>업무도움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두가지가 노출될 수 있음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내역이 있는 경우 표시</a:t>
            </a:r>
            <a:r>
              <a:rPr lang="en-US" altLang="ko-KR" dirty="0"/>
              <a:t>, </a:t>
            </a:r>
            <a:r>
              <a:rPr lang="ko-KR" altLang="en-US" dirty="0"/>
              <a:t>내역이 없으면 항목을 표시하지 않음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>
                <a:solidFill>
                  <a:srgbClr val="FF0000"/>
                </a:solidFill>
              </a:rPr>
              <a:t>입찰공고는 </a:t>
            </a:r>
            <a:r>
              <a:rPr lang="en-US" altLang="ko-KR" dirty="0">
                <a:solidFill>
                  <a:srgbClr val="FF0000"/>
                </a:solidFill>
              </a:rPr>
              <a:t>[</a:t>
            </a:r>
            <a:r>
              <a:rPr lang="ko-KR" altLang="en-US" dirty="0">
                <a:solidFill>
                  <a:srgbClr val="FF0000"/>
                </a:solidFill>
              </a:rPr>
              <a:t>공지사항</a:t>
            </a:r>
            <a:r>
              <a:rPr lang="en-US" altLang="ko-KR" dirty="0">
                <a:solidFill>
                  <a:srgbClr val="FF0000"/>
                </a:solidFill>
              </a:rPr>
              <a:t>], [</a:t>
            </a:r>
            <a:r>
              <a:rPr lang="ko-KR" altLang="en-US" dirty="0" err="1">
                <a:solidFill>
                  <a:srgbClr val="FF0000"/>
                </a:solidFill>
              </a:rPr>
              <a:t>업무도움</a:t>
            </a:r>
            <a:r>
              <a:rPr lang="en-US" altLang="ko-KR" dirty="0">
                <a:solidFill>
                  <a:srgbClr val="FF0000"/>
                </a:solidFill>
              </a:rPr>
              <a:t>]</a:t>
            </a:r>
            <a:r>
              <a:rPr lang="ko-KR" altLang="en-US" dirty="0">
                <a:solidFill>
                  <a:srgbClr val="FF0000"/>
                </a:solidFill>
              </a:rPr>
              <a:t>이 존재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다른 목록 화면에서는 </a:t>
            </a:r>
            <a:r>
              <a:rPr lang="en-US" altLang="ko-KR" dirty="0">
                <a:solidFill>
                  <a:srgbClr val="FF0000"/>
                </a:solidFill>
              </a:rPr>
              <a:t>[</a:t>
            </a:r>
            <a:r>
              <a:rPr lang="ko-KR" altLang="en-US" dirty="0" err="1">
                <a:solidFill>
                  <a:srgbClr val="FF0000"/>
                </a:solidFill>
              </a:rPr>
              <a:t>업무도움</a:t>
            </a:r>
            <a:r>
              <a:rPr lang="en-US" altLang="ko-KR" dirty="0">
                <a:solidFill>
                  <a:srgbClr val="FF0000"/>
                </a:solidFill>
              </a:rPr>
              <a:t>] 1</a:t>
            </a:r>
            <a:r>
              <a:rPr lang="ko-KR" altLang="en-US" dirty="0">
                <a:solidFill>
                  <a:srgbClr val="FF0000"/>
                </a:solidFill>
              </a:rPr>
              <a:t>종만 존재함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유형 선택에 따라 콘텐츠 변경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유형은 단일 선택</a:t>
            </a:r>
            <a:r>
              <a:rPr lang="en-US" altLang="ko-KR" dirty="0"/>
              <a:t>, </a:t>
            </a:r>
            <a:r>
              <a:rPr lang="ko-KR" altLang="en-US" dirty="0"/>
              <a:t>이전 정보 저장하지 </a:t>
            </a:r>
            <a:r>
              <a:rPr lang="ko-KR" altLang="en-US" dirty="0" smtClean="0"/>
              <a:t>않음</a:t>
            </a:r>
            <a:endParaRPr lang="en-US" altLang="ko-KR" dirty="0" smtClean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상단 </a:t>
            </a:r>
            <a:r>
              <a:rPr lang="ko-KR" altLang="en-US" dirty="0"/>
              <a:t>검색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연간조달계획으로 필터가 설정되는 경우 검색 버튼 값 변경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재고번호</a:t>
            </a:r>
            <a:r>
              <a:rPr lang="en-US" altLang="ko-KR" dirty="0"/>
              <a:t>, </a:t>
            </a:r>
            <a:r>
              <a:rPr lang="ko-KR" altLang="en-US" dirty="0"/>
              <a:t>조달요구번호 검색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 err="1"/>
              <a:t>재고번호</a:t>
            </a:r>
            <a:r>
              <a:rPr lang="ko-KR" altLang="en-US" dirty="0"/>
              <a:t> 선택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내용이 있는 경우 초기화 버튼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초기화 버튼 클릭 시 즉시 목록 초기화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검색 버튼은 표준에 따름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필터 버튼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 시 </a:t>
            </a:r>
            <a:r>
              <a:rPr lang="en-US" altLang="ko-KR" dirty="0"/>
              <a:t>:</a:t>
            </a:r>
            <a:r>
              <a:rPr lang="ko-KR" altLang="en-US" dirty="0"/>
              <a:t> 검색 필터 </a:t>
            </a:r>
            <a:r>
              <a:rPr lang="ko-KR" altLang="en-US" dirty="0" err="1"/>
              <a:t>풀페이지</a:t>
            </a:r>
            <a:r>
              <a:rPr lang="ko-KR" altLang="en-US" dirty="0"/>
              <a:t> 팝업 호출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검색 필터 설정이 있는 경우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건수</a:t>
            </a:r>
            <a:r>
              <a:rPr lang="en-US" altLang="ko-KR" dirty="0"/>
              <a:t>, </a:t>
            </a:r>
            <a:r>
              <a:rPr lang="ko-KR" altLang="en-US" dirty="0"/>
              <a:t>개수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레이블</a:t>
            </a:r>
            <a:r>
              <a:rPr lang="en-US" altLang="ko-KR" dirty="0"/>
              <a:t>(5</a:t>
            </a:r>
            <a:r>
              <a:rPr lang="ko-KR" altLang="en-US" dirty="0" err="1"/>
              <a:t>번항</a:t>
            </a:r>
            <a:r>
              <a:rPr lang="en-US" altLang="ko-KR" dirty="0"/>
              <a:t>)</a:t>
            </a:r>
            <a:r>
              <a:rPr lang="ko-KR" altLang="en-US" dirty="0"/>
              <a:t>을 통한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 </a:t>
            </a:r>
            <a:r>
              <a:rPr lang="en-US" altLang="ko-KR" dirty="0"/>
              <a:t>2</a:t>
            </a:r>
            <a:r>
              <a:rPr lang="ko-KR" altLang="en-US" dirty="0"/>
              <a:t>줄 표시 이후 </a:t>
            </a:r>
            <a:r>
              <a:rPr lang="ko-KR" altLang="en-US" dirty="0" err="1"/>
              <a:t>말줄임표</a:t>
            </a:r>
            <a:r>
              <a:rPr lang="en-US" altLang="ko-KR" dirty="0"/>
              <a:t>(…)</a:t>
            </a:r>
            <a:br>
              <a:rPr lang="en-US" altLang="ko-KR" dirty="0"/>
            </a:br>
            <a:r>
              <a:rPr lang="en-US" altLang="ko-KR" dirty="0"/>
              <a:t>- [</a:t>
            </a:r>
            <a:r>
              <a:rPr lang="ko-KR" altLang="en-US" dirty="0"/>
              <a:t>공통</a:t>
            </a:r>
            <a:r>
              <a:rPr lang="en-US" altLang="ko-KR" dirty="0"/>
              <a:t>] </a:t>
            </a:r>
            <a:r>
              <a:rPr lang="ko-KR" altLang="en-US" dirty="0"/>
              <a:t>카드 클릭으로 상세 이동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10</a:t>
            </a:r>
            <a:r>
              <a:rPr lang="ko-KR" altLang="en-US" dirty="0"/>
              <a:t>개 노출 이후 </a:t>
            </a:r>
            <a:r>
              <a:rPr lang="ko-KR" altLang="en-US" dirty="0" err="1"/>
              <a:t>더보기</a:t>
            </a:r>
            <a:r>
              <a:rPr lang="ko-KR" altLang="en-US" dirty="0"/>
              <a:t> 버튼 클릭으로 </a:t>
            </a:r>
            <a:r>
              <a:rPr lang="en-US" altLang="ko-KR" dirty="0"/>
              <a:t>10</a:t>
            </a:r>
            <a:r>
              <a:rPr lang="ko-KR" altLang="en-US" dirty="0"/>
              <a:t>개씩 추가 로드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표시 레이블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- 3</a:t>
            </a:r>
            <a:r>
              <a:rPr lang="ko-KR" altLang="en-US" dirty="0" err="1"/>
              <a:t>번항</a:t>
            </a:r>
            <a:r>
              <a:rPr lang="ko-KR" altLang="en-US" dirty="0"/>
              <a:t> 상단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조달계획 </a:t>
            </a:r>
            <a:r>
              <a:rPr lang="ko-KR" altLang="en-US" dirty="0" err="1"/>
              <a:t>통합목록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</a:t>
            </a:r>
            <a:r>
              <a:rPr lang="ko-KR" altLang="en-US" dirty="0" err="1"/>
              <a:t>통합목록</a:t>
            </a:r>
            <a:r>
              <a:rPr lang="ko-KR" altLang="en-US" dirty="0"/>
              <a:t> 화면 </a:t>
            </a:r>
            <a:r>
              <a:rPr lang="en-US" altLang="ko-KR" dirty="0"/>
              <a:t>– </a:t>
            </a:r>
            <a:r>
              <a:rPr lang="ko-KR" altLang="en-US" dirty="0"/>
              <a:t>연간조달계획 </a:t>
            </a:r>
            <a:r>
              <a:rPr lang="en-US" altLang="ko-KR" dirty="0"/>
              <a:t>– [</a:t>
            </a:r>
            <a:r>
              <a:rPr lang="ko-KR" altLang="en-US" dirty="0"/>
              <a:t>국외</a:t>
            </a:r>
            <a:r>
              <a:rPr lang="en-US" altLang="ko-KR" dirty="0"/>
              <a:t>] </a:t>
            </a:r>
            <a:r>
              <a:rPr lang="ko-KR" altLang="en-US" dirty="0"/>
              <a:t>조달계획 섹션 참조 </a:t>
            </a:r>
            <a:r>
              <a:rPr lang="en-US" altLang="ko-KR" dirty="0"/>
              <a:t>69p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조달계획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조달계획 </a:t>
            </a:r>
            <a:r>
              <a:rPr lang="ko-KR" altLang="en-US" sz="800" dirty="0" err="1">
                <a:latin typeface="+mn-ea"/>
              </a:rPr>
              <a:t>통합목록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/>
          <p:cNvGrpSpPr/>
          <p:nvPr/>
        </p:nvGrpSpPr>
        <p:grpSpPr>
          <a:xfrm>
            <a:off x="781461" y="3656734"/>
            <a:ext cx="2473257" cy="1098561"/>
            <a:chOff x="781461" y="2610063"/>
            <a:chExt cx="2473257" cy="1098561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조달요구번호 </a:t>
              </a:r>
              <a:r>
                <a:rPr lang="en-US" altLang="ko-KR" sz="700" dirty="0"/>
                <a:t>ABCD1234</a:t>
              </a:r>
            </a:p>
            <a:p>
              <a:r>
                <a:rPr lang="ko-KR" altLang="en-US" sz="900" b="1" dirty="0" err="1"/>
                <a:t>재고번호</a:t>
              </a:r>
              <a:r>
                <a:rPr lang="ko-KR" altLang="en-US" sz="900" b="1" dirty="0"/>
                <a:t> </a:t>
              </a:r>
              <a:r>
                <a:rPr lang="en-US" altLang="ko-KR" sz="900" b="1" dirty="0"/>
                <a:t>A1234567890</a:t>
              </a:r>
              <a:endParaRPr lang="ko-KR" altLang="en-US" sz="900" b="1" dirty="0"/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부품번호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품질등급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생산자부호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접수기간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328404" y="3139237"/>
              <a:ext cx="904094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AA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-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A123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  <a:r>
                <a:rPr lang="ko-KR" altLang="en-US" sz="600" dirty="0">
                  <a:latin typeface="+mn-ea"/>
                </a:rPr>
                <a:t> </a:t>
              </a:r>
              <a:r>
                <a:rPr lang="en-US" altLang="ko-KR" sz="600" dirty="0">
                  <a:latin typeface="+mn-ea"/>
                </a:rPr>
                <a:t>~ 2026-02-12</a:t>
              </a: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국외</a:t>
              </a: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6" y="2610063"/>
              <a:ext cx="264196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육군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513430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778515" y="4956063"/>
            <a:ext cx="2476203" cy="1083172"/>
            <a:chOff x="778515" y="2610063"/>
            <a:chExt cx="2476203" cy="1083172"/>
          </a:xfrm>
        </p:grpSpPr>
        <p:sp>
          <p:nvSpPr>
            <p:cNvPr id="7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600" dirty="0"/>
                <a:t>조달요구번호 </a:t>
              </a:r>
              <a:r>
                <a:rPr lang="en-US" altLang="ko-KR" sz="600" dirty="0"/>
                <a:t>EFGH1234</a:t>
              </a:r>
            </a:p>
            <a:p>
              <a:r>
                <a:rPr lang="ko-KR" altLang="en-US" sz="800" b="1" dirty="0" err="1"/>
                <a:t>재고번호</a:t>
              </a:r>
              <a:r>
                <a:rPr lang="ko-KR" altLang="en-US" sz="800" b="1" dirty="0"/>
                <a:t> </a:t>
              </a:r>
              <a:r>
                <a:rPr lang="en-US" altLang="ko-KR" sz="800" b="1" dirty="0"/>
                <a:t>F987654123</a:t>
              </a:r>
              <a:endParaRPr lang="ko-KR" altLang="en-US" sz="800" b="1" dirty="0"/>
            </a:p>
          </p:txBody>
        </p:sp>
        <p:sp>
          <p:nvSpPr>
            <p:cNvPr id="75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부품번호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품질등급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생산자부호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접수기간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328404" y="3139237"/>
              <a:ext cx="904094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BB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-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B123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2026-01-03</a:t>
              </a:r>
              <a:r>
                <a:rPr lang="ko-KR" altLang="en-US" sz="600" dirty="0">
                  <a:latin typeface="+mn-ea"/>
                </a:rPr>
                <a:t> </a:t>
              </a:r>
              <a:r>
                <a:rPr lang="en-US" altLang="ko-KR" sz="600" dirty="0">
                  <a:latin typeface="+mn-ea"/>
                </a:rPr>
                <a:t>~ 2026-01-14</a:t>
              </a:r>
            </a:p>
          </p:txBody>
        </p:sp>
        <p:sp>
          <p:nvSpPr>
            <p:cNvPr id="77" name="모서리가 둥근 직사각형 76"/>
            <p:cNvSpPr/>
            <p:nvPr/>
          </p:nvSpPr>
          <p:spPr>
            <a:xfrm>
              <a:off x="778515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국외</a:t>
              </a:r>
            </a:p>
          </p:txBody>
        </p:sp>
        <p:sp>
          <p:nvSpPr>
            <p:cNvPr id="78" name="모서리가 둥근 직사각형 77"/>
            <p:cNvSpPr/>
            <p:nvPr/>
          </p:nvSpPr>
          <p:spPr>
            <a:xfrm>
              <a:off x="1075656" y="2610063"/>
              <a:ext cx="264196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/>
                <a:t>공군</a:t>
              </a:r>
              <a:endParaRPr lang="ko-KR" altLang="en-US" sz="600" dirty="0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83754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55574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모서리가 둥근 직사각형 79"/>
          <p:cNvSpPr/>
          <p:nvPr/>
        </p:nvSpPr>
        <p:spPr>
          <a:xfrm>
            <a:off x="4614060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914986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용역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521597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86" name="모서리가 둥근 직사각형 85"/>
          <p:cNvSpPr/>
          <p:nvPr/>
        </p:nvSpPr>
        <p:spPr>
          <a:xfrm>
            <a:off x="5519047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국외</a:t>
            </a:r>
          </a:p>
        </p:txBody>
      </p:sp>
      <p:sp>
        <p:nvSpPr>
          <p:cNvPr id="87" name="모서리가 둥근 직사각형 86"/>
          <p:cNvSpPr/>
          <p:nvPr/>
        </p:nvSpPr>
        <p:spPr>
          <a:xfrm>
            <a:off x="431863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전체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45" name="모서리가 둥근 직사각형 144"/>
          <p:cNvSpPr/>
          <p:nvPr/>
        </p:nvSpPr>
        <p:spPr>
          <a:xfrm>
            <a:off x="431863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일반경쟁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141375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계약방법</a:t>
            </a: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477609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지명경쟁</a:t>
            </a:r>
          </a:p>
        </p:txBody>
      </p:sp>
      <p:sp>
        <p:nvSpPr>
          <p:cNvPr id="149" name="모서리가 둥근 직사각형 148"/>
          <p:cNvSpPr/>
          <p:nvPr/>
        </p:nvSpPr>
        <p:spPr>
          <a:xfrm>
            <a:off x="523276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제한경쟁</a:t>
            </a: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569022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복수경쟁</a:t>
            </a:r>
            <a:endParaRPr lang="ko-KR" altLang="en-US" sz="600" dirty="0"/>
          </a:p>
        </p:txBody>
      </p:sp>
      <p:sp>
        <p:nvSpPr>
          <p:cNvPr id="151" name="모서리가 둥근 직사각형 150"/>
          <p:cNvSpPr/>
          <p:nvPr/>
        </p:nvSpPr>
        <p:spPr>
          <a:xfrm>
            <a:off x="6147576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sp>
        <p:nvSpPr>
          <p:cNvPr id="152" name="모서리가 둥근 직사각형 151"/>
          <p:cNvSpPr/>
          <p:nvPr/>
        </p:nvSpPr>
        <p:spPr>
          <a:xfrm>
            <a:off x="4318635" y="5307915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서류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3" name="모서리가 둥근 직사각형 152"/>
          <p:cNvSpPr/>
          <p:nvPr/>
        </p:nvSpPr>
        <p:spPr>
          <a:xfrm>
            <a:off x="5199541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동시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4" name="모서리가 둥근 직사각형 153"/>
          <p:cNvSpPr/>
          <p:nvPr/>
        </p:nvSpPr>
        <p:spPr>
          <a:xfrm>
            <a:off x="5885028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분리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5" name="모서리가 둥근 직사각형 154"/>
          <p:cNvSpPr/>
          <p:nvPr/>
        </p:nvSpPr>
        <p:spPr>
          <a:xfrm>
            <a:off x="4318635" y="5475884"/>
            <a:ext cx="501313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종합낙찰제</a:t>
            </a:r>
            <a:endParaRPr lang="ko-KR" altLang="en-US" sz="600" dirty="0"/>
          </a:p>
        </p:txBody>
      </p:sp>
      <p:sp>
        <p:nvSpPr>
          <p:cNvPr id="157" name="모서리가 둥근 직사각형 156"/>
          <p:cNvSpPr/>
          <p:nvPr/>
        </p:nvSpPr>
        <p:spPr>
          <a:xfrm>
            <a:off x="4876890" y="5475884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전자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8" name="모서리가 둥근 직사각형 157"/>
          <p:cNvSpPr/>
          <p:nvPr/>
        </p:nvSpPr>
        <p:spPr>
          <a:xfrm>
            <a:off x="5767485" y="5475884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역경매</a:t>
            </a:r>
            <a:endParaRPr lang="ko-KR" altLang="en-US" sz="600" dirty="0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4318635" y="5847205"/>
            <a:ext cx="57991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발주기관 전체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853044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발주기관</a:t>
            </a:r>
          </a:p>
        </p:txBody>
      </p:sp>
      <p:sp>
        <p:nvSpPr>
          <p:cNvPr id="163" name="모서리가 둥근 직사각형 162"/>
          <p:cNvSpPr/>
          <p:nvPr/>
        </p:nvSpPr>
        <p:spPr>
          <a:xfrm>
            <a:off x="4946591" y="5847205"/>
            <a:ext cx="47052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방위사업청</a:t>
            </a:r>
            <a:endParaRPr lang="ko-KR" altLang="en-US" sz="600" dirty="0"/>
          </a:p>
        </p:txBody>
      </p:sp>
      <p:sp>
        <p:nvSpPr>
          <p:cNvPr id="164" name="모서리가 둥근 직사각형 163"/>
          <p:cNvSpPr/>
          <p:nvPr/>
        </p:nvSpPr>
        <p:spPr>
          <a:xfrm>
            <a:off x="5462635" y="584720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조달본부</a:t>
            </a:r>
          </a:p>
        </p:txBody>
      </p:sp>
      <p:sp>
        <p:nvSpPr>
          <p:cNvPr id="165" name="모서리가 둥근 직사각형 164"/>
          <p:cNvSpPr/>
          <p:nvPr/>
        </p:nvSpPr>
        <p:spPr>
          <a:xfrm>
            <a:off x="590936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경리단</a:t>
            </a:r>
            <a:endParaRPr lang="ko-KR" altLang="en-US" sz="600" dirty="0"/>
          </a:p>
        </p:txBody>
      </p:sp>
      <p:sp>
        <p:nvSpPr>
          <p:cNvPr id="166" name="모서리가 둥근 직사각형 165"/>
          <p:cNvSpPr/>
          <p:nvPr/>
        </p:nvSpPr>
        <p:spPr>
          <a:xfrm>
            <a:off x="6282921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군수사</a:t>
            </a:r>
            <a:endParaRPr lang="ko-KR" altLang="en-US" sz="600" dirty="0"/>
          </a:p>
        </p:txBody>
      </p:sp>
      <p:sp>
        <p:nvSpPr>
          <p:cNvPr id="167" name="모서리가 둥근 직사각형 166"/>
          <p:cNvSpPr/>
          <p:nvPr/>
        </p:nvSpPr>
        <p:spPr>
          <a:xfrm>
            <a:off x="665814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교육사</a:t>
            </a:r>
          </a:p>
        </p:txBody>
      </p:sp>
      <p:sp>
        <p:nvSpPr>
          <p:cNvPr id="168" name="모서리가 둥근 직사각형 167"/>
          <p:cNvSpPr/>
          <p:nvPr/>
        </p:nvSpPr>
        <p:spPr>
          <a:xfrm>
            <a:off x="4321449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학교</a:t>
            </a:r>
          </a:p>
        </p:txBody>
      </p:sp>
      <p:sp>
        <p:nvSpPr>
          <p:cNvPr id="169" name="모서리가 둥근 직사각형 168"/>
          <p:cNvSpPr/>
          <p:nvPr/>
        </p:nvSpPr>
        <p:spPr>
          <a:xfrm>
            <a:off x="4639917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근지단</a:t>
            </a:r>
            <a:endParaRPr lang="ko-KR" altLang="en-US" sz="600" dirty="0"/>
          </a:p>
        </p:txBody>
      </p:sp>
      <p:sp>
        <p:nvSpPr>
          <p:cNvPr id="170" name="모서리가 둥근 직사각형 169"/>
          <p:cNvSpPr/>
          <p:nvPr/>
        </p:nvSpPr>
        <p:spPr>
          <a:xfrm>
            <a:off x="5025544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군병원</a:t>
            </a:r>
            <a:endParaRPr lang="ko-KR" altLang="en-US" sz="600" dirty="0"/>
          </a:p>
        </p:txBody>
      </p:sp>
      <p:sp>
        <p:nvSpPr>
          <p:cNvPr id="172" name="모서리가 둥근 직사각형 171"/>
          <p:cNvSpPr/>
          <p:nvPr/>
        </p:nvSpPr>
        <p:spPr>
          <a:xfrm>
            <a:off x="5413995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본부</a:t>
            </a:r>
          </a:p>
        </p:txBody>
      </p:sp>
      <p:sp>
        <p:nvSpPr>
          <p:cNvPr id="173" name="모서리가 둥근 직사각형 172"/>
          <p:cNvSpPr/>
          <p:nvPr/>
        </p:nvSpPr>
        <p:spPr>
          <a:xfrm>
            <a:off x="5727123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국방부</a:t>
            </a:r>
            <a:r>
              <a:rPr lang="en-US" altLang="ko-KR" sz="600" dirty="0"/>
              <a:t>-9</a:t>
            </a:r>
            <a:endParaRPr lang="ko-KR" altLang="en-US" sz="600" dirty="0"/>
          </a:p>
        </p:txBody>
      </p:sp>
      <p:sp>
        <p:nvSpPr>
          <p:cNvPr id="174" name="모서리가 둥근 직사각형 173"/>
          <p:cNvSpPr/>
          <p:nvPr/>
        </p:nvSpPr>
        <p:spPr>
          <a:xfrm>
            <a:off x="6198542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국방부</a:t>
            </a:r>
            <a:r>
              <a:rPr lang="en-US" altLang="ko-KR" sz="600" dirty="0"/>
              <a:t>-A</a:t>
            </a:r>
            <a:endParaRPr lang="ko-KR" altLang="en-US" sz="600" dirty="0"/>
          </a:p>
        </p:txBody>
      </p:sp>
      <p:sp>
        <p:nvSpPr>
          <p:cNvPr id="175" name="모서리가 둥근 직사각형 174"/>
          <p:cNvSpPr/>
          <p:nvPr/>
        </p:nvSpPr>
        <p:spPr>
          <a:xfrm>
            <a:off x="6669961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기타</a:t>
            </a:r>
          </a:p>
        </p:txBody>
      </p:sp>
      <p:sp>
        <p:nvSpPr>
          <p:cNvPr id="148" name="모서리가 둥근 직사각형 147"/>
          <p:cNvSpPr/>
          <p:nvPr/>
        </p:nvSpPr>
        <p:spPr>
          <a:xfrm>
            <a:off x="4321056" y="2203671"/>
            <a:ext cx="39399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조달계획</a:t>
            </a:r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4762118" y="220367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사전규격</a:t>
            </a:r>
            <a:endParaRPr lang="ko-KR" altLang="en-US" sz="600" dirty="0"/>
          </a:p>
        </p:txBody>
      </p:sp>
      <p:sp>
        <p:nvSpPr>
          <p:cNvPr id="159" name="모서리가 둥근 직사각형 158"/>
          <p:cNvSpPr/>
          <p:nvPr/>
        </p:nvSpPr>
        <p:spPr>
          <a:xfrm>
            <a:off x="5221341" y="2203671"/>
            <a:ext cx="56515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연간조달계획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209510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검색유형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0" name="모서리가 둥근 직사각형 179"/>
          <p:cNvSpPr/>
          <p:nvPr/>
        </p:nvSpPr>
        <p:spPr>
          <a:xfrm>
            <a:off x="4318635" y="2877159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총액제</a:t>
            </a:r>
            <a:endParaRPr lang="ko-KR" altLang="en-US" sz="600" dirty="0"/>
          </a:p>
        </p:txBody>
      </p:sp>
      <p:sp>
        <p:nvSpPr>
          <p:cNvPr id="181" name="모서리가 둥근 직사각형 180"/>
          <p:cNvSpPr/>
          <p:nvPr/>
        </p:nvSpPr>
        <p:spPr>
          <a:xfrm>
            <a:off x="4695883" y="2878607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단가제</a:t>
            </a:r>
            <a:endParaRPr lang="ko-KR" altLang="en-US" sz="6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입찰구분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5173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220307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3216253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3216253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110" name="그룹 109"/>
          <p:cNvGrpSpPr/>
          <p:nvPr/>
        </p:nvGrpSpPr>
        <p:grpSpPr>
          <a:xfrm>
            <a:off x="3143548" y="3328620"/>
            <a:ext cx="94010" cy="47005"/>
            <a:chOff x="6812560" y="3297172"/>
            <a:chExt cx="94010" cy="47005"/>
          </a:xfrm>
        </p:grpSpPr>
        <p:cxnSp>
          <p:nvCxnSpPr>
            <p:cNvPr id="111" name="직선 연결선 11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직선 연결선 11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3" name="그룹 112"/>
          <p:cNvGrpSpPr/>
          <p:nvPr/>
        </p:nvGrpSpPr>
        <p:grpSpPr>
          <a:xfrm>
            <a:off x="767702" y="2615864"/>
            <a:ext cx="2527420" cy="477995"/>
            <a:chOff x="786326" y="2270279"/>
            <a:chExt cx="2527420" cy="477995"/>
          </a:xfrm>
        </p:grpSpPr>
        <p:sp>
          <p:nvSpPr>
            <p:cNvPr id="114" name="모서리가 둥근 직사각형 113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타원 114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17" name="그룹 116"/>
            <p:cNvGrpSpPr/>
            <p:nvPr/>
          </p:nvGrpSpPr>
          <p:grpSpPr>
            <a:xfrm>
              <a:off x="795624" y="2274581"/>
              <a:ext cx="1318157" cy="155984"/>
              <a:chOff x="808107" y="2288229"/>
              <a:chExt cx="1207003" cy="168318"/>
            </a:xfrm>
          </p:grpSpPr>
          <p:sp>
            <p:nvSpPr>
              <p:cNvPr id="12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재고번호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33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80758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>
                    <a:latin typeface="맑은 고딕"/>
                    <a:ea typeface="맑은 고딕" panose="020B0503020000020004" pitchFamily="50" charset="-127"/>
                  </a:rPr>
                  <a:t>조달요구번호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18" name="타원 117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9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20" name="타원 119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3" name="그룹 122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24" name="직선 연결선 123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18108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38" name="그룹 137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139" name="직선 연결선 13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0" name="직선 연결선 13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1" name="타원 14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42" name="타원 14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23959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143" name="타원 14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01293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44" name="타원 14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948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sp>
        <p:nvSpPr>
          <p:cNvPr id="171" name="타원 1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304035" y="17591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7</a:t>
            </a:r>
            <a:endParaRPr lang="ko-KR" altLang="en-US" sz="900" b="1" dirty="0"/>
          </a:p>
        </p:txBody>
      </p:sp>
      <p:sp>
        <p:nvSpPr>
          <p:cNvPr id="176" name="타원 1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76802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78" name="타원 17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21791" y="259589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grpSp>
        <p:nvGrpSpPr>
          <p:cNvPr id="121" name="그룹 120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22" name="직사각형 121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2026-06-18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34" name="직사각형 133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유형 추가</a:t>
              </a:r>
              <a:endParaRPr lang="ko-KR" altLang="en-US" sz="700" dirty="0"/>
            </a:p>
          </p:txBody>
        </p:sp>
      </p:grpSp>
      <p:grpSp>
        <p:nvGrpSpPr>
          <p:cNvPr id="135" name="그룹 134"/>
          <p:cNvGrpSpPr/>
          <p:nvPr/>
        </p:nvGrpSpPr>
        <p:grpSpPr>
          <a:xfrm>
            <a:off x="675399" y="2210158"/>
            <a:ext cx="2712027" cy="345002"/>
            <a:chOff x="675399" y="2210158"/>
            <a:chExt cx="2712027" cy="345002"/>
          </a:xfrm>
        </p:grpSpPr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2210158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2555160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2321104"/>
              <a:ext cx="66385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800" b="1" dirty="0" smtClean="0">
                  <a:latin typeface="+mn-ea"/>
                </a:rPr>
                <a:t>유형</a:t>
              </a:r>
              <a:endParaRPr lang="ko-KR" altLang="en-US" sz="800" b="1" dirty="0">
                <a:latin typeface="+mn-ea"/>
              </a:endParaRPr>
            </a:p>
          </p:txBody>
        </p:sp>
        <p:sp>
          <p:nvSpPr>
            <p:cNvPr id="182" name="모서리가 둥근 직사각형 181"/>
            <p:cNvSpPr/>
            <p:nvPr/>
          </p:nvSpPr>
          <p:spPr>
            <a:xfrm>
              <a:off x="1104835" y="2288962"/>
              <a:ext cx="685866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조달계획</a:t>
              </a:r>
            </a:p>
          </p:txBody>
        </p:sp>
        <p:sp>
          <p:nvSpPr>
            <p:cNvPr id="184" name="모서리가 둥근 직사각형 183"/>
            <p:cNvSpPr/>
            <p:nvPr/>
          </p:nvSpPr>
          <p:spPr>
            <a:xfrm>
              <a:off x="1857752" y="2288962"/>
              <a:ext cx="685866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 err="1">
                  <a:solidFill>
                    <a:schemeClr val="tx1"/>
                  </a:solidFill>
                </a:rPr>
                <a:t>사전규격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85" name="모서리가 둥근 직사각형 184"/>
            <p:cNvSpPr/>
            <p:nvPr/>
          </p:nvSpPr>
          <p:spPr>
            <a:xfrm>
              <a:off x="2604380" y="2288962"/>
              <a:ext cx="685866" cy="187200"/>
            </a:xfrm>
            <a:prstGeom prst="roundRect">
              <a:avLst>
                <a:gd name="adj" fmla="val 17463"/>
              </a:avLst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</a:rPr>
                <a:t>연간조달계획</a:t>
              </a:r>
            </a:p>
          </p:txBody>
        </p:sp>
      </p:grp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186" name="타원 18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26945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504603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검색필터</a:t>
            </a:r>
            <a:r>
              <a:rPr lang="ko-KR" altLang="en-US" dirty="0"/>
              <a:t> 페이지 타이틀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초기화</a:t>
            </a:r>
            <a:r>
              <a:rPr lang="en-US" altLang="ko-KR" dirty="0"/>
              <a:t>, </a:t>
            </a:r>
            <a:r>
              <a:rPr lang="ko-KR" altLang="en-US" dirty="0"/>
              <a:t>닫기 버튼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초기 </a:t>
            </a:r>
            <a:r>
              <a:rPr lang="ko-KR" altLang="en-US" dirty="0" err="1"/>
              <a:t>상태값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 err="1"/>
              <a:t>검색유형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조달계획</a:t>
            </a:r>
            <a:r>
              <a:rPr lang="en-US" altLang="ko-KR" dirty="0"/>
              <a:t>, </a:t>
            </a:r>
            <a:r>
              <a:rPr lang="ko-KR" altLang="en-US" dirty="0" err="1"/>
              <a:t>업무구분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전체</a:t>
            </a:r>
            <a:r>
              <a:rPr lang="en-US" altLang="ko-KR" dirty="0"/>
              <a:t>, </a:t>
            </a:r>
            <a:r>
              <a:rPr lang="ko-KR" altLang="en-US" dirty="0"/>
              <a:t>기간 </a:t>
            </a:r>
            <a:r>
              <a:rPr lang="en-US" altLang="ko-KR" dirty="0"/>
              <a:t>– </a:t>
            </a:r>
            <a:r>
              <a:rPr lang="ko-KR" altLang="en-US" dirty="0"/>
              <a:t>최근 </a:t>
            </a:r>
            <a:r>
              <a:rPr lang="en-US" altLang="ko-KR" dirty="0"/>
              <a:t>1</a:t>
            </a:r>
            <a:r>
              <a:rPr lang="ko-KR" altLang="en-US" dirty="0"/>
              <a:t>개월</a:t>
            </a:r>
            <a:r>
              <a:rPr lang="en-US" altLang="ko-KR" dirty="0"/>
              <a:t>, </a:t>
            </a:r>
            <a:r>
              <a:rPr lang="ko-KR" altLang="en-US" dirty="0" err="1"/>
              <a:t>검색어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 err="1"/>
              <a:t>빈값</a:t>
            </a:r>
            <a:r>
              <a:rPr lang="en-US" altLang="ko-KR" dirty="0"/>
              <a:t>, </a:t>
            </a:r>
            <a:r>
              <a:rPr lang="ko-KR" altLang="en-US" dirty="0"/>
              <a:t>진행상태 </a:t>
            </a:r>
            <a:r>
              <a:rPr lang="en-US" altLang="ko-KR" dirty="0"/>
              <a:t>– </a:t>
            </a:r>
            <a:r>
              <a:rPr lang="ko-KR" altLang="en-US" dirty="0"/>
              <a:t>전체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업무 </a:t>
            </a:r>
            <a:r>
              <a:rPr lang="ko-KR" altLang="en-US" dirty="0"/>
              <a:t>구분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전체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월 설정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최근 </a:t>
            </a:r>
            <a:r>
              <a:rPr lang="en-US" altLang="ko-KR" dirty="0"/>
              <a:t>1</a:t>
            </a:r>
            <a:r>
              <a:rPr lang="ko-KR" altLang="en-US" dirty="0"/>
              <a:t>개월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직접 입력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아이콘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데이트 </a:t>
            </a:r>
            <a:r>
              <a:rPr lang="ko-KR" altLang="en-US" dirty="0" err="1">
                <a:sym typeface="Wingdings" panose="05000000000000000000" pitchFamily="2" charset="2"/>
              </a:rPr>
              <a:t>피커</a:t>
            </a:r>
            <a:r>
              <a:rPr lang="ko-KR" altLang="en-US" dirty="0">
                <a:sym typeface="Wingdings" panose="05000000000000000000" pitchFamily="2" charset="2"/>
              </a:rPr>
              <a:t> 호출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빠른 설정으로 날짜 업데이트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>
                <a:sym typeface="Wingdings" panose="05000000000000000000" pitchFamily="2" charset="2"/>
              </a:rPr>
              <a:t>검색어</a:t>
            </a:r>
            <a:r>
              <a:rPr lang="ko-KR" altLang="en-US" dirty="0">
                <a:sym typeface="Wingdings" panose="05000000000000000000" pitchFamily="2" charset="2"/>
              </a:rPr>
              <a:t> 영역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사용자가 입력하고자 하는 내역만 입력 후 검색 가능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 err="1">
                <a:sym typeface="Wingdings" panose="05000000000000000000" pitchFamily="2" charset="2"/>
              </a:rPr>
              <a:t>대표품명</a:t>
            </a:r>
            <a:r>
              <a:rPr lang="ko-KR" altLang="en-US" dirty="0">
                <a:sym typeface="Wingdings" panose="05000000000000000000" pitchFamily="2" charset="2"/>
              </a:rPr>
              <a:t> 클릭 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&gt; [</a:t>
            </a:r>
            <a:r>
              <a:rPr lang="ko-KR" altLang="en-US" dirty="0">
                <a:sym typeface="Wingdings" panose="05000000000000000000" pitchFamily="2" charset="2"/>
              </a:rPr>
              <a:t>조달</a:t>
            </a:r>
            <a:r>
              <a:rPr lang="en-US" altLang="ko-KR" dirty="0">
                <a:sym typeface="Wingdings" panose="05000000000000000000" pitchFamily="2" charset="2"/>
              </a:rPr>
              <a:t>]</a:t>
            </a:r>
            <a:r>
              <a:rPr lang="ko-KR" altLang="en-US" dirty="0">
                <a:sym typeface="Wingdings" panose="05000000000000000000" pitchFamily="2" charset="2"/>
              </a:rPr>
              <a:t> 품목별 검색 </a:t>
            </a:r>
            <a:r>
              <a:rPr lang="en-US" altLang="ko-KR" dirty="0">
                <a:sym typeface="Wingdings" panose="05000000000000000000" pitchFamily="2" charset="2"/>
              </a:rPr>
              <a:t>(MUI-OP-01-P71)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발주기관 클릭 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&gt; [</a:t>
            </a:r>
            <a:r>
              <a:rPr lang="ko-KR" altLang="en-US" dirty="0">
                <a:sym typeface="Wingdings" panose="05000000000000000000" pitchFamily="2" charset="2"/>
              </a:rPr>
              <a:t>입찰</a:t>
            </a:r>
            <a:r>
              <a:rPr lang="en-US" altLang="ko-KR" dirty="0">
                <a:sym typeface="Wingdings" panose="05000000000000000000" pitchFamily="2" charset="2"/>
              </a:rPr>
              <a:t>]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ko-KR" altLang="en-US" dirty="0" err="1">
                <a:sym typeface="Wingdings" panose="05000000000000000000" pitchFamily="2" charset="2"/>
              </a:rPr>
              <a:t>발주부서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기관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검색 </a:t>
            </a:r>
            <a:r>
              <a:rPr lang="en-US" altLang="ko-KR" dirty="0">
                <a:sym typeface="Wingdings" panose="05000000000000000000" pitchFamily="2" charset="2"/>
              </a:rPr>
              <a:t>(MUI-BD-01-P04)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구분 설정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드롭 다운으로 각 </a:t>
            </a:r>
            <a:r>
              <a:rPr lang="ko-KR" altLang="en-US" dirty="0" err="1">
                <a:sym typeface="Wingdings" panose="05000000000000000000" pitchFamily="2" charset="2"/>
              </a:rPr>
              <a:t>구분값</a:t>
            </a:r>
            <a:r>
              <a:rPr lang="ko-KR" altLang="en-US" dirty="0">
                <a:sym typeface="Wingdings" panose="05000000000000000000" pitchFamily="2" charset="2"/>
              </a:rPr>
              <a:t> 설정 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 err="1">
                <a:sym typeface="Wingdings" panose="05000000000000000000" pitchFamily="2" charset="2"/>
              </a:rPr>
              <a:t>항목설정</a:t>
            </a:r>
            <a:r>
              <a:rPr lang="ko-KR" altLang="en-US" dirty="0">
                <a:sym typeface="Wingdings" panose="05000000000000000000" pitchFamily="2" charset="2"/>
              </a:rPr>
              <a:t> 참조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dirty="0">
                <a:sym typeface="Wingdings" panose="05000000000000000000" pitchFamily="2" charset="2"/>
              </a:rPr>
              <a:t>[</a:t>
            </a:r>
            <a:r>
              <a:rPr lang="ko-KR" altLang="en-US" dirty="0">
                <a:sym typeface="Wingdings" panose="05000000000000000000" pitchFamily="2" charset="2"/>
              </a:rPr>
              <a:t>공통</a:t>
            </a:r>
            <a:r>
              <a:rPr lang="en-US" altLang="ko-KR" dirty="0">
                <a:sym typeface="Wingdings" panose="05000000000000000000" pitchFamily="2" charset="2"/>
              </a:rPr>
              <a:t>] </a:t>
            </a:r>
            <a:r>
              <a:rPr lang="ko-KR" altLang="en-US" dirty="0">
                <a:sym typeface="Wingdings" panose="05000000000000000000" pitchFamily="2" charset="2"/>
              </a:rPr>
              <a:t>검색 버튼 영역은 화면 하단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처리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검색 클릭 시 목록에 </a:t>
            </a:r>
            <a:r>
              <a:rPr lang="ko-KR" altLang="en-US" dirty="0" err="1">
                <a:sym typeface="Wingdings" panose="05000000000000000000" pitchFamily="2" charset="2"/>
              </a:rPr>
              <a:t>검색값</a:t>
            </a:r>
            <a:r>
              <a:rPr lang="ko-KR" altLang="en-US" dirty="0">
                <a:sym typeface="Wingdings" panose="05000000000000000000" pitchFamily="2" charset="2"/>
              </a:rPr>
              <a:t> 표시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 err="1">
                <a:sym typeface="Wingdings" panose="05000000000000000000" pitchFamily="2" charset="2"/>
              </a:rPr>
              <a:t>검색필터에</a:t>
            </a:r>
            <a:r>
              <a:rPr lang="ko-KR" altLang="en-US" dirty="0">
                <a:sym typeface="Wingdings" panose="05000000000000000000" pitchFamily="2" charset="2"/>
              </a:rPr>
              <a:t> 설정 표시 추가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&gt; </a:t>
            </a:r>
            <a:r>
              <a:rPr lang="ko-KR" altLang="en-US" dirty="0">
                <a:sym typeface="Wingdings" panose="05000000000000000000" pitchFamily="2" charset="2"/>
              </a:rPr>
              <a:t>필터 재진입 시 설정된 정보 표시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검색을 위한 검색 필터 </a:t>
            </a:r>
            <a:r>
              <a:rPr lang="ko-KR" altLang="en-US" dirty="0" smtClean="0"/>
              <a:t>화면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조달계획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입찰 공고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MUI-OP-01-M02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5" name="그룹 84"/>
          <p:cNvGrpSpPr/>
          <p:nvPr/>
        </p:nvGrpSpPr>
        <p:grpSpPr>
          <a:xfrm>
            <a:off x="6258712" y="1650089"/>
            <a:ext cx="94010" cy="94010"/>
            <a:chOff x="6812560" y="3297172"/>
            <a:chExt cx="94010" cy="94010"/>
          </a:xfrm>
        </p:grpSpPr>
        <p:cxnSp>
          <p:nvCxnSpPr>
            <p:cNvPr id="86" name="직선 연결선 8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8" name="타원 87"/>
          <p:cNvSpPr/>
          <p:nvPr/>
        </p:nvSpPr>
        <p:spPr>
          <a:xfrm>
            <a:off x="5893434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567792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197087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377772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675399" y="1904790"/>
            <a:ext cx="2712027" cy="1477263"/>
            <a:chOff x="675399" y="1921801"/>
            <a:chExt cx="2712027" cy="1477263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199593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업무구분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solidFill>
                    <a:srgbClr val="FF0000"/>
                  </a:solidFill>
                  <a:latin typeface="+mn-ea"/>
                </a:rPr>
                <a:t>*</a:t>
              </a:r>
              <a:endParaRPr lang="ko-KR" altLang="en-US" sz="700" b="1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41620" y="2226095"/>
              <a:ext cx="2305144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전체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물품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용역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국외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32" name="직사각형 131"/>
            <p:cNvSpPr/>
            <p:nvPr/>
          </p:nvSpPr>
          <p:spPr>
            <a:xfrm>
              <a:off x="772169" y="2292407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" name="직사각형 132"/>
            <p:cNvSpPr/>
            <p:nvPr/>
          </p:nvSpPr>
          <p:spPr>
            <a:xfrm>
              <a:off x="772169" y="2509633"/>
              <a:ext cx="107950" cy="1079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34" name="그룹 133"/>
            <p:cNvGrpSpPr/>
            <p:nvPr/>
          </p:nvGrpSpPr>
          <p:grpSpPr>
            <a:xfrm flipV="1">
              <a:off x="3140949" y="2093627"/>
              <a:ext cx="91438" cy="45719"/>
              <a:chOff x="6812560" y="3297172"/>
              <a:chExt cx="94010" cy="47005"/>
            </a:xfrm>
          </p:grpSpPr>
          <p:cxnSp>
            <p:nvCxnSpPr>
              <p:cNvPr id="135" name="직선 연결선 13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7" name="직사각형 136"/>
            <p:cNvSpPr/>
            <p:nvPr/>
          </p:nvSpPr>
          <p:spPr>
            <a:xfrm>
              <a:off x="772169" y="2706723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직사각형 137"/>
            <p:cNvSpPr/>
            <p:nvPr/>
          </p:nvSpPr>
          <p:spPr>
            <a:xfrm>
              <a:off x="772169" y="2921384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직사각형 138"/>
            <p:cNvSpPr/>
            <p:nvPr/>
          </p:nvSpPr>
          <p:spPr>
            <a:xfrm>
              <a:off x="772169" y="3133350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712771" y="2471275"/>
              <a:ext cx="22153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v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339906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192180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675399" y="3473542"/>
            <a:ext cx="2712027" cy="797589"/>
            <a:chOff x="675399" y="3490553"/>
            <a:chExt cx="2712027" cy="797589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490553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>
                  <a:latin typeface="+mn-ea"/>
                </a:rPr>
                <a:t>월 설정 </a:t>
              </a:r>
              <a:r>
                <a:rPr lang="en-US" altLang="ko-KR" sz="700" b="1" dirty="0">
                  <a:solidFill>
                    <a:srgbClr val="FF0000"/>
                  </a:solidFill>
                  <a:latin typeface="+mn-ea"/>
                </a:rPr>
                <a:t>*</a:t>
              </a:r>
              <a:endParaRPr lang="ko-KR" altLang="en-US" sz="700" b="1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713091"/>
              <a:ext cx="67077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월 설정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빠른 설정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59" name="그룹 158"/>
            <p:cNvGrpSpPr/>
            <p:nvPr/>
          </p:nvGrpSpPr>
          <p:grpSpPr>
            <a:xfrm flipV="1">
              <a:off x="3140949" y="3588243"/>
              <a:ext cx="91438" cy="45719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71" name="모서리가 둥근 직사각형 170"/>
            <p:cNvSpPr/>
            <p:nvPr/>
          </p:nvSpPr>
          <p:spPr>
            <a:xfrm>
              <a:off x="1467219" y="3532735"/>
              <a:ext cx="529856" cy="149124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endParaRPr kumimoji="1" lang="ko-KR" altLang="en-US" sz="800" kern="0">
                <a:solidFill>
                  <a:prstClr val="white"/>
                </a:solidFill>
                <a:latin typeface="맑은 고딕"/>
              </a:endParaRP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03890" y="3559275"/>
              <a:ext cx="45651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solidFill>
                    <a:schemeClr val="bg1"/>
                  </a:solidFill>
                  <a:latin typeface="+mn-ea"/>
                </a:rPr>
                <a:t>발주예정월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1464781" y="3740722"/>
              <a:ext cx="859319" cy="188244"/>
              <a:chOff x="5613534" y="2854836"/>
              <a:chExt cx="804671" cy="188244"/>
            </a:xfrm>
          </p:grpSpPr>
          <p:sp>
            <p:nvSpPr>
              <p:cNvPr id="181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2025-10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82" name="그림 181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sp>
          <p:nvSpPr>
            <p:cNvPr id="178" name="TextBox 91">
              <a:extLst>
                <a:ext uri="{FF2B5EF4-FFF2-40B4-BE49-F238E27FC236}">
                  <a16:creationId xmlns:a16="http://schemas.microsoft.com/office/drawing/2014/main" id="{02490888-B81F-0F94-5D5F-078AEEB39DDB}"/>
                </a:ext>
              </a:extLst>
            </p:cNvPr>
            <p:cNvSpPr txBox="1"/>
            <p:nvPr/>
          </p:nvSpPr>
          <p:spPr>
            <a:xfrm>
              <a:off x="2347279" y="3760669"/>
              <a:ext cx="80150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900" dirty="0">
                  <a:solidFill>
                    <a:prstClr val="black"/>
                  </a:solidFill>
                  <a:cs typeface="Pretendard Medium" panose="02000603000000020004" pitchFamily="50" charset="-127"/>
                </a:rPr>
                <a:t>~</a:t>
              </a:r>
              <a:endParaRPr lang="ko-KR" altLang="en-US" sz="900" dirty="0">
                <a:solidFill>
                  <a:prstClr val="black"/>
                </a:solidFill>
                <a:cs typeface="Pretendard Medium" panose="02000603000000020004" pitchFamily="50" charset="-127"/>
              </a:endParaRP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1464781" y="3971391"/>
              <a:ext cx="1845146" cy="188135"/>
              <a:chOff x="1430277" y="4057651"/>
              <a:chExt cx="1845146" cy="188135"/>
            </a:xfrm>
          </p:grpSpPr>
          <p:sp>
            <p:nvSpPr>
              <p:cNvPr id="189" name="사각형: 둥근 모서리 169">
                <a:extLst>
                  <a:ext uri="{FF2B5EF4-FFF2-40B4-BE49-F238E27FC236}">
                    <a16:creationId xmlns:a16="http://schemas.microsoft.com/office/drawing/2014/main" id="{A28DD831-0E4B-31EE-CB08-9E188754698D}"/>
                  </a:ext>
                </a:extLst>
              </p:cNvPr>
              <p:cNvSpPr/>
              <p:nvPr/>
            </p:nvSpPr>
            <p:spPr>
              <a:xfrm>
                <a:off x="1430277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최근 </a:t>
                </a:r>
                <a:r>
                  <a:rPr kumimoji="1" lang="en-US" altLang="ko-KR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1</a:t>
                </a: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개월</a:t>
                </a:r>
                <a:endParaRPr kumimoji="1" 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90" name="사각형: 둥근 모서리 171">
                <a:extLst>
                  <a:ext uri="{FF2B5EF4-FFF2-40B4-BE49-F238E27FC236}">
                    <a16:creationId xmlns:a16="http://schemas.microsoft.com/office/drawing/2014/main" id="{75BECEC6-4045-95B1-98C2-242CA0FC5A06}"/>
                  </a:ext>
                </a:extLst>
              </p:cNvPr>
              <p:cNvSpPr/>
              <p:nvPr/>
            </p:nvSpPr>
            <p:spPr>
              <a:xfrm>
                <a:off x="2061841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latin typeface="+mn-ea"/>
                  </a:rPr>
                  <a:t>최근 </a:t>
                </a:r>
                <a:r>
                  <a:rPr kumimoji="1" lang="en-US" altLang="ko-KR" sz="700" kern="0" dirty="0">
                    <a:latin typeface="+mn-ea"/>
                  </a:rPr>
                  <a:t>3</a:t>
                </a:r>
                <a:r>
                  <a:rPr kumimoji="1" lang="ko-KR" altLang="en-US" sz="700" kern="0" dirty="0">
                    <a:latin typeface="+mn-ea"/>
                  </a:rPr>
                  <a:t>개월</a:t>
                </a:r>
                <a:endParaRPr kumimoji="1" lang="en-US" altLang="ko-KR" sz="700" kern="0" dirty="0">
                  <a:latin typeface="+mn-ea"/>
                </a:endParaRPr>
              </a:p>
            </p:txBody>
          </p:sp>
          <p:sp>
            <p:nvSpPr>
              <p:cNvPr id="191" name="사각형: 둥근 모서리 172">
                <a:extLst>
                  <a:ext uri="{FF2B5EF4-FFF2-40B4-BE49-F238E27FC236}">
                    <a16:creationId xmlns:a16="http://schemas.microsoft.com/office/drawing/2014/main" id="{7F182F00-C81F-5F02-6A1E-826222B231A9}"/>
                  </a:ext>
                </a:extLst>
              </p:cNvPr>
              <p:cNvSpPr/>
              <p:nvPr/>
            </p:nvSpPr>
            <p:spPr>
              <a:xfrm>
                <a:off x="2693406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lvl="0"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최근 </a:t>
                </a:r>
                <a:r>
                  <a:rPr kumimoji="1" lang="en-US" altLang="ko-KR" sz="700" kern="0" dirty="0">
                    <a:solidFill>
                      <a:prstClr val="black"/>
                    </a:solidFill>
                    <a:latin typeface="+mn-ea"/>
                  </a:rPr>
                  <a:t>6</a:t>
                </a: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개월</a:t>
                </a:r>
                <a:endParaRPr kumimoji="1" lang="en-US" altLang="ko-KR" sz="700" kern="0" dirty="0">
                  <a:solidFill>
                    <a:prstClr val="black"/>
                  </a:solidFill>
                  <a:latin typeface="+mn-ea"/>
                </a:endParaRPr>
              </a:p>
            </p:txBody>
          </p:sp>
        </p:grpSp>
        <p:grpSp>
          <p:nvGrpSpPr>
            <p:cNvPr id="195" name="그룹 194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2450608" y="3740722"/>
              <a:ext cx="859319" cy="188244"/>
              <a:chOff x="5613534" y="2854836"/>
              <a:chExt cx="804671" cy="188244"/>
            </a:xfrm>
          </p:grpSpPr>
          <p:sp>
            <p:nvSpPr>
              <p:cNvPr id="196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2026-01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97" name="그림 196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288142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21" name="그룹 220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25" name="TextBox 22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3454753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구분 설정</a:t>
            </a:r>
          </a:p>
        </p:txBody>
      </p:sp>
      <p:grpSp>
        <p:nvGrpSpPr>
          <p:cNvPr id="226" name="그룹 225"/>
          <p:cNvGrpSpPr/>
          <p:nvPr/>
        </p:nvGrpSpPr>
        <p:grpSpPr>
          <a:xfrm flipV="1">
            <a:off x="6261284" y="3552443"/>
            <a:ext cx="91438" cy="45719"/>
            <a:chOff x="6812560" y="3297172"/>
            <a:chExt cx="94010" cy="47005"/>
          </a:xfrm>
        </p:grpSpPr>
        <p:cxnSp>
          <p:nvCxnSpPr>
            <p:cNvPr id="227" name="직선 연결선 226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8" name="직선 연결선 227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9" name="모서리가 둥근 직사각형 228"/>
          <p:cNvSpPr/>
          <p:nvPr/>
        </p:nvSpPr>
        <p:spPr>
          <a:xfrm>
            <a:off x="4569619" y="3735244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3683118"/>
            <a:ext cx="670770" cy="1892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10000"/>
              </a:lnSpc>
            </a:pPr>
            <a:r>
              <a:rPr lang="ko-KR" altLang="en-US" sz="700" dirty="0">
                <a:latin typeface="+mn-ea"/>
              </a:rPr>
              <a:t>진행상태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247" name="그룹 246"/>
          <p:cNvGrpSpPr/>
          <p:nvPr/>
        </p:nvGrpSpPr>
        <p:grpSpPr>
          <a:xfrm>
            <a:off x="6261284" y="3805984"/>
            <a:ext cx="91438" cy="45719"/>
            <a:chOff x="6812560" y="3297172"/>
            <a:chExt cx="94010" cy="47005"/>
          </a:xfrm>
        </p:grpSpPr>
        <p:cxnSp>
          <p:nvCxnSpPr>
            <p:cNvPr id="248" name="직선 연결선 24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9" name="직선 연결선 24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41735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2" name="타원 29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35152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grpSp>
        <p:nvGrpSpPr>
          <p:cNvPr id="6" name="그룹 5"/>
          <p:cNvGrpSpPr/>
          <p:nvPr/>
        </p:nvGrpSpPr>
        <p:grpSpPr>
          <a:xfrm>
            <a:off x="3903622" y="1956581"/>
            <a:ext cx="2519558" cy="1370836"/>
            <a:chOff x="778515" y="4388257"/>
            <a:chExt cx="2519558" cy="1370836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38825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검색어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latin typeface="+mn-ea"/>
                </a:rPr>
                <a:t>(</a:t>
              </a:r>
              <a:r>
                <a:rPr lang="ko-KR" altLang="en-US" sz="700" b="1" dirty="0">
                  <a:latin typeface="+mn-ea"/>
                </a:rPr>
                <a:t>일부 입력 가능</a:t>
              </a:r>
              <a:r>
                <a:rPr lang="en-US" altLang="ko-KR" sz="700" b="1" dirty="0">
                  <a:latin typeface="+mn-ea"/>
                </a:rPr>
                <a:t>)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01" name="그룹 200"/>
            <p:cNvGrpSpPr/>
            <p:nvPr/>
          </p:nvGrpSpPr>
          <p:grpSpPr>
            <a:xfrm flipV="1">
              <a:off x="3140949" y="4485947"/>
              <a:ext cx="91438" cy="45719"/>
              <a:chOff x="6812560" y="3297172"/>
              <a:chExt cx="94010" cy="47005"/>
            </a:xfrm>
          </p:grpSpPr>
          <p:cxnSp>
            <p:nvCxnSpPr>
              <p:cNvPr id="202" name="직선 연결선 20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4" name="모서리가 둥근 직사각형 203"/>
            <p:cNvSpPr/>
            <p:nvPr/>
          </p:nvSpPr>
          <p:spPr>
            <a:xfrm>
              <a:off x="1449284" y="466874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제목을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655417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판단번호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대표품명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07" name="모서리가 둥근 직사각형 206"/>
            <p:cNvSpPr/>
            <p:nvPr/>
          </p:nvSpPr>
          <p:spPr>
            <a:xfrm>
              <a:off x="1449284" y="4890305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8" name="모서리가 둥근 직사각형 207"/>
            <p:cNvSpPr/>
            <p:nvPr/>
          </p:nvSpPr>
          <p:spPr>
            <a:xfrm>
              <a:off x="1449284" y="533566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발주기관을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12" name="모서리가 둥근 직사각형 211"/>
            <p:cNvSpPr/>
            <p:nvPr/>
          </p:nvSpPr>
          <p:spPr>
            <a:xfrm>
              <a:off x="1452235" y="5571893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담당자을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66" name="모서리가 둥근 직사각형 265"/>
            <p:cNvSpPr/>
            <p:nvPr/>
          </p:nvSpPr>
          <p:spPr>
            <a:xfrm>
              <a:off x="1449284" y="5113024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품명을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grpSp>
          <p:nvGrpSpPr>
            <p:cNvPr id="141" name="그룹 140"/>
            <p:cNvGrpSpPr/>
            <p:nvPr/>
          </p:nvGrpSpPr>
          <p:grpSpPr>
            <a:xfrm rot="16200000">
              <a:off x="3140951" y="5406408"/>
              <a:ext cx="91438" cy="45719"/>
              <a:chOff x="6812560" y="3297172"/>
              <a:chExt cx="94010" cy="47005"/>
            </a:xfrm>
          </p:grpSpPr>
          <p:cxnSp>
            <p:nvCxnSpPr>
              <p:cNvPr id="142" name="직선 연결선 14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4" name="직선 연결선 14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3" name="그룹 162"/>
            <p:cNvGrpSpPr/>
            <p:nvPr/>
          </p:nvGrpSpPr>
          <p:grpSpPr>
            <a:xfrm rot="16200000">
              <a:off x="3140951" y="5184740"/>
              <a:ext cx="91438" cy="45719"/>
              <a:chOff x="6812560" y="3297172"/>
              <a:chExt cx="94010" cy="47005"/>
            </a:xfrm>
          </p:grpSpPr>
          <p:cxnSp>
            <p:nvCxnSpPr>
              <p:cNvPr id="164" name="직선 연결선 16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20" name="타원 1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575137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6</a:t>
            </a:r>
            <a:endParaRPr lang="ko-KR" altLang="en-US" sz="900" b="1" dirty="0"/>
          </a:p>
        </p:txBody>
      </p:sp>
      <p:grpSp>
        <p:nvGrpSpPr>
          <p:cNvPr id="15" name="그룹 14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4" name="직사각형 13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2026-05-26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26" name="직사각형 125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필수 항목 표시 </a:t>
              </a:r>
              <a:r>
                <a:rPr lang="en-US" altLang="ko-KR" sz="700" dirty="0"/>
                <a:t>* </a:t>
              </a:r>
              <a:r>
                <a:rPr lang="ko-KR" altLang="en-US" sz="700" dirty="0"/>
                <a:t>표 추가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 err="1"/>
                <a:t>검색어</a:t>
              </a:r>
              <a:r>
                <a:rPr lang="en-US" altLang="ko-KR" sz="700" dirty="0"/>
                <a:t>, </a:t>
              </a:r>
              <a:r>
                <a:rPr lang="ko-KR" altLang="en-US" sz="700" dirty="0" err="1"/>
                <a:t>구분설정</a:t>
              </a:r>
              <a:r>
                <a:rPr lang="ko-KR" altLang="en-US" sz="700" dirty="0"/>
                <a:t> 수정</a:t>
              </a:r>
            </a:p>
          </p:txBody>
        </p:sp>
      </p:grpSp>
      <p:grpSp>
        <p:nvGrpSpPr>
          <p:cNvPr id="109" name="그룹 108"/>
          <p:cNvGrpSpPr/>
          <p:nvPr/>
        </p:nvGrpSpPr>
        <p:grpSpPr>
          <a:xfrm>
            <a:off x="8223250" y="786075"/>
            <a:ext cx="3365500" cy="634511"/>
            <a:chOff x="8223250" y="569392"/>
            <a:chExt cx="3365500" cy="634511"/>
          </a:xfrm>
        </p:grpSpPr>
        <p:sp>
          <p:nvSpPr>
            <p:cNvPr id="110" name="직사각형 109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2026-06-18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11" name="직사각형 110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검색 유형 삭제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7118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검색유형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사전규격</a:t>
            </a:r>
            <a:r>
              <a:rPr lang="ko-KR" altLang="en-US" dirty="0"/>
              <a:t> 선택 시 화면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업무 구분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전체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사전규격은</a:t>
            </a:r>
            <a:r>
              <a:rPr lang="ko-KR" altLang="en-US" dirty="0"/>
              <a:t> </a:t>
            </a:r>
            <a:r>
              <a:rPr lang="en-US" altLang="ko-KR" dirty="0"/>
              <a:t>[</a:t>
            </a:r>
            <a:r>
              <a:rPr lang="ko-KR" altLang="en-US" dirty="0"/>
              <a:t>국외</a:t>
            </a:r>
            <a:r>
              <a:rPr lang="en-US" altLang="ko-KR" dirty="0"/>
              <a:t>]</a:t>
            </a:r>
            <a:r>
              <a:rPr lang="ko-KR" altLang="en-US" dirty="0"/>
              <a:t> 없음</a:t>
            </a:r>
            <a:r>
              <a:rPr lang="en-US" altLang="ko-KR" dirty="0"/>
              <a:t>. </a:t>
            </a:r>
            <a:r>
              <a:rPr lang="ko-KR" altLang="en-US" dirty="0"/>
              <a:t>비활성화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일자 설정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최근 </a:t>
            </a:r>
            <a:r>
              <a:rPr lang="en-US" altLang="ko-KR" dirty="0"/>
              <a:t>1</a:t>
            </a:r>
            <a:r>
              <a:rPr lang="ko-KR" altLang="en-US" dirty="0"/>
              <a:t>개월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직접 입력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아이콘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데이트 </a:t>
            </a:r>
            <a:r>
              <a:rPr lang="ko-KR" altLang="en-US" dirty="0" err="1">
                <a:sym typeface="Wingdings" panose="05000000000000000000" pitchFamily="2" charset="2"/>
              </a:rPr>
              <a:t>피커</a:t>
            </a:r>
            <a:r>
              <a:rPr lang="ko-KR" altLang="en-US" dirty="0">
                <a:sym typeface="Wingdings" panose="05000000000000000000" pitchFamily="2" charset="2"/>
              </a:rPr>
              <a:t> 호출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빠른 설정으로 날짜 업데이트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>
                <a:sym typeface="Wingdings" panose="05000000000000000000" pitchFamily="2" charset="2"/>
              </a:rPr>
              <a:t>검색어</a:t>
            </a:r>
            <a:r>
              <a:rPr lang="ko-KR" altLang="en-US" dirty="0">
                <a:sym typeface="Wingdings" panose="05000000000000000000" pitchFamily="2" charset="2"/>
              </a:rPr>
              <a:t> 영역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사용자가 입력하고자 하는 내역만 입력 후 검색 가능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발주기관 클릭 시 </a:t>
            </a:r>
            <a:r>
              <a:rPr lang="en-US" altLang="ko-KR" dirty="0">
                <a:sym typeface="Wingdings" panose="05000000000000000000" pitchFamily="2" charset="2"/>
              </a:rPr>
              <a:t>– [</a:t>
            </a:r>
            <a:r>
              <a:rPr lang="ko-KR" altLang="en-US" dirty="0">
                <a:sym typeface="Wingdings" panose="05000000000000000000" pitchFamily="2" charset="2"/>
              </a:rPr>
              <a:t>입찰</a:t>
            </a:r>
            <a:r>
              <a:rPr lang="en-US" altLang="ko-KR" dirty="0">
                <a:sym typeface="Wingdings" panose="05000000000000000000" pitchFamily="2" charset="2"/>
              </a:rPr>
              <a:t>]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ko-KR" altLang="en-US" dirty="0" err="1">
                <a:sym typeface="Wingdings" panose="05000000000000000000" pitchFamily="2" charset="2"/>
              </a:rPr>
              <a:t>발주부서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기관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검색 </a:t>
            </a:r>
            <a:r>
              <a:rPr lang="en-US" altLang="ko-KR" dirty="0">
                <a:sym typeface="Wingdings" panose="05000000000000000000" pitchFamily="2" charset="2"/>
              </a:rPr>
              <a:t>(MUI-BD-01-P04)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공개일 설정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기본값 없음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단일 날짜 선택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직접 입력 가능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아이콘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클릭 시 데이트 </a:t>
            </a:r>
            <a:r>
              <a:rPr lang="ko-KR" altLang="en-US" dirty="0" err="1">
                <a:sym typeface="Wingdings" panose="05000000000000000000" pitchFamily="2" charset="2"/>
              </a:rPr>
              <a:t>피커</a:t>
            </a:r>
            <a:r>
              <a:rPr lang="ko-KR" altLang="en-US" dirty="0">
                <a:sym typeface="Wingdings" panose="05000000000000000000" pitchFamily="2" charset="2"/>
              </a:rPr>
              <a:t> 호출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검색을 위한 검색 필터 </a:t>
            </a:r>
            <a:r>
              <a:rPr lang="ko-KR" altLang="en-US" dirty="0" smtClean="0"/>
              <a:t>화면 </a:t>
            </a:r>
            <a:r>
              <a:rPr lang="en-US" altLang="ko-KR" dirty="0" smtClean="0"/>
              <a:t>- </a:t>
            </a:r>
            <a:r>
              <a:rPr lang="ko-KR" altLang="en-US" dirty="0" err="1" smtClean="0"/>
              <a:t>사전규격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입찰 공고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MUI-OP-01-M02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5" name="그룹 84"/>
          <p:cNvGrpSpPr/>
          <p:nvPr/>
        </p:nvGrpSpPr>
        <p:grpSpPr>
          <a:xfrm>
            <a:off x="6258712" y="1650089"/>
            <a:ext cx="94010" cy="94010"/>
            <a:chOff x="6812560" y="3297172"/>
            <a:chExt cx="94010" cy="94010"/>
          </a:xfrm>
        </p:grpSpPr>
        <p:cxnSp>
          <p:nvCxnSpPr>
            <p:cNvPr id="86" name="직선 연결선 8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8" name="타원 87"/>
          <p:cNvSpPr/>
          <p:nvPr/>
        </p:nvSpPr>
        <p:spPr>
          <a:xfrm>
            <a:off x="5893434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567792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197087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675399" y="1906107"/>
            <a:ext cx="2712027" cy="1477263"/>
            <a:chOff x="675399" y="1921801"/>
            <a:chExt cx="2712027" cy="1477263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199593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업무구분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solidFill>
                    <a:srgbClr val="FF0000"/>
                  </a:solidFill>
                  <a:latin typeface="+mn-ea"/>
                </a:rPr>
                <a:t>*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41620" y="2226095"/>
              <a:ext cx="2305144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전체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물품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용역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solidFill>
                    <a:schemeClr val="bg1">
                      <a:lumMod val="75000"/>
                    </a:schemeClr>
                  </a:solidFill>
                  <a:latin typeface="+mn-ea"/>
                </a:rPr>
                <a:t>국외</a:t>
              </a:r>
              <a:endParaRPr lang="en-US" altLang="ko-KR" sz="700" dirty="0">
                <a:solidFill>
                  <a:schemeClr val="bg1">
                    <a:lumMod val="75000"/>
                  </a:schemeClr>
                </a:solidFill>
                <a:latin typeface="+mn-ea"/>
              </a:endParaRPr>
            </a:p>
          </p:txBody>
        </p:sp>
        <p:sp>
          <p:nvSpPr>
            <p:cNvPr id="132" name="직사각형 131"/>
            <p:cNvSpPr/>
            <p:nvPr/>
          </p:nvSpPr>
          <p:spPr>
            <a:xfrm>
              <a:off x="772169" y="2292407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" name="직사각형 132"/>
            <p:cNvSpPr/>
            <p:nvPr/>
          </p:nvSpPr>
          <p:spPr>
            <a:xfrm>
              <a:off x="772169" y="2509633"/>
              <a:ext cx="107950" cy="1079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34" name="그룹 133"/>
            <p:cNvGrpSpPr/>
            <p:nvPr/>
          </p:nvGrpSpPr>
          <p:grpSpPr>
            <a:xfrm flipV="1">
              <a:off x="3140949" y="2093627"/>
              <a:ext cx="91438" cy="45719"/>
              <a:chOff x="6812560" y="3297172"/>
              <a:chExt cx="94010" cy="47005"/>
            </a:xfrm>
          </p:grpSpPr>
          <p:cxnSp>
            <p:nvCxnSpPr>
              <p:cNvPr id="135" name="직선 연결선 13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7" name="직사각형 136"/>
            <p:cNvSpPr/>
            <p:nvPr/>
          </p:nvSpPr>
          <p:spPr>
            <a:xfrm>
              <a:off x="772169" y="2706723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직사각형 137"/>
            <p:cNvSpPr/>
            <p:nvPr/>
          </p:nvSpPr>
          <p:spPr>
            <a:xfrm>
              <a:off x="772169" y="2921384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직사각형 138"/>
            <p:cNvSpPr/>
            <p:nvPr/>
          </p:nvSpPr>
          <p:spPr>
            <a:xfrm>
              <a:off x="772169" y="3133350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712771" y="2471275"/>
              <a:ext cx="22153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v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339906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192180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474859"/>
            <a:ext cx="230514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일자 설정 </a:t>
            </a:r>
            <a:r>
              <a:rPr lang="en-US" altLang="ko-KR" sz="700" b="1" dirty="0">
                <a:solidFill>
                  <a:srgbClr val="FF0000"/>
                </a:solidFill>
                <a:latin typeface="+mn-ea"/>
              </a:rPr>
              <a:t>*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697397"/>
            <a:ext cx="67077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일자 설정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빠른 설정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159" name="그룹 158"/>
          <p:cNvGrpSpPr/>
          <p:nvPr/>
        </p:nvGrpSpPr>
        <p:grpSpPr>
          <a:xfrm flipV="1">
            <a:off x="3140949" y="3572549"/>
            <a:ext cx="91438" cy="45719"/>
            <a:chOff x="6812560" y="3297172"/>
            <a:chExt cx="94010" cy="47005"/>
          </a:xfrm>
        </p:grpSpPr>
        <p:cxnSp>
          <p:nvCxnSpPr>
            <p:cNvPr id="160" name="직선 연결선 15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직선 연결선 1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1" name="모서리가 둥근 직사각형 170"/>
          <p:cNvSpPr/>
          <p:nvPr/>
        </p:nvSpPr>
        <p:spPr>
          <a:xfrm>
            <a:off x="1467219" y="3517041"/>
            <a:ext cx="529856" cy="149124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endParaRPr kumimoji="1" lang="ko-KR" altLang="en-US" sz="800" kern="0">
              <a:solidFill>
                <a:prstClr val="white"/>
              </a:solidFill>
              <a:latin typeface="맑은 고딕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03890" y="3543581"/>
            <a:ext cx="45651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접수기간</a:t>
            </a:r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1464781" y="3725028"/>
            <a:ext cx="859319" cy="188244"/>
            <a:chOff x="5613534" y="2854836"/>
            <a:chExt cx="804671" cy="188244"/>
          </a:xfrm>
        </p:grpSpPr>
        <p:sp>
          <p:nvSpPr>
            <p:cNvPr id="181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2025-10-10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82" name="그림 181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sp>
        <p:nvSpPr>
          <p:cNvPr id="178" name="TextBox 91">
            <a:extLst>
              <a:ext uri="{FF2B5EF4-FFF2-40B4-BE49-F238E27FC236}">
                <a16:creationId xmlns:a16="http://schemas.microsoft.com/office/drawing/2014/main" id="{02490888-B81F-0F94-5D5F-078AEEB39DDB}"/>
              </a:ext>
            </a:extLst>
          </p:cNvPr>
          <p:cNvSpPr txBox="1"/>
          <p:nvPr/>
        </p:nvSpPr>
        <p:spPr>
          <a:xfrm>
            <a:off x="2347279" y="3744975"/>
            <a:ext cx="8015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prstClr val="black"/>
                </a:solidFill>
                <a:cs typeface="Pretendard Medium" panose="02000603000000020004" pitchFamily="50" charset="-127"/>
              </a:rPr>
              <a:t>~</a:t>
            </a:r>
            <a:endParaRPr lang="ko-KR" altLang="en-US" sz="900" dirty="0">
              <a:solidFill>
                <a:prstClr val="black"/>
              </a:solidFill>
              <a:cs typeface="Pretendard Medium" panose="02000603000000020004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464781" y="3955697"/>
            <a:ext cx="1845146" cy="188135"/>
            <a:chOff x="1430277" y="4057651"/>
            <a:chExt cx="1845146" cy="188135"/>
          </a:xfrm>
        </p:grpSpPr>
        <p:sp>
          <p:nvSpPr>
            <p:cNvPr id="189" name="사각형: 둥근 모서리 169">
              <a:extLst>
                <a:ext uri="{FF2B5EF4-FFF2-40B4-BE49-F238E27FC236}">
                  <a16:creationId xmlns:a16="http://schemas.microsoft.com/office/drawing/2014/main" id="{A28DD831-0E4B-31EE-CB08-9E188754698D}"/>
                </a:ext>
              </a:extLst>
            </p:cNvPr>
            <p:cNvSpPr/>
            <p:nvPr/>
          </p:nvSpPr>
          <p:spPr>
            <a:xfrm>
              <a:off x="1430277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최근 </a:t>
              </a:r>
              <a:r>
                <a:rPr kumimoji="1" lang="en-US" altLang="ko-KR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1</a:t>
              </a: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개월</a:t>
              </a:r>
              <a:endParaRPr kumimoji="1" lang="en-US" sz="7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90" name="사각형: 둥근 모서리 171">
              <a:extLst>
                <a:ext uri="{FF2B5EF4-FFF2-40B4-BE49-F238E27FC236}">
                  <a16:creationId xmlns:a16="http://schemas.microsoft.com/office/drawing/2014/main" id="{75BECEC6-4045-95B1-98C2-242CA0FC5A06}"/>
                </a:ext>
              </a:extLst>
            </p:cNvPr>
            <p:cNvSpPr/>
            <p:nvPr/>
          </p:nvSpPr>
          <p:spPr>
            <a:xfrm>
              <a:off x="2061841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latin typeface="+mn-ea"/>
                </a:rPr>
                <a:t>최근 </a:t>
              </a:r>
              <a:r>
                <a:rPr kumimoji="1" lang="en-US" altLang="ko-KR" sz="700" kern="0" dirty="0">
                  <a:latin typeface="+mn-ea"/>
                </a:rPr>
                <a:t>3</a:t>
              </a:r>
              <a:r>
                <a:rPr kumimoji="1" lang="ko-KR" altLang="en-US" sz="700" kern="0" dirty="0">
                  <a:latin typeface="+mn-ea"/>
                </a:rPr>
                <a:t>개월</a:t>
              </a:r>
              <a:endParaRPr kumimoji="1" lang="en-US" altLang="ko-KR" sz="700" kern="0" dirty="0">
                <a:latin typeface="+mn-ea"/>
              </a:endParaRPr>
            </a:p>
          </p:txBody>
        </p:sp>
        <p:sp>
          <p:nvSpPr>
            <p:cNvPr id="191" name="사각형: 둥근 모서리 172">
              <a:extLst>
                <a:ext uri="{FF2B5EF4-FFF2-40B4-BE49-F238E27FC236}">
                  <a16:creationId xmlns:a16="http://schemas.microsoft.com/office/drawing/2014/main" id="{7F182F00-C81F-5F02-6A1E-826222B231A9}"/>
                </a:ext>
              </a:extLst>
            </p:cNvPr>
            <p:cNvSpPr/>
            <p:nvPr/>
          </p:nvSpPr>
          <p:spPr>
            <a:xfrm>
              <a:off x="2693406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최근 </a:t>
              </a:r>
              <a:r>
                <a:rPr kumimoji="1" lang="en-US" altLang="ko-KR" sz="700" kern="0" dirty="0">
                  <a:solidFill>
                    <a:prstClr val="black"/>
                  </a:solidFill>
                  <a:latin typeface="+mn-ea"/>
                </a:rPr>
                <a:t>6</a:t>
              </a: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개월</a:t>
              </a:r>
              <a:endParaRPr kumimoji="1" lang="en-US" altLang="ko-KR" sz="700" kern="0" dirty="0">
                <a:solidFill>
                  <a:prstClr val="black"/>
                </a:solidFill>
                <a:latin typeface="+mn-ea"/>
              </a:endParaRPr>
            </a:p>
          </p:txBody>
        </p:sp>
      </p:grp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2450608" y="3725028"/>
            <a:ext cx="859319" cy="188244"/>
            <a:chOff x="5613534" y="2854836"/>
            <a:chExt cx="804671" cy="188244"/>
          </a:xfrm>
        </p:grpSpPr>
        <p:sp>
          <p:nvSpPr>
            <p:cNvPr id="196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2026-01-10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97" name="그림 196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grpSp>
        <p:nvGrpSpPr>
          <p:cNvPr id="221" name="그룹 220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92" name="타원 29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35283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grpSp>
        <p:nvGrpSpPr>
          <p:cNvPr id="6" name="그룹 5"/>
          <p:cNvGrpSpPr/>
          <p:nvPr/>
        </p:nvGrpSpPr>
        <p:grpSpPr>
          <a:xfrm>
            <a:off x="3903622" y="1956581"/>
            <a:ext cx="2516607" cy="1134611"/>
            <a:chOff x="778515" y="4388257"/>
            <a:chExt cx="2516607" cy="1134611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38825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검색어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latin typeface="+mn-ea"/>
                </a:rPr>
                <a:t>(</a:t>
              </a:r>
              <a:r>
                <a:rPr lang="ko-KR" altLang="en-US" sz="700" b="1" dirty="0">
                  <a:latin typeface="+mn-ea"/>
                </a:rPr>
                <a:t>일부 입력 가능</a:t>
              </a:r>
              <a:r>
                <a:rPr lang="en-US" altLang="ko-KR" sz="700" b="1" dirty="0">
                  <a:latin typeface="+mn-ea"/>
                </a:rPr>
                <a:t>)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01" name="그룹 200"/>
            <p:cNvGrpSpPr/>
            <p:nvPr/>
          </p:nvGrpSpPr>
          <p:grpSpPr>
            <a:xfrm flipV="1">
              <a:off x="3140949" y="4485947"/>
              <a:ext cx="91438" cy="45719"/>
              <a:chOff x="6812560" y="3297172"/>
              <a:chExt cx="94010" cy="47005"/>
            </a:xfrm>
          </p:grpSpPr>
          <p:cxnSp>
            <p:nvCxnSpPr>
              <p:cNvPr id="202" name="직선 연결선 20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4" name="모서리가 둥근 직사각형 203"/>
            <p:cNvSpPr/>
            <p:nvPr/>
          </p:nvSpPr>
          <p:spPr>
            <a:xfrm>
              <a:off x="1449284" y="466874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제목을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625248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판단번호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07" name="모서리가 둥근 직사각형 206"/>
            <p:cNvSpPr/>
            <p:nvPr/>
          </p:nvSpPr>
          <p:spPr>
            <a:xfrm>
              <a:off x="1449284" y="4890305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8" name="모서리가 둥근 직사각형 207"/>
            <p:cNvSpPr/>
            <p:nvPr/>
          </p:nvSpPr>
          <p:spPr>
            <a:xfrm>
              <a:off x="1449284" y="533566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담당자를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66" name="모서리가 둥근 직사각형 265"/>
            <p:cNvSpPr/>
            <p:nvPr/>
          </p:nvSpPr>
          <p:spPr>
            <a:xfrm>
              <a:off x="1449284" y="5113024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발주기관을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grpSp>
          <p:nvGrpSpPr>
            <p:cNvPr id="163" name="그룹 162"/>
            <p:cNvGrpSpPr/>
            <p:nvPr/>
          </p:nvGrpSpPr>
          <p:grpSpPr>
            <a:xfrm rot="16200000">
              <a:off x="3140951" y="5184740"/>
              <a:ext cx="91438" cy="45719"/>
              <a:chOff x="6812560" y="3297172"/>
              <a:chExt cx="94010" cy="47005"/>
            </a:xfrm>
          </p:grpSpPr>
          <p:cxnSp>
            <p:nvCxnSpPr>
              <p:cNvPr id="164" name="직선 연결선 16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그룹 13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20" name="직사각형 119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2026-05-26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21" name="직사각형 120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필수 항목 표시 </a:t>
              </a:r>
              <a:r>
                <a:rPr lang="en-US" altLang="ko-KR" sz="700" dirty="0"/>
                <a:t>* </a:t>
              </a:r>
              <a:r>
                <a:rPr lang="ko-KR" altLang="en-US" sz="700" dirty="0"/>
                <a:t>표 추가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/>
                <a:t>품명 검색 </a:t>
              </a:r>
              <a:r>
                <a:rPr lang="ko-KR" altLang="en-US" sz="700" dirty="0">
                  <a:sym typeface="Wingdings" panose="05000000000000000000" pitchFamily="2" charset="2"/>
                </a:rPr>
                <a:t>삭제</a:t>
              </a:r>
              <a:endParaRPr lang="ko-KR" altLang="en-US" sz="700" dirty="0"/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3795734" y="3260182"/>
            <a:ext cx="2712027" cy="602717"/>
            <a:chOff x="675399" y="5310826"/>
            <a:chExt cx="2712027" cy="602717"/>
          </a:xfrm>
        </p:grpSpPr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5913543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5358082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>
                  <a:latin typeface="+mn-ea"/>
                </a:rPr>
                <a:t>공개일 설정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5580620"/>
              <a:ext cx="670770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일자 설정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26" name="그룹 125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1464780" y="5608251"/>
              <a:ext cx="1845146" cy="188244"/>
              <a:chOff x="5613534" y="2854836"/>
              <a:chExt cx="1727805" cy="188244"/>
            </a:xfrm>
          </p:grpSpPr>
          <p:sp>
            <p:nvSpPr>
              <p:cNvPr id="145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1727805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2025-10-10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46" name="그림 145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188784" y="2876004"/>
                <a:ext cx="126296" cy="137278"/>
              </a:xfrm>
              <a:prstGeom prst="rect">
                <a:avLst/>
              </a:prstGeom>
            </p:spPr>
          </p:pic>
        </p:grpSp>
        <p:cxnSp>
          <p:nvCxnSpPr>
            <p:cNvPr id="100" name="직선 연결선 9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531082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24650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1" name="타원 10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340251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grpSp>
        <p:nvGrpSpPr>
          <p:cNvPr id="102" name="그룹 101"/>
          <p:cNvGrpSpPr/>
          <p:nvPr/>
        </p:nvGrpSpPr>
        <p:grpSpPr>
          <a:xfrm>
            <a:off x="8223250" y="786075"/>
            <a:ext cx="3365500" cy="634511"/>
            <a:chOff x="8223250" y="569392"/>
            <a:chExt cx="3365500" cy="634511"/>
          </a:xfrm>
        </p:grpSpPr>
        <p:sp>
          <p:nvSpPr>
            <p:cNvPr id="104" name="직사각형 103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2026-06-18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05" name="직사각형 104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검색 유형 삭제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954503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smtClean="0"/>
              <a:t>업무 </a:t>
            </a:r>
            <a:r>
              <a:rPr lang="ko-KR" altLang="en-US" dirty="0"/>
              <a:t>구분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국외 활성화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타 버튼 비활성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연도 설정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직접 입력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아이콘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데이트 </a:t>
            </a:r>
            <a:r>
              <a:rPr lang="ko-KR" altLang="en-US" dirty="0" err="1">
                <a:sym typeface="Wingdings" panose="05000000000000000000" pitchFamily="2" charset="2"/>
              </a:rPr>
              <a:t>피커</a:t>
            </a:r>
            <a:r>
              <a:rPr lang="ko-KR" altLang="en-US" dirty="0">
                <a:sym typeface="Wingdings" panose="05000000000000000000" pitchFamily="2" charset="2"/>
              </a:rPr>
              <a:t> 호출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>
                <a:sym typeface="Wingdings" panose="05000000000000000000" pitchFamily="2" charset="2"/>
              </a:rPr>
              <a:t>검색어</a:t>
            </a:r>
            <a:r>
              <a:rPr lang="ko-KR" altLang="en-US" dirty="0">
                <a:sym typeface="Wingdings" panose="05000000000000000000" pitchFamily="2" charset="2"/>
              </a:rPr>
              <a:t> 영역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사용자가 입력하고자 하는 내역만 입력 후 검색 가능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재고번호조회 클릭 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&gt; </a:t>
            </a:r>
            <a:r>
              <a:rPr lang="ko-KR" altLang="en-US" dirty="0">
                <a:sym typeface="Wingdings" panose="05000000000000000000" pitchFamily="2" charset="2"/>
              </a:rPr>
              <a:t>품목별 검색 </a:t>
            </a:r>
            <a:r>
              <a:rPr lang="en-US" altLang="ko-KR" dirty="0">
                <a:sym typeface="Wingdings" panose="05000000000000000000" pitchFamily="2" charset="2"/>
              </a:rPr>
              <a:t>(MUI-OP-01-P71)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품목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생산자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로그인 사용자에게 표시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품목 클릭 시 </a:t>
            </a:r>
            <a:r>
              <a:rPr lang="en-US" altLang="ko-KR" dirty="0">
                <a:sym typeface="Wingdings" panose="05000000000000000000" pitchFamily="2" charset="2"/>
              </a:rPr>
              <a:t>&gt;</a:t>
            </a:r>
            <a:r>
              <a:rPr lang="ko-KR" altLang="en-US" dirty="0">
                <a:sym typeface="Wingdings" panose="05000000000000000000" pitchFamily="2" charset="2"/>
              </a:rPr>
              <a:t> 품목별 검색 </a:t>
            </a:r>
            <a:r>
              <a:rPr lang="en-US" altLang="ko-KR" dirty="0">
                <a:sym typeface="Wingdings" panose="05000000000000000000" pitchFamily="2" charset="2"/>
              </a:rPr>
              <a:t>(MUI-OP-01-P71)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생산자 클릭 시 </a:t>
            </a:r>
            <a:r>
              <a:rPr lang="en-US" altLang="ko-KR" dirty="0">
                <a:sym typeface="Wingdings" panose="05000000000000000000" pitchFamily="2" charset="2"/>
              </a:rPr>
              <a:t>&gt; </a:t>
            </a:r>
            <a:r>
              <a:rPr lang="ko-KR" altLang="en-US" dirty="0">
                <a:sym typeface="Wingdings" panose="05000000000000000000" pitchFamily="2" charset="2"/>
              </a:rPr>
              <a:t>생산자 검색</a:t>
            </a:r>
            <a:r>
              <a:rPr lang="en-US" altLang="ko-KR" dirty="0">
                <a:sym typeface="Wingdings" panose="05000000000000000000" pitchFamily="2" charset="2"/>
              </a:rPr>
              <a:t>(MUI-OP-01-P72)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구분 설정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드롭 다운으로 각 </a:t>
            </a:r>
            <a:r>
              <a:rPr lang="ko-KR" altLang="en-US" dirty="0" err="1">
                <a:sym typeface="Wingdings" panose="05000000000000000000" pitchFamily="2" charset="2"/>
              </a:rPr>
              <a:t>구분값</a:t>
            </a:r>
            <a:r>
              <a:rPr lang="ko-KR" altLang="en-US" dirty="0">
                <a:sym typeface="Wingdings" panose="05000000000000000000" pitchFamily="2" charset="2"/>
              </a:rPr>
              <a:t> 설정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각 </a:t>
            </a:r>
            <a:r>
              <a:rPr lang="ko-KR" altLang="en-US" dirty="0" err="1">
                <a:sym typeface="Wingdings" panose="05000000000000000000" pitchFamily="2" charset="2"/>
              </a:rPr>
              <a:t>구분값은</a:t>
            </a:r>
            <a:r>
              <a:rPr lang="ko-KR" altLang="en-US" dirty="0">
                <a:sym typeface="Wingdings" panose="05000000000000000000" pitchFamily="2" charset="2"/>
              </a:rPr>
              <a:t> 항목 설명 확인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검색을 위한 검색 필터 </a:t>
            </a:r>
            <a:r>
              <a:rPr lang="ko-KR" altLang="en-US" dirty="0" smtClean="0"/>
              <a:t>화면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연간조달계획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입찰 공고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MUI-OP-01-M02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5" name="그룹 84"/>
          <p:cNvGrpSpPr/>
          <p:nvPr/>
        </p:nvGrpSpPr>
        <p:grpSpPr>
          <a:xfrm>
            <a:off x="6258712" y="1650089"/>
            <a:ext cx="94010" cy="94010"/>
            <a:chOff x="6812560" y="3297172"/>
            <a:chExt cx="94010" cy="94010"/>
          </a:xfrm>
        </p:grpSpPr>
        <p:cxnSp>
          <p:nvCxnSpPr>
            <p:cNvPr id="86" name="직선 연결선 8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8" name="타원 87"/>
          <p:cNvSpPr/>
          <p:nvPr/>
        </p:nvSpPr>
        <p:spPr>
          <a:xfrm>
            <a:off x="5893434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567792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197087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3</a:t>
            </a:r>
            <a:endParaRPr lang="ko-KR" altLang="en-US" sz="900" b="1" dirty="0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75162" y="382764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5</a:t>
            </a:r>
            <a:endParaRPr lang="ko-KR" altLang="en-US" sz="900" b="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675399" y="1906107"/>
            <a:ext cx="2712027" cy="1477263"/>
            <a:chOff x="675399" y="1921801"/>
            <a:chExt cx="2712027" cy="1477263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199593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업무구분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solidFill>
                    <a:srgbClr val="FF0000"/>
                  </a:solidFill>
                  <a:latin typeface="+mn-ea"/>
                </a:rPr>
                <a:t>*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41620" y="2226095"/>
              <a:ext cx="2305144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solidFill>
                    <a:schemeClr val="bg1">
                      <a:lumMod val="75000"/>
                    </a:schemeClr>
                  </a:solidFill>
                  <a:latin typeface="+mn-ea"/>
                </a:rPr>
                <a:t>전체</a:t>
              </a:r>
              <a:endParaRPr lang="en-US" altLang="ko-KR" sz="700" dirty="0">
                <a:solidFill>
                  <a:schemeClr val="bg1">
                    <a:lumMod val="75000"/>
                  </a:schemeClr>
                </a:solidFill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solidFill>
                    <a:schemeClr val="bg1">
                      <a:lumMod val="75000"/>
                    </a:schemeClr>
                  </a:solidFill>
                  <a:latin typeface="+mn-ea"/>
                </a:rPr>
                <a:t>물품</a:t>
              </a:r>
              <a:endParaRPr lang="en-US" altLang="ko-KR" sz="700" dirty="0">
                <a:solidFill>
                  <a:schemeClr val="bg1">
                    <a:lumMod val="75000"/>
                  </a:schemeClr>
                </a:solidFill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solidFill>
                    <a:schemeClr val="bg1">
                      <a:lumMod val="75000"/>
                    </a:schemeClr>
                  </a:solidFill>
                  <a:latin typeface="+mn-ea"/>
                </a:rPr>
                <a:t>용역</a:t>
              </a:r>
              <a:endParaRPr lang="en-US" altLang="ko-KR" sz="700" dirty="0">
                <a:solidFill>
                  <a:schemeClr val="bg1">
                    <a:lumMod val="75000"/>
                  </a:schemeClr>
                </a:solidFill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solidFill>
                    <a:schemeClr val="bg1">
                      <a:lumMod val="75000"/>
                    </a:schemeClr>
                  </a:solidFill>
                  <a:latin typeface="+mn-ea"/>
                </a:rPr>
                <a:t>공사</a:t>
              </a:r>
              <a:endParaRPr lang="en-US" altLang="ko-KR" sz="700" dirty="0">
                <a:solidFill>
                  <a:schemeClr val="bg1">
                    <a:lumMod val="75000"/>
                  </a:schemeClr>
                </a:solidFill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국외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32" name="직사각형 131"/>
            <p:cNvSpPr/>
            <p:nvPr/>
          </p:nvSpPr>
          <p:spPr>
            <a:xfrm>
              <a:off x="772169" y="2292407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" name="직사각형 132"/>
            <p:cNvSpPr/>
            <p:nvPr/>
          </p:nvSpPr>
          <p:spPr>
            <a:xfrm>
              <a:off x="772169" y="2509633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34" name="그룹 133"/>
            <p:cNvGrpSpPr/>
            <p:nvPr/>
          </p:nvGrpSpPr>
          <p:grpSpPr>
            <a:xfrm flipV="1">
              <a:off x="3140949" y="2093627"/>
              <a:ext cx="91438" cy="45719"/>
              <a:chOff x="6812560" y="3297172"/>
              <a:chExt cx="94010" cy="47005"/>
            </a:xfrm>
          </p:grpSpPr>
          <p:cxnSp>
            <p:nvCxnSpPr>
              <p:cNvPr id="135" name="직선 연결선 13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6" name="직선 연결선 13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7" name="직사각형 136"/>
            <p:cNvSpPr/>
            <p:nvPr/>
          </p:nvSpPr>
          <p:spPr>
            <a:xfrm>
              <a:off x="772169" y="2706723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직사각형 137"/>
            <p:cNvSpPr/>
            <p:nvPr/>
          </p:nvSpPr>
          <p:spPr>
            <a:xfrm>
              <a:off x="772169" y="2921384"/>
              <a:ext cx="107950" cy="1079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직사각형 138"/>
            <p:cNvSpPr/>
            <p:nvPr/>
          </p:nvSpPr>
          <p:spPr>
            <a:xfrm>
              <a:off x="772169" y="3133350"/>
              <a:ext cx="107950" cy="1079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712771" y="3096396"/>
              <a:ext cx="22153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600" dirty="0">
                  <a:solidFill>
                    <a:schemeClr val="bg1"/>
                  </a:solidFill>
                </a:rPr>
                <a:t>v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339906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192180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675399" y="3468520"/>
            <a:ext cx="2712027" cy="619619"/>
            <a:chOff x="675399" y="3490553"/>
            <a:chExt cx="2712027" cy="619619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490553"/>
              <a:ext cx="230514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>
                  <a:latin typeface="+mn-ea"/>
                </a:rPr>
                <a:t>연도 설정 </a:t>
              </a:r>
              <a:r>
                <a:rPr lang="en-US" altLang="ko-KR" sz="700" b="1" dirty="0">
                  <a:solidFill>
                    <a:srgbClr val="FF0000"/>
                  </a:solidFill>
                  <a:latin typeface="+mn-ea"/>
                </a:rPr>
                <a:t>*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713091"/>
              <a:ext cx="670770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지시년도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59" name="그룹 158"/>
            <p:cNvGrpSpPr/>
            <p:nvPr/>
          </p:nvGrpSpPr>
          <p:grpSpPr>
            <a:xfrm flipV="1">
              <a:off x="3140949" y="3588243"/>
              <a:ext cx="91438" cy="45719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81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1464781" y="3740722"/>
              <a:ext cx="1845146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2025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97" name="그림 196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47000" y="3761890"/>
              <a:ext cx="134873" cy="137278"/>
            </a:xfrm>
            <a:prstGeom prst="rect">
              <a:avLst/>
            </a:prstGeom>
          </p:spPr>
        </p:pic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110172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21" name="그룹 220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25" name="TextBox 22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3742892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구분 설정</a:t>
            </a:r>
          </a:p>
        </p:txBody>
      </p:sp>
      <p:grpSp>
        <p:nvGrpSpPr>
          <p:cNvPr id="226" name="그룹 225"/>
          <p:cNvGrpSpPr/>
          <p:nvPr/>
        </p:nvGrpSpPr>
        <p:grpSpPr>
          <a:xfrm flipV="1">
            <a:off x="6261284" y="3840582"/>
            <a:ext cx="91438" cy="45719"/>
            <a:chOff x="6812560" y="3297172"/>
            <a:chExt cx="94010" cy="47005"/>
          </a:xfrm>
        </p:grpSpPr>
        <p:cxnSp>
          <p:nvCxnSpPr>
            <p:cNvPr id="227" name="직선 연결선 226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8" name="직선 연결선 227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9" name="모서리가 둥근 직사각형 228"/>
          <p:cNvSpPr/>
          <p:nvPr/>
        </p:nvSpPr>
        <p:spPr>
          <a:xfrm>
            <a:off x="4569619" y="4023383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3971257"/>
            <a:ext cx="670770" cy="9048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10000"/>
              </a:lnSpc>
            </a:pPr>
            <a:r>
              <a:rPr lang="ko-KR" altLang="en-US" sz="700" dirty="0">
                <a:latin typeface="+mn-ea"/>
              </a:rPr>
              <a:t>부서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10000"/>
              </a:lnSpc>
            </a:pPr>
            <a:r>
              <a:rPr lang="ko-KR" altLang="en-US" sz="700" dirty="0">
                <a:latin typeface="+mn-ea"/>
              </a:rPr>
              <a:t>기능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10000"/>
              </a:lnSpc>
            </a:pPr>
            <a:r>
              <a:rPr lang="ko-KR" altLang="en-US" sz="700" dirty="0">
                <a:latin typeface="+mn-ea"/>
              </a:rPr>
              <a:t>진행상태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10000"/>
              </a:lnSpc>
            </a:pPr>
            <a:r>
              <a:rPr lang="ko-KR" altLang="en-US" sz="700" dirty="0" err="1">
                <a:latin typeface="+mn-ea"/>
              </a:rPr>
              <a:t>품류</a:t>
            </a:r>
            <a:endParaRPr lang="en-US" altLang="ko-KR" sz="700" dirty="0">
              <a:latin typeface="+mn-ea"/>
            </a:endParaRPr>
          </a:p>
        </p:txBody>
      </p:sp>
      <p:sp>
        <p:nvSpPr>
          <p:cNvPr id="231" name="모서리가 둥근 직사각형 230"/>
          <p:cNvSpPr/>
          <p:nvPr/>
        </p:nvSpPr>
        <p:spPr>
          <a:xfrm>
            <a:off x="4569619" y="4246320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sp>
        <p:nvSpPr>
          <p:cNvPr id="232" name="모서리가 둥근 직사각형 231"/>
          <p:cNvSpPr/>
          <p:nvPr/>
        </p:nvSpPr>
        <p:spPr>
          <a:xfrm>
            <a:off x="4569619" y="4467894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sp>
        <p:nvSpPr>
          <p:cNvPr id="233" name="모서리가 둥근 직사각형 232"/>
          <p:cNvSpPr/>
          <p:nvPr/>
        </p:nvSpPr>
        <p:spPr>
          <a:xfrm>
            <a:off x="4572570" y="4704119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grpSp>
        <p:nvGrpSpPr>
          <p:cNvPr id="234" name="그룹 233"/>
          <p:cNvGrpSpPr/>
          <p:nvPr/>
        </p:nvGrpSpPr>
        <p:grpSpPr>
          <a:xfrm>
            <a:off x="6261284" y="4774860"/>
            <a:ext cx="91438" cy="45719"/>
            <a:chOff x="6812560" y="3297172"/>
            <a:chExt cx="94010" cy="47005"/>
          </a:xfrm>
        </p:grpSpPr>
        <p:cxnSp>
          <p:nvCxnSpPr>
            <p:cNvPr id="235" name="직선 연결선 23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6" name="직선 연결선 23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1" name="그룹 240"/>
          <p:cNvGrpSpPr/>
          <p:nvPr/>
        </p:nvGrpSpPr>
        <p:grpSpPr>
          <a:xfrm>
            <a:off x="6261284" y="4540972"/>
            <a:ext cx="91438" cy="45719"/>
            <a:chOff x="6812560" y="3297172"/>
            <a:chExt cx="94010" cy="47005"/>
          </a:xfrm>
        </p:grpSpPr>
        <p:cxnSp>
          <p:nvCxnSpPr>
            <p:cNvPr id="242" name="직선 연결선 2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3" name="직선 연결선 2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4" name="그룹 243"/>
          <p:cNvGrpSpPr/>
          <p:nvPr/>
        </p:nvGrpSpPr>
        <p:grpSpPr>
          <a:xfrm>
            <a:off x="6261284" y="4324805"/>
            <a:ext cx="91438" cy="45719"/>
            <a:chOff x="6812560" y="3297172"/>
            <a:chExt cx="94010" cy="47005"/>
          </a:xfrm>
        </p:grpSpPr>
        <p:cxnSp>
          <p:nvCxnSpPr>
            <p:cNvPr id="245" name="직선 연결선 24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6" name="직선 연결선 24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7" name="그룹 246"/>
          <p:cNvGrpSpPr/>
          <p:nvPr/>
        </p:nvGrpSpPr>
        <p:grpSpPr>
          <a:xfrm>
            <a:off x="6261284" y="4094123"/>
            <a:ext cx="91438" cy="45719"/>
            <a:chOff x="6812560" y="3297172"/>
            <a:chExt cx="94010" cy="47005"/>
          </a:xfrm>
        </p:grpSpPr>
        <p:cxnSp>
          <p:nvCxnSpPr>
            <p:cNvPr id="248" name="직선 연결선 24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9" name="직선 연결선 24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70549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2" name="타원 29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35283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2</a:t>
            </a:r>
            <a:endParaRPr lang="ko-KR" altLang="en-US" sz="900" b="1" dirty="0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3622" y="1956581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err="1">
                <a:latin typeface="+mn-ea"/>
              </a:rPr>
              <a:t>검색어</a:t>
            </a:r>
            <a:r>
              <a:rPr lang="ko-KR" altLang="en-US" sz="700" b="1" dirty="0">
                <a:latin typeface="+mn-ea"/>
              </a:rPr>
              <a:t> </a:t>
            </a:r>
            <a:r>
              <a:rPr lang="en-US" altLang="ko-KR" sz="700" b="1" dirty="0">
                <a:latin typeface="+mn-ea"/>
              </a:rPr>
              <a:t>(</a:t>
            </a:r>
            <a:r>
              <a:rPr lang="ko-KR" altLang="en-US" sz="700" b="1" dirty="0">
                <a:latin typeface="+mn-ea"/>
              </a:rPr>
              <a:t>일부 입력 가능</a:t>
            </a:r>
            <a:r>
              <a:rPr lang="en-US" altLang="ko-KR" sz="700" b="1" dirty="0">
                <a:latin typeface="+mn-ea"/>
              </a:rPr>
              <a:t>)</a:t>
            </a:r>
            <a:endParaRPr lang="ko-KR" altLang="en-US" sz="700" b="1" dirty="0">
              <a:latin typeface="+mn-ea"/>
            </a:endParaRPr>
          </a:p>
        </p:txBody>
      </p:sp>
      <p:grpSp>
        <p:nvGrpSpPr>
          <p:cNvPr id="201" name="그룹 200"/>
          <p:cNvGrpSpPr/>
          <p:nvPr/>
        </p:nvGrpSpPr>
        <p:grpSpPr>
          <a:xfrm flipV="1">
            <a:off x="6266056" y="2054271"/>
            <a:ext cx="91438" cy="45719"/>
            <a:chOff x="6812560" y="3297172"/>
            <a:chExt cx="94010" cy="47005"/>
          </a:xfrm>
        </p:grpSpPr>
        <p:cxnSp>
          <p:nvCxnSpPr>
            <p:cNvPr id="202" name="직선 연결선 20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3" name="직선 연결선 20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4" name="모서리가 둥근 직사각형 203"/>
          <p:cNvSpPr/>
          <p:nvPr/>
        </p:nvSpPr>
        <p:spPr>
          <a:xfrm>
            <a:off x="4574391" y="2237072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 err="1">
                <a:solidFill>
                  <a:schemeClr val="bg1">
                    <a:lumMod val="65000"/>
                  </a:schemeClr>
                </a:solidFill>
              </a:rPr>
              <a:t>군구분을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3622" y="2193572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군구분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품질등급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품목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생산자</a:t>
            </a:r>
            <a:endParaRPr lang="en-US" altLang="ko-KR" sz="700" dirty="0">
              <a:latin typeface="+mn-ea"/>
            </a:endParaRPr>
          </a:p>
        </p:txBody>
      </p:sp>
      <p:sp>
        <p:nvSpPr>
          <p:cNvPr id="207" name="모서리가 둥근 직사각형 206"/>
          <p:cNvSpPr/>
          <p:nvPr/>
        </p:nvSpPr>
        <p:spPr>
          <a:xfrm>
            <a:off x="4574391" y="2458629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 err="1">
                <a:solidFill>
                  <a:schemeClr val="bg1">
                    <a:lumMod val="65000"/>
                  </a:schemeClr>
                </a:solidFill>
              </a:rPr>
              <a:t>품질등급을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8" name="모서리가 둥근 직사각형 207"/>
          <p:cNvSpPr/>
          <p:nvPr/>
        </p:nvSpPr>
        <p:spPr>
          <a:xfrm>
            <a:off x="4574391" y="2903992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 err="1">
                <a:solidFill>
                  <a:schemeClr val="bg1">
                    <a:lumMod val="65000"/>
                  </a:schemeClr>
                </a:solidFill>
              </a:rPr>
              <a:t>부품번호을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66" name="모서리가 둥근 직사각형 265"/>
          <p:cNvSpPr/>
          <p:nvPr/>
        </p:nvSpPr>
        <p:spPr>
          <a:xfrm>
            <a:off x="4574391" y="2681348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 err="1">
                <a:solidFill>
                  <a:schemeClr val="bg1">
                    <a:lumMod val="65000"/>
                  </a:schemeClr>
                </a:solidFill>
              </a:rPr>
              <a:t>재고번호을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 선택하세요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41" name="그룹 140"/>
          <p:cNvGrpSpPr/>
          <p:nvPr/>
        </p:nvGrpSpPr>
        <p:grpSpPr>
          <a:xfrm rot="16200000">
            <a:off x="6266059" y="2745833"/>
            <a:ext cx="91438" cy="45719"/>
            <a:chOff x="6812560" y="3297172"/>
            <a:chExt cx="94010" cy="47005"/>
          </a:xfrm>
        </p:grpSpPr>
        <p:cxnSp>
          <p:nvCxnSpPr>
            <p:cNvPr id="142" name="직선 연결선 1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직선 연결선 14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" name="그룹 2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10" name="직사각형 109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2026-05-26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11" name="직사각형 110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필수 항목 표시 </a:t>
              </a:r>
              <a:r>
                <a:rPr lang="en-US" altLang="ko-KR" sz="700" dirty="0"/>
                <a:t>* </a:t>
              </a:r>
              <a:r>
                <a:rPr lang="ko-KR" altLang="en-US" sz="700" dirty="0"/>
                <a:t>표 추가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 err="1"/>
                <a:t>검색어</a:t>
              </a:r>
              <a:r>
                <a:rPr lang="en-US" altLang="ko-KR" sz="700" dirty="0"/>
                <a:t>, </a:t>
              </a:r>
              <a:r>
                <a:rPr lang="ko-KR" altLang="en-US" sz="700" dirty="0" err="1"/>
                <a:t>구분설정</a:t>
              </a:r>
              <a:r>
                <a:rPr lang="ko-KR" altLang="en-US" sz="700" dirty="0"/>
                <a:t> 수정</a:t>
              </a:r>
            </a:p>
          </p:txBody>
        </p:sp>
      </p:grpSp>
      <p:sp>
        <p:nvSpPr>
          <p:cNvPr id="104" name="모서리가 둥근 직사각형 103"/>
          <p:cNvSpPr/>
          <p:nvPr/>
        </p:nvSpPr>
        <p:spPr>
          <a:xfrm>
            <a:off x="4574391" y="3123173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품목을 선택하세요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05" name="그룹 104"/>
          <p:cNvGrpSpPr/>
          <p:nvPr/>
        </p:nvGrpSpPr>
        <p:grpSpPr>
          <a:xfrm rot="16200000">
            <a:off x="6266059" y="3187658"/>
            <a:ext cx="91438" cy="45719"/>
            <a:chOff x="6812560" y="3297172"/>
            <a:chExt cx="94010" cy="47005"/>
          </a:xfrm>
        </p:grpSpPr>
        <p:cxnSp>
          <p:nvCxnSpPr>
            <p:cNvPr id="106" name="직선 연결선 10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직선 연결선 10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8" name="모서리가 둥근 직사각형 107"/>
          <p:cNvSpPr/>
          <p:nvPr/>
        </p:nvSpPr>
        <p:spPr>
          <a:xfrm>
            <a:off x="4574391" y="3344747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생산자를 선택하세요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09" name="그룹 108"/>
          <p:cNvGrpSpPr/>
          <p:nvPr/>
        </p:nvGrpSpPr>
        <p:grpSpPr>
          <a:xfrm rot="16200000">
            <a:off x="6266059" y="3409232"/>
            <a:ext cx="91438" cy="45719"/>
            <a:chOff x="6812560" y="3297172"/>
            <a:chExt cx="94010" cy="47005"/>
          </a:xfrm>
        </p:grpSpPr>
        <p:cxnSp>
          <p:nvCxnSpPr>
            <p:cNvPr id="112" name="직선 연결선 11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직선 연결선 11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4" name="타원 11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316746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 smtClean="0"/>
              <a:t>4</a:t>
            </a:r>
            <a:endParaRPr lang="ko-KR" altLang="en-US" sz="900" b="1" dirty="0"/>
          </a:p>
        </p:txBody>
      </p:sp>
      <p:grpSp>
        <p:nvGrpSpPr>
          <p:cNvPr id="115" name="그룹 114"/>
          <p:cNvGrpSpPr/>
          <p:nvPr/>
        </p:nvGrpSpPr>
        <p:grpSpPr>
          <a:xfrm>
            <a:off x="8223250" y="705888"/>
            <a:ext cx="3365500" cy="634511"/>
            <a:chOff x="8223250" y="569392"/>
            <a:chExt cx="3365500" cy="634511"/>
          </a:xfrm>
        </p:grpSpPr>
        <p:sp>
          <p:nvSpPr>
            <p:cNvPr id="120" name="직사각형 119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2026-06-01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21" name="직사각형 120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en-US" altLang="ko-KR" sz="700" dirty="0"/>
                <a:t>5</a:t>
              </a:r>
              <a:r>
                <a:rPr lang="ko-KR" altLang="en-US" sz="700" dirty="0"/>
                <a:t>번 품목</a:t>
              </a:r>
              <a:r>
                <a:rPr lang="en-US" altLang="ko-KR" sz="700" dirty="0"/>
                <a:t>, </a:t>
              </a:r>
              <a:r>
                <a:rPr lang="ko-KR" altLang="en-US" sz="700" dirty="0"/>
                <a:t>생산자 추가 됨</a:t>
              </a:r>
            </a:p>
          </p:txBody>
        </p:sp>
      </p:grpSp>
      <p:grpSp>
        <p:nvGrpSpPr>
          <p:cNvPr id="122" name="그룹 121"/>
          <p:cNvGrpSpPr/>
          <p:nvPr/>
        </p:nvGrpSpPr>
        <p:grpSpPr>
          <a:xfrm>
            <a:off x="8223250" y="871572"/>
            <a:ext cx="3365500" cy="634511"/>
            <a:chOff x="8223250" y="569392"/>
            <a:chExt cx="3365500" cy="634511"/>
          </a:xfrm>
        </p:grpSpPr>
        <p:sp>
          <p:nvSpPr>
            <p:cNvPr id="124" name="직사각형 123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 smtClean="0"/>
                <a:t>2026-06-18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25" name="직사각형 124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 smtClean="0"/>
                <a:t>검색 유형 삭제</a:t>
              </a:r>
              <a:endParaRPr lang="ko-KR" altLang="en-US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23971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(1/4)</a:t>
            </a:r>
            <a:endParaRPr lang="ko-KR" altLang="en-US" sz="1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337809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조달계획통합목록</a:t>
            </a:r>
            <a:r>
              <a:rPr lang="en-US" altLang="ko-KR" sz="900" b="1" dirty="0">
                <a:solidFill>
                  <a:prstClr val="black"/>
                </a:solidFill>
              </a:rPr>
              <a:t>-</a:t>
            </a:r>
            <a:r>
              <a:rPr lang="ko-KR" altLang="en-US" sz="900" b="1" dirty="0">
                <a:solidFill>
                  <a:prstClr val="black"/>
                </a:solidFill>
              </a:rPr>
              <a:t>조달계획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dml_prcmPlanSrch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2620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   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검색유형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srchType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목록 검색 유형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사전규격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연간조달계획 에 따라 검색조건과 그리드 항목이 변경되어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taskSeNm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국외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국외 선택 가능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452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발주예정월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(FROM)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orderPrnmntYmFr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발주예정월의 </a:t>
                      </a:r>
                      <a:r>
                        <a:rPr lang="ko-KR" altLang="en-US" sz="800" dirty="0" err="1">
                          <a:latin typeface="+mn-ea"/>
                        </a:rPr>
                        <a:t>시작년월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</a:rPr>
                        <a:t>YYYY-MM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478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발주예정월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(TO)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orderPrnmntYmTo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발주예정월의 </a:t>
                      </a:r>
                      <a:r>
                        <a:rPr lang="ko-KR" altLang="en-US" sz="800" dirty="0" err="1">
                          <a:latin typeface="+mn-ea"/>
                        </a:rPr>
                        <a:t>종료년월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</a:rPr>
                        <a:t>YYYY-MM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153222"/>
                  </a:ext>
                </a:extLst>
              </a:tr>
              <a:tr h="16733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prcmPlanNm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제목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364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판단번호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판단번호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038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발주기관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699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담당자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734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대표품명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rprsItemNm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품명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픔명검색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816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implPrgrsStcd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진행상태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공고게시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계약대기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계약완료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89498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26680D8-99D4-91F3-4FFD-EB65B9B2D067}"/>
              </a:ext>
            </a:extLst>
          </p:cNvPr>
          <p:cNvSpPr txBox="1"/>
          <p:nvPr/>
        </p:nvSpPr>
        <p:spPr>
          <a:xfrm>
            <a:off x="453759" y="3733555"/>
            <a:ext cx="345984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조달계획통합목록</a:t>
            </a:r>
            <a:r>
              <a:rPr lang="en-US" altLang="ko-KR" sz="900" b="1" dirty="0">
                <a:solidFill>
                  <a:prstClr val="black"/>
                </a:solidFill>
              </a:rPr>
              <a:t>-</a:t>
            </a:r>
            <a:r>
              <a:rPr lang="ko-KR" altLang="en-US" sz="900" b="1" dirty="0">
                <a:solidFill>
                  <a:prstClr val="black"/>
                </a:solidFill>
              </a:rPr>
              <a:t>사전규격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dml_bfhdSpcfctSrch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8E7BAD4-F50D-24DB-DF61-2D39C7BD5EBC}"/>
              </a:ext>
            </a:extLst>
          </p:cNvPr>
          <p:cNvGraphicFramePr>
            <a:graphicFrameLocks noGrp="1"/>
          </p:cNvGraphicFramePr>
          <p:nvPr/>
        </p:nvGraphicFramePr>
        <p:xfrm>
          <a:off x="448641" y="3944758"/>
          <a:ext cx="8994883" cy="24268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검색유형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srchType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목록 검색 유형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사전규격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연간조달계획 에 따라 검색조건과 그리드 항목이 변경되어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taskSeNm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국외</a:t>
                      </a:r>
                      <a:endParaRPr lang="en-US" altLang="ko-KR" sz="800" dirty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 선택 가능하며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국외 비활성화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452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접수기간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(FROM)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rcptDtFrom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사전규격 의견접수 시작일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en-US" altLang="ko-KR" sz="800" dirty="0">
                          <a:latin typeface="+mn-ea"/>
                        </a:rPr>
                        <a:t>YYYY-MM-DD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364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접수기간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(TO)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rcptDtTo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사전규격 의견접수 종료일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en-US" altLang="ko-KR" sz="800" dirty="0">
                          <a:latin typeface="+mn-ea"/>
                        </a:rPr>
                        <a:t>YYYY-MM-DD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038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bfhdSpcfctNm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제목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699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판단번호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판단번호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734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발주기관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894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담당자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7640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wrtDt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사전규격 공개일자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</a:rPr>
                        <a:t>YYYY-MM-DD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064780"/>
                  </a:ext>
                </a:extLst>
              </a:tr>
            </a:tbl>
          </a:graphicData>
        </a:graphic>
      </p:graphicFrame>
      <p:sp>
        <p:nvSpPr>
          <p:cNvPr id="6" name="Text Box 73">
            <a:extLst>
              <a:ext uri="{FF2B5EF4-FFF2-40B4-BE49-F238E27FC236}">
                <a16:creationId xmlns:a16="http://schemas.microsoft.com/office/drawing/2014/main" id="{4D9A6B9D-CFE4-2F0F-B878-6DBF9B4EC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93192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11824"/>
            <a:ext cx="3772434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조달계획통합목록</a:t>
            </a:r>
            <a:r>
              <a:rPr lang="en-US" altLang="ko-KR" sz="900" b="1" dirty="0">
                <a:solidFill>
                  <a:prstClr val="black"/>
                </a:solidFill>
              </a:rPr>
              <a:t>-</a:t>
            </a:r>
            <a:r>
              <a:rPr lang="ko-KR" altLang="en-US" sz="900" b="1" dirty="0">
                <a:solidFill>
                  <a:prstClr val="black"/>
                </a:solidFill>
              </a:rPr>
              <a:t>연간조달계획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dml_anlPrcmPlanSrch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23027"/>
          <a:ext cx="8994883" cy="2692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검색유형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srchType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목록 검색 유형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사전규격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연간조달계획 에 따라 검색조건과 그리드 항목이 변경되어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taskSeNm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국외</a:t>
                      </a:r>
                      <a:endParaRPr lang="en-US" altLang="ko-KR" sz="800" dirty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국외 고정으로 선택되며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 비활성화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452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지시년도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drctnYr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연간조달계획 </a:t>
                      </a:r>
                      <a:r>
                        <a:rPr lang="ko-KR" altLang="en-US" sz="800" dirty="0" err="1">
                          <a:latin typeface="+mn-ea"/>
                        </a:rPr>
                        <a:t>지시년도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</a:rPr>
                        <a:t>yyyy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478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부서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153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군구분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prcmRqtInstCd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군구분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038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품질등급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inspShcd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품질등급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699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fscCdN</a:t>
                      </a: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tnItemIdntfNo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734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prtsNo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816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inspShcd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기능 선택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894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frcptlItemMsprgStcd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 선택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공고게시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계약대기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계약완료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776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품류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itemFwkCd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품류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선택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46904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AC54895-1B91-3BE1-5957-341453357C80}"/>
              </a:ext>
            </a:extLst>
          </p:cNvPr>
          <p:cNvSpPr txBox="1"/>
          <p:nvPr/>
        </p:nvSpPr>
        <p:spPr>
          <a:xfrm>
            <a:off x="452999" y="3876156"/>
            <a:ext cx="342458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조달계획통합목록</a:t>
            </a:r>
            <a:r>
              <a:rPr lang="en-US" altLang="ko-KR" sz="900" b="1" dirty="0">
                <a:solidFill>
                  <a:prstClr val="black"/>
                </a:solidFill>
              </a:rPr>
              <a:t>-</a:t>
            </a:r>
            <a:r>
              <a:rPr lang="ko-KR" altLang="en-US" sz="900" b="1" dirty="0">
                <a:solidFill>
                  <a:prstClr val="black"/>
                </a:solidFill>
              </a:rPr>
              <a:t>조달계획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dlt_prcmPlanList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9469F3D-3F23-707F-13E5-5ECD90AE75B9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088441"/>
          <a:ext cx="8994883" cy="2327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조달계획 목록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taskSeNm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국외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073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판단번호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판단번호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565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발주예정월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orderPrnmntYm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발주예정월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177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prcmPlanNm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제목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184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발주기관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82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담당자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330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계약방법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CTMC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774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bidMthdCd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입찰방법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BDTC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예산금액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implPrgrsStcd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진행상태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공고게시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계약대기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계약완료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16041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15D3CB6-6479-0FC6-8DF5-5624382B608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(2/4)</a:t>
            </a:r>
            <a:endParaRPr lang="ko-KR" altLang="en-US" sz="1000" b="1" dirty="0"/>
          </a:p>
        </p:txBody>
      </p:sp>
      <p:sp>
        <p:nvSpPr>
          <p:cNvPr id="8" name="Text Box 73">
            <a:extLst>
              <a:ext uri="{FF2B5EF4-FFF2-40B4-BE49-F238E27FC236}">
                <a16:creationId xmlns:a16="http://schemas.microsoft.com/office/drawing/2014/main" id="{30779245-8131-5E14-D98C-055AAC3BB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410866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FCC781-2003-6F31-D185-B31B97B7B3F2}"/>
              </a:ext>
            </a:extLst>
          </p:cNvPr>
          <p:cNvSpPr txBox="1"/>
          <p:nvPr/>
        </p:nvSpPr>
        <p:spPr>
          <a:xfrm>
            <a:off x="452999" y="825130"/>
            <a:ext cx="350633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조달계획통합목록</a:t>
            </a:r>
            <a:r>
              <a:rPr lang="en-US" altLang="ko-KR" sz="900" b="1" dirty="0">
                <a:solidFill>
                  <a:prstClr val="black"/>
                </a:solidFill>
              </a:rPr>
              <a:t>-</a:t>
            </a:r>
            <a:r>
              <a:rPr lang="ko-KR" altLang="en-US" sz="900" b="1" dirty="0">
                <a:solidFill>
                  <a:prstClr val="black"/>
                </a:solidFill>
              </a:rPr>
              <a:t>사전규격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dlt_bfhdSpcfctList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ED8FB10-6797-1CDF-872E-B16E4190BA2A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37415"/>
          <a:ext cx="8994883" cy="1939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사전규격 목록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taskSeNm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국외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073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판단번호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판단번호 조회결과 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565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bfhdSpcfctNm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제목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177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발주기관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184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담당자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82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bgtAmt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예산금액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330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접수기간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opnnRcptPrd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의견접수 기간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yyyy-mm-dd</a:t>
                      </a:r>
                      <a:r>
                        <a:rPr lang="en-US" altLang="ko-KR" sz="800" dirty="0" err="1">
                          <a:latin typeface="+mn-ea"/>
                        </a:rPr>
                        <a:t>~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774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wrtDt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사전규격 공개일자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E6C7D69-8E18-58C2-F69D-0DD0163465A7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(3/4)</a:t>
            </a:r>
            <a:endParaRPr lang="ko-KR" altLang="en-US" sz="1000" b="1" dirty="0"/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66D086BD-AFF6-8A4F-8A18-89325D17E1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150128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2999" y="828149"/>
            <a:ext cx="387983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1.6. </a:t>
            </a:r>
            <a:r>
              <a:rPr lang="ko-KR" altLang="en-US" sz="900" b="1" dirty="0">
                <a:solidFill>
                  <a:prstClr val="black"/>
                </a:solidFill>
              </a:rPr>
              <a:t>조달계획통합목록</a:t>
            </a:r>
            <a:r>
              <a:rPr lang="en-US" altLang="ko-KR" sz="900" b="1" dirty="0">
                <a:solidFill>
                  <a:prstClr val="black"/>
                </a:solidFill>
              </a:rPr>
              <a:t>-</a:t>
            </a:r>
            <a:r>
              <a:rPr lang="ko-KR" altLang="en-US" sz="900" b="1" dirty="0">
                <a:solidFill>
                  <a:prstClr val="black"/>
                </a:solidFill>
              </a:rPr>
              <a:t>연간조달계획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dlt_anlPrcmPlanList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49143"/>
          <a:ext cx="8994883" cy="42662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31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연간조달계획 목록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군구분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prcmRqtInstCd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군구분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914561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358687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fscCdN</a:t>
                      </a: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tnItemIdntfNo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532629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prtsNo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2097123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품질 등급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inspShcd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품질 등급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704834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생산자 부호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prdcrSgn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생산자 부호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083971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생산자 중복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prdcrDpcn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생산자 중복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248165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unitCd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687801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957907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지시단가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(USD)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drctnUntprc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지시단가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(USD)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282028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지시예산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(USD)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지시예산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(USD)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073243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565203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spcfctNo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177351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장비부호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aplcnEqpmntCd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장비부호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184421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장비명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aplcnEqpmntNm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장비명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821845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구매요청번호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</a:t>
                      </a: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grNo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구매요청번호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330925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clsfNo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774421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inspShcd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기능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771210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frcptlItemMsprgStcd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15313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품류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itemFwkCd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품류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3F09D5C-3137-5295-2F6D-8CE547F19C36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(4/4)</a:t>
            </a:r>
            <a:endParaRPr lang="ko-KR" altLang="en-US" sz="1000" b="1" dirty="0"/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F1344113-74F2-4858-507F-AC2BE28AF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097420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99E91E-3DCA-338A-F1DF-440EB57F2AF1}"/>
              </a:ext>
            </a:extLst>
          </p:cNvPr>
          <p:cNvSpPr txBox="1"/>
          <p:nvPr/>
        </p:nvSpPr>
        <p:spPr>
          <a:xfrm>
            <a:off x="458117" y="590378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AF5D669-579B-3B4F-CCC6-B5A75509D7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970466"/>
              </p:ext>
            </p:extLst>
          </p:nvPr>
        </p:nvGraphicFramePr>
        <p:xfrm>
          <a:off x="453000" y="851805"/>
          <a:ext cx="8995591" cy="1651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발주예정월을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현재월로 세팅한다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scwin.btn_srch_onclick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검색조건에 부합하는 데이터가 조회된다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020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초기화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scwin.btn_init_onclikc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검색조건이 기본값으로 초기화된다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931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조달계획 그리드</a:t>
                      </a:r>
                      <a:r>
                        <a:rPr lang="en-US" altLang="ko-KR" sz="800" dirty="0"/>
                        <a:t>-</a:t>
                      </a:r>
                      <a:r>
                        <a:rPr lang="ko-KR" altLang="en-US" sz="800" dirty="0"/>
                        <a:t>제목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scwin.grd_prcmPlan_onclick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 상세화면으로 이동한다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사전규격 그리드</a:t>
                      </a:r>
                      <a:r>
                        <a:rPr lang="en-US" altLang="ko-KR" sz="800" dirty="0"/>
                        <a:t>-</a:t>
                      </a:r>
                      <a:r>
                        <a:rPr lang="ko-KR" altLang="en-US" sz="800" dirty="0"/>
                        <a:t>제목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scwin.grd_bfhdSpcfct_onclick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사전규격 상세화면으로 이동한다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8500023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3DA083E2-857F-8E9F-A5B4-83E04F5B4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5768" y="649812"/>
            <a:ext cx="1368329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194561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타이틀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우측 버튼은 필요시 노출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[</a:t>
            </a:r>
            <a:r>
              <a:rPr lang="ko-KR" altLang="en-US" dirty="0"/>
              <a:t>조달계획 </a:t>
            </a:r>
            <a:r>
              <a:rPr lang="ko-KR" altLang="en-US" dirty="0" err="1"/>
              <a:t>알림신청</a:t>
            </a:r>
            <a:r>
              <a:rPr lang="en-US" altLang="ko-KR" dirty="0"/>
              <a:t>]</a:t>
            </a:r>
            <a:r>
              <a:rPr lang="ko-KR" altLang="en-US" dirty="0"/>
              <a:t> 버튼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알림신청</a:t>
            </a:r>
            <a:r>
              <a:rPr lang="ko-KR" altLang="en-US" dirty="0"/>
              <a:t> 클릭 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  &gt; </a:t>
            </a:r>
            <a:r>
              <a:rPr lang="ko-KR" altLang="en-US" dirty="0">
                <a:sym typeface="Wingdings" panose="05000000000000000000" pitchFamily="2" charset="2"/>
              </a:rPr>
              <a:t>입찰공고 </a:t>
            </a:r>
            <a:r>
              <a:rPr lang="ko-KR" altLang="en-US" dirty="0" err="1">
                <a:sym typeface="Wingdings" panose="05000000000000000000" pitchFamily="2" charset="2"/>
              </a:rPr>
              <a:t>알림신청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(MUI-OP-01-P10)</a:t>
            </a:r>
            <a:br>
              <a:rPr lang="en-US" altLang="ko-KR" dirty="0">
                <a:sym typeface="Wingdings" panose="05000000000000000000" pitchFamily="2" charset="2"/>
              </a:rPr>
            </a:b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단계표시기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 시 </a:t>
            </a:r>
            <a:r>
              <a:rPr lang="ko-KR" altLang="en-US" dirty="0" err="1"/>
              <a:t>바텀시트에서</a:t>
            </a:r>
            <a:r>
              <a:rPr lang="ko-KR" altLang="en-US" dirty="0"/>
              <a:t> 단계 상세 정보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메뉴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상세내용 </a:t>
            </a:r>
            <a:r>
              <a:rPr lang="en-US" altLang="ko-KR" dirty="0"/>
              <a:t>Tab</a:t>
            </a:r>
            <a:r>
              <a:rPr lang="ko-KR" altLang="en-US" dirty="0"/>
              <a:t>은 진입 시 고정 노출</a:t>
            </a:r>
            <a:r>
              <a:rPr lang="en-US" altLang="ko-KR" dirty="0"/>
              <a:t>- </a:t>
            </a:r>
            <a:r>
              <a:rPr lang="ko-KR" altLang="en-US" dirty="0"/>
              <a:t>탭 </a:t>
            </a:r>
            <a:r>
              <a:rPr lang="en-US" altLang="ko-KR" dirty="0"/>
              <a:t>- </a:t>
            </a:r>
            <a:r>
              <a:rPr lang="ko-KR" altLang="en-US" dirty="0"/>
              <a:t>상세내용</a:t>
            </a:r>
            <a:r>
              <a:rPr lang="en-US" altLang="ko-KR" dirty="0"/>
              <a:t>, </a:t>
            </a:r>
            <a:r>
              <a:rPr lang="ko-KR" altLang="en-US" dirty="0" err="1"/>
              <a:t>품목명세서</a:t>
            </a:r>
            <a:r>
              <a:rPr lang="en-US" altLang="ko-KR" dirty="0"/>
              <a:t>, </a:t>
            </a:r>
            <a:r>
              <a:rPr lang="ko-KR" altLang="en-US" dirty="0" err="1"/>
              <a:t>업체의견</a:t>
            </a:r>
            <a:r>
              <a:rPr lang="en-US" altLang="ko-KR" dirty="0"/>
              <a:t>, </a:t>
            </a:r>
            <a:r>
              <a:rPr lang="ko-KR" altLang="en-US" dirty="0"/>
              <a:t>계약특수조건</a:t>
            </a:r>
            <a:r>
              <a:rPr lang="en-US" altLang="ko-KR" dirty="0"/>
              <a:t>, </a:t>
            </a:r>
            <a:r>
              <a:rPr lang="ko-KR" altLang="en-US" dirty="0"/>
              <a:t>첨부파일 순으로 노출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업체 의견 등록은 로그인 사용자만 가능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로그인 필요 서비스 안내 표시</a:t>
            </a:r>
            <a:r>
              <a:rPr lang="en-US" altLang="ko-KR" dirty="0"/>
              <a:t>(MUI-CM-03-P19)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상세내용에</a:t>
            </a:r>
            <a:r>
              <a:rPr lang="ko-KR" altLang="en-US" dirty="0"/>
              <a:t> 포함된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각 섹션마다 아코디언 기능 사용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별도 정의된 영역에 한하여 </a:t>
            </a:r>
            <a:r>
              <a:rPr lang="en-US" altLang="ko-KR" dirty="0"/>
              <a:t>+ </a:t>
            </a:r>
            <a:r>
              <a:rPr lang="ko-KR" altLang="en-US" dirty="0"/>
              <a:t>버튼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기본값은 상단 이동 버튼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현 상세내용 탭에서는 </a:t>
            </a:r>
            <a:r>
              <a:rPr lang="en-US" altLang="ko-KR" dirty="0"/>
              <a:t>+</a:t>
            </a:r>
            <a:r>
              <a:rPr lang="ko-KR" altLang="en-US" dirty="0"/>
              <a:t>버튼 없음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상세내용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첫 화면 </a:t>
            </a:r>
            <a:r>
              <a:rPr lang="en-US" altLang="ko-KR" dirty="0"/>
              <a:t>– </a:t>
            </a:r>
            <a:r>
              <a:rPr lang="ko-KR" altLang="en-US" dirty="0"/>
              <a:t>상세내용 탭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MUI-OP-01-M03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조달계획 상세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0851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158410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판단번호</a:t>
            </a:r>
            <a:r>
              <a:rPr lang="ko-KR" altLang="en-US" sz="700" dirty="0"/>
              <a:t> </a:t>
            </a:r>
            <a:r>
              <a:rPr lang="en-US" altLang="ko-KR" sz="700" dirty="0"/>
              <a:t>6000A</a:t>
            </a:r>
          </a:p>
          <a:p>
            <a:r>
              <a:rPr lang="en-US" altLang="ko-KR" sz="900" b="1" dirty="0"/>
              <a:t>‘26</a:t>
            </a:r>
            <a:r>
              <a:rPr lang="ko-KR" altLang="en-US" sz="900" b="1" dirty="0"/>
              <a:t>년 </a:t>
            </a:r>
            <a:r>
              <a:rPr lang="en-US" altLang="ko-KR" sz="900" b="1" dirty="0"/>
              <a:t>K5</a:t>
            </a:r>
            <a:r>
              <a:rPr lang="ko-KR" altLang="en-US" sz="900" b="1" dirty="0"/>
              <a:t>방독면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493475"/>
            <a:ext cx="384721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발주예정월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계약방법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예산금액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478086"/>
            <a:ext cx="538609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2026-03</a:t>
            </a:r>
          </a:p>
          <a:p>
            <a:pPr algn="r"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화력총괄계약팀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총액제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1974079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1974079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51256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85380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546317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577662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659648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0821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39916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상세내용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3991608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품목명세서</a:t>
            </a:r>
            <a:endParaRPr lang="ko-KR" altLang="en-US" sz="700" dirty="0">
              <a:latin typeface="+mn-ea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760915" y="3991608"/>
            <a:ext cx="39616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50526" y="3991608"/>
            <a:ext cx="57818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계약특수조건</a:t>
            </a: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08215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3953485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314546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집행계획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427877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622031"/>
            <a:ext cx="792000" cy="16102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2203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622031"/>
            <a:ext cx="6707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요구년도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판단번호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발주기관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발주예정일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계약예정일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집행유형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수량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622031"/>
            <a:ext cx="18144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6000A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화력총괄계약팀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2026-06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제조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50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85313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06684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28055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49425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0796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2167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13537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23376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468520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4802272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15488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98" name="그룹 297"/>
          <p:cNvGrpSpPr/>
          <p:nvPr/>
        </p:nvGrpSpPr>
        <p:grpSpPr>
          <a:xfrm rot="16200000">
            <a:off x="1250697" y="3307709"/>
            <a:ext cx="94010" cy="47005"/>
            <a:chOff x="6812560" y="3297172"/>
            <a:chExt cx="94010" cy="47005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3" name="TextBox 30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277349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304" name="타원 303"/>
          <p:cNvSpPr/>
          <p:nvPr/>
        </p:nvSpPr>
        <p:spPr>
          <a:xfrm>
            <a:off x="1404035" y="3237230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277349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310" name="그룹 309"/>
          <p:cNvGrpSpPr/>
          <p:nvPr/>
        </p:nvGrpSpPr>
        <p:grpSpPr>
          <a:xfrm rot="16200000">
            <a:off x="1906808" y="3307709"/>
            <a:ext cx="94010" cy="47005"/>
            <a:chOff x="6812560" y="3297172"/>
            <a:chExt cx="94010" cy="47005"/>
          </a:xfrm>
        </p:grpSpPr>
        <p:cxnSp>
          <p:nvCxnSpPr>
            <p:cNvPr id="311" name="직선 연결선 31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2" name="직선 연결선 31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13" name="그룹 312"/>
          <p:cNvGrpSpPr/>
          <p:nvPr/>
        </p:nvGrpSpPr>
        <p:grpSpPr>
          <a:xfrm rot="16200000">
            <a:off x="2562920" y="3307709"/>
            <a:ext cx="94010" cy="47005"/>
            <a:chOff x="6812560" y="3297172"/>
            <a:chExt cx="94010" cy="47005"/>
          </a:xfrm>
        </p:grpSpPr>
        <p:cxnSp>
          <p:nvCxnSpPr>
            <p:cNvPr id="314" name="직선 연결선 31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5" name="직선 연결선 31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7" name="타원 296"/>
          <p:cNvSpPr/>
          <p:nvPr/>
        </p:nvSpPr>
        <p:spPr>
          <a:xfrm>
            <a:off x="747925" y="3237230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277349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277349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grpSp>
        <p:nvGrpSpPr>
          <p:cNvPr id="21" name="그룹 20"/>
          <p:cNvGrpSpPr/>
          <p:nvPr/>
        </p:nvGrpSpPr>
        <p:grpSpPr>
          <a:xfrm>
            <a:off x="2058749" y="3237230"/>
            <a:ext cx="603798" cy="187961"/>
            <a:chOff x="2058749" y="3237230"/>
            <a:chExt cx="603798" cy="187961"/>
          </a:xfrm>
        </p:grpSpPr>
        <p:grpSp>
          <p:nvGrpSpPr>
            <p:cNvPr id="15" name="그룹 14"/>
            <p:cNvGrpSpPr/>
            <p:nvPr/>
          </p:nvGrpSpPr>
          <p:grpSpPr>
            <a:xfrm>
              <a:off x="2058749" y="3237230"/>
              <a:ext cx="187961" cy="187961"/>
              <a:chOff x="2058749" y="3237230"/>
              <a:chExt cx="187961" cy="187961"/>
            </a:xfrm>
          </p:grpSpPr>
          <p:sp>
            <p:nvSpPr>
              <p:cNvPr id="306" name="타원 305"/>
              <p:cNvSpPr/>
              <p:nvPr/>
            </p:nvSpPr>
            <p:spPr>
              <a:xfrm>
                <a:off x="2058749" y="3237230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113806" y="3277349"/>
                <a:ext cx="77847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>
                    <a:latin typeface="+mn-ea"/>
                  </a:rPr>
                  <a:t>3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27734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2714860" y="3237230"/>
            <a:ext cx="603798" cy="187961"/>
            <a:chOff x="2714860" y="3237230"/>
            <a:chExt cx="603798" cy="187961"/>
          </a:xfrm>
        </p:grpSpPr>
        <p:grpSp>
          <p:nvGrpSpPr>
            <p:cNvPr id="8" name="그룹 7"/>
            <p:cNvGrpSpPr/>
            <p:nvPr/>
          </p:nvGrpSpPr>
          <p:grpSpPr>
            <a:xfrm>
              <a:off x="2714860" y="3237230"/>
              <a:ext cx="187961" cy="187961"/>
              <a:chOff x="2714860" y="3237230"/>
              <a:chExt cx="187961" cy="187961"/>
            </a:xfrm>
          </p:grpSpPr>
          <p:sp>
            <p:nvSpPr>
              <p:cNvPr id="324" name="타원 323"/>
              <p:cNvSpPr/>
              <p:nvPr/>
            </p:nvSpPr>
            <p:spPr>
              <a:xfrm>
                <a:off x="2714860" y="3237230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769917" y="3277349"/>
                <a:ext cx="77847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>
                    <a:latin typeface="+mn-ea"/>
                  </a:rPr>
                  <a:t>4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27734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</p:grpSp>
      <p:sp>
        <p:nvSpPr>
          <p:cNvPr id="181" name="타원 18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95940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84993" y="1960915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집행계획</a:t>
            </a:r>
          </a:p>
        </p:txBody>
      </p:sp>
      <p:grpSp>
        <p:nvGrpSpPr>
          <p:cNvPr id="252" name="그룹 251"/>
          <p:cNvGrpSpPr/>
          <p:nvPr/>
        </p:nvGrpSpPr>
        <p:grpSpPr>
          <a:xfrm flipV="1">
            <a:off x="6247080" y="2074246"/>
            <a:ext cx="94010" cy="47005"/>
            <a:chOff x="6812560" y="3297172"/>
            <a:chExt cx="94010" cy="47005"/>
          </a:xfrm>
        </p:grpSpPr>
        <p:cxnSp>
          <p:nvCxnSpPr>
            <p:cNvPr id="253" name="직선 연결선 25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1" name="직선 연결선 2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2" name="직사각형 261"/>
          <p:cNvSpPr/>
          <p:nvPr/>
        </p:nvSpPr>
        <p:spPr>
          <a:xfrm>
            <a:off x="3826115" y="2268400"/>
            <a:ext cx="792000" cy="10925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26840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4" name="TextBox 26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3179" y="2268400"/>
            <a:ext cx="670770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요구년도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판단번호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발주기관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발주예정일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⁞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0027" y="2268400"/>
            <a:ext cx="1814470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6000A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화력총괄계약팀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⁞</a:t>
            </a:r>
          </a:p>
        </p:txBody>
      </p: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249950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271321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292691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14062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1" name="직선 연결선 28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35433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2" name="모서리가 둥근 직사각형 281"/>
          <p:cNvSpPr/>
          <p:nvPr/>
        </p:nvSpPr>
        <p:spPr>
          <a:xfrm rot="5400000">
            <a:off x="6098765" y="2514170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84993" y="3566156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pc="-52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판단내역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286" name="그룹 285"/>
          <p:cNvGrpSpPr/>
          <p:nvPr/>
        </p:nvGrpSpPr>
        <p:grpSpPr>
          <a:xfrm flipV="1">
            <a:off x="6247080" y="3679487"/>
            <a:ext cx="94010" cy="47005"/>
            <a:chOff x="6812560" y="3297172"/>
            <a:chExt cx="94010" cy="47005"/>
          </a:xfrm>
        </p:grpSpPr>
        <p:cxnSp>
          <p:nvCxnSpPr>
            <p:cNvPr id="287" name="직선 연결선 286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1" name="직선 연결선 29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19" name="직선 연결선 3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48640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1" name="타원 170"/>
          <p:cNvSpPr/>
          <p:nvPr/>
        </p:nvSpPr>
        <p:spPr>
          <a:xfrm>
            <a:off x="2703016" y="1957671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모서리가 둥근 직사각형 171"/>
          <p:cNvSpPr/>
          <p:nvPr/>
        </p:nvSpPr>
        <p:spPr>
          <a:xfrm>
            <a:off x="2847016" y="1974079"/>
            <a:ext cx="395042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알림신청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3827360" y="1598949"/>
            <a:ext cx="2626449" cy="254730"/>
            <a:chOff x="3821140" y="2217804"/>
            <a:chExt cx="2626449" cy="254730"/>
          </a:xfrm>
        </p:grpSpPr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4819" y="2255927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>
                  <a:latin typeface="+mn-ea"/>
                </a:rPr>
                <a:t>상세내용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19195" y="2255927"/>
              <a:ext cx="4477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품목명세서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861565" y="2255927"/>
              <a:ext cx="396163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업체의견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351176" y="2255927"/>
              <a:ext cx="57818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계약특수조건</a:t>
              </a:r>
            </a:p>
          </p:txBody>
        </p: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92" name="그룹 191"/>
            <p:cNvGrpSpPr/>
            <p:nvPr/>
          </p:nvGrpSpPr>
          <p:grpSpPr>
            <a:xfrm>
              <a:off x="6024736" y="2217804"/>
              <a:ext cx="422853" cy="187961"/>
              <a:chOff x="3641308" y="2234886"/>
              <a:chExt cx="422853" cy="187961"/>
            </a:xfrm>
          </p:grpSpPr>
          <p:sp>
            <p:nvSpPr>
              <p:cNvPr id="193" name="타원 192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0" name="그룹 199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5" name="직선 연결선 204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연결선 205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1" name="타원 200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2" name="그룹 201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3" name="직선 연결선 20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직선 연결선 20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207" name="직사각형 206"/>
          <p:cNvSpPr/>
          <p:nvPr/>
        </p:nvSpPr>
        <p:spPr>
          <a:xfrm>
            <a:off x="3816506" y="4009396"/>
            <a:ext cx="792000" cy="16102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14413" y="400939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9" name="TextBox 20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3570" y="4009396"/>
            <a:ext cx="6707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요구년도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판단번호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발주기관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발주예정일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계약예정일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집행유형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수량</a:t>
            </a:r>
            <a:endParaRPr lang="en-US" altLang="ko-KR" sz="700" dirty="0">
              <a:latin typeface="+mn-ea"/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60418" y="4009396"/>
            <a:ext cx="18144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6000A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화력총괄계약팀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2026-06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제조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50</a:t>
            </a:r>
          </a:p>
        </p:txBody>
      </p:sp>
      <p:cxnSp>
        <p:nvCxnSpPr>
          <p:cNvPr id="211" name="직선 연결선 2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16506" y="424050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2" name="직선 연결선 21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16506" y="445420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3" name="직선 연결선 21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16506" y="466791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4" name="직선 연결선 21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16506" y="488162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5" name="직선 연결선 2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16506" y="509532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6" name="직선 연결선 2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16506" y="530903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16506" y="552274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56" name="그룹 155"/>
          <p:cNvGrpSpPr/>
          <p:nvPr/>
        </p:nvGrpSpPr>
        <p:grpSpPr>
          <a:xfrm rot="5400000">
            <a:off x="3158978" y="3232595"/>
            <a:ext cx="187961" cy="187961"/>
            <a:chOff x="3876200" y="2234886"/>
            <a:chExt cx="187961" cy="187961"/>
          </a:xfrm>
        </p:grpSpPr>
        <p:sp>
          <p:nvSpPr>
            <p:cNvPr id="157" name="타원 15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8" name="그룹 15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59" name="직선 연결선 15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0" name="직선 연결선 15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70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00816" y="1336107"/>
            <a:ext cx="247325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스크롤 시 표시 영역 상단 달라붙음 처리 </a:t>
            </a:r>
            <a:r>
              <a:rPr lang="en-US" altLang="ko-KR" sz="700" dirty="0"/>
              <a:t>(sticky)</a:t>
            </a:r>
            <a:endParaRPr lang="ko-KR" altLang="en-US" sz="900" b="1" dirty="0"/>
          </a:p>
        </p:txBody>
      </p:sp>
      <p:sp>
        <p:nvSpPr>
          <p:cNvPr id="173" name="평행 사변형 172"/>
          <p:cNvSpPr/>
          <p:nvPr/>
        </p:nvSpPr>
        <p:spPr>
          <a:xfrm rot="16200000" flipH="1">
            <a:off x="2206966" y="2619444"/>
            <a:ext cx="2769233" cy="408308"/>
          </a:xfrm>
          <a:prstGeom prst="parallelogram">
            <a:avLst>
              <a:gd name="adj" fmla="val 582592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2" name="타원 33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199457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174" name="타원 17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98190" y="440511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87" name="타원 186"/>
          <p:cNvSpPr/>
          <p:nvPr/>
        </p:nvSpPr>
        <p:spPr>
          <a:xfrm>
            <a:off x="6596790" y="517045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4" name="그룹 193"/>
          <p:cNvGrpSpPr/>
          <p:nvPr/>
        </p:nvGrpSpPr>
        <p:grpSpPr>
          <a:xfrm>
            <a:off x="6726257" y="5299917"/>
            <a:ext cx="124144" cy="124144"/>
            <a:chOff x="162544" y="5299917"/>
            <a:chExt cx="124144" cy="124144"/>
          </a:xfrm>
        </p:grpSpPr>
        <p:cxnSp>
          <p:nvCxnSpPr>
            <p:cNvPr id="195" name="직선 연결선 194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직선 연결선 195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068069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직사각형 243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0" name="양쪽 모서리가 둥근 사각형 269"/>
          <p:cNvSpPr/>
          <p:nvPr/>
        </p:nvSpPr>
        <p:spPr>
          <a:xfrm>
            <a:off x="3789896" y="1609111"/>
            <a:ext cx="2712027" cy="4623188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72" name="모서리가 둥근 직사각형 271"/>
          <p:cNvSpPr/>
          <p:nvPr/>
        </p:nvSpPr>
        <p:spPr>
          <a:xfrm>
            <a:off x="4875909" y="163950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73" name="그룹 272"/>
          <p:cNvGrpSpPr/>
          <p:nvPr/>
        </p:nvGrpSpPr>
        <p:grpSpPr>
          <a:xfrm>
            <a:off x="6278835" y="1773925"/>
            <a:ext cx="94010" cy="94010"/>
            <a:chOff x="6812560" y="3297172"/>
            <a:chExt cx="94010" cy="94010"/>
          </a:xfrm>
        </p:grpSpPr>
        <p:cxnSp>
          <p:nvCxnSpPr>
            <p:cNvPr id="274" name="직선 연결선 273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5" name="직선 연결선 274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6" name="TextBox 27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8973" y="175460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입찰공고 </a:t>
            </a:r>
            <a:r>
              <a:rPr lang="ko-KR" altLang="en-US" sz="900" dirty="0" err="1">
                <a:latin typeface="+mn-ea"/>
              </a:rPr>
              <a:t>알림신청</a:t>
            </a:r>
            <a:endParaRPr lang="ko-KR" altLang="en-US" sz="900" dirty="0">
              <a:latin typeface="+mn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입찰공고 </a:t>
            </a:r>
            <a:r>
              <a:rPr lang="ko-KR" altLang="en-US" dirty="0" err="1"/>
              <a:t>알림신청</a:t>
            </a:r>
            <a:r>
              <a:rPr lang="ko-KR" altLang="en-US" dirty="0"/>
              <a:t> 팝업 화면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수신자 휴대폰 번호 입력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내 정보의 휴대폰 번호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disable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수정은 내 정보에서 처리 가능</a:t>
            </a:r>
            <a:r>
              <a:rPr lang="en-US" altLang="ko-KR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수신동의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</a:t>
            </a:r>
            <a:r>
              <a:rPr lang="en-US" altLang="ko-KR" dirty="0"/>
              <a:t>: </a:t>
            </a:r>
            <a:r>
              <a:rPr lang="ko-KR" altLang="en-US" dirty="0" err="1"/>
              <a:t>동의안함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동의 안함 상태 신청 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수신동의</a:t>
            </a:r>
            <a:r>
              <a:rPr lang="ko-KR" altLang="en-US" dirty="0"/>
              <a:t> 이후 신청할 수 있습니다</a:t>
            </a:r>
            <a:r>
              <a:rPr lang="en-US" altLang="ko-KR" dirty="0"/>
              <a:t>. </a:t>
            </a:r>
            <a:r>
              <a:rPr lang="ko-KR" altLang="en-US" dirty="0" err="1"/>
              <a:t>모달</a:t>
            </a:r>
            <a:r>
              <a:rPr lang="ko-KR" altLang="en-US" dirty="0"/>
              <a:t> 팝업 안내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입찰공고 </a:t>
            </a:r>
            <a:r>
              <a:rPr lang="ko-KR" altLang="en-US" dirty="0" err="1">
                <a:latin typeface="+mn-ea"/>
              </a:rPr>
              <a:t>알림신청</a:t>
            </a:r>
            <a:endParaRPr lang="en-US" altLang="ko-KR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/>
              <a:t>조달계획 상세 첫 화면 </a:t>
            </a:r>
            <a:r>
              <a:rPr lang="en-US" altLang="ko-KR" dirty="0"/>
              <a:t>– </a:t>
            </a:r>
            <a:r>
              <a:rPr lang="ko-KR" altLang="en-US" dirty="0">
                <a:latin typeface="+mn-ea"/>
              </a:rPr>
              <a:t>입찰공고 이후 알림을 신청하는 팝업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알림신청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MUI-OP-01-P10</a:t>
            </a:r>
            <a:endParaRPr lang="ko-KR" altLang="en-US" dirty="0"/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양쪽 모서리가 둥근 사각형 198"/>
          <p:cNvSpPr/>
          <p:nvPr/>
        </p:nvSpPr>
        <p:spPr>
          <a:xfrm>
            <a:off x="675399" y="1609111"/>
            <a:ext cx="2712027" cy="4623188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18" name="모서리가 둥근 직사각형 217"/>
          <p:cNvSpPr/>
          <p:nvPr/>
        </p:nvSpPr>
        <p:spPr>
          <a:xfrm>
            <a:off x="1761412" y="163950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19" name="그룹 218"/>
          <p:cNvGrpSpPr/>
          <p:nvPr/>
        </p:nvGrpSpPr>
        <p:grpSpPr>
          <a:xfrm>
            <a:off x="3164338" y="1773925"/>
            <a:ext cx="94010" cy="94010"/>
            <a:chOff x="6812560" y="3297172"/>
            <a:chExt cx="94010" cy="94010"/>
          </a:xfrm>
        </p:grpSpPr>
        <p:cxnSp>
          <p:nvCxnSpPr>
            <p:cNvPr id="220" name="직선 연결선 219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1" name="직선 연결선 220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2" name="TextBox 2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175460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입찰공고 </a:t>
            </a:r>
            <a:r>
              <a:rPr lang="ko-KR" altLang="en-US" sz="900" dirty="0" err="1">
                <a:latin typeface="+mn-ea"/>
              </a:rPr>
              <a:t>알림신청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223" name="직선 연결선 2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01600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4" name="TextBox 2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498734"/>
            <a:ext cx="144430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800" b="1" dirty="0">
                <a:latin typeface="맑은 고딕" panose="020B0503020000020004" pitchFamily="50" charset="-127"/>
              </a:rPr>
              <a:t>입찰공고 </a:t>
            </a:r>
            <a:r>
              <a:rPr lang="ko-KR" altLang="en-US" sz="800" b="1" dirty="0" err="1">
                <a:latin typeface="맑은 고딕" panose="020B0503020000020004" pitchFamily="50" charset="-127"/>
              </a:rPr>
              <a:t>알림신청</a:t>
            </a:r>
            <a:r>
              <a:rPr lang="ko-KR" altLang="en-US" sz="800" b="1" dirty="0">
                <a:latin typeface="맑은 고딕" panose="020B0503020000020004" pitchFamily="50" charset="-127"/>
              </a:rPr>
              <a:t> 서비스 안내</a:t>
            </a:r>
          </a:p>
        </p:txBody>
      </p:sp>
      <p:cxnSp>
        <p:nvCxnSpPr>
          <p:cNvPr id="225" name="직선 연결선 22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17412" y="2704173"/>
            <a:ext cx="2603018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6" name="TextBox 22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803991"/>
            <a:ext cx="247394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서비스 개요</a:t>
            </a:r>
            <a:endParaRPr lang="en-US" altLang="ko-KR" sz="700" dirty="0">
              <a:latin typeface="맑은 고딕" panose="020B0503020000020004" pitchFamily="50" charset="-127"/>
            </a:endParaRPr>
          </a:p>
        </p:txBody>
      </p: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17412" y="330699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8" name="모서리가 둥근 직사각형 227"/>
          <p:cNvSpPr/>
          <p:nvPr/>
        </p:nvSpPr>
        <p:spPr>
          <a:xfrm rot="5400000">
            <a:off x="2662242" y="2747373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30" name="그룹 229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231" name="직사각형 230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2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신청하기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3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취소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34" name="TextBox 23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988423"/>
            <a:ext cx="247394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1013612">
              <a:defRPr/>
            </a:pPr>
            <a:r>
              <a:rPr lang="ko-KR" altLang="en-US" sz="700" dirty="0"/>
              <a:t>연초에 공개되는 조달계획에서  알림</a:t>
            </a:r>
            <a:r>
              <a:rPr lang="en-US" altLang="ko-KR" sz="700" dirty="0"/>
              <a:t> </a:t>
            </a:r>
            <a:r>
              <a:rPr lang="ko-KR" altLang="en-US" sz="700" dirty="0"/>
              <a:t>신청한 품목에 대한 입찰공고가 시스템에 게시되면 알려드리는 서비스입니다</a:t>
            </a:r>
            <a:r>
              <a:rPr lang="en-US" altLang="ko-KR" sz="700" dirty="0"/>
              <a:t>.</a:t>
            </a:r>
            <a:endParaRPr kumimoji="1" lang="en-US" altLang="ko-KR" sz="700" spc="-60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406816"/>
            <a:ext cx="247394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신청방법</a:t>
            </a:r>
            <a:endParaRPr lang="en-US" altLang="ko-KR" sz="700" dirty="0">
              <a:latin typeface="맑은 고딕" panose="020B0503020000020004" pitchFamily="50" charset="-127"/>
            </a:endParaRPr>
          </a:p>
        </p:txBody>
      </p:sp>
      <p:cxnSp>
        <p:nvCxnSpPr>
          <p:cNvPr id="236" name="직선 연결선 23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17412" y="390982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7" name="TextBox 23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591248"/>
            <a:ext cx="247394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1013612">
              <a:defRPr/>
            </a:pPr>
            <a:r>
              <a:rPr lang="ko-KR" altLang="en-US" sz="700" dirty="0"/>
              <a:t>조달계획 상세화면에서 ‘</a:t>
            </a:r>
            <a:r>
              <a:rPr lang="ko-KR" altLang="en-US" sz="700" dirty="0" err="1"/>
              <a:t>공고게시알림신청</a:t>
            </a:r>
            <a:r>
              <a:rPr lang="ko-KR" altLang="en-US" sz="700" dirty="0"/>
              <a:t>’ 버튼이 보이는 경우</a:t>
            </a:r>
            <a:r>
              <a:rPr lang="en-US" altLang="ko-KR" sz="700" dirty="0"/>
              <a:t>, </a:t>
            </a:r>
            <a:r>
              <a:rPr lang="ko-KR" altLang="en-US" sz="700" dirty="0"/>
              <a:t>버튼을 눌러 신청하시면 됩니다</a:t>
            </a:r>
            <a:r>
              <a:rPr lang="en-US" altLang="ko-KR" sz="700" dirty="0"/>
              <a:t>.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4015175"/>
            <a:ext cx="247394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rgbClr val="000000"/>
                </a:solidFill>
                <a:latin typeface="Consolas" panose="020B0609020204030204" pitchFamily="49" charset="0"/>
              </a:rPr>
              <a:t>유의사항</a:t>
            </a:r>
            <a:endParaRPr lang="en-US" altLang="ko-KR" sz="700" dirty="0">
              <a:latin typeface="맑은 고딕" panose="020B0503020000020004" pitchFamily="50" charset="-127"/>
            </a:endParaRPr>
          </a:p>
        </p:txBody>
      </p:sp>
      <p:cxnSp>
        <p:nvCxnSpPr>
          <p:cNvPr id="239" name="직선 연결선 23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17412" y="474337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4199607"/>
            <a:ext cx="247394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1013612">
              <a:defRPr/>
            </a:pPr>
            <a:r>
              <a:rPr lang="ko-KR" altLang="en-US" sz="700" dirty="0"/>
              <a:t>입찰공고는 </a:t>
            </a:r>
            <a:r>
              <a:rPr lang="ko-KR" altLang="en-US" sz="700" dirty="0" err="1"/>
              <a:t>국계법에</a:t>
            </a:r>
            <a:r>
              <a:rPr lang="ko-KR" altLang="en-US" sz="700" dirty="0"/>
              <a:t> 따라 </a:t>
            </a:r>
            <a:r>
              <a:rPr lang="ko-KR" altLang="en-US" sz="700" dirty="0" err="1"/>
              <a:t>조달업체가</a:t>
            </a:r>
            <a:r>
              <a:rPr lang="ko-KR" altLang="en-US" sz="700" dirty="0"/>
              <a:t> 직접 전자조달시스템에서 확인할 </a:t>
            </a:r>
            <a:r>
              <a:rPr lang="en-US" altLang="ko-KR" sz="700" dirty="0"/>
              <a:t>/</a:t>
            </a:r>
            <a:r>
              <a:rPr lang="ko-KR" altLang="en-US" sz="700" dirty="0" err="1"/>
              <a:t>미전송</a:t>
            </a:r>
            <a:r>
              <a:rPr lang="en-US" altLang="ko-KR" sz="700" dirty="0"/>
              <a:t>/</a:t>
            </a:r>
            <a:r>
              <a:rPr lang="ko-KR" altLang="en-US" sz="700" dirty="0" err="1"/>
              <a:t>스팸처리</a:t>
            </a:r>
            <a:r>
              <a:rPr lang="ko-KR" altLang="en-US" sz="700" dirty="0"/>
              <a:t> 등으로 사용자가 제대로 인지하지 못하였을 경우에 발생하는 문제에 대해 본 시스템은 책임지지 않습니다</a:t>
            </a:r>
            <a:r>
              <a:rPr lang="en-US" altLang="ko-KR" sz="700" dirty="0"/>
              <a:t>.</a:t>
            </a:r>
          </a:p>
        </p:txBody>
      </p:sp>
      <p:grpSp>
        <p:nvGrpSpPr>
          <p:cNvPr id="241" name="그룹 240"/>
          <p:cNvGrpSpPr/>
          <p:nvPr/>
        </p:nvGrpSpPr>
        <p:grpSpPr>
          <a:xfrm>
            <a:off x="720490" y="4879884"/>
            <a:ext cx="2610778" cy="409958"/>
            <a:chOff x="720490" y="3415355"/>
            <a:chExt cx="2610778" cy="409958"/>
          </a:xfrm>
        </p:grpSpPr>
        <p:sp>
          <p:nvSpPr>
            <p:cNvPr id="24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415355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수신자 휴대폰 번호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sp>
          <p:nvSpPr>
            <p:cNvPr id="243" name="모서리가 둥근 직사각형 242"/>
            <p:cNvSpPr/>
            <p:nvPr/>
          </p:nvSpPr>
          <p:spPr>
            <a:xfrm>
              <a:off x="720490" y="3578063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010-1234-5678</a:t>
              </a:r>
              <a:endParaRPr lang="ko-KR" altLang="en-US" sz="800" dirty="0"/>
            </a:p>
          </p:txBody>
        </p:sp>
      </p:grpSp>
      <p:sp>
        <p:nvSpPr>
          <p:cNvPr id="332" name="타원 33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23783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4442" y="2123243"/>
            <a:ext cx="247394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 defTabSz="1013612">
              <a:defRPr/>
            </a:pPr>
            <a:r>
              <a:rPr lang="en-US" altLang="ko-KR" sz="700" b="1" dirty="0">
                <a:solidFill>
                  <a:srgbClr val="FF0000"/>
                </a:solidFill>
              </a:rPr>
              <a:t>※ </a:t>
            </a:r>
            <a:r>
              <a:rPr lang="ko-KR" altLang="en-US" sz="700" b="1" dirty="0">
                <a:solidFill>
                  <a:srgbClr val="FF0000"/>
                </a:solidFill>
              </a:rPr>
              <a:t>본 </a:t>
            </a:r>
            <a:r>
              <a:rPr lang="ko-KR" altLang="en-US" sz="700" b="1" dirty="0" err="1">
                <a:solidFill>
                  <a:srgbClr val="FF0000"/>
                </a:solidFill>
              </a:rPr>
              <a:t>조달계획은</a:t>
            </a:r>
            <a:r>
              <a:rPr lang="ko-KR" altLang="en-US" sz="700" b="1" dirty="0">
                <a:solidFill>
                  <a:srgbClr val="FF0000"/>
                </a:solidFill>
              </a:rPr>
              <a:t> </a:t>
            </a:r>
            <a:r>
              <a:rPr lang="ko-KR" altLang="en-US" sz="700" b="1" dirty="0" err="1">
                <a:solidFill>
                  <a:srgbClr val="FF0000"/>
                </a:solidFill>
              </a:rPr>
              <a:t>조달판단</a:t>
            </a:r>
            <a:r>
              <a:rPr lang="ko-KR" altLang="en-US" sz="700" b="1" dirty="0">
                <a:solidFill>
                  <a:srgbClr val="FF0000"/>
                </a:solidFill>
              </a:rPr>
              <a:t> 과정에서 변동될 수 있습니다</a:t>
            </a:r>
            <a:r>
              <a:rPr lang="en-US" altLang="ko-KR" sz="700" b="1" dirty="0">
                <a:solidFill>
                  <a:srgbClr val="FF0000"/>
                </a:solidFill>
              </a:rPr>
              <a:t>.</a:t>
            </a:r>
            <a:endParaRPr lang="en-US" altLang="ko-KR" sz="700" dirty="0"/>
          </a:p>
        </p:txBody>
      </p:sp>
      <p:cxnSp>
        <p:nvCxnSpPr>
          <p:cNvPr id="246" name="직선 연결선 24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17412" y="2342507"/>
            <a:ext cx="2603018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7" name="직선 연결선 24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50082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8" name="TextBox 2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4442" y="5637334"/>
            <a:ext cx="2473940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 defTabSz="1013612">
              <a:defRPr/>
            </a:pPr>
            <a:r>
              <a:rPr lang="en-US" altLang="ko-KR" sz="700" dirty="0"/>
              <a:t>※ </a:t>
            </a:r>
            <a:r>
              <a:rPr lang="ko-KR" altLang="en-US" sz="700" dirty="0"/>
              <a:t>휴대폰 변경은</a:t>
            </a:r>
            <a:endParaRPr lang="en-US" altLang="ko-KR" sz="700" dirty="0"/>
          </a:p>
          <a:p>
            <a:pPr lvl="0" algn="ctr" defTabSz="1013612">
              <a:defRPr/>
            </a:pPr>
            <a:r>
              <a:rPr lang="ko-KR" altLang="en-US" sz="700" dirty="0" err="1"/>
              <a:t>마이페이지</a:t>
            </a:r>
            <a:r>
              <a:rPr lang="en-US" altLang="ko-KR" sz="700" dirty="0"/>
              <a:t>(</a:t>
            </a:r>
            <a:r>
              <a:rPr lang="ko-KR" altLang="en-US" sz="700" dirty="0" err="1"/>
              <a:t>조달업체</a:t>
            </a:r>
            <a:r>
              <a:rPr lang="en-US" altLang="ko-KR" sz="700" dirty="0"/>
              <a:t>) &gt; </a:t>
            </a:r>
            <a:r>
              <a:rPr lang="ko-KR" altLang="en-US" sz="700" dirty="0"/>
              <a:t>알림서비스신청 에서</a:t>
            </a:r>
            <a:endParaRPr lang="en-US" altLang="ko-KR" sz="700" dirty="0"/>
          </a:p>
          <a:p>
            <a:pPr lvl="0" algn="ctr" defTabSz="1013612">
              <a:defRPr/>
            </a:pPr>
            <a:r>
              <a:rPr lang="ko-KR" altLang="en-US" sz="700" dirty="0"/>
              <a:t>변경이 가능합니다</a:t>
            </a:r>
            <a:r>
              <a:rPr lang="en-US" altLang="ko-KR" sz="700" dirty="0"/>
              <a:t>.</a:t>
            </a:r>
          </a:p>
        </p:txBody>
      </p:sp>
      <p:sp>
        <p:nvSpPr>
          <p:cNvPr id="249" name="타원 24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81870" y="175360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0" name="타원 24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81870" y="484296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1892" y="2188672"/>
            <a:ext cx="247394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/>
              <a:t>입찰 단계별 안내 </a:t>
            </a:r>
            <a:r>
              <a:rPr lang="ko-KR" altLang="en-US" sz="700" dirty="0" err="1"/>
              <a:t>수신동의</a:t>
            </a:r>
            <a:endParaRPr lang="en-US" altLang="ko-KR" sz="700" dirty="0">
              <a:latin typeface="맑은 고딕" panose="020B0503020000020004" pitchFamily="50" charset="-127"/>
            </a:endParaRPr>
          </a:p>
        </p:txBody>
      </p:sp>
      <p:cxnSp>
        <p:nvCxnSpPr>
          <p:cNvPr id="255" name="직선 연결선 25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2815" y="208332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56" name="그룹 255"/>
          <p:cNvGrpSpPr/>
          <p:nvPr/>
        </p:nvGrpSpPr>
        <p:grpSpPr>
          <a:xfrm>
            <a:off x="4553124" y="2478696"/>
            <a:ext cx="1197246" cy="107722"/>
            <a:chOff x="4526323" y="5902014"/>
            <a:chExt cx="1197246" cy="107722"/>
          </a:xfrm>
        </p:grpSpPr>
        <p:sp>
          <p:nvSpPr>
            <p:cNvPr id="257" name="타원 256"/>
            <p:cNvSpPr/>
            <p:nvPr/>
          </p:nvSpPr>
          <p:spPr>
            <a:xfrm>
              <a:off x="4526323" y="5907195"/>
              <a:ext cx="106031" cy="9736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8" name="타원 257"/>
            <p:cNvSpPr/>
            <p:nvPr/>
          </p:nvSpPr>
          <p:spPr>
            <a:xfrm>
              <a:off x="5277619" y="5907195"/>
              <a:ext cx="106031" cy="9736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94755" y="5902014"/>
              <a:ext cx="391133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동의 안함</a:t>
              </a:r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454265" y="5902014"/>
              <a:ext cx="269304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동의함</a:t>
              </a:r>
            </a:p>
          </p:txBody>
        </p:sp>
      </p:grp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2815" y="280399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0" name="TextBox 28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23929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57767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12329664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물품</a:t>
            </a:r>
            <a:r>
              <a:rPr lang="en-US" altLang="ko-KR" dirty="0"/>
              <a:t>/</a:t>
            </a:r>
            <a:r>
              <a:rPr lang="ko-KR" altLang="en-US" dirty="0"/>
              <a:t>용역</a:t>
            </a:r>
            <a:r>
              <a:rPr lang="en-US" altLang="ko-KR" dirty="0"/>
              <a:t>]</a:t>
            </a:r>
            <a:r>
              <a:rPr lang="ko-KR" altLang="en-US" dirty="0"/>
              <a:t>상세내용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집행계획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판단내역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조달계획상세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첫 화면 </a:t>
            </a:r>
            <a:r>
              <a:rPr lang="en-US" altLang="ko-KR" dirty="0"/>
              <a:t>– [</a:t>
            </a:r>
            <a:r>
              <a:rPr lang="ko-KR" altLang="en-US" dirty="0"/>
              <a:t>물품</a:t>
            </a:r>
            <a:r>
              <a:rPr lang="en-US" altLang="ko-KR" dirty="0"/>
              <a:t>/</a:t>
            </a:r>
            <a:r>
              <a:rPr lang="ko-KR" altLang="en-US" dirty="0"/>
              <a:t>용역</a:t>
            </a:r>
            <a:r>
              <a:rPr lang="en-US" altLang="ko-KR" dirty="0"/>
              <a:t>]</a:t>
            </a:r>
            <a:r>
              <a:rPr lang="ko-KR" altLang="en-US" dirty="0"/>
              <a:t>상세내용 탭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상세내용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MUI-OP-01-M03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" name="그룹 21"/>
          <p:cNvGrpSpPr/>
          <p:nvPr/>
        </p:nvGrpSpPr>
        <p:grpSpPr>
          <a:xfrm>
            <a:off x="701175" y="1527996"/>
            <a:ext cx="2642526" cy="3970026"/>
            <a:chOff x="701175" y="1527996"/>
            <a:chExt cx="2642526" cy="3970026"/>
          </a:xfrm>
        </p:grpSpPr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2146" y="1527996"/>
              <a:ext cx="452259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집행계획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57" name="그룹 156"/>
            <p:cNvGrpSpPr/>
            <p:nvPr/>
          </p:nvGrpSpPr>
          <p:grpSpPr>
            <a:xfrm flipV="1">
              <a:off x="3124233" y="1641327"/>
              <a:ext cx="94010" cy="47005"/>
              <a:chOff x="6812560" y="3297172"/>
              <a:chExt cx="94010" cy="47005"/>
            </a:xfrm>
          </p:grpSpPr>
          <p:cxnSp>
            <p:nvCxnSpPr>
              <p:cNvPr id="158" name="직선 연결선 15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9" name="직선 연결선 15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0" name="직사각형 159"/>
            <p:cNvSpPr/>
            <p:nvPr/>
          </p:nvSpPr>
          <p:spPr>
            <a:xfrm>
              <a:off x="703268" y="1835481"/>
              <a:ext cx="792000" cy="364780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0331" y="1835481"/>
              <a:ext cx="725552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요구년도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판단번호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발주예정월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계약예정월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집행유형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대표품명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본조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국채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장기국채</a:t>
              </a:r>
              <a:r>
                <a:rPr lang="en-US" altLang="ko-KR" sz="700" dirty="0">
                  <a:latin typeface="+mn-ea"/>
                </a:rPr>
                <a:t>-</a:t>
              </a:r>
              <a:r>
                <a:rPr lang="ko-KR" altLang="en-US" sz="700" dirty="0" err="1">
                  <a:latin typeface="+mn-ea"/>
                </a:rPr>
                <a:t>본조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장기국채</a:t>
              </a:r>
              <a:r>
                <a:rPr lang="en-US" altLang="ko-KR" sz="700" dirty="0">
                  <a:latin typeface="+mn-ea"/>
                </a:rPr>
                <a:t>-</a:t>
              </a:r>
              <a:r>
                <a:rPr lang="ko-KR" altLang="en-US" sz="700" dirty="0">
                  <a:latin typeface="+mn-ea"/>
                </a:rPr>
                <a:t>현금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합계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총부기금액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미확정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47180" y="1835481"/>
              <a:ext cx="1796521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6000A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화력총괄계약팀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2026-06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50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-26</a:t>
              </a:r>
              <a:r>
                <a:rPr lang="ko-KR" altLang="en-US" sz="700" dirty="0">
                  <a:latin typeface="+mn-ea"/>
                </a:rPr>
                <a:t>년 </a:t>
              </a:r>
              <a:r>
                <a:rPr lang="en-US" altLang="ko-KR" sz="700" dirty="0">
                  <a:latin typeface="+mn-ea"/>
                </a:rPr>
                <a:t>K5</a:t>
              </a:r>
              <a:r>
                <a:rPr lang="ko-KR" altLang="en-US" sz="700" dirty="0">
                  <a:latin typeface="+mn-ea"/>
                </a:rPr>
                <a:t>방독면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7" name="그룹 16"/>
            <p:cNvGrpSpPr/>
            <p:nvPr/>
          </p:nvGrpSpPr>
          <p:grpSpPr>
            <a:xfrm>
              <a:off x="701175" y="1835481"/>
              <a:ext cx="2630093" cy="3650578"/>
              <a:chOff x="701175" y="1835481"/>
              <a:chExt cx="2630093" cy="3650578"/>
            </a:xfrm>
          </p:grpSpPr>
          <p:cxnSp>
            <p:nvCxnSpPr>
              <p:cNvPr id="161" name="직선 연결선 16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183548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4" name="직선 연결선 16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0502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5" name="직선 연결선 16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2649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6" name="직선 연결선 16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4797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7" name="직선 연결선 16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6944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8" name="직선 연결선 16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9091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9" name="직선 연결선 1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312392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0" name="직선 연결선 16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3386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1" name="직선 연결선 17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5534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2" name="직선 연결선 1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7681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3" name="직선 연결선 1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9828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4" name="직선 연결선 1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41976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1" name="직선 연결선 18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441236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2" name="직선 연결선 18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46271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3" name="직선 연결선 18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48418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4" name="직선 연결선 18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50565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5" name="직선 연결선 18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52713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6" name="직선 연결선 18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548605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23929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1455" y="1527996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spc="-52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판단내역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73" name="그룹 72"/>
          <p:cNvGrpSpPr/>
          <p:nvPr/>
        </p:nvGrpSpPr>
        <p:grpSpPr>
          <a:xfrm flipV="1">
            <a:off x="6253542" y="1641327"/>
            <a:ext cx="94010" cy="47005"/>
            <a:chOff x="6812560" y="3297172"/>
            <a:chExt cx="94010" cy="47005"/>
          </a:xfrm>
        </p:grpSpPr>
        <p:cxnSp>
          <p:nvCxnSpPr>
            <p:cNvPr id="97" name="직선 연결선 96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직선 연결선 97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4" name="직사각형 73"/>
          <p:cNvSpPr/>
          <p:nvPr/>
        </p:nvSpPr>
        <p:spPr>
          <a:xfrm>
            <a:off x="3832577" y="1835481"/>
            <a:ext cx="792000" cy="43968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1835481"/>
            <a:ext cx="725552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계약방법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입찰방법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단가제유형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계약종류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낙찰자결정방법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적격심사 여부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입찰예정일자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품목코드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입찰형태</a:t>
            </a:r>
            <a:endParaRPr lang="en-US" altLang="ko-KR" sz="700" dirty="0">
              <a:latin typeface="+mn-ea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6489" y="1835481"/>
            <a:ext cx="1796521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수의계약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총액제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일반계약확정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협상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비대상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4240300004 : </a:t>
            </a:r>
            <a:r>
              <a:rPr lang="ko-KR" altLang="en-US" sz="700" dirty="0">
                <a:latin typeface="+mn-ea"/>
              </a:rPr>
              <a:t>방독면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전자입찰</a:t>
            </a:r>
            <a:endParaRPr lang="en-US" altLang="ko-KR" sz="700" dirty="0">
              <a:latin typeface="+mn-ea"/>
            </a:endParaRP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0484" y="183548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05022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26496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47970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69444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90918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0484" y="312392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333866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355340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376814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407232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432118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0484" y="458369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485302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510871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541216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562690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584164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605680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3822151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군수품 선택</a:t>
            </a:r>
            <a:endParaRPr lang="en-US" altLang="ko-KR" sz="700" dirty="0">
              <a:latin typeface="+mn-ea"/>
            </a:endParaRPr>
          </a:p>
          <a:p>
            <a:r>
              <a:rPr lang="ko-KR" altLang="en-US" sz="700" dirty="0" err="1">
                <a:latin typeface="+mn-ea"/>
              </a:rPr>
              <a:t>계약여부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4085273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군수품 선택</a:t>
            </a:r>
            <a:endParaRPr lang="en-US" altLang="ko-KR" sz="700" dirty="0">
              <a:latin typeface="+mn-ea"/>
            </a:endParaRPr>
          </a:p>
          <a:p>
            <a:r>
              <a:rPr lang="ko-KR" altLang="en-US" sz="700" dirty="0">
                <a:latin typeface="+mn-ea"/>
              </a:rPr>
              <a:t>계약체결업체수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4348395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생산능력</a:t>
            </a:r>
            <a:endParaRPr lang="en-US" altLang="ko-KR" sz="700" dirty="0">
              <a:latin typeface="+mn-ea"/>
            </a:endParaRPr>
          </a:p>
          <a:p>
            <a:r>
              <a:rPr lang="ko-KR" altLang="en-US" sz="700" dirty="0">
                <a:latin typeface="+mn-ea"/>
              </a:rPr>
              <a:t>기준서 번호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4611517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국내한도액</a:t>
            </a:r>
            <a:endParaRPr lang="en-US" altLang="ko-KR" sz="700" dirty="0">
              <a:latin typeface="+mn-ea"/>
            </a:endParaRPr>
          </a:p>
          <a:p>
            <a:r>
              <a:rPr lang="ko-KR" altLang="en-US" sz="700" dirty="0" err="1">
                <a:latin typeface="+mn-ea"/>
              </a:rPr>
              <a:t>계약여부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4874639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생산능력확인</a:t>
            </a:r>
            <a:endParaRPr lang="en-US" altLang="ko-KR" sz="700" dirty="0">
              <a:latin typeface="+mn-ea"/>
            </a:endParaRPr>
          </a:p>
          <a:p>
            <a:r>
              <a:rPr lang="ko-KR" altLang="en-US" sz="700" dirty="0">
                <a:latin typeface="+mn-ea"/>
              </a:rPr>
              <a:t>소요기간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7795" y="5206578"/>
            <a:ext cx="7255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수의계약사유</a:t>
            </a:r>
            <a:endParaRPr lang="en-US" altLang="ko-KR" sz="700" dirty="0">
              <a:latin typeface="+mn-ea"/>
            </a:endParaRPr>
          </a:p>
        </p:txBody>
      </p:sp>
      <p:sp>
        <p:nvSpPr>
          <p:cNvPr id="257" name="타원 25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0133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6488" y="3876012"/>
            <a:ext cx="177583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비대상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6488" y="4139134"/>
            <a:ext cx="177583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-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6488" y="4402256"/>
            <a:ext cx="177583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1234567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6488" y="4665378"/>
            <a:ext cx="177583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비대상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6488" y="4928500"/>
            <a:ext cx="177583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-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64643" y="5397530"/>
            <a:ext cx="1775839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27199 : </a:t>
            </a:r>
            <a:r>
              <a:rPr lang="ko-KR" altLang="en-US" sz="700" dirty="0">
                <a:latin typeface="+mn-ea"/>
              </a:rPr>
              <a:t>그 외 기타 의료용 기기 제조업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6488" y="5152717"/>
            <a:ext cx="177583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국계법시행령 제</a:t>
            </a:r>
            <a:r>
              <a:rPr lang="en-US" altLang="ko-KR" sz="700" dirty="0">
                <a:latin typeface="+mn-ea"/>
              </a:rPr>
              <a:t>26</a:t>
            </a:r>
            <a:r>
              <a:rPr lang="ko-KR" altLang="en-US" sz="700" dirty="0">
                <a:latin typeface="+mn-ea"/>
              </a:rPr>
              <a:t>조 제</a:t>
            </a:r>
            <a:r>
              <a:rPr lang="en-US" altLang="ko-KR" sz="700" dirty="0">
                <a:latin typeface="+mn-ea"/>
              </a:rPr>
              <a:t>1</a:t>
            </a:r>
            <a:r>
              <a:rPr lang="ko-KR" altLang="en-US" sz="700" dirty="0">
                <a:latin typeface="+mn-ea"/>
              </a:rPr>
              <a:t>항 제</a:t>
            </a:r>
            <a:r>
              <a:rPr lang="en-US" altLang="ko-KR" sz="700" dirty="0">
                <a:latin typeface="+mn-ea"/>
              </a:rPr>
              <a:t>5</a:t>
            </a:r>
            <a:r>
              <a:rPr lang="ko-KR" altLang="en-US" sz="700" dirty="0">
                <a:latin typeface="+mn-ea"/>
              </a:rPr>
              <a:t>호 </a:t>
            </a:r>
            <a:r>
              <a:rPr lang="ko-KR" altLang="en-US" sz="700" dirty="0" err="1">
                <a:latin typeface="+mn-ea"/>
              </a:rPr>
              <a:t>가목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2) </a:t>
            </a:r>
            <a:r>
              <a:rPr lang="ko-KR" altLang="en-US" sz="700" dirty="0">
                <a:latin typeface="+mn-ea"/>
              </a:rPr>
              <a:t>추정가격 </a:t>
            </a:r>
            <a:r>
              <a:rPr lang="en-US" altLang="ko-KR" sz="700" dirty="0">
                <a:latin typeface="+mn-ea"/>
              </a:rPr>
              <a:t>2</a:t>
            </a:r>
            <a:r>
              <a:rPr lang="ko-KR" altLang="en-US" sz="700" dirty="0" err="1">
                <a:latin typeface="+mn-ea"/>
              </a:rPr>
              <a:t>천만원이해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(</a:t>
            </a:r>
            <a:r>
              <a:rPr lang="ko-KR" altLang="en-US" sz="700" dirty="0">
                <a:latin typeface="+mn-ea"/>
              </a:rPr>
              <a:t>제조</a:t>
            </a:r>
            <a:r>
              <a:rPr lang="en-US" altLang="ko-KR" sz="700" dirty="0">
                <a:latin typeface="+mn-ea"/>
              </a:rPr>
              <a:t>, </a:t>
            </a:r>
            <a:r>
              <a:rPr lang="ko-KR" altLang="en-US" sz="700" dirty="0">
                <a:latin typeface="+mn-ea"/>
              </a:rPr>
              <a:t>구매</a:t>
            </a:r>
            <a:r>
              <a:rPr lang="en-US" altLang="ko-KR" sz="700" dirty="0">
                <a:latin typeface="+mn-ea"/>
              </a:rPr>
              <a:t>, </a:t>
            </a:r>
            <a:r>
              <a:rPr lang="ko-KR" altLang="en-US" sz="700" dirty="0">
                <a:latin typeface="+mn-ea"/>
              </a:rPr>
              <a:t>용역</a:t>
            </a:r>
            <a:r>
              <a:rPr lang="en-US" altLang="ko-KR" sz="700" dirty="0">
                <a:latin typeface="+mn-ea"/>
              </a:rPr>
              <a:t>)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7795" y="5397530"/>
            <a:ext cx="725552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지명경쟁사유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산업분류번호</a:t>
            </a:r>
            <a:r>
              <a:rPr lang="en-US" altLang="ko-KR" sz="700" dirty="0">
                <a:latin typeface="+mn-ea"/>
              </a:rPr>
              <a:t>(1)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산업분류번호</a:t>
            </a:r>
            <a:r>
              <a:rPr lang="en-US" altLang="ko-KR" sz="700" dirty="0">
                <a:latin typeface="+mn-ea"/>
              </a:rPr>
              <a:t>(2)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종합판단</a:t>
            </a:r>
            <a:endParaRPr lang="en-US" altLang="ko-KR" sz="7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55149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공사</a:t>
            </a:r>
            <a:r>
              <a:rPr lang="en-US" altLang="ko-KR" dirty="0"/>
              <a:t>]</a:t>
            </a:r>
            <a:r>
              <a:rPr lang="ko-KR" altLang="en-US" dirty="0"/>
              <a:t>상세내용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집행계획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판단내역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조달계획상세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첫 화면 </a:t>
            </a:r>
            <a:r>
              <a:rPr lang="en-US" altLang="ko-KR" dirty="0"/>
              <a:t>– [</a:t>
            </a:r>
            <a:r>
              <a:rPr lang="ko-KR" altLang="en-US" dirty="0"/>
              <a:t>공사</a:t>
            </a:r>
            <a:r>
              <a:rPr lang="en-US" altLang="ko-KR" dirty="0"/>
              <a:t>]</a:t>
            </a:r>
            <a:r>
              <a:rPr lang="ko-KR" altLang="en-US" dirty="0"/>
              <a:t>상세내용 탭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상세내용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MUI-OP-01-M03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" name="그룹 21"/>
          <p:cNvGrpSpPr/>
          <p:nvPr/>
        </p:nvGrpSpPr>
        <p:grpSpPr>
          <a:xfrm>
            <a:off x="701175" y="1527996"/>
            <a:ext cx="2642526" cy="2246477"/>
            <a:chOff x="701175" y="1527996"/>
            <a:chExt cx="2642526" cy="2246477"/>
          </a:xfrm>
        </p:grpSpPr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2146" y="1527996"/>
              <a:ext cx="452259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집행계획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57" name="그룹 156"/>
            <p:cNvGrpSpPr/>
            <p:nvPr/>
          </p:nvGrpSpPr>
          <p:grpSpPr>
            <a:xfrm flipV="1">
              <a:off x="3124233" y="1641327"/>
              <a:ext cx="94010" cy="47005"/>
              <a:chOff x="6812560" y="3297172"/>
              <a:chExt cx="94010" cy="47005"/>
            </a:xfrm>
          </p:grpSpPr>
          <p:cxnSp>
            <p:nvCxnSpPr>
              <p:cNvPr id="158" name="직선 연결선 15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9" name="직선 연결선 15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0" name="직사각형 159"/>
            <p:cNvSpPr/>
            <p:nvPr/>
          </p:nvSpPr>
          <p:spPr>
            <a:xfrm>
              <a:off x="703268" y="1835481"/>
              <a:ext cx="792000" cy="19326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0331" y="1835481"/>
              <a:ext cx="725552" cy="19389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요구년도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발주예정월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계약예정월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공사구분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총공사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예산금액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당해년도예산금액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기타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47180" y="1835481"/>
              <a:ext cx="1796521" cy="19389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2026-00590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</a:t>
              </a:r>
              <a:r>
                <a:rPr lang="en-US" altLang="ko-KR" sz="700" dirty="0">
                  <a:latin typeface="+mn-ea"/>
                </a:rPr>
                <a:t>9911</a:t>
              </a:r>
              <a:r>
                <a:rPr lang="ko-KR" altLang="en-US" sz="700" dirty="0">
                  <a:latin typeface="+mn-ea"/>
                </a:rPr>
                <a:t>부대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2026-06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제조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-26</a:t>
              </a:r>
              <a:r>
                <a:rPr lang="ko-KR" altLang="en-US" sz="700" dirty="0">
                  <a:latin typeface="+mn-ea"/>
                </a:rPr>
                <a:t>년 </a:t>
              </a:r>
              <a:r>
                <a:rPr lang="en-US" altLang="ko-KR" sz="700" dirty="0">
                  <a:latin typeface="+mn-ea"/>
                </a:rPr>
                <a:t>K5</a:t>
              </a:r>
              <a:r>
                <a:rPr lang="ko-KR" altLang="en-US" sz="700" dirty="0">
                  <a:latin typeface="+mn-ea"/>
                </a:rPr>
                <a:t>방독면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grpSp>
          <p:nvGrpSpPr>
            <p:cNvPr id="17" name="그룹 16"/>
            <p:cNvGrpSpPr/>
            <p:nvPr/>
          </p:nvGrpSpPr>
          <p:grpSpPr>
            <a:xfrm>
              <a:off x="701175" y="1835481"/>
              <a:ext cx="2630093" cy="1932660"/>
              <a:chOff x="701175" y="1835481"/>
              <a:chExt cx="2630093" cy="1932660"/>
            </a:xfrm>
          </p:grpSpPr>
          <p:cxnSp>
            <p:nvCxnSpPr>
              <p:cNvPr id="161" name="직선 연결선 16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183548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4" name="직선 연결선 16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0502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5" name="직선 연결선 16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2649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6" name="직선 연결선 16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4797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7" name="직선 연결선 16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6944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8" name="직선 연결선 16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9091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9" name="직선 연결선 1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312392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0" name="직선 연결선 16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3386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1" name="직선 연결선 17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5534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2" name="직선 연결선 1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7681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830484" y="1527996"/>
            <a:ext cx="2642526" cy="3323695"/>
            <a:chOff x="3830484" y="1527996"/>
            <a:chExt cx="2642526" cy="3323695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455" y="1527996"/>
              <a:ext cx="452259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spc="-52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판단내역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73" name="그룹 72"/>
            <p:cNvGrpSpPr/>
            <p:nvPr/>
          </p:nvGrpSpPr>
          <p:grpSpPr>
            <a:xfrm flipV="1">
              <a:off x="6253542" y="1641327"/>
              <a:ext cx="94010" cy="47005"/>
              <a:chOff x="6812560" y="3297172"/>
              <a:chExt cx="94010" cy="47005"/>
            </a:xfrm>
          </p:grpSpPr>
          <p:cxnSp>
            <p:nvCxnSpPr>
              <p:cNvPr id="97" name="직선 연결선 9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직선 연결선 9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74" name="직사각형 73"/>
            <p:cNvSpPr/>
            <p:nvPr/>
          </p:nvSpPr>
          <p:spPr>
            <a:xfrm>
              <a:off x="3832577" y="1835481"/>
              <a:ext cx="792000" cy="30148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9640" y="1835481"/>
              <a:ext cx="725552" cy="30162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계약방법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입찰방법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공사기간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사전심사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낙찰자결정방법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적격심사 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입찰예정일자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공동도급이행방식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입찰형태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공사개요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규모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수의계약사유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지명경쟁사유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낙찰자기준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76489" y="1835481"/>
              <a:ext cx="1796521" cy="23698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일반경쟁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총액제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2026-08-01 ~ 2027-09-30</a:t>
              </a:r>
            </a:p>
            <a:p>
              <a:pPr>
                <a:lnSpc>
                  <a:spcPct val="200000"/>
                </a:lnSpc>
              </a:pP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비대상</a:t>
              </a:r>
              <a:endParaRPr kumimoji="1" lang="en-US" altLang="ko-KR" sz="700" spc="-60" dirty="0">
                <a:solidFill>
                  <a:srgbClr val="000000">
                    <a:lumMod val="65000"/>
                    <a:lumOff val="35000"/>
                  </a:srgbClr>
                </a:solidFill>
                <a:latin typeface="Verdana" panose="020B0604030504040204" pitchFamily="34" charset="0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적격심사제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대상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2026-03-05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전자입찰</a:t>
              </a:r>
              <a:endParaRPr lang="en-US" altLang="ko-KR" sz="700" dirty="0">
                <a:latin typeface="+mn-ea"/>
              </a:endParaRPr>
            </a:p>
            <a:p>
              <a:pPr lvl="0">
                <a:lnSpc>
                  <a:spcPct val="200000"/>
                </a:lnSpc>
              </a:pP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25-19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차 병영기본시설 </a:t>
              </a:r>
              <a:r>
                <a:rPr kumimoji="1" lang="ko-KR" altLang="en-US" sz="700" spc="-60" dirty="0" err="1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연차별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 </a:t>
              </a:r>
              <a:r>
                <a:rPr kumimoji="1" lang="ko-KR" altLang="en-US" sz="700" spc="-60" dirty="0" err="1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예산조정</a:t>
              </a:r>
              <a:endParaRPr kumimoji="1" lang="en-US" altLang="ko-KR" sz="700" spc="-60" dirty="0">
                <a:solidFill>
                  <a:srgbClr val="000000">
                    <a:lumMod val="65000"/>
                    <a:lumOff val="35000"/>
                  </a:srgbClr>
                </a:solidFill>
                <a:latin typeface="Verdana" panose="020B0604030504040204" pitchFamily="34" charset="0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0484" y="1835481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0502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2649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47970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6944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90918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0484" y="3123921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33386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355340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37681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399726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41915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0484" y="439945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46141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484350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7" name="타원 5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0133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7553369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용역</a:t>
            </a:r>
            <a:r>
              <a:rPr lang="en-US" altLang="ko-KR" dirty="0"/>
              <a:t>/</a:t>
            </a:r>
            <a:r>
              <a:rPr lang="ko-KR" altLang="en-US" dirty="0"/>
              <a:t>물품</a:t>
            </a:r>
            <a:r>
              <a:rPr lang="en-US" altLang="ko-KR" dirty="0"/>
              <a:t>/</a:t>
            </a:r>
            <a:r>
              <a:rPr lang="ko-KR" altLang="en-US" dirty="0"/>
              <a:t>공사 상세 내용 하단 정보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연관정보</a:t>
            </a:r>
            <a:r>
              <a:rPr lang="ko-KR" altLang="en-US" dirty="0"/>
              <a:t>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 시 연관사전규격상세 팝업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MUI-OP-01-P13 </a:t>
            </a:r>
            <a:r>
              <a:rPr lang="ko-KR" altLang="en-US" dirty="0"/>
              <a:t>연관 사전규격상세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문의처 정보 표시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조달계획상세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첫 화면 </a:t>
            </a:r>
            <a:r>
              <a:rPr lang="en-US" altLang="ko-KR" dirty="0"/>
              <a:t>– </a:t>
            </a:r>
            <a:r>
              <a:rPr lang="ko-KR" altLang="en-US" dirty="0"/>
              <a:t>상세내용 탭 하단 </a:t>
            </a:r>
            <a:r>
              <a:rPr lang="en-US" altLang="ko-KR" dirty="0"/>
              <a:t>[</a:t>
            </a:r>
            <a:r>
              <a:rPr lang="ko-KR" altLang="en-US" dirty="0"/>
              <a:t>공통</a:t>
            </a:r>
            <a:r>
              <a:rPr lang="en-US" altLang="ko-KR" dirty="0"/>
              <a:t>]</a:t>
            </a:r>
            <a:r>
              <a:rPr lang="ko-KR" altLang="en-US" dirty="0"/>
              <a:t>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상세내용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MUI-OP-01-M03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57745" y="1633596"/>
            <a:ext cx="728875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pc="-52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연관정보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33" name="그룹 132"/>
          <p:cNvGrpSpPr/>
          <p:nvPr/>
        </p:nvGrpSpPr>
        <p:grpSpPr>
          <a:xfrm flipV="1">
            <a:off x="3119832" y="1746927"/>
            <a:ext cx="94010" cy="47005"/>
            <a:chOff x="6812560" y="3297172"/>
            <a:chExt cx="94010" cy="47005"/>
          </a:xfrm>
        </p:grpSpPr>
        <p:cxnSp>
          <p:nvCxnSpPr>
            <p:cNvPr id="134" name="직선 연결선 13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5" name="직선 연결선 13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57745" y="2576379"/>
            <a:ext cx="728875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문의처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52" name="그룹 151"/>
          <p:cNvGrpSpPr/>
          <p:nvPr/>
        </p:nvGrpSpPr>
        <p:grpSpPr>
          <a:xfrm flipV="1">
            <a:off x="3119832" y="2689710"/>
            <a:ext cx="94010" cy="47005"/>
            <a:chOff x="6812560" y="3297172"/>
            <a:chExt cx="94010" cy="47005"/>
          </a:xfrm>
        </p:grpSpPr>
        <p:cxnSp>
          <p:nvCxnSpPr>
            <p:cNvPr id="153" name="직선 연결선 15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4" name="직선 연결선 15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400" y="1509422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400" y="2441260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400" y="3475833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3" name="모서리가 둥근 직사각형 192"/>
          <p:cNvSpPr/>
          <p:nvPr/>
        </p:nvSpPr>
        <p:spPr>
          <a:xfrm>
            <a:off x="705042" y="3048695"/>
            <a:ext cx="2652743" cy="344810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/>
          <p:cNvGrpSpPr/>
          <p:nvPr/>
        </p:nvGrpSpPr>
        <p:grpSpPr>
          <a:xfrm>
            <a:off x="854871" y="2888603"/>
            <a:ext cx="2353084" cy="440219"/>
            <a:chOff x="854511" y="2888603"/>
            <a:chExt cx="2353084" cy="440219"/>
          </a:xfrm>
        </p:grpSpPr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54511" y="2888603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기관 부서명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47519" y="2888603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담당자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560081" y="2888603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연락처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54511" y="3167239"/>
              <a:ext cx="49390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방위사업청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47519" y="3167239"/>
              <a:ext cx="638280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홍길동 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주무관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560081" y="3113378"/>
              <a:ext cx="64751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02-1234-5678</a:t>
              </a:r>
            </a:p>
            <a:p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010-1234-5678</a:t>
              </a:r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705042" y="1896864"/>
            <a:ext cx="2652743" cy="480718"/>
            <a:chOff x="722176" y="1896864"/>
            <a:chExt cx="2652743" cy="480718"/>
          </a:xfrm>
        </p:grpSpPr>
        <p:sp>
          <p:nvSpPr>
            <p:cNvPr id="137" name="모서리가 둥근 직사각형 136"/>
            <p:cNvSpPr/>
            <p:nvPr/>
          </p:nvSpPr>
          <p:spPr>
            <a:xfrm>
              <a:off x="722176" y="2031982"/>
              <a:ext cx="2652743" cy="34560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3084" y="2150921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defTabSz="1013612">
                <a:defRPr/>
              </a:pP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공개 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[#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사전규격번호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]</a:t>
              </a:r>
            </a:p>
          </p:txBody>
        </p:sp>
        <p:sp>
          <p:nvSpPr>
            <p:cNvPr id="144" name="타원 143"/>
            <p:cNvSpPr/>
            <p:nvPr/>
          </p:nvSpPr>
          <p:spPr>
            <a:xfrm>
              <a:off x="3082295" y="2132782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28940" y="1896864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사전규격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58970" y="1896864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보기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256" name="타원 25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42493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41314229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업체의견</a:t>
            </a:r>
            <a:r>
              <a:rPr lang="ko-KR" altLang="en-US" dirty="0"/>
              <a:t> 탭 타이틀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목록에서 풀 페이지 팝업으로 등록</a:t>
            </a:r>
            <a:r>
              <a:rPr lang="en-US" altLang="ko-KR" dirty="0"/>
              <a:t>, </a:t>
            </a:r>
            <a:r>
              <a:rPr lang="ko-KR" altLang="en-US" dirty="0"/>
              <a:t>수정</a:t>
            </a:r>
            <a:r>
              <a:rPr lang="en-US" altLang="ko-KR" dirty="0"/>
              <a:t>, </a:t>
            </a:r>
            <a:r>
              <a:rPr lang="ko-KR" altLang="en-US" dirty="0"/>
              <a:t>상세 내용을 표시함</a:t>
            </a:r>
            <a:r>
              <a:rPr lang="en-US" altLang="ko-KR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의견등록</a:t>
            </a:r>
            <a:r>
              <a:rPr lang="ko-KR" altLang="en-US" dirty="0"/>
              <a:t> 버튼 클릭 이벤트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 시 등록 팝업 화면 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업체의견</a:t>
            </a:r>
            <a:r>
              <a:rPr lang="ko-KR" altLang="en-US" dirty="0"/>
              <a:t> 목록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 시 상세 보기 팝업 화면 호출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비공개 정보는 작성자만 접근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비공개 글입니다</a:t>
            </a:r>
            <a:r>
              <a:rPr lang="en-US" altLang="ko-KR" dirty="0"/>
              <a:t>. (</a:t>
            </a:r>
            <a:r>
              <a:rPr lang="ko-KR" altLang="en-US" dirty="0"/>
              <a:t>확인</a:t>
            </a:r>
            <a:r>
              <a:rPr lang="en-US" altLang="ko-KR" dirty="0"/>
              <a:t>) </a:t>
            </a:r>
            <a:r>
              <a:rPr lang="ko-KR" altLang="en-US" dirty="0" err="1"/>
              <a:t>모달</a:t>
            </a:r>
            <a:r>
              <a:rPr lang="ko-KR" altLang="en-US" dirty="0"/>
              <a:t> 팝업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업체의견</a:t>
            </a:r>
            <a:r>
              <a:rPr lang="ko-KR" altLang="en-US" dirty="0"/>
              <a:t> 답변 데이터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답변 레이블 추가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답변은 답변 상세 팝업 화면 호출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의견에 대한 답글의 경우 최초 의견 글 바로 아래 답변 표시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업체의견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화면 </a:t>
            </a:r>
            <a:r>
              <a:rPr lang="en-US" altLang="ko-KR" dirty="0"/>
              <a:t>– </a:t>
            </a:r>
            <a:r>
              <a:rPr lang="ko-KR" altLang="en-US" dirty="0" err="1"/>
              <a:t>업체의견</a:t>
            </a:r>
            <a:r>
              <a:rPr lang="ko-KR" altLang="en-US" dirty="0"/>
              <a:t> 탭 목록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업체의견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MUI-OP-01-M05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527996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57" name="그룹 156"/>
          <p:cNvGrpSpPr/>
          <p:nvPr/>
        </p:nvGrpSpPr>
        <p:grpSpPr>
          <a:xfrm flipV="1">
            <a:off x="3124233" y="1641327"/>
            <a:ext cx="94010" cy="47005"/>
            <a:chOff x="6812560" y="3297172"/>
            <a:chExt cx="94010" cy="47005"/>
          </a:xfrm>
        </p:grpSpPr>
        <p:cxnSp>
          <p:nvCxnSpPr>
            <p:cNvPr id="158" name="직선 연결선 15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직선 연결선 15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3650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901536"/>
            <a:ext cx="42578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latin typeface="+mn-ea"/>
              </a:rPr>
              <a:t>0,000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0516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8" name="타원 25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70835" y="1920844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60435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67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2836921" y="1937500"/>
            <a:ext cx="494347" cy="16200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rPr>
              <a:t>의견등록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grpSp>
        <p:nvGrpSpPr>
          <p:cNvPr id="68" name="그룹 67"/>
          <p:cNvGrpSpPr/>
          <p:nvPr/>
        </p:nvGrpSpPr>
        <p:grpSpPr>
          <a:xfrm>
            <a:off x="781460" y="2325977"/>
            <a:ext cx="2473258" cy="821562"/>
            <a:chOff x="781460" y="2610063"/>
            <a:chExt cx="2473258" cy="821562"/>
          </a:xfrm>
        </p:grpSpPr>
        <p:sp>
          <p:nvSpPr>
            <p:cNvPr id="6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비공개</a:t>
              </a:r>
              <a:endParaRPr lang="en-US" altLang="ko-KR" sz="700" dirty="0"/>
            </a:p>
            <a:p>
              <a:r>
                <a:rPr lang="ko-KR" altLang="en-US" sz="900" b="1" dirty="0"/>
                <a:t>비공개</a:t>
              </a:r>
            </a:p>
          </p:txBody>
        </p:sp>
        <p:sp>
          <p:nvSpPr>
            <p:cNvPr id="70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1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비공개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3" name="모서리가 둥근 직사각형 72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비공개</a:t>
              </a:r>
            </a:p>
          </p:txBody>
        </p:sp>
      </p:grp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21243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6" name="그룹 75"/>
          <p:cNvGrpSpPr/>
          <p:nvPr/>
        </p:nvGrpSpPr>
        <p:grpSpPr>
          <a:xfrm>
            <a:off x="781460" y="3345937"/>
            <a:ext cx="2473258" cy="821562"/>
            <a:chOff x="781460" y="2610063"/>
            <a:chExt cx="2473258" cy="821562"/>
          </a:xfrm>
        </p:grpSpPr>
        <p:sp>
          <p:nvSpPr>
            <p:cNvPr id="7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㈜</a:t>
              </a:r>
              <a:r>
                <a:rPr lang="ko-KR" altLang="en-US" sz="700" dirty="0" err="1"/>
                <a:t>미래회사</a:t>
              </a:r>
              <a:endParaRPr lang="en-US" altLang="ko-KR" sz="700" dirty="0"/>
            </a:p>
            <a:p>
              <a:r>
                <a:rPr lang="ko-KR" altLang="en-US" sz="900" b="1" dirty="0"/>
                <a:t>업체의 의견이 있습니다</a:t>
              </a:r>
              <a:r>
                <a:rPr lang="en-US" altLang="ko-KR" sz="900" b="1" dirty="0"/>
                <a:t>.</a:t>
              </a:r>
              <a:endParaRPr lang="ko-KR" altLang="en-US" sz="900" b="1" dirty="0"/>
            </a:p>
          </p:txBody>
        </p:sp>
        <p:sp>
          <p:nvSpPr>
            <p:cNvPr id="78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9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홍길동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</a:p>
          </p:txBody>
        </p:sp>
        <p:sp>
          <p:nvSpPr>
            <p:cNvPr id="80" name="모서리가 둥근 직사각형 79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공개</a:t>
              </a:r>
            </a:p>
          </p:txBody>
        </p:sp>
      </p:grp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8778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2" name="그룹 81"/>
          <p:cNvGrpSpPr/>
          <p:nvPr/>
        </p:nvGrpSpPr>
        <p:grpSpPr>
          <a:xfrm>
            <a:off x="781460" y="4421289"/>
            <a:ext cx="2473258" cy="821562"/>
            <a:chOff x="781460" y="2610063"/>
            <a:chExt cx="2473258" cy="821562"/>
          </a:xfrm>
        </p:grpSpPr>
        <p:sp>
          <p:nvSpPr>
            <p:cNvPr id="83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㈜길동주식회사</a:t>
              </a:r>
              <a:endParaRPr lang="en-US" altLang="ko-KR" sz="700" dirty="0"/>
            </a:p>
            <a:p>
              <a:r>
                <a:rPr lang="ko-KR" altLang="en-US" sz="900" b="1" dirty="0"/>
                <a:t>업체의 의견이 있습니다</a:t>
              </a:r>
              <a:r>
                <a:rPr lang="en-US" altLang="ko-KR" sz="900" b="1" dirty="0"/>
                <a:t>.</a:t>
              </a:r>
              <a:endParaRPr lang="ko-KR" altLang="en-US" sz="900" b="1" dirty="0"/>
            </a:p>
          </p:txBody>
        </p:sp>
        <p:sp>
          <p:nvSpPr>
            <p:cNvPr id="84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85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성춘향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</a:p>
          </p:txBody>
        </p:sp>
        <p:sp>
          <p:nvSpPr>
            <p:cNvPr id="86" name="모서리가 둥근 직사각형 85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공개</a:t>
              </a:r>
            </a:p>
          </p:txBody>
        </p:sp>
      </p:grp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386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9066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4687418"/>
            <a:ext cx="76863" cy="292489"/>
            <a:chOff x="3750067" y="4683795"/>
            <a:chExt cx="76863" cy="292489"/>
          </a:xfrm>
        </p:grpSpPr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34" name="타원 133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45" name="그룹 44"/>
          <p:cNvGrpSpPr/>
          <p:nvPr/>
        </p:nvGrpSpPr>
        <p:grpSpPr>
          <a:xfrm>
            <a:off x="3918450" y="1641327"/>
            <a:ext cx="2473258" cy="821562"/>
            <a:chOff x="781460" y="2610063"/>
            <a:chExt cx="2473258" cy="821562"/>
          </a:xfrm>
        </p:grpSpPr>
        <p:sp>
          <p:nvSpPr>
            <p:cNvPr id="46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㈜</a:t>
              </a:r>
              <a:r>
                <a:rPr lang="ko-KR" altLang="en-US" sz="700" dirty="0" err="1"/>
                <a:t>미래회사</a:t>
              </a:r>
              <a:endParaRPr lang="en-US" altLang="ko-KR" sz="700" dirty="0"/>
            </a:p>
            <a:p>
              <a:r>
                <a:rPr lang="ko-KR" altLang="en-US" sz="900" b="1" dirty="0"/>
                <a:t>업체의 의견이 있습니다</a:t>
              </a:r>
              <a:r>
                <a:rPr lang="en-US" altLang="ko-KR" sz="900" b="1" dirty="0"/>
                <a:t>.</a:t>
              </a:r>
              <a:endParaRPr lang="ko-KR" altLang="en-US" sz="900" b="1" dirty="0"/>
            </a:p>
          </p:txBody>
        </p:sp>
        <p:sp>
          <p:nvSpPr>
            <p:cNvPr id="47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48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홍길동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</a:p>
          </p:txBody>
        </p:sp>
        <p:sp>
          <p:nvSpPr>
            <p:cNvPr id="49" name="모서리가 둥근 직사각형 48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공개</a:t>
              </a:r>
            </a:p>
          </p:txBody>
        </p:sp>
      </p:grp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4157" y="258317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52" name="그룹 51"/>
          <p:cNvGrpSpPr/>
          <p:nvPr/>
        </p:nvGrpSpPr>
        <p:grpSpPr>
          <a:xfrm>
            <a:off x="3918450" y="2716679"/>
            <a:ext cx="2473258" cy="821562"/>
            <a:chOff x="781460" y="2610063"/>
            <a:chExt cx="2473258" cy="821562"/>
          </a:xfrm>
        </p:grpSpPr>
        <p:sp>
          <p:nvSpPr>
            <p:cNvPr id="53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ko-KR" altLang="en-US" sz="700" dirty="0">
                  <a:solidFill>
                    <a:prstClr val="black"/>
                  </a:solidFill>
                </a:rPr>
                <a:t>㈜</a:t>
              </a:r>
              <a:r>
                <a:rPr lang="ko-KR" altLang="en-US" sz="700" dirty="0" err="1">
                  <a:solidFill>
                    <a:prstClr val="black"/>
                  </a:solidFill>
                </a:rPr>
                <a:t>미래회사</a:t>
              </a:r>
              <a:endParaRPr lang="en-US" altLang="ko-KR" sz="700" dirty="0">
                <a:solidFill>
                  <a:prstClr val="black"/>
                </a:solidFill>
              </a:endParaRPr>
            </a:p>
            <a:p>
              <a:pPr lvl="0"/>
              <a:r>
                <a:rPr lang="ko-KR" altLang="en-US" sz="900" b="1" dirty="0">
                  <a:solidFill>
                    <a:prstClr val="black"/>
                  </a:solidFill>
                </a:rPr>
                <a:t>업체의 의견이 있습니다</a:t>
              </a:r>
              <a:r>
                <a:rPr lang="en-US" altLang="ko-KR" sz="900" b="1" dirty="0">
                  <a:solidFill>
                    <a:prstClr val="black"/>
                  </a:solidFill>
                </a:rPr>
                <a:t>.</a:t>
              </a:r>
              <a:endParaRPr lang="ko-KR" altLang="en-US" sz="900" b="1" dirty="0">
                <a:solidFill>
                  <a:prstClr val="black"/>
                </a:solidFill>
              </a:endParaRPr>
            </a:p>
          </p:txBody>
        </p:sp>
        <p:sp>
          <p:nvSpPr>
            <p:cNvPr id="54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5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성춘향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</a:p>
          </p:txBody>
        </p:sp>
        <p:sp>
          <p:nvSpPr>
            <p:cNvPr id="56" name="모서리가 둥근 직사각형 55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공개</a:t>
              </a:r>
            </a:p>
          </p:txBody>
        </p:sp>
        <p:sp>
          <p:nvSpPr>
            <p:cNvPr id="58" name="모서리가 둥근 직사각형 57"/>
            <p:cNvSpPr/>
            <p:nvPr/>
          </p:nvSpPr>
          <p:spPr>
            <a:xfrm>
              <a:off x="1145236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답변</a:t>
              </a:r>
            </a:p>
          </p:txBody>
        </p:sp>
      </p:grp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4157" y="36818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9" name="타원 5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04336" y="3175177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42015502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직사각형 9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업체의견</a:t>
            </a:r>
            <a:r>
              <a:rPr lang="ko-KR" altLang="en-US" dirty="0"/>
              <a:t> 상세 타이틀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업체의견</a:t>
            </a:r>
            <a:r>
              <a:rPr lang="ko-KR" altLang="en-US" dirty="0"/>
              <a:t> 항목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disable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첨부파일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작성자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disable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버튼 영역은 화면 하단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처리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작성자 노출 버튼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&gt; </a:t>
            </a:r>
            <a:r>
              <a:rPr lang="ko-KR" altLang="en-US" dirty="0">
                <a:sym typeface="Wingdings" panose="05000000000000000000" pitchFamily="2" charset="2"/>
              </a:rPr>
              <a:t>수정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클릭 시 등록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수정 진입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&gt; </a:t>
            </a:r>
            <a:r>
              <a:rPr lang="ko-KR" altLang="en-US" dirty="0">
                <a:sym typeface="Wingdings" panose="05000000000000000000" pitchFamily="2" charset="2"/>
              </a:rPr>
              <a:t>삭제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클릭 시 삭제 확인 </a:t>
            </a:r>
            <a:r>
              <a:rPr lang="ko-KR" altLang="en-US" dirty="0" err="1">
                <a:sym typeface="Wingdings" panose="05000000000000000000" pitchFamily="2" charset="2"/>
              </a:rPr>
              <a:t>모달</a:t>
            </a:r>
            <a:r>
              <a:rPr lang="ko-KR" altLang="en-US" dirty="0">
                <a:sym typeface="Wingdings" panose="05000000000000000000" pitchFamily="2" charset="2"/>
              </a:rPr>
              <a:t> 팝업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 err="1">
                <a:sym typeface="Wingdings" panose="05000000000000000000" pitchFamily="2" charset="2"/>
              </a:rPr>
              <a:t>비작성자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닫기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화면 </a:t>
            </a:r>
            <a:r>
              <a:rPr lang="en-US" altLang="ko-KR" dirty="0"/>
              <a:t>– </a:t>
            </a:r>
            <a:r>
              <a:rPr lang="ko-KR" altLang="en-US" dirty="0" err="1"/>
              <a:t>업체의견</a:t>
            </a:r>
            <a:r>
              <a:rPr lang="ko-KR" altLang="en-US" dirty="0"/>
              <a:t> 상세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MUI-OP-01-P06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3" name="그룹 2"/>
          <p:cNvGrpSpPr/>
          <p:nvPr/>
        </p:nvGrpSpPr>
        <p:grpSpPr>
          <a:xfrm>
            <a:off x="3790563" y="2349314"/>
            <a:ext cx="2717198" cy="3078289"/>
            <a:chOff x="675399" y="1846937"/>
            <a:chExt cx="2717198" cy="3078289"/>
          </a:xfrm>
        </p:grpSpPr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2146" y="1901536"/>
              <a:ext cx="127819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작성자 정보</a:t>
              </a:r>
            </a:p>
          </p:txBody>
        </p:sp>
        <p:sp>
          <p:nvSpPr>
            <p:cNvPr id="6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232535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업체명</a:t>
              </a:r>
              <a:endParaRPr lang="ko-KR" altLang="en-US" sz="900" b="1" dirty="0"/>
            </a:p>
          </p:txBody>
        </p:sp>
        <p:sp>
          <p:nvSpPr>
            <p:cNvPr id="73" name="모서리가 둥근 직사각형 72"/>
            <p:cNvSpPr/>
            <p:nvPr/>
          </p:nvSpPr>
          <p:spPr>
            <a:xfrm>
              <a:off x="720490" y="2488061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/>
                <a:t>㈜길동주식회사</a:t>
              </a:r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92522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2827952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사업자번호</a:t>
              </a:r>
              <a:endParaRPr lang="ko-KR" altLang="en-US" sz="900" b="1" dirty="0"/>
            </a:p>
          </p:txBody>
        </p:sp>
        <p:sp>
          <p:nvSpPr>
            <p:cNvPr id="50" name="모서리가 둥근 직사각형 49"/>
            <p:cNvSpPr/>
            <p:nvPr/>
          </p:nvSpPr>
          <p:spPr>
            <a:xfrm>
              <a:off x="720490" y="2990660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123-45-67890</a:t>
              </a:r>
              <a:endParaRPr lang="ko-KR" altLang="en-US" sz="800" dirty="0"/>
            </a:p>
          </p:txBody>
        </p:sp>
        <p:sp>
          <p:nvSpPr>
            <p:cNvPr id="5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33173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성명</a:t>
              </a:r>
              <a:endParaRPr lang="ko-KR" altLang="en-US" sz="900" b="1" dirty="0"/>
            </a:p>
          </p:txBody>
        </p:sp>
        <p:sp>
          <p:nvSpPr>
            <p:cNvPr id="53" name="모서리가 둥근 직사각형 52"/>
            <p:cNvSpPr/>
            <p:nvPr/>
          </p:nvSpPr>
          <p:spPr>
            <a:xfrm>
              <a:off x="720490" y="3494441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 err="1"/>
                <a:t>김길동</a:t>
              </a:r>
              <a:endParaRPr lang="ko-KR" altLang="en-US" sz="800" dirty="0"/>
            </a:p>
          </p:txBody>
        </p:sp>
        <p:sp>
          <p:nvSpPr>
            <p:cNvPr id="5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829422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전화번호</a:t>
              </a:r>
              <a:endParaRPr lang="ko-KR" altLang="en-US" sz="900" b="1" dirty="0"/>
            </a:p>
          </p:txBody>
        </p:sp>
        <p:sp>
          <p:nvSpPr>
            <p:cNvPr id="58" name="모서리가 둥근 직사각형 57"/>
            <p:cNvSpPr/>
            <p:nvPr/>
          </p:nvSpPr>
          <p:spPr>
            <a:xfrm>
              <a:off x="720490" y="3992130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010-1234-5678</a:t>
              </a:r>
              <a:endParaRPr lang="ko-KR" altLang="en-US" sz="800" dirty="0"/>
            </a:p>
          </p:txBody>
        </p:sp>
        <p:sp>
          <p:nvSpPr>
            <p:cNvPr id="60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4330977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이메일</a:t>
              </a:r>
              <a:endParaRPr lang="ko-KR" altLang="en-US" sz="900" b="1" dirty="0"/>
            </a:p>
          </p:txBody>
        </p:sp>
        <p:sp>
          <p:nvSpPr>
            <p:cNvPr id="61" name="모서리가 둥근 직사각형 60"/>
            <p:cNvSpPr/>
            <p:nvPr/>
          </p:nvSpPr>
          <p:spPr>
            <a:xfrm>
              <a:off x="720490" y="4493685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abcde@naver.com</a:t>
              </a:r>
              <a:endParaRPr lang="ko-KR" altLang="en-US" sz="800" dirty="0"/>
            </a:p>
          </p:txBody>
        </p: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184693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88" name="그룹 87"/>
            <p:cNvGrpSpPr/>
            <p:nvPr/>
          </p:nvGrpSpPr>
          <p:grpSpPr>
            <a:xfrm flipV="1">
              <a:off x="3124233" y="1987998"/>
              <a:ext cx="94010" cy="47005"/>
              <a:chOff x="6812560" y="3297172"/>
              <a:chExt cx="94010" cy="47005"/>
            </a:xfrm>
          </p:grpSpPr>
          <p:cxnSp>
            <p:nvCxnSpPr>
              <p:cNvPr id="89" name="직선 연결선 8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218317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891408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18" name="그룹 117"/>
          <p:cNvGrpSpPr/>
          <p:nvPr/>
        </p:nvGrpSpPr>
        <p:grpSpPr>
          <a:xfrm flipV="1">
            <a:off x="3124233" y="1977870"/>
            <a:ext cx="94010" cy="47005"/>
            <a:chOff x="6812560" y="3297172"/>
            <a:chExt cx="94010" cy="47005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직선 연결선 11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7304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3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62123" y="2303034"/>
            <a:ext cx="252715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제목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24" name="모서리가 둥근 직사각형 123"/>
          <p:cNvSpPr/>
          <p:nvPr/>
        </p:nvSpPr>
        <p:spPr>
          <a:xfrm>
            <a:off x="720467" y="2465742"/>
            <a:ext cx="2610778" cy="247250"/>
          </a:xfrm>
          <a:prstGeom prst="roundRect">
            <a:avLst>
              <a:gd name="adj" fmla="val 2340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r>
              <a:rPr lang="ko-KR" altLang="en-US" sz="800" dirty="0" err="1"/>
              <a:t>업체의견이</a:t>
            </a:r>
            <a:r>
              <a:rPr lang="ko-KR" altLang="en-US" sz="800" dirty="0"/>
              <a:t> 있습니다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grpSp>
        <p:nvGrpSpPr>
          <p:cNvPr id="15" name="그룹 14"/>
          <p:cNvGrpSpPr/>
          <p:nvPr/>
        </p:nvGrpSpPr>
        <p:grpSpPr>
          <a:xfrm>
            <a:off x="684326" y="5064184"/>
            <a:ext cx="2712027" cy="347855"/>
            <a:chOff x="3831550" y="3745666"/>
            <a:chExt cx="2712027" cy="347855"/>
          </a:xfrm>
        </p:grpSpPr>
        <p:cxnSp>
          <p:nvCxnSpPr>
            <p:cNvPr id="135" name="직선 연결선 13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374566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8297" y="3811883"/>
              <a:ext cx="127819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2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39" name="그룹 138"/>
            <p:cNvGrpSpPr/>
            <p:nvPr/>
          </p:nvGrpSpPr>
          <p:grpSpPr>
            <a:xfrm flipV="1">
              <a:off x="6280384" y="3898345"/>
              <a:ext cx="94010" cy="47005"/>
              <a:chOff x="6812560" y="3297172"/>
              <a:chExt cx="94010" cy="47005"/>
            </a:xfrm>
          </p:grpSpPr>
          <p:cxnSp>
            <p:nvCxnSpPr>
              <p:cNvPr id="140" name="직선 연결선 13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409352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3" name="모서리가 둥근 직사각형 142"/>
          <p:cNvSpPr/>
          <p:nvPr/>
        </p:nvSpPr>
        <p:spPr>
          <a:xfrm>
            <a:off x="720142" y="5659395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20810" y="5787777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hwp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8338" y="5787777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</a:t>
            </a:r>
          </a:p>
        </p:txBody>
      </p:sp>
      <p:sp>
        <p:nvSpPr>
          <p:cNvPr id="146" name="타원 145"/>
          <p:cNvSpPr/>
          <p:nvPr/>
        </p:nvSpPr>
        <p:spPr>
          <a:xfrm>
            <a:off x="3108139" y="5769638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3831550" y="1550788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32218" y="1679170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hwp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9746" y="1679170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</a:t>
            </a:r>
          </a:p>
        </p:txBody>
      </p:sp>
      <p:sp>
        <p:nvSpPr>
          <p:cNvPr id="150" name="타원 149"/>
          <p:cNvSpPr/>
          <p:nvPr/>
        </p:nvSpPr>
        <p:spPr>
          <a:xfrm>
            <a:off x="6219547" y="1661031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20810" y="5524277"/>
            <a:ext cx="47434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017655" y="5524277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다운로드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26906" y="5524277"/>
            <a:ext cx="3906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항목번호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717367" y="2842211"/>
            <a:ext cx="2610778" cy="2013555"/>
            <a:chOff x="717367" y="2842211"/>
            <a:chExt cx="2610778" cy="2013555"/>
          </a:xfrm>
        </p:grpSpPr>
        <p:sp>
          <p:nvSpPr>
            <p:cNvPr id="10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59023" y="2842211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내용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sp>
          <p:nvSpPr>
            <p:cNvPr id="103" name="모서리가 둥근 직사각형 102"/>
            <p:cNvSpPr/>
            <p:nvPr/>
          </p:nvSpPr>
          <p:spPr>
            <a:xfrm>
              <a:off x="717367" y="3004919"/>
              <a:ext cx="2610778" cy="1572062"/>
            </a:xfrm>
            <a:prstGeom prst="roundRect">
              <a:avLst>
                <a:gd name="adj" fmla="val 431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t"/>
            <a:lstStyle/>
            <a:p>
              <a:r>
                <a:rPr lang="ko-KR" altLang="en-US" sz="800" dirty="0" err="1"/>
                <a:t>업체의견이</a:t>
              </a:r>
              <a:r>
                <a:rPr lang="ko-KR" altLang="en-US" sz="800" dirty="0"/>
                <a:t> 있습니다</a:t>
              </a:r>
              <a:r>
                <a:rPr lang="en-US" altLang="ko-KR" sz="800" dirty="0"/>
                <a:t>.</a:t>
              </a:r>
              <a:endParaRPr lang="ko-KR" altLang="en-US" sz="800" dirty="0"/>
            </a:p>
          </p:txBody>
        </p:sp>
        <p:sp>
          <p:nvSpPr>
            <p:cNvPr id="10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59023" y="472734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공개여부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grpSp>
          <p:nvGrpSpPr>
            <p:cNvPr id="14" name="그룹 13"/>
            <p:cNvGrpSpPr/>
            <p:nvPr/>
          </p:nvGrpSpPr>
          <p:grpSpPr>
            <a:xfrm>
              <a:off x="2608145" y="4706642"/>
              <a:ext cx="720000" cy="149124"/>
              <a:chOff x="4507439" y="3468375"/>
              <a:chExt cx="720000" cy="149124"/>
            </a:xfrm>
          </p:grpSpPr>
          <p:sp>
            <p:nvSpPr>
              <p:cNvPr id="125" name="모서리가 둥근 직사각형 124"/>
              <p:cNvSpPr/>
              <p:nvPr/>
            </p:nvSpPr>
            <p:spPr>
              <a:xfrm>
                <a:off x="4507439" y="3468375"/>
                <a:ext cx="720000" cy="149124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7" name="모서리가 둥근 직사각형 126"/>
              <p:cNvSpPr/>
              <p:nvPr/>
            </p:nvSpPr>
            <p:spPr>
              <a:xfrm>
                <a:off x="4507439" y="3468375"/>
                <a:ext cx="378000" cy="149124"/>
              </a:xfrm>
              <a:prstGeom prst="roundRect">
                <a:avLst>
                  <a:gd name="adj" fmla="val 50000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800" kern="0">
                  <a:solidFill>
                    <a:prstClr val="white"/>
                  </a:solidFill>
                  <a:latin typeface="맑은 고딕"/>
                </a:endParaRPr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579706" y="3494915"/>
                <a:ext cx="23346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bg1"/>
                    </a:solidFill>
                    <a:latin typeface="+mn-ea"/>
                  </a:rPr>
                  <a:t>공개</a:t>
                </a:r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909257" y="3494915"/>
                <a:ext cx="280559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bg1"/>
                    </a:solidFill>
                    <a:latin typeface="+mn-ea"/>
                  </a:rPr>
                  <a:t>비공개</a:t>
                </a:r>
              </a:p>
            </p:txBody>
          </p:sp>
        </p:grp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890875" y="4411397"/>
              <a:ext cx="32496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rgbClr val="0070C0"/>
                  </a:solidFill>
                  <a:latin typeface="맑은 고딕" panose="020B0503020000020004" pitchFamily="50" charset="-127"/>
                </a:rPr>
                <a:t>0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/ 2000</a:t>
              </a:r>
            </a:p>
          </p:txBody>
        </p:sp>
      </p:grpSp>
      <p:grpSp>
        <p:nvGrpSpPr>
          <p:cNvPr id="166" name="그룹 165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167" name="직사각형 166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수정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69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rPr>
                <a:t>삭제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170" name="타원 16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0573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71" name="타원 1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03269" y="519473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72" name="타원 17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7171" y="2446710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173" name="타원 1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3073" y="582115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0" name="그룹 79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81" name="직선 연결선 80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직선 연결선 81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업체의견</a:t>
            </a:r>
            <a:r>
              <a:rPr lang="ko-KR" altLang="en-US" sz="900" dirty="0">
                <a:latin typeface="+mn-ea"/>
              </a:rPr>
              <a:t> 상세</a:t>
            </a:r>
          </a:p>
        </p:txBody>
      </p:sp>
      <p:grpSp>
        <p:nvGrpSpPr>
          <p:cNvPr id="84" name="그룹 83"/>
          <p:cNvGrpSpPr/>
          <p:nvPr/>
        </p:nvGrpSpPr>
        <p:grpSpPr>
          <a:xfrm>
            <a:off x="3795734" y="6066295"/>
            <a:ext cx="2712027" cy="617588"/>
            <a:chOff x="675399" y="5614711"/>
            <a:chExt cx="2712027" cy="617588"/>
          </a:xfrm>
        </p:grpSpPr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1" y="5745391"/>
              <a:ext cx="2527419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86" name="그룹 85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93" name="직사각형 92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2026-05-27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94" name="직사각형 93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아이디 변경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 err="1"/>
                <a:t>풀페이지</a:t>
              </a:r>
              <a:r>
                <a:rPr lang="ko-KR" altLang="en-US" sz="700" dirty="0"/>
                <a:t> 팝업으로 변경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96045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197226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 err="1">
                <a:solidFill>
                  <a:prstClr val="black"/>
                </a:solidFill>
              </a:rPr>
              <a:t>업체의견상세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조달계획 식별을 위한 조달번호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의견 식별을 위한 의견번호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46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E4F85CA-096A-8D3B-930E-59C75F3DDFBB}"/>
              </a:ext>
            </a:extLst>
          </p:cNvPr>
          <p:cNvSpPr txBox="1"/>
          <p:nvPr/>
        </p:nvSpPr>
        <p:spPr>
          <a:xfrm>
            <a:off x="444290" y="1653889"/>
            <a:ext cx="189692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의견내역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A644FDB-5A9B-8507-D8BC-C4428E92034B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1866174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brno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166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성명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842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전화번호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entlno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전화번호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242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이메일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emlAddr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이메일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110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qnaTtl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903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regYn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공개여부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Y: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공개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N: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비공개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895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내용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5373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493BF57-30C4-D2B9-87E2-11DC15807358}"/>
              </a:ext>
            </a:extLst>
          </p:cNvPr>
          <p:cNvSpPr txBox="1"/>
          <p:nvPr/>
        </p:nvSpPr>
        <p:spPr>
          <a:xfrm>
            <a:off x="458117" y="448640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566B705-20E7-7761-8102-6609B0A1F341}"/>
              </a:ext>
            </a:extLst>
          </p:cNvPr>
          <p:cNvGraphicFramePr>
            <a:graphicFrameLocks noGrp="1"/>
          </p:cNvGraphicFramePr>
          <p:nvPr/>
        </p:nvGraphicFramePr>
        <p:xfrm>
          <a:off x="453000" y="4741567"/>
          <a:ext cx="8995591" cy="1335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scwin.btn_modify_onclick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업체의견등록 화면으로 이동된다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61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삭제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scwin.btn_delete_onclick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선택한 업체의견 정보가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DB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에서 삭제 처리되고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닫힌다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823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닫기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scwin.btn_close_onclick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닫힌다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45986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590A7B4-31D4-047E-80C2-0EC131DD670B}"/>
              </a:ext>
            </a:extLst>
          </p:cNvPr>
          <p:cNvSpPr txBox="1"/>
          <p:nvPr/>
        </p:nvSpPr>
        <p:spPr>
          <a:xfrm>
            <a:off x="452999" y="3706738"/>
            <a:ext cx="189692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첨부파일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37BC10A-9BEA-F81F-EBD8-9DDFBBD6C8E2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3919023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docId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0CCFA11-FBDA-DF60-57B0-7832DB50F007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endParaRPr lang="ko-KR" altLang="en-US" sz="1000" b="1" dirty="0"/>
          </a:p>
        </p:txBody>
      </p:sp>
      <p:sp>
        <p:nvSpPr>
          <p:cNvPr id="16" name="Text Box 73">
            <a:extLst>
              <a:ext uri="{FF2B5EF4-FFF2-40B4-BE49-F238E27FC236}">
                <a16:creationId xmlns:a16="http://schemas.microsoft.com/office/drawing/2014/main" id="{95E64C75-CA34-EF56-A1D2-C49BD4B7A1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724562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직사각형 9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업체의견</a:t>
            </a:r>
            <a:r>
              <a:rPr lang="ko-KR" altLang="en-US" dirty="0"/>
              <a:t> 답변 상세 내용 표시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답변 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화면 </a:t>
            </a:r>
            <a:r>
              <a:rPr lang="en-US" altLang="ko-KR" dirty="0"/>
              <a:t>– </a:t>
            </a:r>
            <a:r>
              <a:rPr lang="ko-KR" altLang="en-US" dirty="0" err="1"/>
              <a:t>업체의견</a:t>
            </a:r>
            <a:r>
              <a:rPr lang="ko-KR" altLang="en-US" dirty="0"/>
              <a:t> 답변 상세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답변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MUI-OP-01-P06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" name="그룹 2"/>
          <p:cNvGrpSpPr/>
          <p:nvPr/>
        </p:nvGrpSpPr>
        <p:grpSpPr>
          <a:xfrm>
            <a:off x="3795734" y="3328139"/>
            <a:ext cx="2712027" cy="1389948"/>
            <a:chOff x="3677672" y="3328139"/>
            <a:chExt cx="2712027" cy="1389948"/>
          </a:xfrm>
        </p:grpSpPr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764419" y="3381713"/>
              <a:ext cx="127819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작성자 정보</a:t>
              </a:r>
            </a:p>
          </p:txBody>
        </p:sp>
        <p:sp>
          <p:nvSpPr>
            <p:cNvPr id="6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3764419" y="3805530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담당자</a:t>
              </a:r>
              <a:endParaRPr lang="ko-KR" altLang="en-US" sz="900" b="1" dirty="0"/>
            </a:p>
          </p:txBody>
        </p:sp>
        <p:sp>
          <p:nvSpPr>
            <p:cNvPr id="73" name="모서리가 둥근 직사각형 72"/>
            <p:cNvSpPr/>
            <p:nvPr/>
          </p:nvSpPr>
          <p:spPr>
            <a:xfrm>
              <a:off x="3722763" y="3968238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 err="1"/>
                <a:t>김길동</a:t>
              </a:r>
              <a:endParaRPr lang="ko-KR" altLang="en-US" sz="800" dirty="0"/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677672" y="3328139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3764419" y="4308129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전화번호</a:t>
              </a:r>
              <a:endParaRPr lang="ko-KR" altLang="en-US" sz="900" b="1" dirty="0"/>
            </a:p>
          </p:txBody>
        </p:sp>
        <p:sp>
          <p:nvSpPr>
            <p:cNvPr id="50" name="모서리가 둥근 직사각형 49"/>
            <p:cNvSpPr/>
            <p:nvPr/>
          </p:nvSpPr>
          <p:spPr>
            <a:xfrm>
              <a:off x="3722763" y="4470837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010-1234-5678</a:t>
              </a:r>
              <a:endParaRPr lang="ko-KR" altLang="en-US" sz="800" dirty="0"/>
            </a:p>
          </p:txBody>
        </p:sp>
        <p:grpSp>
          <p:nvGrpSpPr>
            <p:cNvPr id="88" name="그룹 87"/>
            <p:cNvGrpSpPr/>
            <p:nvPr/>
          </p:nvGrpSpPr>
          <p:grpSpPr>
            <a:xfrm flipV="1">
              <a:off x="6126506" y="3468175"/>
              <a:ext cx="94010" cy="47005"/>
              <a:chOff x="6812560" y="3297172"/>
              <a:chExt cx="94010" cy="47005"/>
            </a:xfrm>
          </p:grpSpPr>
          <p:cxnSp>
            <p:nvCxnSpPr>
              <p:cNvPr id="89" name="직선 연결선 8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677672" y="366335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891243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답변내역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18" name="그룹 117"/>
          <p:cNvGrpSpPr/>
          <p:nvPr/>
        </p:nvGrpSpPr>
        <p:grpSpPr>
          <a:xfrm flipV="1">
            <a:off x="3124233" y="1977705"/>
            <a:ext cx="94010" cy="47005"/>
            <a:chOff x="6812560" y="3297172"/>
            <a:chExt cx="94010" cy="47005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직선 연결선 11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7288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3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62123" y="2326722"/>
            <a:ext cx="252715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제목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24" name="모서리가 둥근 직사각형 123"/>
          <p:cNvSpPr/>
          <p:nvPr/>
        </p:nvSpPr>
        <p:spPr>
          <a:xfrm>
            <a:off x="720467" y="2489430"/>
            <a:ext cx="2610778" cy="247250"/>
          </a:xfrm>
          <a:prstGeom prst="roundRect">
            <a:avLst>
              <a:gd name="adj" fmla="val 2340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r>
              <a:rPr lang="ko-KR" altLang="en-US" sz="800" dirty="0" err="1"/>
              <a:t>업체의견이</a:t>
            </a:r>
            <a:r>
              <a:rPr lang="ko-KR" altLang="en-US" sz="800" dirty="0"/>
              <a:t> 있습니다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grpSp>
        <p:nvGrpSpPr>
          <p:cNvPr id="15" name="그룹 14"/>
          <p:cNvGrpSpPr/>
          <p:nvPr/>
        </p:nvGrpSpPr>
        <p:grpSpPr>
          <a:xfrm>
            <a:off x="3795734" y="1493927"/>
            <a:ext cx="2712027" cy="347855"/>
            <a:chOff x="3831550" y="3745666"/>
            <a:chExt cx="2712027" cy="347855"/>
          </a:xfrm>
        </p:grpSpPr>
        <p:cxnSp>
          <p:nvCxnSpPr>
            <p:cNvPr id="135" name="직선 연결선 13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374566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8297" y="3811883"/>
              <a:ext cx="127819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2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39" name="그룹 138"/>
            <p:cNvGrpSpPr/>
            <p:nvPr/>
          </p:nvGrpSpPr>
          <p:grpSpPr>
            <a:xfrm flipV="1">
              <a:off x="6280384" y="3898345"/>
              <a:ext cx="94010" cy="47005"/>
              <a:chOff x="6812560" y="3297172"/>
              <a:chExt cx="94010" cy="47005"/>
            </a:xfrm>
          </p:grpSpPr>
          <p:cxnSp>
            <p:nvCxnSpPr>
              <p:cNvPr id="140" name="직선 연결선 13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409352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3" name="모서리가 둥근 직사각형 142"/>
          <p:cNvSpPr/>
          <p:nvPr/>
        </p:nvSpPr>
        <p:spPr>
          <a:xfrm>
            <a:off x="3831550" y="2089138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32218" y="2217520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hwp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9746" y="2217520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</a:t>
            </a:r>
          </a:p>
        </p:txBody>
      </p:sp>
      <p:sp>
        <p:nvSpPr>
          <p:cNvPr id="146" name="타원 145"/>
          <p:cNvSpPr/>
          <p:nvPr/>
        </p:nvSpPr>
        <p:spPr>
          <a:xfrm>
            <a:off x="6219547" y="2199381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3831550" y="2495824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32218" y="2624206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hwp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9746" y="2624206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</a:t>
            </a:r>
          </a:p>
        </p:txBody>
      </p:sp>
      <p:sp>
        <p:nvSpPr>
          <p:cNvPr id="150" name="타원 149"/>
          <p:cNvSpPr/>
          <p:nvPr/>
        </p:nvSpPr>
        <p:spPr>
          <a:xfrm>
            <a:off x="6219547" y="2606067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32218" y="1954020"/>
            <a:ext cx="47434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6129063" y="1954020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다운로드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38314" y="1954020"/>
            <a:ext cx="3906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항목번호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2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67679" y="2882845"/>
            <a:ext cx="252715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내용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03" name="모서리가 둥근 직사각형 102"/>
          <p:cNvSpPr/>
          <p:nvPr/>
        </p:nvSpPr>
        <p:spPr>
          <a:xfrm>
            <a:off x="726023" y="3045553"/>
            <a:ext cx="2610778" cy="1572062"/>
          </a:xfrm>
          <a:prstGeom prst="roundRect">
            <a:avLst>
              <a:gd name="adj" fmla="val 431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t"/>
          <a:lstStyle/>
          <a:p>
            <a:r>
              <a:rPr lang="ko-KR" altLang="en-US" sz="800" dirty="0" err="1"/>
              <a:t>업체의견이</a:t>
            </a:r>
            <a:r>
              <a:rPr lang="ko-KR" altLang="en-US" sz="800" dirty="0"/>
              <a:t> 있습니다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899531" y="4452031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0070C0"/>
                </a:solidFill>
                <a:latin typeface="맑은 고딕" panose="020B0503020000020004" pitchFamily="50" charset="-127"/>
              </a:rPr>
              <a:t>0</a:t>
            </a:r>
            <a:r>
              <a: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/ 2000</a:t>
            </a:r>
          </a:p>
        </p:txBody>
      </p:sp>
      <p:grpSp>
        <p:nvGrpSpPr>
          <p:cNvPr id="58" name="그룹 5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59" name="직선 연결선 5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직선 연결선 5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업체의견</a:t>
            </a:r>
            <a:r>
              <a:rPr lang="ko-KR" altLang="en-US" sz="900" dirty="0">
                <a:latin typeface="+mn-ea"/>
              </a:rPr>
              <a:t> 답변 상세</a:t>
            </a:r>
          </a:p>
        </p:txBody>
      </p:sp>
      <p:grpSp>
        <p:nvGrpSpPr>
          <p:cNvPr id="55" name="그룹 54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56" name="직사각형 55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2026-05-27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아이디 변경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 err="1"/>
                <a:t>풀페이지</a:t>
              </a:r>
              <a:r>
                <a:rPr lang="ko-KR" altLang="en-US" sz="700" dirty="0"/>
                <a:t> 팝업으로 변경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030638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31688"/>
            <a:ext cx="174143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답변조회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42891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조달계획 식별을 위한 조달번호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의견 식별을 위한 의견번호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답변번호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upQnaNo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답변 식별을 위한 답변번호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5352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E4F85CA-096A-8D3B-930E-59C75F3DDFBB}"/>
              </a:ext>
            </a:extLst>
          </p:cNvPr>
          <p:cNvSpPr txBox="1"/>
          <p:nvPr/>
        </p:nvSpPr>
        <p:spPr>
          <a:xfrm>
            <a:off x="444290" y="1900951"/>
            <a:ext cx="189692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답변조회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A644FDB-5A9B-8507-D8BC-C4428E92034B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2113236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166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전화번호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entlno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전화번호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842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qnaTtl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242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qnaCn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내용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11008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493BF57-30C4-D2B9-87E2-11DC15807358}"/>
              </a:ext>
            </a:extLst>
          </p:cNvPr>
          <p:cNvSpPr txBox="1"/>
          <p:nvPr/>
        </p:nvSpPr>
        <p:spPr>
          <a:xfrm>
            <a:off x="458117" y="4139042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566B705-20E7-7761-8102-6609B0A1F341}"/>
              </a:ext>
            </a:extLst>
          </p:cNvPr>
          <p:cNvGraphicFramePr>
            <a:graphicFrameLocks noGrp="1"/>
          </p:cNvGraphicFramePr>
          <p:nvPr/>
        </p:nvGraphicFramePr>
        <p:xfrm>
          <a:off x="453000" y="4422783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닫기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scwin.btn_close_onclick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닫힌다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45986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46F6DC8-5FEA-2EED-D6F1-EFE0AE591EDD}"/>
              </a:ext>
            </a:extLst>
          </p:cNvPr>
          <p:cNvSpPr txBox="1"/>
          <p:nvPr/>
        </p:nvSpPr>
        <p:spPr>
          <a:xfrm>
            <a:off x="452999" y="3354531"/>
            <a:ext cx="189692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첨부파일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CBB55A0-0B20-1CB9-6A0A-6A0B310C71A9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3566816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docId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E33EC2C2-E12D-8494-7B92-58FB79E017E1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endParaRPr lang="ko-KR" altLang="en-US" sz="1000" b="1" dirty="0"/>
          </a:p>
        </p:txBody>
      </p:sp>
      <p:sp>
        <p:nvSpPr>
          <p:cNvPr id="16" name="Text Box 73">
            <a:extLst>
              <a:ext uri="{FF2B5EF4-FFF2-40B4-BE49-F238E27FC236}">
                <a16:creationId xmlns:a16="http://schemas.microsoft.com/office/drawing/2014/main" id="{D86AA471-07B0-6913-3EF3-4AB656B3A3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685434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업체의견</a:t>
            </a:r>
            <a:r>
              <a:rPr lang="ko-KR" altLang="en-US" dirty="0"/>
              <a:t> 등록</a:t>
            </a:r>
            <a:r>
              <a:rPr lang="en-US" altLang="ko-KR" dirty="0"/>
              <a:t>, </a:t>
            </a:r>
            <a:r>
              <a:rPr lang="ko-KR" altLang="en-US" dirty="0"/>
              <a:t>수정 진입에 따라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제목</a:t>
            </a:r>
            <a:r>
              <a:rPr lang="en-US" altLang="ko-KR" dirty="0"/>
              <a:t>, </a:t>
            </a:r>
            <a:r>
              <a:rPr lang="ko-KR" altLang="en-US" dirty="0"/>
              <a:t>내용 필수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첨부파일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작성자 정보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버튼 영역은 화면 하단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처리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등록</a:t>
            </a:r>
            <a:endParaRPr lang="en-US" altLang="ko-KR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화면 </a:t>
            </a:r>
            <a:r>
              <a:rPr lang="en-US" altLang="ko-KR" dirty="0"/>
              <a:t>– </a:t>
            </a:r>
            <a:r>
              <a:rPr lang="ko-KR" altLang="en-US" dirty="0" err="1"/>
              <a:t>업체의견</a:t>
            </a:r>
            <a:r>
              <a:rPr lang="ko-KR" altLang="en-US" dirty="0"/>
              <a:t> 등록</a:t>
            </a:r>
            <a:r>
              <a:rPr lang="en-US" altLang="ko-KR" dirty="0"/>
              <a:t>/</a:t>
            </a:r>
            <a:r>
              <a:rPr lang="ko-KR" altLang="en-US" dirty="0"/>
              <a:t>수정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등록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수정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MUI-OP-01-P07</a:t>
            </a:r>
            <a:endParaRPr lang="ko-KR" altLang="en-US" dirty="0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87" name="그룹 86"/>
          <p:cNvGrpSpPr/>
          <p:nvPr/>
        </p:nvGrpSpPr>
        <p:grpSpPr>
          <a:xfrm>
            <a:off x="3790563" y="2349314"/>
            <a:ext cx="2717198" cy="3078289"/>
            <a:chOff x="675399" y="1846937"/>
            <a:chExt cx="2717198" cy="3078289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2146" y="1901536"/>
              <a:ext cx="127819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작성자 정보</a:t>
              </a:r>
            </a:p>
          </p:txBody>
        </p:sp>
        <p:sp>
          <p:nvSpPr>
            <p:cNvPr id="9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232535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업체명</a:t>
              </a:r>
              <a:endParaRPr lang="ko-KR" altLang="en-US" sz="900" b="1" dirty="0"/>
            </a:p>
          </p:txBody>
        </p:sp>
        <p:sp>
          <p:nvSpPr>
            <p:cNvPr id="95" name="모서리가 둥근 직사각형 94"/>
            <p:cNvSpPr/>
            <p:nvPr/>
          </p:nvSpPr>
          <p:spPr>
            <a:xfrm>
              <a:off x="720490" y="2488061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/>
                <a:t>㈜길동주식회사</a:t>
              </a:r>
            </a:p>
          </p:txBody>
        </p: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92522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2827952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사업자번호</a:t>
              </a:r>
              <a:endParaRPr lang="ko-KR" altLang="en-US" sz="900" b="1" dirty="0"/>
            </a:p>
          </p:txBody>
        </p:sp>
        <p:sp>
          <p:nvSpPr>
            <p:cNvPr id="98" name="모서리가 둥근 직사각형 97"/>
            <p:cNvSpPr/>
            <p:nvPr/>
          </p:nvSpPr>
          <p:spPr>
            <a:xfrm>
              <a:off x="720490" y="2990660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123-45-67890</a:t>
              </a:r>
              <a:endParaRPr lang="ko-KR" altLang="en-US" sz="800" dirty="0"/>
            </a:p>
          </p:txBody>
        </p:sp>
        <p:sp>
          <p:nvSpPr>
            <p:cNvPr id="9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33173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성명</a:t>
              </a:r>
              <a:endParaRPr lang="ko-KR" altLang="en-US" sz="900" b="1" dirty="0"/>
            </a:p>
          </p:txBody>
        </p:sp>
        <p:sp>
          <p:nvSpPr>
            <p:cNvPr id="100" name="모서리가 둥근 직사각형 99"/>
            <p:cNvSpPr/>
            <p:nvPr/>
          </p:nvSpPr>
          <p:spPr>
            <a:xfrm>
              <a:off x="720490" y="3494441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 err="1"/>
                <a:t>김길동</a:t>
              </a:r>
              <a:endParaRPr lang="ko-KR" altLang="en-US" sz="800" dirty="0"/>
            </a:p>
          </p:txBody>
        </p:sp>
        <p:sp>
          <p:nvSpPr>
            <p:cNvPr id="10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829422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전화번호</a:t>
              </a:r>
              <a:endParaRPr lang="ko-KR" altLang="en-US" sz="900" b="1" dirty="0"/>
            </a:p>
          </p:txBody>
        </p:sp>
        <p:sp>
          <p:nvSpPr>
            <p:cNvPr id="106" name="모서리가 둥근 직사각형 105"/>
            <p:cNvSpPr/>
            <p:nvPr/>
          </p:nvSpPr>
          <p:spPr>
            <a:xfrm>
              <a:off x="720490" y="3992130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010-1234-5678</a:t>
              </a:r>
              <a:endParaRPr lang="ko-KR" altLang="en-US" sz="800" dirty="0"/>
            </a:p>
          </p:txBody>
        </p:sp>
        <p:sp>
          <p:nvSpPr>
            <p:cNvPr id="10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4330977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이메일</a:t>
              </a:r>
              <a:endParaRPr lang="ko-KR" altLang="en-US" sz="900" b="1" dirty="0"/>
            </a:p>
          </p:txBody>
        </p:sp>
        <p:sp>
          <p:nvSpPr>
            <p:cNvPr id="108" name="모서리가 둥근 직사각형 107"/>
            <p:cNvSpPr/>
            <p:nvPr/>
          </p:nvSpPr>
          <p:spPr>
            <a:xfrm>
              <a:off x="720490" y="4493685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abcde@naver.com</a:t>
              </a:r>
              <a:endParaRPr lang="ko-KR" altLang="en-US" sz="800" dirty="0"/>
            </a:p>
          </p:txBody>
        </p:sp>
        <p:cxnSp>
          <p:nvCxnSpPr>
            <p:cNvPr id="109" name="직선 연결선 10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184693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10" name="그룹 109"/>
            <p:cNvGrpSpPr/>
            <p:nvPr/>
          </p:nvGrpSpPr>
          <p:grpSpPr>
            <a:xfrm flipV="1">
              <a:off x="3124233" y="1987998"/>
              <a:ext cx="94010" cy="47005"/>
              <a:chOff x="6812560" y="3297172"/>
              <a:chExt cx="94010" cy="47005"/>
            </a:xfrm>
          </p:grpSpPr>
          <p:cxnSp>
            <p:nvCxnSpPr>
              <p:cNvPr id="112" name="직선 연결선 11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" name="직선 연결선 11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11" name="직선 연결선 11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218317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891408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16" name="그룹 115"/>
          <p:cNvGrpSpPr/>
          <p:nvPr/>
        </p:nvGrpSpPr>
        <p:grpSpPr>
          <a:xfrm flipV="1">
            <a:off x="3124233" y="1977870"/>
            <a:ext cx="94010" cy="47005"/>
            <a:chOff x="6812560" y="3297172"/>
            <a:chExt cx="94010" cy="47005"/>
          </a:xfrm>
        </p:grpSpPr>
        <p:cxnSp>
          <p:nvCxnSpPr>
            <p:cNvPr id="126" name="직선 연결선 12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0" name="직선 연결선 12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7304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2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62123" y="2303034"/>
            <a:ext cx="252715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제목 </a:t>
            </a:r>
            <a:r>
              <a:rPr lang="en-US" altLang="ko-KR" sz="700" dirty="0">
                <a:solidFill>
                  <a:srgbClr val="FF0000"/>
                </a:solidFill>
              </a:rPr>
              <a:t>*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33" name="모서리가 둥근 직사각형 132"/>
          <p:cNvSpPr/>
          <p:nvPr/>
        </p:nvSpPr>
        <p:spPr>
          <a:xfrm>
            <a:off x="720467" y="2465742"/>
            <a:ext cx="2610778" cy="247250"/>
          </a:xfrm>
          <a:prstGeom prst="roundRect">
            <a:avLst>
              <a:gd name="adj" fmla="val 23409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r>
              <a:rPr lang="ko-KR" altLang="en-US" sz="800" dirty="0" err="1"/>
              <a:t>업체의견이</a:t>
            </a:r>
            <a:r>
              <a:rPr lang="ko-KR" altLang="en-US" sz="800" dirty="0"/>
              <a:t> 있습니다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grpSp>
        <p:nvGrpSpPr>
          <p:cNvPr id="134" name="그룹 133"/>
          <p:cNvGrpSpPr/>
          <p:nvPr/>
        </p:nvGrpSpPr>
        <p:grpSpPr>
          <a:xfrm>
            <a:off x="684326" y="4960279"/>
            <a:ext cx="2712027" cy="347855"/>
            <a:chOff x="3831550" y="3745666"/>
            <a:chExt cx="2712027" cy="347855"/>
          </a:xfrm>
        </p:grpSpPr>
        <p:cxnSp>
          <p:nvCxnSpPr>
            <p:cNvPr id="136" name="직선 연결선 13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374566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8297" y="3811883"/>
              <a:ext cx="127819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2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56" name="그룹 155"/>
            <p:cNvGrpSpPr/>
            <p:nvPr/>
          </p:nvGrpSpPr>
          <p:grpSpPr>
            <a:xfrm flipV="1">
              <a:off x="6280384" y="3898345"/>
              <a:ext cx="94010" cy="47005"/>
              <a:chOff x="6812560" y="3297172"/>
              <a:chExt cx="94010" cy="47005"/>
            </a:xfrm>
          </p:grpSpPr>
          <p:cxnSp>
            <p:nvCxnSpPr>
              <p:cNvPr id="158" name="직선 연결선 15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9" name="직선 연결선 15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409352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73" name="그룹 172"/>
          <p:cNvGrpSpPr/>
          <p:nvPr/>
        </p:nvGrpSpPr>
        <p:grpSpPr>
          <a:xfrm>
            <a:off x="717367" y="2842211"/>
            <a:ext cx="2610778" cy="2013555"/>
            <a:chOff x="717367" y="2842211"/>
            <a:chExt cx="2610778" cy="2013555"/>
          </a:xfrm>
        </p:grpSpPr>
        <p:sp>
          <p:nvSpPr>
            <p:cNvPr id="17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59023" y="2842211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내용 </a:t>
              </a:r>
              <a:r>
                <a:rPr lang="en-US" altLang="ko-KR" sz="700" dirty="0">
                  <a:solidFill>
                    <a:srgbClr val="FF0000"/>
                  </a:solidFill>
                </a:rPr>
                <a:t>*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sp>
          <p:nvSpPr>
            <p:cNvPr id="175" name="모서리가 둥근 직사각형 174"/>
            <p:cNvSpPr/>
            <p:nvPr/>
          </p:nvSpPr>
          <p:spPr>
            <a:xfrm>
              <a:off x="717367" y="3004919"/>
              <a:ext cx="2610778" cy="1572062"/>
            </a:xfrm>
            <a:prstGeom prst="roundRect">
              <a:avLst>
                <a:gd name="adj" fmla="val 4310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t"/>
            <a:lstStyle/>
            <a:p>
              <a:r>
                <a:rPr lang="ko-KR" altLang="en-US" sz="800" dirty="0" err="1"/>
                <a:t>업체의견이</a:t>
              </a:r>
              <a:r>
                <a:rPr lang="ko-KR" altLang="en-US" sz="800" dirty="0"/>
                <a:t> 있습니다</a:t>
              </a:r>
              <a:r>
                <a:rPr lang="en-US" altLang="ko-KR" sz="800" dirty="0"/>
                <a:t>.</a:t>
              </a:r>
              <a:endParaRPr lang="ko-KR" altLang="en-US" sz="800" dirty="0"/>
            </a:p>
          </p:txBody>
        </p:sp>
        <p:sp>
          <p:nvSpPr>
            <p:cNvPr id="176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59023" y="472734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공개여부 </a:t>
              </a:r>
              <a:r>
                <a:rPr lang="en-US" altLang="ko-KR" sz="700" dirty="0">
                  <a:solidFill>
                    <a:srgbClr val="FF0000"/>
                  </a:solidFill>
                </a:rPr>
                <a:t>*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grpSp>
          <p:nvGrpSpPr>
            <p:cNvPr id="177" name="그룹 176"/>
            <p:cNvGrpSpPr/>
            <p:nvPr/>
          </p:nvGrpSpPr>
          <p:grpSpPr>
            <a:xfrm>
              <a:off x="2608145" y="4706642"/>
              <a:ext cx="720000" cy="149124"/>
              <a:chOff x="4507439" y="3468375"/>
              <a:chExt cx="720000" cy="149124"/>
            </a:xfrm>
          </p:grpSpPr>
          <p:sp>
            <p:nvSpPr>
              <p:cNvPr id="179" name="모서리가 둥근 직사각형 178"/>
              <p:cNvSpPr/>
              <p:nvPr/>
            </p:nvSpPr>
            <p:spPr>
              <a:xfrm>
                <a:off x="4507439" y="3468375"/>
                <a:ext cx="720000" cy="149124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80" name="모서리가 둥근 직사각형 179"/>
              <p:cNvSpPr/>
              <p:nvPr/>
            </p:nvSpPr>
            <p:spPr>
              <a:xfrm>
                <a:off x="4507439" y="3468375"/>
                <a:ext cx="378000" cy="149124"/>
              </a:xfrm>
              <a:prstGeom prst="roundRect">
                <a:avLst>
                  <a:gd name="adj" fmla="val 50000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800" kern="0">
                  <a:solidFill>
                    <a:prstClr val="white"/>
                  </a:solidFill>
                  <a:latin typeface="맑은 고딕"/>
                </a:endParaRPr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579706" y="3494915"/>
                <a:ext cx="23346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bg1"/>
                    </a:solidFill>
                    <a:latin typeface="+mn-ea"/>
                  </a:rPr>
                  <a:t>공개</a:t>
                </a:r>
              </a:p>
            </p:txBody>
          </p: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909257" y="3494915"/>
                <a:ext cx="280559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bg1"/>
                    </a:solidFill>
                    <a:latin typeface="+mn-ea"/>
                  </a:rPr>
                  <a:t>비공개</a:t>
                </a:r>
              </a:p>
            </p:txBody>
          </p:sp>
        </p:grp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890875" y="4411397"/>
              <a:ext cx="32496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rgbClr val="0070C0"/>
                  </a:solidFill>
                  <a:latin typeface="맑은 고딕" panose="020B0503020000020004" pitchFamily="50" charset="-127"/>
                </a:rPr>
                <a:t>0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/ 2000</a:t>
              </a:r>
            </a:p>
          </p:txBody>
        </p:sp>
      </p:grpSp>
      <p:sp>
        <p:nvSpPr>
          <p:cNvPr id="183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04972" y="5384101"/>
            <a:ext cx="2652743" cy="207774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파일추가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grpSp>
        <p:nvGrpSpPr>
          <p:cNvPr id="185" name="그룹 184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186" name="직사각형 185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저장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88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취소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189" name="타원 18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28438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91" name="타원 19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7171" y="2447516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192" name="타원 19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3073" y="582115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" name="그룹 2"/>
          <p:cNvGrpSpPr/>
          <p:nvPr/>
        </p:nvGrpSpPr>
        <p:grpSpPr>
          <a:xfrm>
            <a:off x="705041" y="5712463"/>
            <a:ext cx="2652743" cy="499604"/>
            <a:chOff x="713968" y="6113949"/>
            <a:chExt cx="2652743" cy="499604"/>
          </a:xfrm>
        </p:grpSpPr>
        <p:sp>
          <p:nvSpPr>
            <p:cNvPr id="194" name="모서리가 둥근 직사각형 193"/>
            <p:cNvSpPr/>
            <p:nvPr/>
          </p:nvSpPr>
          <p:spPr>
            <a:xfrm>
              <a:off x="713968" y="6249067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4636" y="6377449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r>
                <a:rPr lang="en-US" altLang="ko-KR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hwp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[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2164" y="6377449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1</a:t>
              </a: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4636" y="6113949"/>
              <a:ext cx="47434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36458" y="6113949"/>
              <a:ext cx="32496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삭제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20732" y="6113949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항목번호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01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2956879" y="6343762"/>
              <a:ext cx="284126" cy="154884"/>
            </a:xfrm>
            <a:prstGeom prst="roundRect">
              <a:avLst/>
            </a:prstGeom>
            <a:noFill/>
            <a:ln w="317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kern="0" dirty="0">
                  <a:latin typeface="맑은 고딕"/>
                  <a:ea typeface="맑은 고딕" panose="020B0503020000020004" pitchFamily="50" charset="-127"/>
                </a:rPr>
                <a:t>삭제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207" name="그룹 206"/>
          <p:cNvGrpSpPr/>
          <p:nvPr/>
        </p:nvGrpSpPr>
        <p:grpSpPr>
          <a:xfrm>
            <a:off x="3831550" y="1591273"/>
            <a:ext cx="2652743" cy="364486"/>
            <a:chOff x="3421101" y="64023"/>
            <a:chExt cx="2652743" cy="364486"/>
          </a:xfrm>
        </p:grpSpPr>
        <p:sp>
          <p:nvSpPr>
            <p:cNvPr id="208" name="모서리가 둥근 직사각형 207"/>
            <p:cNvSpPr/>
            <p:nvPr/>
          </p:nvSpPr>
          <p:spPr>
            <a:xfrm>
              <a:off x="3421101" y="64023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1769" y="192405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r>
                <a:rPr lang="en-US" altLang="ko-KR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hwp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[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499297" y="192405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2</a:t>
              </a:r>
            </a:p>
          </p:txBody>
        </p:sp>
        <p:sp>
          <p:nvSpPr>
            <p:cNvPr id="212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5637130" y="168824"/>
              <a:ext cx="284126" cy="154884"/>
            </a:xfrm>
            <a:prstGeom prst="roundRect">
              <a:avLst/>
            </a:prstGeom>
            <a:noFill/>
            <a:ln w="317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kern="0" dirty="0">
                  <a:latin typeface="맑은 고딕"/>
                  <a:ea typeface="맑은 고딕" panose="020B0503020000020004" pitchFamily="50" charset="-127"/>
                </a:rPr>
                <a:t>삭제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15" name="타원 21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05929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grpSp>
        <p:nvGrpSpPr>
          <p:cNvPr id="88" name="그룹 8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89" name="직선 연결선 8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직선 연결선 8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업체의견</a:t>
            </a:r>
            <a:r>
              <a:rPr lang="ko-KR" altLang="en-US" sz="900" dirty="0">
                <a:latin typeface="+mn-ea"/>
              </a:rPr>
              <a:t> 등록</a:t>
            </a:r>
            <a:r>
              <a:rPr lang="en-US" altLang="ko-KR" sz="900" dirty="0">
                <a:latin typeface="+mn-ea"/>
              </a:rPr>
              <a:t>/</a:t>
            </a:r>
            <a:r>
              <a:rPr lang="ko-KR" altLang="en-US" sz="900" dirty="0">
                <a:latin typeface="+mn-ea"/>
              </a:rPr>
              <a:t>수정</a:t>
            </a:r>
          </a:p>
        </p:txBody>
      </p:sp>
      <p:grpSp>
        <p:nvGrpSpPr>
          <p:cNvPr id="82" name="그룹 81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83" name="직사각형 82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2026-05-27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84" name="직사각형 83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아이디 변경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 err="1"/>
                <a:t>풀페이지</a:t>
              </a:r>
              <a:r>
                <a:rPr lang="ko-KR" altLang="en-US" sz="700" dirty="0"/>
                <a:t> 팝업으로 변경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/>
                <a:t>파일 업로드에서 파일 다운로드 기능 제거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15516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197226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의견내역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로그인 사용자의 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brno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로그인 사용자의 사업자번호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553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로그인 사용자의 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3366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전화번호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entlno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전화번호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407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이메일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emlAddr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이메일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211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qnaTtl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218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regYn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공개여부 선택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Y: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공개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N: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비공개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842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내용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99162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493BF57-30C4-D2B9-87E2-11DC15807358}"/>
              </a:ext>
            </a:extLst>
          </p:cNvPr>
          <p:cNvSpPr txBox="1"/>
          <p:nvPr/>
        </p:nvSpPr>
        <p:spPr>
          <a:xfrm>
            <a:off x="458117" y="3632942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566B705-20E7-7761-8102-6609B0A1F3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259659"/>
              </p:ext>
            </p:extLst>
          </p:nvPr>
        </p:nvGraphicFramePr>
        <p:xfrm>
          <a:off x="453000" y="3878583"/>
          <a:ext cx="8995591" cy="1141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업체명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사업자번호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성명이 로그인 사용자의 정보로 공개여부는 </a:t>
                      </a:r>
                      <a:r>
                        <a:rPr lang="en-US" altLang="ko-KR" sz="800" dirty="0"/>
                        <a:t>‘</a:t>
                      </a:r>
                      <a:r>
                        <a:rPr lang="ko-KR" altLang="en-US" sz="800" dirty="0"/>
                        <a:t>공개</a:t>
                      </a:r>
                      <a:r>
                        <a:rPr lang="en-US" altLang="ko-KR" sz="800" dirty="0"/>
                        <a:t>’</a:t>
                      </a:r>
                      <a:r>
                        <a:rPr lang="ko-KR" altLang="en-US" sz="800" dirty="0"/>
                        <a:t>로 디폴트 세팅한다</a:t>
                      </a:r>
                      <a:r>
                        <a:rPr lang="en-US" altLang="ko-KR" sz="800" dirty="0"/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저장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scwin.btn_save_onclick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필수입력 값을 체크하고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입력한 값이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DB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에 저장된다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823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취소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scwin.btn_close_onclick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입력된 정보가 저장되지 않고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업체의견등록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닫힌다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45986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8EA7005-D8B1-8380-2FE3-D385D906687C}"/>
              </a:ext>
            </a:extLst>
          </p:cNvPr>
          <p:cNvSpPr txBox="1"/>
          <p:nvPr/>
        </p:nvSpPr>
        <p:spPr>
          <a:xfrm>
            <a:off x="452999" y="2838093"/>
            <a:ext cx="196424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첨부파일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F2BA1D5C-3E53-4F03-7DBF-D7F41AFB17FB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3050378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docId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5635AA1F-881E-3993-C54A-FCB9D374B6B2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endParaRPr lang="ko-KR" altLang="en-US" sz="1000" b="1" dirty="0"/>
          </a:p>
        </p:txBody>
      </p:sp>
      <p:sp>
        <p:nvSpPr>
          <p:cNvPr id="18" name="Text Box 73">
            <a:extLst>
              <a:ext uri="{FF2B5EF4-FFF2-40B4-BE49-F238E27FC236}">
                <a16:creationId xmlns:a16="http://schemas.microsoft.com/office/drawing/2014/main" id="{410120E1-8E07-BB54-AE26-D7EE609BB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687576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계약특수조건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계약특수조건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화면 </a:t>
            </a:r>
            <a:r>
              <a:rPr lang="en-US" altLang="ko-KR" dirty="0"/>
              <a:t>– </a:t>
            </a:r>
            <a:r>
              <a:rPr lang="ko-KR" altLang="en-US" dirty="0"/>
              <a:t>계약특수조건 탭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계약특수조건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MUI-OP-01-M08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>
                <a:solidFill>
                  <a:srgbClr val="0070C0"/>
                </a:solidFill>
                <a:latin typeface="+mn-ea"/>
              </a:rPr>
              <a:t>다음에 </a:t>
            </a:r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계속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544009"/>
            <a:ext cx="103509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계약특수조건</a:t>
            </a:r>
          </a:p>
        </p:txBody>
      </p:sp>
      <p:grpSp>
        <p:nvGrpSpPr>
          <p:cNvPr id="105" name="그룹 104"/>
          <p:cNvGrpSpPr/>
          <p:nvPr/>
        </p:nvGrpSpPr>
        <p:grpSpPr>
          <a:xfrm flipV="1">
            <a:off x="3124233" y="1657340"/>
            <a:ext cx="94010" cy="47005"/>
            <a:chOff x="6812560" y="3297172"/>
            <a:chExt cx="94010" cy="47005"/>
          </a:xfrm>
        </p:grpSpPr>
        <p:cxnSp>
          <p:nvCxnSpPr>
            <p:cNvPr id="106" name="직선 연결선 10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직선 연결선 10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70621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0331" y="1835482"/>
            <a:ext cx="2532688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1. </a:t>
            </a:r>
            <a:r>
              <a:rPr lang="ko-KR" altLang="en-US" sz="700" dirty="0">
                <a:latin typeface="+mn-ea"/>
              </a:rPr>
              <a:t>계약특수조건 </a:t>
            </a: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2. </a:t>
            </a:r>
            <a:r>
              <a:rPr lang="ko-KR" altLang="en-US" sz="700" dirty="0">
                <a:latin typeface="+mn-ea"/>
              </a:rPr>
              <a:t>계약특수조건 </a:t>
            </a:r>
            <a:r>
              <a:rPr lang="en-US" altLang="ko-KR" sz="700" dirty="0">
                <a:latin typeface="+mn-ea"/>
              </a:rPr>
              <a:t>2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3. </a:t>
            </a:r>
            <a:r>
              <a:rPr lang="ko-KR" altLang="en-US" sz="700" dirty="0">
                <a:latin typeface="+mn-ea"/>
              </a:rPr>
              <a:t>계약특수조건 </a:t>
            </a:r>
            <a:r>
              <a:rPr lang="en-US" altLang="ko-KR" sz="700" dirty="0">
                <a:latin typeface="+mn-ea"/>
              </a:rPr>
              <a:t>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4. </a:t>
            </a:r>
            <a:r>
              <a:rPr lang="ko-KR" altLang="en-US" sz="700" dirty="0">
                <a:latin typeface="+mn-ea"/>
              </a:rPr>
              <a:t>계약특수조건 </a:t>
            </a:r>
            <a:r>
              <a:rPr lang="en-US" altLang="ko-KR" sz="700" dirty="0">
                <a:latin typeface="+mn-ea"/>
              </a:rPr>
              <a:t>4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5. </a:t>
            </a:r>
            <a:r>
              <a:rPr lang="ko-KR" altLang="en-US" sz="700" dirty="0">
                <a:latin typeface="+mn-ea"/>
              </a:rPr>
              <a:t>계약특수조건 </a:t>
            </a:r>
            <a:r>
              <a:rPr lang="en-US" altLang="ko-KR" sz="700" dirty="0">
                <a:latin typeface="+mn-ea"/>
              </a:rPr>
              <a:t>5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6. </a:t>
            </a:r>
            <a:r>
              <a:rPr lang="ko-KR" altLang="en-US" sz="700" dirty="0">
                <a:latin typeface="+mn-ea"/>
              </a:rPr>
              <a:t>계약특수조건 </a:t>
            </a:r>
            <a:r>
              <a:rPr lang="en-US" altLang="ko-KR" sz="700" dirty="0">
                <a:latin typeface="+mn-ea"/>
              </a:rPr>
              <a:t>6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⁞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181498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41306134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집행계획 첨부파일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첨부파일명</a:t>
            </a:r>
            <a:r>
              <a:rPr lang="ko-KR" altLang="en-US" dirty="0"/>
              <a:t> 클릭 시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뷰어로 문서 열기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다운로드 버튼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즉시 다운로드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조달판단</a:t>
            </a:r>
            <a:r>
              <a:rPr lang="ko-KR" altLang="en-US" dirty="0"/>
              <a:t> 첨부파일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첨부파일명</a:t>
            </a:r>
            <a:r>
              <a:rPr lang="ko-KR" altLang="en-US" dirty="0"/>
              <a:t> 클릭 시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뷰어로 문서 열기</a:t>
            </a:r>
            <a:endParaRPr lang="ko-KR" altLang="en-US" dirty="0"/>
          </a:p>
          <a:p>
            <a:pPr marL="228600" indent="-228600">
              <a:buFont typeface="+mj-lt"/>
              <a:buAutoNum type="arabicPeriod"/>
            </a:pPr>
            <a:endParaRPr lang="ko-KR" altLang="en-US" dirty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첨부서류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상세 화면 </a:t>
            </a:r>
            <a:r>
              <a:rPr lang="en-US" altLang="ko-KR" dirty="0"/>
              <a:t>– </a:t>
            </a:r>
            <a:r>
              <a:rPr lang="ko-KR" altLang="en-US" dirty="0">
                <a:latin typeface="+mn-ea"/>
              </a:rPr>
              <a:t>첨부서류</a:t>
            </a:r>
            <a:r>
              <a:rPr lang="ko-KR" altLang="en-US" dirty="0"/>
              <a:t> 탭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첨부서류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MUI-OP-01-M09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>
                <a:solidFill>
                  <a:srgbClr val="0070C0"/>
                </a:solidFill>
                <a:latin typeface="+mn-ea"/>
              </a:rPr>
              <a:t>다음에 </a:t>
            </a:r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계속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544009"/>
            <a:ext cx="1035095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첨부서류</a:t>
            </a:r>
          </a:p>
        </p:txBody>
      </p:sp>
      <p:grpSp>
        <p:nvGrpSpPr>
          <p:cNvPr id="105" name="그룹 104"/>
          <p:cNvGrpSpPr/>
          <p:nvPr/>
        </p:nvGrpSpPr>
        <p:grpSpPr>
          <a:xfrm flipV="1">
            <a:off x="3124233" y="1657340"/>
            <a:ext cx="94010" cy="47005"/>
            <a:chOff x="6812560" y="3297172"/>
            <a:chExt cx="94010" cy="47005"/>
          </a:xfrm>
        </p:grpSpPr>
        <p:cxnSp>
          <p:nvCxnSpPr>
            <p:cNvPr id="106" name="직선 연결선 10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직선 연결선 10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1498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551" y="1867758"/>
            <a:ext cx="129808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집행계획 첨부파일 </a:t>
            </a:r>
            <a:r>
              <a:rPr lang="en-US" altLang="ko-KR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총 </a:t>
            </a:r>
            <a:r>
              <a:rPr lang="en-US" altLang="ko-KR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</a:t>
            </a: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건</a:t>
            </a:r>
            <a:endParaRPr lang="ko-KR" altLang="en-US" sz="700" dirty="0">
              <a:latin typeface="+mn-ea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718021" y="2266144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2394526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1.PDF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6217" y="2394526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</a:t>
            </a:r>
          </a:p>
        </p:txBody>
      </p:sp>
      <p:sp>
        <p:nvSpPr>
          <p:cNvPr id="23" name="타원 22"/>
          <p:cNvSpPr/>
          <p:nvPr/>
        </p:nvSpPr>
        <p:spPr>
          <a:xfrm>
            <a:off x="3078140" y="2376387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8021" y="2672830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2801212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2.hwp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6217" y="2801212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</a:t>
            </a:r>
          </a:p>
        </p:txBody>
      </p:sp>
      <p:sp>
        <p:nvSpPr>
          <p:cNvPr id="27" name="타원 26"/>
          <p:cNvSpPr/>
          <p:nvPr/>
        </p:nvSpPr>
        <p:spPr>
          <a:xfrm>
            <a:off x="3078140" y="2783073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2131026"/>
            <a:ext cx="47434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87656" y="2131026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다운로드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24785" y="2131026"/>
            <a:ext cx="3906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항목번호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49090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551" y="3543672"/>
            <a:ext cx="129808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pc="-52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조달판단</a:t>
            </a: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첨부파일 </a:t>
            </a:r>
            <a:r>
              <a:rPr lang="en-US" altLang="ko-KR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총 </a:t>
            </a:r>
            <a:r>
              <a:rPr lang="en-US" altLang="ko-KR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</a:t>
            </a: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건</a:t>
            </a:r>
            <a:endParaRPr lang="ko-KR" altLang="en-US" sz="700" dirty="0">
              <a:latin typeface="+mn-ea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718021" y="3942058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4070440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3.hwp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6217" y="4070440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</a:t>
            </a:r>
          </a:p>
        </p:txBody>
      </p:sp>
      <p:sp>
        <p:nvSpPr>
          <p:cNvPr id="39" name="타원 38"/>
          <p:cNvSpPr/>
          <p:nvPr/>
        </p:nvSpPr>
        <p:spPr>
          <a:xfrm>
            <a:off x="3078140" y="4052301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모서리가 둥근 직사각형 39"/>
          <p:cNvSpPr/>
          <p:nvPr/>
        </p:nvSpPr>
        <p:spPr>
          <a:xfrm>
            <a:off x="718021" y="4348744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4477126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4.pdf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6217" y="4477126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</a:t>
            </a:r>
          </a:p>
        </p:txBody>
      </p:sp>
      <p:sp>
        <p:nvSpPr>
          <p:cNvPr id="43" name="타원 42"/>
          <p:cNvSpPr/>
          <p:nvPr/>
        </p:nvSpPr>
        <p:spPr>
          <a:xfrm>
            <a:off x="3078140" y="4458987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3806940"/>
            <a:ext cx="47434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87656" y="3806940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다운로드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24785" y="3806940"/>
            <a:ext cx="3906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항목번호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57586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6677232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직사각형 243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0" name="양쪽 모서리가 둥근 사각형 269"/>
          <p:cNvSpPr/>
          <p:nvPr/>
        </p:nvSpPr>
        <p:spPr>
          <a:xfrm>
            <a:off x="3789896" y="1609111"/>
            <a:ext cx="2712027" cy="4623188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72" name="모서리가 둥근 직사각형 271"/>
          <p:cNvSpPr/>
          <p:nvPr/>
        </p:nvSpPr>
        <p:spPr>
          <a:xfrm>
            <a:off x="4875909" y="163950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73" name="그룹 272"/>
          <p:cNvGrpSpPr/>
          <p:nvPr/>
        </p:nvGrpSpPr>
        <p:grpSpPr>
          <a:xfrm>
            <a:off x="6278835" y="1773925"/>
            <a:ext cx="94010" cy="94010"/>
            <a:chOff x="6812560" y="3297172"/>
            <a:chExt cx="94010" cy="94010"/>
          </a:xfrm>
        </p:grpSpPr>
        <p:cxnSp>
          <p:nvCxnSpPr>
            <p:cNvPr id="274" name="직선 연결선 273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5" name="직선 연결선 274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6" name="TextBox 27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8973" y="175460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연관조달계획상세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입찰공고 </a:t>
            </a:r>
            <a:r>
              <a:rPr lang="ko-KR" altLang="en-US" dirty="0" err="1"/>
              <a:t>알림신청</a:t>
            </a:r>
            <a:r>
              <a:rPr lang="ko-KR" altLang="en-US" dirty="0"/>
              <a:t> 팝업 화면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수신자 휴대폰 번호 입력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수신동의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</a:t>
            </a:r>
            <a:r>
              <a:rPr lang="en-US" altLang="ko-KR" dirty="0"/>
              <a:t>: </a:t>
            </a:r>
            <a:r>
              <a:rPr lang="ko-KR" altLang="en-US" dirty="0" err="1"/>
              <a:t>동의안함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연관조달계획상세</a:t>
            </a:r>
            <a:endParaRPr lang="en-US" altLang="ko-KR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/>
              <a:t>조달계획 외 업무 상세화면에서 연관 된 조달계획 정보를 조회한다</a:t>
            </a:r>
            <a:r>
              <a:rPr lang="en-US" altLang="ko-KR" dirty="0"/>
              <a:t>.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연관조달계획상세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MUI-OP-01-P12</a:t>
            </a:r>
            <a:endParaRPr lang="ko-KR" altLang="en-US" dirty="0"/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양쪽 모서리가 둥근 사각형 198"/>
          <p:cNvSpPr/>
          <p:nvPr/>
        </p:nvSpPr>
        <p:spPr>
          <a:xfrm>
            <a:off x="675399" y="1609111"/>
            <a:ext cx="2712027" cy="4623188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18" name="모서리가 둥근 직사각형 217"/>
          <p:cNvSpPr/>
          <p:nvPr/>
        </p:nvSpPr>
        <p:spPr>
          <a:xfrm>
            <a:off x="1761412" y="163950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19" name="그룹 218"/>
          <p:cNvGrpSpPr/>
          <p:nvPr/>
        </p:nvGrpSpPr>
        <p:grpSpPr>
          <a:xfrm>
            <a:off x="3164338" y="1773925"/>
            <a:ext cx="94010" cy="94010"/>
            <a:chOff x="6812560" y="3297172"/>
            <a:chExt cx="94010" cy="94010"/>
          </a:xfrm>
        </p:grpSpPr>
        <p:cxnSp>
          <p:nvCxnSpPr>
            <p:cNvPr id="220" name="직선 연결선 219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1" name="직선 연결선 220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2" name="TextBox 2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175460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연관조달계획상세</a:t>
            </a:r>
          </a:p>
        </p:txBody>
      </p:sp>
      <p:cxnSp>
        <p:nvCxnSpPr>
          <p:cNvPr id="223" name="직선 연결선 2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01600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8" name="모서리가 둥근 직사각형 227"/>
          <p:cNvSpPr/>
          <p:nvPr/>
        </p:nvSpPr>
        <p:spPr>
          <a:xfrm rot="5400000">
            <a:off x="2662242" y="2747373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30" name="그룹 229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231" name="직사각형 230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1" y="5745391"/>
              <a:ext cx="2527419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noProof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49" name="타원 24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81870" y="175360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255" name="직선 연결선 25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2815" y="208332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0" name="TextBox 28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23929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59" name="그룹 58"/>
          <p:cNvGrpSpPr/>
          <p:nvPr/>
        </p:nvGrpSpPr>
        <p:grpSpPr>
          <a:xfrm>
            <a:off x="701175" y="2164074"/>
            <a:ext cx="2642526" cy="2246477"/>
            <a:chOff x="701175" y="1527996"/>
            <a:chExt cx="2642526" cy="2246477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2146" y="1527996"/>
              <a:ext cx="452259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집행계획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703268" y="1835481"/>
              <a:ext cx="792000" cy="19326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0331" y="1835481"/>
              <a:ext cx="725552" cy="19389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요구년도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발주예정월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계약예정월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공사구분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총공사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ko-KR" altLang="en-US" sz="700" dirty="0" err="1">
                  <a:latin typeface="+mn-ea"/>
                </a:rPr>
                <a:t>예산금액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당해년도예산금액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기타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47180" y="1835481"/>
              <a:ext cx="1796521" cy="19389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2026-00590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</a:t>
              </a:r>
              <a:r>
                <a:rPr lang="en-US" altLang="ko-KR" sz="700" dirty="0">
                  <a:latin typeface="+mn-ea"/>
                </a:rPr>
                <a:t>9911</a:t>
              </a:r>
              <a:r>
                <a:rPr lang="ko-KR" altLang="en-US" sz="700" dirty="0">
                  <a:latin typeface="+mn-ea"/>
                </a:rPr>
                <a:t>부대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2026-06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제조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-26</a:t>
              </a:r>
              <a:r>
                <a:rPr lang="ko-KR" altLang="en-US" sz="700" dirty="0">
                  <a:latin typeface="+mn-ea"/>
                </a:rPr>
                <a:t>년 </a:t>
              </a:r>
              <a:r>
                <a:rPr lang="en-US" altLang="ko-KR" sz="700" dirty="0">
                  <a:latin typeface="+mn-ea"/>
                </a:rPr>
                <a:t>K5</a:t>
              </a:r>
              <a:r>
                <a:rPr lang="ko-KR" altLang="en-US" sz="700" dirty="0">
                  <a:latin typeface="+mn-ea"/>
                </a:rPr>
                <a:t>방독면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grpSp>
          <p:nvGrpSpPr>
            <p:cNvPr id="65" name="그룹 64"/>
            <p:cNvGrpSpPr/>
            <p:nvPr/>
          </p:nvGrpSpPr>
          <p:grpSpPr>
            <a:xfrm>
              <a:off x="701175" y="1835481"/>
              <a:ext cx="2630093" cy="1932660"/>
              <a:chOff x="701175" y="1835481"/>
              <a:chExt cx="2630093" cy="1932660"/>
            </a:xfrm>
          </p:grpSpPr>
          <p:cxnSp>
            <p:nvCxnSpPr>
              <p:cNvPr id="66" name="직선 연결선 6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183548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7" name="직선 연결선 6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0502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8" name="직선 연결선 6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2649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4797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0" name="직선 연결선 6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6944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1" name="직선 연결선 7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9091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312392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3386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5534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7681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78" name="그룹 77"/>
          <p:cNvGrpSpPr/>
          <p:nvPr/>
        </p:nvGrpSpPr>
        <p:grpSpPr>
          <a:xfrm>
            <a:off x="3830484" y="2164074"/>
            <a:ext cx="2642526" cy="3323695"/>
            <a:chOff x="3830484" y="1527996"/>
            <a:chExt cx="2642526" cy="3323695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1455" y="1527996"/>
              <a:ext cx="452259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spc="-52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판단내역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81" name="직사각형 80"/>
            <p:cNvSpPr/>
            <p:nvPr/>
          </p:nvSpPr>
          <p:spPr>
            <a:xfrm>
              <a:off x="3832577" y="1835481"/>
              <a:ext cx="792000" cy="30148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9640" y="1835481"/>
              <a:ext cx="725552" cy="30162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계약방법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입찰방법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공사기간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사전심사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낙찰자결정방법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적격심사 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입찰예정일자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공동도급이행방식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입찰형태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공사개요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규모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수의계약사유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지명경쟁사유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낙찰자기준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76489" y="1835481"/>
              <a:ext cx="1796521" cy="23698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일반경쟁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총액제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2026-08-01 ~ 2027-09-30</a:t>
              </a:r>
            </a:p>
            <a:p>
              <a:pPr>
                <a:lnSpc>
                  <a:spcPct val="200000"/>
                </a:lnSpc>
              </a:pP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비대상</a:t>
              </a:r>
              <a:endParaRPr kumimoji="1" lang="en-US" altLang="ko-KR" sz="700" spc="-60" dirty="0">
                <a:solidFill>
                  <a:srgbClr val="000000">
                    <a:lumMod val="65000"/>
                    <a:lumOff val="35000"/>
                  </a:srgbClr>
                </a:solidFill>
                <a:latin typeface="Verdana" panose="020B0604030504040204" pitchFamily="34" charset="0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적격심사제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대상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2026-03-05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전자입찰</a:t>
              </a:r>
              <a:endParaRPr lang="en-US" altLang="ko-KR" sz="700" dirty="0">
                <a:latin typeface="+mn-ea"/>
              </a:endParaRPr>
            </a:p>
            <a:p>
              <a:pPr lvl="0">
                <a:lnSpc>
                  <a:spcPct val="200000"/>
                </a:lnSpc>
              </a:pP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25-19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차 병영기본시설 </a:t>
              </a:r>
              <a:r>
                <a:rPr kumimoji="1" lang="ko-KR" altLang="en-US" sz="700" spc="-60" dirty="0" err="1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연차별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 </a:t>
              </a:r>
              <a:r>
                <a:rPr kumimoji="1" lang="ko-KR" altLang="en-US" sz="700" spc="-60" dirty="0" err="1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예산조정</a:t>
              </a:r>
              <a:endParaRPr kumimoji="1" lang="en-US" altLang="ko-KR" sz="700" spc="-60" dirty="0">
                <a:solidFill>
                  <a:srgbClr val="000000">
                    <a:lumMod val="65000"/>
                    <a:lumOff val="35000"/>
                  </a:srgbClr>
                </a:solidFill>
                <a:latin typeface="Verdana" panose="020B0604030504040204" pitchFamily="34" charset="0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0484" y="1835481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0502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2649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47970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6944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290918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0484" y="3123921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33386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355340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37681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399726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5" name="직선 연결선 9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41915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0484" y="439945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46141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2577" y="484350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33128534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35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41213"/>
            <a:ext cx="201233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 err="1">
                <a:solidFill>
                  <a:prstClr val="black"/>
                </a:solidFill>
              </a:rPr>
              <a:t>조달계획상세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52416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조달계획 식별을 위한 조달번호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taskSeNm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국외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45202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E4F85CA-096A-8D3B-930E-59C75F3DDFBB}"/>
              </a:ext>
            </a:extLst>
          </p:cNvPr>
          <p:cNvSpPr txBox="1"/>
          <p:nvPr/>
        </p:nvSpPr>
        <p:spPr>
          <a:xfrm>
            <a:off x="444290" y="1721974"/>
            <a:ext cx="236980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 err="1">
                <a:solidFill>
                  <a:prstClr val="black"/>
                </a:solidFill>
              </a:rPr>
              <a:t>조달계획상세</a:t>
            </a:r>
            <a:r>
              <a:rPr lang="en-US" altLang="ko-KR" sz="900" b="1" dirty="0">
                <a:solidFill>
                  <a:prstClr val="black"/>
                </a:solidFill>
              </a:rPr>
              <a:t> Tab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A644FDB-5A9B-8507-D8BC-C4428E92034B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1934259"/>
          <a:ext cx="8994883" cy="1529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상세내용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prcmPlanTab01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상세내용 전환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Tab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공통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품목명세서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prcmPlanTab02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품목명세서 전환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Tab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업무영역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물품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용역 일 경우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Tab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노출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166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prcmPlanTab03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 전환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Tab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업무영역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물품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용역 이고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조달방식이 중앙조달 일 경우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노출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842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계약특수조건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prcmPlanTab04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계약특수조건 전환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Tab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업무영역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물품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용역 이고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조달방식이 중앙조달 일 경우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노출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242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첨부서류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prcmPlanTab05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첨부서류 전환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Tab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업무영역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물품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용역 이고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조달방식이 중앙조달 일 경우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노출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11008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87D2EA7-FA76-1242-ED18-8094C5CB24E1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(1/6)</a:t>
            </a:r>
            <a:endParaRPr lang="ko-KR" altLang="en-US" sz="1000" b="1" dirty="0"/>
          </a:p>
        </p:txBody>
      </p:sp>
      <p:sp>
        <p:nvSpPr>
          <p:cNvPr id="10" name="Text Box 73">
            <a:extLst>
              <a:ext uri="{FF2B5EF4-FFF2-40B4-BE49-F238E27FC236}">
                <a16:creationId xmlns:a16="http://schemas.microsoft.com/office/drawing/2014/main" id="{32708897-3D4D-D0B9-A485-B33C34D0F8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268214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36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4F85CA-096A-8D3B-930E-59C75F3DDFBB}"/>
              </a:ext>
            </a:extLst>
          </p:cNvPr>
          <p:cNvSpPr txBox="1"/>
          <p:nvPr/>
        </p:nvSpPr>
        <p:spPr>
          <a:xfrm>
            <a:off x="444290" y="845132"/>
            <a:ext cx="254132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집행계획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물품</a:t>
            </a:r>
            <a:r>
              <a:rPr lang="en-US" altLang="ko-KR" sz="900" b="1" dirty="0">
                <a:solidFill>
                  <a:prstClr val="black"/>
                </a:solidFill>
              </a:rPr>
              <a:t>/</a:t>
            </a:r>
            <a:r>
              <a:rPr lang="ko-KR" altLang="en-US" sz="900" b="1" dirty="0">
                <a:solidFill>
                  <a:prstClr val="black"/>
                </a:solidFill>
              </a:rPr>
              <a:t>용역</a:t>
            </a:r>
            <a:r>
              <a:rPr lang="en-US" altLang="ko-KR" sz="900" b="1" dirty="0">
                <a:solidFill>
                  <a:prstClr val="black"/>
                </a:solidFill>
              </a:rPr>
              <a:t>)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A644FDB-5A9B-8507-D8BC-C4428E92034B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1057417"/>
          <a:ext cx="8994883" cy="37344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drctnYr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판단번호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판단번호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166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842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발주예정월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orderPrnmntYm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발주예정월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242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계약예정월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ctrtPrnmntYm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계약예정월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110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집행유형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bizTpcd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집행유형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ETC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903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totQty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895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대표품명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rprsItemNm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대표품명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조달방식이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중앙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537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etc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118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bscbgtDrctnAmt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본조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073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govbndDrctnAmt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17,2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565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etcAmt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17,2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177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장기국채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ltrmBscbgtAmt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장기국채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본조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17,2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조달방식이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중앙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184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장기국채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ltrmCashAmt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장기국채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현금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17,2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조달방식이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중앙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82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sumAmt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17,2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330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총부기금액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sumAmt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총부기금액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17,2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774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미확정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nycfmAmt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미확정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17,2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BA5A517-4417-A886-1EA5-ED609C2C8EFE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(2/6)</a:t>
            </a:r>
            <a:endParaRPr lang="ko-KR" altLang="en-US" sz="1000" b="1" dirty="0"/>
          </a:p>
        </p:txBody>
      </p:sp>
      <p:sp>
        <p:nvSpPr>
          <p:cNvPr id="9" name="Text Box 73">
            <a:extLst>
              <a:ext uri="{FF2B5EF4-FFF2-40B4-BE49-F238E27FC236}">
                <a16:creationId xmlns:a16="http://schemas.microsoft.com/office/drawing/2014/main" id="{39688B5F-FD10-CEF8-CFEA-568924ED4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051201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37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BD63C0-AC03-EB83-C1E2-9D57F70E192C}"/>
              </a:ext>
            </a:extLst>
          </p:cNvPr>
          <p:cNvSpPr txBox="1"/>
          <p:nvPr/>
        </p:nvSpPr>
        <p:spPr>
          <a:xfrm>
            <a:off x="452999" y="848658"/>
            <a:ext cx="2512474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판단정보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물품</a:t>
            </a:r>
            <a:r>
              <a:rPr lang="en-US" altLang="ko-KR" sz="900" b="1" dirty="0">
                <a:solidFill>
                  <a:prstClr val="black"/>
                </a:solidFill>
              </a:rPr>
              <a:t>/</a:t>
            </a:r>
            <a:r>
              <a:rPr lang="ko-KR" altLang="en-US" sz="900" b="1" dirty="0">
                <a:solidFill>
                  <a:prstClr val="black"/>
                </a:solidFill>
              </a:rPr>
              <a:t>용역</a:t>
            </a:r>
            <a:r>
              <a:rPr lang="en-US" altLang="ko-KR" sz="900" b="1" dirty="0">
                <a:solidFill>
                  <a:prstClr val="black"/>
                </a:solidFill>
              </a:rPr>
              <a:t>)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B1F1932-DBD1-4911-F4FE-E778F5BF43BC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60943"/>
          <a:ext cx="8994883" cy="39283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CTMC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bidMthdCd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입찰방법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BDTC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852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단가제유형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bidTpcd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단가제유형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BTUP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071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계약종류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ctrtTpcd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계약종류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CTKC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955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낙찰자결정방법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scsbdMthdCd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낙찰자결정방법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CCMT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650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적격심사 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elgbSrngYn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적격심사 여부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대상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N: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비대상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658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입찰예정일자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bidPrnmntYmd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입찰예정일자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353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품목코드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434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입찰형태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bidSecd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입찰형태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BMDC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126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군수품 선택 계약여부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wsccYn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군수품 선택 계약여부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조달방식이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중앙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경우 표출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558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군수품 선택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계약체결업체수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wsccCnclsBzentyCnt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군수품 선택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계약체결업체수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조달방식이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중앙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경우 표출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646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생산능력 기준서 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pccsNo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생산능력 기준서 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조달방식이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중앙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경우 표출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073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국내한도액 계약여부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lmtamtCtrtYn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국내한도액 계약여부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조달방식이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중앙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경우 표출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79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생산능력확인 소요기간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prdcpIdntyDayCnt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생산능력확인 소요기간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조달방식이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중앙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경우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010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수의계약사유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pvctRncd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수의계약사유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수의계약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경우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173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지명경쟁사유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cncmRncd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지명경쟁사유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지명경쟁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경우 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6187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산업분류번호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1,2….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itemCdNm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산업분류번호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1,2….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958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종합판단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prcmJdgmtCn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종합판단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0428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F902108-3590-6ECB-C901-60D956D731D8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(3/6)</a:t>
            </a:r>
            <a:endParaRPr lang="ko-KR" altLang="en-US" sz="1000" b="1" dirty="0"/>
          </a:p>
        </p:txBody>
      </p:sp>
      <p:sp>
        <p:nvSpPr>
          <p:cNvPr id="6" name="Text Box 73">
            <a:extLst>
              <a:ext uri="{FF2B5EF4-FFF2-40B4-BE49-F238E27FC236}">
                <a16:creationId xmlns:a16="http://schemas.microsoft.com/office/drawing/2014/main" id="{7E3594D6-2C11-183F-7566-C46C6511D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140698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38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4F85CA-096A-8D3B-930E-59C75F3DDFBB}"/>
              </a:ext>
            </a:extLst>
          </p:cNvPr>
          <p:cNvSpPr txBox="1"/>
          <p:nvPr/>
        </p:nvSpPr>
        <p:spPr>
          <a:xfrm>
            <a:off x="444290" y="829343"/>
            <a:ext cx="225919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집행계획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공사</a:t>
            </a:r>
            <a:r>
              <a:rPr lang="en-US" altLang="ko-KR" sz="900" b="1" dirty="0">
                <a:solidFill>
                  <a:prstClr val="black"/>
                </a:solidFill>
              </a:rPr>
              <a:t>)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618E693-C8E6-B945-230E-F1196BB32628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1050337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drctnYr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842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242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발주예정월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orderPrnmntYm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발주예정월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110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cstrnSecd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공사구분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CBDV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819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총공사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예산금액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bgtAmt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총공사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예산금액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393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당해년도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예산금액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tcstrnBgtAmt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당해년도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예산금액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082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etc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15144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1F3B21E-8F93-D0CA-9FF6-0980C181D5F7}"/>
              </a:ext>
            </a:extLst>
          </p:cNvPr>
          <p:cNvSpPr txBox="1"/>
          <p:nvPr/>
        </p:nvSpPr>
        <p:spPr>
          <a:xfrm>
            <a:off x="452999" y="2868044"/>
            <a:ext cx="223034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1.6.</a:t>
            </a:r>
            <a:r>
              <a:rPr lang="ko-KR" altLang="en-US" sz="900" b="1" dirty="0">
                <a:solidFill>
                  <a:prstClr val="black"/>
                </a:solidFill>
              </a:rPr>
              <a:t>판단정보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공사</a:t>
            </a:r>
            <a:r>
              <a:rPr lang="en-US" altLang="ko-KR" sz="900" b="1" dirty="0">
                <a:solidFill>
                  <a:prstClr val="black"/>
                </a:solidFill>
              </a:rPr>
              <a:t>)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EBA82FD-0A95-B67B-A3E5-5BBC2B31AAB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3080329"/>
          <a:ext cx="8994883" cy="31526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ctrtMthdCd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CTMC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bidMthdCd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입찰방법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BDTC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852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공사기간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cstrnPrdCn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공사기간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7398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사전심사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bfhdSrngEnfrcYn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사전심사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098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낙찰자결정방법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scsbdMthdCd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낙찰자결정방법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CCMT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650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적격심사 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elgbSrngEnfrcYn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적격심사 여부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대상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N: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비대상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658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입찰예정일자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bidPrnmntYmd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입찰예정일자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353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공동도급 이행방식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jsdShcd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공동도급 이행방식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CMCT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563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입찰형태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bidMediaCd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입찰형태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BMDC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126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공사개요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cstrnOtln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공사개요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694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규모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cstrnSclNm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규모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56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수의계약사유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pvctRncd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수의계약사유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수의계약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＇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표출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PCRC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173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지명경쟁사유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cncmRncd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지명경쟁사유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계약방법이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지명경쟁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＇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표출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NCRC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6187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낙찰자기준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scbdrCrtrCd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낙찰자기준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SBDD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81763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FB415AD-5931-5FCC-426F-82B0ADDA8D0E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(4/6)</a:t>
            </a:r>
            <a:endParaRPr lang="ko-KR" altLang="en-US" sz="1000" b="1" dirty="0"/>
          </a:p>
        </p:txBody>
      </p:sp>
      <p:sp>
        <p:nvSpPr>
          <p:cNvPr id="8" name="Text Box 73">
            <a:extLst>
              <a:ext uri="{FF2B5EF4-FFF2-40B4-BE49-F238E27FC236}">
                <a16:creationId xmlns:a16="http://schemas.microsoft.com/office/drawing/2014/main" id="{0EF305F3-E3AB-D5D2-9CCE-71BB50D440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365971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2999" y="834955"/>
            <a:ext cx="199630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1.7.  </a:t>
            </a:r>
            <a:r>
              <a:rPr lang="ko-KR" altLang="en-US" sz="900" b="1" dirty="0">
                <a:solidFill>
                  <a:prstClr val="black"/>
                </a:solidFill>
              </a:rPr>
              <a:t>연관정보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39</a:t>
            </a:fld>
            <a:endParaRPr lang="ko-KR" altLang="en-US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47240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사전규격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연관 사전규격 공개여부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비공개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91162C9-A064-C7F2-1BA1-EF42BC6ADFD7}"/>
              </a:ext>
            </a:extLst>
          </p:cNvPr>
          <p:cNvSpPr txBox="1"/>
          <p:nvPr/>
        </p:nvSpPr>
        <p:spPr>
          <a:xfrm>
            <a:off x="452999" y="1493779"/>
            <a:ext cx="188089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1.8.  </a:t>
            </a:r>
            <a:r>
              <a:rPr lang="ko-KR" altLang="en-US" sz="900" b="1" dirty="0">
                <a:solidFill>
                  <a:prstClr val="black"/>
                </a:solidFill>
              </a:rPr>
              <a:t>문의처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91BC4AC-DB76-7B25-98E5-CDDE2AE31B0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706064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telno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07324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7E04CDB-614D-496A-10F6-C7C2DC7DEEDE}"/>
              </a:ext>
            </a:extLst>
          </p:cNvPr>
          <p:cNvSpPr txBox="1"/>
          <p:nvPr/>
        </p:nvSpPr>
        <p:spPr>
          <a:xfrm>
            <a:off x="452999" y="2352429"/>
            <a:ext cx="232331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1.9. </a:t>
            </a:r>
            <a:r>
              <a:rPr lang="ko-KR" altLang="en-US" sz="900" b="1" dirty="0">
                <a:solidFill>
                  <a:prstClr val="black"/>
                </a:solidFill>
              </a:rPr>
              <a:t>물품명세서 목록 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EFD2BC0-54DE-7319-800C-6A808F38FAF8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564714"/>
          <a:ext cx="8994883" cy="36844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 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물품명세서 목록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clsfNo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464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규격공개여부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spcfctRlsYn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규격공개여부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747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108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군급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fscNtnItemNo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군급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32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097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spcfctNo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929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도면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flrplnPrtsNo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도면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34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품보형태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inspShcd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품보형태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113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규격종류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spcfctKndCd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규격종류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ITC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971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적용장비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aplcnEqpmntCdNm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적용장비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CSC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061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bgtCd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KB/UZ03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179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unitCd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676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plcdlv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8568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dudtYmd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-mm-dd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661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dlvgdsQty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963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drctnUntprc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687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totalUntprc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82783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AF2989C-D820-ACF8-2AD0-70C7299014C8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(5/6)</a:t>
            </a:r>
            <a:endParaRPr lang="ko-KR" altLang="en-US" sz="1000" b="1" dirty="0"/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7142690F-B071-AAFD-EF62-CA84D0A4C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360789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40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808815-8EE4-0FCA-9892-7A6DE8515D84}"/>
              </a:ext>
            </a:extLst>
          </p:cNvPr>
          <p:cNvSpPr txBox="1"/>
          <p:nvPr/>
        </p:nvSpPr>
        <p:spPr>
          <a:xfrm>
            <a:off x="452999" y="829065"/>
            <a:ext cx="184883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1.10. </a:t>
            </a:r>
            <a:r>
              <a:rPr lang="ko-KR" altLang="en-US" sz="900" b="1" dirty="0">
                <a:solidFill>
                  <a:prstClr val="black"/>
                </a:solidFill>
              </a:rPr>
              <a:t>업체의견 목록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36C8A5D-6982-191F-50C1-D48C5827A1DD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41350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업체의견 목록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regYn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공개여부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Y: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공개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N: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비공개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745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qnaTtl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7777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596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성명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852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입력일시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wrtDt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입력일시</a:t>
                      </a:r>
                      <a:r>
                        <a:rPr lang="ko-KR" altLang="en-US" sz="800" dirty="0" err="1">
                          <a:latin typeface="+mn-ea"/>
                        </a:rPr>
                        <a:t>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hh24:mi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07107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716654A-8BE7-EF1E-FE8A-E6270A78B259}"/>
              </a:ext>
            </a:extLst>
          </p:cNvPr>
          <p:cNvSpPr txBox="1"/>
          <p:nvPr/>
        </p:nvSpPr>
        <p:spPr>
          <a:xfrm>
            <a:off x="452999" y="2473796"/>
            <a:ext cx="223515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1.11. </a:t>
            </a:r>
            <a:r>
              <a:rPr lang="ko-KR" altLang="en-US" sz="900" b="1" dirty="0">
                <a:solidFill>
                  <a:prstClr val="black"/>
                </a:solidFill>
              </a:rPr>
              <a:t>계약특수조건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3836160C-3887-8039-514B-886F4BE49EC9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686081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계약특수조건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spclCndCn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계약특수조건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B71E34E-AB5A-E4AA-F8CF-2EDBCFF0DEB1}"/>
              </a:ext>
            </a:extLst>
          </p:cNvPr>
          <p:cNvSpPr txBox="1"/>
          <p:nvPr/>
        </p:nvSpPr>
        <p:spPr>
          <a:xfrm>
            <a:off x="452999" y="3148927"/>
            <a:ext cx="24659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1.12. </a:t>
            </a:r>
            <a:r>
              <a:rPr lang="ko-KR" altLang="en-US" sz="900" b="1" dirty="0">
                <a:solidFill>
                  <a:prstClr val="black"/>
                </a:solidFill>
              </a:rPr>
              <a:t>집행계획 첨부파일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95DC659-A524-0804-CE04-45AFD82631C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3361212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planDocId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AF186FE-361F-CB10-F3F6-B3C0DA0D921B}"/>
              </a:ext>
            </a:extLst>
          </p:cNvPr>
          <p:cNvSpPr txBox="1"/>
          <p:nvPr/>
        </p:nvSpPr>
        <p:spPr>
          <a:xfrm>
            <a:off x="452999" y="3833583"/>
            <a:ext cx="24659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1.13. </a:t>
            </a:r>
            <a:r>
              <a:rPr lang="ko-KR" altLang="en-US" sz="900" b="1" dirty="0">
                <a:solidFill>
                  <a:prstClr val="black"/>
                </a:solidFill>
              </a:rPr>
              <a:t>조달판단 첨부파일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6E0F7BD8-19B6-4CCF-2441-49654499FE5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045868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jdgDocId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C6506A8-9BA1-9E77-054B-86C8C1919269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(6/6)</a:t>
            </a:r>
            <a:endParaRPr lang="ko-KR" altLang="en-US" sz="1000" b="1" dirty="0"/>
          </a:p>
        </p:txBody>
      </p:sp>
      <p:sp>
        <p:nvSpPr>
          <p:cNvPr id="16" name="Text Box 73">
            <a:extLst>
              <a:ext uri="{FF2B5EF4-FFF2-40B4-BE49-F238E27FC236}">
                <a16:creationId xmlns:a16="http://schemas.microsoft.com/office/drawing/2014/main" id="{1EAC61B7-09D5-64FC-19B1-BFD45119AF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470415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41</a:t>
            </a:fld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E50986-444A-3C87-3626-6E69412E202F}"/>
              </a:ext>
            </a:extLst>
          </p:cNvPr>
          <p:cNvSpPr txBox="1"/>
          <p:nvPr/>
        </p:nvSpPr>
        <p:spPr>
          <a:xfrm>
            <a:off x="458117" y="581669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971EBCAA-7B98-9BE9-EE25-662CA3DE8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467577"/>
              </p:ext>
            </p:extLst>
          </p:nvPr>
        </p:nvGraphicFramePr>
        <p:xfrm>
          <a:off x="453000" y="846360"/>
          <a:ext cx="8995591" cy="30364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공고게시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알림신청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scwin.btn_notiAply_onclick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로그인 사용자 일 경우 하단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입찰공고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알림신청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서비스 안내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정보가 표출된다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44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 err="1"/>
                        <a:t>물가조가서</a:t>
                      </a:r>
                      <a:r>
                        <a:rPr lang="ko-KR" altLang="en-US" sz="800" dirty="0"/>
                        <a:t>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scwin.btn_pricsExmnPrint_onclick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물가조사서가 출력된다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(UI-OP-01-R09)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물가조사서출력물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624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연관정보 사전규격 링크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scwin.btn_anlBfhdSpcfct_onclick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연관 사전규격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호출된다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189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신청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scwin.btn_aply_onclick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알림서비스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안내 수신동의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를 체크한 후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공고게시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알림신청이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저장된다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823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출력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scwin.btn_itemDtstPrint_onclick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품목명세서가 출력된다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(UI-OP-01-R10)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품목명세서출력물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818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의견등록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scwin.btn_opnnReg_onclick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로그인 사용자 일 경우 업체의견 등록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호출된다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020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업체의견목록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그리드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scwin.grd_opnnDtl_onclick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호출된다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931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닫기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scwin.btn_close_onclick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닫힌다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732504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4CAD4002-DE63-FE39-E878-539FF0340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5768" y="649812"/>
            <a:ext cx="1368329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885024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/>
          <p:cNvGrpSpPr/>
          <p:nvPr/>
        </p:nvGrpSpPr>
        <p:grpSpPr>
          <a:xfrm>
            <a:off x="3821510" y="2461573"/>
            <a:ext cx="2660475" cy="1746642"/>
            <a:chOff x="3799186" y="2742738"/>
            <a:chExt cx="2660475" cy="1746642"/>
          </a:xfrm>
        </p:grpSpPr>
        <p:sp>
          <p:nvSpPr>
            <p:cNvPr id="157" name="직사각형 156"/>
            <p:cNvSpPr/>
            <p:nvPr/>
          </p:nvSpPr>
          <p:spPr>
            <a:xfrm>
              <a:off x="3801279" y="2742738"/>
              <a:ext cx="792000" cy="174664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8" name="직선 연결선 1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9186" y="274273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8343" y="2742738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요구년도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판단번호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예산액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의견접수</a:t>
              </a:r>
              <a:r>
                <a:rPr lang="ko-KR" altLang="en-US" sz="700" dirty="0">
                  <a:latin typeface="+mn-ea"/>
                </a:rPr>
                <a:t> 시작일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의견접수</a:t>
              </a:r>
              <a:r>
                <a:rPr lang="ko-KR" altLang="en-US" sz="700" dirty="0">
                  <a:latin typeface="+mn-ea"/>
                </a:rPr>
                <a:t> 종료일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 연락처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45191" y="2742738"/>
              <a:ext cx="18144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99001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화력총괄계약팀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2026-03-10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2026-06-10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</p:txBody>
        </p: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297384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318755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340125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361496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38286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8" name="직선 연결선 18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404237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7" name="직선 연결선 19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425608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8" name="직선 연결선 19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01279" y="44893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발주기관 규격서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사전규격</a:t>
            </a:r>
            <a:r>
              <a:rPr lang="ko-KR" altLang="en-US" dirty="0"/>
              <a:t> </a:t>
            </a:r>
            <a:r>
              <a:rPr lang="ko-KR" altLang="en-US" dirty="0" err="1"/>
              <a:t>연관정보</a:t>
            </a:r>
            <a:r>
              <a:rPr lang="ko-KR" altLang="en-US" dirty="0"/>
              <a:t>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조달계획번호 영역 클릭 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MUI-OP-01-P12 </a:t>
            </a:r>
            <a:r>
              <a:rPr lang="ko-KR" altLang="en-US" dirty="0">
                <a:solidFill>
                  <a:srgbClr val="000000"/>
                </a:solidFill>
                <a:latin typeface="맑은 고딕" panose="020B0503020000020004" pitchFamily="50" charset="-127"/>
              </a:rPr>
              <a:t>연관조달계획 팝업 호출</a:t>
            </a:r>
            <a:endParaRPr lang="ko-KR" altLang="en-US" dirty="0"/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사전규격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상세내용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사전규격</a:t>
            </a:r>
            <a:r>
              <a:rPr lang="ko-KR" altLang="en-US" dirty="0"/>
              <a:t> 상세 화면 </a:t>
            </a:r>
            <a:r>
              <a:rPr lang="en-US" altLang="ko-KR" dirty="0"/>
              <a:t>– </a:t>
            </a:r>
            <a:r>
              <a:rPr lang="ko-KR" altLang="en-US" dirty="0"/>
              <a:t>상세내용 탭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 err="1">
                <a:latin typeface="+mn-ea"/>
              </a:rPr>
              <a:t>사전규격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MUI-OP-01-M11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사전규격</a:t>
            </a:r>
            <a:r>
              <a:rPr lang="ko-KR" altLang="en-US" sz="800" dirty="0">
                <a:latin typeface="+mn-ea"/>
              </a:rPr>
              <a:t> 상세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35331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158410"/>
            <a:ext cx="2473257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600" dirty="0" err="1"/>
              <a:t>판단번호</a:t>
            </a:r>
            <a:r>
              <a:rPr lang="ko-KR" altLang="en-US" sz="600" dirty="0"/>
              <a:t> </a:t>
            </a:r>
            <a:r>
              <a:rPr lang="en-US" altLang="ko-KR" sz="600" dirty="0"/>
              <a:t>99001</a:t>
            </a:r>
          </a:p>
          <a:p>
            <a:r>
              <a:rPr lang="ko-KR" altLang="en-US" sz="900" b="1" dirty="0" err="1"/>
              <a:t>공마대</a:t>
            </a:r>
            <a:r>
              <a:rPr lang="ko-KR" altLang="en-US" sz="900" b="1" dirty="0"/>
              <a:t> 등 </a:t>
            </a:r>
            <a:r>
              <a:rPr lang="en-US" altLang="ko-KR" sz="900" b="1" dirty="0"/>
              <a:t>41</a:t>
            </a:r>
            <a:r>
              <a:rPr lang="ko-KR" altLang="en-US" sz="900" b="1" dirty="0"/>
              <a:t>종 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493475"/>
            <a:ext cx="307777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공개일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예산금액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접수기간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328890" y="2478086"/>
            <a:ext cx="904094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 algn="r"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제</a:t>
            </a:r>
            <a:r>
              <a:rPr lang="en-US" altLang="ko-KR" sz="600" dirty="0">
                <a:latin typeface="+mn-ea"/>
              </a:rPr>
              <a:t>8385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  <a:r>
              <a:rPr lang="ko-KR" altLang="en-US" sz="600" dirty="0">
                <a:latin typeface="+mn-ea"/>
              </a:rPr>
              <a:t> </a:t>
            </a:r>
            <a:r>
              <a:rPr lang="en-US" altLang="ko-KR" sz="600" dirty="0">
                <a:latin typeface="+mn-ea"/>
              </a:rPr>
              <a:t>~ 2026-02-12</a:t>
            </a: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1974079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1974079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51256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85380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546317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577662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659648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0821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39916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상세내용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3991608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760915" y="3991608"/>
            <a:ext cx="39616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첨부파일</a:t>
            </a: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08215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3953485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314546"/>
            <a:ext cx="122357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발주기관 규격서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427877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709114"/>
            <a:ext cx="792000" cy="15300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70911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709114"/>
            <a:ext cx="6707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요구년도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판단번호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발주기관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예산액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의견접수</a:t>
            </a:r>
            <a:r>
              <a:rPr lang="ko-KR" altLang="en-US" sz="700" dirty="0">
                <a:latin typeface="+mn-ea"/>
              </a:rPr>
              <a:t> 시작일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의견접수</a:t>
            </a:r>
            <a:r>
              <a:rPr lang="ko-KR" altLang="en-US" sz="700" dirty="0">
                <a:latin typeface="+mn-ea"/>
              </a:rPr>
              <a:t> 종료일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담당자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709114"/>
            <a:ext cx="18144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99001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화력총괄계약팀</a:t>
            </a:r>
            <a:endParaRPr lang="en-US" altLang="ko-KR" sz="700" dirty="0">
              <a:latin typeface="+mn-ea"/>
            </a:endParaRP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000,000,000,000 </a:t>
            </a:r>
            <a:r>
              <a:rPr lang="ko-KR" altLang="en-US" sz="700" dirty="0">
                <a:latin typeface="+mn-ea"/>
              </a:rPr>
              <a:t>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2026-03-10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2026-06-10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홍길동</a:t>
            </a:r>
            <a:endParaRPr lang="en-US" altLang="ko-KR" sz="700" dirty="0">
              <a:latin typeface="+mn-ea"/>
            </a:endParaRP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94021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5392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6763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8134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9504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00875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22246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00013" y="437823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468520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4802272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17045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299917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15488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98" name="그룹 297"/>
          <p:cNvGrpSpPr/>
          <p:nvPr/>
        </p:nvGrpSpPr>
        <p:grpSpPr>
          <a:xfrm rot="16200000">
            <a:off x="1250697" y="3307709"/>
            <a:ext cx="94010" cy="47005"/>
            <a:chOff x="6812560" y="3297172"/>
            <a:chExt cx="94010" cy="47005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3" name="TextBox 30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277349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304" name="타원 303"/>
          <p:cNvSpPr/>
          <p:nvPr/>
        </p:nvSpPr>
        <p:spPr>
          <a:xfrm>
            <a:off x="1404035" y="3237230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277349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310" name="그룹 309"/>
          <p:cNvGrpSpPr/>
          <p:nvPr/>
        </p:nvGrpSpPr>
        <p:grpSpPr>
          <a:xfrm rot="16200000">
            <a:off x="1906808" y="3307709"/>
            <a:ext cx="94010" cy="47005"/>
            <a:chOff x="6812560" y="3297172"/>
            <a:chExt cx="94010" cy="47005"/>
          </a:xfrm>
        </p:grpSpPr>
        <p:cxnSp>
          <p:nvCxnSpPr>
            <p:cNvPr id="311" name="직선 연결선 31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2" name="직선 연결선 31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13" name="그룹 312"/>
          <p:cNvGrpSpPr/>
          <p:nvPr/>
        </p:nvGrpSpPr>
        <p:grpSpPr>
          <a:xfrm rot="16200000">
            <a:off x="2562920" y="3307709"/>
            <a:ext cx="94010" cy="47005"/>
            <a:chOff x="6812560" y="3297172"/>
            <a:chExt cx="94010" cy="47005"/>
          </a:xfrm>
        </p:grpSpPr>
        <p:cxnSp>
          <p:nvCxnSpPr>
            <p:cNvPr id="314" name="직선 연결선 31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5" name="직선 연결선 31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7" name="타원 296"/>
          <p:cNvSpPr/>
          <p:nvPr/>
        </p:nvSpPr>
        <p:spPr>
          <a:xfrm>
            <a:off x="747925" y="3237230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277349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277349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grpSp>
        <p:nvGrpSpPr>
          <p:cNvPr id="21" name="그룹 20"/>
          <p:cNvGrpSpPr/>
          <p:nvPr/>
        </p:nvGrpSpPr>
        <p:grpSpPr>
          <a:xfrm>
            <a:off x="2058749" y="3237230"/>
            <a:ext cx="603798" cy="187961"/>
            <a:chOff x="2058749" y="3237230"/>
            <a:chExt cx="603798" cy="187961"/>
          </a:xfrm>
        </p:grpSpPr>
        <p:grpSp>
          <p:nvGrpSpPr>
            <p:cNvPr id="15" name="그룹 14"/>
            <p:cNvGrpSpPr/>
            <p:nvPr/>
          </p:nvGrpSpPr>
          <p:grpSpPr>
            <a:xfrm>
              <a:off x="2058749" y="3237230"/>
              <a:ext cx="187961" cy="187961"/>
              <a:chOff x="2058749" y="3237230"/>
              <a:chExt cx="187961" cy="187961"/>
            </a:xfrm>
          </p:grpSpPr>
          <p:sp>
            <p:nvSpPr>
              <p:cNvPr id="306" name="타원 305"/>
              <p:cNvSpPr/>
              <p:nvPr/>
            </p:nvSpPr>
            <p:spPr>
              <a:xfrm>
                <a:off x="2058749" y="3237230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113806" y="3277349"/>
                <a:ext cx="77847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>
                    <a:latin typeface="+mn-ea"/>
                  </a:rPr>
                  <a:t>3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27734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2714860" y="3237230"/>
            <a:ext cx="603798" cy="187961"/>
            <a:chOff x="2714860" y="3237230"/>
            <a:chExt cx="603798" cy="187961"/>
          </a:xfrm>
        </p:grpSpPr>
        <p:grpSp>
          <p:nvGrpSpPr>
            <p:cNvPr id="8" name="그룹 7"/>
            <p:cNvGrpSpPr/>
            <p:nvPr/>
          </p:nvGrpSpPr>
          <p:grpSpPr>
            <a:xfrm>
              <a:off x="2714860" y="3237230"/>
              <a:ext cx="187961" cy="187961"/>
              <a:chOff x="2714860" y="3237230"/>
              <a:chExt cx="187961" cy="187961"/>
            </a:xfrm>
          </p:grpSpPr>
          <p:sp>
            <p:nvSpPr>
              <p:cNvPr id="324" name="타원 323"/>
              <p:cNvSpPr/>
              <p:nvPr/>
            </p:nvSpPr>
            <p:spPr>
              <a:xfrm>
                <a:off x="2714860" y="3237230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769917" y="3277349"/>
                <a:ext cx="77847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>
                    <a:latin typeface="+mn-ea"/>
                  </a:rPr>
                  <a:t>4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27734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</p:grpSp>
      <p:sp>
        <p:nvSpPr>
          <p:cNvPr id="183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판단번호</a:t>
            </a:r>
            <a:r>
              <a:rPr lang="ko-KR" altLang="en-US" sz="700" dirty="0"/>
              <a:t> </a:t>
            </a:r>
            <a:r>
              <a:rPr lang="en-US" altLang="ko-KR" sz="700" dirty="0"/>
              <a:t>99001</a:t>
            </a:r>
          </a:p>
          <a:p>
            <a:r>
              <a:rPr lang="en-US" altLang="ko-KR" sz="900" b="1" dirty="0"/>
              <a:t>‘</a:t>
            </a:r>
            <a:r>
              <a:rPr lang="ko-KR" altLang="en-US" sz="900" b="1" dirty="0" err="1"/>
              <a:t>공마대</a:t>
            </a:r>
            <a:r>
              <a:rPr lang="ko-KR" altLang="en-US" sz="900" b="1" dirty="0"/>
              <a:t> 등 </a:t>
            </a:r>
            <a:r>
              <a:rPr lang="en-US" altLang="ko-KR" sz="900" b="1" dirty="0"/>
              <a:t>41</a:t>
            </a:r>
            <a:r>
              <a:rPr lang="ko-KR" altLang="en-US" sz="900" b="1" dirty="0"/>
              <a:t>종 구매</a:t>
            </a:r>
          </a:p>
        </p:txBody>
      </p:sp>
      <p:sp>
        <p:nvSpPr>
          <p:cNvPr id="184" name="모서리가 둥근 직사각형 183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85" name="모서리가 둥근 직사각형 184"/>
          <p:cNvSpPr/>
          <p:nvPr/>
        </p:nvSpPr>
        <p:spPr>
          <a:xfrm>
            <a:off x="4179187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2" name="모서리가 둥근 직사각형 281"/>
          <p:cNvSpPr/>
          <p:nvPr/>
        </p:nvSpPr>
        <p:spPr>
          <a:xfrm rot="5400000">
            <a:off x="6098765" y="3126805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cxnSp>
        <p:nvCxnSpPr>
          <p:cNvPr id="319" name="직선 연결선 3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429322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1" name="타원 170"/>
          <p:cNvSpPr/>
          <p:nvPr/>
        </p:nvSpPr>
        <p:spPr>
          <a:xfrm>
            <a:off x="2380968" y="1957671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모서리가 둥근 직사각형 171"/>
          <p:cNvSpPr/>
          <p:nvPr/>
        </p:nvSpPr>
        <p:spPr>
          <a:xfrm>
            <a:off x="2524968" y="1974079"/>
            <a:ext cx="395042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chemeClr val="dk1"/>
                </a:solidFill>
              </a:rPr>
              <a:t>알림신청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175" name="타원 174"/>
          <p:cNvSpPr/>
          <p:nvPr/>
        </p:nvSpPr>
        <p:spPr>
          <a:xfrm>
            <a:off x="5481885" y="1584603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6" name="모서리가 둥근 직사각형 175"/>
          <p:cNvSpPr/>
          <p:nvPr/>
        </p:nvSpPr>
        <p:spPr>
          <a:xfrm>
            <a:off x="5625885" y="1601011"/>
            <a:ext cx="395042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알림신청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3827360" y="2211584"/>
            <a:ext cx="2626449" cy="254730"/>
            <a:chOff x="3821140" y="2217804"/>
            <a:chExt cx="2626449" cy="254730"/>
          </a:xfrm>
        </p:grpSpPr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4819" y="2255927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>
                  <a:latin typeface="+mn-ea"/>
                </a:rPr>
                <a:t>상세내용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19195" y="2255927"/>
              <a:ext cx="4477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업체의견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861565" y="2255927"/>
              <a:ext cx="396163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92" name="그룹 191"/>
            <p:cNvGrpSpPr/>
            <p:nvPr/>
          </p:nvGrpSpPr>
          <p:grpSpPr>
            <a:xfrm>
              <a:off x="6024736" y="2217804"/>
              <a:ext cx="422853" cy="187961"/>
              <a:chOff x="3641308" y="2234886"/>
              <a:chExt cx="422853" cy="187961"/>
            </a:xfrm>
          </p:grpSpPr>
          <p:sp>
            <p:nvSpPr>
              <p:cNvPr id="193" name="타원 192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0" name="그룹 199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5" name="직선 연결선 204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연결선 205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1" name="타원 200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2" name="그룹 201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3" name="직선 연결선 20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직선 연결선 20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66" name="TextBox 16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78079" y="4322459"/>
            <a:ext cx="728875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pc="-52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연관정보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67" name="그룹 166"/>
          <p:cNvGrpSpPr/>
          <p:nvPr/>
        </p:nvGrpSpPr>
        <p:grpSpPr>
          <a:xfrm flipV="1">
            <a:off x="6240166" y="4435790"/>
            <a:ext cx="94010" cy="47005"/>
            <a:chOff x="6812560" y="3297172"/>
            <a:chExt cx="94010" cy="47005"/>
          </a:xfrm>
        </p:grpSpPr>
        <p:cxnSp>
          <p:nvCxnSpPr>
            <p:cNvPr id="168" name="직선 연결선 16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9" name="직선 연결선 16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5273904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73" name="그룹 172"/>
          <p:cNvGrpSpPr/>
          <p:nvPr/>
        </p:nvGrpSpPr>
        <p:grpSpPr>
          <a:xfrm>
            <a:off x="3825376" y="4729508"/>
            <a:ext cx="2652743" cy="480718"/>
            <a:chOff x="722176" y="1896864"/>
            <a:chExt cx="2652743" cy="480718"/>
          </a:xfrm>
        </p:grpSpPr>
        <p:sp>
          <p:nvSpPr>
            <p:cNvPr id="174" name="모서리가 둥근 직사각형 173"/>
            <p:cNvSpPr/>
            <p:nvPr/>
          </p:nvSpPr>
          <p:spPr>
            <a:xfrm>
              <a:off x="722176" y="2031982"/>
              <a:ext cx="2652743" cy="34560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3084" y="2150921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defTabSz="1013612">
                <a:defRPr/>
              </a:pP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[#</a:t>
              </a:r>
              <a:r>
                <a:rPr kumimoji="1" lang="ko-KR" altLang="en-US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조달계획번호</a:t>
              </a:r>
              <a:r>
                <a:rPr kumimoji="1" lang="en-US" altLang="ko-KR" sz="700" spc="-60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Verdana" panose="020B0604030504040204" pitchFamily="34" charset="0"/>
                </a:rPr>
                <a:t>]</a:t>
              </a:r>
            </a:p>
          </p:txBody>
        </p:sp>
        <p:sp>
          <p:nvSpPr>
            <p:cNvPr id="194" name="타원 193"/>
            <p:cNvSpPr/>
            <p:nvPr/>
          </p:nvSpPr>
          <p:spPr>
            <a:xfrm>
              <a:off x="3082295" y="2132782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28940" y="1896864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조달계획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58970" y="1896864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보기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461584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2651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0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00816" y="1336107"/>
            <a:ext cx="247325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스크롤 시 표시 영역 상단 달라붙음 처리 </a:t>
            </a:r>
            <a:r>
              <a:rPr lang="en-US" altLang="ko-KR" sz="700" dirty="0"/>
              <a:t>(sticky)</a:t>
            </a:r>
            <a:endParaRPr lang="ko-KR" altLang="en-US" sz="900" b="1" dirty="0"/>
          </a:p>
        </p:txBody>
      </p:sp>
      <p:sp>
        <p:nvSpPr>
          <p:cNvPr id="151" name="평행 사변형 150"/>
          <p:cNvSpPr/>
          <p:nvPr/>
        </p:nvSpPr>
        <p:spPr>
          <a:xfrm rot="16200000" flipH="1">
            <a:off x="3105747" y="1776324"/>
            <a:ext cx="971670" cy="408309"/>
          </a:xfrm>
          <a:prstGeom prst="parallelogram">
            <a:avLst>
              <a:gd name="adj" fmla="val 8680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2" name="평행 사변형 151"/>
          <p:cNvSpPr/>
          <p:nvPr/>
        </p:nvSpPr>
        <p:spPr>
          <a:xfrm rot="16200000" flipH="1">
            <a:off x="2546937" y="2975673"/>
            <a:ext cx="2089292" cy="408308"/>
          </a:xfrm>
          <a:prstGeom prst="parallelogram">
            <a:avLst>
              <a:gd name="adj" fmla="val 42262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43143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업체의견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사전규격</a:t>
            </a:r>
            <a:r>
              <a:rPr lang="ko-KR" altLang="en-US" dirty="0"/>
              <a:t> 상세 화면 </a:t>
            </a:r>
            <a:r>
              <a:rPr lang="en-US" altLang="ko-KR" dirty="0"/>
              <a:t>– </a:t>
            </a:r>
            <a:r>
              <a:rPr lang="ko-KR" altLang="en-US" dirty="0" err="1"/>
              <a:t>업체의견</a:t>
            </a:r>
            <a:r>
              <a:rPr lang="ko-KR" altLang="en-US" dirty="0"/>
              <a:t> 탭 목록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업체의견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MUI-OP-01-M05</a:t>
            </a:r>
            <a:endParaRPr lang="ko-KR" altLang="en-US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527996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49" name="그룹 48"/>
          <p:cNvGrpSpPr/>
          <p:nvPr/>
        </p:nvGrpSpPr>
        <p:grpSpPr>
          <a:xfrm flipV="1">
            <a:off x="3124233" y="1641327"/>
            <a:ext cx="94010" cy="47005"/>
            <a:chOff x="6812560" y="3297172"/>
            <a:chExt cx="94010" cy="47005"/>
          </a:xfrm>
        </p:grpSpPr>
        <p:cxnSp>
          <p:nvCxnSpPr>
            <p:cNvPr id="50" name="직선 연결선 4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직선 연결선 5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3" name="타원 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3650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901536"/>
            <a:ext cx="42578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latin typeface="+mn-ea"/>
              </a:rPr>
              <a:t>0,000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0516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7" name="타원 5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70835" y="1920844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60435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59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2836921" y="1937500"/>
            <a:ext cx="494347" cy="16200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rPr>
              <a:t>의견등록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grpSp>
        <p:nvGrpSpPr>
          <p:cNvPr id="60" name="그룹 59"/>
          <p:cNvGrpSpPr/>
          <p:nvPr/>
        </p:nvGrpSpPr>
        <p:grpSpPr>
          <a:xfrm>
            <a:off x="781460" y="2325977"/>
            <a:ext cx="2473258" cy="821562"/>
            <a:chOff x="781460" y="2610063"/>
            <a:chExt cx="2473258" cy="821562"/>
          </a:xfrm>
        </p:grpSpPr>
        <p:sp>
          <p:nvSpPr>
            <p:cNvPr id="61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비공개</a:t>
              </a:r>
              <a:endParaRPr lang="en-US" altLang="ko-KR" sz="700" dirty="0"/>
            </a:p>
            <a:p>
              <a:r>
                <a:rPr lang="ko-KR" altLang="en-US" sz="900" b="1" dirty="0"/>
                <a:t>비공개</a:t>
              </a:r>
            </a:p>
          </p:txBody>
        </p:sp>
        <p:sp>
          <p:nvSpPr>
            <p:cNvPr id="62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63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비공개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64" name="모서리가 둥근 직사각형 63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비공개</a:t>
              </a:r>
            </a:p>
          </p:txBody>
        </p:sp>
      </p:grp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21243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6" name="그룹 65"/>
          <p:cNvGrpSpPr/>
          <p:nvPr/>
        </p:nvGrpSpPr>
        <p:grpSpPr>
          <a:xfrm>
            <a:off x="781460" y="3345937"/>
            <a:ext cx="2473258" cy="821562"/>
            <a:chOff x="781460" y="2610063"/>
            <a:chExt cx="2473258" cy="821562"/>
          </a:xfrm>
        </p:grpSpPr>
        <p:sp>
          <p:nvSpPr>
            <p:cNvPr id="7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㈜</a:t>
              </a:r>
              <a:r>
                <a:rPr lang="ko-KR" altLang="en-US" sz="700" dirty="0" err="1"/>
                <a:t>미래회사</a:t>
              </a:r>
              <a:endParaRPr lang="en-US" altLang="ko-KR" sz="700" dirty="0"/>
            </a:p>
            <a:p>
              <a:r>
                <a:rPr lang="ko-KR" altLang="en-US" sz="900" b="1" dirty="0"/>
                <a:t>업체의 의견이 있습니다</a:t>
              </a:r>
              <a:r>
                <a:rPr lang="en-US" altLang="ko-KR" sz="900" b="1" dirty="0"/>
                <a:t>.</a:t>
              </a:r>
              <a:endParaRPr lang="ko-KR" altLang="en-US" sz="900" b="1" dirty="0"/>
            </a:p>
          </p:txBody>
        </p:sp>
        <p:sp>
          <p:nvSpPr>
            <p:cNvPr id="74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88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홍길동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</a:p>
          </p:txBody>
        </p:sp>
        <p:sp>
          <p:nvSpPr>
            <p:cNvPr id="89" name="모서리가 둥근 직사각형 88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공개</a:t>
              </a:r>
            </a:p>
          </p:txBody>
        </p:sp>
      </p:grp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8778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91" name="그룹 90"/>
          <p:cNvGrpSpPr/>
          <p:nvPr/>
        </p:nvGrpSpPr>
        <p:grpSpPr>
          <a:xfrm>
            <a:off x="781460" y="4421289"/>
            <a:ext cx="2473258" cy="821562"/>
            <a:chOff x="781460" y="2610063"/>
            <a:chExt cx="2473258" cy="821562"/>
          </a:xfrm>
        </p:grpSpPr>
        <p:sp>
          <p:nvSpPr>
            <p:cNvPr id="9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㈜길동주식회사</a:t>
              </a:r>
              <a:endParaRPr lang="en-US" altLang="ko-KR" sz="700" dirty="0"/>
            </a:p>
            <a:p>
              <a:r>
                <a:rPr lang="ko-KR" altLang="en-US" sz="900" b="1" dirty="0"/>
                <a:t>업체의 의견이 있습니다</a:t>
              </a:r>
              <a:r>
                <a:rPr lang="en-US" altLang="ko-KR" sz="900" b="1" dirty="0"/>
                <a:t>.</a:t>
              </a:r>
              <a:endParaRPr lang="ko-KR" altLang="en-US" sz="900" b="1" dirty="0"/>
            </a:p>
          </p:txBody>
        </p:sp>
        <p:sp>
          <p:nvSpPr>
            <p:cNvPr id="93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94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성춘향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</a:p>
          </p:txBody>
        </p:sp>
        <p:sp>
          <p:nvSpPr>
            <p:cNvPr id="95" name="모서리가 둥근 직사각형 94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공개</a:t>
              </a:r>
            </a:p>
          </p:txBody>
        </p:sp>
      </p:grp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386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9066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4687418"/>
            <a:ext cx="76863" cy="292489"/>
            <a:chOff x="3750067" y="4683795"/>
            <a:chExt cx="76863" cy="292489"/>
          </a:xfrm>
        </p:grpSpPr>
        <p:sp>
          <p:nvSpPr>
            <p:cNvPr id="100" name="타원 9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01" name="타원 10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03" name="그룹 102"/>
          <p:cNvGrpSpPr/>
          <p:nvPr/>
        </p:nvGrpSpPr>
        <p:grpSpPr>
          <a:xfrm>
            <a:off x="3918450" y="1641327"/>
            <a:ext cx="2473258" cy="821562"/>
            <a:chOff x="781460" y="2610063"/>
            <a:chExt cx="2473258" cy="821562"/>
          </a:xfrm>
        </p:grpSpPr>
        <p:sp>
          <p:nvSpPr>
            <p:cNvPr id="10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㈜</a:t>
              </a:r>
              <a:r>
                <a:rPr lang="ko-KR" altLang="en-US" sz="700" dirty="0" err="1"/>
                <a:t>미래회사</a:t>
              </a:r>
              <a:endParaRPr lang="en-US" altLang="ko-KR" sz="700" dirty="0"/>
            </a:p>
            <a:p>
              <a:r>
                <a:rPr lang="ko-KR" altLang="en-US" sz="900" b="1" dirty="0"/>
                <a:t>업체의 의견이 있습니다</a:t>
              </a:r>
              <a:r>
                <a:rPr lang="en-US" altLang="ko-KR" sz="900" b="1" dirty="0"/>
                <a:t>.</a:t>
              </a:r>
              <a:endParaRPr lang="ko-KR" altLang="en-US" sz="900" b="1" dirty="0"/>
            </a:p>
          </p:txBody>
        </p:sp>
        <p:sp>
          <p:nvSpPr>
            <p:cNvPr id="105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0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홍길동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</a:p>
          </p:txBody>
        </p:sp>
        <p:sp>
          <p:nvSpPr>
            <p:cNvPr id="107" name="모서리가 둥근 직사각형 106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공개</a:t>
              </a:r>
            </a:p>
          </p:txBody>
        </p:sp>
      </p:grp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4157" y="258317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0" name="그룹 109"/>
          <p:cNvGrpSpPr/>
          <p:nvPr/>
        </p:nvGrpSpPr>
        <p:grpSpPr>
          <a:xfrm>
            <a:off x="3918450" y="2716679"/>
            <a:ext cx="2473258" cy="821562"/>
            <a:chOff x="781460" y="2610063"/>
            <a:chExt cx="2473258" cy="821562"/>
          </a:xfrm>
        </p:grpSpPr>
        <p:sp>
          <p:nvSpPr>
            <p:cNvPr id="111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ko-KR" altLang="en-US" sz="700" dirty="0">
                  <a:solidFill>
                    <a:prstClr val="black"/>
                  </a:solidFill>
                </a:rPr>
                <a:t>㈜</a:t>
              </a:r>
              <a:r>
                <a:rPr lang="ko-KR" altLang="en-US" sz="700" dirty="0" err="1">
                  <a:solidFill>
                    <a:prstClr val="black"/>
                  </a:solidFill>
                </a:rPr>
                <a:t>미래회사</a:t>
              </a:r>
              <a:endParaRPr lang="en-US" altLang="ko-KR" sz="700" dirty="0">
                <a:solidFill>
                  <a:prstClr val="black"/>
                </a:solidFill>
              </a:endParaRPr>
            </a:p>
            <a:p>
              <a:pPr lvl="0"/>
              <a:r>
                <a:rPr lang="ko-KR" altLang="en-US" sz="900" b="1" dirty="0">
                  <a:solidFill>
                    <a:prstClr val="black"/>
                  </a:solidFill>
                </a:rPr>
                <a:t>업체의 의견이 있습니다</a:t>
              </a:r>
              <a:r>
                <a:rPr lang="en-US" altLang="ko-KR" sz="900" b="1" dirty="0">
                  <a:solidFill>
                    <a:prstClr val="black"/>
                  </a:solidFill>
                </a:rPr>
                <a:t>.</a:t>
              </a:r>
              <a:endParaRPr lang="ko-KR" altLang="en-US" sz="900" b="1" dirty="0">
                <a:solidFill>
                  <a:prstClr val="black"/>
                </a:solidFill>
              </a:endParaRPr>
            </a:p>
          </p:txBody>
        </p:sp>
        <p:sp>
          <p:nvSpPr>
            <p:cNvPr id="112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성명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입력일시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13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0914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성춘향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2026-01-03 14:50</a:t>
              </a:r>
            </a:p>
          </p:txBody>
        </p:sp>
        <p:sp>
          <p:nvSpPr>
            <p:cNvPr id="115" name="모서리가 둥근 직사각형 114"/>
            <p:cNvSpPr/>
            <p:nvPr/>
          </p:nvSpPr>
          <p:spPr>
            <a:xfrm>
              <a:off x="781460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공개</a:t>
              </a:r>
            </a:p>
          </p:txBody>
        </p:sp>
        <p:sp>
          <p:nvSpPr>
            <p:cNvPr id="116" name="모서리가 둥근 직사각형 115"/>
            <p:cNvSpPr/>
            <p:nvPr/>
          </p:nvSpPr>
          <p:spPr>
            <a:xfrm>
              <a:off x="1145236" y="2610063"/>
              <a:ext cx="31867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답변</a:t>
              </a:r>
            </a:p>
          </p:txBody>
        </p:sp>
      </p:grp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4157" y="36818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8" name="타원 11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04336" y="3175177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grpSp>
        <p:nvGrpSpPr>
          <p:cNvPr id="44" name="그룹 43"/>
          <p:cNvGrpSpPr/>
          <p:nvPr/>
        </p:nvGrpSpPr>
        <p:grpSpPr>
          <a:xfrm>
            <a:off x="522514" y="1362269"/>
            <a:ext cx="6456784" cy="5038531"/>
            <a:chOff x="522514" y="1362269"/>
            <a:chExt cx="6456784" cy="5038531"/>
          </a:xfrm>
        </p:grpSpPr>
        <p:sp>
          <p:nvSpPr>
            <p:cNvPr id="45" name="직사각형 44"/>
            <p:cNvSpPr/>
            <p:nvPr/>
          </p:nvSpPr>
          <p:spPr>
            <a:xfrm>
              <a:off x="522514" y="1362269"/>
              <a:ext cx="6456784" cy="5038531"/>
            </a:xfrm>
            <a:prstGeom prst="rect">
              <a:avLst/>
            </a:prstGeom>
            <a:solidFill>
              <a:srgbClr val="000000">
                <a:alpha val="30196"/>
              </a:srgb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980082" y="3696868"/>
              <a:ext cx="26564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</a:rPr>
                <a:t>조달계획 상세와 동일함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96698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사전규격</a:t>
            </a:r>
            <a:r>
              <a:rPr lang="ko-KR" altLang="en-US" dirty="0"/>
              <a:t> 상세 화면 </a:t>
            </a:r>
            <a:r>
              <a:rPr lang="en-US" altLang="ko-KR" dirty="0"/>
              <a:t>– </a:t>
            </a:r>
            <a:r>
              <a:rPr lang="ko-KR" altLang="en-US" dirty="0" err="1"/>
              <a:t>업체의견</a:t>
            </a:r>
            <a:r>
              <a:rPr lang="ko-KR" altLang="en-US" dirty="0"/>
              <a:t> 상세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MUI-OP-01-P06</a:t>
            </a:r>
            <a:endParaRPr lang="ko-KR" altLang="en-US" dirty="0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95" name="그룹 94"/>
          <p:cNvGrpSpPr/>
          <p:nvPr/>
        </p:nvGrpSpPr>
        <p:grpSpPr>
          <a:xfrm>
            <a:off x="3790563" y="2349314"/>
            <a:ext cx="2717198" cy="3078289"/>
            <a:chOff x="675399" y="1846937"/>
            <a:chExt cx="2717198" cy="3078289"/>
          </a:xfrm>
        </p:grpSpPr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2146" y="1901536"/>
              <a:ext cx="127819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작성자 정보</a:t>
              </a:r>
            </a:p>
          </p:txBody>
        </p:sp>
        <p:sp>
          <p:nvSpPr>
            <p:cNvPr id="9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232535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업체명</a:t>
              </a:r>
              <a:endParaRPr lang="ko-KR" altLang="en-US" sz="900" b="1" dirty="0"/>
            </a:p>
          </p:txBody>
        </p:sp>
        <p:sp>
          <p:nvSpPr>
            <p:cNvPr id="98" name="모서리가 둥근 직사각형 97"/>
            <p:cNvSpPr/>
            <p:nvPr/>
          </p:nvSpPr>
          <p:spPr>
            <a:xfrm>
              <a:off x="720490" y="2488061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/>
                <a:t>㈜길동주식회사</a:t>
              </a:r>
            </a:p>
          </p:txBody>
        </p:sp>
        <p:cxnSp>
          <p:nvCxnSpPr>
            <p:cNvPr id="99" name="직선 연결선 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92522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0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2827952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사업자번호</a:t>
              </a:r>
              <a:endParaRPr lang="ko-KR" altLang="en-US" sz="900" b="1" dirty="0"/>
            </a:p>
          </p:txBody>
        </p:sp>
        <p:sp>
          <p:nvSpPr>
            <p:cNvPr id="101" name="모서리가 둥근 직사각형 100"/>
            <p:cNvSpPr/>
            <p:nvPr/>
          </p:nvSpPr>
          <p:spPr>
            <a:xfrm>
              <a:off x="720490" y="2990660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123-45-67890</a:t>
              </a:r>
              <a:endParaRPr lang="ko-KR" altLang="en-US" sz="800" dirty="0"/>
            </a:p>
          </p:txBody>
        </p:sp>
        <p:sp>
          <p:nvSpPr>
            <p:cNvPr id="10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33173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성명</a:t>
              </a:r>
              <a:endParaRPr lang="ko-KR" altLang="en-US" sz="900" b="1" dirty="0"/>
            </a:p>
          </p:txBody>
        </p:sp>
        <p:sp>
          <p:nvSpPr>
            <p:cNvPr id="106" name="모서리가 둥근 직사각형 105"/>
            <p:cNvSpPr/>
            <p:nvPr/>
          </p:nvSpPr>
          <p:spPr>
            <a:xfrm>
              <a:off x="720490" y="3494441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 err="1"/>
                <a:t>김길동</a:t>
              </a:r>
              <a:endParaRPr lang="ko-KR" altLang="en-US" sz="800" dirty="0"/>
            </a:p>
          </p:txBody>
        </p:sp>
        <p:sp>
          <p:nvSpPr>
            <p:cNvPr id="10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829422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전화번호</a:t>
              </a:r>
              <a:endParaRPr lang="ko-KR" altLang="en-US" sz="900" b="1" dirty="0"/>
            </a:p>
          </p:txBody>
        </p:sp>
        <p:sp>
          <p:nvSpPr>
            <p:cNvPr id="108" name="모서리가 둥근 직사각형 107"/>
            <p:cNvSpPr/>
            <p:nvPr/>
          </p:nvSpPr>
          <p:spPr>
            <a:xfrm>
              <a:off x="720490" y="3992130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010-1234-5678</a:t>
              </a:r>
              <a:endParaRPr lang="ko-KR" altLang="en-US" sz="800" dirty="0"/>
            </a:p>
          </p:txBody>
        </p:sp>
        <p:sp>
          <p:nvSpPr>
            <p:cNvPr id="10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4330977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이메일</a:t>
              </a:r>
              <a:endParaRPr lang="ko-KR" altLang="en-US" sz="900" b="1" dirty="0"/>
            </a:p>
          </p:txBody>
        </p:sp>
        <p:sp>
          <p:nvSpPr>
            <p:cNvPr id="110" name="모서리가 둥근 직사각형 109"/>
            <p:cNvSpPr/>
            <p:nvPr/>
          </p:nvSpPr>
          <p:spPr>
            <a:xfrm>
              <a:off x="720490" y="4493685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abcde@naver.com</a:t>
              </a:r>
              <a:endParaRPr lang="ko-KR" altLang="en-US" sz="800" dirty="0"/>
            </a:p>
          </p:txBody>
        </p:sp>
        <p:cxnSp>
          <p:nvCxnSpPr>
            <p:cNvPr id="111" name="직선 연결선 11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184693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12" name="그룹 111"/>
            <p:cNvGrpSpPr/>
            <p:nvPr/>
          </p:nvGrpSpPr>
          <p:grpSpPr>
            <a:xfrm flipV="1">
              <a:off x="3124233" y="1987998"/>
              <a:ext cx="94010" cy="47005"/>
              <a:chOff x="6812560" y="3297172"/>
              <a:chExt cx="94010" cy="47005"/>
            </a:xfrm>
          </p:grpSpPr>
          <p:cxnSp>
            <p:nvCxnSpPr>
              <p:cNvPr id="115" name="직선 연결선 11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13" name="직선 연결선 11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218317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22" name="TextBox 1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891408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26" name="그룹 125"/>
          <p:cNvGrpSpPr/>
          <p:nvPr/>
        </p:nvGrpSpPr>
        <p:grpSpPr>
          <a:xfrm flipV="1">
            <a:off x="3124233" y="1977870"/>
            <a:ext cx="94010" cy="47005"/>
            <a:chOff x="6812560" y="3297172"/>
            <a:chExt cx="94010" cy="47005"/>
          </a:xfrm>
        </p:grpSpPr>
        <p:cxnSp>
          <p:nvCxnSpPr>
            <p:cNvPr id="130" name="직선 연결선 12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직선 연결선 13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7304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3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62123" y="2303034"/>
            <a:ext cx="252715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제목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34" name="모서리가 둥근 직사각형 133"/>
          <p:cNvSpPr/>
          <p:nvPr/>
        </p:nvSpPr>
        <p:spPr>
          <a:xfrm>
            <a:off x="720467" y="2465742"/>
            <a:ext cx="2610778" cy="247250"/>
          </a:xfrm>
          <a:prstGeom prst="roundRect">
            <a:avLst>
              <a:gd name="adj" fmla="val 2340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r>
              <a:rPr lang="ko-KR" altLang="en-US" sz="800" dirty="0" err="1"/>
              <a:t>업체의견이</a:t>
            </a:r>
            <a:r>
              <a:rPr lang="ko-KR" altLang="en-US" sz="800" dirty="0"/>
              <a:t> 있습니다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grpSp>
        <p:nvGrpSpPr>
          <p:cNvPr id="136" name="그룹 135"/>
          <p:cNvGrpSpPr/>
          <p:nvPr/>
        </p:nvGrpSpPr>
        <p:grpSpPr>
          <a:xfrm>
            <a:off x="684326" y="5064184"/>
            <a:ext cx="2712027" cy="347855"/>
            <a:chOff x="3831550" y="3745666"/>
            <a:chExt cx="2712027" cy="347855"/>
          </a:xfrm>
        </p:grpSpPr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374566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8297" y="3811883"/>
              <a:ext cx="127819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2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55" name="그룹 154"/>
            <p:cNvGrpSpPr/>
            <p:nvPr/>
          </p:nvGrpSpPr>
          <p:grpSpPr>
            <a:xfrm flipV="1">
              <a:off x="6280384" y="3898345"/>
              <a:ext cx="94010" cy="47005"/>
              <a:chOff x="6812560" y="3297172"/>
              <a:chExt cx="94010" cy="47005"/>
            </a:xfrm>
          </p:grpSpPr>
          <p:cxnSp>
            <p:nvCxnSpPr>
              <p:cNvPr id="157" name="직선 연결선 15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8" name="직선 연결선 15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409352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59" name="모서리가 둥근 직사각형 158"/>
          <p:cNvSpPr/>
          <p:nvPr/>
        </p:nvSpPr>
        <p:spPr>
          <a:xfrm>
            <a:off x="720142" y="5659395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20810" y="5787777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hwp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8338" y="5787777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</a:t>
            </a:r>
          </a:p>
        </p:txBody>
      </p:sp>
      <p:sp>
        <p:nvSpPr>
          <p:cNvPr id="163" name="타원 162"/>
          <p:cNvSpPr/>
          <p:nvPr/>
        </p:nvSpPr>
        <p:spPr>
          <a:xfrm>
            <a:off x="3108139" y="5769638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4" name="모서리가 둥근 직사각형 173"/>
          <p:cNvSpPr/>
          <p:nvPr/>
        </p:nvSpPr>
        <p:spPr>
          <a:xfrm>
            <a:off x="3831550" y="1550788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32218" y="1679170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hwp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9746" y="1679170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</a:t>
            </a:r>
          </a:p>
        </p:txBody>
      </p:sp>
      <p:sp>
        <p:nvSpPr>
          <p:cNvPr id="177" name="타원 176"/>
          <p:cNvSpPr/>
          <p:nvPr/>
        </p:nvSpPr>
        <p:spPr>
          <a:xfrm>
            <a:off x="6219547" y="1661031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20810" y="5524277"/>
            <a:ext cx="47434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017655" y="5524277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다운로드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26906" y="5524277"/>
            <a:ext cx="3906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항목번호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181" name="그룹 180"/>
          <p:cNvGrpSpPr/>
          <p:nvPr/>
        </p:nvGrpSpPr>
        <p:grpSpPr>
          <a:xfrm>
            <a:off x="717367" y="2842211"/>
            <a:ext cx="2610778" cy="2013555"/>
            <a:chOff x="717367" y="2842211"/>
            <a:chExt cx="2610778" cy="2013555"/>
          </a:xfrm>
        </p:grpSpPr>
        <p:sp>
          <p:nvSpPr>
            <p:cNvPr id="18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59023" y="2842211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내용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sp>
          <p:nvSpPr>
            <p:cNvPr id="183" name="모서리가 둥근 직사각형 182"/>
            <p:cNvSpPr/>
            <p:nvPr/>
          </p:nvSpPr>
          <p:spPr>
            <a:xfrm>
              <a:off x="717367" y="3004919"/>
              <a:ext cx="2610778" cy="1572062"/>
            </a:xfrm>
            <a:prstGeom prst="roundRect">
              <a:avLst>
                <a:gd name="adj" fmla="val 431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t"/>
            <a:lstStyle/>
            <a:p>
              <a:r>
                <a:rPr lang="ko-KR" altLang="en-US" sz="800" dirty="0" err="1"/>
                <a:t>업체의견이</a:t>
              </a:r>
              <a:r>
                <a:rPr lang="ko-KR" altLang="en-US" sz="800" dirty="0"/>
                <a:t> 있습니다</a:t>
              </a:r>
              <a:r>
                <a:rPr lang="en-US" altLang="ko-KR" sz="800" dirty="0"/>
                <a:t>.</a:t>
              </a:r>
              <a:endParaRPr lang="ko-KR" altLang="en-US" sz="800" dirty="0"/>
            </a:p>
          </p:txBody>
        </p:sp>
        <p:sp>
          <p:nvSpPr>
            <p:cNvPr id="18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59023" y="472734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공개여부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grpSp>
          <p:nvGrpSpPr>
            <p:cNvPr id="185" name="그룹 184"/>
            <p:cNvGrpSpPr/>
            <p:nvPr/>
          </p:nvGrpSpPr>
          <p:grpSpPr>
            <a:xfrm>
              <a:off x="2608145" y="4706642"/>
              <a:ext cx="720000" cy="149124"/>
              <a:chOff x="4507439" y="3468375"/>
              <a:chExt cx="720000" cy="149124"/>
            </a:xfrm>
          </p:grpSpPr>
          <p:sp>
            <p:nvSpPr>
              <p:cNvPr id="187" name="모서리가 둥근 직사각형 186"/>
              <p:cNvSpPr/>
              <p:nvPr/>
            </p:nvSpPr>
            <p:spPr>
              <a:xfrm>
                <a:off x="4507439" y="3468375"/>
                <a:ext cx="720000" cy="149124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88" name="모서리가 둥근 직사각형 187"/>
              <p:cNvSpPr/>
              <p:nvPr/>
            </p:nvSpPr>
            <p:spPr>
              <a:xfrm>
                <a:off x="4507439" y="3468375"/>
                <a:ext cx="378000" cy="149124"/>
              </a:xfrm>
              <a:prstGeom prst="roundRect">
                <a:avLst>
                  <a:gd name="adj" fmla="val 50000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800" kern="0">
                  <a:solidFill>
                    <a:prstClr val="white"/>
                  </a:solidFill>
                  <a:latin typeface="맑은 고딕"/>
                </a:endParaRPr>
              </a:p>
            </p:txBody>
          </p:sp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579706" y="3494915"/>
                <a:ext cx="23346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bg1"/>
                    </a:solidFill>
                    <a:latin typeface="+mn-ea"/>
                  </a:rPr>
                  <a:t>공개</a:t>
                </a:r>
              </a:p>
            </p:txBody>
          </p:sp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909257" y="3494915"/>
                <a:ext cx="280559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bg1"/>
                    </a:solidFill>
                    <a:latin typeface="+mn-ea"/>
                  </a:rPr>
                  <a:t>비공개</a:t>
                </a: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890875" y="4411397"/>
              <a:ext cx="32496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rgbClr val="0070C0"/>
                  </a:solidFill>
                  <a:latin typeface="맑은 고딕" panose="020B0503020000020004" pitchFamily="50" charset="-127"/>
                </a:rPr>
                <a:t>0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/ 2000</a:t>
              </a:r>
            </a:p>
          </p:txBody>
        </p:sp>
      </p:grpSp>
      <p:grpSp>
        <p:nvGrpSpPr>
          <p:cNvPr id="193" name="그룹 192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5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수정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96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rPr>
                <a:t>삭제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197" name="타원 19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0573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98" name="타원 19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03269" y="519473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99" name="타원 19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7171" y="2446710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200" name="타원 19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3073" y="582115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cxnSp>
        <p:nvCxnSpPr>
          <p:cNvPr id="201" name="직선 연결선 20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2" name="그룹 201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203" name="직선 연결선 202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4" name="직선 연결선 203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5" name="TextBox 2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업체의견</a:t>
            </a:r>
            <a:r>
              <a:rPr lang="ko-KR" altLang="en-US" sz="900" dirty="0">
                <a:latin typeface="+mn-ea"/>
              </a:rPr>
              <a:t> 상세</a:t>
            </a:r>
          </a:p>
        </p:txBody>
      </p:sp>
      <p:grpSp>
        <p:nvGrpSpPr>
          <p:cNvPr id="206" name="그룹 205"/>
          <p:cNvGrpSpPr/>
          <p:nvPr/>
        </p:nvGrpSpPr>
        <p:grpSpPr>
          <a:xfrm>
            <a:off x="3795734" y="6066295"/>
            <a:ext cx="2712027" cy="617588"/>
            <a:chOff x="675399" y="5614711"/>
            <a:chExt cx="2712027" cy="617588"/>
          </a:xfrm>
        </p:grpSpPr>
        <p:sp>
          <p:nvSpPr>
            <p:cNvPr id="207" name="직사각형 206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8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1" y="5745391"/>
              <a:ext cx="2527419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84" name="그룹 83"/>
          <p:cNvGrpSpPr/>
          <p:nvPr/>
        </p:nvGrpSpPr>
        <p:grpSpPr>
          <a:xfrm>
            <a:off x="503269" y="1362269"/>
            <a:ext cx="6476029" cy="5038531"/>
            <a:chOff x="503269" y="1362269"/>
            <a:chExt cx="6476029" cy="5038531"/>
          </a:xfrm>
        </p:grpSpPr>
        <p:sp>
          <p:nvSpPr>
            <p:cNvPr id="85" name="직사각형 84"/>
            <p:cNvSpPr/>
            <p:nvPr/>
          </p:nvSpPr>
          <p:spPr>
            <a:xfrm>
              <a:off x="503269" y="1362269"/>
              <a:ext cx="6476029" cy="5038531"/>
            </a:xfrm>
            <a:prstGeom prst="rect">
              <a:avLst/>
            </a:prstGeom>
            <a:solidFill>
              <a:srgbClr val="000000">
                <a:alpha val="30196"/>
              </a:srgb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3980082" y="3696868"/>
              <a:ext cx="26564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</a:rPr>
                <a:t>조달계획 상세와 동일함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10382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직사각형 9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답변 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사전규격</a:t>
            </a:r>
            <a:r>
              <a:rPr lang="ko-KR" altLang="en-US" dirty="0"/>
              <a:t> 상세 화면 </a:t>
            </a:r>
            <a:r>
              <a:rPr lang="en-US" altLang="ko-KR" dirty="0"/>
              <a:t>– </a:t>
            </a:r>
            <a:r>
              <a:rPr lang="ko-KR" altLang="en-US" dirty="0" err="1"/>
              <a:t>업체의견</a:t>
            </a:r>
            <a:r>
              <a:rPr lang="ko-KR" altLang="en-US" dirty="0"/>
              <a:t> 답변 상세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답변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MUI-OP-01-P06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" name="그룹 2"/>
          <p:cNvGrpSpPr/>
          <p:nvPr/>
        </p:nvGrpSpPr>
        <p:grpSpPr>
          <a:xfrm>
            <a:off x="3795734" y="3328139"/>
            <a:ext cx="2712027" cy="1389948"/>
            <a:chOff x="3677672" y="3328139"/>
            <a:chExt cx="2712027" cy="1389948"/>
          </a:xfrm>
        </p:grpSpPr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764419" y="3381713"/>
              <a:ext cx="127819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작성자 정보</a:t>
              </a:r>
            </a:p>
          </p:txBody>
        </p:sp>
        <p:sp>
          <p:nvSpPr>
            <p:cNvPr id="6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3764419" y="3805530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담당자</a:t>
              </a:r>
              <a:endParaRPr lang="ko-KR" altLang="en-US" sz="900" b="1" dirty="0"/>
            </a:p>
          </p:txBody>
        </p:sp>
        <p:sp>
          <p:nvSpPr>
            <p:cNvPr id="73" name="모서리가 둥근 직사각형 72"/>
            <p:cNvSpPr/>
            <p:nvPr/>
          </p:nvSpPr>
          <p:spPr>
            <a:xfrm>
              <a:off x="3722763" y="3968238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 err="1"/>
                <a:t>김길동</a:t>
              </a:r>
              <a:endParaRPr lang="ko-KR" altLang="en-US" sz="800" dirty="0"/>
            </a:p>
          </p:txBody>
        </p: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677672" y="3328139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3764419" y="4308129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전화번호</a:t>
              </a:r>
              <a:endParaRPr lang="ko-KR" altLang="en-US" sz="900" b="1" dirty="0"/>
            </a:p>
          </p:txBody>
        </p:sp>
        <p:sp>
          <p:nvSpPr>
            <p:cNvPr id="50" name="모서리가 둥근 직사각형 49"/>
            <p:cNvSpPr/>
            <p:nvPr/>
          </p:nvSpPr>
          <p:spPr>
            <a:xfrm>
              <a:off x="3722763" y="4470837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010-1234-5678</a:t>
              </a:r>
              <a:endParaRPr lang="ko-KR" altLang="en-US" sz="800" dirty="0"/>
            </a:p>
          </p:txBody>
        </p:sp>
        <p:grpSp>
          <p:nvGrpSpPr>
            <p:cNvPr id="88" name="그룹 87"/>
            <p:cNvGrpSpPr/>
            <p:nvPr/>
          </p:nvGrpSpPr>
          <p:grpSpPr>
            <a:xfrm flipV="1">
              <a:off x="6126506" y="3468175"/>
              <a:ext cx="94010" cy="47005"/>
              <a:chOff x="6812560" y="3297172"/>
              <a:chExt cx="94010" cy="47005"/>
            </a:xfrm>
          </p:grpSpPr>
          <p:cxnSp>
            <p:nvCxnSpPr>
              <p:cNvPr id="89" name="직선 연결선 8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직선 연결선 8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677672" y="366335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891243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답변내역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18" name="그룹 117"/>
          <p:cNvGrpSpPr/>
          <p:nvPr/>
        </p:nvGrpSpPr>
        <p:grpSpPr>
          <a:xfrm flipV="1">
            <a:off x="3124233" y="1977705"/>
            <a:ext cx="94010" cy="47005"/>
            <a:chOff x="6812560" y="3297172"/>
            <a:chExt cx="94010" cy="47005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직선 연결선 11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7288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3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62123" y="2326722"/>
            <a:ext cx="252715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제목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24" name="모서리가 둥근 직사각형 123"/>
          <p:cNvSpPr/>
          <p:nvPr/>
        </p:nvSpPr>
        <p:spPr>
          <a:xfrm>
            <a:off x="720467" y="2489430"/>
            <a:ext cx="2610778" cy="247250"/>
          </a:xfrm>
          <a:prstGeom prst="roundRect">
            <a:avLst>
              <a:gd name="adj" fmla="val 2340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r>
              <a:rPr lang="ko-KR" altLang="en-US" sz="800" dirty="0" err="1"/>
              <a:t>업체의견이</a:t>
            </a:r>
            <a:r>
              <a:rPr lang="ko-KR" altLang="en-US" sz="800" dirty="0"/>
              <a:t> 있습니다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grpSp>
        <p:nvGrpSpPr>
          <p:cNvPr id="15" name="그룹 14"/>
          <p:cNvGrpSpPr/>
          <p:nvPr/>
        </p:nvGrpSpPr>
        <p:grpSpPr>
          <a:xfrm>
            <a:off x="3795734" y="1493927"/>
            <a:ext cx="2712027" cy="347855"/>
            <a:chOff x="3831550" y="3745666"/>
            <a:chExt cx="2712027" cy="347855"/>
          </a:xfrm>
        </p:grpSpPr>
        <p:cxnSp>
          <p:nvCxnSpPr>
            <p:cNvPr id="135" name="직선 연결선 13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374566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8297" y="3811883"/>
              <a:ext cx="127819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2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39" name="그룹 138"/>
            <p:cNvGrpSpPr/>
            <p:nvPr/>
          </p:nvGrpSpPr>
          <p:grpSpPr>
            <a:xfrm flipV="1">
              <a:off x="6280384" y="3898345"/>
              <a:ext cx="94010" cy="47005"/>
              <a:chOff x="6812560" y="3297172"/>
              <a:chExt cx="94010" cy="47005"/>
            </a:xfrm>
          </p:grpSpPr>
          <p:cxnSp>
            <p:nvCxnSpPr>
              <p:cNvPr id="140" name="직선 연결선 13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409352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3" name="모서리가 둥근 직사각형 142"/>
          <p:cNvSpPr/>
          <p:nvPr/>
        </p:nvSpPr>
        <p:spPr>
          <a:xfrm>
            <a:off x="3831550" y="2089138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32218" y="2217520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hwp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9746" y="2217520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</a:t>
            </a:r>
          </a:p>
        </p:txBody>
      </p:sp>
      <p:sp>
        <p:nvSpPr>
          <p:cNvPr id="146" name="타원 145"/>
          <p:cNvSpPr/>
          <p:nvPr/>
        </p:nvSpPr>
        <p:spPr>
          <a:xfrm>
            <a:off x="6219547" y="2199381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3831550" y="2495824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32218" y="2624206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.</a:t>
            </a:r>
            <a:r>
              <a:rPr lang="en-US" altLang="ko-KR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hwp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09746" y="2624206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</a:t>
            </a:r>
          </a:p>
        </p:txBody>
      </p:sp>
      <p:sp>
        <p:nvSpPr>
          <p:cNvPr id="150" name="타원 149"/>
          <p:cNvSpPr/>
          <p:nvPr/>
        </p:nvSpPr>
        <p:spPr>
          <a:xfrm>
            <a:off x="6219547" y="2606067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32218" y="1954020"/>
            <a:ext cx="47434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6129063" y="1954020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다운로드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38314" y="1954020"/>
            <a:ext cx="3906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항목번호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2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67679" y="2882845"/>
            <a:ext cx="252715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내용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03" name="모서리가 둥근 직사각형 102"/>
          <p:cNvSpPr/>
          <p:nvPr/>
        </p:nvSpPr>
        <p:spPr>
          <a:xfrm>
            <a:off x="726023" y="3045553"/>
            <a:ext cx="2610778" cy="1572062"/>
          </a:xfrm>
          <a:prstGeom prst="roundRect">
            <a:avLst>
              <a:gd name="adj" fmla="val 431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t"/>
          <a:lstStyle/>
          <a:p>
            <a:r>
              <a:rPr lang="ko-KR" altLang="en-US" sz="800" dirty="0" err="1"/>
              <a:t>업체의견이</a:t>
            </a:r>
            <a:r>
              <a:rPr lang="ko-KR" altLang="en-US" sz="800" dirty="0"/>
              <a:t> 있습니다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899531" y="4452031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0070C0"/>
                </a:solidFill>
                <a:latin typeface="맑은 고딕" panose="020B0503020000020004" pitchFamily="50" charset="-127"/>
              </a:rPr>
              <a:t>0</a:t>
            </a:r>
            <a:r>
              <a: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 / 2000</a:t>
            </a:r>
          </a:p>
        </p:txBody>
      </p:sp>
      <p:grpSp>
        <p:nvGrpSpPr>
          <p:cNvPr id="58" name="그룹 5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59" name="직선 연결선 5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직선 연결선 5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업체의견</a:t>
            </a:r>
            <a:r>
              <a:rPr lang="ko-KR" altLang="en-US" sz="900" dirty="0">
                <a:latin typeface="+mn-ea"/>
              </a:rPr>
              <a:t> 답변 상세</a:t>
            </a:r>
          </a:p>
        </p:txBody>
      </p:sp>
      <p:grpSp>
        <p:nvGrpSpPr>
          <p:cNvPr id="62" name="그룹 61"/>
          <p:cNvGrpSpPr/>
          <p:nvPr/>
        </p:nvGrpSpPr>
        <p:grpSpPr>
          <a:xfrm>
            <a:off x="503269" y="1362269"/>
            <a:ext cx="6476029" cy="5038531"/>
            <a:chOff x="503269" y="1362269"/>
            <a:chExt cx="6476029" cy="5038531"/>
          </a:xfrm>
        </p:grpSpPr>
        <p:sp>
          <p:nvSpPr>
            <p:cNvPr id="64" name="직사각형 63"/>
            <p:cNvSpPr/>
            <p:nvPr/>
          </p:nvSpPr>
          <p:spPr>
            <a:xfrm>
              <a:off x="503269" y="1362269"/>
              <a:ext cx="6476029" cy="5038531"/>
            </a:xfrm>
            <a:prstGeom prst="rect">
              <a:avLst/>
            </a:prstGeom>
            <a:solidFill>
              <a:srgbClr val="000000">
                <a:alpha val="30196"/>
              </a:srgb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3980082" y="3696868"/>
              <a:ext cx="26564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</a:rPr>
                <a:t>조달계획 상세와 동일함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223388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등록</a:t>
            </a:r>
            <a:endParaRPr lang="en-US" altLang="ko-KR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사전규격</a:t>
            </a:r>
            <a:r>
              <a:rPr lang="ko-KR" altLang="en-US" dirty="0"/>
              <a:t> 상세 화면 </a:t>
            </a:r>
            <a:r>
              <a:rPr lang="en-US" altLang="ko-KR" dirty="0"/>
              <a:t>– </a:t>
            </a:r>
            <a:r>
              <a:rPr lang="ko-KR" altLang="en-US" dirty="0" err="1"/>
              <a:t>업체의견</a:t>
            </a:r>
            <a:r>
              <a:rPr lang="ko-KR" altLang="en-US" dirty="0"/>
              <a:t> 등록</a:t>
            </a:r>
            <a:r>
              <a:rPr lang="en-US" altLang="ko-KR" dirty="0"/>
              <a:t>/</a:t>
            </a:r>
            <a:r>
              <a:rPr lang="ko-KR" altLang="en-US" dirty="0"/>
              <a:t>수정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등록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수정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MUI-OP-01-P07</a:t>
            </a:r>
            <a:endParaRPr lang="ko-KR" altLang="en-US" dirty="0"/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105" name="그룹 104"/>
          <p:cNvGrpSpPr/>
          <p:nvPr/>
        </p:nvGrpSpPr>
        <p:grpSpPr>
          <a:xfrm>
            <a:off x="3790563" y="2349314"/>
            <a:ext cx="2717198" cy="3078289"/>
            <a:chOff x="675399" y="1846937"/>
            <a:chExt cx="2717198" cy="3078289"/>
          </a:xfrm>
        </p:grpSpPr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2146" y="1901536"/>
              <a:ext cx="127819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작성자 정보</a:t>
              </a:r>
            </a:p>
          </p:txBody>
        </p:sp>
        <p:sp>
          <p:nvSpPr>
            <p:cNvPr id="11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232535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업체명</a:t>
              </a:r>
              <a:endParaRPr lang="ko-KR" altLang="en-US" sz="900" b="1" dirty="0"/>
            </a:p>
          </p:txBody>
        </p:sp>
        <p:sp>
          <p:nvSpPr>
            <p:cNvPr id="118" name="모서리가 둥근 직사각형 117"/>
            <p:cNvSpPr/>
            <p:nvPr/>
          </p:nvSpPr>
          <p:spPr>
            <a:xfrm>
              <a:off x="720490" y="2488061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/>
                <a:t>㈜길동주식회사</a:t>
              </a:r>
            </a:p>
          </p:txBody>
        </p:sp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92522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0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2827952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사업자번호</a:t>
              </a:r>
              <a:endParaRPr lang="ko-KR" altLang="en-US" sz="900" b="1" dirty="0"/>
            </a:p>
          </p:txBody>
        </p:sp>
        <p:sp>
          <p:nvSpPr>
            <p:cNvPr id="121" name="모서리가 둥근 직사각형 120"/>
            <p:cNvSpPr/>
            <p:nvPr/>
          </p:nvSpPr>
          <p:spPr>
            <a:xfrm>
              <a:off x="720490" y="2990660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123-45-67890</a:t>
              </a:r>
              <a:endParaRPr lang="ko-KR" altLang="en-US" sz="800" dirty="0"/>
            </a:p>
          </p:txBody>
        </p:sp>
        <p:sp>
          <p:nvSpPr>
            <p:cNvPr id="12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33173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성명</a:t>
              </a:r>
              <a:endParaRPr lang="ko-KR" altLang="en-US" sz="900" b="1" dirty="0"/>
            </a:p>
          </p:txBody>
        </p:sp>
        <p:sp>
          <p:nvSpPr>
            <p:cNvPr id="123" name="모서리가 둥근 직사각형 122"/>
            <p:cNvSpPr/>
            <p:nvPr/>
          </p:nvSpPr>
          <p:spPr>
            <a:xfrm>
              <a:off x="720490" y="3494441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800" dirty="0" err="1"/>
                <a:t>김길동</a:t>
              </a:r>
              <a:endParaRPr lang="ko-KR" altLang="en-US" sz="800" dirty="0"/>
            </a:p>
          </p:txBody>
        </p:sp>
        <p:sp>
          <p:nvSpPr>
            <p:cNvPr id="12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3829422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전화번호</a:t>
              </a:r>
              <a:endParaRPr lang="ko-KR" altLang="en-US" sz="900" b="1" dirty="0"/>
            </a:p>
          </p:txBody>
        </p:sp>
        <p:sp>
          <p:nvSpPr>
            <p:cNvPr id="125" name="모서리가 둥근 직사각형 124"/>
            <p:cNvSpPr/>
            <p:nvPr/>
          </p:nvSpPr>
          <p:spPr>
            <a:xfrm>
              <a:off x="720490" y="3992130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010-1234-5678</a:t>
              </a:r>
              <a:endParaRPr lang="ko-KR" altLang="en-US" sz="800" dirty="0"/>
            </a:p>
          </p:txBody>
        </p:sp>
        <p:sp>
          <p:nvSpPr>
            <p:cNvPr id="127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62146" y="4330977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이메일</a:t>
              </a:r>
              <a:endParaRPr lang="ko-KR" altLang="en-US" sz="900" b="1" dirty="0"/>
            </a:p>
          </p:txBody>
        </p:sp>
        <p:sp>
          <p:nvSpPr>
            <p:cNvPr id="128" name="모서리가 둥근 직사각형 127"/>
            <p:cNvSpPr/>
            <p:nvPr/>
          </p:nvSpPr>
          <p:spPr>
            <a:xfrm>
              <a:off x="720490" y="4493685"/>
              <a:ext cx="2610778" cy="247250"/>
            </a:xfrm>
            <a:prstGeom prst="roundRect">
              <a:avLst>
                <a:gd name="adj" fmla="val 23409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800" dirty="0"/>
                <a:t>abcde@naver.com</a:t>
              </a:r>
              <a:endParaRPr lang="ko-KR" altLang="en-US" sz="800" dirty="0"/>
            </a:p>
          </p:txBody>
        </p:sp>
        <p:cxnSp>
          <p:nvCxnSpPr>
            <p:cNvPr id="129" name="직선 연결선 1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80570" y="184693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35" name="그룹 134"/>
            <p:cNvGrpSpPr/>
            <p:nvPr/>
          </p:nvGrpSpPr>
          <p:grpSpPr>
            <a:xfrm flipV="1">
              <a:off x="3124233" y="1987998"/>
              <a:ext cx="94010" cy="47005"/>
              <a:chOff x="6812560" y="3297172"/>
              <a:chExt cx="94010" cy="47005"/>
            </a:xfrm>
          </p:grpSpPr>
          <p:cxnSp>
            <p:nvCxnSpPr>
              <p:cNvPr id="139" name="직선 연결선 13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0" name="직선 연결선 13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38" name="직선 연결선 13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218317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1" name="TextBox 14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891408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업체의견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42" name="그룹 141"/>
          <p:cNvGrpSpPr/>
          <p:nvPr/>
        </p:nvGrpSpPr>
        <p:grpSpPr>
          <a:xfrm flipV="1">
            <a:off x="3124233" y="1977870"/>
            <a:ext cx="94010" cy="47005"/>
            <a:chOff x="6812560" y="3297172"/>
            <a:chExt cx="94010" cy="47005"/>
          </a:xfrm>
        </p:grpSpPr>
        <p:cxnSp>
          <p:nvCxnSpPr>
            <p:cNvPr id="143" name="직선 연결선 14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직선 연결선 14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7304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6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62123" y="2303034"/>
            <a:ext cx="252715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제목 </a:t>
            </a:r>
            <a:r>
              <a:rPr lang="en-US" altLang="ko-KR" sz="700" dirty="0">
                <a:solidFill>
                  <a:srgbClr val="FF0000"/>
                </a:solidFill>
              </a:rPr>
              <a:t>*</a:t>
            </a:r>
            <a:endParaRPr lang="ko-KR" altLang="en-US" sz="900" b="1" dirty="0">
              <a:solidFill>
                <a:srgbClr val="FF0000"/>
              </a:solidFill>
            </a:endParaRP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720467" y="2465742"/>
            <a:ext cx="2610778" cy="247250"/>
          </a:xfrm>
          <a:prstGeom prst="roundRect">
            <a:avLst>
              <a:gd name="adj" fmla="val 23409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r>
              <a:rPr lang="ko-KR" altLang="en-US" sz="800" dirty="0" err="1"/>
              <a:t>업체의견이</a:t>
            </a:r>
            <a:r>
              <a:rPr lang="ko-KR" altLang="en-US" sz="800" dirty="0"/>
              <a:t> 있습니다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grpSp>
        <p:nvGrpSpPr>
          <p:cNvPr id="148" name="그룹 147"/>
          <p:cNvGrpSpPr/>
          <p:nvPr/>
        </p:nvGrpSpPr>
        <p:grpSpPr>
          <a:xfrm>
            <a:off x="684326" y="4960279"/>
            <a:ext cx="2712027" cy="347855"/>
            <a:chOff x="3831550" y="3745666"/>
            <a:chExt cx="2712027" cy="347855"/>
          </a:xfrm>
        </p:grpSpPr>
        <p:cxnSp>
          <p:nvCxnSpPr>
            <p:cNvPr id="149" name="직선 연결선 14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374566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8297" y="3811883"/>
              <a:ext cx="127819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총 </a:t>
              </a:r>
              <a:r>
                <a:rPr lang="en-US" altLang="ko-KR" sz="700" dirty="0">
                  <a:latin typeface="+mn-ea"/>
                </a:rPr>
                <a:t>2</a:t>
              </a:r>
              <a:r>
                <a:rPr lang="ko-KR" altLang="en-US" sz="700" dirty="0">
                  <a:latin typeface="+mn-ea"/>
                </a:rPr>
                <a:t>건</a:t>
              </a:r>
            </a:p>
          </p:txBody>
        </p:sp>
        <p:grpSp>
          <p:nvGrpSpPr>
            <p:cNvPr id="151" name="그룹 150"/>
            <p:cNvGrpSpPr/>
            <p:nvPr/>
          </p:nvGrpSpPr>
          <p:grpSpPr>
            <a:xfrm flipV="1">
              <a:off x="6280384" y="3898345"/>
              <a:ext cx="94010" cy="47005"/>
              <a:chOff x="6812560" y="3297172"/>
              <a:chExt cx="94010" cy="47005"/>
            </a:xfrm>
          </p:grpSpPr>
          <p:cxnSp>
            <p:nvCxnSpPr>
              <p:cNvPr id="153" name="직선 연결선 152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1550" y="4093521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55" name="그룹 154"/>
          <p:cNvGrpSpPr/>
          <p:nvPr/>
        </p:nvGrpSpPr>
        <p:grpSpPr>
          <a:xfrm>
            <a:off x="717367" y="2842211"/>
            <a:ext cx="2610778" cy="2013555"/>
            <a:chOff x="717367" y="2842211"/>
            <a:chExt cx="2610778" cy="2013555"/>
          </a:xfrm>
        </p:grpSpPr>
        <p:sp>
          <p:nvSpPr>
            <p:cNvPr id="160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59023" y="2842211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내용 </a:t>
              </a:r>
              <a:r>
                <a:rPr lang="en-US" altLang="ko-KR" sz="700" dirty="0">
                  <a:solidFill>
                    <a:srgbClr val="FF0000"/>
                  </a:solidFill>
                </a:rPr>
                <a:t>*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sp>
          <p:nvSpPr>
            <p:cNvPr id="161" name="모서리가 둥근 직사각형 160"/>
            <p:cNvSpPr/>
            <p:nvPr/>
          </p:nvSpPr>
          <p:spPr>
            <a:xfrm>
              <a:off x="717367" y="3004919"/>
              <a:ext cx="2610778" cy="1572062"/>
            </a:xfrm>
            <a:prstGeom prst="roundRect">
              <a:avLst>
                <a:gd name="adj" fmla="val 4310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t"/>
            <a:lstStyle/>
            <a:p>
              <a:r>
                <a:rPr lang="ko-KR" altLang="en-US" sz="800" dirty="0" err="1"/>
                <a:t>업체의견이</a:t>
              </a:r>
              <a:r>
                <a:rPr lang="ko-KR" altLang="en-US" sz="800" dirty="0"/>
                <a:t> 있습니다</a:t>
              </a:r>
              <a:r>
                <a:rPr lang="en-US" altLang="ko-KR" sz="800" dirty="0"/>
                <a:t>.</a:t>
              </a:r>
              <a:endParaRPr lang="ko-KR" altLang="en-US" sz="800" dirty="0"/>
            </a:p>
          </p:txBody>
        </p:sp>
        <p:sp>
          <p:nvSpPr>
            <p:cNvPr id="16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59023" y="4727343"/>
              <a:ext cx="252715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/>
                <a:t>공개여부 </a:t>
              </a:r>
              <a:r>
                <a:rPr lang="en-US" altLang="ko-KR" sz="700" dirty="0">
                  <a:solidFill>
                    <a:srgbClr val="FF0000"/>
                  </a:solidFill>
                </a:rPr>
                <a:t>*</a:t>
              </a:r>
              <a:endParaRPr lang="ko-KR" altLang="en-US" sz="900" b="1" dirty="0">
                <a:solidFill>
                  <a:srgbClr val="FF0000"/>
                </a:solidFill>
              </a:endParaRPr>
            </a:p>
          </p:txBody>
        </p:sp>
        <p:grpSp>
          <p:nvGrpSpPr>
            <p:cNvPr id="163" name="그룹 162"/>
            <p:cNvGrpSpPr/>
            <p:nvPr/>
          </p:nvGrpSpPr>
          <p:grpSpPr>
            <a:xfrm>
              <a:off x="2608145" y="4706642"/>
              <a:ext cx="720000" cy="149124"/>
              <a:chOff x="4507439" y="3468375"/>
              <a:chExt cx="720000" cy="149124"/>
            </a:xfrm>
          </p:grpSpPr>
          <p:sp>
            <p:nvSpPr>
              <p:cNvPr id="165" name="모서리가 둥근 직사각형 164"/>
              <p:cNvSpPr/>
              <p:nvPr/>
            </p:nvSpPr>
            <p:spPr>
              <a:xfrm>
                <a:off x="4507439" y="3468375"/>
                <a:ext cx="720000" cy="149124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66" name="모서리가 둥근 직사각형 165"/>
              <p:cNvSpPr/>
              <p:nvPr/>
            </p:nvSpPr>
            <p:spPr>
              <a:xfrm>
                <a:off x="4507439" y="3468375"/>
                <a:ext cx="378000" cy="149124"/>
              </a:xfrm>
              <a:prstGeom prst="roundRect">
                <a:avLst>
                  <a:gd name="adj" fmla="val 50000"/>
                </a:avLst>
              </a:prstGeom>
              <a:solidFill>
                <a:srgbClr val="0070C0"/>
              </a:solidFill>
              <a:ln w="127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endParaRPr kumimoji="1" lang="ko-KR" altLang="en-US" sz="800" kern="0">
                  <a:solidFill>
                    <a:prstClr val="white"/>
                  </a:solidFill>
                  <a:latin typeface="맑은 고딕"/>
                </a:endParaRPr>
              </a:p>
            </p:txBody>
          </p:sp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579706" y="3494915"/>
                <a:ext cx="233466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bg1"/>
                    </a:solidFill>
                    <a:latin typeface="+mn-ea"/>
                  </a:rPr>
                  <a:t>공개</a:t>
                </a:r>
              </a:p>
            </p:txBody>
          </p: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909257" y="3494915"/>
                <a:ext cx="280559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bg1"/>
                    </a:solidFill>
                    <a:latin typeface="+mn-ea"/>
                  </a:rPr>
                  <a:t>비공개</a:t>
                </a:r>
              </a:p>
            </p:txBody>
          </p:sp>
        </p:grp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890875" y="4411397"/>
              <a:ext cx="32496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rgbClr val="0070C0"/>
                  </a:solidFill>
                  <a:latin typeface="맑은 고딕" panose="020B0503020000020004" pitchFamily="50" charset="-127"/>
                </a:rPr>
                <a:t>0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/ 2000</a:t>
              </a:r>
            </a:p>
          </p:txBody>
        </p:sp>
      </p:grpSp>
      <p:sp>
        <p:nvSpPr>
          <p:cNvPr id="169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04972" y="5384101"/>
            <a:ext cx="2652743" cy="207774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latin typeface="맑은 고딕"/>
                <a:ea typeface="맑은 고딕" panose="020B0503020000020004" pitchFamily="50" charset="-127"/>
              </a:rPr>
              <a:t>파일추가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grpSp>
        <p:nvGrpSpPr>
          <p:cNvPr id="170" name="그룹 169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저장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8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취소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190" name="타원 18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28438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02" name="타원 20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7171" y="2447516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203" name="타원 20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3073" y="582115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cxnSp>
        <p:nvCxnSpPr>
          <p:cNvPr id="204" name="직선 연결선 2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5" name="그룹 204"/>
          <p:cNvGrpSpPr/>
          <p:nvPr/>
        </p:nvGrpSpPr>
        <p:grpSpPr>
          <a:xfrm>
            <a:off x="705041" y="5712463"/>
            <a:ext cx="2652743" cy="499604"/>
            <a:chOff x="713968" y="6113949"/>
            <a:chExt cx="2652743" cy="499604"/>
          </a:xfrm>
        </p:grpSpPr>
        <p:sp>
          <p:nvSpPr>
            <p:cNvPr id="206" name="모서리가 둥근 직사각형 205"/>
            <p:cNvSpPr/>
            <p:nvPr/>
          </p:nvSpPr>
          <p:spPr>
            <a:xfrm>
              <a:off x="713968" y="6249067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4636" y="6377449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r>
                <a:rPr lang="en-US" altLang="ko-KR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hwp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[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2164" y="6377449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1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4636" y="6113949"/>
              <a:ext cx="47434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36458" y="6113949"/>
              <a:ext cx="32496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삭제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20732" y="6113949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항목번호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9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2956879" y="6343762"/>
              <a:ext cx="284126" cy="154884"/>
            </a:xfrm>
            <a:prstGeom prst="roundRect">
              <a:avLst/>
            </a:prstGeom>
            <a:noFill/>
            <a:ln w="317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kern="0" dirty="0">
                  <a:latin typeface="맑은 고딕"/>
                  <a:ea typeface="맑은 고딕" panose="020B0503020000020004" pitchFamily="50" charset="-127"/>
                </a:rPr>
                <a:t>삭제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220" name="그룹 219"/>
          <p:cNvGrpSpPr/>
          <p:nvPr/>
        </p:nvGrpSpPr>
        <p:grpSpPr>
          <a:xfrm>
            <a:off x="3831550" y="1591273"/>
            <a:ext cx="2652743" cy="364486"/>
            <a:chOff x="3421101" y="64023"/>
            <a:chExt cx="2652743" cy="364486"/>
          </a:xfrm>
        </p:grpSpPr>
        <p:sp>
          <p:nvSpPr>
            <p:cNvPr id="221" name="모서리가 둥근 직사각형 220"/>
            <p:cNvSpPr/>
            <p:nvPr/>
          </p:nvSpPr>
          <p:spPr>
            <a:xfrm>
              <a:off x="3421101" y="64023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1769" y="192405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r>
                <a:rPr lang="en-US" altLang="ko-KR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hwp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[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499297" y="192405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2</a:t>
              </a: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5637130" y="168824"/>
              <a:ext cx="284126" cy="154884"/>
            </a:xfrm>
            <a:prstGeom prst="roundRect">
              <a:avLst/>
            </a:prstGeom>
            <a:noFill/>
            <a:ln w="317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kern="0" dirty="0">
                  <a:latin typeface="맑은 고딕"/>
                  <a:ea typeface="맑은 고딕" panose="020B0503020000020004" pitchFamily="50" charset="-127"/>
                </a:rPr>
                <a:t>삭제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25" name="타원 22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05929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grpSp>
        <p:nvGrpSpPr>
          <p:cNvPr id="226" name="그룹 225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227" name="직선 연결선 226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8" name="직선 연결선 227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9" name="TextBox 2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업체의견</a:t>
            </a:r>
            <a:r>
              <a:rPr lang="ko-KR" altLang="en-US" sz="900" dirty="0">
                <a:latin typeface="+mn-ea"/>
              </a:rPr>
              <a:t> 등록</a:t>
            </a:r>
            <a:r>
              <a:rPr lang="en-US" altLang="ko-KR" sz="900" dirty="0">
                <a:latin typeface="+mn-ea"/>
              </a:rPr>
              <a:t>/</a:t>
            </a:r>
            <a:r>
              <a:rPr lang="ko-KR" altLang="en-US" sz="900" dirty="0">
                <a:latin typeface="+mn-ea"/>
              </a:rPr>
              <a:t>수정</a:t>
            </a:r>
          </a:p>
        </p:txBody>
      </p:sp>
      <p:grpSp>
        <p:nvGrpSpPr>
          <p:cNvPr id="230" name="그룹 229"/>
          <p:cNvGrpSpPr/>
          <p:nvPr/>
        </p:nvGrpSpPr>
        <p:grpSpPr>
          <a:xfrm>
            <a:off x="503269" y="1362269"/>
            <a:ext cx="6476029" cy="5038531"/>
            <a:chOff x="503269" y="1362269"/>
            <a:chExt cx="6476029" cy="5038531"/>
          </a:xfrm>
        </p:grpSpPr>
        <p:sp>
          <p:nvSpPr>
            <p:cNvPr id="231" name="직사각형 230"/>
            <p:cNvSpPr/>
            <p:nvPr/>
          </p:nvSpPr>
          <p:spPr>
            <a:xfrm>
              <a:off x="503269" y="1362269"/>
              <a:ext cx="6476029" cy="5038531"/>
            </a:xfrm>
            <a:prstGeom prst="rect">
              <a:avLst/>
            </a:prstGeom>
            <a:solidFill>
              <a:srgbClr val="000000">
                <a:alpha val="30196"/>
              </a:srgb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32" name="TextBox 231"/>
            <p:cNvSpPr txBox="1"/>
            <p:nvPr/>
          </p:nvSpPr>
          <p:spPr>
            <a:xfrm>
              <a:off x="3980082" y="3696868"/>
              <a:ext cx="26564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</a:rPr>
                <a:t>조달계획 상세와 동일함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93101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첨부서류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사전규격</a:t>
            </a:r>
            <a:r>
              <a:rPr lang="ko-KR" altLang="en-US" dirty="0"/>
              <a:t> 상세 화면 </a:t>
            </a:r>
            <a:r>
              <a:rPr lang="en-US" altLang="ko-KR" dirty="0"/>
              <a:t>– </a:t>
            </a:r>
            <a:r>
              <a:rPr lang="ko-KR" altLang="en-US" dirty="0">
                <a:latin typeface="+mn-ea"/>
              </a:rPr>
              <a:t>첨부서류</a:t>
            </a:r>
            <a:r>
              <a:rPr lang="ko-KR" altLang="en-US" dirty="0"/>
              <a:t> 탭 조회 화면 </a:t>
            </a:r>
            <a:r>
              <a:rPr lang="en-US" altLang="ko-KR" dirty="0"/>
              <a:t>- </a:t>
            </a:r>
            <a:r>
              <a:rPr lang="ko-KR" altLang="en-US" dirty="0"/>
              <a:t>콘텐츠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첨부서류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MUI-OP-01-M09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>
                <a:solidFill>
                  <a:srgbClr val="0070C0"/>
                </a:solidFill>
                <a:latin typeface="+mn-ea"/>
              </a:rPr>
              <a:t>다음에 </a:t>
            </a:r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계속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544009"/>
            <a:ext cx="1035095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첨부서류</a:t>
            </a:r>
          </a:p>
        </p:txBody>
      </p:sp>
      <p:grpSp>
        <p:nvGrpSpPr>
          <p:cNvPr id="105" name="그룹 104"/>
          <p:cNvGrpSpPr/>
          <p:nvPr/>
        </p:nvGrpSpPr>
        <p:grpSpPr>
          <a:xfrm flipV="1">
            <a:off x="3124233" y="1657340"/>
            <a:ext cx="94010" cy="47005"/>
            <a:chOff x="6812560" y="3297172"/>
            <a:chExt cx="94010" cy="47005"/>
          </a:xfrm>
        </p:grpSpPr>
        <p:cxnSp>
          <p:nvCxnSpPr>
            <p:cNvPr id="106" name="직선 연결선 10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직선 연결선 10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1498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551" y="1867758"/>
            <a:ext cx="129808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첨부파일 </a:t>
            </a:r>
            <a:r>
              <a:rPr lang="en-US" altLang="ko-KR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총 </a:t>
            </a:r>
            <a:r>
              <a:rPr lang="en-US" altLang="ko-KR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</a:t>
            </a:r>
            <a:r>
              <a:rPr lang="ko-KR" altLang="en-US" sz="700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건</a:t>
            </a:r>
            <a:endParaRPr lang="ko-KR" altLang="en-US" sz="700" dirty="0">
              <a:latin typeface="+mn-ea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718021" y="2266144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2394526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1.PDF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6217" y="2394526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1</a:t>
            </a:r>
          </a:p>
        </p:txBody>
      </p:sp>
      <p:sp>
        <p:nvSpPr>
          <p:cNvPr id="23" name="타원 22"/>
          <p:cNvSpPr/>
          <p:nvPr/>
        </p:nvSpPr>
        <p:spPr>
          <a:xfrm>
            <a:off x="3078140" y="2376387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모서리가 둥근 직사각형 23"/>
          <p:cNvSpPr/>
          <p:nvPr/>
        </p:nvSpPr>
        <p:spPr>
          <a:xfrm>
            <a:off x="718021" y="2672830"/>
            <a:ext cx="2652743" cy="364486"/>
          </a:xfrm>
          <a:prstGeom prst="roundRect">
            <a:avLst>
              <a:gd name="adj" fmla="val 9062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2801212"/>
            <a:ext cx="16827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2.hwp [</a:t>
            </a:r>
            <a:r>
              <a:rPr lang="ko-KR" altLang="en-US" sz="7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파일크기</a:t>
            </a:r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]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6217" y="2801212"/>
            <a:ext cx="24778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2</a:t>
            </a:r>
          </a:p>
        </p:txBody>
      </p:sp>
      <p:sp>
        <p:nvSpPr>
          <p:cNvPr id="27" name="타원 26"/>
          <p:cNvSpPr/>
          <p:nvPr/>
        </p:nvSpPr>
        <p:spPr>
          <a:xfrm>
            <a:off x="3078140" y="2783073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689" y="2131026"/>
            <a:ext cx="47434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첨부파일명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987656" y="2131026"/>
            <a:ext cx="32496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다운로드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24785" y="2131026"/>
            <a:ext cx="3906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rPr>
              <a:t>항목번호</a:t>
            </a:r>
            <a:endParaRPr lang="en-US" altLang="ko-KR" sz="6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54" name="그룹 53"/>
          <p:cNvGrpSpPr/>
          <p:nvPr/>
        </p:nvGrpSpPr>
        <p:grpSpPr>
          <a:xfrm>
            <a:off x="522514" y="1362269"/>
            <a:ext cx="6456784" cy="5038531"/>
            <a:chOff x="522514" y="1362269"/>
            <a:chExt cx="6456784" cy="5038531"/>
          </a:xfrm>
        </p:grpSpPr>
        <p:sp>
          <p:nvSpPr>
            <p:cNvPr id="55" name="직사각형 54"/>
            <p:cNvSpPr/>
            <p:nvPr/>
          </p:nvSpPr>
          <p:spPr>
            <a:xfrm>
              <a:off x="522514" y="1362269"/>
              <a:ext cx="6456784" cy="5038531"/>
            </a:xfrm>
            <a:prstGeom prst="rect">
              <a:avLst/>
            </a:prstGeom>
            <a:solidFill>
              <a:srgbClr val="000000">
                <a:alpha val="30196"/>
              </a:srgb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980082" y="3696868"/>
              <a:ext cx="26564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bg1"/>
                  </a:solidFill>
                </a:rPr>
                <a:t>조달계획 상세와 동일함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742409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직사각형 243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0" name="양쪽 모서리가 둥근 사각형 269"/>
          <p:cNvSpPr/>
          <p:nvPr/>
        </p:nvSpPr>
        <p:spPr>
          <a:xfrm>
            <a:off x="3789896" y="1609111"/>
            <a:ext cx="2712027" cy="4623188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72" name="모서리가 둥근 직사각형 271"/>
          <p:cNvSpPr/>
          <p:nvPr/>
        </p:nvSpPr>
        <p:spPr>
          <a:xfrm>
            <a:off x="4875909" y="163950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73" name="그룹 272"/>
          <p:cNvGrpSpPr/>
          <p:nvPr/>
        </p:nvGrpSpPr>
        <p:grpSpPr>
          <a:xfrm>
            <a:off x="6278835" y="1773925"/>
            <a:ext cx="94010" cy="94010"/>
            <a:chOff x="6812560" y="3297172"/>
            <a:chExt cx="94010" cy="94010"/>
          </a:xfrm>
        </p:grpSpPr>
        <p:cxnSp>
          <p:nvCxnSpPr>
            <p:cNvPr id="274" name="직선 연결선 273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5" name="직선 연결선 274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6" name="TextBox 27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8973" y="175460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</a:rPr>
              <a:t>사전규격상세</a:t>
            </a:r>
            <a:endParaRPr lang="ko-KR" altLang="en-US" sz="900" dirty="0">
              <a:latin typeface="+mn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사전규격</a:t>
            </a:r>
            <a:r>
              <a:rPr lang="ko-KR" altLang="en-US" dirty="0"/>
              <a:t> 상세 내역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클릭시</a:t>
            </a:r>
            <a:r>
              <a:rPr lang="ko-KR" altLang="en-US" dirty="0"/>
              <a:t> 업체 의견 팝업 호출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비공개 정보는 작성자만 접근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비공개 글입니다</a:t>
            </a:r>
            <a:r>
              <a:rPr lang="en-US" altLang="ko-KR" dirty="0"/>
              <a:t>. (</a:t>
            </a:r>
            <a:r>
              <a:rPr lang="ko-KR" altLang="en-US" dirty="0"/>
              <a:t>확인</a:t>
            </a:r>
            <a:r>
              <a:rPr lang="en-US" altLang="ko-KR" dirty="0"/>
              <a:t>) </a:t>
            </a:r>
            <a:r>
              <a:rPr lang="ko-KR" altLang="en-US" dirty="0" err="1"/>
              <a:t>모달</a:t>
            </a:r>
            <a:r>
              <a:rPr lang="ko-KR" altLang="en-US" dirty="0"/>
              <a:t> 팝업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en-US" altLang="ko-KR" dirty="0">
                <a:latin typeface="+mn-ea"/>
              </a:rPr>
              <a:t>MUI-OP-01-P06 </a:t>
            </a:r>
            <a:r>
              <a:rPr lang="ko-KR" altLang="en-US" dirty="0" err="1"/>
              <a:t>업체의견</a:t>
            </a:r>
            <a:r>
              <a:rPr lang="ko-KR" altLang="en-US" dirty="0"/>
              <a:t> 상세</a:t>
            </a:r>
            <a:r>
              <a:rPr lang="en-US" altLang="ko-KR" dirty="0">
                <a:latin typeface="+mn-ea"/>
              </a:rPr>
              <a:t/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- MUI-OP-01-P06 </a:t>
            </a:r>
            <a:r>
              <a:rPr lang="ko-KR" altLang="en-US" dirty="0" err="1">
                <a:latin typeface="+mn-ea"/>
              </a:rPr>
              <a:t>업체의견</a:t>
            </a:r>
            <a:r>
              <a:rPr lang="ko-KR" altLang="en-US" dirty="0">
                <a:latin typeface="+mn-ea"/>
              </a:rPr>
              <a:t> 답변 상세</a:t>
            </a:r>
            <a:r>
              <a:rPr lang="en-US" altLang="ko-KR" dirty="0">
                <a:latin typeface="+mn-ea"/>
              </a:rPr>
              <a:t/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의견 등록 버튼 없음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연관사전규격상세</a:t>
            </a:r>
            <a:endParaRPr lang="en-US" altLang="ko-KR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 err="1"/>
              <a:t>타메뉴</a:t>
            </a:r>
            <a:r>
              <a:rPr lang="ko-KR" altLang="en-US" dirty="0"/>
              <a:t> 상세화면에서 연관 된 조달계획 정보를 조회한다</a:t>
            </a:r>
            <a:r>
              <a:rPr lang="en-US" altLang="ko-KR" dirty="0"/>
              <a:t>.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연관사전규격상세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MUI-OP-01-P13</a:t>
            </a:r>
            <a:endParaRPr lang="ko-KR" altLang="en-US" dirty="0"/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양쪽 모서리가 둥근 사각형 198"/>
          <p:cNvSpPr/>
          <p:nvPr/>
        </p:nvSpPr>
        <p:spPr>
          <a:xfrm>
            <a:off x="675399" y="1609111"/>
            <a:ext cx="2712027" cy="4623188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18" name="모서리가 둥근 직사각형 217"/>
          <p:cNvSpPr/>
          <p:nvPr/>
        </p:nvSpPr>
        <p:spPr>
          <a:xfrm>
            <a:off x="1761412" y="163950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19" name="그룹 218"/>
          <p:cNvGrpSpPr/>
          <p:nvPr/>
        </p:nvGrpSpPr>
        <p:grpSpPr>
          <a:xfrm>
            <a:off x="3164338" y="1773925"/>
            <a:ext cx="94010" cy="94010"/>
            <a:chOff x="6812560" y="3297172"/>
            <a:chExt cx="94010" cy="94010"/>
          </a:xfrm>
        </p:grpSpPr>
        <p:cxnSp>
          <p:nvCxnSpPr>
            <p:cNvPr id="220" name="직선 연결선 219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1" name="직선 연결선 220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2" name="TextBox 2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175460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맑은 고딕" panose="020B0503020000020004" pitchFamily="50" charset="-127"/>
              </a:rPr>
              <a:t>사전규격상세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223" name="직선 연결선 2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01600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9" name="타원 24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81870" y="175360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255" name="직선 연결선 25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2815" y="208332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0" name="TextBox 28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23929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59" name="그룹 58"/>
          <p:cNvGrpSpPr/>
          <p:nvPr/>
        </p:nvGrpSpPr>
        <p:grpSpPr>
          <a:xfrm>
            <a:off x="701175" y="2110472"/>
            <a:ext cx="2642526" cy="2031034"/>
            <a:chOff x="701175" y="1527996"/>
            <a:chExt cx="2642526" cy="2031034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2146" y="1527996"/>
              <a:ext cx="125715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발주기관 규격서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703268" y="1835481"/>
              <a:ext cx="792000" cy="17179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0331" y="1835481"/>
              <a:ext cx="725552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요구년도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판단번호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예산액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의견접수</a:t>
              </a:r>
              <a:r>
                <a:rPr lang="ko-KR" altLang="en-US" sz="700" dirty="0">
                  <a:latin typeface="+mn-ea"/>
                </a:rPr>
                <a:t> 시작일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의견접수</a:t>
              </a:r>
              <a:r>
                <a:rPr lang="ko-KR" altLang="en-US" sz="700" dirty="0">
                  <a:latin typeface="+mn-ea"/>
                </a:rPr>
                <a:t> 종료일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 연락처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47180" y="1835481"/>
              <a:ext cx="1796521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2026-00590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</a:t>
              </a:r>
              <a:r>
                <a:rPr lang="en-US" altLang="ko-KR" sz="700" dirty="0">
                  <a:latin typeface="+mn-ea"/>
                </a:rPr>
                <a:t>9911</a:t>
              </a:r>
              <a:r>
                <a:rPr lang="ko-KR" altLang="en-US" sz="700" dirty="0">
                  <a:latin typeface="+mn-ea"/>
                </a:rPr>
                <a:t>부대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2026-06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02-1234-5678</a:t>
              </a:r>
            </a:p>
          </p:txBody>
        </p:sp>
        <p:grpSp>
          <p:nvGrpSpPr>
            <p:cNvPr id="65" name="그룹 64"/>
            <p:cNvGrpSpPr/>
            <p:nvPr/>
          </p:nvGrpSpPr>
          <p:grpSpPr>
            <a:xfrm>
              <a:off x="701175" y="1835481"/>
              <a:ext cx="2630093" cy="1717920"/>
              <a:chOff x="701175" y="1835481"/>
              <a:chExt cx="2630093" cy="1717920"/>
            </a:xfrm>
          </p:grpSpPr>
          <p:cxnSp>
            <p:nvCxnSpPr>
              <p:cNvPr id="66" name="직선 연결선 6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183548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7" name="직선 연결선 6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0502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8" name="직선 연결선 6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2649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4797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0" name="직선 연결선 6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6944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1" name="직선 연결선 7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9091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312392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3386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5534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1455" y="2164074"/>
            <a:ext cx="1290138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spc="-52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업체의견</a:t>
            </a:r>
            <a:r>
              <a:rPr lang="ko-KR" altLang="en-US" sz="700" b="1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목록 </a:t>
            </a:r>
            <a:r>
              <a:rPr lang="en-US" altLang="ko-KR" sz="700" b="1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700" b="1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총 </a:t>
            </a:r>
            <a:r>
              <a:rPr lang="en-US" altLang="ko-KR" sz="700" b="1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0,000</a:t>
            </a:r>
            <a:r>
              <a:rPr lang="ko-KR" altLang="en-US" sz="700" b="1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건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675399" y="4231230"/>
            <a:ext cx="2712027" cy="1222329"/>
            <a:chOff x="675399" y="1814987"/>
            <a:chExt cx="2712027" cy="1222329"/>
          </a:xfrm>
        </p:grpSpPr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181498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4551" y="1867758"/>
              <a:ext cx="1298086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첨부파일 </a:t>
              </a:r>
              <a:r>
                <a:rPr lang="en-US" altLang="ko-KR" sz="700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- </a:t>
              </a:r>
              <a:r>
                <a:rPr lang="ko-KR" altLang="en-US" sz="700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총 </a:t>
              </a:r>
              <a:r>
                <a:rPr lang="en-US" altLang="ko-KR" sz="700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0</a:t>
              </a:r>
              <a:r>
                <a:rPr lang="ko-KR" altLang="en-US" sz="700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건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80" name="모서리가 둥근 직사각형 79"/>
            <p:cNvSpPr/>
            <p:nvPr/>
          </p:nvSpPr>
          <p:spPr>
            <a:xfrm>
              <a:off x="718021" y="2266144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8689" y="2394526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1.PDF [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6217" y="2394526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1</a:t>
              </a:r>
            </a:p>
          </p:txBody>
        </p:sp>
        <p:sp>
          <p:nvSpPr>
            <p:cNvPr id="101" name="타원 100"/>
            <p:cNvSpPr/>
            <p:nvPr/>
          </p:nvSpPr>
          <p:spPr>
            <a:xfrm>
              <a:off x="3078140" y="2376387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모서리가 둥근 직사각형 101"/>
            <p:cNvSpPr/>
            <p:nvPr/>
          </p:nvSpPr>
          <p:spPr>
            <a:xfrm>
              <a:off x="718021" y="2672830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8689" y="2801212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2.hwp [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6217" y="2801212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2</a:t>
              </a:r>
            </a:p>
          </p:txBody>
        </p:sp>
        <p:sp>
          <p:nvSpPr>
            <p:cNvPr id="105" name="타원 104"/>
            <p:cNvSpPr/>
            <p:nvPr/>
          </p:nvSpPr>
          <p:spPr>
            <a:xfrm>
              <a:off x="3078140" y="2783073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8689" y="2131026"/>
              <a:ext cx="47434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87656" y="2131026"/>
              <a:ext cx="32496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다운로드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24785" y="2131026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항목번호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3834987" y="2471559"/>
            <a:ext cx="2621844" cy="2082620"/>
            <a:chOff x="720490" y="2205164"/>
            <a:chExt cx="2621844" cy="2082620"/>
          </a:xfrm>
        </p:grpSpPr>
        <p:cxnSp>
          <p:nvCxnSpPr>
            <p:cNvPr id="112" name="직선 연결선 11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220516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14" name="그룹 113"/>
            <p:cNvGrpSpPr/>
            <p:nvPr/>
          </p:nvGrpSpPr>
          <p:grpSpPr>
            <a:xfrm>
              <a:off x="781460" y="2325977"/>
              <a:ext cx="2473258" cy="821562"/>
              <a:chOff x="781460" y="2610063"/>
              <a:chExt cx="2473258" cy="821562"/>
            </a:xfrm>
          </p:grpSpPr>
          <p:sp>
            <p:nvSpPr>
              <p:cNvPr id="115" name="TextBox 58">
                <a:extLst>
                  <a:ext uri="{FF2B5EF4-FFF2-40B4-BE49-F238E27FC236}">
                    <a16:creationId xmlns:a16="http://schemas.microsoft.com/office/drawing/2014/main" id="{02FC114B-B48B-345F-BD70-2B5A196F5B3E}"/>
                  </a:ext>
                </a:extLst>
              </p:cNvPr>
              <p:cNvSpPr txBox="1"/>
              <p:nvPr/>
            </p:nvSpPr>
            <p:spPr>
              <a:xfrm>
                <a:off x="781461" y="2794394"/>
                <a:ext cx="2473257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700" dirty="0"/>
                  <a:t>비공개</a:t>
                </a:r>
                <a:endParaRPr lang="en-US" altLang="ko-KR" sz="700" dirty="0"/>
              </a:p>
              <a:p>
                <a:r>
                  <a:rPr lang="ko-KR" altLang="en-US" sz="900" b="1" dirty="0"/>
                  <a:t>비공개</a:t>
                </a:r>
              </a:p>
            </p:txBody>
          </p:sp>
          <p:sp>
            <p:nvSpPr>
              <p:cNvPr id="116" name="TextBox 59">
                <a:extLst>
                  <a:ext uri="{FF2B5EF4-FFF2-40B4-BE49-F238E27FC236}">
                    <a16:creationId xmlns:a16="http://schemas.microsoft.com/office/drawing/2014/main" id="{F77C802D-3BC8-270F-87FC-5F442BD8054D}"/>
                  </a:ext>
                </a:extLst>
              </p:cNvPr>
              <p:cNvSpPr txBox="1"/>
              <p:nvPr/>
            </p:nvSpPr>
            <p:spPr>
              <a:xfrm>
                <a:off x="781461" y="3154626"/>
                <a:ext cx="3077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ko-KR" altLang="en-US" sz="600" dirty="0">
                    <a:latin typeface="+mn-ea"/>
                  </a:rPr>
                  <a:t>성명</a:t>
                </a:r>
                <a:endParaRPr lang="en-US" altLang="ko-KR" sz="600" dirty="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600" dirty="0" err="1">
                    <a:latin typeface="+mn-ea"/>
                  </a:rPr>
                  <a:t>입력일시</a:t>
                </a:r>
                <a:endParaRPr lang="en-US" altLang="ko-KR" sz="600" dirty="0">
                  <a:latin typeface="+mn-ea"/>
                </a:endParaRPr>
              </a:p>
            </p:txBody>
          </p:sp>
          <p:sp>
            <p:nvSpPr>
              <p:cNvPr id="117" name="TextBox 60">
                <a:extLst>
                  <a:ext uri="{FF2B5EF4-FFF2-40B4-BE49-F238E27FC236}">
                    <a16:creationId xmlns:a16="http://schemas.microsoft.com/office/drawing/2014/main" id="{8F5E3227-69E6-C89F-B8C5-534226E95EA8}"/>
                  </a:ext>
                </a:extLst>
              </p:cNvPr>
              <p:cNvSpPr txBox="1"/>
              <p:nvPr/>
            </p:nvSpPr>
            <p:spPr>
              <a:xfrm>
                <a:off x="2596303" y="3139237"/>
                <a:ext cx="6091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ko-KR" altLang="en-US" sz="600" dirty="0">
                    <a:latin typeface="+mn-ea"/>
                  </a:rPr>
                  <a:t>비공개</a:t>
                </a:r>
                <a:endParaRPr lang="en-US" altLang="ko-KR" sz="600" dirty="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600" dirty="0"/>
                  <a:t>2026-01-03 14:50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118" name="모서리가 둥근 직사각형 117"/>
              <p:cNvSpPr/>
              <p:nvPr/>
            </p:nvSpPr>
            <p:spPr>
              <a:xfrm>
                <a:off x="781460" y="2610063"/>
                <a:ext cx="318677" cy="119400"/>
              </a:xfrm>
              <a:prstGeom prst="roundRect">
                <a:avLst>
                  <a:gd name="adj" fmla="val 23409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dk1"/>
                    </a:solidFill>
                  </a:rPr>
                  <a:t>비공개</a:t>
                </a:r>
              </a:p>
            </p:txBody>
          </p:sp>
        </p:grpSp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321243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20" name="그룹 119"/>
            <p:cNvGrpSpPr/>
            <p:nvPr/>
          </p:nvGrpSpPr>
          <p:grpSpPr>
            <a:xfrm>
              <a:off x="781460" y="3345937"/>
              <a:ext cx="2473258" cy="821562"/>
              <a:chOff x="781460" y="2610063"/>
              <a:chExt cx="2473258" cy="821562"/>
            </a:xfrm>
          </p:grpSpPr>
          <p:sp>
            <p:nvSpPr>
              <p:cNvPr id="121" name="TextBox 58">
                <a:extLst>
                  <a:ext uri="{FF2B5EF4-FFF2-40B4-BE49-F238E27FC236}">
                    <a16:creationId xmlns:a16="http://schemas.microsoft.com/office/drawing/2014/main" id="{02FC114B-B48B-345F-BD70-2B5A196F5B3E}"/>
                  </a:ext>
                </a:extLst>
              </p:cNvPr>
              <p:cNvSpPr txBox="1"/>
              <p:nvPr/>
            </p:nvSpPr>
            <p:spPr>
              <a:xfrm>
                <a:off x="781461" y="2794394"/>
                <a:ext cx="2473257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700" dirty="0"/>
                  <a:t>㈜</a:t>
                </a:r>
                <a:r>
                  <a:rPr lang="ko-KR" altLang="en-US" sz="700" dirty="0" err="1"/>
                  <a:t>미래회사</a:t>
                </a:r>
                <a:endParaRPr lang="en-US" altLang="ko-KR" sz="700" dirty="0"/>
              </a:p>
              <a:p>
                <a:r>
                  <a:rPr lang="ko-KR" altLang="en-US" sz="900" b="1" dirty="0"/>
                  <a:t>업체의 의견이 있습니다</a:t>
                </a:r>
                <a:r>
                  <a:rPr lang="en-US" altLang="ko-KR" sz="900" b="1" dirty="0"/>
                  <a:t>.</a:t>
                </a:r>
                <a:endParaRPr lang="ko-KR" altLang="en-US" sz="900" b="1" dirty="0"/>
              </a:p>
            </p:txBody>
          </p:sp>
          <p:sp>
            <p:nvSpPr>
              <p:cNvPr id="122" name="TextBox 59">
                <a:extLst>
                  <a:ext uri="{FF2B5EF4-FFF2-40B4-BE49-F238E27FC236}">
                    <a16:creationId xmlns:a16="http://schemas.microsoft.com/office/drawing/2014/main" id="{F77C802D-3BC8-270F-87FC-5F442BD8054D}"/>
                  </a:ext>
                </a:extLst>
              </p:cNvPr>
              <p:cNvSpPr txBox="1"/>
              <p:nvPr/>
            </p:nvSpPr>
            <p:spPr>
              <a:xfrm>
                <a:off x="781461" y="3154626"/>
                <a:ext cx="3077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ko-KR" altLang="en-US" sz="600" dirty="0">
                    <a:latin typeface="+mn-ea"/>
                  </a:rPr>
                  <a:t>성명</a:t>
                </a:r>
                <a:endParaRPr lang="en-US" altLang="ko-KR" sz="600" dirty="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600" dirty="0" err="1">
                    <a:latin typeface="+mn-ea"/>
                  </a:rPr>
                  <a:t>입력일시</a:t>
                </a:r>
                <a:endParaRPr lang="en-US" altLang="ko-KR" sz="600" dirty="0">
                  <a:latin typeface="+mn-ea"/>
                </a:endParaRPr>
              </a:p>
            </p:txBody>
          </p:sp>
          <p:sp>
            <p:nvSpPr>
              <p:cNvPr id="123" name="TextBox 60">
                <a:extLst>
                  <a:ext uri="{FF2B5EF4-FFF2-40B4-BE49-F238E27FC236}">
                    <a16:creationId xmlns:a16="http://schemas.microsoft.com/office/drawing/2014/main" id="{8F5E3227-69E6-C89F-B8C5-534226E95EA8}"/>
                  </a:ext>
                </a:extLst>
              </p:cNvPr>
              <p:cNvSpPr txBox="1"/>
              <p:nvPr/>
            </p:nvSpPr>
            <p:spPr>
              <a:xfrm>
                <a:off x="2596303" y="3139237"/>
                <a:ext cx="6091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ko-KR" altLang="en-US" sz="600" dirty="0">
                    <a:latin typeface="+mn-ea"/>
                  </a:rPr>
                  <a:t>홍길동</a:t>
                </a:r>
                <a:endParaRPr lang="en-US" altLang="ko-KR" sz="600" dirty="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600" dirty="0"/>
                  <a:t>2026-01-03 14:50</a:t>
                </a:r>
              </a:p>
            </p:txBody>
          </p:sp>
          <p:sp>
            <p:nvSpPr>
              <p:cNvPr id="124" name="모서리가 둥근 직사각형 123"/>
              <p:cNvSpPr/>
              <p:nvPr/>
            </p:nvSpPr>
            <p:spPr>
              <a:xfrm>
                <a:off x="781460" y="2610063"/>
                <a:ext cx="318677" cy="119400"/>
              </a:xfrm>
              <a:prstGeom prst="roundRect">
                <a:avLst>
                  <a:gd name="adj" fmla="val 23409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dk1"/>
                    </a:solidFill>
                  </a:rPr>
                  <a:t>공개</a:t>
                </a:r>
              </a:p>
            </p:txBody>
          </p:sp>
        </p:grp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28778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28" name="모서리가 둥근 직사각형 227"/>
          <p:cNvSpPr/>
          <p:nvPr/>
        </p:nvSpPr>
        <p:spPr>
          <a:xfrm rot="5400000">
            <a:off x="2662242" y="2747373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32" name="타원 13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89052" y="276902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33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1" y="5479035"/>
            <a:ext cx="2446613" cy="199541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4917014"/>
            <a:ext cx="76863" cy="292489"/>
            <a:chOff x="3750067" y="4683795"/>
            <a:chExt cx="76863" cy="292489"/>
          </a:xfrm>
        </p:grpSpPr>
        <p:sp>
          <p:nvSpPr>
            <p:cNvPr id="135" name="타원 134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36" name="타원 135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37" name="타원 136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230" name="그룹 229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231" name="직사각형 230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1" y="5745391"/>
              <a:ext cx="2527419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noProof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81" name="그룹 80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82" name="직사각형 81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2026-05-27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83" name="직사각형 82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페이지 추가됨</a:t>
              </a:r>
              <a:r>
                <a:rPr lang="en-US" altLang="ko-KR" sz="700" dirty="0"/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303812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49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41213"/>
            <a:ext cx="201233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사전규격 상세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52416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사전규격 식별을 위한 조달번호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taskSeNm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국외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46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E4F85CA-096A-8D3B-930E-59C75F3DDFBB}"/>
              </a:ext>
            </a:extLst>
          </p:cNvPr>
          <p:cNvSpPr txBox="1"/>
          <p:nvPr/>
        </p:nvSpPr>
        <p:spPr>
          <a:xfrm>
            <a:off x="444290" y="1720520"/>
            <a:ext cx="228324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발주기관 규격서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A644FDB-5A9B-8507-D8BC-C4428E92034B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1932805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drctnYr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판단번호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판단번호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519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발주기관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006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bgtAmt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674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의견접수 시작일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rcptDtFrom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의견접수 시작일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53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의견접수 종료일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rcptDtTo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의견접수 종료일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883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842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 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telno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 연락처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24299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0940877-3BA8-DBAA-6E31-A353219C68C0}"/>
              </a:ext>
            </a:extLst>
          </p:cNvPr>
          <p:cNvSpPr txBox="1"/>
          <p:nvPr/>
        </p:nvSpPr>
        <p:spPr>
          <a:xfrm>
            <a:off x="452999" y="3738639"/>
            <a:ext cx="189692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연관정보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B9F28F4-1D6A-2D23-4FC4-439DC7656ACC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3950924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연관 조달계획의 조달번호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9D732F0B-7384-2FC9-46BD-4F769F1FCBA2}"/>
              </a:ext>
            </a:extLst>
          </p:cNvPr>
          <p:cNvSpPr txBox="1"/>
          <p:nvPr/>
        </p:nvSpPr>
        <p:spPr>
          <a:xfrm>
            <a:off x="452999" y="4410729"/>
            <a:ext cx="189692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첨부파일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0F1487E1-9181-6C7E-F12B-AC19A3980030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4623014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docId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88947A1-E3B7-07DA-C8BB-D66235E2495F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(1/2)</a:t>
            </a:r>
            <a:endParaRPr lang="ko-KR" altLang="en-US" sz="1000" b="1" dirty="0"/>
          </a:p>
        </p:txBody>
      </p:sp>
      <p:sp>
        <p:nvSpPr>
          <p:cNvPr id="10" name="Text Box 73">
            <a:extLst>
              <a:ext uri="{FF2B5EF4-FFF2-40B4-BE49-F238E27FC236}">
                <a16:creationId xmlns:a16="http://schemas.microsoft.com/office/drawing/2014/main" id="{AB8D4575-7D83-3704-54E3-B02D52E5AB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043081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50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CD876C-FBB7-97BC-42DF-2C8719EB5AEC}"/>
              </a:ext>
            </a:extLst>
          </p:cNvPr>
          <p:cNvSpPr txBox="1"/>
          <p:nvPr/>
        </p:nvSpPr>
        <p:spPr>
          <a:xfrm>
            <a:off x="444290" y="842212"/>
            <a:ext cx="216782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업체의견 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612261D8-16FA-64B9-ADFA-DB630E3728E5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1054497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업체의견 목록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regYn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공개여부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Y: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공개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N: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비공개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519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qnaTtl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006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bzentyNm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53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성명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883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입력일시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wrtDt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입력일시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hh24:mi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16670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EA80006-B550-AB59-C9AB-8BF88793186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(2/2)</a:t>
            </a:r>
            <a:endParaRPr lang="ko-KR" altLang="en-US" sz="1000" b="1" dirty="0"/>
          </a:p>
        </p:txBody>
      </p:sp>
      <p:sp>
        <p:nvSpPr>
          <p:cNvPr id="8" name="Text Box 73">
            <a:extLst>
              <a:ext uri="{FF2B5EF4-FFF2-40B4-BE49-F238E27FC236}">
                <a16:creationId xmlns:a16="http://schemas.microsoft.com/office/drawing/2014/main" id="{2012867A-1DD5-9141-4685-6A682B4EF2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744477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51</a:t>
            </a:fld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E50986-444A-3C87-3626-6E69412E202F}"/>
              </a:ext>
            </a:extLst>
          </p:cNvPr>
          <p:cNvSpPr txBox="1"/>
          <p:nvPr/>
        </p:nvSpPr>
        <p:spPr>
          <a:xfrm>
            <a:off x="458117" y="581669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971EBCAA-7B98-9BE9-EE25-662CA3DE8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760202"/>
              </p:ext>
            </p:extLst>
          </p:nvPr>
        </p:nvGraphicFramePr>
        <p:xfrm>
          <a:off x="453000" y="846360"/>
          <a:ext cx="8995591" cy="1651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연관정보 조달계획 링크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scwin.btn_anlPrcmPlan_onclick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연관 조달계획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호출된다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(UI-OP-01-P03)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44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의견등록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scwin.btn_opnnReg_onclick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로그인 사용자 일 경우 업체의견 등록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호출된다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624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업체의견목록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그리드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scwin.grd_opnnDtl_onclick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업체의견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호출된다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205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닫기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scwin.btn_close_onclick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사전규격 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팝업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화면이 닫힌다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823852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4CAD4002-DE63-FE39-E878-539FF0340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5768" y="649812"/>
            <a:ext cx="1368329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005576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52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2. </a:t>
            </a:r>
            <a:r>
              <a:rPr lang="ko-KR" altLang="en-US" dirty="0"/>
              <a:t>국외 </a:t>
            </a:r>
            <a:r>
              <a:rPr lang="ko-KR" altLang="en-US" dirty="0">
                <a:latin typeface="+mn-ea"/>
              </a:rPr>
              <a:t>조달계획 통합</a:t>
            </a:r>
            <a:r>
              <a:rPr lang="ko-KR" altLang="en-US" dirty="0"/>
              <a:t> 목록 메뉴</a:t>
            </a:r>
            <a:endParaRPr lang="en-US" altLang="ko-KR" dirty="0"/>
          </a:p>
          <a:p>
            <a:r>
              <a:rPr lang="en-US" altLang="ko-KR" dirty="0"/>
              <a:t>2.1 </a:t>
            </a:r>
            <a:r>
              <a:rPr lang="ko-KR" altLang="en-US" dirty="0"/>
              <a:t>화면 목록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305190"/>
              </p:ext>
            </p:extLst>
          </p:nvPr>
        </p:nvGraphicFramePr>
        <p:xfrm>
          <a:off x="635474" y="1413419"/>
          <a:ext cx="8701200" cy="476734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MUI-OP-01-M01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 통합목록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PrcmPlanIntgListPage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통합 목록 조회 화면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국내와 동일함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prcmPlanIntgList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PrcmPlanIntgList.tsx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UC-OP-02-01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UC-OP-03-01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MUI-OP-01-M02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검색필터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PrcmPlanIntgList_SrchFilter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검색을 위한 검색 필터 화면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국내와 동일함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prcmPlanIntgList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PrcmPlanIntgList_SrchFilter.tsx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UC-OP-02-01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UC-OP-03-01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MUI-OP-01-P71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품목별조회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ItemInq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국외 검색 시</a:t>
                      </a:r>
                      <a:endParaRPr lang="en-US" altLang="ko-KR" sz="800" dirty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/>
                        <a:t>요구년도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품명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 err="1"/>
                        <a:t>재고번호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 err="1"/>
                        <a:t>부품번호로</a:t>
                      </a:r>
                      <a:r>
                        <a:rPr lang="ko-KR" altLang="en-US" sz="800" dirty="0"/>
                        <a:t> 품목을 검색하는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ItemInq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UC-OP-03-01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11362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MUI-OP-01-P72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생산자조회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PrdcrInq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국외 검색 시</a:t>
                      </a:r>
                      <a:endParaRPr lang="en-US" altLang="ko-KR" sz="800" dirty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생산자 목록 코드를 검색하는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BfhdSpcfctDtl_OpnnDtl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UC-OP-03-01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224292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MUI-OP-01-M73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조달계획상세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OvsPrcmPlanDtlPage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국외 조달계획 상세 중 집행계획상세 내용 탭 표시 화면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국내 조달계획 화면과 일부 중복됨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OvsPrcmPlanDtlPage.tsx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320861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MUI-OP-01-M74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결과목록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OvsPrcmPlanDtl_RsltList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국외 조달계획 상세 중 결과 목록 표시 탭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OvsPrcmPlanDtl_RsltList.tsx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855519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MUI-OP-01-P75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품목별가격자료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PrcDataList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조달계획상세조회에서 조회된 항목 중 실적이 있는 항목의 품목별가격자료를 조회하는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PrcDataList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UC-OP-01-01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272877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MUI-OP-01-P76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목록정보조회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형상자료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WarSplList_Cnfg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군수품 목록 중 </a:t>
                      </a:r>
                      <a:r>
                        <a:rPr lang="ko-KR" altLang="en-US" sz="800" dirty="0" err="1"/>
                        <a:t>형상자료</a:t>
                      </a:r>
                      <a:r>
                        <a:rPr lang="ko-KR" altLang="en-US" sz="800" dirty="0"/>
                        <a:t> 정보를 조회하는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WarSplList_Cnfg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UC-OP-03-01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9126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MUI-OP-01-P76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목록정보조회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dirty="0" err="1"/>
                        <a:t>식별자료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WarSplList_Idntf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군수품 목록 중 </a:t>
                      </a:r>
                      <a:r>
                        <a:rPr lang="ko-KR" altLang="en-US" sz="800" dirty="0" err="1"/>
                        <a:t>식별자료</a:t>
                      </a:r>
                      <a:r>
                        <a:rPr lang="ko-KR" altLang="en-US" sz="800" dirty="0"/>
                        <a:t> 정보를 조회하는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WarSplList_Idntf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UC-OP-03-01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815226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MUI-OP-01-P76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목록정보조회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dirty="0"/>
                        <a:t>참고자료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WarSplList_Ref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군수품 목록 중 참고자료 정보를 조회하는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WarSplList_Ref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UC-OP-03-01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836672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5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MUI-OP-01-P77</a:t>
                      </a:r>
                      <a:endParaRPr lang="en-US" sz="75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목록정보조회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업체정보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WarSplList_BzEnty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군수품 </a:t>
                      </a:r>
                      <a:r>
                        <a:rPr lang="ko-KR" altLang="en-US" sz="800" dirty="0" err="1"/>
                        <a:t>형상자료의</a:t>
                      </a:r>
                      <a:r>
                        <a:rPr lang="ko-KR" altLang="en-US" sz="800" dirty="0"/>
                        <a:t> 업체정보 </a:t>
                      </a:r>
                      <a:r>
                        <a:rPr lang="ko-KR" altLang="en-US" sz="800" dirty="0" err="1"/>
                        <a:t>팝업화면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/biz/op/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ovsPrcmPlanDtl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WarSplList_BzEnty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UC-OP-03-01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7552346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5482411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53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2.2. </a:t>
            </a:r>
            <a:r>
              <a:rPr lang="ko-KR" altLang="en-US" dirty="0"/>
              <a:t>화면 흐름도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6608" y="1628964"/>
            <a:ext cx="900000" cy="2880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조달 계획 목록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256C95A-5B12-C9E0-F2B5-BC9D5BAB5422}"/>
              </a:ext>
            </a:extLst>
          </p:cNvPr>
          <p:cNvGrpSpPr/>
          <p:nvPr/>
        </p:nvGrpSpPr>
        <p:grpSpPr>
          <a:xfrm>
            <a:off x="1228614" y="1682964"/>
            <a:ext cx="237994" cy="316983"/>
            <a:chOff x="4762389" y="1663914"/>
            <a:chExt cx="237994" cy="31698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5003F43-FF09-9E6F-5743-EDAC953723CE}"/>
                </a:ext>
              </a:extLst>
            </p:cNvPr>
            <p:cNvSpPr/>
            <p:nvPr/>
          </p:nvSpPr>
          <p:spPr>
            <a:xfrm>
              <a:off x="4789249" y="1663914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742BB0-8FB4-9410-125F-B3304E0DFFA4}"/>
                </a:ext>
              </a:extLst>
            </p:cNvPr>
            <p:cNvSpPr/>
            <p:nvPr/>
          </p:nvSpPr>
          <p:spPr>
            <a:xfrm>
              <a:off x="4762389" y="1857786"/>
              <a:ext cx="23799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시작</a:t>
              </a:r>
            </a:p>
          </p:txBody>
        </p:sp>
      </p:grp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" idx="6"/>
            <a:endCxn id="6" idx="1"/>
          </p:cNvCxnSpPr>
          <p:nvPr/>
        </p:nvCxnSpPr>
        <p:spPr>
          <a:xfrm>
            <a:off x="1435474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17D047-5413-1F47-3FD7-CCCD3C0C98ED}"/>
              </a:ext>
            </a:extLst>
          </p:cNvPr>
          <p:cNvSpPr/>
          <p:nvPr/>
        </p:nvSpPr>
        <p:spPr>
          <a:xfrm>
            <a:off x="758775" y="1231161"/>
            <a:ext cx="586699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목록</a:t>
            </a:r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</a:rPr>
              <a:t>작성</a:t>
            </a:r>
            <a:r>
              <a:rPr lang="en-US" altLang="ko-KR" sz="1000" b="1" dirty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619C48D-7E22-9D49-50C5-2404458A47CE}"/>
              </a:ext>
            </a:extLst>
          </p:cNvPr>
          <p:cNvSpPr txBox="1"/>
          <p:nvPr/>
        </p:nvSpPr>
        <p:spPr>
          <a:xfrm>
            <a:off x="777742" y="6257756"/>
            <a:ext cx="8640000" cy="269680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marL="87313" lvl="0" indent="-87313" fontAlgn="base" latinLnBrk="0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조달계획 진입 시 조달계획 목록이 먼저 노출되며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검색 필터에서 </a:t>
            </a:r>
            <a:r>
              <a:rPr lang="ko-KR" altLang="en-US" sz="800" kern="0" dirty="0" err="1">
                <a:solidFill>
                  <a:srgbClr val="0000FF"/>
                </a:solidFill>
                <a:latin typeface="+mn-ea"/>
              </a:rPr>
              <a:t>검색유형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조달계획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,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 </a:t>
            </a:r>
            <a:r>
              <a:rPr lang="ko-KR" altLang="en-US" sz="800" kern="0" dirty="0" err="1">
                <a:solidFill>
                  <a:srgbClr val="0000FF"/>
                </a:solidFill>
                <a:latin typeface="+mn-ea"/>
              </a:rPr>
              <a:t>사전규격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연간조달계획</a:t>
            </a:r>
            <a:r>
              <a:rPr lang="en-US" altLang="ko-KR" sz="800" kern="0" dirty="0">
                <a:solidFill>
                  <a:srgbClr val="0000FF"/>
                </a:solidFill>
                <a:latin typeface="+mn-ea"/>
              </a:rPr>
              <a:t>) </a:t>
            </a:r>
            <a:r>
              <a:rPr lang="ko-KR" altLang="en-US" sz="800" kern="0" dirty="0">
                <a:solidFill>
                  <a:srgbClr val="0000FF"/>
                </a:solidFill>
                <a:latin typeface="+mn-ea"/>
              </a:rPr>
              <a:t>을 설정함</a:t>
            </a:r>
          </a:p>
        </p:txBody>
      </p:sp>
      <p:sp>
        <p:nvSpPr>
          <p:cNvPr id="6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1628964"/>
            <a:ext cx="900000" cy="2880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검색 필터</a:t>
            </a: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" idx="3"/>
            <a:endCxn id="69" idx="1"/>
          </p:cNvCxnSpPr>
          <p:nvPr/>
        </p:nvCxnSpPr>
        <p:spPr>
          <a:xfrm>
            <a:off x="3266608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9071415" y="4441277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9100412" y="4233785"/>
            <a:ext cx="180000" cy="180000"/>
            <a:chOff x="5058274" y="2498299"/>
            <a:chExt cx="180000" cy="180000"/>
          </a:xfrm>
        </p:grpSpPr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2934513"/>
            <a:ext cx="900000" cy="2880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조달 계획 상세</a:t>
            </a:r>
          </a:p>
        </p:txBody>
      </p:sp>
      <p:cxnSp>
        <p:nvCxnSpPr>
          <p:cNvPr id="16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3"/>
            <a:endCxn id="162" idx="1"/>
          </p:cNvCxnSpPr>
          <p:nvPr/>
        </p:nvCxnSpPr>
        <p:spPr>
          <a:xfrm>
            <a:off x="3266608" y="1772964"/>
            <a:ext cx="931134" cy="130554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0"/>
            <a:endCxn id="6" idx="0"/>
          </p:cNvCxnSpPr>
          <p:nvPr/>
        </p:nvCxnSpPr>
        <p:spPr>
          <a:xfrm rot="16200000" flipV="1">
            <a:off x="3732175" y="713397"/>
            <a:ext cx="12700" cy="1831134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23C86455-E84C-0CEA-5C6B-05BE50ADCEF5}"/>
              </a:ext>
            </a:extLst>
          </p:cNvPr>
          <p:cNvSpPr/>
          <p:nvPr/>
        </p:nvSpPr>
        <p:spPr>
          <a:xfrm>
            <a:off x="1191585" y="1514853"/>
            <a:ext cx="30777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2816608" y="1261938"/>
            <a:ext cx="1163780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</a:rPr>
              <a:t>검색 반영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연간조달계획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293451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상세내용</a:t>
            </a:r>
          </a:p>
        </p:txBody>
      </p:sp>
      <p:sp>
        <p:nvSpPr>
          <p:cNvPr id="2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품목별 검색</a:t>
            </a:r>
          </a:p>
        </p:txBody>
      </p:sp>
      <p:sp>
        <p:nvSpPr>
          <p:cNvPr id="2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231053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생산자 검색</a:t>
            </a:r>
          </a:p>
        </p:txBody>
      </p:sp>
      <p:sp>
        <p:nvSpPr>
          <p:cNvPr id="3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355606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결과목록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9" idx="3"/>
            <a:endCxn id="24" idx="1"/>
          </p:cNvCxnSpPr>
          <p:nvPr/>
        </p:nvCxnSpPr>
        <p:spPr>
          <a:xfrm>
            <a:off x="5097742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3"/>
            <a:endCxn id="25" idx="1"/>
          </p:cNvCxnSpPr>
          <p:nvPr/>
        </p:nvCxnSpPr>
        <p:spPr>
          <a:xfrm>
            <a:off x="5097742" y="1772964"/>
            <a:ext cx="931134" cy="68157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62" idx="3"/>
            <a:endCxn id="30" idx="1"/>
          </p:cNvCxnSpPr>
          <p:nvPr/>
        </p:nvCxnSpPr>
        <p:spPr>
          <a:xfrm>
            <a:off x="5097742" y="3078513"/>
            <a:ext cx="931134" cy="62155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2366608" y="1918348"/>
            <a:ext cx="20518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</a:rPr>
              <a:t>국외</a:t>
            </a: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162" idx="3"/>
            <a:endCxn id="23" idx="1"/>
          </p:cNvCxnSpPr>
          <p:nvPr/>
        </p:nvCxnSpPr>
        <p:spPr>
          <a:xfrm>
            <a:off x="5097742" y="3078513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4176906"/>
            <a:ext cx="900000" cy="2880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목록정보조회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(</a:t>
            </a:r>
            <a:r>
              <a:rPr lang="ko-KR" altLang="en-US" sz="700" dirty="0" err="1">
                <a:solidFill>
                  <a:schemeClr val="tx1"/>
                </a:solidFill>
              </a:rPr>
              <a:t>군수품목록</a:t>
            </a:r>
            <a:r>
              <a:rPr lang="en-US" altLang="ko-KR" sz="7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7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906059" y="355606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품목별 </a:t>
            </a:r>
            <a:r>
              <a:rPr lang="ko-KR" altLang="en-US" sz="800" dirty="0" err="1">
                <a:solidFill>
                  <a:schemeClr val="tx1"/>
                </a:solidFill>
              </a:rPr>
              <a:t>가격자료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30" idx="3"/>
            <a:endCxn id="77" idx="1"/>
          </p:cNvCxnSpPr>
          <p:nvPr/>
        </p:nvCxnSpPr>
        <p:spPr>
          <a:xfrm>
            <a:off x="6928876" y="3700069"/>
            <a:ext cx="977183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4197742" y="1918348"/>
            <a:ext cx="791883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</a:rPr>
              <a:t>국외 설정 시</a:t>
            </a:r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ko-KR" altLang="en-US" sz="800" dirty="0">
                <a:solidFill>
                  <a:schemeClr val="tx1"/>
                </a:solidFill>
              </a:rPr>
              <a:t>우측 항목 추가됨</a:t>
            </a:r>
          </a:p>
        </p:txBody>
      </p:sp>
      <p:cxnSp>
        <p:nvCxnSpPr>
          <p:cNvPr id="8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3"/>
            <a:endCxn id="65" idx="1"/>
          </p:cNvCxnSpPr>
          <p:nvPr/>
        </p:nvCxnSpPr>
        <p:spPr>
          <a:xfrm>
            <a:off x="3266608" y="1772964"/>
            <a:ext cx="931134" cy="254794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417690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형상자료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9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479515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식별자료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9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541179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참고자료</a:t>
            </a:r>
          </a:p>
        </p:txBody>
      </p:sp>
      <p:cxnSp>
        <p:nvCxnSpPr>
          <p:cNvPr id="99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5" idx="3"/>
            <a:endCxn id="96" idx="1"/>
          </p:cNvCxnSpPr>
          <p:nvPr/>
        </p:nvCxnSpPr>
        <p:spPr>
          <a:xfrm>
            <a:off x="5097742" y="4320906"/>
            <a:ext cx="931134" cy="61824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5" idx="3"/>
            <a:endCxn id="94" idx="1"/>
          </p:cNvCxnSpPr>
          <p:nvPr/>
        </p:nvCxnSpPr>
        <p:spPr>
          <a:xfrm>
            <a:off x="5097742" y="4320906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5" idx="3"/>
            <a:endCxn id="97" idx="1"/>
          </p:cNvCxnSpPr>
          <p:nvPr/>
        </p:nvCxnSpPr>
        <p:spPr>
          <a:xfrm>
            <a:off x="5097742" y="4320906"/>
            <a:ext cx="931134" cy="123488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4197742" y="4479561"/>
            <a:ext cx="791883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</a:rPr>
              <a:t>상세 탭으로 구성</a:t>
            </a:r>
          </a:p>
        </p:txBody>
      </p:sp>
      <p:cxnSp>
        <p:nvCxnSpPr>
          <p:cNvPr id="10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3" idx="3"/>
            <a:endCxn id="158" idx="0"/>
          </p:cNvCxnSpPr>
          <p:nvPr/>
        </p:nvCxnSpPr>
        <p:spPr>
          <a:xfrm>
            <a:off x="6928876" y="3078513"/>
            <a:ext cx="2261536" cy="115527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77" idx="3"/>
            <a:endCxn id="158" idx="0"/>
          </p:cNvCxnSpPr>
          <p:nvPr/>
        </p:nvCxnSpPr>
        <p:spPr>
          <a:xfrm>
            <a:off x="8806059" y="3700069"/>
            <a:ext cx="384353" cy="53371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96" idx="3"/>
            <a:endCxn id="158" idx="2"/>
          </p:cNvCxnSpPr>
          <p:nvPr/>
        </p:nvCxnSpPr>
        <p:spPr>
          <a:xfrm flipV="1">
            <a:off x="6928876" y="4323785"/>
            <a:ext cx="2171536" cy="615367"/>
          </a:xfrm>
          <a:prstGeom prst="bentConnector3">
            <a:avLst>
              <a:gd name="adj1" fmla="val 9270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97" idx="3"/>
            <a:endCxn id="158" idx="2"/>
          </p:cNvCxnSpPr>
          <p:nvPr/>
        </p:nvCxnSpPr>
        <p:spPr>
          <a:xfrm flipV="1">
            <a:off x="6928876" y="4323785"/>
            <a:ext cx="2171536" cy="1232007"/>
          </a:xfrm>
          <a:prstGeom prst="bentConnector3">
            <a:avLst>
              <a:gd name="adj1" fmla="val 9270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4" idx="3"/>
            <a:endCxn id="51" idx="1"/>
          </p:cNvCxnSpPr>
          <p:nvPr/>
        </p:nvCxnSpPr>
        <p:spPr>
          <a:xfrm>
            <a:off x="6928876" y="4320906"/>
            <a:ext cx="977183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4197742" y="3234633"/>
            <a:ext cx="1202252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</a:rPr>
              <a:t>국외 조달판단내역인 경우</a:t>
            </a:r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ko-KR" altLang="en-US" sz="800" dirty="0">
                <a:solidFill>
                  <a:schemeClr val="tx1"/>
                </a:solidFill>
              </a:rPr>
              <a:t>상세 화면 </a:t>
            </a:r>
            <a:r>
              <a:rPr lang="ko-KR" altLang="en-US" sz="800" dirty="0" err="1">
                <a:solidFill>
                  <a:schemeClr val="tx1"/>
                </a:solidFill>
              </a:rPr>
              <a:t>변경표시</a:t>
            </a:r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ko-KR" altLang="en-US" sz="800" dirty="0">
                <a:solidFill>
                  <a:schemeClr val="tx1"/>
                </a:solidFill>
              </a:rPr>
              <a:t>상세 탭으로 구성</a:t>
            </a:r>
          </a:p>
        </p:txBody>
      </p:sp>
      <p:sp>
        <p:nvSpPr>
          <p:cNvPr id="5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906059" y="417690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업체정보</a:t>
            </a:r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51" idx="3"/>
            <a:endCxn id="158" idx="2"/>
          </p:cNvCxnSpPr>
          <p:nvPr/>
        </p:nvCxnSpPr>
        <p:spPr>
          <a:xfrm>
            <a:off x="8806059" y="4320906"/>
            <a:ext cx="294353" cy="287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36168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54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2.3 </a:t>
            </a:r>
            <a:r>
              <a:rPr lang="ko-KR" altLang="en-US" dirty="0"/>
              <a:t>앱 구성 다이어그램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265382" y="164413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품목별 검색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ItemInq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265382" y="224445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생산자 검색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PrdcrInq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2844775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조달 계획 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OvsPrcmPlanDtlPage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913418" y="2747194"/>
            <a:ext cx="1727200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/>
              <a:t>조달계획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/>
              <a:t>PrcmPlanController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992582" y="1865266"/>
            <a:ext cx="967509" cy="1124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992582" y="2465584"/>
            <a:ext cx="967509" cy="524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992582" y="2990174"/>
            <a:ext cx="967509" cy="75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12261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445093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결과목록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OvsPrcmPlanDtl_RsltList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045411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품목별가격자료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PrcDataList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645729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목록정보조회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WarSplList_Cnfg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992582" y="2990174"/>
            <a:ext cx="967509" cy="676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992582" y="2990174"/>
            <a:ext cx="967509" cy="1276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992582" y="2990174"/>
            <a:ext cx="967509" cy="1876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5246047"/>
            <a:ext cx="1727200" cy="44225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업체정보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WarSplList_BzEnty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7" idx="3"/>
            <a:endCxn id="9" idx="1"/>
          </p:cNvCxnSpPr>
          <p:nvPr/>
        </p:nvCxnSpPr>
        <p:spPr>
          <a:xfrm flipV="1">
            <a:off x="2992582" y="2990174"/>
            <a:ext cx="967509" cy="2477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901252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input</a:t>
            </a:r>
            <a:r>
              <a:rPr lang="ko-KR" altLang="en-US" dirty="0"/>
              <a:t>으로 포커스 </a:t>
            </a:r>
            <a:r>
              <a:rPr lang="ko-KR" altLang="en-US" dirty="0" err="1"/>
              <a:t>자동이동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가상 </a:t>
            </a:r>
            <a:r>
              <a:rPr lang="ko-KR" altLang="en-US" dirty="0" err="1"/>
              <a:t>키패드</a:t>
            </a:r>
            <a:r>
              <a:rPr lang="ko-KR" altLang="en-US" dirty="0"/>
              <a:t> 활성화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입력이 있는 경우 내용 삭제 아이콘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입력 내용 기반 검색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Like </a:t>
            </a:r>
            <a:r>
              <a:rPr lang="ko-KR" altLang="en-US" dirty="0"/>
              <a:t>검색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검색 버튼 클릭 시 가상 </a:t>
            </a:r>
            <a:r>
              <a:rPr lang="ko-KR" altLang="en-US" dirty="0" err="1"/>
              <a:t>키패드</a:t>
            </a:r>
            <a:r>
              <a:rPr lang="ko-KR" altLang="en-US" dirty="0"/>
              <a:t> 숨김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가상 </a:t>
            </a:r>
            <a:r>
              <a:rPr lang="ko-KR" altLang="en-US" dirty="0" err="1"/>
              <a:t>키패드</a:t>
            </a:r>
            <a:r>
              <a:rPr lang="ko-KR" altLang="en-US" dirty="0"/>
              <a:t> 검색 버튼으로 동일 검색 기능 동작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결과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가상 </a:t>
            </a:r>
            <a:r>
              <a:rPr lang="ko-KR" altLang="en-US" dirty="0" err="1"/>
              <a:t>키패드</a:t>
            </a:r>
            <a:r>
              <a:rPr lang="ko-KR" altLang="en-US" dirty="0"/>
              <a:t> 숨김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타이틀 영역 제외 스크롤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결과 클릭을 통해 검색 필터에 맞는 데이터 반영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진입 조건에 따라 필터에 맞춰 아래 정보 반환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품명 진입 </a:t>
            </a:r>
            <a:r>
              <a:rPr lang="en-US" altLang="ko-KR" dirty="0"/>
              <a:t>-&gt; </a:t>
            </a:r>
            <a:r>
              <a:rPr lang="ko-KR" altLang="en-US" dirty="0"/>
              <a:t>품명 반환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 err="1"/>
              <a:t>재고번호</a:t>
            </a:r>
            <a:r>
              <a:rPr lang="ko-KR" altLang="en-US" dirty="0"/>
              <a:t> 진입 </a:t>
            </a:r>
            <a:r>
              <a:rPr lang="en-US" altLang="ko-KR" dirty="0"/>
              <a:t>-&gt; </a:t>
            </a:r>
            <a:r>
              <a:rPr lang="ko-KR" altLang="en-US" dirty="0" err="1"/>
              <a:t>재고번호</a:t>
            </a:r>
            <a:r>
              <a:rPr lang="ko-KR" altLang="en-US" dirty="0"/>
              <a:t> 반환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 err="1"/>
              <a:t>부품번호</a:t>
            </a:r>
            <a:r>
              <a:rPr lang="ko-KR" altLang="en-US" dirty="0"/>
              <a:t> 진입 </a:t>
            </a:r>
            <a:r>
              <a:rPr lang="en-US" altLang="ko-KR" dirty="0"/>
              <a:t>-&gt; </a:t>
            </a:r>
            <a:r>
              <a:rPr lang="ko-KR" altLang="en-US" dirty="0" err="1"/>
              <a:t>부품번호</a:t>
            </a:r>
            <a:r>
              <a:rPr lang="ko-KR" altLang="en-US" dirty="0"/>
              <a:t> 반환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품목별 검색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국외 검색 시 </a:t>
            </a:r>
            <a:r>
              <a:rPr lang="ko-KR" altLang="en-US" dirty="0" err="1"/>
              <a:t>요구년도</a:t>
            </a:r>
            <a:r>
              <a:rPr lang="en-US" altLang="ko-KR" dirty="0"/>
              <a:t>, </a:t>
            </a:r>
            <a:r>
              <a:rPr lang="ko-KR" altLang="en-US" dirty="0"/>
              <a:t>품명</a:t>
            </a:r>
            <a:r>
              <a:rPr lang="en-US" altLang="ko-KR" dirty="0"/>
              <a:t>, </a:t>
            </a:r>
            <a:r>
              <a:rPr lang="ko-KR" altLang="en-US" dirty="0" err="1"/>
              <a:t>재고번호</a:t>
            </a:r>
            <a:r>
              <a:rPr lang="en-US" altLang="ko-KR" dirty="0"/>
              <a:t>, </a:t>
            </a:r>
            <a:r>
              <a:rPr lang="ko-KR" altLang="en-US" dirty="0" err="1"/>
              <a:t>부품번호로</a:t>
            </a:r>
            <a:r>
              <a:rPr lang="ko-KR" altLang="en-US" dirty="0"/>
              <a:t> 품목을 검색하는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품목별 검색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MUI-OP-01-P71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82" name="그룹 281"/>
          <p:cNvGrpSpPr/>
          <p:nvPr/>
        </p:nvGrpSpPr>
        <p:grpSpPr>
          <a:xfrm>
            <a:off x="6258712" y="1650089"/>
            <a:ext cx="94010" cy="94010"/>
            <a:chOff x="6812560" y="3297172"/>
            <a:chExt cx="94010" cy="94010"/>
          </a:xfrm>
        </p:grpSpPr>
        <p:cxnSp>
          <p:nvCxnSpPr>
            <p:cNvPr id="286" name="직선 연결선 28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7" name="직선 연결선 28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8" name="타원 287"/>
          <p:cNvSpPr/>
          <p:nvPr/>
        </p:nvSpPr>
        <p:spPr>
          <a:xfrm>
            <a:off x="5893434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567792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296" name="양쪽 모서리가 둥근 사각형 295"/>
          <p:cNvSpPr/>
          <p:nvPr/>
        </p:nvSpPr>
        <p:spPr>
          <a:xfrm>
            <a:off x="3795734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97" name="모서리가 둥근 직사각형 296"/>
          <p:cNvSpPr/>
          <p:nvPr/>
        </p:nvSpPr>
        <p:spPr>
          <a:xfrm>
            <a:off x="4881747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98" name="그룹 297"/>
          <p:cNvGrpSpPr/>
          <p:nvPr/>
        </p:nvGrpSpPr>
        <p:grpSpPr>
          <a:xfrm>
            <a:off x="6284673" y="2273335"/>
            <a:ext cx="94010" cy="94010"/>
            <a:chOff x="6812560" y="3297172"/>
            <a:chExt cx="94010" cy="94010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1" name="TextBox 3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품목별 검색</a:t>
            </a:r>
          </a:p>
        </p:txBody>
      </p: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7" name="모서리가 둥근 직사각형 306"/>
          <p:cNvSpPr/>
          <p:nvPr/>
        </p:nvSpPr>
        <p:spPr>
          <a:xfrm>
            <a:off x="4564213" y="2653963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00" dirty="0">
                <a:solidFill>
                  <a:schemeClr val="tx1"/>
                </a:solidFill>
              </a:rPr>
              <a:t>502323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2722276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</p:txBody>
      </p:sp>
      <p:sp>
        <p:nvSpPr>
          <p:cNvPr id="309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888037" y="2987678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5" name="양쪽 모서리가 둥근 사각형 4"/>
          <p:cNvSpPr/>
          <p:nvPr/>
        </p:nvSpPr>
        <p:spPr>
          <a:xfrm>
            <a:off x="675399" y="2416287"/>
            <a:ext cx="2712027" cy="3810875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1761412" y="2452915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51" name="그룹 150"/>
          <p:cNvGrpSpPr/>
          <p:nvPr/>
        </p:nvGrpSpPr>
        <p:grpSpPr>
          <a:xfrm>
            <a:off x="3164338" y="2587331"/>
            <a:ext cx="94010" cy="94010"/>
            <a:chOff x="6812560" y="3297172"/>
            <a:chExt cx="94010" cy="94010"/>
          </a:xfrm>
        </p:grpSpPr>
        <p:cxnSp>
          <p:nvCxnSpPr>
            <p:cNvPr id="152" name="직선 연결선 151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직선 연결선 161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3" name="TextBox 16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568010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품목별 검색</a:t>
            </a:r>
          </a:p>
        </p:txBody>
      </p: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2941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9" name="모서리가 둥근 직사각형 168"/>
          <p:cNvSpPr/>
          <p:nvPr/>
        </p:nvSpPr>
        <p:spPr>
          <a:xfrm>
            <a:off x="1443878" y="3266959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정보를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335272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품명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77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67702" y="4196039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3112794" y="3305245"/>
            <a:ext cx="145884" cy="145882"/>
            <a:chOff x="3112794" y="3984500"/>
            <a:chExt cx="145884" cy="145882"/>
          </a:xfrm>
        </p:grpSpPr>
        <p:sp>
          <p:nvSpPr>
            <p:cNvPr id="310" name="타원 309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11" name="그룹 310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312" name="직선 연결선 31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3" name="직선 연결선 312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314" name="타원 313"/>
          <p:cNvSpPr/>
          <p:nvPr/>
        </p:nvSpPr>
        <p:spPr>
          <a:xfrm>
            <a:off x="6240768" y="2696784"/>
            <a:ext cx="145884" cy="14588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5" name="그룹 314"/>
          <p:cNvGrpSpPr/>
          <p:nvPr/>
        </p:nvGrpSpPr>
        <p:grpSpPr>
          <a:xfrm>
            <a:off x="6284673" y="2740688"/>
            <a:ext cx="58075" cy="58074"/>
            <a:chOff x="6812560" y="3297172"/>
            <a:chExt cx="94010" cy="94010"/>
          </a:xfrm>
        </p:grpSpPr>
        <p:cxnSp>
          <p:nvCxnSpPr>
            <p:cNvPr id="316" name="직선 연결선 31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7" name="직선 연결선 31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18" name="직선 연결선 3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37109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9" name="TextBox 31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478112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000</a:t>
            </a:r>
            <a:r>
              <a:rPr lang="ko-KR" altLang="en-US" sz="700" dirty="0">
                <a:latin typeface="+mn-ea"/>
              </a:rPr>
              <a:t>건</a:t>
            </a:r>
            <a:endParaRPr lang="en-US" altLang="ko-KR" sz="700" dirty="0">
              <a:latin typeface="+mn-ea"/>
            </a:endParaRP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766913"/>
            <a:ext cx="25428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="1" dirty="0">
                <a:latin typeface="+mn-ea"/>
              </a:rPr>
              <a:t>순번</a:t>
            </a:r>
            <a:endParaRPr lang="en-US" altLang="ko-KR" sz="700" b="1" dirty="0">
              <a:latin typeface="+mn-ea"/>
            </a:endParaRP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3766913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="1" dirty="0" err="1">
                <a:latin typeface="+mn-ea"/>
              </a:rPr>
              <a:t>세부정보</a:t>
            </a:r>
            <a:endParaRPr lang="en-US" altLang="ko-KR" sz="700" b="1" dirty="0">
              <a:latin typeface="+mn-ea"/>
            </a:endParaRPr>
          </a:p>
        </p:txBody>
      </p:sp>
      <p:cxnSp>
        <p:nvCxnSpPr>
          <p:cNvPr id="322" name="직선 연결선 32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65365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3" name="직선 연결선 3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97235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4" name="TextBox 3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931496"/>
            <a:ext cx="229051" cy="21544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4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400000"/>
              </a:lnSpc>
            </a:pPr>
            <a:r>
              <a:rPr lang="en-US" altLang="ko-KR" sz="700" dirty="0">
                <a:latin typeface="+mn-ea"/>
              </a:rPr>
              <a:t>2</a:t>
            </a:r>
          </a:p>
          <a:p>
            <a:pPr>
              <a:lnSpc>
                <a:spcPct val="400000"/>
              </a:lnSpc>
            </a:pPr>
            <a:r>
              <a:rPr lang="en-US" altLang="ko-KR" sz="700" dirty="0">
                <a:latin typeface="+mn-ea"/>
              </a:rPr>
              <a:t>3</a:t>
            </a:r>
          </a:p>
          <a:p>
            <a:pPr>
              <a:lnSpc>
                <a:spcPct val="400000"/>
              </a:lnSpc>
            </a:pPr>
            <a:r>
              <a:rPr lang="en-US" altLang="ko-KR" sz="700" dirty="0">
                <a:latin typeface="+mn-ea"/>
              </a:rPr>
              <a:t>4</a:t>
            </a:r>
          </a:p>
          <a:p>
            <a:pPr>
              <a:lnSpc>
                <a:spcPct val="400000"/>
              </a:lnSpc>
            </a:pPr>
            <a:r>
              <a:rPr lang="en-US" altLang="ko-KR" sz="700" dirty="0">
                <a:latin typeface="+mn-ea"/>
              </a:rPr>
              <a:t>5</a:t>
            </a: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4009020"/>
            <a:ext cx="464927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>
                <a:latin typeface="+mn-ea"/>
              </a:rPr>
              <a:t>품명</a:t>
            </a:r>
            <a:endParaRPr lang="en-US" altLang="ko-KR" sz="700" dirty="0">
              <a:latin typeface="+mn-ea"/>
            </a:endParaRPr>
          </a:p>
        </p:txBody>
      </p:sp>
      <p:cxnSp>
        <p:nvCxnSpPr>
          <p:cNvPr id="327" name="직선 연결선 3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442855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9" name="직선 연결선 32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485597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1" name="직선 연결선 3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528338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3" name="직선 연결선 33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571079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35" name="직선 연결선 33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613820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6" name="모서리가 둥근 직사각형 335"/>
          <p:cNvSpPr/>
          <p:nvPr/>
        </p:nvSpPr>
        <p:spPr>
          <a:xfrm rot="5400000">
            <a:off x="5782577" y="3246783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30524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337" name="직사각형 33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7960" y="4506743"/>
            <a:ext cx="2712027" cy="17204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가상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키패드</a:t>
            </a:r>
            <a:r>
              <a:rPr lang="ko-KR" altLang="en-US" dirty="0">
                <a:solidFill>
                  <a:sysClr val="windowText" lastClr="000000"/>
                </a:solidFill>
              </a:rPr>
              <a:t> 영역</a:t>
            </a:r>
          </a:p>
        </p:txBody>
      </p:sp>
      <p:sp>
        <p:nvSpPr>
          <p:cNvPr id="338" name="타원 3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4220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339" name="타원 33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84579" y="344145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340" name="타원 33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84579" y="420382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78" name="모서리가 둥근 직사각형 77"/>
          <p:cNvSpPr/>
          <p:nvPr/>
        </p:nvSpPr>
        <p:spPr>
          <a:xfrm>
            <a:off x="1443878" y="296548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00" dirty="0">
                <a:solidFill>
                  <a:schemeClr val="tx1"/>
                </a:solidFill>
              </a:rPr>
              <a:t>2026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03379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요구년도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solidFill>
                  <a:srgbClr val="FF0000"/>
                </a:solidFill>
                <a:latin typeface="+mn-ea"/>
              </a:rPr>
              <a:t>*</a:t>
            </a:r>
          </a:p>
        </p:txBody>
      </p:sp>
      <p:grpSp>
        <p:nvGrpSpPr>
          <p:cNvPr id="86" name="그룹 85"/>
          <p:cNvGrpSpPr/>
          <p:nvPr/>
        </p:nvGrpSpPr>
        <p:grpSpPr>
          <a:xfrm>
            <a:off x="3112794" y="3070968"/>
            <a:ext cx="91438" cy="45719"/>
            <a:chOff x="6812560" y="3297172"/>
            <a:chExt cx="94010" cy="47005"/>
          </a:xfrm>
        </p:grpSpPr>
        <p:cxnSp>
          <p:nvCxnSpPr>
            <p:cNvPr id="87" name="직선 연결선 86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직선 연결선 87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4" name="모서리가 둥근 직사각형 83"/>
          <p:cNvSpPr/>
          <p:nvPr/>
        </p:nvSpPr>
        <p:spPr>
          <a:xfrm>
            <a:off x="1443878" y="386232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정보를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93063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89" name="그룹 88"/>
          <p:cNvGrpSpPr/>
          <p:nvPr/>
        </p:nvGrpSpPr>
        <p:grpSpPr>
          <a:xfrm>
            <a:off x="3112794" y="3900610"/>
            <a:ext cx="145884" cy="145882"/>
            <a:chOff x="3112794" y="3984500"/>
            <a:chExt cx="145884" cy="145882"/>
          </a:xfrm>
        </p:grpSpPr>
        <p:sp>
          <p:nvSpPr>
            <p:cNvPr id="90" name="타원 89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1" name="그룹 90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92" name="직선 연결선 9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94" name="모서리가 둥근 직사각형 93"/>
          <p:cNvSpPr/>
          <p:nvPr/>
        </p:nvSpPr>
        <p:spPr>
          <a:xfrm>
            <a:off x="1443878" y="3560849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정보를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629162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재고번호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99" name="그룹 98"/>
          <p:cNvGrpSpPr/>
          <p:nvPr/>
        </p:nvGrpSpPr>
        <p:grpSpPr>
          <a:xfrm>
            <a:off x="3112794" y="3600694"/>
            <a:ext cx="145884" cy="145882"/>
            <a:chOff x="3112794" y="3984500"/>
            <a:chExt cx="145884" cy="145882"/>
          </a:xfrm>
        </p:grpSpPr>
        <p:sp>
          <p:nvSpPr>
            <p:cNvPr id="100" name="타원 99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01" name="그룹 100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102" name="직선 연결선 10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4009020"/>
            <a:ext cx="1232093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152302089999</a:t>
            </a: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502323-12542-032</a:t>
            </a: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BELLCOSRA ASSEMBTL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3766913"/>
            <a:ext cx="25428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="1" dirty="0">
                <a:latin typeface="+mn-ea"/>
              </a:rPr>
              <a:t>구분</a:t>
            </a:r>
            <a:endParaRPr lang="en-US" altLang="ko-KR" sz="700" b="1" dirty="0">
              <a:latin typeface="+mn-ea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4448363"/>
            <a:ext cx="464927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>
                <a:latin typeface="+mn-ea"/>
              </a:rPr>
              <a:t>품명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4448363"/>
            <a:ext cx="1232093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152302089999</a:t>
            </a: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502323-12542-032</a:t>
            </a: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BELLCOSRA ASSEMBTL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4872589"/>
            <a:ext cx="464927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>
                <a:latin typeface="+mn-ea"/>
              </a:rPr>
              <a:t>품명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4872589"/>
            <a:ext cx="1232093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152302089999</a:t>
            </a: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502323-12542-032</a:t>
            </a: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BELLCOSRA ASSEMBTL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5303191"/>
            <a:ext cx="464927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>
                <a:latin typeface="+mn-ea"/>
              </a:rPr>
              <a:t>품명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5303191"/>
            <a:ext cx="1232093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152302089999</a:t>
            </a: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502323-12542-032</a:t>
            </a: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BELLCOSRA ASSEMBTL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5727130"/>
            <a:ext cx="464927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>
                <a:latin typeface="+mn-ea"/>
              </a:rPr>
              <a:t>품명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5727130"/>
            <a:ext cx="1232093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152302089999</a:t>
            </a: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502323-12542-032</a:t>
            </a: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BELLCOSRA ASSEMBTL</a:t>
            </a:r>
          </a:p>
        </p:txBody>
      </p:sp>
    </p:spTree>
    <p:extLst>
      <p:ext uri="{BB962C8B-B14F-4D97-AF65-F5344CB8AC3E}">
        <p14:creationId xmlns:p14="http://schemas.microsoft.com/office/powerpoint/2010/main" val="88508272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56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03638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품목 </a:t>
            </a:r>
            <a:r>
              <a:rPr lang="ko-KR" altLang="en-US" sz="900" b="1">
                <a:solidFill>
                  <a:prstClr val="black"/>
                </a:solidFill>
              </a:rPr>
              <a:t>검색조건 </a:t>
            </a:r>
            <a:r>
              <a:rPr lang="en-US" altLang="ko-KR" sz="900" b="1">
                <a:solidFill>
                  <a:prstClr val="black"/>
                </a:solidFill>
              </a:rPr>
              <a:t>(dm_searchInfo)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E9AA4C-D963-36B3-1B0C-BA042EBA36E5}"/>
              </a:ext>
            </a:extLst>
          </p:cNvPr>
          <p:cNvSpPr txBox="1"/>
          <p:nvPr/>
        </p:nvSpPr>
        <p:spPr>
          <a:xfrm>
            <a:off x="458117" y="4150656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271CA1-8B7B-01B8-8587-605BE3417C65}"/>
              </a:ext>
            </a:extLst>
          </p:cNvPr>
          <p:cNvSpPr txBox="1"/>
          <p:nvPr/>
        </p:nvSpPr>
        <p:spPr>
          <a:xfrm>
            <a:off x="458117" y="2413313"/>
            <a:ext cx="220309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검색결과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(dl_resultList)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rqtYmd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품목의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선택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품목의 품명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invtNo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품목의 재고번호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prtsNo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품목의 부품번호 입력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959800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89E1827E-1988-380A-F9F3-3955A79B0FE9}"/>
              </a:ext>
            </a:extLst>
          </p:cNvPr>
          <p:cNvGraphicFramePr>
            <a:graphicFrameLocks noGrp="1"/>
          </p:cNvGraphicFramePr>
          <p:nvPr/>
        </p:nvGraphicFramePr>
        <p:xfrm>
          <a:off x="453000" y="4428787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scwin.onpageload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요구년도를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당해년도로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 클릭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scwin.btn_search_onclick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검색조건에 맞는 품목 목록을 조회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1551911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FC692424-6A27-FF04-83B1-DBDD428A585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630011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endParaRPr lang="en-US" altLang="ko-KR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invtNo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품목의 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prtsNo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품목의 부품번호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품목의 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0155448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459B811C-7C6D-9F89-9354-C41CD9BE8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8032433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input</a:t>
            </a:r>
            <a:r>
              <a:rPr lang="ko-KR" altLang="en-US" dirty="0"/>
              <a:t>으로 포커스 </a:t>
            </a:r>
            <a:r>
              <a:rPr lang="ko-KR" altLang="en-US" dirty="0" err="1"/>
              <a:t>자동이동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가상 </a:t>
            </a:r>
            <a:r>
              <a:rPr lang="ko-KR" altLang="en-US" dirty="0" err="1"/>
              <a:t>키패드</a:t>
            </a:r>
            <a:r>
              <a:rPr lang="ko-KR" altLang="en-US" dirty="0"/>
              <a:t> 활성화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입력이 있는 경우 내용 삭제 아이콘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입력 내용 기반 검색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Like </a:t>
            </a:r>
            <a:r>
              <a:rPr lang="ko-KR" altLang="en-US" dirty="0"/>
              <a:t>검색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검색 버튼 클릭 시 가상 </a:t>
            </a:r>
            <a:r>
              <a:rPr lang="ko-KR" altLang="en-US" dirty="0" err="1"/>
              <a:t>키패드</a:t>
            </a:r>
            <a:r>
              <a:rPr lang="ko-KR" altLang="en-US" dirty="0"/>
              <a:t> 숨김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가상 </a:t>
            </a:r>
            <a:r>
              <a:rPr lang="ko-KR" altLang="en-US" dirty="0" err="1"/>
              <a:t>키패드</a:t>
            </a:r>
            <a:r>
              <a:rPr lang="ko-KR" altLang="en-US" dirty="0"/>
              <a:t> 검색 버튼으로 동일 검색 기능 동작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결과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가상 </a:t>
            </a:r>
            <a:r>
              <a:rPr lang="ko-KR" altLang="en-US" dirty="0" err="1"/>
              <a:t>키패드</a:t>
            </a:r>
            <a:r>
              <a:rPr lang="ko-KR" altLang="en-US" dirty="0"/>
              <a:t> 숨김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타이틀 영역 제외 스크롤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결과 클릭을 통해 검색 필터에 맞는 데이터 반영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생산자 검색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국외 검색 시 생산자 목록 코드를 검색하는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생산자 검색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MUI-OP-01-P72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82" name="그룹 281"/>
          <p:cNvGrpSpPr/>
          <p:nvPr/>
        </p:nvGrpSpPr>
        <p:grpSpPr>
          <a:xfrm>
            <a:off x="6258712" y="1650089"/>
            <a:ext cx="94010" cy="94010"/>
            <a:chOff x="6812560" y="3297172"/>
            <a:chExt cx="94010" cy="94010"/>
          </a:xfrm>
        </p:grpSpPr>
        <p:cxnSp>
          <p:nvCxnSpPr>
            <p:cNvPr id="286" name="직선 연결선 28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7" name="직선 연결선 28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8" name="타원 287"/>
          <p:cNvSpPr/>
          <p:nvPr/>
        </p:nvSpPr>
        <p:spPr>
          <a:xfrm>
            <a:off x="5893434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567792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296" name="양쪽 모서리가 둥근 사각형 295"/>
          <p:cNvSpPr/>
          <p:nvPr/>
        </p:nvSpPr>
        <p:spPr>
          <a:xfrm>
            <a:off x="3795734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97" name="모서리가 둥근 직사각형 296"/>
          <p:cNvSpPr/>
          <p:nvPr/>
        </p:nvSpPr>
        <p:spPr>
          <a:xfrm>
            <a:off x="4881747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98" name="그룹 297"/>
          <p:cNvGrpSpPr/>
          <p:nvPr/>
        </p:nvGrpSpPr>
        <p:grpSpPr>
          <a:xfrm>
            <a:off x="6284673" y="2273335"/>
            <a:ext cx="94010" cy="94010"/>
            <a:chOff x="6812560" y="3297172"/>
            <a:chExt cx="94010" cy="94010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1" name="TextBox 3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생산자 검색</a:t>
            </a:r>
          </a:p>
        </p:txBody>
      </p: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7" name="모서리가 둥근 직사각형 306"/>
          <p:cNvSpPr/>
          <p:nvPr/>
        </p:nvSpPr>
        <p:spPr>
          <a:xfrm>
            <a:off x="4564213" y="2653963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00" dirty="0">
                <a:solidFill>
                  <a:schemeClr val="tx1"/>
                </a:solidFill>
              </a:rPr>
              <a:t>502323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2722276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생산자명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309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888037" y="2987678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5" name="양쪽 모서리가 둥근 사각형 4"/>
          <p:cNvSpPr/>
          <p:nvPr/>
        </p:nvSpPr>
        <p:spPr>
          <a:xfrm>
            <a:off x="675399" y="3310318"/>
            <a:ext cx="2712027" cy="2916846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1761412" y="3346945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51" name="그룹 150"/>
          <p:cNvGrpSpPr/>
          <p:nvPr/>
        </p:nvGrpSpPr>
        <p:grpSpPr>
          <a:xfrm>
            <a:off x="3164338" y="3481361"/>
            <a:ext cx="94010" cy="94010"/>
            <a:chOff x="6812560" y="3297172"/>
            <a:chExt cx="94010" cy="94010"/>
          </a:xfrm>
        </p:grpSpPr>
        <p:cxnSp>
          <p:nvCxnSpPr>
            <p:cNvPr id="152" name="직선 연결선 151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직선 연결선 161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3" name="TextBox 16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462040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생산자 검색</a:t>
            </a:r>
          </a:p>
        </p:txBody>
      </p: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72344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7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67702" y="4196039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314" name="타원 313"/>
          <p:cNvSpPr/>
          <p:nvPr/>
        </p:nvSpPr>
        <p:spPr>
          <a:xfrm>
            <a:off x="6240768" y="2696784"/>
            <a:ext cx="145884" cy="14588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5" name="그룹 314"/>
          <p:cNvGrpSpPr/>
          <p:nvPr/>
        </p:nvGrpSpPr>
        <p:grpSpPr>
          <a:xfrm>
            <a:off x="6284673" y="2740688"/>
            <a:ext cx="58075" cy="58074"/>
            <a:chOff x="6812560" y="3297172"/>
            <a:chExt cx="94010" cy="94010"/>
          </a:xfrm>
        </p:grpSpPr>
        <p:cxnSp>
          <p:nvCxnSpPr>
            <p:cNvPr id="316" name="직선 연결선 31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7" name="직선 연결선 31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18" name="직선 연결선 3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37109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9" name="TextBox 31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478112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000</a:t>
            </a:r>
            <a:r>
              <a:rPr lang="ko-KR" altLang="en-US" sz="700" dirty="0">
                <a:latin typeface="+mn-ea"/>
              </a:rPr>
              <a:t>건</a:t>
            </a:r>
            <a:endParaRPr lang="en-US" altLang="ko-KR" sz="700" dirty="0">
              <a:latin typeface="+mn-ea"/>
            </a:endParaRPr>
          </a:p>
        </p:txBody>
      </p:sp>
      <p:cxnSp>
        <p:nvCxnSpPr>
          <p:cNvPr id="322" name="직선 연결선 32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65365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6" name="모서리가 둥근 직사각형 335"/>
          <p:cNvSpPr/>
          <p:nvPr/>
        </p:nvSpPr>
        <p:spPr>
          <a:xfrm rot="5400000">
            <a:off x="5782577" y="3246783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89934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337" name="직사각형 33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7960" y="4506743"/>
            <a:ext cx="2712027" cy="17204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가상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키패드</a:t>
            </a:r>
            <a:r>
              <a:rPr lang="ko-KR" altLang="en-US" dirty="0">
                <a:solidFill>
                  <a:sysClr val="windowText" lastClr="000000"/>
                </a:solidFill>
              </a:rPr>
              <a:t> 영역</a:t>
            </a:r>
          </a:p>
        </p:txBody>
      </p:sp>
      <p:sp>
        <p:nvSpPr>
          <p:cNvPr id="338" name="타원 33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4220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339" name="타원 33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84579" y="344145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340" name="타원 33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84579" y="420382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84" name="모서리가 둥근 직사각형 83"/>
          <p:cNvSpPr/>
          <p:nvPr/>
        </p:nvSpPr>
        <p:spPr>
          <a:xfrm>
            <a:off x="1443878" y="386232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정보를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93063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생산자명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89" name="그룹 88"/>
          <p:cNvGrpSpPr/>
          <p:nvPr/>
        </p:nvGrpSpPr>
        <p:grpSpPr>
          <a:xfrm>
            <a:off x="3112794" y="3900610"/>
            <a:ext cx="145884" cy="145882"/>
            <a:chOff x="3112794" y="3984500"/>
            <a:chExt cx="145884" cy="145882"/>
          </a:xfrm>
        </p:grpSpPr>
        <p:sp>
          <p:nvSpPr>
            <p:cNvPr id="90" name="타원 89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1" name="그룹 90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92" name="직선 연결선 9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766913"/>
            <a:ext cx="33764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b="1" dirty="0">
                <a:latin typeface="+mn-ea"/>
              </a:rPr>
              <a:t>CAGE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564213" y="3766913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="1" dirty="0" err="1">
                <a:latin typeface="+mn-ea"/>
              </a:rPr>
              <a:t>생산자명</a:t>
            </a:r>
            <a:endParaRPr lang="en-US" altLang="ko-KR" sz="700" b="1" dirty="0">
              <a:latin typeface="+mn-ea"/>
            </a:endParaRPr>
          </a:p>
        </p:txBody>
      </p: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97235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983744"/>
            <a:ext cx="337645" cy="21544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00000</a:t>
            </a:r>
          </a:p>
          <a:p>
            <a:pPr algn="ct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00001</a:t>
            </a:r>
          </a:p>
          <a:p>
            <a:pPr algn="ctr"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 algn="ctr"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 algn="ct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00003</a:t>
            </a:r>
          </a:p>
          <a:p>
            <a:pPr algn="ct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00004</a:t>
            </a:r>
          </a:p>
          <a:p>
            <a:pPr algn="ct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00005</a:t>
            </a:r>
          </a:p>
          <a:p>
            <a:pPr algn="ct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00006</a:t>
            </a:r>
          </a:p>
          <a:p>
            <a:pPr algn="ct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00007</a:t>
            </a:r>
          </a:p>
          <a:p>
            <a:pPr algn="ct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00008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564213" y="3983744"/>
            <a:ext cx="1814470" cy="21544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ORDNANCE CORPS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A B MGC CO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A B C PRODUCTS CO INC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ORDNANCE CORPS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A B MGC CO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A B C PRODUCTS CO INC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ORDNANCE CORPS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A B MGC CO</a:t>
            </a:r>
          </a:p>
        </p:txBody>
      </p: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421484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442855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485597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506967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528338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549709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571079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592450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7747" y="613820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564213" y="4473482"/>
            <a:ext cx="1814470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dirty="0">
                <a:latin typeface="+mn-ea"/>
              </a:rPr>
              <a:t>STOUGHTON YOUTH </a:t>
            </a:r>
            <a:r>
              <a:rPr lang="en-US" altLang="ko-KR" sz="700" dirty="0" err="1">
                <a:latin typeface="+mn-ea"/>
              </a:rPr>
              <a:t>COMMISSION!div</a:t>
            </a:r>
            <a:r>
              <a:rPr lang="en-US" altLang="ko-KR" sz="700" dirty="0">
                <a:latin typeface="+mn-ea"/>
              </a:rPr>
              <a:t> municipal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4581203"/>
            <a:ext cx="33764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00002</a:t>
            </a:r>
          </a:p>
        </p:txBody>
      </p:sp>
    </p:spTree>
    <p:extLst>
      <p:ext uri="{BB962C8B-B14F-4D97-AF65-F5344CB8AC3E}">
        <p14:creationId xmlns:p14="http://schemas.microsoft.com/office/powerpoint/2010/main" val="113253495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58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07966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생산자 </a:t>
            </a:r>
            <a:r>
              <a:rPr lang="ko-KR" altLang="en-US" sz="900" b="1">
                <a:solidFill>
                  <a:prstClr val="black"/>
                </a:solidFill>
              </a:rPr>
              <a:t>검색조건 </a:t>
            </a:r>
            <a:r>
              <a:rPr lang="en-US" altLang="ko-KR" sz="900" b="1">
                <a:solidFill>
                  <a:prstClr val="black"/>
                </a:solidFill>
              </a:rPr>
              <a:t>(dm_searchInfo)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E9AA4C-D963-36B3-1B0C-BA042EBA36E5}"/>
              </a:ext>
            </a:extLst>
          </p:cNvPr>
          <p:cNvSpPr txBox="1"/>
          <p:nvPr/>
        </p:nvSpPr>
        <p:spPr>
          <a:xfrm>
            <a:off x="458117" y="4150656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271CA1-8B7B-01B8-8587-605BE3417C65}"/>
              </a:ext>
            </a:extLst>
          </p:cNvPr>
          <p:cNvSpPr txBox="1"/>
          <p:nvPr/>
        </p:nvSpPr>
        <p:spPr>
          <a:xfrm>
            <a:off x="458117" y="2297489"/>
            <a:ext cx="224316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검색결과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(dl_resultList)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생산자명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prdctnNm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생산자명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89E1827E-1988-380A-F9F3-3955A79B0FE9}"/>
              </a:ext>
            </a:extLst>
          </p:cNvPr>
          <p:cNvGraphicFramePr>
            <a:graphicFrameLocks noGrp="1"/>
          </p:cNvGraphicFramePr>
          <p:nvPr/>
        </p:nvGraphicFramePr>
        <p:xfrm>
          <a:off x="453000" y="4428787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scwin.onpageload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 초기화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scwin.btn_search_onclick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검색조건에 맞는 생산자 목록 조회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0989148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FC692424-6A27-FF04-83B1-DBDD428A585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514187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CAGE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cage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생산자코드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생산자명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prdctnNm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생산자명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C0D61993-505C-4C71-9A36-4C847A523E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2966106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조달계획 통합목록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</a:t>
            </a:r>
            <a:r>
              <a:rPr lang="ko-KR" altLang="en-US" dirty="0" err="1"/>
              <a:t>통합목록</a:t>
            </a:r>
            <a:r>
              <a:rPr lang="ko-KR" altLang="en-US" dirty="0"/>
              <a:t> 화면 </a:t>
            </a:r>
            <a:r>
              <a:rPr lang="en-US" altLang="ko-KR" dirty="0"/>
              <a:t>- </a:t>
            </a:r>
            <a:r>
              <a:rPr lang="ko-KR" altLang="en-US" dirty="0"/>
              <a:t>조달계획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조달계획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조달계획 </a:t>
            </a:r>
            <a:r>
              <a:rPr lang="ko-KR" altLang="en-US" sz="800" dirty="0" err="1">
                <a:latin typeface="+mn-ea"/>
              </a:rPr>
              <a:t>통합목록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781461" y="3301466"/>
            <a:ext cx="2473257" cy="1098561"/>
            <a:chOff x="781461" y="2610063"/>
            <a:chExt cx="2473257" cy="1098561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판단번호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6000A</a:t>
              </a:r>
            </a:p>
            <a:p>
              <a:r>
                <a:rPr lang="en-US" altLang="ko-KR" sz="900" b="1" dirty="0"/>
                <a:t>‘26</a:t>
              </a:r>
              <a:r>
                <a:rPr lang="ko-KR" altLang="en-US" sz="900" b="1" dirty="0"/>
                <a:t>년 </a:t>
              </a:r>
              <a:r>
                <a:rPr lang="en-US" altLang="ko-KR" sz="900" b="1" dirty="0"/>
                <a:t>K5</a:t>
              </a:r>
              <a:r>
                <a:rPr lang="ko-KR" altLang="en-US" sz="900" b="1" dirty="0"/>
                <a:t>방독면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발주예정월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계약방법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예산금액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538609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2026-03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화력총괄계약팀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총액제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5" y="2610063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수의계약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422320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778515" y="4600795"/>
            <a:ext cx="2476203" cy="1083172"/>
            <a:chOff x="778515" y="2610063"/>
            <a:chExt cx="2476203" cy="1083172"/>
          </a:xfrm>
        </p:grpSpPr>
        <p:sp>
          <p:nvSpPr>
            <p:cNvPr id="7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판단번호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2026-00590</a:t>
              </a:r>
            </a:p>
            <a:p>
              <a:r>
                <a:rPr lang="en-US" altLang="ko-KR" sz="900" b="1" dirty="0"/>
                <a:t>26-</a:t>
              </a:r>
              <a:r>
                <a:rPr lang="ko-KR" altLang="en-US" sz="900" b="1" dirty="0"/>
                <a:t>평 절개지 복구공사</a:t>
              </a:r>
            </a:p>
          </p:txBody>
        </p:sp>
        <p:sp>
          <p:nvSpPr>
            <p:cNvPr id="75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발주예정월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계약방법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예산금액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472886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제</a:t>
              </a:r>
              <a:r>
                <a:rPr lang="en-US" altLang="ko-KR" sz="600" dirty="0">
                  <a:latin typeface="+mn-ea"/>
                </a:rPr>
                <a:t>9911</a:t>
              </a:r>
              <a:r>
                <a:rPr lang="ko-KR" altLang="en-US" sz="600" dirty="0">
                  <a:latin typeface="+mn-ea"/>
                </a:rPr>
                <a:t>부대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총액제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92,472,000 </a:t>
              </a:r>
              <a:r>
                <a:rPr lang="ko-KR" altLang="en-US" sz="600" dirty="0">
                  <a:latin typeface="+mn-ea"/>
                </a:rPr>
                <a:t>원</a:t>
              </a:r>
            </a:p>
          </p:txBody>
        </p:sp>
        <p:sp>
          <p:nvSpPr>
            <p:cNvPr id="77" name="모서리가 둥근 직사각형 76"/>
            <p:cNvSpPr/>
            <p:nvPr/>
          </p:nvSpPr>
          <p:spPr>
            <a:xfrm>
              <a:off x="778515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공사</a:t>
              </a:r>
            </a:p>
          </p:txBody>
        </p:sp>
        <p:sp>
          <p:nvSpPr>
            <p:cNvPr id="78" name="모서리가 둥근 직사각형 77"/>
            <p:cNvSpPr/>
            <p:nvPr/>
          </p:nvSpPr>
          <p:spPr>
            <a:xfrm>
              <a:off x="1075655" y="2610063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제한경쟁</a:t>
              </a:r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8227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7757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모서리가 둥근 직사각형 79"/>
          <p:cNvSpPr/>
          <p:nvPr/>
        </p:nvSpPr>
        <p:spPr>
          <a:xfrm>
            <a:off x="4614060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914986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용역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521597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86" name="모서리가 둥근 직사각형 85"/>
          <p:cNvSpPr/>
          <p:nvPr/>
        </p:nvSpPr>
        <p:spPr>
          <a:xfrm>
            <a:off x="5519047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국외</a:t>
            </a:r>
          </a:p>
        </p:txBody>
      </p:sp>
      <p:sp>
        <p:nvSpPr>
          <p:cNvPr id="87" name="모서리가 둥근 직사각형 86"/>
          <p:cNvSpPr/>
          <p:nvPr/>
        </p:nvSpPr>
        <p:spPr>
          <a:xfrm>
            <a:off x="431863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전체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45" name="모서리가 둥근 직사각형 144"/>
          <p:cNvSpPr/>
          <p:nvPr/>
        </p:nvSpPr>
        <p:spPr>
          <a:xfrm>
            <a:off x="431863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일반경쟁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141375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계약방법</a:t>
            </a: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477609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지명경쟁</a:t>
            </a:r>
          </a:p>
        </p:txBody>
      </p:sp>
      <p:sp>
        <p:nvSpPr>
          <p:cNvPr id="149" name="모서리가 둥근 직사각형 148"/>
          <p:cNvSpPr/>
          <p:nvPr/>
        </p:nvSpPr>
        <p:spPr>
          <a:xfrm>
            <a:off x="523276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제한경쟁</a:t>
            </a: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569022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복수경쟁</a:t>
            </a:r>
            <a:endParaRPr lang="ko-KR" altLang="en-US" sz="600" dirty="0"/>
          </a:p>
        </p:txBody>
      </p:sp>
      <p:sp>
        <p:nvSpPr>
          <p:cNvPr id="151" name="모서리가 둥근 직사각형 150"/>
          <p:cNvSpPr/>
          <p:nvPr/>
        </p:nvSpPr>
        <p:spPr>
          <a:xfrm>
            <a:off x="6147576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sp>
        <p:nvSpPr>
          <p:cNvPr id="152" name="모서리가 둥근 직사각형 151"/>
          <p:cNvSpPr/>
          <p:nvPr/>
        </p:nvSpPr>
        <p:spPr>
          <a:xfrm>
            <a:off x="4318635" y="5307915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서류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3" name="모서리가 둥근 직사각형 152"/>
          <p:cNvSpPr/>
          <p:nvPr/>
        </p:nvSpPr>
        <p:spPr>
          <a:xfrm>
            <a:off x="5199541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동시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4" name="모서리가 둥근 직사각형 153"/>
          <p:cNvSpPr/>
          <p:nvPr/>
        </p:nvSpPr>
        <p:spPr>
          <a:xfrm>
            <a:off x="5885028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분리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5" name="모서리가 둥근 직사각형 154"/>
          <p:cNvSpPr/>
          <p:nvPr/>
        </p:nvSpPr>
        <p:spPr>
          <a:xfrm>
            <a:off x="4318635" y="5475884"/>
            <a:ext cx="501313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종합낙찰제</a:t>
            </a:r>
            <a:endParaRPr lang="ko-KR" altLang="en-US" sz="600" dirty="0"/>
          </a:p>
        </p:txBody>
      </p:sp>
      <p:sp>
        <p:nvSpPr>
          <p:cNvPr id="157" name="모서리가 둥근 직사각형 156"/>
          <p:cNvSpPr/>
          <p:nvPr/>
        </p:nvSpPr>
        <p:spPr>
          <a:xfrm>
            <a:off x="4876890" y="5475884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전자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8" name="모서리가 둥근 직사각형 157"/>
          <p:cNvSpPr/>
          <p:nvPr/>
        </p:nvSpPr>
        <p:spPr>
          <a:xfrm>
            <a:off x="5767485" y="5475884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역경매</a:t>
            </a:r>
            <a:endParaRPr lang="ko-KR" altLang="en-US" sz="600" dirty="0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4318635" y="5847205"/>
            <a:ext cx="57991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발주기관 전체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853044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발주기관</a:t>
            </a:r>
          </a:p>
        </p:txBody>
      </p:sp>
      <p:sp>
        <p:nvSpPr>
          <p:cNvPr id="163" name="모서리가 둥근 직사각형 162"/>
          <p:cNvSpPr/>
          <p:nvPr/>
        </p:nvSpPr>
        <p:spPr>
          <a:xfrm>
            <a:off x="4946591" y="5847205"/>
            <a:ext cx="47052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방위사업청</a:t>
            </a:r>
            <a:endParaRPr lang="ko-KR" altLang="en-US" sz="600" dirty="0"/>
          </a:p>
        </p:txBody>
      </p:sp>
      <p:sp>
        <p:nvSpPr>
          <p:cNvPr id="164" name="모서리가 둥근 직사각형 163"/>
          <p:cNvSpPr/>
          <p:nvPr/>
        </p:nvSpPr>
        <p:spPr>
          <a:xfrm>
            <a:off x="5462635" y="584720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조달본부</a:t>
            </a:r>
          </a:p>
        </p:txBody>
      </p:sp>
      <p:sp>
        <p:nvSpPr>
          <p:cNvPr id="165" name="모서리가 둥근 직사각형 164"/>
          <p:cNvSpPr/>
          <p:nvPr/>
        </p:nvSpPr>
        <p:spPr>
          <a:xfrm>
            <a:off x="590936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경리단</a:t>
            </a:r>
            <a:endParaRPr lang="ko-KR" altLang="en-US" sz="600" dirty="0"/>
          </a:p>
        </p:txBody>
      </p:sp>
      <p:sp>
        <p:nvSpPr>
          <p:cNvPr id="166" name="모서리가 둥근 직사각형 165"/>
          <p:cNvSpPr/>
          <p:nvPr/>
        </p:nvSpPr>
        <p:spPr>
          <a:xfrm>
            <a:off x="6282921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군수사</a:t>
            </a:r>
            <a:endParaRPr lang="ko-KR" altLang="en-US" sz="600" dirty="0"/>
          </a:p>
        </p:txBody>
      </p:sp>
      <p:sp>
        <p:nvSpPr>
          <p:cNvPr id="167" name="모서리가 둥근 직사각형 166"/>
          <p:cNvSpPr/>
          <p:nvPr/>
        </p:nvSpPr>
        <p:spPr>
          <a:xfrm>
            <a:off x="665814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교육사</a:t>
            </a:r>
          </a:p>
        </p:txBody>
      </p:sp>
      <p:sp>
        <p:nvSpPr>
          <p:cNvPr id="168" name="모서리가 둥근 직사각형 167"/>
          <p:cNvSpPr/>
          <p:nvPr/>
        </p:nvSpPr>
        <p:spPr>
          <a:xfrm>
            <a:off x="4321449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학교</a:t>
            </a:r>
          </a:p>
        </p:txBody>
      </p:sp>
      <p:sp>
        <p:nvSpPr>
          <p:cNvPr id="169" name="모서리가 둥근 직사각형 168"/>
          <p:cNvSpPr/>
          <p:nvPr/>
        </p:nvSpPr>
        <p:spPr>
          <a:xfrm>
            <a:off x="4639917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근지단</a:t>
            </a:r>
            <a:endParaRPr lang="ko-KR" altLang="en-US" sz="600" dirty="0"/>
          </a:p>
        </p:txBody>
      </p:sp>
      <p:sp>
        <p:nvSpPr>
          <p:cNvPr id="170" name="모서리가 둥근 직사각형 169"/>
          <p:cNvSpPr/>
          <p:nvPr/>
        </p:nvSpPr>
        <p:spPr>
          <a:xfrm>
            <a:off x="5025544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군병원</a:t>
            </a:r>
            <a:endParaRPr lang="ko-KR" altLang="en-US" sz="600" dirty="0"/>
          </a:p>
        </p:txBody>
      </p:sp>
      <p:sp>
        <p:nvSpPr>
          <p:cNvPr id="172" name="모서리가 둥근 직사각형 171"/>
          <p:cNvSpPr/>
          <p:nvPr/>
        </p:nvSpPr>
        <p:spPr>
          <a:xfrm>
            <a:off x="5413995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본부</a:t>
            </a:r>
          </a:p>
        </p:txBody>
      </p:sp>
      <p:sp>
        <p:nvSpPr>
          <p:cNvPr id="173" name="모서리가 둥근 직사각형 172"/>
          <p:cNvSpPr/>
          <p:nvPr/>
        </p:nvSpPr>
        <p:spPr>
          <a:xfrm>
            <a:off x="5727123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국방부</a:t>
            </a:r>
            <a:r>
              <a:rPr lang="en-US" altLang="ko-KR" sz="600" dirty="0"/>
              <a:t>-9</a:t>
            </a:r>
            <a:endParaRPr lang="ko-KR" altLang="en-US" sz="600" dirty="0"/>
          </a:p>
        </p:txBody>
      </p:sp>
      <p:sp>
        <p:nvSpPr>
          <p:cNvPr id="174" name="모서리가 둥근 직사각형 173"/>
          <p:cNvSpPr/>
          <p:nvPr/>
        </p:nvSpPr>
        <p:spPr>
          <a:xfrm>
            <a:off x="6198542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국방부</a:t>
            </a:r>
            <a:r>
              <a:rPr lang="en-US" altLang="ko-KR" sz="600" dirty="0"/>
              <a:t>-A</a:t>
            </a:r>
            <a:endParaRPr lang="ko-KR" altLang="en-US" sz="600" dirty="0"/>
          </a:p>
        </p:txBody>
      </p:sp>
      <p:sp>
        <p:nvSpPr>
          <p:cNvPr id="175" name="모서리가 둥근 직사각형 174"/>
          <p:cNvSpPr/>
          <p:nvPr/>
        </p:nvSpPr>
        <p:spPr>
          <a:xfrm>
            <a:off x="6669961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기타</a:t>
            </a:r>
          </a:p>
        </p:txBody>
      </p:sp>
      <p:sp>
        <p:nvSpPr>
          <p:cNvPr id="148" name="모서리가 둥근 직사각형 147"/>
          <p:cNvSpPr/>
          <p:nvPr/>
        </p:nvSpPr>
        <p:spPr>
          <a:xfrm>
            <a:off x="4321056" y="2203671"/>
            <a:ext cx="39399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조달계획</a:t>
            </a:r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4762118" y="220367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사전규격</a:t>
            </a:r>
            <a:endParaRPr lang="ko-KR" altLang="en-US" sz="600" dirty="0"/>
          </a:p>
        </p:txBody>
      </p:sp>
      <p:sp>
        <p:nvSpPr>
          <p:cNvPr id="159" name="모서리가 둥근 직사각형 158"/>
          <p:cNvSpPr/>
          <p:nvPr/>
        </p:nvSpPr>
        <p:spPr>
          <a:xfrm>
            <a:off x="5221341" y="2203671"/>
            <a:ext cx="56515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연간조달계획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209510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검색유형</a:t>
            </a:r>
            <a:endParaRPr lang="ko-KR" altLang="en-US" sz="700" dirty="0">
              <a:latin typeface="+mn-ea"/>
            </a:endParaRPr>
          </a:p>
        </p:txBody>
      </p:sp>
      <p:sp>
        <p:nvSpPr>
          <p:cNvPr id="180" name="모서리가 둥근 직사각형 179"/>
          <p:cNvSpPr/>
          <p:nvPr/>
        </p:nvSpPr>
        <p:spPr>
          <a:xfrm>
            <a:off x="4318635" y="2877159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총액제</a:t>
            </a:r>
            <a:endParaRPr lang="ko-KR" altLang="en-US" sz="600" dirty="0"/>
          </a:p>
        </p:txBody>
      </p:sp>
      <p:sp>
        <p:nvSpPr>
          <p:cNvPr id="181" name="모서리가 둥근 직사각형 180"/>
          <p:cNvSpPr/>
          <p:nvPr/>
        </p:nvSpPr>
        <p:spPr>
          <a:xfrm>
            <a:off x="4695883" y="2878607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단가제</a:t>
            </a:r>
            <a:endParaRPr lang="ko-KR" altLang="en-US" sz="6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입찰구분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79" name="그룹 178"/>
          <p:cNvGrpSpPr/>
          <p:nvPr/>
        </p:nvGrpSpPr>
        <p:grpSpPr>
          <a:xfrm>
            <a:off x="3024315" y="3160671"/>
            <a:ext cx="776938" cy="1131139"/>
            <a:chOff x="3004764" y="2490533"/>
            <a:chExt cx="776938" cy="1131139"/>
          </a:xfrm>
        </p:grpSpPr>
        <p:sp>
          <p:nvSpPr>
            <p:cNvPr id="182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4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0"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10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</a:p>
          </p:txBody>
        </p:sp>
        <p:sp>
          <p:nvSpPr>
            <p:cNvPr id="185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10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lvl="0" latinLnBrk="0">
                <a:lnSpc>
                  <a:spcPct val="180000"/>
                </a:lnSpc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50 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개</a:t>
              </a:r>
            </a:p>
          </p:txBody>
        </p:sp>
        <p:grpSp>
          <p:nvGrpSpPr>
            <p:cNvPr id="186" name="그룹 185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187" name="직선 연결선 186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8" name="직선 연결선 187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89" name="TextBox 18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74722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70668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70668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192" name="그룹 191"/>
          <p:cNvGrpSpPr/>
          <p:nvPr/>
        </p:nvGrpSpPr>
        <p:grpSpPr>
          <a:xfrm>
            <a:off x="3143548" y="2983035"/>
            <a:ext cx="94010" cy="47005"/>
            <a:chOff x="6812560" y="3297172"/>
            <a:chExt cx="94010" cy="47005"/>
          </a:xfrm>
        </p:grpSpPr>
        <p:cxnSp>
          <p:nvCxnSpPr>
            <p:cNvPr id="193" name="직선 연결선 19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4" name="직선 연결선 19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5" name="그룹 194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96" name="모서리가 둥근 직사각형 195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7" name="타원 196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99" name="그룹 198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20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조달명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207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판단번호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200" name="타원 199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201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202" name="타원 201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03" name="그룹 202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204" name="직선 연결선 203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5" name="직선 연결선 20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21015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3550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직사각형 2"/>
          <p:cNvSpPr/>
          <p:nvPr/>
        </p:nvSpPr>
        <p:spPr>
          <a:xfrm>
            <a:off x="476794" y="1260503"/>
            <a:ext cx="6577149" cy="20070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이해를 돕기 위한 화면</a:t>
            </a:r>
          </a:p>
        </p:txBody>
      </p:sp>
    </p:spTree>
    <p:extLst>
      <p:ext uri="{BB962C8B-B14F-4D97-AF65-F5344CB8AC3E}">
        <p14:creationId xmlns:p14="http://schemas.microsoft.com/office/powerpoint/2010/main" val="287559148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타이틀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우측 </a:t>
            </a:r>
            <a:r>
              <a:rPr lang="ko-KR" altLang="en-US" dirty="0" err="1"/>
              <a:t>알림신청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 err="1"/>
              <a:t>공고게시</a:t>
            </a:r>
            <a:r>
              <a:rPr lang="ko-KR" altLang="en-US" dirty="0"/>
              <a:t> </a:t>
            </a:r>
            <a:r>
              <a:rPr lang="ko-KR" altLang="en-US" dirty="0" err="1"/>
              <a:t>알림신청</a:t>
            </a:r>
            <a:r>
              <a:rPr lang="en-US" altLang="ko-KR" dirty="0"/>
              <a:t>)</a:t>
            </a:r>
            <a:r>
              <a:rPr lang="ko-KR" altLang="en-US" dirty="0"/>
              <a:t> 버튼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클릭 시 </a:t>
            </a:r>
            <a:r>
              <a:rPr lang="ko-KR" altLang="en-US" dirty="0" err="1">
                <a:sym typeface="Wingdings" panose="05000000000000000000" pitchFamily="2" charset="2"/>
              </a:rPr>
              <a:t>바텀</a:t>
            </a:r>
            <a:r>
              <a:rPr lang="ko-KR" altLang="en-US" dirty="0">
                <a:sym typeface="Wingdings" panose="05000000000000000000" pitchFamily="2" charset="2"/>
              </a:rPr>
              <a:t> 시트에서 </a:t>
            </a:r>
            <a:r>
              <a:rPr lang="ko-KR" altLang="en-US" dirty="0" err="1">
                <a:sym typeface="Wingdings" panose="05000000000000000000" pitchFamily="2" charset="2"/>
              </a:rPr>
              <a:t>알림신청</a:t>
            </a:r>
            <a:r>
              <a:rPr lang="ko-KR" altLang="en-US" dirty="0">
                <a:sym typeface="Wingdings" panose="05000000000000000000" pitchFamily="2" charset="2"/>
              </a:rPr>
              <a:t> 팝업 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단계표시기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메뉴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상세내용 </a:t>
            </a:r>
            <a:r>
              <a:rPr lang="en-US" altLang="ko-KR" dirty="0"/>
              <a:t>Tab</a:t>
            </a:r>
            <a:r>
              <a:rPr lang="ko-KR" altLang="en-US" dirty="0"/>
              <a:t>은 진입 시 고정 노출</a:t>
            </a:r>
            <a:r>
              <a:rPr lang="en-US" altLang="ko-KR" dirty="0"/>
              <a:t>- </a:t>
            </a:r>
            <a:r>
              <a:rPr lang="ko-KR" altLang="en-US" dirty="0"/>
              <a:t>탭 </a:t>
            </a:r>
            <a:r>
              <a:rPr lang="en-US" altLang="ko-KR" dirty="0"/>
              <a:t>- </a:t>
            </a:r>
            <a:r>
              <a:rPr lang="ko-KR" altLang="en-US" dirty="0"/>
              <a:t>상세내용</a:t>
            </a:r>
            <a:r>
              <a:rPr lang="en-US" altLang="ko-KR" dirty="0"/>
              <a:t>, </a:t>
            </a:r>
            <a:r>
              <a:rPr lang="ko-KR" altLang="en-US" dirty="0" err="1"/>
              <a:t>결과목록</a:t>
            </a:r>
            <a:r>
              <a:rPr lang="ko-KR" altLang="en-US" dirty="0"/>
              <a:t> 순으로 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상세내용에</a:t>
            </a:r>
            <a:r>
              <a:rPr lang="ko-KR" altLang="en-US" dirty="0"/>
              <a:t> 포함된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각 섹션마다 아코디언 기능 사용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상세내용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국외 조달계획 상세 중 집행계획상세 내용 탭 표시 화면 </a:t>
            </a:r>
            <a:r>
              <a:rPr lang="en-US" altLang="ko-KR" dirty="0"/>
              <a:t>/ </a:t>
            </a:r>
            <a:r>
              <a:rPr lang="ko-KR" altLang="en-US" dirty="0"/>
              <a:t>국내 조달계획 화면과 일부 중복됨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MUI-OP-01-M73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조달계획 상세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0851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158410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판단번호</a:t>
            </a:r>
            <a:r>
              <a:rPr lang="ko-KR" altLang="en-US" sz="700" dirty="0"/>
              <a:t> </a:t>
            </a:r>
            <a:r>
              <a:rPr lang="en-US" altLang="ko-KR" sz="700" dirty="0"/>
              <a:t>6000A</a:t>
            </a:r>
          </a:p>
          <a:p>
            <a:r>
              <a:rPr lang="ko-KR" altLang="en-US" sz="900" b="1" dirty="0"/>
              <a:t>‘</a:t>
            </a:r>
            <a:r>
              <a:rPr lang="en-US" altLang="ko-KR" sz="900" b="1" dirty="0"/>
              <a:t>26</a:t>
            </a:r>
            <a:r>
              <a:rPr lang="ko-KR" altLang="en-US" sz="900" b="1" dirty="0"/>
              <a:t>년 </a:t>
            </a:r>
            <a:r>
              <a:rPr lang="en-US" altLang="ko-KR" sz="900" b="1" dirty="0"/>
              <a:t>K5</a:t>
            </a:r>
            <a:r>
              <a:rPr lang="ko-KR" altLang="en-US" sz="900" b="1" dirty="0"/>
              <a:t>방독면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493475"/>
            <a:ext cx="384721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발주예정월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계약방법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예산금액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478086"/>
            <a:ext cx="538609" cy="5361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2026-03</a:t>
            </a:r>
          </a:p>
          <a:p>
            <a:pPr algn="r"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화력총괄계약팀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총액제</a:t>
            </a:r>
            <a:endParaRPr lang="en-US" altLang="ko-KR" sz="600" dirty="0">
              <a:latin typeface="+mn-ea"/>
            </a:endParaRPr>
          </a:p>
          <a:p>
            <a:pPr algn="r"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1974079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국외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6" y="1974079"/>
            <a:ext cx="24555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육군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51256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85380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546317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3577662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659648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0821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3991608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상세내용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3991608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결과목록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208215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3953485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314546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집행계획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4427877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4622031"/>
            <a:ext cx="792000" cy="16102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62203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622031"/>
            <a:ext cx="670770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사업명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구매요청번호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입찰유형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계약방법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공고시기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총예산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품목수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622031"/>
            <a:ext cx="1784088" cy="1508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500MD</a:t>
            </a:r>
            <a:r>
              <a:rPr lang="ko-KR" altLang="en-US" sz="700" dirty="0">
                <a:latin typeface="+mn-ea"/>
              </a:rPr>
              <a:t>부품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BAD839380-001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단가제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일반경쟁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2025-12-21</a:t>
            </a: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$ 126,000.18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100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85313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06684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28055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49425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0796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2167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613537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23376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468520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4802272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17045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299917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15488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98" name="그룹 297"/>
          <p:cNvGrpSpPr/>
          <p:nvPr/>
        </p:nvGrpSpPr>
        <p:grpSpPr>
          <a:xfrm rot="16200000">
            <a:off x="1250697" y="3307709"/>
            <a:ext cx="94010" cy="47005"/>
            <a:chOff x="6812560" y="3297172"/>
            <a:chExt cx="94010" cy="47005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3" name="TextBox 30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604170" y="3277349"/>
            <a:ext cx="4008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입찰</a:t>
            </a:r>
          </a:p>
        </p:txBody>
      </p:sp>
      <p:sp>
        <p:nvSpPr>
          <p:cNvPr id="304" name="타원 303"/>
          <p:cNvSpPr/>
          <p:nvPr/>
        </p:nvSpPr>
        <p:spPr>
          <a:xfrm>
            <a:off x="1404035" y="3237230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459092" y="3277349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310" name="그룹 309"/>
          <p:cNvGrpSpPr/>
          <p:nvPr/>
        </p:nvGrpSpPr>
        <p:grpSpPr>
          <a:xfrm rot="16200000">
            <a:off x="1906808" y="3307709"/>
            <a:ext cx="94010" cy="47005"/>
            <a:chOff x="6812560" y="3297172"/>
            <a:chExt cx="94010" cy="47005"/>
          </a:xfrm>
        </p:grpSpPr>
        <p:cxnSp>
          <p:nvCxnSpPr>
            <p:cNvPr id="311" name="직선 연결선 31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2" name="직선 연결선 31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13" name="그룹 312"/>
          <p:cNvGrpSpPr/>
          <p:nvPr/>
        </p:nvGrpSpPr>
        <p:grpSpPr>
          <a:xfrm rot="16200000">
            <a:off x="2562920" y="3307709"/>
            <a:ext cx="94010" cy="47005"/>
            <a:chOff x="6812560" y="3297172"/>
            <a:chExt cx="94010" cy="47005"/>
          </a:xfrm>
        </p:grpSpPr>
        <p:cxnSp>
          <p:nvCxnSpPr>
            <p:cNvPr id="314" name="직선 연결선 31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5" name="직선 연결선 31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7" name="타원 296"/>
          <p:cNvSpPr/>
          <p:nvPr/>
        </p:nvSpPr>
        <p:spPr>
          <a:xfrm>
            <a:off x="747925" y="3237230"/>
            <a:ext cx="187961" cy="18796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982" y="3277349"/>
            <a:ext cx="7784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51350" y="3277349"/>
            <a:ext cx="3975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조달</a:t>
            </a:r>
          </a:p>
        </p:txBody>
      </p:sp>
      <p:grpSp>
        <p:nvGrpSpPr>
          <p:cNvPr id="21" name="그룹 20"/>
          <p:cNvGrpSpPr/>
          <p:nvPr/>
        </p:nvGrpSpPr>
        <p:grpSpPr>
          <a:xfrm>
            <a:off x="2058749" y="3237230"/>
            <a:ext cx="603798" cy="187961"/>
            <a:chOff x="2058749" y="3237230"/>
            <a:chExt cx="603798" cy="187961"/>
          </a:xfrm>
        </p:grpSpPr>
        <p:grpSp>
          <p:nvGrpSpPr>
            <p:cNvPr id="15" name="그룹 14"/>
            <p:cNvGrpSpPr/>
            <p:nvPr/>
          </p:nvGrpSpPr>
          <p:grpSpPr>
            <a:xfrm>
              <a:off x="2058749" y="3237230"/>
              <a:ext cx="187961" cy="187961"/>
              <a:chOff x="2058749" y="3237230"/>
              <a:chExt cx="187961" cy="187961"/>
            </a:xfrm>
          </p:grpSpPr>
          <p:sp>
            <p:nvSpPr>
              <p:cNvPr id="306" name="타원 305"/>
              <p:cNvSpPr/>
              <p:nvPr/>
            </p:nvSpPr>
            <p:spPr>
              <a:xfrm>
                <a:off x="2058749" y="3237230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113806" y="3277349"/>
                <a:ext cx="77847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>
                    <a:latin typeface="+mn-ea"/>
                  </a:rPr>
                  <a:t>3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27734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2714860" y="3237230"/>
            <a:ext cx="603798" cy="187961"/>
            <a:chOff x="2714860" y="3237230"/>
            <a:chExt cx="603798" cy="187961"/>
          </a:xfrm>
        </p:grpSpPr>
        <p:grpSp>
          <p:nvGrpSpPr>
            <p:cNvPr id="8" name="그룹 7"/>
            <p:cNvGrpSpPr/>
            <p:nvPr/>
          </p:nvGrpSpPr>
          <p:grpSpPr>
            <a:xfrm>
              <a:off x="2714860" y="3237230"/>
              <a:ext cx="187961" cy="187961"/>
              <a:chOff x="2714860" y="3237230"/>
              <a:chExt cx="187961" cy="187961"/>
            </a:xfrm>
          </p:grpSpPr>
          <p:sp>
            <p:nvSpPr>
              <p:cNvPr id="324" name="타원 323"/>
              <p:cNvSpPr/>
              <p:nvPr/>
            </p:nvSpPr>
            <p:spPr>
              <a:xfrm>
                <a:off x="2714860" y="3237230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5" name="TextBox 32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769917" y="3277349"/>
                <a:ext cx="77847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700" dirty="0">
                    <a:latin typeface="+mn-ea"/>
                  </a:rPr>
                  <a:t>4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27734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</p:grpSp>
      <p:sp>
        <p:nvSpPr>
          <p:cNvPr id="181" name="타원 18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95940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3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 err="1">
                <a:solidFill>
                  <a:prstClr val="black"/>
                </a:solidFill>
              </a:rPr>
              <a:t>판단번호</a:t>
            </a:r>
            <a:r>
              <a:rPr lang="ko-KR" altLang="en-US" sz="700" dirty="0">
                <a:solidFill>
                  <a:prstClr val="black"/>
                </a:solidFill>
              </a:rPr>
              <a:t> </a:t>
            </a:r>
            <a:r>
              <a:rPr lang="en-US" altLang="ko-KR" sz="700" dirty="0">
                <a:solidFill>
                  <a:prstClr val="black"/>
                </a:solidFill>
              </a:rPr>
              <a:t>6000A</a:t>
            </a:r>
          </a:p>
          <a:p>
            <a:pPr lvl="0"/>
            <a:r>
              <a:rPr lang="ko-KR" altLang="en-US" sz="900" b="1" dirty="0">
                <a:solidFill>
                  <a:prstClr val="black"/>
                </a:solidFill>
              </a:rPr>
              <a:t>‘</a:t>
            </a:r>
            <a:r>
              <a:rPr lang="en-US" altLang="ko-KR" sz="900" b="1" dirty="0">
                <a:solidFill>
                  <a:prstClr val="black"/>
                </a:solidFill>
              </a:rPr>
              <a:t>26</a:t>
            </a:r>
            <a:r>
              <a:rPr lang="ko-KR" altLang="en-US" sz="900" b="1" dirty="0">
                <a:solidFill>
                  <a:prstClr val="black"/>
                </a:solidFill>
              </a:rPr>
              <a:t>년 </a:t>
            </a:r>
            <a:r>
              <a:rPr lang="en-US" altLang="ko-KR" sz="900" b="1" dirty="0">
                <a:solidFill>
                  <a:prstClr val="black"/>
                </a:solidFill>
              </a:rPr>
              <a:t>K5</a:t>
            </a:r>
            <a:r>
              <a:rPr lang="ko-KR" altLang="en-US" sz="900" b="1" dirty="0">
                <a:solidFill>
                  <a:prstClr val="black"/>
                </a:solidFill>
              </a:rPr>
              <a:t>방독면</a:t>
            </a:r>
          </a:p>
        </p:txBody>
      </p:sp>
      <p:sp>
        <p:nvSpPr>
          <p:cNvPr id="184" name="모서리가 둥근 직사각형 183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국외</a:t>
            </a:r>
          </a:p>
        </p:txBody>
      </p:sp>
      <p:sp>
        <p:nvSpPr>
          <p:cNvPr id="185" name="모서리가 둥근 직사각형 184"/>
          <p:cNvSpPr/>
          <p:nvPr/>
        </p:nvSpPr>
        <p:spPr>
          <a:xfrm>
            <a:off x="4179188" y="1602341"/>
            <a:ext cx="242794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육군</a:t>
            </a:r>
          </a:p>
        </p:txBody>
      </p: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1" name="TextBox 25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84993" y="2573550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집행계획</a:t>
            </a:r>
          </a:p>
        </p:txBody>
      </p:sp>
      <p:grpSp>
        <p:nvGrpSpPr>
          <p:cNvPr id="252" name="그룹 251"/>
          <p:cNvGrpSpPr/>
          <p:nvPr/>
        </p:nvGrpSpPr>
        <p:grpSpPr>
          <a:xfrm flipV="1">
            <a:off x="6247080" y="2686881"/>
            <a:ext cx="94010" cy="47005"/>
            <a:chOff x="6812560" y="3297172"/>
            <a:chExt cx="94010" cy="47005"/>
          </a:xfrm>
        </p:grpSpPr>
        <p:cxnSp>
          <p:nvCxnSpPr>
            <p:cNvPr id="253" name="직선 연결선 25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1" name="직선 연결선 2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2" name="직사각형 261"/>
          <p:cNvSpPr/>
          <p:nvPr/>
        </p:nvSpPr>
        <p:spPr>
          <a:xfrm>
            <a:off x="3826115" y="2881035"/>
            <a:ext cx="792000" cy="2369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88103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4" name="TextBox 26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3179" y="2881035"/>
            <a:ext cx="670770" cy="2369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사업명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구매요청번호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입찰유형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계약방법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공고시기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총예산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품목수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집행예정월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담당부서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담당자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연락처</a:t>
            </a:r>
            <a:endParaRPr lang="en-US" altLang="ko-KR" sz="700" dirty="0">
              <a:latin typeface="+mn-ea"/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0028" y="2881035"/>
            <a:ext cx="1784650" cy="23698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500MD</a:t>
            </a:r>
            <a:r>
              <a:rPr lang="ko-KR" altLang="en-US" sz="700" dirty="0">
                <a:latin typeface="+mn-ea"/>
              </a:rPr>
              <a:t>부품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BAD839380-001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단가제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일반경쟁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2025-12-21</a:t>
            </a: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$ 126,000.18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2025-06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국제부품계약팀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정영금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9900-9999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11214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32584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53955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75326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1" name="직선 연결선 28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96696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2" name="모서리가 둥근 직사각형 281"/>
          <p:cNvSpPr/>
          <p:nvPr/>
        </p:nvSpPr>
        <p:spPr>
          <a:xfrm rot="5400000">
            <a:off x="6098765" y="3126805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cxnSp>
        <p:nvCxnSpPr>
          <p:cNvPr id="319" name="직선 연결선 3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533586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1" name="타원 170"/>
          <p:cNvSpPr/>
          <p:nvPr/>
        </p:nvSpPr>
        <p:spPr>
          <a:xfrm>
            <a:off x="2704841" y="1957671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모서리가 둥근 직사각형 171"/>
          <p:cNvSpPr/>
          <p:nvPr/>
        </p:nvSpPr>
        <p:spPr>
          <a:xfrm>
            <a:off x="2848841" y="1974079"/>
            <a:ext cx="395042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알림신청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175" name="타원 174"/>
          <p:cNvSpPr/>
          <p:nvPr/>
        </p:nvSpPr>
        <p:spPr>
          <a:xfrm>
            <a:off x="5852678" y="1584603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6" name="모서리가 둥근 직사각형 175"/>
          <p:cNvSpPr/>
          <p:nvPr/>
        </p:nvSpPr>
        <p:spPr>
          <a:xfrm>
            <a:off x="5996678" y="1601011"/>
            <a:ext cx="395042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알림신청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3827360" y="2211584"/>
            <a:ext cx="2626449" cy="254730"/>
            <a:chOff x="3821140" y="2217804"/>
            <a:chExt cx="2626449" cy="254730"/>
          </a:xfrm>
        </p:grpSpPr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4819" y="2255927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>
                  <a:latin typeface="+mn-ea"/>
                </a:rPr>
                <a:t>상세내용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19195" y="2255927"/>
              <a:ext cx="4477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결과목록</a:t>
              </a:r>
              <a:endParaRPr lang="ko-KR" altLang="en-US" sz="700" dirty="0">
                <a:latin typeface="+mn-ea"/>
              </a:endParaRPr>
            </a:p>
          </p:txBody>
        </p: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92" name="그룹 191"/>
            <p:cNvGrpSpPr/>
            <p:nvPr/>
          </p:nvGrpSpPr>
          <p:grpSpPr>
            <a:xfrm>
              <a:off x="6024736" y="2217804"/>
              <a:ext cx="422853" cy="187961"/>
              <a:chOff x="3641308" y="2234886"/>
              <a:chExt cx="422853" cy="187961"/>
            </a:xfrm>
          </p:grpSpPr>
          <p:sp>
            <p:nvSpPr>
              <p:cNvPr id="193" name="타원 192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0" name="그룹 199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5" name="직선 연결선 204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연결선 205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1" name="타원 200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2" name="그룹 201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3" name="직선 연결선 20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직선 연결선 20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56" name="그룹 155"/>
          <p:cNvGrpSpPr/>
          <p:nvPr/>
        </p:nvGrpSpPr>
        <p:grpSpPr>
          <a:xfrm rot="5400000">
            <a:off x="3158978" y="3232595"/>
            <a:ext cx="187961" cy="187961"/>
            <a:chOff x="3876200" y="2234886"/>
            <a:chExt cx="187961" cy="187961"/>
          </a:xfrm>
        </p:grpSpPr>
        <p:sp>
          <p:nvSpPr>
            <p:cNvPr id="157" name="타원 15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8" name="그룹 15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59" name="직선 연결선 15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0" name="직선 연결선 15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417728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439098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460469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481840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5" name="직선 연결선 16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503210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525091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00816" y="1336107"/>
            <a:ext cx="247325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스크롤 시 표시 영역 상단 달라붙음 처리 </a:t>
            </a:r>
            <a:r>
              <a:rPr lang="en-US" altLang="ko-KR" sz="700" dirty="0"/>
              <a:t>(sticky)</a:t>
            </a:r>
            <a:endParaRPr lang="ko-KR" altLang="en-US" sz="900" b="1" dirty="0"/>
          </a:p>
        </p:txBody>
      </p:sp>
      <p:sp>
        <p:nvSpPr>
          <p:cNvPr id="149" name="평행 사변형 148"/>
          <p:cNvSpPr/>
          <p:nvPr/>
        </p:nvSpPr>
        <p:spPr>
          <a:xfrm rot="16200000" flipH="1">
            <a:off x="3105747" y="1776324"/>
            <a:ext cx="971670" cy="408309"/>
          </a:xfrm>
          <a:prstGeom prst="parallelogram">
            <a:avLst>
              <a:gd name="adj" fmla="val 8680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0" name="평행 사변형 149"/>
          <p:cNvSpPr/>
          <p:nvPr/>
        </p:nvSpPr>
        <p:spPr>
          <a:xfrm rot="16200000" flipH="1">
            <a:off x="2546937" y="2975673"/>
            <a:ext cx="2089292" cy="408308"/>
          </a:xfrm>
          <a:prstGeom prst="parallelogram">
            <a:avLst>
              <a:gd name="adj" fmla="val 42262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2" name="타원 33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260718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90284096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결과목록</a:t>
            </a:r>
            <a:r>
              <a:rPr lang="ko-KR" altLang="en-US" dirty="0"/>
              <a:t>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재고번호</a:t>
            </a:r>
            <a:r>
              <a:rPr lang="ko-KR" altLang="en-US" dirty="0"/>
              <a:t> 클릭 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>
                <a:sym typeface="Wingdings" panose="05000000000000000000" pitchFamily="2" charset="2"/>
              </a:rPr>
              <a:t>실적이 있는 경우 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   </a:t>
            </a:r>
            <a:r>
              <a:rPr lang="en-US" altLang="ko-KR" dirty="0"/>
              <a:t>(MUI-OP-01-P75) </a:t>
            </a:r>
            <a:r>
              <a:rPr lang="ko-KR" altLang="en-US" dirty="0"/>
              <a:t>품목별가격자료조회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그 외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(MUI-OP-01-P76) </a:t>
            </a:r>
            <a:r>
              <a:rPr lang="ko-KR" altLang="en-US" dirty="0"/>
              <a:t>목록정보조회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추가 목록 로드 버튼</a:t>
            </a:r>
          </a:p>
          <a:p>
            <a:pPr marL="228600" indent="-228600"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결과목록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국외 조달계획 상세 중 결과 목록 표시 탭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결과목록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MUI-OP-01-M74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527996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spc="-52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결과 목록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57" name="그룹 156"/>
          <p:cNvGrpSpPr/>
          <p:nvPr/>
        </p:nvGrpSpPr>
        <p:grpSpPr>
          <a:xfrm flipV="1">
            <a:off x="3124233" y="1641327"/>
            <a:ext cx="94010" cy="47005"/>
            <a:chOff x="6812560" y="3297172"/>
            <a:chExt cx="94010" cy="47005"/>
          </a:xfrm>
        </p:grpSpPr>
        <p:cxnSp>
          <p:nvCxnSpPr>
            <p:cNvPr id="158" name="직선 연결선 15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직선 연결선 15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0" name="직사각형 159"/>
          <p:cNvSpPr/>
          <p:nvPr/>
        </p:nvSpPr>
        <p:spPr>
          <a:xfrm>
            <a:off x="703268" y="2171191"/>
            <a:ext cx="792000" cy="40611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0331" y="2171192"/>
            <a:ext cx="725552" cy="40934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항목번호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실적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품질등급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규격번호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장비부호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장비명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품명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단위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본조수량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당국수량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장국수량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수량합계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지시단가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지시예산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납기기준일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본조납기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당국납기</a:t>
            </a:r>
            <a:endParaRPr lang="ko-KR" altLang="en-US" sz="700" dirty="0">
              <a:latin typeface="+mn-ea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47180" y="2171192"/>
            <a:ext cx="1796521" cy="40934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1450012032231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Y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50123-123023-231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B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0000 0000 0000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000 000 000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장비명칭</a:t>
            </a:r>
            <a:r>
              <a:rPr lang="ko-KR" altLang="en-US" sz="700" dirty="0">
                <a:latin typeface="+mn-ea"/>
              </a:rPr>
              <a:t>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품명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EA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</a:t>
            </a: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000,000,000,000 </a:t>
            </a:r>
            <a:r>
              <a:rPr lang="ko-KR" altLang="en-US" sz="700" dirty="0">
                <a:latin typeface="+mn-ea"/>
              </a:rPr>
              <a:t>원</a:t>
            </a:r>
            <a:endParaRPr lang="en-US" altLang="ko-KR" sz="700" dirty="0">
              <a:latin typeface="+mn-ea"/>
            </a:endParaRPr>
          </a:p>
          <a:p>
            <a:pPr algn="r"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000,000,000,000 </a:t>
            </a:r>
            <a:r>
              <a:rPr lang="ko-KR" altLang="en-US" sz="700" dirty="0">
                <a:latin typeface="+mn-ea"/>
              </a:rPr>
              <a:t>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2026-12-31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2026-12-31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2026-12-31</a:t>
            </a:r>
          </a:p>
        </p:txBody>
      </p:sp>
      <p:grpSp>
        <p:nvGrpSpPr>
          <p:cNvPr id="17" name="그룹 16"/>
          <p:cNvGrpSpPr/>
          <p:nvPr/>
        </p:nvGrpSpPr>
        <p:grpSpPr>
          <a:xfrm>
            <a:off x="701175" y="2171192"/>
            <a:ext cx="2630093" cy="3864431"/>
            <a:chOff x="701175" y="1835481"/>
            <a:chExt cx="2630093" cy="3864431"/>
          </a:xfrm>
        </p:grpSpPr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1175" y="1835481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20502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22649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247970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26944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290918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9" name="직선 연결선 16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1175" y="3123921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33386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355340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376814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39853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420007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1175" y="4414815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46295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484429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50590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1175" y="5270432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54851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03268" y="569991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74" name="직사각형 73"/>
          <p:cNvSpPr/>
          <p:nvPr/>
        </p:nvSpPr>
        <p:spPr>
          <a:xfrm>
            <a:off x="3832577" y="1503147"/>
            <a:ext cx="792000" cy="8607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1503147"/>
            <a:ext cx="725552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항목번호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실적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ko-KR" altLang="en-US" sz="700" dirty="0">
              <a:latin typeface="+mn-ea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6489" y="1503147"/>
            <a:ext cx="1796521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1450012032231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Y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50123-123023-231</a:t>
            </a: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0484" y="150314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171788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193262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14736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36210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57684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7" name="타원 5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0133" y="586139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69260" y="183481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98337" y="1928776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000</a:t>
            </a:r>
            <a:r>
              <a:rPr lang="ko-KR" altLang="en-US" sz="700" dirty="0">
                <a:latin typeface="+mn-ea"/>
              </a:rPr>
              <a:t>건</a:t>
            </a:r>
            <a:endParaRPr lang="en-US" altLang="ko-KR" sz="700" dirty="0">
              <a:latin typeface="+mn-ea"/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69260" y="211738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0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3928440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840841" y="1928776"/>
            <a:ext cx="26795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62" name="그룹 61"/>
          <p:cNvGrpSpPr/>
          <p:nvPr/>
        </p:nvGrpSpPr>
        <p:grpSpPr>
          <a:xfrm>
            <a:off x="3143548" y="1958981"/>
            <a:ext cx="94010" cy="47005"/>
            <a:chOff x="6812560" y="3297172"/>
            <a:chExt cx="94010" cy="47005"/>
          </a:xfrm>
        </p:grpSpPr>
        <p:cxnSp>
          <p:nvCxnSpPr>
            <p:cNvPr id="63" name="직선 연결선 6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직선 연결선 6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4" name="사각형: 둥근 모서리 169">
            <a:extLst>
              <a:ext uri="{FF2B5EF4-FFF2-40B4-BE49-F238E27FC236}">
                <a16:creationId xmlns:a16="http://schemas.microsoft.com/office/drawing/2014/main" id="{A28DD831-0E4B-31EE-CB08-9E188754698D}"/>
              </a:ext>
            </a:extLst>
          </p:cNvPr>
          <p:cNvSpPr/>
          <p:nvPr/>
        </p:nvSpPr>
        <p:spPr>
          <a:xfrm>
            <a:off x="2859072" y="2424855"/>
            <a:ext cx="459189" cy="14400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품목보기</a:t>
            </a:r>
            <a:endParaRPr kumimoji="1" lang="en-US" sz="700" kern="0" dirty="0">
              <a:solidFill>
                <a:srgbClr val="0070C0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05" name="사각형: 둥근 모서리 169">
            <a:extLst>
              <a:ext uri="{FF2B5EF4-FFF2-40B4-BE49-F238E27FC236}">
                <a16:creationId xmlns:a16="http://schemas.microsoft.com/office/drawing/2014/main" id="{A28DD831-0E4B-31EE-CB08-9E188754698D}"/>
              </a:ext>
            </a:extLst>
          </p:cNvPr>
          <p:cNvSpPr/>
          <p:nvPr/>
        </p:nvSpPr>
        <p:spPr>
          <a:xfrm>
            <a:off x="6009019" y="1760100"/>
            <a:ext cx="459189" cy="14400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7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품목보기</a:t>
            </a:r>
            <a:endParaRPr kumimoji="1" lang="en-US" sz="700" kern="0" dirty="0">
              <a:solidFill>
                <a:srgbClr val="0070C0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95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90250" y="6257234"/>
            <a:ext cx="2482324" cy="162000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700" kern="0" dirty="0"/>
              <a:t>내역 접기 ↑</a:t>
            </a:r>
            <a:endParaRPr kumimoji="1" lang="en-US" altLang="ko-KR" sz="700" kern="0" dirty="0"/>
          </a:p>
        </p:txBody>
      </p:sp>
      <p:sp>
        <p:nvSpPr>
          <p:cNvPr id="97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946768" y="2395771"/>
            <a:ext cx="2482324" cy="162000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rPr>
              <a:t>내역 </a:t>
            </a:r>
            <a:r>
              <a:rPr kumimoji="1" lang="ko-KR" altLang="en-US" sz="700" kern="0" dirty="0"/>
              <a:t>펼쳐보기 ↓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grpSp>
        <p:nvGrpSpPr>
          <p:cNvPr id="98" name="그룹 97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06" name="직사각형 105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2026-05-27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07" name="직사각형 106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목록 정보가 긴 경우</a:t>
              </a:r>
              <a:r>
                <a:rPr lang="en-US" altLang="ko-KR" sz="700" dirty="0"/>
                <a:t/>
              </a:r>
              <a:br>
                <a:rPr lang="en-US" altLang="ko-KR" sz="700" dirty="0"/>
              </a:br>
              <a:r>
                <a:rPr lang="ko-KR" altLang="en-US" sz="700" dirty="0"/>
                <a:t>내역 접기</a:t>
              </a:r>
              <a:r>
                <a:rPr lang="en-US" altLang="ko-KR" sz="700" dirty="0"/>
                <a:t>, </a:t>
              </a:r>
              <a:r>
                <a:rPr lang="ko-KR" altLang="en-US" sz="700" dirty="0"/>
                <a:t>펼쳐보기 추가</a:t>
              </a:r>
              <a:endParaRPr lang="en-US" altLang="ko-KR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5336650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62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30889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집행계획 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(dm_planInfo)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2327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bizNm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공고의 사업명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구매요청번호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prchsDmndNo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공고의 구매요청번호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231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입찰유형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bidMthd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입찰유형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183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ctrtMthdNm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계약방법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일반경쟁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2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단계경쟁 등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6793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공고시기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pbancPrnmntDt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공고시기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431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총예산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sumBgtAmt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총예산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074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itemQty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2586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집행예정월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implPrnmntMm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집행예정월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24408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담당부서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picDeptNm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방위사업청담당자 부서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3540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picNm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방위사업청담당자 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picTlno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방위사업청담당자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B7B9B617-F611-D7D3-903E-5DD24751A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6331898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63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20309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결과목록 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(dl_resultList)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40723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항목번호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frcptlArtclNo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항목번호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invtNo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0452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prfmncYn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실적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2366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prtsNo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8644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품질등급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inspShpNm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품질등급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894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규격번호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spcfctNo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규격번호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2009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장비부호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aplcnEqpmntCd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장비부호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7665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aplcnEqpmntNm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장비명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9407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5141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unitNm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6467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본조수량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bscbgtQty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본조수량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4794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당국수량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athrtQty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당국수량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5873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장국수량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ltbndQty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장국수량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3104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수량합계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sumQty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수량합계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8197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지시단가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drctnUntprc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지시단가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26280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지시예산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bgtAmt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지시예산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4546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납기기준일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dudtYmd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납기기준일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6553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본조납기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bscbgtDudtYmd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본조납기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0015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당국납기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athrtDudtYmd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당국납기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장국납기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ltbndDudtYmd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품목의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장국납기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459797E5-AE72-9C87-02BB-E756394FF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07445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3754695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64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47653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89E1827E-1988-380A-F9F3-3955A79B0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059919"/>
              </p:ext>
            </p:extLst>
          </p:nvPr>
        </p:nvGraphicFramePr>
        <p:xfrm>
          <a:off x="453000" y="826301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scwin.onpageload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조달계획 상세 정보 조회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  <a:ea typeface="+mn-ea"/>
                        </a:rPr>
                        <a:t>조달계획상세조회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품목목록조회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scwin.grd_list_oncellclick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/>
                        <a:t>실적이 </a:t>
                      </a:r>
                      <a:r>
                        <a:rPr lang="en-US" altLang="ko-KR" sz="800"/>
                        <a:t>‘Y’</a:t>
                      </a:r>
                      <a:r>
                        <a:rPr lang="ko-KR" altLang="en-US" sz="800"/>
                        <a:t>인 경우</a:t>
                      </a:r>
                      <a:r>
                        <a:rPr lang="en-US" altLang="ko-KR" sz="800"/>
                        <a:t>, </a:t>
                      </a:r>
                      <a:r>
                        <a:rPr lang="ko-KR" altLang="en-US" sz="800"/>
                        <a:t>품목별가격자료조회 팝업 호출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/>
                        <a:t>그 외</a:t>
                      </a:r>
                      <a:r>
                        <a:rPr lang="en-US" altLang="ko-KR" sz="800"/>
                        <a:t>, </a:t>
                      </a:r>
                      <a:r>
                        <a:rPr lang="ko-KR" altLang="en-US" sz="800"/>
                        <a:t>목록정보조회 팝업 호출</a:t>
                      </a:r>
                      <a:r>
                        <a:rPr lang="en-US" altLang="ko-KR" sz="800"/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품목별가격자료조회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(MUI-OP-01-P75)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목록정보조회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(MUI-OP-01-P76) 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197490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A86C71F4-383E-B549-D909-8D545131A2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63561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6363219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검색조건 설정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획득 구분 </a:t>
            </a:r>
            <a:r>
              <a:rPr lang="en-US" altLang="ko-KR" dirty="0"/>
              <a:t>: </a:t>
            </a:r>
            <a:r>
              <a:rPr lang="ko-KR" altLang="en-US" dirty="0"/>
              <a:t>전체</a:t>
            </a:r>
            <a:r>
              <a:rPr lang="en-US" altLang="ko-KR" dirty="0"/>
              <a:t>/</a:t>
            </a:r>
            <a:r>
              <a:rPr lang="ko-KR" altLang="en-US" dirty="0" err="1">
                <a:latin typeface="+mn-ea"/>
              </a:rPr>
              <a:t>상업실적사</a:t>
            </a:r>
            <a:r>
              <a:rPr lang="en-US" altLang="ko-KR" dirty="0">
                <a:latin typeface="+mn-ea"/>
              </a:rPr>
              <a:t>/FMS</a:t>
            </a:r>
            <a:r>
              <a:rPr lang="ko-KR" altLang="en-US" dirty="0" err="1">
                <a:latin typeface="+mn-ea"/>
              </a:rPr>
              <a:t>실적가</a:t>
            </a:r>
            <a:r>
              <a:rPr lang="en-US" altLang="ko-KR" dirty="0">
                <a:latin typeface="+mn-ea"/>
              </a:rPr>
              <a:t>/BOA</a:t>
            </a:r>
            <a:r>
              <a:rPr lang="ko-KR" altLang="en-US" dirty="0">
                <a:latin typeface="+mn-ea"/>
              </a:rPr>
              <a:t>청구가</a:t>
            </a:r>
            <a:r>
              <a:rPr lang="en-US" altLang="ko-KR" dirty="0">
                <a:latin typeface="+mn-ea"/>
              </a:rPr>
              <a:t>/CSP</a:t>
            </a:r>
            <a:r>
              <a:rPr lang="ko-KR" altLang="en-US" dirty="0">
                <a:latin typeface="+mn-ea"/>
              </a:rPr>
              <a:t>구매가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 err="1">
                <a:latin typeface="+mn-ea"/>
              </a:rPr>
              <a:t>업체공표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견적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가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 err="1">
                <a:latin typeface="+mn-ea"/>
              </a:rPr>
              <a:t>무관정보가</a:t>
            </a:r>
            <a:r>
              <a:rPr lang="en-US" altLang="ko-KR" dirty="0">
                <a:latin typeface="+mn-ea"/>
              </a:rPr>
              <a:t/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각 입력 폼은 부분 입력 가능</a:t>
            </a:r>
            <a:r>
              <a:rPr lang="en-US" altLang="ko-KR" dirty="0">
                <a:latin typeface="+mn-ea"/>
              </a:rPr>
              <a:t/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진입 시 </a:t>
            </a:r>
            <a:r>
              <a:rPr lang="ko-KR" altLang="en-US" dirty="0" err="1">
                <a:latin typeface="+mn-ea"/>
              </a:rPr>
              <a:t>군급</a:t>
            </a:r>
            <a:r>
              <a:rPr lang="ko-KR" altLang="en-US" dirty="0">
                <a:latin typeface="+mn-ea"/>
              </a:rPr>
              <a:t> 입력 가능 상태로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가상 </a:t>
            </a:r>
            <a:r>
              <a:rPr lang="ko-KR" altLang="en-US" dirty="0" err="1">
                <a:latin typeface="+mn-ea"/>
              </a:rPr>
              <a:t>키패드</a:t>
            </a:r>
            <a:r>
              <a:rPr lang="ko-KR" altLang="en-US" dirty="0">
                <a:latin typeface="+mn-ea"/>
              </a:rPr>
              <a:t> 활성화</a:t>
            </a:r>
            <a:r>
              <a:rPr lang="en-US" altLang="ko-KR" dirty="0">
                <a:latin typeface="+mn-ea"/>
              </a:rPr>
              <a:t/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진입 이전 정보가 있는 경우 해당 정보 입력 후 검색 결과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검색결과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항목 클릭 없음</a:t>
            </a:r>
            <a:r>
              <a:rPr lang="en-US" altLang="ko-KR" dirty="0"/>
              <a:t>.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품목별 </a:t>
            </a:r>
            <a:r>
              <a:rPr lang="ko-KR" altLang="en-US" dirty="0" err="1">
                <a:latin typeface="+mn-ea"/>
              </a:rPr>
              <a:t>가격자료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조달계획상세조회에서 조회된 항목 중 실적이 있는 항목의 품목별가격자료를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/>
              <a:t>조달 계획 </a:t>
            </a:r>
            <a:r>
              <a:rPr lang="en-US" altLang="ko-KR" dirty="0"/>
              <a:t>&gt; </a:t>
            </a:r>
            <a:r>
              <a:rPr lang="ko-KR" altLang="en-US" dirty="0"/>
              <a:t>상세 조회 </a:t>
            </a:r>
            <a:r>
              <a:rPr lang="en-US" altLang="ko-KR" dirty="0"/>
              <a:t>- </a:t>
            </a:r>
            <a:r>
              <a:rPr lang="ko-KR" altLang="en-US" dirty="0" err="1"/>
              <a:t>결과목록</a:t>
            </a:r>
            <a:r>
              <a:rPr lang="en-US" altLang="ko-KR" dirty="0">
                <a:latin typeface="+mn-ea"/>
              </a:rPr>
              <a:t> &gt; </a:t>
            </a:r>
            <a:r>
              <a:rPr lang="ko-KR" altLang="en-US" dirty="0">
                <a:latin typeface="+mn-ea"/>
              </a:rPr>
              <a:t>품목별가격자료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MUI-OP-01-P75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296" name="양쪽 모서리가 둥근 사각형 295"/>
          <p:cNvSpPr/>
          <p:nvPr/>
        </p:nvSpPr>
        <p:spPr>
          <a:xfrm>
            <a:off x="3795734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97" name="모서리가 둥근 직사각형 296"/>
          <p:cNvSpPr/>
          <p:nvPr/>
        </p:nvSpPr>
        <p:spPr>
          <a:xfrm>
            <a:off x="4881747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98" name="그룹 297"/>
          <p:cNvGrpSpPr/>
          <p:nvPr/>
        </p:nvGrpSpPr>
        <p:grpSpPr>
          <a:xfrm>
            <a:off x="6284673" y="2273335"/>
            <a:ext cx="94010" cy="94010"/>
            <a:chOff x="6812560" y="3297172"/>
            <a:chExt cx="94010" cy="94010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1" name="TextBox 3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품목별 </a:t>
            </a:r>
            <a:r>
              <a:rPr lang="ko-KR" altLang="en-US" sz="900" dirty="0" err="1">
                <a:latin typeface="+mn-ea"/>
              </a:rPr>
              <a:t>가격자료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9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888037" y="2529936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5" name="양쪽 모서리가 둥근 사각형 4"/>
          <p:cNvSpPr/>
          <p:nvPr/>
        </p:nvSpPr>
        <p:spPr>
          <a:xfrm>
            <a:off x="675399" y="2102291"/>
            <a:ext cx="2712027" cy="4124872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1761412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51" name="그룹 150"/>
          <p:cNvGrpSpPr/>
          <p:nvPr/>
        </p:nvGrpSpPr>
        <p:grpSpPr>
          <a:xfrm>
            <a:off x="3164338" y="2273335"/>
            <a:ext cx="94010" cy="94010"/>
            <a:chOff x="6812560" y="3297172"/>
            <a:chExt cx="94010" cy="94010"/>
          </a:xfrm>
        </p:grpSpPr>
        <p:cxnSp>
          <p:nvCxnSpPr>
            <p:cNvPr id="152" name="직선 연결선 151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직선 연결선 161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3" name="TextBox 16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품목별 </a:t>
            </a:r>
            <a:r>
              <a:rPr lang="ko-KR" altLang="en-US" sz="900" dirty="0" err="1">
                <a:latin typeface="+mn-ea"/>
              </a:rPr>
              <a:t>가격자료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9" name="모서리가 둥근 직사각형 168"/>
          <p:cNvSpPr/>
          <p:nvPr/>
        </p:nvSpPr>
        <p:spPr>
          <a:xfrm>
            <a:off x="1443878" y="296443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정보를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03274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군급</a:t>
            </a:r>
            <a:endParaRPr lang="en-US" altLang="ko-KR" sz="700" dirty="0">
              <a:latin typeface="+mn-ea"/>
            </a:endParaRPr>
          </a:p>
        </p:txBody>
      </p:sp>
      <p:sp>
        <p:nvSpPr>
          <p:cNvPr id="177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67702" y="4196039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3112794" y="3002720"/>
            <a:ext cx="145884" cy="145882"/>
            <a:chOff x="3112794" y="3984500"/>
            <a:chExt cx="145884" cy="145882"/>
          </a:xfrm>
        </p:grpSpPr>
        <p:sp>
          <p:nvSpPr>
            <p:cNvPr id="310" name="타원 309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11" name="그룹 310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312" name="직선 연결선 31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3" name="직선 연결선 312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18" name="직선 연결선 3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91334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9" name="TextBox 31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020370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000</a:t>
            </a:r>
            <a:r>
              <a:rPr lang="ko-KR" altLang="en-US" sz="700" dirty="0">
                <a:latin typeface="+mn-ea"/>
              </a:rPr>
              <a:t>건</a:t>
            </a:r>
            <a:endParaRPr lang="en-US" altLang="ko-KR" sz="700" dirty="0">
              <a:latin typeface="+mn-ea"/>
            </a:endParaRP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309171"/>
            <a:ext cx="25428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="1" dirty="0">
                <a:latin typeface="+mn-ea"/>
              </a:rPr>
              <a:t>순번</a:t>
            </a:r>
            <a:endParaRPr lang="en-US" altLang="ko-KR" sz="700" b="1" dirty="0">
              <a:latin typeface="+mn-ea"/>
            </a:endParaRP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3309171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="1" dirty="0" err="1">
                <a:latin typeface="+mn-ea"/>
              </a:rPr>
              <a:t>세부정보</a:t>
            </a:r>
            <a:endParaRPr lang="en-US" altLang="ko-KR" sz="700" b="1" dirty="0">
              <a:latin typeface="+mn-ea"/>
            </a:endParaRPr>
          </a:p>
        </p:txBody>
      </p:sp>
      <p:cxnSp>
        <p:nvCxnSpPr>
          <p:cNvPr id="322" name="직선 연결선 32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1959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23" name="직선 연결선 32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51461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4" name="TextBox 3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3810509"/>
            <a:ext cx="2290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1</a:t>
            </a: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3551278"/>
            <a:ext cx="464927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획득구분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획득구분명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군급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NIIN</a:t>
            </a: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30524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337" name="직사각형 33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7960" y="4506743"/>
            <a:ext cx="2712027" cy="17204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가상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키패드</a:t>
            </a:r>
            <a:r>
              <a:rPr lang="ko-KR" altLang="en-US" dirty="0">
                <a:solidFill>
                  <a:sysClr val="windowText" lastClr="000000"/>
                </a:solidFill>
              </a:rPr>
              <a:t> 영역</a:t>
            </a:r>
          </a:p>
        </p:txBody>
      </p:sp>
      <p:sp>
        <p:nvSpPr>
          <p:cNvPr id="339" name="타원 33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84579" y="298371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78" name="모서리가 둥근 직사각형 77"/>
          <p:cNvSpPr/>
          <p:nvPr/>
        </p:nvSpPr>
        <p:spPr>
          <a:xfrm>
            <a:off x="1443878" y="2662959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tx1"/>
                </a:solidFill>
              </a:rPr>
              <a:t>전체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731272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획득구분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solidFill>
                  <a:srgbClr val="FF0000"/>
                </a:solidFill>
                <a:latin typeface="+mn-ea"/>
              </a:rPr>
              <a:t>*</a:t>
            </a:r>
          </a:p>
        </p:txBody>
      </p:sp>
      <p:grpSp>
        <p:nvGrpSpPr>
          <p:cNvPr id="86" name="그룹 85"/>
          <p:cNvGrpSpPr/>
          <p:nvPr/>
        </p:nvGrpSpPr>
        <p:grpSpPr>
          <a:xfrm>
            <a:off x="3112794" y="2768443"/>
            <a:ext cx="91438" cy="45719"/>
            <a:chOff x="6812560" y="3297172"/>
            <a:chExt cx="94010" cy="47005"/>
          </a:xfrm>
        </p:grpSpPr>
        <p:cxnSp>
          <p:nvCxnSpPr>
            <p:cNvPr id="87" name="직선 연결선 86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직선 연결선 87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4" name="모서리가 둥근 직사각형 83"/>
          <p:cNvSpPr/>
          <p:nvPr/>
        </p:nvSpPr>
        <p:spPr>
          <a:xfrm>
            <a:off x="1443878" y="3559799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정보를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628112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89" name="그룹 88"/>
          <p:cNvGrpSpPr/>
          <p:nvPr/>
        </p:nvGrpSpPr>
        <p:grpSpPr>
          <a:xfrm>
            <a:off x="3112794" y="3598085"/>
            <a:ext cx="145884" cy="145882"/>
            <a:chOff x="3112794" y="3984500"/>
            <a:chExt cx="145884" cy="145882"/>
          </a:xfrm>
        </p:grpSpPr>
        <p:sp>
          <p:nvSpPr>
            <p:cNvPr id="90" name="타원 89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1" name="그룹 90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92" name="직선 연결선 9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94" name="모서리가 둥근 직사각형 93"/>
          <p:cNvSpPr/>
          <p:nvPr/>
        </p:nvSpPr>
        <p:spPr>
          <a:xfrm>
            <a:off x="1443878" y="325832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정보를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32663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NIIN</a:t>
            </a:r>
          </a:p>
        </p:txBody>
      </p:sp>
      <p:grpSp>
        <p:nvGrpSpPr>
          <p:cNvPr id="99" name="그룹 98"/>
          <p:cNvGrpSpPr/>
          <p:nvPr/>
        </p:nvGrpSpPr>
        <p:grpSpPr>
          <a:xfrm>
            <a:off x="3112794" y="3298169"/>
            <a:ext cx="145884" cy="145882"/>
            <a:chOff x="3112794" y="3984500"/>
            <a:chExt cx="145884" cy="145882"/>
          </a:xfrm>
        </p:grpSpPr>
        <p:sp>
          <p:nvSpPr>
            <p:cNvPr id="100" name="타원 99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01" name="그룹 100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102" name="직선 연결선 10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3551278"/>
            <a:ext cx="1232093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획득구분</a:t>
            </a:r>
            <a:r>
              <a:rPr lang="ko-KR" altLang="en-US" sz="700" dirty="0">
                <a:latin typeface="+mn-ea"/>
              </a:rPr>
              <a:t>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획득구분명</a:t>
            </a:r>
            <a:r>
              <a:rPr lang="ko-KR" altLang="en-US" sz="700" dirty="0">
                <a:latin typeface="+mn-ea"/>
              </a:rPr>
              <a:t> 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군급</a:t>
            </a:r>
            <a:r>
              <a:rPr lang="ko-KR" altLang="en-US" sz="700" dirty="0">
                <a:latin typeface="+mn-ea"/>
              </a:rPr>
              <a:t> 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NIIN </a:t>
            </a:r>
            <a:r>
              <a:rPr lang="ko-KR" altLang="en-US" sz="700" dirty="0">
                <a:latin typeface="+mn-ea"/>
              </a:rPr>
              <a:t>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r>
              <a:rPr lang="ko-KR" altLang="en-US" sz="700" dirty="0">
                <a:latin typeface="+mn-ea"/>
              </a:rPr>
              <a:t>  표시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3309171"/>
            <a:ext cx="25428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="1" dirty="0">
                <a:latin typeface="+mn-ea"/>
              </a:rPr>
              <a:t>구분</a:t>
            </a:r>
            <a:endParaRPr lang="en-US" altLang="ko-KR" sz="700" b="1" dirty="0">
              <a:latin typeface="+mn-ea"/>
            </a:endParaRPr>
          </a:p>
        </p:txBody>
      </p:sp>
      <p:sp>
        <p:nvSpPr>
          <p:cNvPr id="115" name="모서리가 둥근 직사각형 114"/>
          <p:cNvSpPr/>
          <p:nvPr/>
        </p:nvSpPr>
        <p:spPr>
          <a:xfrm>
            <a:off x="1441835" y="386232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정보를</a:t>
            </a:r>
            <a:r>
              <a:rPr lang="ko-KR" altLang="en-US" sz="700" dirty="0">
                <a:solidFill>
                  <a:schemeClr val="tx1"/>
                </a:solidFill>
              </a:rPr>
              <a:t>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입력해주세요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2433" y="393063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품명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117" name="그룹 116"/>
          <p:cNvGrpSpPr/>
          <p:nvPr/>
        </p:nvGrpSpPr>
        <p:grpSpPr>
          <a:xfrm>
            <a:off x="3110751" y="3900610"/>
            <a:ext cx="145884" cy="145882"/>
            <a:chOff x="3112794" y="3984500"/>
            <a:chExt cx="145884" cy="145882"/>
          </a:xfrm>
        </p:grpSpPr>
        <p:sp>
          <p:nvSpPr>
            <p:cNvPr id="120" name="타원 119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1" name="그룹 120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122" name="직선 연결선 121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4" name="직선 연결선 123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336" name="모서리가 둥근 직사각형 335"/>
          <p:cNvSpPr/>
          <p:nvPr/>
        </p:nvSpPr>
        <p:spPr>
          <a:xfrm rot="5400000">
            <a:off x="5782577" y="3246783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75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946768" y="4270198"/>
            <a:ext cx="2482324" cy="162000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rPr>
              <a:t>내역 </a:t>
            </a:r>
            <a:r>
              <a:rPr kumimoji="1" lang="ko-KR" altLang="en-US" sz="700" kern="0" dirty="0"/>
              <a:t>펼쳐보기 ↓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450674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4830370"/>
            <a:ext cx="22905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67661" y="4571139"/>
            <a:ext cx="464927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획득구분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획득구분명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군급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NIIN</a:t>
            </a: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endParaRPr lang="en-US" altLang="ko-KR" sz="700" dirty="0">
              <a:latin typeface="+mn-ea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120629" y="4571139"/>
            <a:ext cx="1232093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획득구분</a:t>
            </a:r>
            <a:r>
              <a:rPr lang="ko-KR" altLang="en-US" sz="700" dirty="0">
                <a:latin typeface="+mn-ea"/>
              </a:rPr>
              <a:t>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획득구분명</a:t>
            </a:r>
            <a:r>
              <a:rPr lang="ko-KR" altLang="en-US" sz="700" dirty="0">
                <a:latin typeface="+mn-ea"/>
              </a:rPr>
              <a:t> 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군급</a:t>
            </a:r>
            <a:r>
              <a:rPr lang="ko-KR" altLang="en-US" sz="700" dirty="0">
                <a:latin typeface="+mn-ea"/>
              </a:rPr>
              <a:t> 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700" dirty="0">
                <a:latin typeface="+mn-ea"/>
              </a:rPr>
              <a:t>NIIN </a:t>
            </a:r>
            <a:r>
              <a:rPr lang="ko-KR" altLang="en-US" sz="700" dirty="0">
                <a:latin typeface="+mn-ea"/>
              </a:rPr>
              <a:t> 표시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700" dirty="0" err="1">
                <a:latin typeface="+mn-ea"/>
              </a:rPr>
              <a:t>부품번호</a:t>
            </a:r>
            <a:r>
              <a:rPr lang="ko-KR" altLang="en-US" sz="700" dirty="0">
                <a:latin typeface="+mn-ea"/>
              </a:rPr>
              <a:t>  표시</a:t>
            </a:r>
            <a:endParaRPr lang="en-US" altLang="ko-KR" sz="700" dirty="0">
              <a:latin typeface="+mn-ea"/>
            </a:endParaRPr>
          </a:p>
        </p:txBody>
      </p:sp>
      <p:sp>
        <p:nvSpPr>
          <p:cNvPr id="82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946768" y="5290059"/>
            <a:ext cx="2482324" cy="162000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rPr>
              <a:t>내역 </a:t>
            </a:r>
            <a:r>
              <a:rPr kumimoji="1" lang="ko-KR" altLang="en-US" sz="700" kern="0" dirty="0"/>
              <a:t>펼쳐보기 ↓</a:t>
            </a:r>
            <a:endParaRPr kumimoji="1" lang="en-US" sz="7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552660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97" name="그룹 96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98" name="직사각형 97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2026-05-27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03" name="직사각형 102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목록 정보가 긴 경우</a:t>
              </a:r>
              <a:r>
                <a:rPr lang="en-US" altLang="ko-KR" sz="700" dirty="0"/>
                <a:t/>
              </a:r>
              <a:br>
                <a:rPr lang="en-US" altLang="ko-KR" sz="700" dirty="0"/>
              </a:br>
              <a:r>
                <a:rPr lang="ko-KR" altLang="en-US" sz="700" dirty="0"/>
                <a:t>내역 접기</a:t>
              </a:r>
              <a:r>
                <a:rPr lang="en-US" altLang="ko-KR" sz="700" dirty="0"/>
                <a:t>, </a:t>
              </a:r>
              <a:r>
                <a:rPr lang="ko-KR" altLang="en-US" sz="700" dirty="0"/>
                <a:t>펼쳐보기 추가</a:t>
              </a:r>
              <a:endParaRPr lang="en-US" altLang="ko-KR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5132784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66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>
                <a:solidFill>
                  <a:prstClr val="black"/>
                </a:solidFill>
              </a:rPr>
              <a:t>항목 설명 </a:t>
            </a:r>
            <a:r>
              <a:rPr lang="en-US" altLang="ko-KR" sz="1000" b="1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196424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품목 </a:t>
            </a:r>
            <a:r>
              <a:rPr lang="ko-KR" altLang="en-US" sz="900" b="1">
                <a:solidFill>
                  <a:prstClr val="black"/>
                </a:solidFill>
              </a:rPr>
              <a:t>검색조건 </a:t>
            </a:r>
            <a:r>
              <a:rPr lang="en-US" altLang="ko-KR" sz="900" b="1">
                <a:solidFill>
                  <a:prstClr val="black"/>
                </a:solidFill>
              </a:rPr>
              <a:t>(dm_searchInfo)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285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endParaRPr lang="en-US" altLang="ko-KR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획득구분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acqstnTypeCd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획득구분 선택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상업실적사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/FMS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실적가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/BOA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/CSP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업체공표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견적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무관정보가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군급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fsc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군급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NIIN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niin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국가식별코드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입력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prtsNo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부품번호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5822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3286891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D32125D8-8798-15F3-D587-EC3FA42F7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19971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87480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67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>
                <a:solidFill>
                  <a:prstClr val="black"/>
                </a:solidFill>
              </a:rPr>
              <a:t>항목 설명 </a:t>
            </a:r>
            <a:r>
              <a:rPr lang="en-US" altLang="ko-KR" sz="1000" b="1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24316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검색결과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(dl_resultList)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FC692424-6A27-FF04-83B1-DBDD428A585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08475"/>
          <a:ext cx="8994883" cy="44601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검색결과 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0232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획득구분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acqstnTypeCd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획득구분코드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1435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획득구분명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acqstnTypeNm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획득구분명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41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군급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fsc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군급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364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NIIN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niin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국가식별코드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1423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prtsNo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부품번호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0143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unitNm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5652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규격번호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spcfctNo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규격번호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2885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적용장비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aplcnEqpmntCd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적용장비코드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0490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적용장비명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aplcnEqpmntNm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적용장비명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2623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2480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화폐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crncNm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화폐단위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0659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화폐구분명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crncEngNm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 화폐구분명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059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국가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ntnCd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국가코드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565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국가명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ntnNm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국가명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3211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untprc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228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qty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품목 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7713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ctrtYmd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계약서 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업체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bzentyCd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계약서 계약업체 업체명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5234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bzentyNm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계약서 계약업체명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09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획득일자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acqstnYmd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획득일자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5658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계약번호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획득근거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계약번호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획득근거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6591369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206854D4-A859-BBEF-F79F-06C0E5EBA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6395976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68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>
                <a:solidFill>
                  <a:prstClr val="black"/>
                </a:solidFill>
                <a:latin typeface="+mn-ea"/>
              </a:rPr>
              <a:t> 이벤트 설명</a:t>
            </a:r>
            <a:endParaRPr lang="ko-KR" altLang="en-US" sz="10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" name="Text Box 73">
            <a:extLst>
              <a:ext uri="{FF2B5EF4-FFF2-40B4-BE49-F238E27FC236}">
                <a16:creationId xmlns:a16="http://schemas.microsoft.com/office/drawing/2014/main" id="{206854D4-A859-BBEF-F79F-06C0E5EBA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0B12C55-A3B8-F2F0-3E2D-C2777F356FC7}"/>
              </a:ext>
            </a:extLst>
          </p:cNvPr>
          <p:cNvGraphicFramePr>
            <a:graphicFrameLocks noGrp="1"/>
          </p:cNvGraphicFramePr>
          <p:nvPr/>
        </p:nvGraphicFramePr>
        <p:xfrm>
          <a:off x="453000" y="808427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endParaRPr lang="en-US" altLang="ko-KR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scwin.onpageload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검색조건에 맞는 품목별가격자료 조회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scwin.btn_search_onclick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검색조건에 맞는 품목별가격자료 조회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157648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국외 카드 항목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 시 </a:t>
            </a:r>
            <a:r>
              <a:rPr lang="en-US" altLang="ko-KR" dirty="0"/>
              <a:t>MUI-OP-01-P76 </a:t>
            </a:r>
            <a:r>
              <a:rPr lang="ko-KR" altLang="en-US" dirty="0"/>
              <a:t>목록정보조회 </a:t>
            </a:r>
            <a:r>
              <a:rPr lang="en-US" altLang="ko-KR" dirty="0"/>
              <a:t>– </a:t>
            </a:r>
            <a:r>
              <a:rPr lang="ko-KR" altLang="en-US" dirty="0" err="1"/>
              <a:t>형상자료</a:t>
            </a:r>
            <a:r>
              <a:rPr lang="ko-KR" altLang="en-US" dirty="0"/>
              <a:t> </a:t>
            </a:r>
            <a:r>
              <a:rPr lang="ko-KR" altLang="en-US" dirty="0" err="1"/>
              <a:t>풀페이지</a:t>
            </a:r>
            <a:r>
              <a:rPr lang="ko-KR" altLang="en-US" dirty="0"/>
              <a:t> 팝업 표시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조달계획 </a:t>
            </a:r>
            <a:r>
              <a:rPr lang="ko-KR" altLang="en-US" dirty="0" err="1"/>
              <a:t>통합목록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조달계획 </a:t>
            </a:r>
            <a:r>
              <a:rPr lang="ko-KR" altLang="en-US" dirty="0" err="1"/>
              <a:t>통합목록</a:t>
            </a:r>
            <a:r>
              <a:rPr lang="ko-KR" altLang="en-US" dirty="0"/>
              <a:t> 화면 </a:t>
            </a:r>
            <a:r>
              <a:rPr lang="en-US" altLang="ko-KR" dirty="0"/>
              <a:t>- </a:t>
            </a:r>
            <a:r>
              <a:rPr lang="ko-KR" altLang="en-US" dirty="0"/>
              <a:t>연간조달계획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조달계획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MUI-OP-01-M01</a:t>
            </a:r>
            <a:endParaRPr lang="ko-KR" altLang="en-US" dirty="0"/>
          </a:p>
        </p:txBody>
      </p:sp>
      <p:sp>
        <p:nvSpPr>
          <p:cNvPr id="121" name="직사각형 120"/>
          <p:cNvSpPr/>
          <p:nvPr/>
        </p:nvSpPr>
        <p:spPr>
          <a:xfrm>
            <a:off x="476794" y="1260503"/>
            <a:ext cx="6577149" cy="20070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이해를 돕기 위한 화면</a:t>
            </a: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조달계획 </a:t>
            </a:r>
            <a:r>
              <a:rPr lang="ko-KR" altLang="en-US" sz="800" dirty="0" err="1">
                <a:latin typeface="+mn-ea"/>
              </a:rPr>
              <a:t>통합목록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39" name="그룹 138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140" name="직선 연결선 13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직선 연결선 14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2" name="타원 141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3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144" name="그룹 143"/>
          <p:cNvGrpSpPr/>
          <p:nvPr/>
        </p:nvGrpSpPr>
        <p:grpSpPr>
          <a:xfrm>
            <a:off x="781461" y="3311149"/>
            <a:ext cx="2473257" cy="1098561"/>
            <a:chOff x="781461" y="2610063"/>
            <a:chExt cx="2473257" cy="1098561"/>
          </a:xfrm>
        </p:grpSpPr>
        <p:sp>
          <p:nvSpPr>
            <p:cNvPr id="171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조달요구번호 </a:t>
              </a:r>
              <a:r>
                <a:rPr lang="en-US" altLang="ko-KR" sz="700" dirty="0"/>
                <a:t>ABCD1234</a:t>
              </a:r>
            </a:p>
            <a:p>
              <a:r>
                <a:rPr lang="ko-KR" altLang="en-US" sz="900" b="1" dirty="0" err="1"/>
                <a:t>재고번호</a:t>
              </a:r>
              <a:r>
                <a:rPr lang="ko-KR" altLang="en-US" sz="900" b="1" dirty="0"/>
                <a:t> </a:t>
              </a:r>
              <a:r>
                <a:rPr lang="en-US" altLang="ko-KR" sz="900" b="1" dirty="0"/>
                <a:t>A1234567890</a:t>
              </a:r>
              <a:endParaRPr lang="ko-KR" altLang="en-US" sz="900" b="1" dirty="0"/>
            </a:p>
          </p:txBody>
        </p:sp>
        <p:sp>
          <p:nvSpPr>
            <p:cNvPr id="17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부품번호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품질등급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생산자부호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접수기간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78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328404" y="3139237"/>
              <a:ext cx="904094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AA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-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A123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  <a:r>
                <a:rPr lang="ko-KR" altLang="en-US" sz="600" dirty="0">
                  <a:latin typeface="+mn-ea"/>
                </a:rPr>
                <a:t> </a:t>
              </a:r>
              <a:r>
                <a:rPr lang="en-US" altLang="ko-KR" sz="600" dirty="0">
                  <a:latin typeface="+mn-ea"/>
                </a:rPr>
                <a:t>~ 2026-02-12</a:t>
              </a:r>
            </a:p>
          </p:txBody>
        </p:sp>
        <p:sp>
          <p:nvSpPr>
            <p:cNvPr id="179" name="모서리가 둥근 직사각형 178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국외</a:t>
              </a:r>
            </a:p>
          </p:txBody>
        </p:sp>
        <p:sp>
          <p:nvSpPr>
            <p:cNvPr id="182" name="모서리가 둥근 직사각형 181"/>
            <p:cNvSpPr/>
            <p:nvPr/>
          </p:nvSpPr>
          <p:spPr>
            <a:xfrm>
              <a:off x="1075656" y="2610063"/>
              <a:ext cx="264196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육군</a:t>
              </a:r>
            </a:p>
          </p:txBody>
        </p:sp>
      </p:grpSp>
      <p:grpSp>
        <p:nvGrpSpPr>
          <p:cNvPr id="184" name="그룹 183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500573"/>
            <a:ext cx="76863" cy="292489"/>
            <a:chOff x="3750067" y="4683795"/>
            <a:chExt cx="76863" cy="292489"/>
          </a:xfrm>
        </p:grpSpPr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86" name="타원 185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88" name="그룹 187"/>
          <p:cNvGrpSpPr/>
          <p:nvPr/>
        </p:nvGrpSpPr>
        <p:grpSpPr>
          <a:xfrm>
            <a:off x="778515" y="4610478"/>
            <a:ext cx="2476203" cy="1083172"/>
            <a:chOff x="778515" y="2610063"/>
            <a:chExt cx="2476203" cy="1083172"/>
          </a:xfrm>
        </p:grpSpPr>
        <p:sp>
          <p:nvSpPr>
            <p:cNvPr id="189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600" dirty="0"/>
                <a:t>조달요구번호 </a:t>
              </a:r>
              <a:r>
                <a:rPr lang="en-US" altLang="ko-KR" sz="600" dirty="0"/>
                <a:t>EFGH1234</a:t>
              </a:r>
            </a:p>
            <a:p>
              <a:r>
                <a:rPr lang="ko-KR" altLang="en-US" sz="800" b="1" dirty="0" err="1"/>
                <a:t>재고번호</a:t>
              </a:r>
              <a:r>
                <a:rPr lang="ko-KR" altLang="en-US" sz="800" b="1" dirty="0"/>
                <a:t> </a:t>
              </a:r>
              <a:r>
                <a:rPr lang="en-US" altLang="ko-KR" sz="800" b="1" dirty="0"/>
                <a:t>F987654123</a:t>
              </a:r>
              <a:endParaRPr lang="ko-KR" altLang="en-US" sz="800" b="1" dirty="0"/>
            </a:p>
          </p:txBody>
        </p:sp>
        <p:sp>
          <p:nvSpPr>
            <p:cNvPr id="190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84721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부품번호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품질등급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생산자부호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접수기간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91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328404" y="3139237"/>
              <a:ext cx="904094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BB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-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B123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2026-01-03</a:t>
              </a:r>
              <a:r>
                <a:rPr lang="ko-KR" altLang="en-US" sz="600" dirty="0">
                  <a:latin typeface="+mn-ea"/>
                </a:rPr>
                <a:t> </a:t>
              </a:r>
              <a:r>
                <a:rPr lang="en-US" altLang="ko-KR" sz="600" dirty="0">
                  <a:latin typeface="+mn-ea"/>
                </a:rPr>
                <a:t>~ 2026-01-14</a:t>
              </a:r>
            </a:p>
          </p:txBody>
        </p:sp>
        <p:sp>
          <p:nvSpPr>
            <p:cNvPr id="192" name="모서리가 둥근 직사각형 191"/>
            <p:cNvSpPr/>
            <p:nvPr/>
          </p:nvSpPr>
          <p:spPr>
            <a:xfrm>
              <a:off x="778515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국외</a:t>
              </a:r>
            </a:p>
          </p:txBody>
        </p:sp>
        <p:sp>
          <p:nvSpPr>
            <p:cNvPr id="193" name="모서리가 둥근 직사각형 192"/>
            <p:cNvSpPr/>
            <p:nvPr/>
          </p:nvSpPr>
          <p:spPr>
            <a:xfrm>
              <a:off x="1075656" y="2610063"/>
              <a:ext cx="264196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/>
                <a:t>공군</a:t>
              </a:r>
              <a:endParaRPr lang="ko-KR" altLang="en-US" sz="600" dirty="0"/>
            </a:p>
          </p:txBody>
        </p:sp>
      </p:grpSp>
      <p:cxnSp>
        <p:nvCxnSpPr>
          <p:cNvPr id="194" name="직선 연결선 19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9195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5" name="직선 연결선 1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1015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6" name="TextBox 19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97" name="타원 196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8" name="그룹 197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99" name="직선 연결선 198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0" name="직선 연결선 19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1" name="모서리가 둥근 직사각형 200"/>
          <p:cNvSpPr/>
          <p:nvPr/>
        </p:nvSpPr>
        <p:spPr>
          <a:xfrm>
            <a:off x="4614060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203" name="모서리가 둥근 직사각형 202"/>
          <p:cNvSpPr/>
          <p:nvPr/>
        </p:nvSpPr>
        <p:spPr>
          <a:xfrm>
            <a:off x="4914986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용역</a:t>
            </a:r>
          </a:p>
        </p:txBody>
      </p:sp>
      <p:sp>
        <p:nvSpPr>
          <p:cNvPr id="204" name="모서리가 둥근 직사각형 203"/>
          <p:cNvSpPr/>
          <p:nvPr/>
        </p:nvSpPr>
        <p:spPr>
          <a:xfrm>
            <a:off x="521597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205" name="모서리가 둥근 직사각형 204"/>
          <p:cNvSpPr/>
          <p:nvPr/>
        </p:nvSpPr>
        <p:spPr>
          <a:xfrm>
            <a:off x="5519047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국외</a:t>
            </a:r>
          </a:p>
        </p:txBody>
      </p:sp>
      <p:sp>
        <p:nvSpPr>
          <p:cNvPr id="206" name="모서리가 둥근 직사각형 205"/>
          <p:cNvSpPr/>
          <p:nvPr/>
        </p:nvSpPr>
        <p:spPr>
          <a:xfrm>
            <a:off x="431863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전체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208" name="모서리가 둥근 직사각형 207"/>
          <p:cNvSpPr/>
          <p:nvPr/>
        </p:nvSpPr>
        <p:spPr>
          <a:xfrm>
            <a:off x="431863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일반경쟁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141375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계약방법</a:t>
            </a:r>
          </a:p>
        </p:txBody>
      </p:sp>
      <p:sp>
        <p:nvSpPr>
          <p:cNvPr id="210" name="모서리가 둥근 직사각형 209"/>
          <p:cNvSpPr/>
          <p:nvPr/>
        </p:nvSpPr>
        <p:spPr>
          <a:xfrm>
            <a:off x="477609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지명경쟁</a:t>
            </a:r>
          </a:p>
        </p:txBody>
      </p:sp>
      <p:sp>
        <p:nvSpPr>
          <p:cNvPr id="211" name="모서리가 둥근 직사각형 210"/>
          <p:cNvSpPr/>
          <p:nvPr/>
        </p:nvSpPr>
        <p:spPr>
          <a:xfrm>
            <a:off x="523276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제한경쟁</a:t>
            </a:r>
          </a:p>
        </p:txBody>
      </p:sp>
      <p:sp>
        <p:nvSpPr>
          <p:cNvPr id="212" name="모서리가 둥근 직사각형 211"/>
          <p:cNvSpPr/>
          <p:nvPr/>
        </p:nvSpPr>
        <p:spPr>
          <a:xfrm>
            <a:off x="569022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복수경쟁</a:t>
            </a:r>
            <a:endParaRPr lang="ko-KR" altLang="en-US" sz="600" dirty="0"/>
          </a:p>
        </p:txBody>
      </p:sp>
      <p:sp>
        <p:nvSpPr>
          <p:cNvPr id="213" name="모서리가 둥근 직사각형 212"/>
          <p:cNvSpPr/>
          <p:nvPr/>
        </p:nvSpPr>
        <p:spPr>
          <a:xfrm>
            <a:off x="6147576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sp>
        <p:nvSpPr>
          <p:cNvPr id="214" name="모서리가 둥근 직사각형 213"/>
          <p:cNvSpPr/>
          <p:nvPr/>
        </p:nvSpPr>
        <p:spPr>
          <a:xfrm>
            <a:off x="4318635" y="5307915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서류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215" name="모서리가 둥근 직사각형 214"/>
          <p:cNvSpPr/>
          <p:nvPr/>
        </p:nvSpPr>
        <p:spPr>
          <a:xfrm>
            <a:off x="5199541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동시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216" name="모서리가 둥근 직사각형 215"/>
          <p:cNvSpPr/>
          <p:nvPr/>
        </p:nvSpPr>
        <p:spPr>
          <a:xfrm>
            <a:off x="5885028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분리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217" name="모서리가 둥근 직사각형 216"/>
          <p:cNvSpPr/>
          <p:nvPr/>
        </p:nvSpPr>
        <p:spPr>
          <a:xfrm>
            <a:off x="4318635" y="5475884"/>
            <a:ext cx="501313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종합낙찰제</a:t>
            </a:r>
            <a:endParaRPr lang="ko-KR" altLang="en-US" sz="600" dirty="0"/>
          </a:p>
        </p:txBody>
      </p:sp>
      <p:sp>
        <p:nvSpPr>
          <p:cNvPr id="218" name="모서리가 둥근 직사각형 217"/>
          <p:cNvSpPr/>
          <p:nvPr/>
        </p:nvSpPr>
        <p:spPr>
          <a:xfrm>
            <a:off x="4876890" y="5475884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전자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219" name="모서리가 둥근 직사각형 218"/>
          <p:cNvSpPr/>
          <p:nvPr/>
        </p:nvSpPr>
        <p:spPr>
          <a:xfrm>
            <a:off x="5767485" y="5475884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역경매</a:t>
            </a:r>
            <a:endParaRPr lang="ko-KR" altLang="en-US" sz="600" dirty="0"/>
          </a:p>
        </p:txBody>
      </p:sp>
      <p:sp>
        <p:nvSpPr>
          <p:cNvPr id="220" name="모서리가 둥근 직사각형 219"/>
          <p:cNvSpPr/>
          <p:nvPr/>
        </p:nvSpPr>
        <p:spPr>
          <a:xfrm>
            <a:off x="4318635" y="5847205"/>
            <a:ext cx="57991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발주기관 전체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853044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발주기관</a:t>
            </a:r>
          </a:p>
        </p:txBody>
      </p:sp>
      <p:sp>
        <p:nvSpPr>
          <p:cNvPr id="222" name="모서리가 둥근 직사각형 221"/>
          <p:cNvSpPr/>
          <p:nvPr/>
        </p:nvSpPr>
        <p:spPr>
          <a:xfrm>
            <a:off x="4946591" y="5847205"/>
            <a:ext cx="47052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방위사업청</a:t>
            </a:r>
            <a:endParaRPr lang="ko-KR" altLang="en-US" sz="600" dirty="0"/>
          </a:p>
        </p:txBody>
      </p:sp>
      <p:sp>
        <p:nvSpPr>
          <p:cNvPr id="223" name="모서리가 둥근 직사각형 222"/>
          <p:cNvSpPr/>
          <p:nvPr/>
        </p:nvSpPr>
        <p:spPr>
          <a:xfrm>
            <a:off x="5462635" y="584720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조달본부</a:t>
            </a:r>
          </a:p>
        </p:txBody>
      </p:sp>
      <p:sp>
        <p:nvSpPr>
          <p:cNvPr id="224" name="모서리가 둥근 직사각형 223"/>
          <p:cNvSpPr/>
          <p:nvPr/>
        </p:nvSpPr>
        <p:spPr>
          <a:xfrm>
            <a:off x="590936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경리단</a:t>
            </a:r>
            <a:endParaRPr lang="ko-KR" altLang="en-US" sz="600" dirty="0"/>
          </a:p>
        </p:txBody>
      </p:sp>
      <p:sp>
        <p:nvSpPr>
          <p:cNvPr id="225" name="모서리가 둥근 직사각형 224"/>
          <p:cNvSpPr/>
          <p:nvPr/>
        </p:nvSpPr>
        <p:spPr>
          <a:xfrm>
            <a:off x="6282921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군수사</a:t>
            </a:r>
            <a:endParaRPr lang="ko-KR" altLang="en-US" sz="600" dirty="0"/>
          </a:p>
        </p:txBody>
      </p:sp>
      <p:sp>
        <p:nvSpPr>
          <p:cNvPr id="226" name="모서리가 둥근 직사각형 225"/>
          <p:cNvSpPr/>
          <p:nvPr/>
        </p:nvSpPr>
        <p:spPr>
          <a:xfrm>
            <a:off x="665814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교육사</a:t>
            </a:r>
          </a:p>
        </p:txBody>
      </p:sp>
      <p:sp>
        <p:nvSpPr>
          <p:cNvPr id="227" name="모서리가 둥근 직사각형 226"/>
          <p:cNvSpPr/>
          <p:nvPr/>
        </p:nvSpPr>
        <p:spPr>
          <a:xfrm>
            <a:off x="4321449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학교</a:t>
            </a:r>
          </a:p>
        </p:txBody>
      </p:sp>
      <p:sp>
        <p:nvSpPr>
          <p:cNvPr id="228" name="모서리가 둥근 직사각형 227"/>
          <p:cNvSpPr/>
          <p:nvPr/>
        </p:nvSpPr>
        <p:spPr>
          <a:xfrm>
            <a:off x="4639917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근지단</a:t>
            </a:r>
            <a:endParaRPr lang="ko-KR" altLang="en-US" sz="600" dirty="0"/>
          </a:p>
        </p:txBody>
      </p:sp>
      <p:sp>
        <p:nvSpPr>
          <p:cNvPr id="229" name="모서리가 둥근 직사각형 228"/>
          <p:cNvSpPr/>
          <p:nvPr/>
        </p:nvSpPr>
        <p:spPr>
          <a:xfrm>
            <a:off x="5025544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군병원</a:t>
            </a:r>
            <a:endParaRPr lang="ko-KR" altLang="en-US" sz="600" dirty="0"/>
          </a:p>
        </p:txBody>
      </p:sp>
      <p:sp>
        <p:nvSpPr>
          <p:cNvPr id="230" name="모서리가 둥근 직사각형 229"/>
          <p:cNvSpPr/>
          <p:nvPr/>
        </p:nvSpPr>
        <p:spPr>
          <a:xfrm>
            <a:off x="5413995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본부</a:t>
            </a:r>
          </a:p>
        </p:txBody>
      </p:sp>
      <p:sp>
        <p:nvSpPr>
          <p:cNvPr id="231" name="모서리가 둥근 직사각형 230"/>
          <p:cNvSpPr/>
          <p:nvPr/>
        </p:nvSpPr>
        <p:spPr>
          <a:xfrm>
            <a:off x="5727123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국방부</a:t>
            </a:r>
            <a:r>
              <a:rPr lang="en-US" altLang="ko-KR" sz="600" dirty="0"/>
              <a:t>-9</a:t>
            </a:r>
            <a:endParaRPr lang="ko-KR" altLang="en-US" sz="600" dirty="0"/>
          </a:p>
        </p:txBody>
      </p:sp>
      <p:sp>
        <p:nvSpPr>
          <p:cNvPr id="232" name="모서리가 둥근 직사각형 231"/>
          <p:cNvSpPr/>
          <p:nvPr/>
        </p:nvSpPr>
        <p:spPr>
          <a:xfrm>
            <a:off x="6198542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국방부</a:t>
            </a:r>
            <a:r>
              <a:rPr lang="en-US" altLang="ko-KR" sz="600" dirty="0"/>
              <a:t>-A</a:t>
            </a:r>
            <a:endParaRPr lang="ko-KR" altLang="en-US" sz="600" dirty="0"/>
          </a:p>
        </p:txBody>
      </p:sp>
      <p:sp>
        <p:nvSpPr>
          <p:cNvPr id="233" name="모서리가 둥근 직사각형 232"/>
          <p:cNvSpPr/>
          <p:nvPr/>
        </p:nvSpPr>
        <p:spPr>
          <a:xfrm>
            <a:off x="6669961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기타</a:t>
            </a:r>
          </a:p>
        </p:txBody>
      </p:sp>
      <p:sp>
        <p:nvSpPr>
          <p:cNvPr id="234" name="모서리가 둥근 직사각형 233"/>
          <p:cNvSpPr/>
          <p:nvPr/>
        </p:nvSpPr>
        <p:spPr>
          <a:xfrm>
            <a:off x="4321056" y="2203671"/>
            <a:ext cx="39399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조달계획</a:t>
            </a:r>
          </a:p>
        </p:txBody>
      </p:sp>
      <p:sp>
        <p:nvSpPr>
          <p:cNvPr id="235" name="모서리가 둥근 직사각형 234"/>
          <p:cNvSpPr/>
          <p:nvPr/>
        </p:nvSpPr>
        <p:spPr>
          <a:xfrm>
            <a:off x="4762118" y="220367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사전규격</a:t>
            </a:r>
            <a:endParaRPr lang="ko-KR" altLang="en-US" sz="600" dirty="0"/>
          </a:p>
        </p:txBody>
      </p:sp>
      <p:sp>
        <p:nvSpPr>
          <p:cNvPr id="236" name="모서리가 둥근 직사각형 235"/>
          <p:cNvSpPr/>
          <p:nvPr/>
        </p:nvSpPr>
        <p:spPr>
          <a:xfrm>
            <a:off x="5221341" y="2203671"/>
            <a:ext cx="56515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연간조달계획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209510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검색유형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8" name="모서리가 둥근 직사각형 237"/>
          <p:cNvSpPr/>
          <p:nvPr/>
        </p:nvSpPr>
        <p:spPr>
          <a:xfrm>
            <a:off x="4318635" y="2877159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총액제</a:t>
            </a:r>
            <a:endParaRPr lang="ko-KR" altLang="en-US" sz="600" dirty="0"/>
          </a:p>
        </p:txBody>
      </p:sp>
      <p:sp>
        <p:nvSpPr>
          <p:cNvPr id="239" name="모서리가 둥근 직사각형 238"/>
          <p:cNvSpPr/>
          <p:nvPr/>
        </p:nvSpPr>
        <p:spPr>
          <a:xfrm>
            <a:off x="4695883" y="2878607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단가제</a:t>
            </a:r>
            <a:endParaRPr lang="ko-KR" altLang="en-US" sz="600" dirty="0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입찰구분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241" name="직선 연결선 2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7173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2" name="TextBox 24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74722"/>
            <a:ext cx="13570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70668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70668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245" name="그룹 244"/>
          <p:cNvGrpSpPr/>
          <p:nvPr/>
        </p:nvGrpSpPr>
        <p:grpSpPr>
          <a:xfrm>
            <a:off x="3143548" y="2983035"/>
            <a:ext cx="94010" cy="47005"/>
            <a:chOff x="6812560" y="3297172"/>
            <a:chExt cx="94010" cy="47005"/>
          </a:xfrm>
        </p:grpSpPr>
        <p:cxnSp>
          <p:nvCxnSpPr>
            <p:cNvPr id="246" name="직선 연결선 2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7" name="직선 연결선 2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8" name="그룹 247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249" name="모서리가 둥근 직사각형 248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0" name="타원 249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252" name="그룹 251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259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재고번호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260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>
                    <a:latin typeface="맑은 고딕"/>
                    <a:ea typeface="맑은 고딕" panose="020B0503020000020004" pitchFamily="50" charset="-127"/>
                  </a:rPr>
                  <a:t>조달요구번호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253" name="타원 252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254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255" name="타원 254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56" name="그룹 255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257" name="직선 연결선 256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8" name="직선 연결선 257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61" name="직선 연결선 26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3550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62" name="그룹 261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263" name="직선 연결선 26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4" name="직선 연결선 26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2" name="타원 27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3642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5883128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군수품</a:t>
            </a:r>
            <a:r>
              <a:rPr lang="en-US" altLang="ko-KR" dirty="0"/>
              <a:t> </a:t>
            </a:r>
            <a:r>
              <a:rPr lang="ko-KR" altLang="en-US" dirty="0"/>
              <a:t>정보 </a:t>
            </a:r>
            <a:r>
              <a:rPr lang="en-US" altLang="ko-KR" dirty="0"/>
              <a:t>NIIN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페이지 접근 시 </a:t>
            </a:r>
            <a:r>
              <a:rPr lang="en-US" altLang="ko-KR" dirty="0"/>
              <a:t>NIIN</a:t>
            </a:r>
            <a:r>
              <a:rPr lang="ko-KR" altLang="en-US" dirty="0"/>
              <a:t>이 있는 경우</a:t>
            </a:r>
            <a:r>
              <a:rPr lang="en-US" altLang="ko-KR" dirty="0"/>
              <a:t> </a:t>
            </a:r>
            <a:r>
              <a:rPr lang="ko-KR" altLang="en-US" dirty="0"/>
              <a:t>자동 채우기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다른 탭 페이지에서 </a:t>
            </a:r>
            <a:r>
              <a:rPr lang="en-US" altLang="ko-KR" dirty="0"/>
              <a:t>NIIN </a:t>
            </a:r>
            <a:r>
              <a:rPr lang="ko-KR" altLang="en-US" dirty="0"/>
              <a:t>설정 시 탭에 모두 </a:t>
            </a:r>
            <a:r>
              <a:rPr lang="en-US" altLang="ko-KR" dirty="0"/>
              <a:t>NIIN </a:t>
            </a:r>
            <a:r>
              <a:rPr lang="ko-KR" altLang="en-US" dirty="0"/>
              <a:t>유지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내용이 있는 경우 삭제</a:t>
            </a:r>
            <a:r>
              <a:rPr lang="en-US" altLang="ko-KR" dirty="0"/>
              <a:t>(X)</a:t>
            </a:r>
            <a:r>
              <a:rPr lang="ko-KR" altLang="en-US" dirty="0"/>
              <a:t> 버튼 활성화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내용이 없는 경우 삭제 버튼 숨김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식별정보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참조번호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업체정보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MUI-OP-01-P77 </a:t>
            </a:r>
            <a:r>
              <a:rPr lang="ko-KR" altLang="en-US" dirty="0">
                <a:latin typeface="+mn-ea"/>
              </a:rPr>
              <a:t>업체정보 팝업 호출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목록정보조회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/>
              <a:t>군수품 목록 중 </a:t>
            </a:r>
            <a:r>
              <a:rPr lang="ko-KR" altLang="en-US" dirty="0" err="1"/>
              <a:t>형상자료</a:t>
            </a:r>
            <a:r>
              <a:rPr lang="ko-KR" altLang="en-US" dirty="0"/>
              <a:t> 정보를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목록정보조회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형상자료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MUI-OP-01-P76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30889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7264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95603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형상자료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1956033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식별자료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172640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1917910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2988442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식별정보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3101773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3295927"/>
            <a:ext cx="792000" cy="8722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29592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3295927"/>
            <a:ext cx="67077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재고번호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영문품명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한글품명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군급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3295927"/>
            <a:ext cx="1784088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1523-12-1251232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BELSCDFE ASSEMVGBY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밸크랭크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dirty="0" err="1">
                <a:latin typeface="+mn-ea"/>
              </a:rPr>
              <a:t>조립체</a:t>
            </a:r>
            <a:endParaRPr lang="ko-KR" altLang="en-US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1612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52703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74073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95444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16815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03921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84993" y="189012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참조번호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252" name="그룹 251"/>
          <p:cNvGrpSpPr/>
          <p:nvPr/>
        </p:nvGrpSpPr>
        <p:grpSpPr>
          <a:xfrm flipV="1">
            <a:off x="6247080" y="2003454"/>
            <a:ext cx="94010" cy="47005"/>
            <a:chOff x="6812560" y="3297172"/>
            <a:chExt cx="94010" cy="47005"/>
          </a:xfrm>
        </p:grpSpPr>
        <p:cxnSp>
          <p:nvCxnSpPr>
            <p:cNvPr id="253" name="직선 연결선 252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1" name="직선 연결선 2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2" name="직사각형 261"/>
          <p:cNvSpPr/>
          <p:nvPr/>
        </p:nvSpPr>
        <p:spPr>
          <a:xfrm>
            <a:off x="3826115" y="2197608"/>
            <a:ext cx="792000" cy="8722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3" name="직선 연결선 2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19760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4" name="TextBox 26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3179" y="2197608"/>
            <a:ext cx="67077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참조번호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생산자부호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생산자명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0028" y="2197608"/>
            <a:ext cx="178465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70400-01230-023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도면번호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78245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SIBSK ERKAS EKCORPO</a:t>
            </a:r>
          </a:p>
        </p:txBody>
      </p:sp>
      <p:cxnSp>
        <p:nvCxnSpPr>
          <p:cNvPr id="266" name="직선 연결선 26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242871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264242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9" name="직선 연결선 26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285612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8" name="직선 연결선 27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06983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2" name="모서리가 둥근 직사각형 281"/>
          <p:cNvSpPr/>
          <p:nvPr/>
        </p:nvSpPr>
        <p:spPr>
          <a:xfrm rot="5400000">
            <a:off x="6098765" y="2443378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cxnSp>
        <p:nvCxnSpPr>
          <p:cNvPr id="319" name="직선 연결선 31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475840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2" name="타원 33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192375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754660" y="1956033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참고자료</a:t>
            </a:r>
          </a:p>
        </p:txBody>
      </p:sp>
      <p:sp>
        <p:nvSpPr>
          <p:cNvPr id="150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67702" y="2604413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151" name="모서리가 둥근 직사각형 150"/>
          <p:cNvSpPr/>
          <p:nvPr/>
        </p:nvSpPr>
        <p:spPr>
          <a:xfrm>
            <a:off x="1443878" y="2270698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NIIN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을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339011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NIIN</a:t>
            </a:r>
          </a:p>
        </p:txBody>
      </p:sp>
      <p:grpSp>
        <p:nvGrpSpPr>
          <p:cNvPr id="153" name="그룹 152"/>
          <p:cNvGrpSpPr/>
          <p:nvPr/>
        </p:nvGrpSpPr>
        <p:grpSpPr>
          <a:xfrm>
            <a:off x="3112794" y="2308984"/>
            <a:ext cx="145884" cy="145882"/>
            <a:chOff x="3112794" y="3984500"/>
            <a:chExt cx="145884" cy="145882"/>
          </a:xfrm>
        </p:grpSpPr>
        <p:sp>
          <p:nvSpPr>
            <p:cNvPr id="154" name="타원 153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55" name="그룹 154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167" name="직선 연결선 166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8" name="직선 연결선 167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94373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0" name="직사각형 169"/>
          <p:cNvSpPr/>
          <p:nvPr/>
        </p:nvSpPr>
        <p:spPr>
          <a:xfrm>
            <a:off x="3826115" y="3426381"/>
            <a:ext cx="792000" cy="8722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342638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3179" y="3426381"/>
            <a:ext cx="67077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참조번호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생산자부호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생산자명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70028" y="3426381"/>
            <a:ext cx="178465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70400-01230-024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기타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23129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US ARPY ACLHGET ASLTM</a:t>
            </a:r>
          </a:p>
        </p:txBody>
      </p: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65748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87119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4" name="직선 연결선 19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408490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5" name="직선 연결선 1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429860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224" name="타원 22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422901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332275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6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890740" y="3104583"/>
            <a:ext cx="2522014" cy="185743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latin typeface="맑은 고딕"/>
                <a:ea typeface="맑은 고딕" panose="020B0503020000020004" pitchFamily="50" charset="-127"/>
              </a:rPr>
              <a:t>업체정보 보기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6115" y="455324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890740" y="4335074"/>
            <a:ext cx="2522014" cy="185743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latin typeface="맑은 고딕"/>
                <a:ea typeface="맑은 고딕" panose="020B0503020000020004" pitchFamily="50" charset="-127"/>
              </a:rPr>
              <a:t>업체정보 보기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/>
            </a:endParaRPr>
          </a:p>
        </p:txBody>
      </p:sp>
      <p:grpSp>
        <p:nvGrpSpPr>
          <p:cNvPr id="125" name="그룹 124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26" name="직선 연결선 12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직선 연결선 12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목록정보</a:t>
            </a:r>
            <a:r>
              <a:rPr lang="ko-KR" altLang="en-US" sz="900" dirty="0">
                <a:latin typeface="+mn-ea"/>
              </a:rPr>
              <a:t> 조회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795734" y="1630768"/>
            <a:ext cx="2712027" cy="216169"/>
            <a:chOff x="3795734" y="1630768"/>
            <a:chExt cx="2712027" cy="216169"/>
          </a:xfrm>
        </p:grpSpPr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5734" y="184693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20" name="그룹 119"/>
            <p:cNvGrpSpPr/>
            <p:nvPr/>
          </p:nvGrpSpPr>
          <p:grpSpPr>
            <a:xfrm>
              <a:off x="6253541" y="1650089"/>
              <a:ext cx="94010" cy="94010"/>
              <a:chOff x="6812560" y="3297172"/>
              <a:chExt cx="94010" cy="94010"/>
            </a:xfrm>
          </p:grpSpPr>
          <p:cxnSp>
            <p:nvCxnSpPr>
              <p:cNvPr id="121" name="직선 연결선 120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2" name="직선 연결선 121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3679" y="1630768"/>
              <a:ext cx="179875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900" dirty="0" err="1">
                  <a:latin typeface="+mn-ea"/>
                </a:rPr>
                <a:t>목록정보</a:t>
              </a:r>
              <a:r>
                <a:rPr lang="ko-KR" altLang="en-US" sz="900" dirty="0">
                  <a:latin typeface="+mn-ea"/>
                </a:rPr>
                <a:t> 조회</a:t>
              </a:r>
            </a:p>
          </p:txBody>
        </p:sp>
      </p:grpSp>
      <p:grpSp>
        <p:nvGrpSpPr>
          <p:cNvPr id="87" name="그룹 86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89" name="직사각형 88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2026-05-27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90" name="직사각형 89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아이디 변경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 err="1"/>
                <a:t>풀페이지</a:t>
              </a:r>
              <a:r>
                <a:rPr lang="ko-KR" altLang="en-US" sz="700" dirty="0"/>
                <a:t> 팝업으로 변경</a:t>
              </a:r>
              <a:endParaRPr lang="en-US" altLang="ko-KR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1914724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업체정보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업체정보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/>
              <a:t>군수품 </a:t>
            </a:r>
            <a:r>
              <a:rPr lang="ko-KR" altLang="en-US" dirty="0" err="1"/>
              <a:t>형상자료의</a:t>
            </a:r>
            <a:r>
              <a:rPr lang="ko-KR" altLang="en-US" dirty="0"/>
              <a:t> 업체정보 </a:t>
            </a:r>
            <a:r>
              <a:rPr lang="ko-KR" altLang="en-US" dirty="0" err="1"/>
              <a:t>팝업화면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/>
              <a:t>조달 계획 </a:t>
            </a:r>
            <a:r>
              <a:rPr lang="en-US" altLang="ko-KR" dirty="0"/>
              <a:t>&gt; </a:t>
            </a:r>
            <a:r>
              <a:rPr lang="ko-KR" altLang="en-US" dirty="0"/>
              <a:t>상세 조회 </a:t>
            </a:r>
            <a:r>
              <a:rPr lang="en-US" altLang="ko-KR" dirty="0"/>
              <a:t>- </a:t>
            </a:r>
            <a:r>
              <a:rPr lang="ko-KR" altLang="en-US" dirty="0" err="1"/>
              <a:t>결과목록</a:t>
            </a:r>
            <a:r>
              <a:rPr lang="en-US" altLang="ko-KR" dirty="0">
                <a:latin typeface="+mn-ea"/>
              </a:rPr>
              <a:t> &gt; </a:t>
            </a:r>
            <a:r>
              <a:rPr lang="ko-KR" altLang="en-US" dirty="0">
                <a:latin typeface="+mn-ea"/>
              </a:rPr>
              <a:t>품목별가격자료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MUI-OP-01-P77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5" name="양쪽 모서리가 둥근 사각형 4"/>
          <p:cNvSpPr/>
          <p:nvPr/>
        </p:nvSpPr>
        <p:spPr>
          <a:xfrm>
            <a:off x="675399" y="3658716"/>
            <a:ext cx="2712027" cy="2573583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1761412" y="3695344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51" name="그룹 150"/>
          <p:cNvGrpSpPr/>
          <p:nvPr/>
        </p:nvGrpSpPr>
        <p:grpSpPr>
          <a:xfrm>
            <a:off x="3164338" y="3829760"/>
            <a:ext cx="94010" cy="94010"/>
            <a:chOff x="6812560" y="3297172"/>
            <a:chExt cx="94010" cy="94010"/>
          </a:xfrm>
        </p:grpSpPr>
        <p:cxnSp>
          <p:nvCxnSpPr>
            <p:cNvPr id="152" name="직선 연결선 151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직선 연결선 161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3" name="TextBox 16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3810439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업체정보</a:t>
            </a:r>
          </a:p>
        </p:txBody>
      </p: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0718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79070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6" name="그룹 5"/>
          <p:cNvGrpSpPr/>
          <p:nvPr/>
        </p:nvGrpSpPr>
        <p:grpSpPr>
          <a:xfrm>
            <a:off x="716084" y="4288140"/>
            <a:ext cx="2630656" cy="1292662"/>
            <a:chOff x="3824022" y="5160789"/>
            <a:chExt cx="2630656" cy="1292662"/>
          </a:xfrm>
        </p:grpSpPr>
        <p:sp>
          <p:nvSpPr>
            <p:cNvPr id="75" name="직사각형 74"/>
            <p:cNvSpPr/>
            <p:nvPr/>
          </p:nvSpPr>
          <p:spPr>
            <a:xfrm>
              <a:off x="3826115" y="5160789"/>
              <a:ext cx="792000" cy="12852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4022" y="5160789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13179" y="5160789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업체명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대표자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본사주소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사업자번호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전화번호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FAX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70028" y="5160789"/>
              <a:ext cx="178465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123-45-67890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02-1234-5678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02-1234-6789</a:t>
              </a:r>
            </a:p>
          </p:txBody>
        </p: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6115" y="539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6115" y="560560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6115" y="581930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6115" y="603301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6115" y="645142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3" name="직선 연결선 10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6115" y="624536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7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닫기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185476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식별자료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목록정보조회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/>
              <a:t>군수품 목록 중 </a:t>
            </a:r>
            <a:r>
              <a:rPr lang="ko-KR" altLang="en-US" dirty="0" err="1"/>
              <a:t>식별자료</a:t>
            </a:r>
            <a:r>
              <a:rPr lang="ko-KR" altLang="en-US" dirty="0"/>
              <a:t> 정보를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목록정보조회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식별자료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MUI-OP-01-P76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2999834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200000"/>
              </a:lnSpc>
              <a:defRPr sz="700">
                <a:latin typeface="+mn-ea"/>
              </a:defRPr>
            </a:lvl1pPr>
          </a:lstStyle>
          <a:p>
            <a:r>
              <a:rPr lang="ko-KR" altLang="en-US" dirty="0" err="1"/>
              <a:t>식별자료</a:t>
            </a:r>
            <a:endParaRPr lang="ko-KR" altLang="en-US" dirty="0"/>
          </a:p>
        </p:txBody>
      </p:sp>
      <p:grpSp>
        <p:nvGrpSpPr>
          <p:cNvPr id="157" name="그룹 156"/>
          <p:cNvGrpSpPr/>
          <p:nvPr/>
        </p:nvGrpSpPr>
        <p:grpSpPr>
          <a:xfrm flipV="1">
            <a:off x="3124233" y="3113165"/>
            <a:ext cx="94010" cy="47005"/>
            <a:chOff x="6812560" y="3297172"/>
            <a:chExt cx="94010" cy="47005"/>
          </a:xfrm>
        </p:grpSpPr>
        <p:cxnSp>
          <p:nvCxnSpPr>
            <p:cNvPr id="158" name="직선 연결선 15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직선 연결선 15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04846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74" name="직사각형 73"/>
          <p:cNvSpPr/>
          <p:nvPr/>
        </p:nvSpPr>
        <p:spPr>
          <a:xfrm>
            <a:off x="3832577" y="1873082"/>
            <a:ext cx="933066" cy="42745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1873082"/>
            <a:ext cx="725552" cy="43088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품명부호</a:t>
            </a:r>
            <a:r>
              <a:rPr lang="en-US" altLang="ko-KR" sz="700" dirty="0">
                <a:latin typeface="+mn-ea"/>
              </a:rPr>
              <a:t>(INC)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대체재고</a:t>
            </a:r>
            <a:r>
              <a:rPr lang="ko-KR" altLang="en-US" sz="700" dirty="0">
                <a:latin typeface="+mn-ea"/>
              </a:rPr>
              <a:t> 번호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품종 </a:t>
            </a:r>
            <a:r>
              <a:rPr lang="ko-KR" altLang="en-US" sz="700" dirty="0" err="1">
                <a:latin typeface="+mn-ea"/>
              </a:rPr>
              <a:t>구분번호</a:t>
            </a:r>
            <a:r>
              <a:rPr lang="en-US" altLang="ko-KR" sz="700" dirty="0">
                <a:latin typeface="+mn-ea"/>
              </a:rPr>
              <a:t>(CS)</a:t>
            </a: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제조국부호</a:t>
            </a:r>
            <a:r>
              <a:rPr lang="en-US" altLang="ko-KR" sz="700" dirty="0">
                <a:latin typeface="+mn-ea"/>
              </a:rPr>
              <a:t>(NTL)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목록화담당자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자료변경일자</a:t>
            </a:r>
            <a:endParaRPr lang="en-US" altLang="ko-KR" sz="700" dirty="0">
              <a:latin typeface="+mn-ea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800394" y="1873082"/>
            <a:ext cx="1672616" cy="43088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111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A12000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11112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M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9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A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B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</a:t>
            </a: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1980-01-05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2026-03-06</a:t>
            </a: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0484" y="187308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08782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30256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51730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73204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294678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0484" y="316152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337626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359100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380574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403486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422913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0484" y="443705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465179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488110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69260" y="330665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510086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529513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0484" y="5503054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571779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594710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2577" y="616004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5" name="직사각형 104"/>
          <p:cNvSpPr/>
          <p:nvPr/>
        </p:nvSpPr>
        <p:spPr>
          <a:xfrm>
            <a:off x="722583" y="3391949"/>
            <a:ext cx="792000" cy="658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39194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3391949"/>
            <a:ext cx="670770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군급분류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영문품명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한글품명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3391949"/>
            <a:ext cx="1784088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MODEL-Y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모델</a:t>
            </a:r>
            <a:r>
              <a:rPr lang="en-US" altLang="ko-KR" sz="700" dirty="0">
                <a:latin typeface="+mn-ea"/>
              </a:rPr>
              <a:t>Y</a:t>
            </a:r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62305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83676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05046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67702" y="2633619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114" name="모서리가 둥근 직사각형 113"/>
          <p:cNvSpPr/>
          <p:nvPr/>
        </p:nvSpPr>
        <p:spPr>
          <a:xfrm>
            <a:off x="1443878" y="229990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NIIN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을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36821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NIIN</a:t>
            </a:r>
          </a:p>
        </p:txBody>
      </p:sp>
      <p:grpSp>
        <p:nvGrpSpPr>
          <p:cNvPr id="116" name="그룹 115"/>
          <p:cNvGrpSpPr/>
          <p:nvPr/>
        </p:nvGrpSpPr>
        <p:grpSpPr>
          <a:xfrm>
            <a:off x="3112794" y="2338190"/>
            <a:ext cx="145884" cy="145882"/>
            <a:chOff x="3112794" y="3984500"/>
            <a:chExt cx="145884" cy="145882"/>
          </a:xfrm>
        </p:grpSpPr>
        <p:sp>
          <p:nvSpPr>
            <p:cNvPr id="117" name="타원 116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8" name="그룹 117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119" name="직선 연결선 118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0" name="직선 연결선 119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97293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1873082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FIIG</a:t>
            </a:r>
            <a:r>
              <a:rPr lang="ko-KR" altLang="en-US" sz="700" dirty="0" err="1">
                <a:latin typeface="+mn-ea"/>
              </a:rPr>
              <a:t>긴요도부호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(FCC)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2088699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취소이유</a:t>
            </a:r>
            <a:r>
              <a:rPr lang="ko-KR" altLang="en-US" sz="700" dirty="0">
                <a:latin typeface="+mn-ea"/>
              </a:rPr>
              <a:t> 부호</a:t>
            </a:r>
            <a:r>
              <a:rPr lang="en-US" altLang="ko-KR" sz="700" dirty="0">
                <a:latin typeface="+mn-ea"/>
              </a:rPr>
              <a:t>(DRC)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2299904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품목식별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dirty="0" err="1">
                <a:latin typeface="+mn-ea"/>
              </a:rPr>
              <a:t>지침서번호</a:t>
            </a:r>
            <a:r>
              <a:rPr lang="en-US" altLang="ko-KR" sz="700" dirty="0">
                <a:latin typeface="+mn-ea"/>
              </a:rPr>
              <a:t>(FIIG </a:t>
            </a:r>
            <a:r>
              <a:rPr lang="ko-KR" altLang="en-US" sz="700" dirty="0">
                <a:latin typeface="+mn-ea"/>
              </a:rPr>
              <a:t>순번</a:t>
            </a:r>
            <a:r>
              <a:rPr lang="en-US" altLang="ko-KR" sz="700" dirty="0">
                <a:latin typeface="+mn-ea"/>
              </a:rPr>
              <a:t>)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2744986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자동자료처리 </a:t>
            </a:r>
            <a:r>
              <a:rPr lang="ko-KR" altLang="en-US" sz="700" dirty="0" err="1">
                <a:latin typeface="+mn-ea"/>
              </a:rPr>
              <a:t>장비부호</a:t>
            </a:r>
            <a:r>
              <a:rPr lang="en-US" altLang="ko-KR" sz="700" dirty="0">
                <a:latin typeface="+mn-ea"/>
              </a:rPr>
              <a:t>(ADPEC)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40" y="2947669"/>
            <a:ext cx="7255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귀금속 </a:t>
            </a:r>
            <a:r>
              <a:rPr lang="ko-KR" altLang="en-US" sz="700" dirty="0" err="1">
                <a:latin typeface="+mn-ea"/>
              </a:rPr>
              <a:t>지시부호</a:t>
            </a:r>
            <a:r>
              <a:rPr lang="en-US" altLang="ko-KR" sz="700" dirty="0">
                <a:latin typeface="+mn-ea"/>
              </a:rPr>
              <a:t>(PMIC)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3156726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참조</a:t>
            </a:r>
            <a:r>
              <a:rPr lang="en-US" altLang="ko-KR" sz="700" dirty="0">
                <a:latin typeface="+mn-ea"/>
              </a:rPr>
              <a:t>/</a:t>
            </a:r>
            <a:r>
              <a:rPr lang="ko-KR" altLang="en-US" sz="700" dirty="0">
                <a:latin typeface="+mn-ea"/>
              </a:rPr>
              <a:t>부분 서술형 </a:t>
            </a:r>
            <a:r>
              <a:rPr lang="ko-KR" altLang="en-US" sz="700" dirty="0" err="1">
                <a:latin typeface="+mn-ea"/>
              </a:rPr>
              <a:t>원인부호</a:t>
            </a:r>
            <a:r>
              <a:rPr lang="en-US" altLang="ko-KR" sz="700" dirty="0">
                <a:latin typeface="+mn-ea"/>
              </a:rPr>
              <a:t>(RPDMRC)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3594949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품목식별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dirty="0" err="1">
                <a:latin typeface="+mn-ea"/>
              </a:rPr>
              <a:t>형태부호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(TIIC)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4235259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재고번호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dirty="0" err="1">
                <a:latin typeface="+mn-ea"/>
              </a:rPr>
              <a:t>식별부호</a:t>
            </a:r>
            <a:r>
              <a:rPr lang="en-US" altLang="ko-KR" sz="700" dirty="0">
                <a:latin typeface="+mn-ea"/>
              </a:rPr>
              <a:t>(IS)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4438170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비군사화 부호</a:t>
            </a:r>
            <a:r>
              <a:rPr lang="en-US" altLang="ko-KR" sz="700" dirty="0">
                <a:latin typeface="+mn-ea"/>
              </a:rPr>
              <a:t>(DEMIL)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4661071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정전기 </a:t>
            </a:r>
            <a:r>
              <a:rPr lang="ko-KR" altLang="en-US" sz="700" dirty="0" err="1">
                <a:latin typeface="+mn-ea"/>
              </a:rPr>
              <a:t>방전부호</a:t>
            </a:r>
            <a:r>
              <a:rPr lang="en-US" altLang="ko-KR" sz="700" dirty="0">
                <a:latin typeface="+mn-ea"/>
              </a:rPr>
              <a:t>(ESDC)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4882515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품목식별번호 </a:t>
            </a:r>
            <a:r>
              <a:rPr lang="ko-KR" altLang="en-US" sz="700" dirty="0" err="1">
                <a:latin typeface="+mn-ea"/>
              </a:rPr>
              <a:t>상태부호</a:t>
            </a:r>
            <a:r>
              <a:rPr lang="en-US" altLang="ko-KR" sz="700" dirty="0">
                <a:latin typeface="+mn-ea"/>
              </a:rPr>
              <a:t>(NSC)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5092514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위험물자부호</a:t>
            </a:r>
            <a:r>
              <a:rPr lang="en-US" altLang="ko-KR" sz="700" dirty="0">
                <a:latin typeface="+mn-ea"/>
              </a:rPr>
              <a:t>(HMIC)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5294791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위험특성부호 </a:t>
            </a:r>
            <a:r>
              <a:rPr lang="en-US" altLang="ko-KR" sz="700" dirty="0">
                <a:latin typeface="+mn-ea"/>
              </a:rPr>
              <a:t>(HCC)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19639" y="5733773"/>
            <a:ext cx="7568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국가품목</a:t>
            </a:r>
            <a:r>
              <a:rPr lang="ko-KR" altLang="en-US" sz="700" dirty="0">
                <a:latin typeface="+mn-ea"/>
              </a:rPr>
              <a:t> 식별번호</a:t>
            </a:r>
            <a:r>
              <a:rPr lang="en-US" altLang="ko-KR" sz="700" dirty="0">
                <a:latin typeface="+mn-ea"/>
              </a:rPr>
              <a:t>(NIIN)</a:t>
            </a:r>
            <a:r>
              <a:rPr lang="ko-KR" altLang="en-US" sz="700" dirty="0" err="1">
                <a:latin typeface="+mn-ea"/>
              </a:rPr>
              <a:t>부여일자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7264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95603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형상자료</a:t>
            </a:r>
            <a:endParaRPr lang="ko-KR" altLang="en-US" sz="700" dirty="0">
              <a:latin typeface="+mn-ea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1956033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식별자료</a:t>
            </a:r>
            <a:endParaRPr lang="ko-KR" altLang="en-US" sz="700" b="1" dirty="0">
              <a:latin typeface="+mn-ea"/>
            </a:endParaRPr>
          </a:p>
        </p:txBody>
      </p: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1226273" y="2172640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60" name="그룹 159"/>
          <p:cNvGrpSpPr/>
          <p:nvPr/>
        </p:nvGrpSpPr>
        <p:grpSpPr>
          <a:xfrm>
            <a:off x="2924086" y="1917910"/>
            <a:ext cx="422853" cy="187961"/>
            <a:chOff x="3641308" y="2234886"/>
            <a:chExt cx="422853" cy="187961"/>
          </a:xfrm>
        </p:grpSpPr>
        <p:sp>
          <p:nvSpPr>
            <p:cNvPr id="161" name="타원 160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62" name="그룹 161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167" name="직선 연결선 16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8" name="직선 연결선 16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3" name="타원 162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64" name="그룹 163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165" name="직선 연결선 16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6" name="직선 연결선 16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754660" y="1956033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참고자료</a:t>
            </a:r>
          </a:p>
        </p:txBody>
      </p:sp>
      <p:grpSp>
        <p:nvGrpSpPr>
          <p:cNvPr id="170" name="그룹 169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71" name="직선 연결선 170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2" name="직선 연결선 171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3" name="TextBox 17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목록정보</a:t>
            </a:r>
            <a:r>
              <a:rPr lang="ko-KR" altLang="en-US" sz="900" dirty="0">
                <a:latin typeface="+mn-ea"/>
              </a:rPr>
              <a:t> 조회</a:t>
            </a:r>
          </a:p>
        </p:txBody>
      </p:sp>
      <p:grpSp>
        <p:nvGrpSpPr>
          <p:cNvPr id="174" name="그룹 173"/>
          <p:cNvGrpSpPr/>
          <p:nvPr/>
        </p:nvGrpSpPr>
        <p:grpSpPr>
          <a:xfrm>
            <a:off x="3795734" y="1630768"/>
            <a:ext cx="2712027" cy="216169"/>
            <a:chOff x="3795734" y="1630768"/>
            <a:chExt cx="2712027" cy="216169"/>
          </a:xfrm>
        </p:grpSpPr>
        <p:cxnSp>
          <p:nvCxnSpPr>
            <p:cNvPr id="175" name="직선 연결선 17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5734" y="184693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76" name="그룹 175"/>
            <p:cNvGrpSpPr/>
            <p:nvPr/>
          </p:nvGrpSpPr>
          <p:grpSpPr>
            <a:xfrm>
              <a:off x="6253541" y="1650089"/>
              <a:ext cx="94010" cy="94010"/>
              <a:chOff x="6812560" y="3297172"/>
              <a:chExt cx="94010" cy="94010"/>
            </a:xfrm>
          </p:grpSpPr>
          <p:cxnSp>
            <p:nvCxnSpPr>
              <p:cNvPr id="178" name="직선 연결선 177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9" name="직선 연결선 178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3679" y="1630768"/>
              <a:ext cx="179875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900" dirty="0" err="1">
                  <a:latin typeface="+mn-ea"/>
                </a:rPr>
                <a:t>목록정보</a:t>
              </a:r>
              <a:r>
                <a:rPr lang="ko-KR" altLang="en-US" sz="900" dirty="0">
                  <a:latin typeface="+mn-ea"/>
                </a:rPr>
                <a:t> 조회</a:t>
              </a:r>
            </a:p>
          </p:txBody>
        </p:sp>
      </p:grpSp>
      <p:grpSp>
        <p:nvGrpSpPr>
          <p:cNvPr id="97" name="그룹 96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98" name="직사각형 97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2026-05-27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04" name="직사각형 103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아이디 변경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 err="1"/>
                <a:t>풀페이지</a:t>
              </a:r>
              <a:r>
                <a:rPr lang="ko-KR" altLang="en-US" sz="700" dirty="0"/>
                <a:t> 팝업으로 변경</a:t>
              </a:r>
              <a:endParaRPr lang="en-US" altLang="ko-KR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5307990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참고자료 목록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목록정보조회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/>
              <a:t>군수품 목록 중 참고자료 정보를 조회하는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조달 계획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목록정보조회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/>
              <a:t>참고자료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MUI-OP-01-P76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3109080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lnSpc>
                <a:spcPct val="200000"/>
              </a:lnSpc>
              <a:defRPr sz="700">
                <a:latin typeface="+mn-ea"/>
              </a:defRPr>
            </a:lvl1pPr>
          </a:lstStyle>
          <a:p>
            <a:r>
              <a:rPr lang="ko-KR" altLang="en-US" dirty="0"/>
              <a:t>참고자료</a:t>
            </a:r>
          </a:p>
        </p:txBody>
      </p:sp>
      <p:grpSp>
        <p:nvGrpSpPr>
          <p:cNvPr id="157" name="그룹 156"/>
          <p:cNvGrpSpPr/>
          <p:nvPr/>
        </p:nvGrpSpPr>
        <p:grpSpPr>
          <a:xfrm flipV="1">
            <a:off x="3124233" y="3222411"/>
            <a:ext cx="94010" cy="47005"/>
            <a:chOff x="6812560" y="3297172"/>
            <a:chExt cx="94010" cy="47005"/>
          </a:xfrm>
        </p:grpSpPr>
        <p:cxnSp>
          <p:nvCxnSpPr>
            <p:cNvPr id="158" name="직선 연결선 15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직선 연결선 15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15770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69260" y="341590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5" name="직사각형 104"/>
          <p:cNvSpPr/>
          <p:nvPr/>
        </p:nvSpPr>
        <p:spPr>
          <a:xfrm>
            <a:off x="722583" y="3501195"/>
            <a:ext cx="792000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50119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3501195"/>
            <a:ext cx="670770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참고번호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R/N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생산자 </a:t>
            </a:r>
            <a:r>
              <a:rPr lang="en-US" altLang="ko-KR" sz="700" dirty="0">
                <a:latin typeface="+mn-ea"/>
              </a:rPr>
              <a:t>NSCM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형태 </a:t>
            </a:r>
            <a:r>
              <a:rPr lang="en-US" altLang="ko-KR" sz="700" dirty="0">
                <a:latin typeface="+mn-ea"/>
              </a:rPr>
              <a:t>RNFC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범주 </a:t>
            </a:r>
            <a:r>
              <a:rPr lang="en-US" altLang="ko-KR" sz="700" dirty="0">
                <a:latin typeface="+mn-ea"/>
              </a:rPr>
              <a:t>RNCC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분류 </a:t>
            </a:r>
            <a:r>
              <a:rPr lang="en-US" altLang="ko-KR" sz="700" dirty="0">
                <a:latin typeface="+mn-ea"/>
              </a:rPr>
              <a:t>RNVC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가용성 </a:t>
            </a:r>
            <a:r>
              <a:rPr lang="en-US" altLang="ko-KR" sz="700" dirty="0">
                <a:latin typeface="+mn-ea"/>
              </a:rPr>
              <a:t>DAC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조치 </a:t>
            </a:r>
            <a:r>
              <a:rPr lang="en-US" altLang="ko-KR" sz="700" dirty="0">
                <a:latin typeface="+mn-ea"/>
              </a:rPr>
              <a:t>RNAA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상태 </a:t>
            </a:r>
            <a:r>
              <a:rPr lang="en-US" altLang="ko-KR" sz="700" dirty="0">
                <a:latin typeface="+mn-ea"/>
              </a:rPr>
              <a:t>RNSC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교정 </a:t>
            </a:r>
            <a:r>
              <a:rPr lang="en-US" altLang="ko-KR" sz="700" dirty="0">
                <a:latin typeface="+mn-ea"/>
              </a:rPr>
              <a:t>RNIC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3501195"/>
            <a:ext cx="1784088" cy="17235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10000-012345-123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12345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4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KE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</a:t>
            </a:r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73230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94600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15971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767702" y="2742865"/>
            <a:ext cx="2522014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검색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114" name="모서리가 둥근 직사각형 113"/>
          <p:cNvSpPr/>
          <p:nvPr/>
        </p:nvSpPr>
        <p:spPr>
          <a:xfrm>
            <a:off x="1443878" y="2409150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NIIN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을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477463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NIIN</a:t>
            </a:r>
          </a:p>
        </p:txBody>
      </p:sp>
      <p:grpSp>
        <p:nvGrpSpPr>
          <p:cNvPr id="116" name="그룹 115"/>
          <p:cNvGrpSpPr/>
          <p:nvPr/>
        </p:nvGrpSpPr>
        <p:grpSpPr>
          <a:xfrm>
            <a:off x="3112794" y="2447436"/>
            <a:ext cx="145884" cy="145882"/>
            <a:chOff x="3112794" y="3984500"/>
            <a:chExt cx="145884" cy="145882"/>
          </a:xfrm>
        </p:grpSpPr>
        <p:sp>
          <p:nvSpPr>
            <p:cNvPr id="117" name="타원 116"/>
            <p:cNvSpPr/>
            <p:nvPr/>
          </p:nvSpPr>
          <p:spPr>
            <a:xfrm>
              <a:off x="3112794" y="3984500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8" name="그룹 117"/>
            <p:cNvGrpSpPr/>
            <p:nvPr/>
          </p:nvGrpSpPr>
          <p:grpSpPr>
            <a:xfrm>
              <a:off x="3156699" y="4028404"/>
              <a:ext cx="58075" cy="58074"/>
              <a:chOff x="6812560" y="3297172"/>
              <a:chExt cx="94010" cy="94010"/>
            </a:xfrm>
          </p:grpSpPr>
          <p:cxnSp>
            <p:nvCxnSpPr>
              <p:cNvPr id="119" name="직선 연결선 118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0" name="직선 연결선 119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08218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6334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59444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80815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02186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23269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44640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98" name="직사각형 97"/>
          <p:cNvSpPr/>
          <p:nvPr/>
        </p:nvSpPr>
        <p:spPr>
          <a:xfrm>
            <a:off x="3840699" y="2057748"/>
            <a:ext cx="792000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8606" y="205774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7763" y="2057748"/>
            <a:ext cx="670770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참고번호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R/N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생산자 </a:t>
            </a:r>
            <a:r>
              <a:rPr lang="en-US" altLang="ko-KR" sz="700" dirty="0">
                <a:latin typeface="+mn-ea"/>
              </a:rPr>
              <a:t>NSCM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형태 </a:t>
            </a:r>
            <a:r>
              <a:rPr lang="en-US" altLang="ko-KR" sz="700" dirty="0">
                <a:latin typeface="+mn-ea"/>
              </a:rPr>
              <a:t>RNFC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범주 </a:t>
            </a:r>
            <a:r>
              <a:rPr lang="en-US" altLang="ko-KR" sz="700" dirty="0">
                <a:latin typeface="+mn-ea"/>
              </a:rPr>
              <a:t>RNCC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분류 </a:t>
            </a:r>
            <a:r>
              <a:rPr lang="en-US" altLang="ko-KR" sz="700" dirty="0">
                <a:latin typeface="+mn-ea"/>
              </a:rPr>
              <a:t>RNVC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가용성 </a:t>
            </a:r>
            <a:r>
              <a:rPr lang="en-US" altLang="ko-KR" sz="700" dirty="0">
                <a:latin typeface="+mn-ea"/>
              </a:rPr>
              <a:t>DAC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조치 </a:t>
            </a:r>
            <a:r>
              <a:rPr lang="en-US" altLang="ko-KR" sz="700" dirty="0">
                <a:latin typeface="+mn-ea"/>
              </a:rPr>
              <a:t>RNAA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상태 </a:t>
            </a:r>
            <a:r>
              <a:rPr lang="en-US" altLang="ko-KR" sz="700" dirty="0">
                <a:latin typeface="+mn-ea"/>
              </a:rPr>
              <a:t>RNSC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교정 </a:t>
            </a:r>
            <a:r>
              <a:rPr lang="en-US" altLang="ko-KR" sz="700" dirty="0">
                <a:latin typeface="+mn-ea"/>
              </a:rPr>
              <a:t>RNIC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84611" y="2057748"/>
            <a:ext cx="1784088" cy="17235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10000-012345-123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12345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4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KE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</a:t>
            </a:r>
          </a:p>
        </p:txBody>
      </p: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228885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250256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271626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8606" y="291989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315100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336470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357841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378925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400295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7" name="직사각형 146"/>
          <p:cNvSpPr/>
          <p:nvPr/>
        </p:nvSpPr>
        <p:spPr>
          <a:xfrm>
            <a:off x="3840699" y="4133227"/>
            <a:ext cx="792000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8606" y="413322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7763" y="4133227"/>
            <a:ext cx="670770" cy="19389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참고번호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R/N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생산자 </a:t>
            </a:r>
            <a:r>
              <a:rPr lang="en-US" altLang="ko-KR" sz="700" dirty="0">
                <a:latin typeface="+mn-ea"/>
              </a:rPr>
              <a:t>NSCM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형태 </a:t>
            </a:r>
            <a:r>
              <a:rPr lang="en-US" altLang="ko-KR" sz="700" dirty="0">
                <a:latin typeface="+mn-ea"/>
              </a:rPr>
              <a:t>RNFC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범주 </a:t>
            </a:r>
            <a:r>
              <a:rPr lang="en-US" altLang="ko-KR" sz="700" dirty="0">
                <a:latin typeface="+mn-ea"/>
              </a:rPr>
              <a:t>RNCC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분류 </a:t>
            </a:r>
            <a:r>
              <a:rPr lang="en-US" altLang="ko-KR" sz="700" dirty="0">
                <a:latin typeface="+mn-ea"/>
              </a:rPr>
              <a:t>RNVC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가용성 </a:t>
            </a:r>
            <a:r>
              <a:rPr lang="en-US" altLang="ko-KR" sz="700" dirty="0">
                <a:latin typeface="+mn-ea"/>
              </a:rPr>
              <a:t>DAC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조치 </a:t>
            </a:r>
            <a:r>
              <a:rPr lang="en-US" altLang="ko-KR" sz="700" dirty="0">
                <a:latin typeface="+mn-ea"/>
              </a:rPr>
              <a:t>RNAA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상태 </a:t>
            </a:r>
            <a:r>
              <a:rPr lang="en-US" altLang="ko-KR" sz="700" dirty="0">
                <a:latin typeface="+mn-ea"/>
              </a:rPr>
              <a:t>RNSC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교정 </a:t>
            </a:r>
            <a:r>
              <a:rPr lang="en-US" altLang="ko-KR" sz="700" dirty="0">
                <a:latin typeface="+mn-ea"/>
              </a:rPr>
              <a:t>RNIC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684611" y="4133227"/>
            <a:ext cx="1784088" cy="17235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10000-012345-123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12345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4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3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KE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</a:t>
            </a:r>
          </a:p>
        </p:txBody>
      </p: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436433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457803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479174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4" name="직선 연결선 15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38606" y="499537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522648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544018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565389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586473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40699" y="6078437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7264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1956033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형상자료</a:t>
            </a:r>
            <a:endParaRPr lang="ko-KR" altLang="en-US" sz="700" dirty="0">
              <a:latin typeface="+mn-ea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1956033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식별자료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1754660" y="2172640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0" name="그룹 69"/>
          <p:cNvGrpSpPr/>
          <p:nvPr/>
        </p:nvGrpSpPr>
        <p:grpSpPr>
          <a:xfrm>
            <a:off x="2924086" y="1917910"/>
            <a:ext cx="422853" cy="187961"/>
            <a:chOff x="3641308" y="2234886"/>
            <a:chExt cx="422853" cy="187961"/>
          </a:xfrm>
        </p:grpSpPr>
        <p:sp>
          <p:nvSpPr>
            <p:cNvPr id="74" name="타원 73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5" name="그룹 74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81" name="직선 연결선 8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2" name="직선 연결선 8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76" name="타원 75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8" name="그룹 7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79" name="직선 연결선 7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직선 연결선 7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754660" y="1956033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참고자료</a:t>
            </a:r>
          </a:p>
        </p:txBody>
      </p:sp>
      <p:grpSp>
        <p:nvGrpSpPr>
          <p:cNvPr id="85" name="그룹 84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86" name="직선 연결선 8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목록정보</a:t>
            </a:r>
            <a:r>
              <a:rPr lang="ko-KR" altLang="en-US" sz="900" dirty="0">
                <a:latin typeface="+mn-ea"/>
              </a:rPr>
              <a:t> 조회</a:t>
            </a:r>
          </a:p>
        </p:txBody>
      </p:sp>
      <p:grpSp>
        <p:nvGrpSpPr>
          <p:cNvPr id="89" name="그룹 88"/>
          <p:cNvGrpSpPr/>
          <p:nvPr/>
        </p:nvGrpSpPr>
        <p:grpSpPr>
          <a:xfrm>
            <a:off x="3795734" y="1630768"/>
            <a:ext cx="2712027" cy="216169"/>
            <a:chOff x="3795734" y="1630768"/>
            <a:chExt cx="2712027" cy="216169"/>
          </a:xfrm>
        </p:grpSpPr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5734" y="184693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91" name="그룹 90"/>
            <p:cNvGrpSpPr/>
            <p:nvPr/>
          </p:nvGrpSpPr>
          <p:grpSpPr>
            <a:xfrm>
              <a:off x="6253541" y="1650089"/>
              <a:ext cx="94010" cy="94010"/>
              <a:chOff x="6812560" y="3297172"/>
              <a:chExt cx="94010" cy="94010"/>
            </a:xfrm>
          </p:grpSpPr>
          <p:cxnSp>
            <p:nvCxnSpPr>
              <p:cNvPr id="93" name="직선 연결선 92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직선 연결선 95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3679" y="1630768"/>
              <a:ext cx="179875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900" dirty="0" err="1">
                  <a:latin typeface="+mn-ea"/>
                </a:rPr>
                <a:t>목록정보</a:t>
              </a:r>
              <a:r>
                <a:rPr lang="ko-KR" altLang="en-US" sz="900" dirty="0">
                  <a:latin typeface="+mn-ea"/>
                </a:rPr>
                <a:t> 조회</a:t>
              </a:r>
            </a:p>
          </p:txBody>
        </p:sp>
      </p:grpSp>
      <p:grpSp>
        <p:nvGrpSpPr>
          <p:cNvPr id="99" name="그룹 98"/>
          <p:cNvGrpSpPr/>
          <p:nvPr/>
        </p:nvGrpSpPr>
        <p:grpSpPr>
          <a:xfrm>
            <a:off x="8223250" y="569392"/>
            <a:ext cx="3365500" cy="634511"/>
            <a:chOff x="8223250" y="569392"/>
            <a:chExt cx="3365500" cy="634511"/>
          </a:xfrm>
        </p:grpSpPr>
        <p:sp>
          <p:nvSpPr>
            <p:cNvPr id="100" name="직사각형 99"/>
            <p:cNvSpPr/>
            <p:nvPr/>
          </p:nvSpPr>
          <p:spPr>
            <a:xfrm>
              <a:off x="8223250" y="569392"/>
              <a:ext cx="1682750" cy="21946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rmAutofit fontScale="55000" lnSpcReduction="20000"/>
            </a:bodyPr>
            <a:lstStyle/>
            <a:p>
              <a:pPr algn="ctr"/>
              <a:r>
                <a:rPr lang="en-US" altLang="ko-KR" dirty="0"/>
                <a:t>2026-05-27 </a:t>
              </a:r>
              <a:r>
                <a:rPr lang="ko-KR" altLang="en-US" dirty="0"/>
                <a:t>화면 수정</a:t>
              </a:r>
            </a:p>
          </p:txBody>
        </p:sp>
        <p:sp>
          <p:nvSpPr>
            <p:cNvPr id="101" name="직사각형 100"/>
            <p:cNvSpPr/>
            <p:nvPr/>
          </p:nvSpPr>
          <p:spPr>
            <a:xfrm>
              <a:off x="9906000" y="569392"/>
              <a:ext cx="1682750" cy="6345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228600" indent="-228600">
                <a:buAutoNum type="arabicPeriod"/>
              </a:pPr>
              <a:r>
                <a:rPr lang="ko-KR" altLang="en-US" sz="700" dirty="0"/>
                <a:t>아이디 변경</a:t>
              </a:r>
              <a:endParaRPr lang="en-US" altLang="ko-KR" sz="700" dirty="0"/>
            </a:p>
            <a:p>
              <a:pPr marL="228600" indent="-228600">
                <a:buAutoNum type="arabicPeriod"/>
              </a:pPr>
              <a:r>
                <a:rPr lang="ko-KR" altLang="en-US" sz="700" dirty="0" err="1"/>
                <a:t>풀페이지</a:t>
              </a:r>
              <a:r>
                <a:rPr lang="ko-KR" altLang="en-US" sz="700" dirty="0"/>
                <a:t> 팝업으로 변경</a:t>
              </a:r>
              <a:endParaRPr lang="en-US" altLang="ko-KR" sz="700" dirty="0"/>
            </a:p>
          </p:txBody>
        </p:sp>
      </p:grpSp>
    </p:spTree>
    <p:extLst>
      <p:ext uri="{BB962C8B-B14F-4D97-AF65-F5344CB8AC3E}">
        <p14:creationId xmlns:p14="http://schemas.microsoft.com/office/powerpoint/2010/main" val="77878909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74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(1/3)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19507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목록정보 </a:t>
            </a:r>
            <a:r>
              <a:rPr lang="ko-KR" altLang="en-US" sz="900" b="1">
                <a:solidFill>
                  <a:prstClr val="black"/>
                </a:solidFill>
              </a:rPr>
              <a:t>검색조건 </a:t>
            </a:r>
            <a:r>
              <a:rPr lang="en-US" altLang="ko-KR" sz="900" b="1">
                <a:solidFill>
                  <a:prstClr val="black"/>
                </a:solidFill>
              </a:rPr>
              <a:t>(dm_searchInfo)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271CA1-8B7B-01B8-8587-605BE3417C65}"/>
              </a:ext>
            </a:extLst>
          </p:cNvPr>
          <p:cNvSpPr txBox="1"/>
          <p:nvPr/>
        </p:nvSpPr>
        <p:spPr>
          <a:xfrm>
            <a:off x="458117" y="1483622"/>
            <a:ext cx="206523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첨부자료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(dl_fileList)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invtNo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재고번호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FC692424-6A27-FF04-83B1-DBDD428A5857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695458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첨부파일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파일명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atchFileNm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첨부파일 파일명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C0D61993-505C-4C71-9A36-4C847A523E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8A57EB-F12E-C7A6-6842-FBF70B3AE60F}"/>
              </a:ext>
            </a:extLst>
          </p:cNvPr>
          <p:cNvSpPr txBox="1"/>
          <p:nvPr/>
        </p:nvSpPr>
        <p:spPr>
          <a:xfrm>
            <a:off x="458117" y="2366698"/>
            <a:ext cx="224637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식별정보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(dm_itemInfo)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998842C-2EC2-DFB4-AE8C-020AF03BE6FB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580794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invtNo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재고번호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영문품명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itemNmEng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</a:t>
                      </a:r>
                      <a:r>
                        <a:rPr lang="ko-KR" altLang="en-US" sz="800" dirty="0" err="1">
                          <a:latin typeface="+mn-ea"/>
                        </a:rPr>
                        <a:t>영문품명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한글품명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itemNmKor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</a:t>
                      </a:r>
                      <a:r>
                        <a:rPr lang="ko-KR" altLang="en-US" sz="800" dirty="0" err="1">
                          <a:latin typeface="+mn-ea"/>
                        </a:rPr>
                        <a:t>한글품명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6513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군급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fsc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</a:t>
                      </a:r>
                      <a:r>
                        <a:rPr lang="ko-KR" altLang="en-US" sz="800" dirty="0" err="1">
                          <a:latin typeface="+mn-ea"/>
                        </a:rPr>
                        <a:t>군급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077358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4C08C4C-316F-1057-06CD-E03ACDE76417}"/>
              </a:ext>
            </a:extLst>
          </p:cNvPr>
          <p:cNvSpPr txBox="1"/>
          <p:nvPr/>
        </p:nvSpPr>
        <p:spPr>
          <a:xfrm>
            <a:off x="458117" y="3623344"/>
            <a:ext cx="204600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참조번호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(dl_refList)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EA9CA9A-C29B-57CF-8AEE-025A6254F64E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3824906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참조번호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rfrncNo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참조번호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type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생산자부호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prdctnCd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생산자부호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6513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생산자명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prdctnNm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품목 생산자명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077358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83F75D0-A7C5-456D-60DA-64F21BF83E41}"/>
              </a:ext>
            </a:extLst>
          </p:cNvPr>
          <p:cNvSpPr txBox="1"/>
          <p:nvPr/>
        </p:nvSpPr>
        <p:spPr>
          <a:xfrm>
            <a:off x="458117" y="4938248"/>
            <a:ext cx="236980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업체정보 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(dm_bzentyInfo)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153BC2E2-C46D-7DAE-280E-B7E561862F04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5150084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23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bzentyNm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대표자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rprsvNm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 대표자명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본사주소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addr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 본사 주소지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6513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bzmnNo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 사업자번호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0773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전화번호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tlno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 전화번호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3346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FAX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fxno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 </a:t>
                      </a:r>
                      <a:r>
                        <a:rPr lang="en-US" altLang="ko-KR" sz="800" dirty="0">
                          <a:latin typeface="+mn-ea"/>
                        </a:rPr>
                        <a:t>FAX</a:t>
                      </a:r>
                      <a:r>
                        <a:rPr lang="ko-KR" altLang="en-US" sz="800" dirty="0">
                          <a:latin typeface="+mn-ea"/>
                        </a:rPr>
                        <a:t>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419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410861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75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(2/3)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26240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1.6. </a:t>
            </a:r>
            <a:r>
              <a:rPr lang="ko-KR" altLang="en-US" sz="900" b="1" dirty="0">
                <a:solidFill>
                  <a:prstClr val="black"/>
                </a:solidFill>
              </a:rPr>
              <a:t>식별자료 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(dm_idntfInfo)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C0D61993-505C-4C71-9A36-4C847A523E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71C8B1F-F6B4-27AC-275E-C147E0E57544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5385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lt"/>
                          <a:ea typeface="+mn-ea"/>
                        </a:rPr>
                        <a:t>군급분류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fsc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lt"/>
                          <a:ea typeface="+mn-ea"/>
                        </a:rPr>
                        <a:t>품목 </a:t>
                      </a:r>
                      <a:r>
                        <a:rPr lang="ko-KR" altLang="en-US" sz="800" dirty="0" err="1">
                          <a:latin typeface="+mn-lt"/>
                          <a:ea typeface="+mn-ea"/>
                        </a:rPr>
                        <a:t>군급분류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lt"/>
                          <a:ea typeface="+mn-ea"/>
                        </a:rPr>
                        <a:t>영문품명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itemNmEng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lt"/>
                          <a:ea typeface="+mn-ea"/>
                        </a:rPr>
                        <a:t>품목 </a:t>
                      </a:r>
                      <a:r>
                        <a:rPr lang="ko-KR" altLang="en-US" sz="800" dirty="0" err="1">
                          <a:latin typeface="+mn-lt"/>
                          <a:ea typeface="+mn-ea"/>
                        </a:rPr>
                        <a:t>영문품명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1750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lt"/>
                          <a:ea typeface="+mn-ea"/>
                        </a:rPr>
                        <a:t>한글품명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itemNmKor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lt"/>
                          <a:ea typeface="+mn-ea"/>
                        </a:rPr>
                        <a:t>품목 </a:t>
                      </a:r>
                      <a:r>
                        <a:rPr lang="ko-KR" altLang="en-US" sz="800" dirty="0" err="1">
                          <a:latin typeface="+mn-lt"/>
                          <a:ea typeface="+mn-ea"/>
                        </a:rPr>
                        <a:t>한글품명</a:t>
                      </a:r>
                      <a:endParaRPr lang="ko-KR" altLang="en-US" sz="800" dirty="0">
                        <a:latin typeface="+mn-lt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0838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FIIG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긴요도부호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FCC)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fcc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장비의 안전을 관리하는 코드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4216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취소이유 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(DRC)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drc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물리적 파괴나 변형이 필요한 정도를 구분하는 코드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3240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품목식별 지침서번호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(FIIG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순번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fiigNo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품목식별 지침서 가이드 번호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203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품명부호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INC)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표준화된 이름으로 식별하기 위해 부여된 식별번호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0161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자동자료처리 장비부호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(ADPEC)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adpec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컴퓨터 관련장비 여부와 그 관리 유형을 식별하는 코드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497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귀금속 지시부호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(PMIC)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pmic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귀중금속의 함유 여부와 종류를 식별하는 코드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4972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참조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부분 서술형 원인부호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(RPDMRC)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rpdmrc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파괴방법이 명시된 기술 교범의 참조 부호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948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대체재고 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sbst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nvtNo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대체재고 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1678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품목식별 형태부호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(TIIC)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tiic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형태를 구분하는 형태부호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2951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품종 구분번호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(CS)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품종 구분번호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059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제조국부호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NTL)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ntl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제조국부호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6726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재고번호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식별부호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(IS)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ls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현재의 운용 지위를 구분하는 식별 코드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3444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비군사화 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(DEMIL)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demil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풀리적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파괴 강도를 결정하는 부호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064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정전기 방전부호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(ESDC)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esdc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정전기 방지대책 필요여부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1274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품목식별번호 상태부호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(NSC)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nsc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사용가능한 살아있는 번호 인지를 식별하는 코드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616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위험물자부호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(HMIC)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hmic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위험물 여부를 식별하는 코드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2177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위험특성부호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(HCC)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hcc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위험등급을 식별하는 코드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6750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목록화담당자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picNm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목록화담당자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7150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국가품목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식별번호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(NIIN)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부여일자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niinYmd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고유 식별 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2539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자료변경일자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chgYmd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자료변경일자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8484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88897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76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(3/3)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04600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1.7. </a:t>
            </a:r>
            <a:r>
              <a:rPr lang="ko-KR" altLang="en-US" sz="900" b="1" dirty="0">
                <a:solidFill>
                  <a:prstClr val="black"/>
                </a:solidFill>
              </a:rPr>
              <a:t>참고자료 데이터 </a:t>
            </a:r>
            <a:r>
              <a:rPr lang="ko-KR" altLang="en-US" sz="900" b="1">
                <a:solidFill>
                  <a:prstClr val="black"/>
                </a:solidFill>
              </a:rPr>
              <a:t>영역 </a:t>
            </a:r>
            <a:r>
              <a:rPr lang="en-US" altLang="ko-KR" sz="900" b="1">
                <a:solidFill>
                  <a:prstClr val="black"/>
                </a:solidFill>
              </a:rPr>
              <a:t>(dl_refList)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C0D61993-505C-4C71-9A36-4C847A523E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71C8B1F-F6B4-27AC-275E-C147E0E57544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21331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참고번호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R/N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refNo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제품 일련번호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생산자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NSCM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nscm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제조업체에 부여된 </a:t>
                      </a:r>
                      <a:r>
                        <a:rPr lang="en-US" altLang="ko-KR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자리 고유 식별부호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1750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형태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RNFC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rnfc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군수품 종류와 특성을 구분하는 부호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0838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범주</a:t>
                      </a:r>
                      <a:r>
                        <a:rPr 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RNCC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rncc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유효성을 구분하는 부호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4216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분류</a:t>
                      </a:r>
                      <a:r>
                        <a:rPr 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RNVC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rnvc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식별수준을 구분하는 부호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3240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가용성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DAC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유해특성을 </a:t>
                      </a:r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구반하는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 식별코드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203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조치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RNAA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rnaa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참조번호 구분부호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0161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상태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RNSC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rnsc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참조번호 상태부호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497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교정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RNJC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rnjc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참조번호 정당화부호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4972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설계</a:t>
                      </a:r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SADC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sadc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민군공용부호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948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980262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4EE9817-F435-3C64-C10C-316201A70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77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1DB597-A49B-8096-250F-623826FE7BF3}"/>
              </a:ext>
            </a:extLst>
          </p:cNvPr>
          <p:cNvSpPr txBox="1"/>
          <p:nvPr/>
        </p:nvSpPr>
        <p:spPr>
          <a:xfrm>
            <a:off x="458117" y="585666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13A5854-3534-55A4-8BB0-F60C7ABCE698}"/>
              </a:ext>
            </a:extLst>
          </p:cNvPr>
          <p:cNvGraphicFramePr>
            <a:graphicFrameLocks noGrp="1"/>
          </p:cNvGraphicFramePr>
          <p:nvPr/>
        </p:nvGraphicFramePr>
        <p:xfrm>
          <a:off x="453000" y="863797"/>
          <a:ext cx="8995591" cy="1019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scwin.onpageload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 초기화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scwin.btn_search_onclick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검색조건에 맞는 군수품 목록정보 검색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0989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kern="0" dirty="0">
                          <a:latin typeface="+mn-lt"/>
                          <a:ea typeface="+mn-ea"/>
                        </a:rPr>
                        <a:t>업체정보 보기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>
                          <a:latin typeface="+mn-ea"/>
                          <a:ea typeface="+mn-ea"/>
                        </a:rPr>
                        <a:t>scwin.btn_searchDetail_onclick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  <a:ea typeface="+mn-ea"/>
                        </a:rPr>
                        <a:t>선택한 업체정보조회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9439429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3E990255-6E06-91ED-9E95-11F25BB06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26234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9220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11165</TotalTime>
  <Words>10532</Words>
  <Application>Microsoft Office PowerPoint</Application>
  <PresentationFormat>A4 용지(210x297mm)</PresentationFormat>
  <Paragraphs>5300</Paragraphs>
  <Slides>78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78</vt:i4>
      </vt:variant>
    </vt:vector>
  </HeadingPairs>
  <TitlesOfParts>
    <vt:vector size="87" baseType="lpstr">
      <vt:lpstr>Pretendard Medium</vt:lpstr>
      <vt:lpstr>맑은 고딕</vt:lpstr>
      <vt:lpstr>맑은 고딕 (본문)</vt:lpstr>
      <vt:lpstr>Arial</vt:lpstr>
      <vt:lpstr>Consolas</vt:lpstr>
      <vt:lpstr>Times New Roman</vt:lpstr>
      <vt:lpstr>Verdana</vt:lpstr>
      <vt:lpstr>Wingdings</vt:lpstr>
      <vt:lpstr>Office 테마</vt:lpstr>
      <vt:lpstr>사용자인터페이스 설계서 - 모바일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LIG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표준서식-PPTX-A4-Landscape</dc:title>
  <dc:subject>프로젝트 명</dc:subject>
  <dc:creator>LIG SYSTEM</dc:creator>
  <cp:keywords>표준서식-PPTX-A4-Landscape</cp:keywords>
  <cp:lastModifiedBy>User</cp:lastModifiedBy>
  <cp:revision>731</cp:revision>
  <cp:lastPrinted>2016-10-27T08:57:39Z</cp:lastPrinted>
  <dcterms:created xsi:type="dcterms:W3CDTF">2016-10-27T07:41:55Z</dcterms:created>
  <dcterms:modified xsi:type="dcterms:W3CDTF">2026-06-19T01:50:11Z</dcterms:modified>
  <cp:category>서브시스템/업무명</cp:category>
  <cp:contentStatus>0.1</cp:contentStatus>
</cp:coreProperties>
</file>