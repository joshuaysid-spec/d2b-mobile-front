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71"/>
  </p:notesMasterIdLst>
  <p:handoutMasterIdLst>
    <p:handoutMasterId r:id="rId372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271" r:id="rId15"/>
    <p:sldId id="757" r:id="rId16"/>
    <p:sldId id="743" r:id="rId17"/>
    <p:sldId id="758" r:id="rId18"/>
    <p:sldId id="273" r:id="rId19"/>
    <p:sldId id="275" r:id="rId20"/>
    <p:sldId id="276" r:id="rId21"/>
    <p:sldId id="277" r:id="rId22"/>
    <p:sldId id="279" r:id="rId23"/>
    <p:sldId id="744" r:id="rId24"/>
    <p:sldId id="301" r:id="rId25"/>
    <p:sldId id="503" r:id="rId26"/>
    <p:sldId id="284" r:id="rId27"/>
    <p:sldId id="288" r:id="rId28"/>
    <p:sldId id="289" r:id="rId29"/>
    <p:sldId id="290" r:id="rId30"/>
    <p:sldId id="308" r:id="rId31"/>
    <p:sldId id="309" r:id="rId32"/>
    <p:sldId id="310" r:id="rId33"/>
    <p:sldId id="724" r:id="rId34"/>
    <p:sldId id="386" r:id="rId35"/>
    <p:sldId id="420" r:id="rId36"/>
    <p:sldId id="311" r:id="rId37"/>
    <p:sldId id="714" r:id="rId38"/>
    <p:sldId id="314" r:id="rId39"/>
    <p:sldId id="715" r:id="rId40"/>
    <p:sldId id="317" r:id="rId41"/>
    <p:sldId id="322" r:id="rId42"/>
    <p:sldId id="716" r:id="rId43"/>
    <p:sldId id="313" r:id="rId44"/>
    <p:sldId id="318" r:id="rId45"/>
    <p:sldId id="323" r:id="rId46"/>
    <p:sldId id="717" r:id="rId47"/>
    <p:sldId id="324" r:id="rId48"/>
    <p:sldId id="718" r:id="rId49"/>
    <p:sldId id="319" r:id="rId50"/>
    <p:sldId id="315" r:id="rId51"/>
    <p:sldId id="316" r:id="rId52"/>
    <p:sldId id="321" r:id="rId53"/>
    <p:sldId id="320" r:id="rId54"/>
    <p:sldId id="326" r:id="rId55"/>
    <p:sldId id="325" r:id="rId56"/>
    <p:sldId id="759" r:id="rId57"/>
    <p:sldId id="327" r:id="rId58"/>
    <p:sldId id="328" r:id="rId59"/>
    <p:sldId id="330" r:id="rId60"/>
    <p:sldId id="329" r:id="rId61"/>
    <p:sldId id="331" r:id="rId62"/>
    <p:sldId id="746" r:id="rId63"/>
    <p:sldId id="374" r:id="rId64"/>
    <p:sldId id="375" r:id="rId65"/>
    <p:sldId id="760" r:id="rId66"/>
    <p:sldId id="332" r:id="rId67"/>
    <p:sldId id="371" r:id="rId68"/>
    <p:sldId id="372" r:id="rId69"/>
    <p:sldId id="373" r:id="rId70"/>
    <p:sldId id="747" r:id="rId71"/>
    <p:sldId id="762" r:id="rId72"/>
    <p:sldId id="748" r:id="rId73"/>
    <p:sldId id="761" r:id="rId74"/>
    <p:sldId id="749" r:id="rId75"/>
    <p:sldId id="378" r:id="rId76"/>
    <p:sldId id="379" r:id="rId77"/>
    <p:sldId id="725" r:id="rId78"/>
    <p:sldId id="380" r:id="rId79"/>
    <p:sldId id="381" r:id="rId80"/>
    <p:sldId id="382" r:id="rId81"/>
    <p:sldId id="383" r:id="rId82"/>
    <p:sldId id="726" r:id="rId83"/>
    <p:sldId id="727" r:id="rId84"/>
    <p:sldId id="384" r:id="rId85"/>
    <p:sldId id="728" r:id="rId86"/>
    <p:sldId id="385" r:id="rId87"/>
    <p:sldId id="400" r:id="rId88"/>
    <p:sldId id="401" r:id="rId89"/>
    <p:sldId id="729" r:id="rId90"/>
    <p:sldId id="402" r:id="rId91"/>
    <p:sldId id="504" r:id="rId92"/>
    <p:sldId id="403" r:id="rId93"/>
    <p:sldId id="404" r:id="rId94"/>
    <p:sldId id="730" r:id="rId95"/>
    <p:sldId id="731" r:id="rId96"/>
    <p:sldId id="732" r:id="rId97"/>
    <p:sldId id="733" r:id="rId98"/>
    <p:sldId id="734" r:id="rId99"/>
    <p:sldId id="735" r:id="rId100"/>
    <p:sldId id="736" r:id="rId101"/>
    <p:sldId id="405" r:id="rId102"/>
    <p:sldId id="737" r:id="rId103"/>
    <p:sldId id="406" r:id="rId104"/>
    <p:sldId id="738" r:id="rId105"/>
    <p:sldId id="626" r:id="rId106"/>
    <p:sldId id="407" r:id="rId107"/>
    <p:sldId id="408" r:id="rId108"/>
    <p:sldId id="739" r:id="rId109"/>
    <p:sldId id="409" r:id="rId110"/>
    <p:sldId id="740" r:id="rId111"/>
    <p:sldId id="410" r:id="rId112"/>
    <p:sldId id="577" r:id="rId113"/>
    <p:sldId id="411" r:id="rId114"/>
    <p:sldId id="412" r:id="rId115"/>
    <p:sldId id="505" r:id="rId116"/>
    <p:sldId id="506" r:id="rId117"/>
    <p:sldId id="507" r:id="rId118"/>
    <p:sldId id="508" r:id="rId119"/>
    <p:sldId id="413" r:id="rId120"/>
    <p:sldId id="719" r:id="rId121"/>
    <p:sldId id="414" r:id="rId122"/>
    <p:sldId id="509" r:id="rId123"/>
    <p:sldId id="510" r:id="rId124"/>
    <p:sldId id="511" r:id="rId125"/>
    <p:sldId id="512" r:id="rId126"/>
    <p:sldId id="513" r:id="rId127"/>
    <p:sldId id="514" r:id="rId128"/>
    <p:sldId id="515" r:id="rId129"/>
    <p:sldId id="516" r:id="rId130"/>
    <p:sldId id="415" r:id="rId131"/>
    <p:sldId id="518" r:id="rId132"/>
    <p:sldId id="519" r:id="rId133"/>
    <p:sldId id="517" r:id="rId134"/>
    <p:sldId id="521" r:id="rId135"/>
    <p:sldId id="524" r:id="rId136"/>
    <p:sldId id="522" r:id="rId137"/>
    <p:sldId id="525" r:id="rId138"/>
    <p:sldId id="526" r:id="rId139"/>
    <p:sldId id="720" r:id="rId140"/>
    <p:sldId id="528" r:id="rId141"/>
    <p:sldId id="529" r:id="rId142"/>
    <p:sldId id="530" r:id="rId143"/>
    <p:sldId id="531" r:id="rId144"/>
    <p:sldId id="532" r:id="rId145"/>
    <p:sldId id="541" r:id="rId146"/>
    <p:sldId id="756" r:id="rId147"/>
    <p:sldId id="536" r:id="rId148"/>
    <p:sldId id="537" r:id="rId149"/>
    <p:sldId id="538" r:id="rId150"/>
    <p:sldId id="539" r:id="rId151"/>
    <p:sldId id="540" r:id="rId152"/>
    <p:sldId id="533" r:id="rId153"/>
    <p:sldId id="535" r:id="rId154"/>
    <p:sldId id="542" r:id="rId155"/>
    <p:sldId id="543" r:id="rId156"/>
    <p:sldId id="544" r:id="rId157"/>
    <p:sldId id="545" r:id="rId158"/>
    <p:sldId id="546" r:id="rId159"/>
    <p:sldId id="547" r:id="rId160"/>
    <p:sldId id="548" r:id="rId161"/>
    <p:sldId id="549" r:id="rId162"/>
    <p:sldId id="550" r:id="rId163"/>
    <p:sldId id="551" r:id="rId164"/>
    <p:sldId id="552" r:id="rId165"/>
    <p:sldId id="553" r:id="rId166"/>
    <p:sldId id="556" r:id="rId167"/>
    <p:sldId id="557" r:id="rId168"/>
    <p:sldId id="560" r:id="rId169"/>
    <p:sldId id="558" r:id="rId170"/>
    <p:sldId id="559" r:id="rId171"/>
    <p:sldId id="555" r:id="rId172"/>
    <p:sldId id="554" r:id="rId173"/>
    <p:sldId id="561" r:id="rId174"/>
    <p:sldId id="562" r:id="rId175"/>
    <p:sldId id="563" r:id="rId176"/>
    <p:sldId id="564" r:id="rId177"/>
    <p:sldId id="565" r:id="rId178"/>
    <p:sldId id="566" r:id="rId179"/>
    <p:sldId id="569" r:id="rId180"/>
    <p:sldId id="567" r:id="rId181"/>
    <p:sldId id="568" r:id="rId182"/>
    <p:sldId id="570" r:id="rId183"/>
    <p:sldId id="571" r:id="rId184"/>
    <p:sldId id="572" r:id="rId185"/>
    <p:sldId id="722" r:id="rId186"/>
    <p:sldId id="574" r:id="rId187"/>
    <p:sldId id="578" r:id="rId188"/>
    <p:sldId id="575" r:id="rId189"/>
    <p:sldId id="576" r:id="rId190"/>
    <p:sldId id="590" r:id="rId191"/>
    <p:sldId id="591" r:id="rId192"/>
    <p:sldId id="592" r:id="rId193"/>
    <p:sldId id="588" r:id="rId194"/>
    <p:sldId id="589" r:id="rId195"/>
    <p:sldId id="593" r:id="rId196"/>
    <p:sldId id="595" r:id="rId197"/>
    <p:sldId id="596" r:id="rId198"/>
    <p:sldId id="594" r:id="rId199"/>
    <p:sldId id="579" r:id="rId200"/>
    <p:sldId id="583" r:id="rId201"/>
    <p:sldId id="580" r:id="rId202"/>
    <p:sldId id="582" r:id="rId203"/>
    <p:sldId id="584" r:id="rId204"/>
    <p:sldId id="587" r:id="rId205"/>
    <p:sldId id="586" r:id="rId206"/>
    <p:sldId id="585" r:id="rId207"/>
    <p:sldId id="337" r:id="rId208"/>
    <p:sldId id="763" r:id="rId209"/>
    <p:sldId id="764" r:id="rId210"/>
    <p:sldId id="765" r:id="rId211"/>
    <p:sldId id="338" r:id="rId212"/>
    <p:sldId id="766" r:id="rId213"/>
    <p:sldId id="750" r:id="rId214"/>
    <p:sldId id="767" r:id="rId215"/>
    <p:sldId id="768" r:id="rId216"/>
    <p:sldId id="388" r:id="rId217"/>
    <p:sldId id="611" r:id="rId218"/>
    <p:sldId id="612" r:id="rId219"/>
    <p:sldId id="613" r:id="rId220"/>
    <p:sldId id="614" r:id="rId221"/>
    <p:sldId id="615" r:id="rId222"/>
    <p:sldId id="616" r:id="rId223"/>
    <p:sldId id="617" r:id="rId224"/>
    <p:sldId id="389" r:id="rId225"/>
    <p:sldId id="618" r:id="rId226"/>
    <p:sldId id="619" r:id="rId227"/>
    <p:sldId id="620" r:id="rId228"/>
    <p:sldId id="621" r:id="rId229"/>
    <p:sldId id="622" r:id="rId230"/>
    <p:sldId id="623" r:id="rId231"/>
    <p:sldId id="624" r:id="rId232"/>
    <p:sldId id="390" r:id="rId233"/>
    <p:sldId id="627" r:id="rId234"/>
    <p:sldId id="392" r:id="rId235"/>
    <p:sldId id="393" r:id="rId236"/>
    <p:sldId id="628" r:id="rId237"/>
    <p:sldId id="629" r:id="rId238"/>
    <p:sldId id="394" r:id="rId239"/>
    <p:sldId id="630" r:id="rId240"/>
    <p:sldId id="631" r:id="rId241"/>
    <p:sldId id="632" r:id="rId242"/>
    <p:sldId id="633" r:id="rId243"/>
    <p:sldId id="634" r:id="rId244"/>
    <p:sldId id="635" r:id="rId245"/>
    <p:sldId id="636" r:id="rId246"/>
    <p:sldId id="637" r:id="rId247"/>
    <p:sldId id="638" r:id="rId248"/>
    <p:sldId id="639" r:id="rId249"/>
    <p:sldId id="640" r:id="rId250"/>
    <p:sldId id="641" r:id="rId251"/>
    <p:sldId id="642" r:id="rId252"/>
    <p:sldId id="643" r:id="rId253"/>
    <p:sldId id="644" r:id="rId254"/>
    <p:sldId id="645" r:id="rId255"/>
    <p:sldId id="646" r:id="rId256"/>
    <p:sldId id="647" r:id="rId257"/>
    <p:sldId id="668" r:id="rId258"/>
    <p:sldId id="669" r:id="rId259"/>
    <p:sldId id="670" r:id="rId260"/>
    <p:sldId id="648" r:id="rId261"/>
    <p:sldId id="649" r:id="rId262"/>
    <p:sldId id="650" r:id="rId263"/>
    <p:sldId id="723" r:id="rId264"/>
    <p:sldId id="652" r:id="rId265"/>
    <p:sldId id="653" r:id="rId266"/>
    <p:sldId id="654" r:id="rId267"/>
    <p:sldId id="655" r:id="rId268"/>
    <p:sldId id="656" r:id="rId269"/>
    <p:sldId id="657" r:id="rId270"/>
    <p:sldId id="658" r:id="rId271"/>
    <p:sldId id="659" r:id="rId272"/>
    <p:sldId id="660" r:id="rId273"/>
    <p:sldId id="661" r:id="rId274"/>
    <p:sldId id="662" r:id="rId275"/>
    <p:sldId id="663" r:id="rId276"/>
    <p:sldId id="664" r:id="rId277"/>
    <p:sldId id="665" r:id="rId278"/>
    <p:sldId id="666" r:id="rId279"/>
    <p:sldId id="667" r:id="rId280"/>
    <p:sldId id="395" r:id="rId281"/>
    <p:sldId id="671" r:id="rId282"/>
    <p:sldId id="672" r:id="rId283"/>
    <p:sldId id="673" r:id="rId284"/>
    <p:sldId id="674" r:id="rId285"/>
    <p:sldId id="675" r:id="rId286"/>
    <p:sldId id="676" r:id="rId287"/>
    <p:sldId id="677" r:id="rId288"/>
    <p:sldId id="678" r:id="rId289"/>
    <p:sldId id="679" r:id="rId290"/>
    <p:sldId id="680" r:id="rId291"/>
    <p:sldId id="681" r:id="rId292"/>
    <p:sldId id="682" r:id="rId293"/>
    <p:sldId id="683" r:id="rId294"/>
    <p:sldId id="684" r:id="rId295"/>
    <p:sldId id="685" r:id="rId296"/>
    <p:sldId id="686" r:id="rId297"/>
    <p:sldId id="687" r:id="rId298"/>
    <p:sldId id="688" r:id="rId299"/>
    <p:sldId id="689" r:id="rId300"/>
    <p:sldId id="690" r:id="rId301"/>
    <p:sldId id="691" r:id="rId302"/>
    <p:sldId id="692" r:id="rId303"/>
    <p:sldId id="693" r:id="rId304"/>
    <p:sldId id="694" r:id="rId305"/>
    <p:sldId id="695" r:id="rId306"/>
    <p:sldId id="696" r:id="rId307"/>
    <p:sldId id="697" r:id="rId308"/>
    <p:sldId id="698" r:id="rId309"/>
    <p:sldId id="699" r:id="rId310"/>
    <p:sldId id="700" r:id="rId311"/>
    <p:sldId id="701" r:id="rId312"/>
    <p:sldId id="702" r:id="rId313"/>
    <p:sldId id="703" r:id="rId314"/>
    <p:sldId id="704" r:id="rId315"/>
    <p:sldId id="705" r:id="rId316"/>
    <p:sldId id="706" r:id="rId317"/>
    <p:sldId id="707" r:id="rId318"/>
    <p:sldId id="708" r:id="rId319"/>
    <p:sldId id="709" r:id="rId320"/>
    <p:sldId id="710" r:id="rId321"/>
    <p:sldId id="711" r:id="rId322"/>
    <p:sldId id="712" r:id="rId323"/>
    <p:sldId id="713" r:id="rId324"/>
    <p:sldId id="597" r:id="rId325"/>
    <p:sldId id="599" r:id="rId326"/>
    <p:sldId id="600" r:id="rId327"/>
    <p:sldId id="598" r:id="rId328"/>
    <p:sldId id="601" r:id="rId329"/>
    <p:sldId id="602" r:id="rId330"/>
    <p:sldId id="603" r:id="rId331"/>
    <p:sldId id="604" r:id="rId332"/>
    <p:sldId id="605" r:id="rId333"/>
    <p:sldId id="340" r:id="rId334"/>
    <p:sldId id="341" r:id="rId335"/>
    <p:sldId id="751" r:id="rId336"/>
    <p:sldId id="365" r:id="rId337"/>
    <p:sldId id="366" r:id="rId338"/>
    <p:sldId id="367" r:id="rId339"/>
    <p:sldId id="368" r:id="rId340"/>
    <p:sldId id="369" r:id="rId341"/>
    <p:sldId id="370" r:id="rId342"/>
    <p:sldId id="387" r:id="rId343"/>
    <p:sldId id="356" r:id="rId344"/>
    <p:sldId id="357" r:id="rId345"/>
    <p:sldId id="753" r:id="rId346"/>
    <p:sldId id="359" r:id="rId347"/>
    <p:sldId id="360" r:id="rId348"/>
    <p:sldId id="361" r:id="rId349"/>
    <p:sldId id="755" r:id="rId350"/>
    <p:sldId id="363" r:id="rId351"/>
    <p:sldId id="364" r:id="rId352"/>
    <p:sldId id="344" r:id="rId353"/>
    <p:sldId id="345" r:id="rId354"/>
    <p:sldId id="752" r:id="rId355"/>
    <p:sldId id="343" r:id="rId356"/>
    <p:sldId id="347" r:id="rId357"/>
    <p:sldId id="348" r:id="rId358"/>
    <p:sldId id="349" r:id="rId359"/>
    <p:sldId id="350" r:id="rId360"/>
    <p:sldId id="351" r:id="rId361"/>
    <p:sldId id="352" r:id="rId362"/>
    <p:sldId id="353" r:id="rId363"/>
    <p:sldId id="354" r:id="rId364"/>
    <p:sldId id="769" r:id="rId365"/>
    <p:sldId id="608" r:id="rId366"/>
    <p:sldId id="609" r:id="rId367"/>
    <p:sldId id="754" r:id="rId368"/>
    <p:sldId id="607" r:id="rId369"/>
    <p:sldId id="625" r:id="rId370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271"/>
            <p14:sldId id="757"/>
            <p14:sldId id="743"/>
            <p14:sldId id="758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386"/>
            <p14:sldId id="420"/>
            <p14:sldId id="311"/>
            <p14:sldId id="714"/>
            <p14:sldId id="314"/>
            <p14:sldId id="715"/>
            <p14:sldId id="317"/>
            <p14:sldId id="322"/>
            <p14:sldId id="716"/>
            <p14:sldId id="313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759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760"/>
            <p14:sldId id="332"/>
            <p14:sldId id="371"/>
            <p14:sldId id="372"/>
            <p14:sldId id="373"/>
            <p14:sldId id="747"/>
            <p14:sldId id="762"/>
            <p14:sldId id="748"/>
            <p14:sldId id="761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403"/>
            <p14:sldId id="404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524"/>
            <p14:sldId id="522"/>
            <p14:sldId id="525"/>
            <p14:sldId id="526"/>
            <p14:sldId id="720"/>
            <p14:sldId id="528"/>
            <p14:sldId id="529"/>
            <p14:sldId id="530"/>
            <p14:sldId id="531"/>
            <p14:sldId id="532"/>
            <p14:sldId id="541"/>
            <p14:sldId id="756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763"/>
            <p14:sldId id="764"/>
            <p14:sldId id="765"/>
            <p14:sldId id="338"/>
            <p14:sldId id="766"/>
            <p14:sldId id="750"/>
            <p14:sldId id="767"/>
            <p14:sldId id="768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392"/>
            <p14:sldId id="393"/>
            <p14:sldId id="628"/>
            <p14:sldId id="629"/>
            <p14:sldId id="394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769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B9BD5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869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446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371" Type="http://schemas.openxmlformats.org/officeDocument/2006/relationships/notesMaster" Target="notesMasters/notesMaster1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handoutMaster" Target="handoutMasters/handoutMaster1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viewProps" Target="viewProps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theme" Target="theme/theme1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tableStyles" Target="tableStyles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2026-07-10 (Friday)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2026-07-10 (Friday)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27041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49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570426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앱실행스플래시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앱업데이트안내팝업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앱오류안내팝업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-01-M06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앱이용안내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smtClean="0">
                          <a:latin typeface="+mn-ea"/>
                          <a:ea typeface="+mn-ea"/>
                        </a:rPr>
                        <a:t>메인홈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중요공지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챗봇문의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햄버거메뉴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알림현황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로그인업체설정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67125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방식선택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mainLoginPage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0190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idPswdLoginPage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PswdRegInfoFndngPage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사용자등록안내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UserRegInfoPage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584593"/>
              </p:ext>
            </p:extLst>
          </p:nvPr>
        </p:nvGraphicFramePr>
        <p:xfrm>
          <a:off x="635474" y="1413419"/>
          <a:ext cx="8701200" cy="37919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간편인증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SimpleCert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FnstCert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공동인증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JntCert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모바일신분증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MobileIdntyCert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BioInfoCertRegPage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등록 완료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BioInfoCertRsltPage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96699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인증성공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실패안내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CertRsltPage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PcQRLgnPage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로그아웃안내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LgoInfo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로그인필요서비스안내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LgnSrvcInfo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비로그인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노출되는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스플래시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로고 노출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안내 팝업 노출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실행 완료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91" idx="0"/>
          </p:cNvCxnSpPr>
          <p:nvPr/>
        </p:nvCxnSpPr>
        <p:spPr>
          <a:xfrm>
            <a:off x="4647742" y="2595750"/>
            <a:ext cx="0" cy="107521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 보기 선택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405859" y="3670961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최신화 완료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접근 권한 안내</a:t>
            </a: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푸시 동의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카메라 접근 동의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 진입</a:t>
            </a: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333723" y="4349746"/>
            <a:ext cx="86401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이용안내 </a:t>
            </a:r>
            <a:r>
              <a:rPr lang="en-US" altLang="ko-KR" sz="800" dirty="0">
                <a:solidFill>
                  <a:schemeClr val="tx1"/>
                </a:solidFill>
              </a:rPr>
              <a:t>= </a:t>
            </a:r>
            <a:r>
              <a:rPr lang="ko-KR" altLang="en-US" sz="800" dirty="0">
                <a:solidFill>
                  <a:schemeClr val="tx1"/>
                </a:solidFill>
              </a:rPr>
              <a:t>도움말</a:t>
            </a: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grpSp>
        <p:nvGrpSpPr>
          <p:cNvPr id="55" name="그룹 5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햄버거 메뉴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3614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53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3130536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3130535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3130535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 현황</a:t>
            </a: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 결과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43441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73" idx="1"/>
          </p:cNvCxnSpPr>
          <p:nvPr/>
        </p:nvCxnSpPr>
        <p:spPr>
          <a:xfrm>
            <a:off x="6928876" y="3130536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04" idx="2"/>
          </p:cNvCxnSpPr>
          <p:nvPr/>
        </p:nvCxnSpPr>
        <p:spPr>
          <a:xfrm flipV="1">
            <a:off x="8760010" y="3130535"/>
            <a:ext cx="398685" cy="1357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0186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6" idx="1"/>
          </p:cNvCxnSpPr>
          <p:nvPr/>
        </p:nvCxnSpPr>
        <p:spPr>
          <a:xfrm>
            <a:off x="6928876" y="3130536"/>
            <a:ext cx="931134" cy="20321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04" idx="2"/>
          </p:cNvCxnSpPr>
          <p:nvPr/>
        </p:nvCxnSpPr>
        <p:spPr>
          <a:xfrm flipV="1">
            <a:off x="8760010" y="3130535"/>
            <a:ext cx="398685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 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1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97" idx="1"/>
          </p:cNvCxnSpPr>
          <p:nvPr/>
        </p:nvCxnSpPr>
        <p:spPr>
          <a:xfrm>
            <a:off x="5097742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안내</a:t>
            </a: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 rot="16200000" flipH="1">
            <a:off x="5367916" y="1875576"/>
            <a:ext cx="39078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2184638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상태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45" idx="1"/>
          </p:cNvCxnSpPr>
          <p:nvPr/>
        </p:nvCxnSpPr>
        <p:spPr>
          <a:xfrm>
            <a:off x="5097742" y="3130536"/>
            <a:ext cx="931134" cy="6817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6932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6" idx="2"/>
            <a:endCxn id="154" idx="0"/>
          </p:cNvCxnSpPr>
          <p:nvPr/>
        </p:nvCxnSpPr>
        <p:spPr>
          <a:xfrm>
            <a:off x="8310010" y="5306663"/>
            <a:ext cx="0" cy="38655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4" idx="2"/>
          </p:cNvCxnSpPr>
          <p:nvPr/>
        </p:nvCxnSpPr>
        <p:spPr>
          <a:xfrm flipV="1">
            <a:off x="8760010" y="3130535"/>
            <a:ext cx="398685" cy="270668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4" idx="2"/>
          </p:cNvCxnSpPr>
          <p:nvPr/>
        </p:nvCxnSpPr>
        <p:spPr>
          <a:xfrm>
            <a:off x="6928876" y="2451750"/>
            <a:ext cx="2229819" cy="678785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</a:rPr>
              <a:t>챗봇</a:t>
            </a:r>
            <a:r>
              <a:rPr lang="ko-KR" altLang="en-US" sz="800" dirty="0">
                <a:solidFill>
                  <a:schemeClr val="tx1"/>
                </a:solidFill>
              </a:rPr>
              <a:t> 문의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6359879" y="59247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6388876" y="5744298"/>
            <a:ext cx="180000" cy="180000"/>
            <a:chOff x="5058274" y="2498299"/>
            <a:chExt cx="180000" cy="180000"/>
          </a:xfrm>
        </p:grpSpPr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80" name="직선 화살표 연결선 1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7" idx="2"/>
          </p:cNvCxnSpPr>
          <p:nvPr/>
        </p:nvCxnSpPr>
        <p:spPr>
          <a:xfrm>
            <a:off x="5097742" y="5834298"/>
            <a:ext cx="129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3" idx="2"/>
            <a:endCxn id="177" idx="0"/>
          </p:cNvCxnSpPr>
          <p:nvPr/>
        </p:nvCxnSpPr>
        <p:spPr>
          <a:xfrm>
            <a:off x="6478876" y="5306663"/>
            <a:ext cx="0" cy="4376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77" idx="6"/>
          </p:cNvCxnSpPr>
          <p:nvPr/>
        </p:nvCxnSpPr>
        <p:spPr>
          <a:xfrm flipH="1">
            <a:off x="6568876" y="3812244"/>
            <a:ext cx="360000" cy="2022054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12" idx="3"/>
          </p:cNvCxnSpPr>
          <p:nvPr/>
        </p:nvCxnSpPr>
        <p:spPr>
          <a:xfrm>
            <a:off x="5097742" y="1772964"/>
            <a:ext cx="12700" cy="678786"/>
          </a:xfrm>
          <a:prstGeom prst="bentConnector3">
            <a:avLst>
              <a:gd name="adj1" fmla="val 368235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3667" y="1920752"/>
            <a:ext cx="99386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PC </a:t>
            </a:r>
            <a:r>
              <a:rPr lang="ko-KR" altLang="en-US" sz="800" dirty="0">
                <a:solidFill>
                  <a:schemeClr val="tx1"/>
                </a:solidFill>
              </a:rPr>
              <a:t>화면의 </a:t>
            </a:r>
            <a:r>
              <a:rPr lang="en-US" altLang="ko-KR" sz="800" dirty="0">
                <a:solidFill>
                  <a:schemeClr val="tx1"/>
                </a:solidFill>
              </a:rPr>
              <a:t>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화면 스캔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3289310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6" name="그룹 7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19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72421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20390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행안부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10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07" idx="1"/>
          </p:cNvCxnSpPr>
          <p:nvPr/>
        </p:nvCxnSpPr>
        <p:spPr>
          <a:xfrm>
            <a:off x="5097742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6" idx="1"/>
          </p:cNvCxnSpPr>
          <p:nvPr/>
        </p:nvCxnSpPr>
        <p:spPr>
          <a:xfrm>
            <a:off x="5097742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 안내</a:t>
            </a: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실패 안내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7" idx="3"/>
            <a:endCxn id="125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188462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1682964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68" name="직선 화살표 연결선 1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24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205" idx="1"/>
          </p:cNvCxnSpPr>
          <p:nvPr/>
        </p:nvCxnSpPr>
        <p:spPr>
          <a:xfrm>
            <a:off x="5097742" y="3130536"/>
            <a:ext cx="931134" cy="6758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662423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24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806423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596219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5764482"/>
            <a:ext cx="180000" cy="180000"/>
            <a:chOff x="5058274" y="2498299"/>
            <a:chExt cx="180000" cy="180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2552913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263" idx="3"/>
          </p:cNvCxnSpPr>
          <p:nvPr/>
        </p:nvCxnSpPr>
        <p:spPr>
          <a:xfrm flipH="1">
            <a:off x="8756934" y="2451750"/>
            <a:ext cx="3076" cy="2717175"/>
          </a:xfrm>
          <a:prstGeom prst="bentConnector3">
            <a:avLst>
              <a:gd name="adj1" fmla="val -74317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(1/3)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3" idx="2"/>
            <a:endCxn id="269" idx="2"/>
          </p:cNvCxnSpPr>
          <p:nvPr/>
        </p:nvCxnSpPr>
        <p:spPr>
          <a:xfrm rot="16200000" flipH="1">
            <a:off x="8481163" y="5138696"/>
            <a:ext cx="541557" cy="89001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24" idx="1"/>
          </p:cNvCxnSpPr>
          <p:nvPr/>
        </p:nvCxnSpPr>
        <p:spPr>
          <a:xfrm flipV="1">
            <a:off x="6928876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356830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4274050"/>
            <a:ext cx="1112636" cy="117511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1638" y="3967076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69" name="그룹 6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3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33959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 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2"/>
            <a:endCxn id="108" idx="0"/>
          </p:cNvCxnSpPr>
          <p:nvPr/>
        </p:nvCxnSpPr>
        <p:spPr>
          <a:xfrm>
            <a:off x="4647742" y="39560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92" idx="1"/>
          </p:cNvCxnSpPr>
          <p:nvPr/>
        </p:nvCxnSpPr>
        <p:spPr>
          <a:xfrm>
            <a:off x="5097742" y="4490846"/>
            <a:ext cx="931134" cy="6780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12772" y="4625097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로그인</a:t>
            </a:r>
          </a:p>
        </p:txBody>
      </p:sp>
      <p:cxnSp>
        <p:nvCxnSpPr>
          <p:cNvPr id="244" name="직선 화살표 연결선 24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242" idx="1"/>
          </p:cNvCxnSpPr>
          <p:nvPr/>
        </p:nvCxnSpPr>
        <p:spPr>
          <a:xfrm>
            <a:off x="5097742" y="3812061"/>
            <a:ext cx="275919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0"/>
            <a:endCxn id="154" idx="2"/>
          </p:cNvCxnSpPr>
          <p:nvPr/>
        </p:nvCxnSpPr>
        <p:spPr>
          <a:xfrm flipV="1">
            <a:off x="6478876" y="463484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2492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본인인증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ko-KR" altLang="en-US" sz="700" dirty="0">
                <a:solidFill>
                  <a:schemeClr val="tx1"/>
                </a:solidFill>
              </a:rPr>
              <a:t> 등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103838" y="3668061"/>
            <a:ext cx="7469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Y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681839" y="4217818"/>
            <a:ext cx="76783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N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242" idx="1"/>
          </p:cNvCxnSpPr>
          <p:nvPr/>
        </p:nvCxnSpPr>
        <p:spPr>
          <a:xfrm flipV="1">
            <a:off x="6928876" y="3812061"/>
            <a:ext cx="928058" cy="67878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2" idx="3"/>
            <a:endCxn id="115" idx="2"/>
          </p:cNvCxnSpPr>
          <p:nvPr/>
        </p:nvCxnSpPr>
        <p:spPr>
          <a:xfrm>
            <a:off x="8756934" y="3812061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31" idx="1"/>
          </p:cNvCxnSpPr>
          <p:nvPr/>
        </p:nvCxnSpPr>
        <p:spPr>
          <a:xfrm>
            <a:off x="6928876" y="5168925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204511" y="50249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>
                <a:solidFill>
                  <a:schemeClr val="tx1"/>
                </a:solidFill>
              </a:rPr>
              <a:t>회원정보 없음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(2/3)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cxnSp>
        <p:nvCxnSpPr>
          <p:cNvPr id="5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1" idx="3"/>
            <a:endCxn id="115" idx="2"/>
          </p:cNvCxnSpPr>
          <p:nvPr/>
        </p:nvCxnSpPr>
        <p:spPr>
          <a:xfrm flipV="1">
            <a:off x="8756934" y="3812061"/>
            <a:ext cx="440014" cy="13568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179229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949752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5658853"/>
            <a:ext cx="1112636" cy="38323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8" idx="3"/>
            <a:endCxn id="149" idx="1"/>
          </p:cNvCxnSpPr>
          <p:nvPr/>
        </p:nvCxnSpPr>
        <p:spPr>
          <a:xfrm>
            <a:off x="5097742" y="44908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4" idx="1"/>
          </p:cNvCxnSpPr>
          <p:nvPr/>
        </p:nvCxnSpPr>
        <p:spPr>
          <a:xfrm flipV="1">
            <a:off x="5097742" y="3130536"/>
            <a:ext cx="931134" cy="13603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26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사용자 등록 안내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ko-KR" altLang="en-US" sz="600" dirty="0">
                <a:solidFill>
                  <a:prstClr val="black"/>
                </a:solidFill>
              </a:rPr>
              <a:t>모바일 회원가입 불가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>
                <a:solidFill>
                  <a:schemeClr val="tx1"/>
                </a:solidFill>
              </a:rPr>
              <a:t>본인인증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4" idx="3"/>
            <a:endCxn id="42" idx="1"/>
          </p:cNvCxnSpPr>
          <p:nvPr/>
        </p:nvCxnSpPr>
        <p:spPr>
          <a:xfrm>
            <a:off x="6928876" y="3130536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461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 완료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2" idx="2"/>
            <a:endCxn id="46" idx="0"/>
          </p:cNvCxnSpPr>
          <p:nvPr/>
        </p:nvCxnSpPr>
        <p:spPr>
          <a:xfrm>
            <a:off x="8306934" y="327453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18615"/>
            <a:ext cx="180000" cy="180000"/>
            <a:chOff x="5058274" y="2498299"/>
            <a:chExt cx="180000" cy="180000"/>
          </a:xfrm>
        </p:grpSpPr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66" idx="2"/>
          </p:cNvCxnSpPr>
          <p:nvPr/>
        </p:nvCxnSpPr>
        <p:spPr>
          <a:xfrm>
            <a:off x="8756934" y="3808615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성공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83" idx="1"/>
          </p:cNvCxnSpPr>
          <p:nvPr/>
        </p:nvCxnSpPr>
        <p:spPr>
          <a:xfrm flipV="1">
            <a:off x="5097742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66" idx="2"/>
          </p:cNvCxnSpPr>
          <p:nvPr/>
        </p:nvCxnSpPr>
        <p:spPr>
          <a:xfrm>
            <a:off x="6928876" y="2451750"/>
            <a:ext cx="2268072" cy="1356865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(3/3)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66" idx="2"/>
          </p:cNvCxnSpPr>
          <p:nvPr/>
        </p:nvCxnSpPr>
        <p:spPr>
          <a:xfrm flipV="1">
            <a:off x="6928876" y="3808615"/>
            <a:ext cx="2268072" cy="678079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248291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</p:spTree>
    <p:extLst>
      <p:ext uri="{BB962C8B-B14F-4D97-AF65-F5344CB8AC3E}">
        <p14:creationId xmlns:p14="http://schemas.microsoft.com/office/powerpoint/2010/main" val="25301508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1000" dirty="0">
                <a:solidFill>
                  <a:schemeClr val="tx1"/>
                </a:solidFill>
              </a:rPr>
              <a:t>–</a:t>
            </a:r>
            <a:r>
              <a:rPr lang="ko-KR" altLang="en-US" sz="1000" dirty="0">
                <a:solidFill>
                  <a:schemeClr val="tx1"/>
                </a:solidFill>
              </a:rPr>
              <a:t>로고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앱업데이트안내팝업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앱접근권한동의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앱접근권한동의팝업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앱오류안내팝업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앱이용안내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메인홈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중요공지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시스템안내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결과목록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IntgSrch_Rslt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햄버거메뉴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방식선택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알림현황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notiPrstPage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챗봇문의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ChatbotPage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480558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IdPswdLoginPage.tsx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IdRegInfoFndngPage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PswdRegInfoFndngPage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간편인증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금융인증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FnstCert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공동인증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JntCert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모바일신분증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MobileIdntyCert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</a:rPr>
              <a:t>CertRsltPage.tsx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생체인증등록완료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PCQR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PcQRLgnPage.tsx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로그아웃안내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LgoInfo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로그인필요서비스안내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LgnSrvcInfo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310950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앱실행스플래시</a:t>
            </a:r>
            <a:r>
              <a:rPr lang="en-US" altLang="ko-KR" dirty="0"/>
              <a:t>–</a:t>
            </a:r>
            <a:r>
              <a:rPr lang="ko-KR" altLang="en-US" dirty="0"/>
              <a:t>로고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앱접근권한동의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721212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2446664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25191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0" name="직사각형 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우측 설계에서 </a:t>
              </a:r>
              <a:r>
                <a:rPr lang="ko-KR" altLang="en-US" sz="700" dirty="0" err="1" smtClean="0"/>
                <a:t>반복화면</a:t>
              </a:r>
              <a:r>
                <a:rPr lang="ko-KR" altLang="en-US" sz="700" dirty="0" smtClean="0"/>
                <a:t>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앱접근권한동의팝업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앱업데이트안내팝업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앱오류안내팝업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앱 이용에 대한 안내 화면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로고 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  &gt; 1. </a:t>
            </a:r>
            <a:r>
              <a:rPr lang="ko-KR" altLang="en-US" dirty="0">
                <a:solidFill>
                  <a:srgbClr val="FF0000"/>
                </a:solidFill>
              </a:rPr>
              <a:t>로그인 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로그인 후 </a:t>
            </a:r>
            <a:r>
              <a:rPr lang="ko-KR" altLang="en-US" dirty="0" smtClean="0">
                <a:solidFill>
                  <a:srgbClr val="FF0000"/>
                </a:solidFill>
              </a:rPr>
              <a:t>로그아웃</a:t>
            </a:r>
            <a:r>
              <a:rPr lang="en-US" altLang="ko-KR" dirty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표시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  &gt; 2. </a:t>
            </a:r>
            <a:r>
              <a:rPr lang="ko-KR" altLang="en-US" dirty="0" err="1" smtClean="0">
                <a:solidFill>
                  <a:srgbClr val="FF0000"/>
                </a:solidFill>
              </a:rPr>
              <a:t>알림현황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메뉴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</a:t>
            </a:r>
            <a:r>
              <a:rPr lang="en-US" altLang="ko-KR" dirty="0" smtClean="0"/>
              <a:t>,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개찰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계약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실적증명서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조달원 등록증</a:t>
            </a:r>
            <a:r>
              <a:rPr lang="en-US" altLang="ko-KR" dirty="0" smtClean="0"/>
              <a:t>(</a:t>
            </a:r>
            <a:r>
              <a:rPr lang="ko-KR" altLang="en-US" dirty="0" smtClean="0"/>
              <a:t>국내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</a:t>
            </a:r>
            <a:r>
              <a:rPr lang="ko-KR" altLang="en-US" dirty="0" smtClean="0"/>
              <a:t>제공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/>
              <a:t>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표시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메인홈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통합검색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챗봇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수요부대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공지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1" name="직사각형 16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2026-06-23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추가됨에 따라 모바일 </a:t>
              </a: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없다는 문구를 삭제함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165" name="직사각형 1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6" name="직사각형 16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en-US" altLang="ko-KR" sz="700" dirty="0" smtClean="0"/>
                <a:t>, </a:t>
              </a:r>
              <a:r>
                <a:rPr lang="ko-KR" altLang="en-US" sz="700" dirty="0" err="1" smtClean="0"/>
                <a:t>탭바</a:t>
              </a:r>
              <a:r>
                <a:rPr lang="ko-KR" altLang="en-US" sz="700" dirty="0" smtClean="0"/>
                <a:t> 노출 버튼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4773906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>
                          <a:effectLst/>
                        </a:rPr>
                        <a:t>UI-BD-01-M01(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 smtClean="0">
                          <a:effectLst/>
                        </a:rPr>
                        <a:t>이동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UI-CM-04-M48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UI-CM-04-M06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/>
                        <a:t>UI-CM-04-M02 </a:t>
                      </a:r>
                      <a:r>
                        <a:rPr lang="ko-KR" altLang="en-US" sz="80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중요공지</a:t>
            </a:r>
            <a:r>
              <a:rPr lang="en-US" altLang="ko-KR" dirty="0"/>
              <a:t>,</a:t>
            </a:r>
            <a:r>
              <a:rPr lang="ko-KR" altLang="en-US" dirty="0" err="1"/>
              <a:t>시스템안내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</a:t>
            </a:r>
            <a:r>
              <a:rPr lang="ko-KR" altLang="en-US" dirty="0" smtClean="0"/>
              <a:t>검색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4349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 </a:t>
            </a: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포함 </a:t>
            </a:r>
            <a:r>
              <a:rPr lang="en-US" altLang="ko-KR" dirty="0" smtClean="0"/>
              <a:t>-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검색하여 </a:t>
            </a:r>
            <a:r>
              <a:rPr lang="ko-KR" altLang="en-US" dirty="0" err="1" smtClean="0"/>
              <a:t>제외처리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</a:t>
            </a:r>
            <a:r>
              <a:rPr lang="en-US" altLang="ko-KR" dirty="0"/>
              <a:t>-</a:t>
            </a:r>
            <a:r>
              <a:rPr lang="ko-KR" altLang="en-US" dirty="0" err="1"/>
              <a:t>결과목록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솔루션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솔루션 화면 참고용 설계 내용이며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솔루션에서 제공되는 화면을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채팅 </a:t>
            </a:r>
            <a:r>
              <a:rPr lang="ko-KR" altLang="en-US" dirty="0"/>
              <a:t>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챗봇문의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4166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</a:t>
            </a:r>
            <a:r>
              <a:rPr lang="ko-KR" altLang="en-US" dirty="0" smtClean="0"/>
              <a:t>시간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바로가기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챗봇상담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인증센터</a:t>
            </a:r>
            <a:r>
              <a:rPr lang="en-US" altLang="ko-KR" dirty="0" smtClean="0"/>
              <a:t>, , </a:t>
            </a:r>
            <a:r>
              <a:rPr lang="ko-KR" altLang="en-US" dirty="0" err="1" smtClean="0"/>
              <a:t>앱설정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메뉴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검색 </a:t>
            </a:r>
            <a:r>
              <a:rPr lang="ko-KR" altLang="en-US" dirty="0" err="1"/>
              <a:t>메뉴명</a:t>
            </a:r>
            <a:r>
              <a:rPr lang="ko-KR" altLang="en-US" dirty="0"/>
              <a:t> </a:t>
            </a:r>
            <a:r>
              <a:rPr lang="en-US" altLang="ko-KR" dirty="0" smtClean="0"/>
              <a:t>like </a:t>
            </a:r>
            <a:r>
              <a:rPr lang="ko-KR" altLang="en-US" dirty="0" smtClean="0"/>
              <a:t>값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햄버거메뉴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3803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651953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480808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71024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90933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407634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748296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34612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err="1" smtClean="0">
                <a:latin typeface="+mn-ea"/>
              </a:rPr>
              <a:t>업체명</a:t>
            </a:r>
            <a:r>
              <a:rPr lang="en-US" altLang="ko-KR" sz="900" b="1" dirty="0" smtClean="0">
                <a:latin typeface="+mn-ea"/>
              </a:rPr>
              <a:t>]</a:t>
            </a:r>
            <a:endParaRPr lang="en-US" altLang="ko-KR" sz="900" b="1" dirty="0">
              <a:latin typeface="+mn-ea"/>
            </a:endParaRPr>
          </a:p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smtClean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3028973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3109506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3138180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3090771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  <p:grpSp>
        <p:nvGrpSpPr>
          <p:cNvPr id="92" name="그룹 9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3" name="직사각형 9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업체명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사용자명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줄 표시로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현황에 진입한 이후 이탈하면 미확인 알림 카운트를 초기화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미확인된 사항은 미확인 레이블 처리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말머리</a:t>
            </a:r>
            <a:r>
              <a:rPr lang="en-US" altLang="ko-KR" dirty="0" smtClean="0"/>
              <a:t>, </a:t>
            </a:r>
            <a:r>
              <a:rPr lang="ko-KR" altLang="en-US" dirty="0" smtClean="0"/>
              <a:t>라벨</a:t>
            </a:r>
            <a:r>
              <a:rPr lang="en-US" altLang="ko-KR" dirty="0" smtClean="0"/>
              <a:t>, </a:t>
            </a:r>
            <a:r>
              <a:rPr lang="ko-KR" altLang="en-US" dirty="0" err="1"/>
              <a:t>뱃</a:t>
            </a:r>
            <a:r>
              <a:rPr lang="ko-KR" altLang="en-US" dirty="0" err="1" smtClean="0"/>
              <a:t>지</a:t>
            </a:r>
            <a:r>
              <a:rPr lang="ko-KR" altLang="en-US" dirty="0" smtClean="0"/>
              <a:t> 등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확인한 내역은 별도 표시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알림현황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34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3825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미확인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 smtClean="0">
                <a:latin typeface="+mn-ea"/>
              </a:rPr>
              <a:t>조달계획이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37348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5347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미확인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smtClean="0">
                <a:latin typeface="+mn-ea"/>
              </a:rPr>
              <a:t>입찰참가 </a:t>
            </a:r>
            <a:r>
              <a:rPr lang="ko-KR" altLang="en-US" sz="800" dirty="0">
                <a:latin typeface="+mn-ea"/>
              </a:rPr>
              <a:t>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5256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2375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2284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49903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3596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728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09637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0949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1973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33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66354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0327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29991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미확인 말머리 추가</a:t>
              </a:r>
              <a:endParaRPr lang="en-US" altLang="ko-KR" sz="700" dirty="0"/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77" name="직사각형 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뒤로가기로</a:t>
              </a:r>
              <a:r>
                <a:rPr lang="ko-KR" altLang="en-US" sz="700" dirty="0" smtClean="0"/>
                <a:t> 변경</a:t>
              </a:r>
              <a:r>
                <a:rPr lang="en-US" altLang="ko-KR" sz="700" dirty="0" smtClean="0"/>
                <a:t>,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페이지 타이틀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68093"/>
              </p:ext>
            </p:extLst>
          </p:nvPr>
        </p:nvGraphicFramePr>
        <p:xfrm>
          <a:off x="453000" y="5217275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업체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소속된 업체가 하나인 경우는 팝업을 띄우지 않고 업체를 </a:t>
            </a:r>
            <a:r>
              <a:rPr lang="ko-KR" altLang="en-US" dirty="0" smtClean="0"/>
              <a:t>설정하여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</a:t>
            </a:r>
            <a:r>
              <a:rPr lang="ko-KR" altLang="en-US" dirty="0" smtClean="0"/>
              <a:t>경우 사용자가 선택할 수 있는 목록 표시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</a:t>
            </a:r>
            <a:r>
              <a:rPr lang="ko-KR" altLang="en-US" dirty="0" err="1" smtClean="0"/>
              <a:t>미선택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로그인 클릭 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업체를 선택해주세요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로그아웃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로그인업체설정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 smtClean="0"/>
              <a:t>로그인업체설정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로그인</a:t>
            </a:r>
            <a:r>
              <a:rPr lang="en-US" altLang="ko-KR" sz="900" dirty="0" smtClean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</a:t>
            </a:r>
            <a:r>
              <a:rPr lang="ko-KR" altLang="en-US" sz="900" dirty="0" smtClean="0">
                <a:latin typeface="+mn-ea"/>
              </a:rPr>
              <a:t>설정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업체선택</a:t>
              </a:r>
              <a:r>
                <a:rPr lang="ko-KR" altLang="en-US" sz="700" dirty="0" smtClean="0"/>
                <a:t> 팝업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로그인 업체 설정으로</a:t>
              </a:r>
              <a:r>
                <a:rPr lang="ko-KR" altLang="en-US" sz="700" dirty="0" smtClean="0"/>
                <a:t> 타이틀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556585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선택 로그인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방식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anyID</a:t>
            </a:r>
            <a:r>
              <a:rPr lang="en-US" altLang="ko-KR" dirty="0" smtClean="0"/>
              <a:t> </a:t>
            </a:r>
            <a:r>
              <a:rPr lang="ko-KR" altLang="en-US" dirty="0" smtClean="0"/>
              <a:t>솔루션 화면 활용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en-US" altLang="ko-KR" dirty="0" err="1" smtClean="0">
                <a:solidFill>
                  <a:srgbClr val="FF0000"/>
                </a:solidFill>
              </a:rPr>
              <a:t>anyID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정책에 따라 개인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기업 선택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로그인이</a:t>
            </a:r>
            <a:r>
              <a:rPr lang="ko-KR" altLang="en-US" dirty="0" smtClean="0">
                <a:solidFill>
                  <a:srgbClr val="FF0000"/>
                </a:solidFill>
              </a:rPr>
              <a:t> 추가될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25403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31041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26475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73398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로그인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16667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41020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096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773036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582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3389358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3487642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3477991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3526489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25403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31041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26475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34448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0086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35521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34448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0086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35521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936072" y="4358021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921814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1272622" y="4465246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2123386" y="4358021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921814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2459936" y="4465246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071412"/>
              </p:ext>
            </p:extLst>
          </p:nvPr>
        </p:nvGraphicFramePr>
        <p:xfrm>
          <a:off x="455204" y="971284"/>
          <a:ext cx="8995591" cy="240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scwin.btn_QrLogin_onclick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인증으로 로그인한다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556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146359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기관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기관 선택 시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아이디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비밀번호 찾기 섹션</a:t>
            </a:r>
            <a:r>
              <a:rPr lang="en-US" altLang="ko-KR" dirty="0"/>
              <a:t> </a:t>
            </a:r>
            <a:r>
              <a:rPr lang="ko-KR" altLang="en-US" dirty="0" err="1" smtClean="0"/>
              <a:t>숨김처리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</a:t>
            </a:r>
            <a:r>
              <a:rPr lang="ko-KR" altLang="en-US" dirty="0" smtClean="0"/>
              <a:t>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08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5191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5026804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3099045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786114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717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41029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36853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3211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1" name="모서리가 둥근 직사각형 70"/>
          <p:cNvSpPr/>
          <p:nvPr/>
        </p:nvSpPr>
        <p:spPr>
          <a:xfrm>
            <a:off x="903580" y="2570257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모서리가 둥근 직사각형 85"/>
          <p:cNvSpPr/>
          <p:nvPr/>
        </p:nvSpPr>
        <p:spPr>
          <a:xfrm>
            <a:off x="903580" y="2570257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61707" y="2622652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solidFill>
                  <a:schemeClr val="bg1"/>
                </a:solidFill>
                <a:latin typeface="+mn-ea"/>
              </a:rPr>
              <a:t>업체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622652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기관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1" name="직사각형 9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기관 선택 추가</a:t>
              </a:r>
              <a:endParaRPr lang="en-US" altLang="ko-KR" sz="700" dirty="0"/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704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808440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같은 아이디로 등록한 업체가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업체 선택창이 나온다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(UI-CM-02-P12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탈퇴한 회원은 로그인이 불가능하다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비밀번호 변경일이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일이 경과되면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- 60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이상 장기 미사용자도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</a:t>
                      </a:r>
                      <a:r>
                        <a:rPr lang="en-US" altLang="ko-KR" sz="800" dirty="0">
                          <a:latin typeface="+mn-ea"/>
                        </a:rPr>
                        <a:t>09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UI-CM-02-M01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920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5836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본인인증을 </a:t>
            </a:r>
            <a:r>
              <a:rPr lang="ko-KR" altLang="en-US" sz="900" b="1" dirty="0">
                <a:latin typeface="+mn-ea"/>
              </a:rPr>
              <a:t>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188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086107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85319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25" name="타원 24"/>
          <p:cNvSpPr/>
          <p:nvPr/>
        </p:nvSpPr>
        <p:spPr>
          <a:xfrm>
            <a:off x="1062376" y="4125304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룹 38"/>
          <p:cNvGrpSpPr/>
          <p:nvPr/>
        </p:nvGrpSpPr>
        <p:grpSpPr>
          <a:xfrm rot="16200000" flipH="1">
            <a:off x="2958652" y="2698407"/>
            <a:ext cx="94010" cy="47005"/>
            <a:chOff x="6812560" y="3297172"/>
            <a:chExt cx="94010" cy="47005"/>
          </a:xfrm>
        </p:grpSpPr>
        <p:cxnSp>
          <p:nvCxnSpPr>
            <p:cNvPr id="40" name="직선 연결선 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2" name="그룹 41"/>
          <p:cNvGrpSpPr/>
          <p:nvPr/>
        </p:nvGrpSpPr>
        <p:grpSpPr>
          <a:xfrm rot="16200000" flipH="1">
            <a:off x="2958653" y="3083465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rot="16200000" flipH="1">
            <a:off x="2958653" y="346445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 rot="16200000" flipH="1">
            <a:off x="2958654" y="3849517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그룹 51"/>
          <p:cNvGrpSpPr/>
          <p:nvPr/>
        </p:nvGrpSpPr>
        <p:grpSpPr>
          <a:xfrm rot="16200000" flipH="1">
            <a:off x="2958654" y="4215678"/>
            <a:ext cx="94010" cy="47005"/>
            <a:chOff x="6812560" y="3297172"/>
            <a:chExt cx="94010" cy="47005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입력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등록정보로찾기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>
                <a:latin typeface="+mn-ea"/>
              </a:rPr>
              <a:t>아이디</a:t>
            </a:r>
            <a:r>
              <a:rPr lang="en-US" altLang="ko-KR" sz="1000" b="1" dirty="0">
                <a:latin typeface="+mn-ea"/>
              </a:rPr>
              <a:t> </a:t>
            </a:r>
            <a:r>
              <a:rPr lang="ko-KR" altLang="en-US" sz="1000" b="1" dirty="0" err="1">
                <a:latin typeface="+mn-ea"/>
              </a:rPr>
              <a:t>등록정보로</a:t>
            </a:r>
            <a:r>
              <a:rPr lang="ko-KR" altLang="en-US" sz="10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5" name="직사각형 4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 주민등록번호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사용자 생년월일</a:t>
              </a:r>
              <a:endParaRPr lang="en-US" altLang="ko-KR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492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>
                <a:sym typeface="Wingdings" panose="05000000000000000000" pitchFamily="2" charset="2"/>
              </a:rPr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PW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294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880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본인인증을 </a:t>
            </a:r>
            <a:r>
              <a:rPr lang="ko-KR" altLang="en-US" sz="700" dirty="0">
                <a:latin typeface="+mn-ea"/>
              </a:rPr>
              <a:t>통해 비밀번호를 변경할 수 있습니다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7869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63962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883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69266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4024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23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4077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4056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0488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45872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79073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88994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84377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5156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5256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520993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519609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82661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43558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406374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67706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8516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71516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474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 smtClean="0">
                <a:latin typeface="+mn-ea"/>
              </a:rPr>
              <a:t>비밀번호</a:t>
            </a:r>
            <a:r>
              <a:rPr lang="en-US" altLang="ko-KR" sz="1000" b="1" dirty="0" smtClean="0">
                <a:latin typeface="+mn-ea"/>
              </a:rPr>
              <a:t> </a:t>
            </a:r>
            <a:r>
              <a:rPr lang="ko-KR" altLang="en-US" sz="1000" b="1" dirty="0" smtClean="0">
                <a:latin typeface="+mn-ea"/>
              </a:rPr>
              <a:t>찾기</a:t>
            </a:r>
            <a:endParaRPr lang="ko-KR" altLang="en-US" sz="1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아이디 체계가 개편되어</a:t>
            </a:r>
            <a:r>
              <a:rPr lang="en-US" altLang="ko-KR" dirty="0" smtClean="0">
                <a:solidFill>
                  <a:srgbClr val="FF0000"/>
                </a:solidFill>
              </a:rPr>
              <a:t>, 1</a:t>
            </a:r>
            <a:r>
              <a:rPr lang="ko-KR" altLang="en-US" dirty="0" smtClean="0">
                <a:solidFill>
                  <a:srgbClr val="FF0000"/>
                </a:solidFill>
              </a:rPr>
              <a:t>사용자당 </a:t>
            </a:r>
            <a:r>
              <a:rPr lang="en-US" altLang="ko-KR" dirty="0" smtClean="0">
                <a:solidFill>
                  <a:srgbClr val="FF0000"/>
                </a:solidFill>
              </a:rPr>
              <a:t>1</a:t>
            </a:r>
            <a:r>
              <a:rPr lang="ko-KR" altLang="en-US" dirty="0" smtClean="0">
                <a:solidFill>
                  <a:srgbClr val="FF0000"/>
                </a:solidFill>
              </a:rPr>
              <a:t>개의 아이디를 유지함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as-is</a:t>
            </a:r>
            <a:r>
              <a:rPr lang="ko-KR" altLang="en-US" dirty="0" smtClean="0">
                <a:solidFill>
                  <a:srgbClr val="FF0000"/>
                </a:solidFill>
              </a:rPr>
              <a:t>에서는 업체별로 사용자가 사용할 아이디를 계속 추가하는 </a:t>
            </a:r>
            <a:r>
              <a:rPr lang="ko-KR" altLang="en-US" dirty="0" err="1" smtClean="0">
                <a:solidFill>
                  <a:srgbClr val="FF0000"/>
                </a:solidFill>
              </a:rPr>
              <a:t>방식이었음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현재 화면에 사용자 구분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사업자 아이디가 무의미해지고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화면이 일부 변경될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/>
              <a:t>등록정보로찾기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등록정보로</a:t>
            </a:r>
            <a:r>
              <a:rPr lang="ko-KR" altLang="en-US" sz="900" b="1" dirty="0" smtClean="0">
                <a:latin typeface="+mn-ea"/>
              </a:rPr>
              <a:t> 비밀번호 </a:t>
            </a:r>
            <a:r>
              <a:rPr lang="ko-KR" altLang="en-US" sz="900" b="1" dirty="0">
                <a:latin typeface="+mn-ea"/>
              </a:rPr>
              <a:t>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8894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2" name="직사각형 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정책이 정해지면 화면 변경이 필요함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238255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사용자등록안내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금융인증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금융인증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모바일신분증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</a:t>
            </a:r>
            <a:r>
              <a:rPr lang="ko-KR" altLang="en-US" dirty="0" smtClean="0"/>
              <a:t>인증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생체인증등록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3198842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5990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05990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54383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1399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56112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66033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419041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0287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2067915" y="5786374"/>
            <a:ext cx="1148855" cy="306146"/>
            <a:chOff x="3982951" y="3679873"/>
            <a:chExt cx="2255663" cy="306146"/>
          </a:xfrm>
        </p:grpSpPr>
        <p:sp>
          <p:nvSpPr>
            <p:cNvPr id="107" name="모서리가 둥근 직사각형 10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본인인증</a:t>
              </a:r>
            </a:p>
          </p:txBody>
        </p:sp>
      </p:grpSp>
      <p:grpSp>
        <p:nvGrpSpPr>
          <p:cNvPr id="114" name="그룹 113"/>
          <p:cNvGrpSpPr/>
          <p:nvPr/>
        </p:nvGrpSpPr>
        <p:grpSpPr>
          <a:xfrm>
            <a:off x="846055" y="5786374"/>
            <a:ext cx="1148855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간편인증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생체인증</a:t>
            </a:r>
            <a:r>
              <a:rPr lang="ko-KR" altLang="en-US" sz="900" b="1" dirty="0" smtClean="0">
                <a:latin typeface="+mn-ea"/>
              </a:rPr>
              <a:t> 등록</a:t>
            </a:r>
            <a:endParaRPr lang="ko-KR" altLang="en-US" sz="9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본인 </a:t>
            </a:r>
            <a:r>
              <a:rPr lang="ko-KR" altLang="en-US" dirty="0"/>
              <a:t>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생체인증등록완료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19271" y="2419419"/>
            <a:ext cx="2624283" cy="3673101"/>
            <a:chOff x="737559" y="2419419"/>
            <a:chExt cx="2624283" cy="367310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34614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본인 인증이 완료되었습니다</a:t>
              </a:r>
              <a:r>
                <a:rPr lang="en-US" altLang="ko-KR" sz="900" b="1" dirty="0">
                  <a:latin typeface="+mn-ea"/>
                </a:rPr>
                <a:t>.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651557"/>
              <a:ext cx="2305144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</a:rPr>
                <a:t>디바이스에 등록된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>
                  <a:latin typeface="+mn-ea"/>
                </a:rPr>
                <a:t>모든 </a:t>
              </a:r>
              <a:r>
                <a:rPr lang="ko-KR" altLang="en-US" sz="800" dirty="0" err="1">
                  <a:latin typeface="+mn-ea"/>
                </a:rPr>
                <a:t>얼굴정보</a:t>
              </a:r>
              <a:r>
                <a:rPr lang="en-US" altLang="ko-KR" sz="800" dirty="0">
                  <a:latin typeface="+mn-ea"/>
                </a:rPr>
                <a:t>, </a:t>
              </a:r>
              <a:r>
                <a:rPr lang="ko-KR" altLang="en-US" sz="800" dirty="0">
                  <a:latin typeface="+mn-ea"/>
                </a:rPr>
                <a:t>지문정보를</a:t>
              </a:r>
              <a:r>
                <a:rPr lang="en-US" altLang="ko-KR" sz="800" dirty="0">
                  <a:latin typeface="+mn-ea"/>
                </a:rPr>
                <a:t> </a:t>
              </a:r>
              <a:r>
                <a:rPr lang="ko-KR" altLang="en-US" sz="800" dirty="0">
                  <a:latin typeface="+mn-ea"/>
                </a:rPr>
                <a:t>이용하여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 err="1">
                  <a:latin typeface="+mn-ea"/>
                </a:rPr>
                <a:t>로그인을</a:t>
              </a:r>
              <a:r>
                <a:rPr lang="ko-KR" altLang="en-US" sz="800" dirty="0">
                  <a:latin typeface="+mn-ea"/>
                </a:rPr>
                <a:t> 진행합니다</a:t>
              </a:r>
              <a:r>
                <a:rPr lang="en-US" altLang="ko-KR" sz="800" dirty="0">
                  <a:latin typeface="+mn-ea"/>
                </a:rPr>
                <a:t>.</a:t>
              </a:r>
            </a:p>
          </p:txBody>
        </p:sp>
        <p:sp>
          <p:nvSpPr>
            <p:cNvPr id="126" name="타원 125"/>
            <p:cNvSpPr/>
            <p:nvPr/>
          </p:nvSpPr>
          <p:spPr>
            <a:xfrm>
              <a:off x="1720489" y="2419419"/>
              <a:ext cx="658422" cy="65841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37559" y="56678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2" name="그룹 131"/>
            <p:cNvGrpSpPr/>
            <p:nvPr/>
          </p:nvGrpSpPr>
          <p:grpSpPr>
            <a:xfrm>
              <a:off x="861782" y="5786374"/>
              <a:ext cx="2370716" cy="306146"/>
              <a:chOff x="3982951" y="3679873"/>
              <a:chExt cx="2255663" cy="306146"/>
            </a:xfrm>
          </p:grpSpPr>
          <p:sp>
            <p:nvSpPr>
              <p:cNvPr id="133" name="모서리가 둥근 직사각형 132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259991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>
                    <a:solidFill>
                      <a:schemeClr val="bg1"/>
                    </a:solidFill>
                    <a:latin typeface="+mn-ea"/>
                  </a:rPr>
                  <a:t>생체인증</a:t>
                </a:r>
                <a:r>
                  <a:rPr lang="ko-KR" altLang="en-US" sz="700" b="1" dirty="0">
                    <a:solidFill>
                      <a:schemeClr val="bg1"/>
                    </a:solidFill>
                    <a:latin typeface="+mn-ea"/>
                  </a:rPr>
                  <a:t> 로그인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2668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인증성공</a:t>
            </a:r>
            <a:r>
              <a:rPr lang="en-US" altLang="ko-KR" dirty="0"/>
              <a:t>/</a:t>
            </a:r>
            <a:r>
              <a:rPr lang="ko-KR" altLang="en-US" dirty="0" err="1"/>
              <a:t>실패안내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PCQR</a:t>
            </a:r>
            <a:r>
              <a:rPr lang="ko-KR" altLang="en-US" dirty="0"/>
              <a:t>로그인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PC QR </a:t>
            </a:r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로그아웃안내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로그인필요서비스안내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717557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세부 스텝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일정 상세 정보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업무 캘린더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캘린더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3121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첨언상세보기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67596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02690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 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2/5)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135144"/>
              </p:ext>
            </p:extLst>
          </p:nvPr>
        </p:nvGraphicFramePr>
        <p:xfrm>
          <a:off x="635474" y="1413419"/>
          <a:ext cx="8701200" cy="4889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ItrstSttPage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92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 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MyPstPage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12172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폴더설정권한관리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폴더내파일목록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업체일반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탭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1060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936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363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781249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3/5)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379770"/>
              </p:ext>
            </p:extLst>
          </p:nvPr>
        </p:nvGraphicFramePr>
        <p:xfrm>
          <a:off x="635474" y="1413419"/>
          <a:ext cx="8701200" cy="4961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AddRegInfoAplyListPage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60533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내역 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24639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94765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52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DmstLctnColInfoAddRegPage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077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담당자정보저장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4280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958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2672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등록대상품목선택팝업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품목조회팝업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보안측정인원등록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4/5)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947794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FSC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168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주거래은행선택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57416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행정정보공동이용사전동의서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9049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확인팝업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977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군수품무역대리업신청및발급목록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42566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신청내역상세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03322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갱신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4242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65690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8323606"/>
              </p:ext>
            </p:extLst>
          </p:nvPr>
        </p:nvGraphicFramePr>
        <p:xfrm>
          <a:off x="635474" y="1413419"/>
          <a:ext cx="8701200" cy="4229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IndvIdntIdntyPage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CrtfMng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인증서 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99962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CrtfIdnty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 인증서 확인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1925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업체소속사용자목록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PrcmBzentyUserMngPage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상태변경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483731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세부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스탭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3479748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6039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 링크 </a:t>
            </a:r>
            <a:r>
              <a:rPr lang="ko-KR" altLang="en-US" sz="800" dirty="0" err="1">
                <a:solidFill>
                  <a:schemeClr val="tx1"/>
                </a:solidFill>
              </a:rPr>
              <a:t>웹뷰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073540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988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업무캘린더</a:t>
            </a:r>
            <a:r>
              <a:rPr lang="en-US" altLang="ko-KR" sz="800" dirty="0" smtClean="0">
                <a:solidFill>
                  <a:schemeClr val="tx1"/>
                </a:solidFill>
              </a:rPr>
              <a:t/>
            </a:r>
            <a:br>
              <a:rPr lang="en-US" altLang="ko-KR" sz="800" dirty="0" smtClean="0">
                <a:solidFill>
                  <a:schemeClr val="tx1"/>
                </a:solidFill>
              </a:rPr>
            </a:br>
            <a:r>
              <a:rPr lang="ko-KR" altLang="en-US" sz="800" dirty="0" smtClean="0">
                <a:solidFill>
                  <a:schemeClr val="tx1"/>
                </a:solidFill>
              </a:rPr>
              <a:t>일정 </a:t>
            </a:r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</a:p>
        </p:txBody>
      </p:sp>
      <p:sp>
        <p:nvSpPr>
          <p:cNvPr id="12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6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7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2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3" idx="1"/>
          </p:cNvCxnSpPr>
          <p:nvPr/>
        </p:nvCxnSpPr>
        <p:spPr>
          <a:xfrm>
            <a:off x="2495193" y="1772964"/>
            <a:ext cx="931134" cy="3141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5" idx="1"/>
          </p:cNvCxnSpPr>
          <p:nvPr/>
        </p:nvCxnSpPr>
        <p:spPr>
          <a:xfrm>
            <a:off x="2495193" y="1772964"/>
            <a:ext cx="931134" cy="35913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6" idx="1"/>
          </p:cNvCxnSpPr>
          <p:nvPr/>
        </p:nvCxnSpPr>
        <p:spPr>
          <a:xfrm>
            <a:off x="2495193" y="1772964"/>
            <a:ext cx="931134" cy="40410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7" idx="1"/>
          </p:cNvCxnSpPr>
          <p:nvPr/>
        </p:nvCxnSpPr>
        <p:spPr>
          <a:xfrm>
            <a:off x="2495193" y="1772964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삭제</a:t>
            </a: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  <a:endCxn id="92" idx="1"/>
          </p:cNvCxnSpPr>
          <p:nvPr/>
        </p:nvCxnSpPr>
        <p:spPr>
          <a:xfrm>
            <a:off x="432632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화살표 연결선 13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118" idx="1"/>
          </p:cNvCxnSpPr>
          <p:nvPr/>
        </p:nvCxnSpPr>
        <p:spPr>
          <a:xfrm flipV="1">
            <a:off x="4326327" y="2217540"/>
            <a:ext cx="931134" cy="509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19" idx="1"/>
          </p:cNvCxnSpPr>
          <p:nvPr/>
        </p:nvCxnSpPr>
        <p:spPr>
          <a:xfrm>
            <a:off x="4321277" y="2672314"/>
            <a:ext cx="936184" cy="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6" idx="3"/>
            <a:endCxn id="120" idx="1"/>
          </p:cNvCxnSpPr>
          <p:nvPr/>
        </p:nvCxnSpPr>
        <p:spPr>
          <a:xfrm>
            <a:off x="4326327" y="3121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3"/>
            <a:endCxn id="111" idx="1"/>
          </p:cNvCxnSpPr>
          <p:nvPr/>
        </p:nvCxnSpPr>
        <p:spPr>
          <a:xfrm>
            <a:off x="4326327" y="4465003"/>
            <a:ext cx="931134" cy="135503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21" idx="1"/>
          </p:cNvCxnSpPr>
          <p:nvPr/>
        </p:nvCxnSpPr>
        <p:spPr>
          <a:xfrm>
            <a:off x="615746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1" idx="3"/>
            <a:endCxn id="106" idx="2"/>
          </p:cNvCxnSpPr>
          <p:nvPr/>
        </p:nvCxnSpPr>
        <p:spPr>
          <a:xfrm>
            <a:off x="7988595" y="1772964"/>
            <a:ext cx="398685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3"/>
            <a:endCxn id="106" idx="2"/>
          </p:cNvCxnSpPr>
          <p:nvPr/>
        </p:nvCxnSpPr>
        <p:spPr>
          <a:xfrm>
            <a:off x="6157461" y="2217540"/>
            <a:ext cx="2229819" cy="1352208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9" idx="3"/>
            <a:endCxn id="106" idx="2"/>
          </p:cNvCxnSpPr>
          <p:nvPr/>
        </p:nvCxnSpPr>
        <p:spPr>
          <a:xfrm>
            <a:off x="6157461" y="2672988"/>
            <a:ext cx="2229819" cy="896760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1" idx="3"/>
            <a:endCxn id="106" idx="2"/>
          </p:cNvCxnSpPr>
          <p:nvPr/>
        </p:nvCxnSpPr>
        <p:spPr>
          <a:xfrm flipV="1">
            <a:off x="6157461" y="3569748"/>
            <a:ext cx="2229819" cy="2250291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상세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1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3" idx="1"/>
          </p:cNvCxnSpPr>
          <p:nvPr/>
        </p:nvCxnSpPr>
        <p:spPr>
          <a:xfrm>
            <a:off x="4326327" y="3569748"/>
            <a:ext cx="931134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0" idx="3"/>
            <a:endCxn id="130" idx="1"/>
          </p:cNvCxnSpPr>
          <p:nvPr/>
        </p:nvCxnSpPr>
        <p:spPr>
          <a:xfrm>
            <a:off x="6157461" y="3121989"/>
            <a:ext cx="931134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개인별수신처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관리</a:t>
            </a:r>
          </a:p>
        </p:txBody>
      </p:sp>
      <p:cxnSp>
        <p:nvCxnSpPr>
          <p:cNvPr id="1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6" idx="1"/>
          </p:cNvCxnSpPr>
          <p:nvPr/>
        </p:nvCxnSpPr>
        <p:spPr>
          <a:xfrm>
            <a:off x="4326327" y="3569748"/>
            <a:ext cx="931134" cy="89525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3" idx="3"/>
            <a:endCxn id="106" idx="2"/>
          </p:cNvCxnSpPr>
          <p:nvPr/>
        </p:nvCxnSpPr>
        <p:spPr>
          <a:xfrm flipV="1">
            <a:off x="6157461" y="3569748"/>
            <a:ext cx="2229819" cy="451590"/>
          </a:xfrm>
          <a:prstGeom prst="bentConnector3">
            <a:avLst>
              <a:gd name="adj1" fmla="val 9139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6" idx="3"/>
            <a:endCxn id="106" idx="2"/>
          </p:cNvCxnSpPr>
          <p:nvPr/>
        </p:nvCxnSpPr>
        <p:spPr>
          <a:xfrm flipV="1">
            <a:off x="6157461" y="3569748"/>
            <a:ext cx="2229819" cy="895255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7461" y="6033380"/>
            <a:ext cx="1205458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외부 브라우저 사용될 수 있음</a:t>
            </a:r>
          </a:p>
        </p:txBody>
      </p: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2" idx="1"/>
          </p:cNvCxnSpPr>
          <p:nvPr/>
        </p:nvCxnSpPr>
        <p:spPr>
          <a:xfrm>
            <a:off x="2495193" y="1772964"/>
            <a:ext cx="931134" cy="224837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93645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등록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smtClean="0">
                <a:solidFill>
                  <a:schemeClr val="tx1"/>
                </a:solidFill>
              </a:rPr>
              <a:t>수정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0" idx="3"/>
            <a:endCxn id="154" idx="1"/>
          </p:cNvCxnSpPr>
          <p:nvPr/>
        </p:nvCxnSpPr>
        <p:spPr>
          <a:xfrm>
            <a:off x="6157461" y="3121989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6" idx="2"/>
          </p:cNvCxnSpPr>
          <p:nvPr/>
        </p:nvCxnSpPr>
        <p:spPr>
          <a:xfrm>
            <a:off x="7993645" y="3121989"/>
            <a:ext cx="393635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화살표 연결선 15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0" idx="3"/>
            <a:endCxn id="106" idx="2"/>
          </p:cNvCxnSpPr>
          <p:nvPr/>
        </p:nvCxnSpPr>
        <p:spPr>
          <a:xfrm>
            <a:off x="7988595" y="3569748"/>
            <a:ext cx="39868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5287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6025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522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50189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  <p:sp>
        <p:nvSpPr>
          <p:cNvPr id="9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7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 상세</a:t>
            </a:r>
          </a:p>
        </p:txBody>
      </p:sp>
      <p:sp>
        <p:nvSpPr>
          <p:cNvPr id="2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추가정보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목록</a:t>
            </a:r>
          </a:p>
        </p:txBody>
      </p:sp>
      <p:sp>
        <p:nvSpPr>
          <p:cNvPr id="2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군수품무역대리업 신청 및 발급 목록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신규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갱신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</p:txBody>
      </p:sp>
      <p:cxnSp>
        <p:nvCxnSpPr>
          <p:cNvPr id="219" name="직선 화살표 연결선 2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3"/>
            <a:endCxn id="218" idx="1"/>
          </p:cNvCxnSpPr>
          <p:nvPr/>
        </p:nvCxnSpPr>
        <p:spPr>
          <a:xfrm>
            <a:off x="6157461" y="44710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83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담당자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4" idx="3"/>
            <a:endCxn id="249" idx="1"/>
          </p:cNvCxnSpPr>
          <p:nvPr/>
        </p:nvCxnSpPr>
        <p:spPr>
          <a:xfrm>
            <a:off x="6157461" y="267271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/>
          <p:cNvGrpSpPr/>
          <p:nvPr/>
        </p:nvGrpSpPr>
        <p:grpSpPr>
          <a:xfrm>
            <a:off x="6360366" y="3559177"/>
            <a:ext cx="2226642" cy="603901"/>
            <a:chOff x="7012608" y="2367957"/>
            <a:chExt cx="2226642" cy="603901"/>
          </a:xfrm>
        </p:grpSpPr>
        <p:sp>
          <p:nvSpPr>
            <p:cNvPr id="223" name="사각형: 둥근 모서리 5">
              <a:extLst>
                <a:ext uri="{FF2B5EF4-FFF2-40B4-BE49-F238E27FC236}">
                  <a16:creationId xmlns:a16="http://schemas.microsoft.com/office/drawing/2014/main" id="{410E5459-200D-7630-863C-88E5109259DF}"/>
                </a:ext>
              </a:extLst>
            </p:cNvPr>
            <p:cNvSpPr/>
            <p:nvPr/>
          </p:nvSpPr>
          <p:spPr>
            <a:xfrm>
              <a:off x="7012608" y="2367957"/>
              <a:ext cx="2226642" cy="603901"/>
            </a:xfrm>
            <a:prstGeom prst="roundRect">
              <a:avLst>
                <a:gd name="adj" fmla="val 4682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7074008" y="2439075"/>
              <a:ext cx="1200650" cy="4616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 err="1">
                  <a:solidFill>
                    <a:schemeClr val="tx1"/>
                  </a:solidFill>
                </a:rPr>
                <a:t>품류선택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조합</a:t>
              </a:r>
              <a:r>
                <a:rPr lang="en-US" altLang="ko-KR" sz="600" dirty="0">
                  <a:solidFill>
                    <a:schemeClr val="tx1"/>
                  </a:solidFill>
                </a:rPr>
                <a:t>/</a:t>
              </a:r>
              <a:r>
                <a:rPr lang="ko-KR" altLang="en-US" sz="600" dirty="0">
                  <a:solidFill>
                    <a:schemeClr val="tx1"/>
                  </a:solidFill>
                </a:rPr>
                <a:t>단체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등록대상 품목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품목 조회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행정정보공동이용 </a:t>
              </a:r>
              <a:r>
                <a:rPr lang="ko-KR" altLang="en-US" sz="600" dirty="0" err="1">
                  <a:solidFill>
                    <a:schemeClr val="tx1"/>
                  </a:solidFill>
                </a:rPr>
                <a:t>사전동의서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365671" y="2531408"/>
              <a:ext cx="788677" cy="2769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보안측정인원등록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600" dirty="0">
                  <a:solidFill>
                    <a:schemeClr val="tx1"/>
                  </a:solidFill>
                </a:rPr>
                <a:t>FSC </a:t>
              </a:r>
              <a:r>
                <a:rPr lang="ko-KR" altLang="en-US" sz="600" dirty="0">
                  <a:solidFill>
                    <a:schemeClr val="tx1"/>
                  </a:solidFill>
                </a:rPr>
                <a:t>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주거래은행 선택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60366" y="3435184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등록 개별 팝업</a:t>
            </a:r>
          </a:p>
        </p:txBody>
      </p:sp>
      <p:sp>
        <p:nvSpPr>
          <p:cNvPr id="22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27" idx="1"/>
          </p:cNvCxnSpPr>
          <p:nvPr/>
        </p:nvCxnSpPr>
        <p:spPr>
          <a:xfrm>
            <a:off x="6157461" y="4471014"/>
            <a:ext cx="931134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7969" y="1917460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2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2511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등록증 발급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358283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2"/>
            <a:endCxn id="232" idx="0"/>
          </p:cNvCxnSpPr>
          <p:nvPr/>
        </p:nvCxnSpPr>
        <p:spPr>
          <a:xfrm>
            <a:off x="5707461" y="4615014"/>
            <a:ext cx="0" cy="16914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30" idx="1"/>
          </p:cNvCxnSpPr>
          <p:nvPr/>
        </p:nvCxnSpPr>
        <p:spPr>
          <a:xfrm>
            <a:off x="6157461" y="4471014"/>
            <a:ext cx="931134" cy="9241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화살표 연결선 2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7" idx="3"/>
            <a:endCxn id="231" idx="1"/>
          </p:cNvCxnSpPr>
          <p:nvPr/>
        </p:nvCxnSpPr>
        <p:spPr>
          <a:xfrm>
            <a:off x="7988595" y="4928155"/>
            <a:ext cx="36968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8" idx="3"/>
            <a:endCxn id="231" idx="1"/>
          </p:cNvCxnSpPr>
          <p:nvPr/>
        </p:nvCxnSpPr>
        <p:spPr>
          <a:xfrm>
            <a:off x="7988595" y="4471014"/>
            <a:ext cx="369688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1" idx="3"/>
            <a:endCxn id="211" idx="6"/>
          </p:cNvCxnSpPr>
          <p:nvPr/>
        </p:nvCxnSpPr>
        <p:spPr>
          <a:xfrm flipH="1" flipV="1">
            <a:off x="8898283" y="3569748"/>
            <a:ext cx="360000" cy="1358407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0" idx="3"/>
            <a:endCxn id="211" idx="6"/>
          </p:cNvCxnSpPr>
          <p:nvPr/>
        </p:nvCxnSpPr>
        <p:spPr>
          <a:xfrm flipV="1">
            <a:off x="7988595" y="3569748"/>
            <a:ext cx="909688" cy="1825433"/>
          </a:xfrm>
          <a:prstGeom prst="bentConnector3">
            <a:avLst>
              <a:gd name="adj1" fmla="val 1643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4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</a:t>
            </a:r>
          </a:p>
        </p:txBody>
      </p:sp>
      <p:cxnSp>
        <p:nvCxnSpPr>
          <p:cNvPr id="242" name="직선 화살표 연결선 2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0" idx="3"/>
            <a:endCxn id="241" idx="1"/>
          </p:cNvCxnSpPr>
          <p:nvPr/>
        </p:nvCxnSpPr>
        <p:spPr>
          <a:xfrm>
            <a:off x="6157461" y="582208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3" idx="3"/>
            <a:endCxn id="211" idx="0"/>
          </p:cNvCxnSpPr>
          <p:nvPr/>
        </p:nvCxnSpPr>
        <p:spPr>
          <a:xfrm>
            <a:off x="6157461" y="1771664"/>
            <a:ext cx="2650822" cy="170808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613049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1" idx="3"/>
            <a:endCxn id="211" idx="6"/>
          </p:cNvCxnSpPr>
          <p:nvPr/>
        </p:nvCxnSpPr>
        <p:spPr>
          <a:xfrm flipV="1">
            <a:off x="7988595" y="3569748"/>
            <a:ext cx="909688" cy="2252337"/>
          </a:xfrm>
          <a:prstGeom prst="bentConnector3">
            <a:avLst>
              <a:gd name="adj1" fmla="val 16533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5" idx="3"/>
            <a:endCxn id="211" idx="6"/>
          </p:cNvCxnSpPr>
          <p:nvPr/>
        </p:nvCxnSpPr>
        <p:spPr>
          <a:xfrm flipV="1">
            <a:off x="6157461" y="3569748"/>
            <a:ext cx="2740822" cy="2704751"/>
          </a:xfrm>
          <a:prstGeom prst="bentConnector3">
            <a:avLst>
              <a:gd name="adj1" fmla="val 12168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</a:p>
        </p:txBody>
      </p:sp>
      <p:cxnSp>
        <p:nvCxnSpPr>
          <p:cNvPr id="25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9" idx="3"/>
            <a:endCxn id="211" idx="0"/>
          </p:cNvCxnSpPr>
          <p:nvPr/>
        </p:nvCxnSpPr>
        <p:spPr>
          <a:xfrm>
            <a:off x="7988595" y="2672710"/>
            <a:ext cx="819688" cy="80703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4202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업체정보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추가등록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600" dirty="0" smtClean="0">
                <a:solidFill>
                  <a:schemeClr val="tx1"/>
                </a:solidFill>
              </a:rPr>
              <a:t>(</a:t>
            </a:r>
            <a:r>
              <a:rPr lang="ko-KR" altLang="en-US" sz="600" dirty="0" smtClean="0">
                <a:solidFill>
                  <a:schemeClr val="tx1"/>
                </a:solidFill>
              </a:rPr>
              <a:t>물품 내자</a:t>
            </a:r>
            <a:r>
              <a:rPr lang="en-US" altLang="ko-KR" sz="600" dirty="0" smtClean="0">
                <a:solidFill>
                  <a:schemeClr val="tx1"/>
                </a:solidFill>
              </a:rPr>
              <a:t>)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8727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국내소재상사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4" idx="1"/>
          </p:cNvCxnSpPr>
          <p:nvPr/>
        </p:nvCxnSpPr>
        <p:spPr>
          <a:xfrm flipV="1">
            <a:off x="4329031" y="2672710"/>
            <a:ext cx="932977" cy="22419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3" idx="1"/>
          </p:cNvCxnSpPr>
          <p:nvPr/>
        </p:nvCxnSpPr>
        <p:spPr>
          <a:xfrm flipV="1">
            <a:off x="4329031" y="1771664"/>
            <a:ext cx="932977" cy="31430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0" idx="1"/>
          </p:cNvCxnSpPr>
          <p:nvPr/>
        </p:nvCxnSpPr>
        <p:spPr>
          <a:xfrm>
            <a:off x="4329031" y="4914678"/>
            <a:ext cx="932977" cy="9074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5" idx="1"/>
          </p:cNvCxnSpPr>
          <p:nvPr/>
        </p:nvCxnSpPr>
        <p:spPr>
          <a:xfrm>
            <a:off x="4329031" y="4914678"/>
            <a:ext cx="932977" cy="135982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20" idx="1"/>
          </p:cNvCxnSpPr>
          <p:nvPr/>
        </p:nvCxnSpPr>
        <p:spPr>
          <a:xfrm flipV="1">
            <a:off x="4329031" y="3122385"/>
            <a:ext cx="932977" cy="179229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5" idx="1"/>
          </p:cNvCxnSpPr>
          <p:nvPr/>
        </p:nvCxnSpPr>
        <p:spPr>
          <a:xfrm flipV="1">
            <a:off x="4329031" y="4471014"/>
            <a:ext cx="932977" cy="4436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3" idx="1"/>
          </p:cNvCxnSpPr>
          <p:nvPr/>
        </p:nvCxnSpPr>
        <p:spPr>
          <a:xfrm flipV="1">
            <a:off x="4329031" y="3564281"/>
            <a:ext cx="936965" cy="13503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4" idx="1"/>
          </p:cNvCxnSpPr>
          <p:nvPr/>
        </p:nvCxnSpPr>
        <p:spPr>
          <a:xfrm flipV="1">
            <a:off x="4329031" y="4016751"/>
            <a:ext cx="936965" cy="8979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55411" y="2897152"/>
            <a:ext cx="1112636" cy="1345330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24765" y="2893518"/>
            <a:ext cx="102431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 smtClean="0">
                <a:solidFill>
                  <a:schemeClr val="tx1"/>
                </a:solidFill>
              </a:rPr>
              <a:t>업체정보 추가 등록</a:t>
            </a:r>
            <a:r>
              <a:rPr lang="en-US" altLang="ko-KR" sz="600" dirty="0" smtClean="0">
                <a:solidFill>
                  <a:schemeClr val="tx1"/>
                </a:solidFill>
              </a:rPr>
              <a:t/>
            </a:r>
            <a:br>
              <a:rPr lang="en-US" altLang="ko-KR" sz="600" dirty="0" smtClean="0">
                <a:solidFill>
                  <a:schemeClr val="tx1"/>
                </a:solidFill>
              </a:rPr>
            </a:br>
            <a:r>
              <a:rPr lang="ko-KR" altLang="en-US" sz="600" dirty="0" smtClean="0">
                <a:solidFill>
                  <a:schemeClr val="tx1"/>
                </a:solidFill>
              </a:rPr>
              <a:t>모바일에 맞게 화면 분리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0" idx="3"/>
            <a:endCxn id="211" idx="0"/>
          </p:cNvCxnSpPr>
          <p:nvPr/>
        </p:nvCxnSpPr>
        <p:spPr>
          <a:xfrm>
            <a:off x="6157461" y="3122385"/>
            <a:ext cx="2650822" cy="35736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3" idx="3"/>
            <a:endCxn id="223" idx="1"/>
          </p:cNvCxnSpPr>
          <p:nvPr/>
        </p:nvCxnSpPr>
        <p:spPr>
          <a:xfrm>
            <a:off x="6165996" y="3564281"/>
            <a:ext cx="194370" cy="2968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4" idx="3"/>
            <a:endCxn id="223" idx="1"/>
          </p:cNvCxnSpPr>
          <p:nvPr/>
        </p:nvCxnSpPr>
        <p:spPr>
          <a:xfrm flipV="1">
            <a:off x="6165996" y="3861128"/>
            <a:ext cx="194370" cy="15562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3" idx="0"/>
            <a:endCxn id="211" idx="0"/>
          </p:cNvCxnSpPr>
          <p:nvPr/>
        </p:nvCxnSpPr>
        <p:spPr>
          <a:xfrm rot="5400000" flipH="1" flipV="1">
            <a:off x="8101271" y="2852165"/>
            <a:ext cx="79429" cy="1334596"/>
          </a:xfrm>
          <a:prstGeom prst="bentConnector3">
            <a:avLst>
              <a:gd name="adj1" fmla="val 5522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862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3596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8563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35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849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 사용자 관리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2" idx="1"/>
          </p:cNvCxnSpPr>
          <p:nvPr/>
        </p:nvCxnSpPr>
        <p:spPr>
          <a:xfrm rot="16200000" flipH="1">
            <a:off x="5010477" y="3517206"/>
            <a:ext cx="1644659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5934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25349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4259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7" idx="3"/>
            <a:endCxn id="108" idx="1"/>
          </p:cNvCxnSpPr>
          <p:nvPr/>
        </p:nvCxnSpPr>
        <p:spPr>
          <a:xfrm>
            <a:off x="6858152" y="3116989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2676223"/>
            <a:ext cx="931134" cy="26823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7" idx="1"/>
          </p:cNvCxnSpPr>
          <p:nvPr/>
        </p:nvCxnSpPr>
        <p:spPr>
          <a:xfrm rot="16200000" flipH="1">
            <a:off x="5684423" y="2843260"/>
            <a:ext cx="29676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8713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개인신원확인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62" idx="1"/>
          </p:cNvCxnSpPr>
          <p:nvPr/>
        </p:nvCxnSpPr>
        <p:spPr>
          <a:xfrm rot="16200000" flipH="1">
            <a:off x="5235243" y="3292440"/>
            <a:ext cx="119512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322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</a:rPr>
              <a:t>) </a:t>
            </a:r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인증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0" idx="1"/>
          </p:cNvCxnSpPr>
          <p:nvPr/>
        </p:nvCxnSpPr>
        <p:spPr>
          <a:xfrm rot="16200000" flipH="1">
            <a:off x="5457956" y="3069727"/>
            <a:ext cx="749700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75" idx="2"/>
          </p:cNvCxnSpPr>
          <p:nvPr/>
        </p:nvCxnSpPr>
        <p:spPr>
          <a:xfrm>
            <a:off x="7988595" y="3116989"/>
            <a:ext cx="729688" cy="8983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75" idx="2"/>
          </p:cNvCxnSpPr>
          <p:nvPr/>
        </p:nvCxnSpPr>
        <p:spPr>
          <a:xfrm>
            <a:off x="6858152" y="3569923"/>
            <a:ext cx="1860131" cy="445426"/>
          </a:xfrm>
          <a:prstGeom prst="bentConnector3">
            <a:avLst>
              <a:gd name="adj1" fmla="val 799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75" idx="2"/>
          </p:cNvCxnSpPr>
          <p:nvPr/>
        </p:nvCxnSpPr>
        <p:spPr>
          <a:xfrm flipV="1">
            <a:off x="7988595" y="4015349"/>
            <a:ext cx="729688" cy="4495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</a:t>
            </a:r>
            <a:r>
              <a:rPr lang="ko-KR" altLang="en-US" sz="800" dirty="0" err="1">
                <a:solidFill>
                  <a:schemeClr val="tx1"/>
                </a:solidFill>
              </a:rPr>
              <a:t>상태변경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2" idx="3"/>
            <a:endCxn id="99" idx="1"/>
          </p:cNvCxnSpPr>
          <p:nvPr/>
        </p:nvCxnSpPr>
        <p:spPr>
          <a:xfrm>
            <a:off x="6858152" y="4464882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175" idx="2"/>
          </p:cNvCxnSpPr>
          <p:nvPr/>
        </p:nvCxnSpPr>
        <p:spPr>
          <a:xfrm>
            <a:off x="6858152" y="4015349"/>
            <a:ext cx="186013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959807" y="4192141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대표자만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3147377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(4/4)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917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4145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9113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408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04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4673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35890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4025890"/>
            <a:ext cx="931134" cy="178788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내 파일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818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설정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권한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37" idx="1"/>
          </p:cNvCxnSpPr>
          <p:nvPr/>
        </p:nvCxnSpPr>
        <p:spPr>
          <a:xfrm flipV="1">
            <a:off x="4326327" y="4464746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6" idx="3"/>
            <a:endCxn id="175" idx="2"/>
          </p:cNvCxnSpPr>
          <p:nvPr/>
        </p:nvCxnSpPr>
        <p:spPr>
          <a:xfrm>
            <a:off x="6157461" y="4025890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7" idx="3"/>
            <a:endCxn id="175" idx="2"/>
          </p:cNvCxnSpPr>
          <p:nvPr/>
        </p:nvCxnSpPr>
        <p:spPr>
          <a:xfrm flipV="1">
            <a:off x="6157461" y="4025890"/>
            <a:ext cx="2560822" cy="438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75" idx="2"/>
          </p:cNvCxnSpPr>
          <p:nvPr/>
        </p:nvCxnSpPr>
        <p:spPr>
          <a:xfrm flipV="1">
            <a:off x="4326327" y="4025890"/>
            <a:ext cx="4391956" cy="2237556"/>
          </a:xfrm>
          <a:prstGeom prst="bentConnector3">
            <a:avLst>
              <a:gd name="adj1" fmla="val 7082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3760565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대표자만 관리 표시</a:t>
            </a:r>
          </a:p>
        </p:txBody>
      </p: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0143" y="1769731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76941833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세부스텝팝업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일정상세정보팝업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문서함상세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DocBoxDtl_Info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첨언상세보기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DocBoxDtl_AtchOpnn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디지털캐비닛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폴더설정권한관리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폴더내파일목록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dirty="0">
                <a:solidFill>
                  <a:schemeClr val="tx1"/>
                </a:solidFill>
              </a:rPr>
              <a:t> 1)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294384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업체일반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 smtClean="0">
                <a:solidFill>
                  <a:schemeClr val="tx1"/>
                </a:solidFill>
                <a:latin typeface="+mn-ea"/>
              </a:rPr>
              <a:t>bzentyGnrlInfoDtl_Gnrl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시설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bzentyGnrlInfoDtl_Fclt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추가정보신청목록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국내소재상사신청정보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단체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FSC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품류선택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품목 조회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등록대상 품목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7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dmstLctnColInfoAddReg_Cmbz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4" idx="0"/>
            <a:endCxn id="9" idx="2"/>
          </p:cNvCxnSpPr>
          <p:nvPr/>
        </p:nvCxnSpPr>
        <p:spPr>
          <a:xfrm flipV="1">
            <a:off x="3855704" y="3810190"/>
            <a:ext cx="967987" cy="602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41251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6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6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담당자정보저장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600" dirty="0" err="1">
                <a:solidFill>
                  <a:schemeClr val="tx1"/>
                </a:solidFill>
                <a:latin typeface="+mn-ea"/>
              </a:rPr>
              <a:t>dmstLctnColInfoAddReg_Pic</a:t>
            </a:r>
            <a:r>
              <a:rPr lang="en-US" altLang="ko-KR" sz="6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6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주거래은행 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행정정보공동이용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사전동의서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확인팝업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Confirm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군수품무역대리업신청및발급목록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DfEqpmntTradeAgncAplyDtlPage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국내조달원확인서신청목록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조달원확인서신청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56054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</a:rPr>
              <a:t>개인정보상세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비밀번호변경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CrtfMng.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(5/5)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CrtfIdnty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 소속 사용자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3" idx="3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회원탈퇴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MbWithdrawal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PrcmBzentyUserSttsChg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67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5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등 하단 메뉴 진입 시 검색 필터에 해당 정보를 </a:t>
            </a:r>
            <a:r>
              <a:rPr lang="ko-KR" altLang="en-US" dirty="0" err="1" smtClean="0"/>
              <a:t>필터링</a:t>
            </a:r>
            <a:r>
              <a:rPr lang="ko-KR" altLang="en-US" dirty="0" smtClean="0"/>
              <a:t> 하여 진입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입찰참가신청 건만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받은 문서 등으로 진입할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검색 필터에 해당 정보로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</a:t>
            </a:r>
            <a:r>
              <a:rPr lang="ko-KR" altLang="en-US" dirty="0" err="1" smtClean="0"/>
              <a:t>한달이내</a:t>
            </a:r>
            <a:r>
              <a:rPr lang="ko-KR" altLang="en-US" dirty="0" smtClean="0"/>
              <a:t> 건수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건수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462173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임시저장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5662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5841212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페이지 또는 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008979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정보관리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391223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정보관리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2771499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156791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35454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회원탈퇴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</a:t>
            </a:r>
            <a:r>
              <a:rPr lang="ko-KR" altLang="en-US" dirty="0" smtClean="0">
                <a:sym typeface="Wingdings" panose="05000000000000000000" pitchFamily="2" charset="2"/>
              </a:rPr>
              <a:t>호출</a:t>
            </a:r>
            <a:endParaRPr lang="en-US" altLang="ko-KR" dirty="0" smtClean="0">
              <a:sym typeface="Wingdings" panose="05000000000000000000" pitchFamily="2" charset="2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09786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진행 단계 클릭 시 선택이 유지되며</a:t>
            </a:r>
            <a:r>
              <a:rPr lang="en-US" altLang="ko-KR" dirty="0" smtClean="0"/>
              <a:t>,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버튼으로 해당하는 목록으로 이동함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공고에 매칭되는 정보만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해당 공고의 정보가 사용자가 선택하는 목록에 없는 경우 정보가 없음을 표시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</a:t>
            </a:r>
            <a:r>
              <a:rPr lang="ko-KR" altLang="en-US" dirty="0" smtClean="0">
                <a:solidFill>
                  <a:srgbClr val="FF0000"/>
                </a:solidFill>
              </a:rPr>
              <a:t> 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목록까지 해당 공고가 표시되고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전자계약</a:t>
            </a:r>
            <a:r>
              <a:rPr lang="ko-KR" altLang="en-US" dirty="0" smtClean="0">
                <a:solidFill>
                  <a:srgbClr val="FF0000"/>
                </a:solidFill>
              </a:rPr>
              <a:t> 목록부터는 해당 공고가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선택된 목록에는 검색 영역이 숨겨지고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선택한 공고에 해당하는 정보만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목록에서 해당 공고가 표시될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검색 영역이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상기 표시된 단계 상태에 선택된 목록으로 이동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29" name="그룹 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0" name="직사각형 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명칭 </a:t>
              </a:r>
              <a:r>
                <a:rPr lang="en-US" altLang="ko-KR" sz="700" dirty="0" smtClean="0"/>
                <a:t>[</a:t>
              </a:r>
              <a:r>
                <a:rPr lang="ko-KR" altLang="en-US" sz="700" dirty="0" smtClean="0"/>
                <a:t>공고 </a:t>
              </a:r>
              <a:r>
                <a:rPr lang="ko-KR" altLang="en-US" sz="700" dirty="0" err="1" smtClean="0"/>
                <a:t>바로가기</a:t>
              </a:r>
              <a:r>
                <a:rPr lang="en-US" altLang="ko-KR" sz="700" dirty="0" smtClean="0"/>
                <a:t>]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[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바로가기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]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 변경</a:t>
              </a:r>
              <a:endParaRPr lang="en-US" altLang="ko-KR" sz="700" dirty="0" smtClean="0">
                <a:sym typeface="Wingdings" panose="05000000000000000000" pitchFamily="2" charset="2"/>
              </a:endParaRPr>
            </a:p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설명 추가 작성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이력 현황에 표시되는 </a:t>
            </a:r>
            <a:r>
              <a:rPr lang="en-US" altLang="ko-KR" dirty="0" smtClean="0"/>
              <a:t>4</a:t>
            </a:r>
            <a:r>
              <a:rPr lang="ko-KR" altLang="en-US" dirty="0" smtClean="0"/>
              <a:t>가지 현황을 선택하여 볼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각각 표시되는 항목은 개별 목록에 따라 다름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진행중인 </a:t>
            </a:r>
            <a:r>
              <a:rPr lang="ko-KR" altLang="en-US" dirty="0"/>
              <a:t>업무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상세 화면으로 이동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7276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65283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65283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67106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51142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994104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755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168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65283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25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20491" y="1941161"/>
            <a:ext cx="2621844" cy="199577"/>
            <a:chOff x="720490" y="1941161"/>
            <a:chExt cx="2938973" cy="199577"/>
          </a:xfrm>
        </p:grpSpPr>
        <p:sp>
          <p:nvSpPr>
            <p:cNvPr id="11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20490" y="1941161"/>
              <a:ext cx="698735" cy="199577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>
                  <a:solidFill>
                    <a:schemeClr val="bg1"/>
                  </a:solidFill>
                </a:rPr>
                <a:t>입찰참가신청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66334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 err="1"/>
                <a:t>입찰서제출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213531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공개수의협상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960728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계약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상단 분기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66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smtClean="0"/>
              <a:t>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페이지 유지 시 </a:t>
            </a:r>
            <a:r>
              <a:rPr lang="ko-KR" altLang="en-US" dirty="0" err="1" smtClean="0"/>
              <a:t>리로드하지</a:t>
            </a:r>
            <a:r>
              <a:rPr lang="ko-KR" altLang="en-US" dirty="0" smtClean="0"/>
              <a:t> 않고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별 하이라이트가 </a:t>
            </a:r>
            <a:r>
              <a:rPr lang="en-US" altLang="ko-KR" dirty="0" smtClean="0"/>
              <a:t>OFF</a:t>
            </a:r>
            <a:r>
              <a:rPr lang="ko-KR" altLang="en-US" dirty="0" smtClean="0"/>
              <a:t>으로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strike="sngStrike" dirty="0" err="1"/>
              <a:t>즐겨찾기</a:t>
            </a:r>
            <a:r>
              <a:rPr lang="ko-KR" altLang="en-US" strike="sngStrike" dirty="0"/>
              <a:t> 해제 팝업</a:t>
            </a:r>
            <a:r>
              <a:rPr lang="en-US" altLang="ko-KR" strike="sngStrike" dirty="0"/>
              <a:t/>
            </a:r>
            <a:br>
              <a:rPr lang="en-US" altLang="ko-KR" strike="sngStrike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다음부터 묻지 않기를 통해 앱 </a:t>
            </a:r>
            <a:r>
              <a:rPr lang="ko-KR" altLang="en-US" strike="sngStrike" dirty="0" err="1"/>
              <a:t>스토리지에</a:t>
            </a:r>
            <a:r>
              <a:rPr lang="ko-KR" altLang="en-US" strike="sngStrike" dirty="0"/>
              <a:t> 내역 저장하고</a:t>
            </a:r>
            <a:r>
              <a:rPr lang="en-US" altLang="ko-KR" strike="sngStrike" dirty="0"/>
              <a:t>, </a:t>
            </a:r>
            <a:r>
              <a:rPr lang="ko-KR" altLang="en-US" strike="sngStrike" dirty="0"/>
              <a:t>클릭 이후 즉시 </a:t>
            </a:r>
            <a:r>
              <a:rPr lang="ko-KR" altLang="en-US" strike="sngStrike" dirty="0" err="1"/>
              <a:t>즐겨찾기</a:t>
            </a:r>
            <a:r>
              <a:rPr lang="ko-KR" altLang="en-US" strike="sngStrike" dirty="0"/>
              <a:t> </a:t>
            </a:r>
            <a:r>
              <a:rPr lang="ko-KR" altLang="en-US" strike="sngStrike" dirty="0" smtClean="0"/>
              <a:t>해제</a:t>
            </a:r>
            <a:endParaRPr lang="en-US" altLang="ko-KR" strike="sngStrike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즐겨찾기</a:t>
            </a:r>
            <a:r>
              <a:rPr lang="ko-KR" altLang="en-US" dirty="0" smtClean="0"/>
              <a:t> 해제 시 토스트 메시지 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cxnSp>
        <p:nvCxnSpPr>
          <p:cNvPr id="7" name="직선 연결선 6"/>
          <p:cNvCxnSpPr/>
          <p:nvPr/>
        </p:nvCxnSpPr>
        <p:spPr>
          <a:xfrm flipH="1">
            <a:off x="3700924" y="2940208"/>
            <a:ext cx="2917590" cy="176374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4435552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관심공고에서 제외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58536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 smtClean="0"/>
              <a:t>관심공고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스케줄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등록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삭제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있는 경우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806173"/>
            <a:chOff x="781461" y="2610063"/>
            <a:chExt cx="2473257" cy="806173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3245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4" name="그룹 73"/>
          <p:cNvGrpSpPr/>
          <p:nvPr/>
        </p:nvGrpSpPr>
        <p:grpSpPr>
          <a:xfrm>
            <a:off x="781461" y="3436694"/>
            <a:ext cx="2473257" cy="821562"/>
            <a:chOff x="781461" y="2610063"/>
            <a:chExt cx="2473257" cy="821562"/>
          </a:xfrm>
        </p:grpSpPr>
        <p:sp>
          <p:nvSpPr>
            <p:cNvPr id="7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수신처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송신일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확인일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보낸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4" name="모서리가 둥근 직사각형 83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564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6" name="그룹 85"/>
          <p:cNvGrpSpPr/>
          <p:nvPr/>
        </p:nvGrpSpPr>
        <p:grpSpPr>
          <a:xfrm>
            <a:off x="781461" y="4493250"/>
            <a:ext cx="2473257" cy="532810"/>
            <a:chOff x="781461" y="2610063"/>
            <a:chExt cx="2473257" cy="532810"/>
          </a:xfrm>
        </p:grpSpPr>
        <p:sp>
          <p:nvSpPr>
            <p:cNvPr id="8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2199"/>
              <a:ext cx="230832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8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006810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</p:txBody>
        </p:sp>
        <p:sp>
          <p:nvSpPr>
            <p:cNvPr id="90" name="모서리가 둥근 직사각형 8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임시저장</a:t>
              </a:r>
              <a:endParaRPr lang="ko-KR" altLang="en-US" sz="600" dirty="0"/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4081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103" name="그룹 102"/>
          <p:cNvGrpSpPr/>
          <p:nvPr/>
        </p:nvGrpSpPr>
        <p:grpSpPr>
          <a:xfrm>
            <a:off x="3896624" y="1979532"/>
            <a:ext cx="2473258" cy="806173"/>
            <a:chOff x="781460" y="2610063"/>
            <a:chExt cx="2473258" cy="806173"/>
          </a:xfrm>
        </p:grpSpPr>
        <p:sp>
          <p:nvSpPr>
            <p:cNvPr id="10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781460" y="2610063"/>
              <a:ext cx="575363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반려받은</a:t>
              </a:r>
              <a:r>
                <a:rPr lang="ko-KR" altLang="en-US" sz="600" dirty="0"/>
                <a:t> 문서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2908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/>
          <p:cNvGrpSpPr/>
          <p:nvPr/>
        </p:nvGrpSpPr>
        <p:grpSpPr>
          <a:xfrm>
            <a:off x="3896625" y="3020581"/>
            <a:ext cx="2473257" cy="821562"/>
            <a:chOff x="781461" y="2610063"/>
            <a:chExt cx="2473257" cy="821562"/>
          </a:xfrm>
        </p:grpSpPr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781461" y="2610063"/>
              <a:ext cx="51345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반려한 문서</a:t>
              </a:r>
            </a:p>
          </p:txBody>
        </p:sp>
      </p:grp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39495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err="1"/>
              <a:t>있는경우</a:t>
            </a:r>
            <a:r>
              <a:rPr lang="ko-KR" altLang="en-US" dirty="0"/>
              <a:t>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초기값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문서구분</a:t>
            </a:r>
            <a:r>
              <a:rPr lang="en-US" altLang="ko-KR" dirty="0"/>
              <a:t>: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 여부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기간</a:t>
            </a:r>
            <a:r>
              <a:rPr lang="en-US" altLang="ko-KR" dirty="0"/>
              <a:t>: 1</a:t>
            </a:r>
            <a:r>
              <a:rPr lang="ko-KR" altLang="en-US" dirty="0"/>
              <a:t>개월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672112" y="3614651"/>
            <a:ext cx="2712027" cy="1085258"/>
            <a:chOff x="675399" y="1921801"/>
            <a:chExt cx="2712027" cy="1085258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첨언</a:t>
              </a:r>
              <a:r>
                <a:rPr lang="en-US" altLang="ko-KR" sz="700" b="1" dirty="0">
                  <a:latin typeface="+mn-ea"/>
                </a:rPr>
                <a:t>, </a:t>
              </a:r>
              <a:r>
                <a:rPr lang="ko-KR" altLang="en-US" sz="700" b="1" dirty="0">
                  <a:latin typeface="+mn-ea"/>
                </a:rPr>
                <a:t>첨부 여부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직사각형 111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23" name="직선 연결선 1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9" name="직선 연결선 1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6" name="직사각형 115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00705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672112" y="4775939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0" name="그룹 149"/>
          <p:cNvGrpSpPr/>
          <p:nvPr/>
        </p:nvGrpSpPr>
        <p:grpSpPr>
          <a:xfrm>
            <a:off x="797174" y="1977748"/>
            <a:ext cx="2468249" cy="1536487"/>
            <a:chOff x="3898850" y="4660546"/>
            <a:chExt cx="2468249" cy="1536487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문서 구분</a:t>
              </a:r>
            </a:p>
          </p:txBody>
        </p:sp>
        <p:grpSp>
          <p:nvGrpSpPr>
            <p:cNvPr id="152" name="그룹 151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보낸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반려한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임시 저장</a:t>
              </a:r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69934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/>
          <p:cNvSpPr/>
          <p:nvPr/>
        </p:nvSpPr>
        <p:spPr>
          <a:xfrm>
            <a:off x="769934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/>
          <p:cNvSpPr/>
          <p:nvPr/>
        </p:nvSpPr>
        <p:spPr>
          <a:xfrm>
            <a:off x="769934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/>
          <p:cNvSpPr/>
          <p:nvPr/>
        </p:nvSpPr>
        <p:spPr>
          <a:xfrm>
            <a:off x="769867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/>
          <p:cNvSpPr txBox="1"/>
          <p:nvPr/>
        </p:nvSpPr>
        <p:spPr>
          <a:xfrm>
            <a:off x="710536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1" name="직사각형 160"/>
          <p:cNvSpPr/>
          <p:nvPr/>
        </p:nvSpPr>
        <p:spPr>
          <a:xfrm>
            <a:off x="769934" y="3144406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69934" y="33590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3209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이슈가 발생하는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17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80" name="모서리가 둥근 직사각형 179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228979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65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5209" y="1300009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MUI-CM-06-M11-01</a:t>
            </a:r>
          </a:p>
        </p:txBody>
      </p: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첨언 상세 내용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58764" y="3188926"/>
            <a:ext cx="65201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113316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6" name="모서리가 둥근 직사각형 85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첨부파일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25704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" name="그룹 7"/>
          <p:cNvGrpSpPr/>
          <p:nvPr/>
        </p:nvGrpSpPr>
        <p:grpSpPr>
          <a:xfrm>
            <a:off x="3795734" y="2600243"/>
            <a:ext cx="2712027" cy="1351549"/>
            <a:chOff x="675399" y="1880640"/>
            <a:chExt cx="2712027" cy="1351549"/>
          </a:xfrm>
        </p:grpSpPr>
        <p:grpSp>
          <p:nvGrpSpPr>
            <p:cNvPr id="94" name="그룹 93"/>
            <p:cNvGrpSpPr/>
            <p:nvPr/>
          </p:nvGrpSpPr>
          <p:grpSpPr>
            <a:xfrm>
              <a:off x="705041" y="1880640"/>
              <a:ext cx="2652743" cy="906290"/>
              <a:chOff x="675929" y="1954020"/>
              <a:chExt cx="2652743" cy="906290"/>
            </a:xfrm>
          </p:grpSpPr>
          <p:sp>
            <p:nvSpPr>
              <p:cNvPr id="95" name="모서리가 둥근 직사각형 94"/>
              <p:cNvSpPr/>
              <p:nvPr/>
            </p:nvSpPr>
            <p:spPr>
              <a:xfrm>
                <a:off x="675929" y="2089138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163659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217520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1</a:t>
                </a:r>
              </a:p>
            </p:txBody>
          </p:sp>
          <p:sp>
            <p:nvSpPr>
              <p:cNvPr id="98" name="타원 97"/>
              <p:cNvSpPr/>
              <p:nvPr/>
            </p:nvSpPr>
            <p:spPr>
              <a:xfrm>
                <a:off x="3063926" y="2199381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모서리가 둥근 직사각형 98"/>
              <p:cNvSpPr/>
              <p:nvPr/>
            </p:nvSpPr>
            <p:spPr>
              <a:xfrm>
                <a:off x="675929" y="2495824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570345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624206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2</a:t>
                </a:r>
              </a:p>
            </p:txBody>
          </p:sp>
          <p:sp>
            <p:nvSpPr>
              <p:cNvPr id="103" name="타원 102"/>
              <p:cNvSpPr/>
              <p:nvPr/>
            </p:nvSpPr>
            <p:spPr>
              <a:xfrm>
                <a:off x="3063926" y="2606067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1954020"/>
                <a:ext cx="47434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6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73442" y="1954020"/>
                <a:ext cx="32496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다운로드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1074" y="195402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번호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1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1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5209" y="1300009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MUI-CM-06-M11-02</a:t>
            </a:r>
          </a:p>
        </p:txBody>
      </p:sp>
      <p:sp>
        <p:nvSpPr>
          <p:cNvPr id="92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803758" y="1300009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MUI-CM-06-M11-03</a:t>
            </a:r>
          </a:p>
        </p:txBody>
      </p: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321897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UI-CM-06-P08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UI-CM-06-P09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321898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UI-CM-06-P08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UI-CM-06-P09</a:t>
                      </a: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가능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0927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658504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213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942258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71811"/>
              </p:ext>
            </p:extLst>
          </p:nvPr>
        </p:nvGraphicFramePr>
        <p:xfrm>
          <a:off x="453000" y="3567814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해제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노출 메시지는 아래로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err="1"/>
              <a:t>즐겨찾기를</a:t>
            </a:r>
            <a:r>
              <a:rPr lang="ko-KR" altLang="en-US" dirty="0"/>
              <a:t> 해제하면</a:t>
            </a:r>
            <a:r>
              <a:rPr lang="en-US" altLang="ko-KR" dirty="0"/>
              <a:t>, </a:t>
            </a:r>
            <a:r>
              <a:rPr lang="ko-KR" altLang="en-US" dirty="0"/>
              <a:t>그 즉시 목록에서 사라집니다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정말 </a:t>
            </a:r>
            <a:r>
              <a:rPr lang="ko-KR" altLang="en-US" dirty="0" err="1"/>
              <a:t>즐겨찾기를</a:t>
            </a:r>
            <a:r>
              <a:rPr lang="ko-KR" altLang="en-US" dirty="0"/>
              <a:t> 해제할까요</a:t>
            </a:r>
            <a:r>
              <a:rPr lang="en-US" altLang="ko-KR" dirty="0"/>
              <a:t>?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다시 묻지 않기 설정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다시 묻지 않기 설정된 경우 바로 해제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28591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4075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97118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842932"/>
              </p:ext>
            </p:extLst>
          </p:nvPr>
        </p:nvGraphicFramePr>
        <p:xfrm>
          <a:off x="453000" y="446547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위치정보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권한 관리는 업체 대표자에게만 표시됨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설정 권한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내 파일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조달원 확인서 신청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585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조달원등록증 신청안내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8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0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MUI-CM-01-M02-01</a:t>
            </a:r>
            <a:endParaRPr lang="ko-KR" altLang="en-US" sz="1000" dirty="0"/>
          </a:p>
        </p:txBody>
      </p:sp>
      <p:sp>
        <p:nvSpPr>
          <p:cNvPr id="111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MUI-CM-01-M02-01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수의계약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/>
              <a:t>개월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11781" y="1909918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0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8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8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54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8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8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5021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8565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5460" y="16399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0787" y="163994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1781" y="18565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893012" y="163994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58093" y="163994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82" name="그룹 181"/>
          <p:cNvGrpSpPr/>
          <p:nvPr/>
        </p:nvGrpSpPr>
        <p:grpSpPr>
          <a:xfrm>
            <a:off x="3828452" y="1903968"/>
            <a:ext cx="2630093" cy="1169259"/>
            <a:chOff x="720490" y="2967388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대표자영문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abcde@dapa.go.kr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51969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3566683"/>
            <a:ext cx="2630093" cy="966004"/>
            <a:chOff x="720490" y="2967388"/>
            <a:chExt cx="2630093" cy="966004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6463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9668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25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15386" y="1952353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4272" y="4264461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MUI-CM-01-M02-01</a:t>
            </a:r>
            <a:endParaRPr lang="ko-KR" altLang="en-US" sz="1000" dirty="0"/>
          </a:p>
        </p:txBody>
      </p:sp>
      <p:sp>
        <p:nvSpPr>
          <p:cNvPr id="12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MUI-CM-01-M02-01</a:t>
            </a:r>
            <a:endParaRPr lang="ko-KR" altLang="en-US" sz="1000" dirty="0"/>
          </a:p>
        </p:txBody>
      </p:sp>
      <p:grpSp>
        <p:nvGrpSpPr>
          <p:cNvPr id="82" name="그룹 8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1084"/>
              </p:ext>
            </p:extLst>
          </p:nvPr>
        </p:nvGraphicFramePr>
        <p:xfrm>
          <a:off x="425692" y="50317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783636"/>
              </p:ext>
            </p:extLst>
          </p:nvPr>
        </p:nvGraphicFramePr>
        <p:xfrm>
          <a:off x="458117" y="1022781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조달확인서</a:t>
            </a:r>
            <a:r>
              <a:rPr lang="ko-KR" altLang="en-US" dirty="0"/>
              <a:t> 신청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240" y="52188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5012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556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9333" y="163908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4660" y="163908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408018" y="185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16885" y="163908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1966" y="163908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483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76205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4572062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096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790431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269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41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4417833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479652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448438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175904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조달원확인서 신청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MUI-CM-01-M02-02</a:t>
            </a:r>
            <a:endParaRPr lang="ko-KR" altLang="en-US" sz="1000" dirty="0"/>
          </a:p>
        </p:txBody>
      </p:sp>
      <p:sp>
        <p:nvSpPr>
          <p:cNvPr id="119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MUI-CM-01-M02-02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09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70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022056" y="1855314"/>
            <a:ext cx="185793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70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70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108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22207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4118122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5571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4365750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991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2861057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923520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MUI-CM-01-M02-03</a:t>
            </a:r>
            <a:endParaRPr lang="ko-KR" altLang="en-US" sz="1000" dirty="0"/>
          </a:p>
        </p:txBody>
      </p:sp>
      <p:sp>
        <p:nvSpPr>
          <p:cNvPr id="159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MUI-CM-01-M02-03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557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6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602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602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346458" y="1852629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602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602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2925419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2861057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3261658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1929674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3222207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17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191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MUI-CM-01-M02-04</a:t>
            </a:r>
            <a:endParaRPr lang="ko-KR" altLang="en-US" sz="1000" dirty="0"/>
          </a:p>
        </p:txBody>
      </p:sp>
      <p:sp>
        <p:nvSpPr>
          <p:cNvPr id="117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MUI-CM-01-M02-04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국외조달원등록증 신청 안내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4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87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215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215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8758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215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215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46" name="그룹 145"/>
          <p:cNvGrpSpPr/>
          <p:nvPr/>
        </p:nvGrpSpPr>
        <p:grpSpPr>
          <a:xfrm>
            <a:off x="716366" y="1925803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1785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255073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316891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32162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13178" y="3851636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chemeClr val="bg1"/>
                </a:solidFill>
              </a:rPr>
              <a:t>국외조달원등록증 신청 안내</a:t>
            </a: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926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6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MUI-CM-01-M02-04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조달원 확인서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닫기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  <p:sp>
        <p:nvSpPr>
          <p:cNvPr id="114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118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MUI-CM-01-M03-01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11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MUI-CM-01-M04-01</a:t>
            </a:r>
            <a:endParaRPr lang="ko-KR" altLang="en-US" sz="1000" dirty="0"/>
          </a:p>
        </p:txBody>
      </p:sp>
      <p:sp>
        <p:nvSpPr>
          <p:cNvPr id="112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MUI-CM-01-M04-01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169259"/>
            <a:chOff x="720490" y="4465173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8617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기관명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4988057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MUI-CM-01-M04-02</a:t>
            </a:r>
            <a:endParaRPr lang="ko-KR" altLang="en-US" sz="1000" dirty="0"/>
          </a:p>
        </p:txBody>
      </p:sp>
      <p:sp>
        <p:nvSpPr>
          <p:cNvPr id="104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379302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MUI-CM-01-M04-02</a:t>
            </a:r>
            <a:endParaRPr lang="ko-KR" altLang="en-US" sz="800" dirty="0"/>
          </a:p>
        </p:txBody>
      </p: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내역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9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77257" y="1295405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MUI-CM-01-M04-02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126752"/>
              </p:ext>
            </p:extLst>
          </p:nvPr>
        </p:nvGraphicFramePr>
        <p:xfrm>
          <a:off x="453000" y="107883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되돌림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검색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팝업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프로세스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삭제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449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44783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527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71021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067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56429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791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50335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50335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52989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법인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52989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개인</a:t>
            </a: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2618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359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622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795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52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892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02762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30161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1596718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1710049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19042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038216"/>
            <a:ext cx="2630093" cy="1391691"/>
            <a:chOff x="3836700" y="3066437"/>
            <a:chExt cx="2630093" cy="1391691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6016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166009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297" y="61640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232" y="582104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132" name="직사각형 1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724917"/>
              </p:ext>
            </p:extLst>
          </p:nvPr>
        </p:nvGraphicFramePr>
        <p:xfrm>
          <a:off x="458117" y="52810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캐비닛 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호출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첨부파일 명 입력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업로드 파일 삭제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677031"/>
            <a:chOff x="3836700" y="3380909"/>
            <a:chExt cx="2630093" cy="677031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6770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28613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2873752"/>
            <a:ext cx="134873" cy="137278"/>
          </a:xfrm>
          <a:prstGeom prst="rect">
            <a:avLst/>
          </a:prstGeom>
        </p:spPr>
      </p:pic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6606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718956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18475"/>
              </p:ext>
            </p:extLst>
          </p:nvPr>
        </p:nvGraphicFramePr>
        <p:xfrm>
          <a:off x="453000" y="101323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6084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 smtClean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로드가 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/>
              <a:t>로드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468167"/>
            <a:chOff x="716366" y="3768757"/>
            <a:chExt cx="2630093" cy="24681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2154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반려사유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사유가 있는 경우 내역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2369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52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553688"/>
              </p:ext>
            </p:extLst>
          </p:nvPr>
        </p:nvGraphicFramePr>
        <p:xfrm>
          <a:off x="453000" y="477183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61590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4" name="직사각형 7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03313"/>
              </p:ext>
            </p:extLst>
          </p:nvPr>
        </p:nvGraphicFramePr>
        <p:xfrm>
          <a:off x="455558" y="482318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진입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목록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194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39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진입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84644" y="1304278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MUI-CM-02-M06-01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팝업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84644" y="1304278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MUI-CM-02-M06-02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7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 txBox="1">
            <a:spLocks/>
          </p:cNvSpPr>
          <p:nvPr/>
        </p:nvSpPr>
        <p:spPr>
          <a:xfrm>
            <a:off x="684644" y="1304278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MUI-CM-02-M06-03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600795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3297721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459550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대상 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/>
              <a:t>바로가기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6615675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9238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D2b_NoticeDtlPage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12182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Dmdfrc_NoticeListPage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37020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Dmdfrc_NoticeDtlPage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17471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RpstrList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06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0849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914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3490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617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51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9212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9403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8990822"/>
              </p:ext>
            </p:extLst>
          </p:nvPr>
        </p:nvGraphicFramePr>
        <p:xfrm>
          <a:off x="635474" y="1413419"/>
          <a:ext cx="8701200" cy="48393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신청절차및안내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MUI-CM-04-P33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 목록의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283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실적증명서확인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상세 화면의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0559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D2b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44376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7881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PrfmncPrdocDtl_UnitC.tsx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76882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PrfmncPrdocDtl_UnitD.tsx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60540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PrfmncPrdocDtl_UnitE.tsx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1597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PrfmncPrdocDtl_UnitF.tsx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4298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PrfmncPrdocDtl_UnitG.tsx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980613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84203072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1991830"/>
              </p:ext>
            </p:extLst>
          </p:nvPr>
        </p:nvGraphicFramePr>
        <p:xfrm>
          <a:off x="635474" y="1413419"/>
          <a:ext cx="8701200" cy="47673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PrfmncPrdocDtl_UnitH.tsx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9813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PrfmncPrdocDtl_UnitI.tsx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242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AplyInfo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94369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실적증명서제출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PrfmncPrdocSbmsn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43140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계약정보선택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발급할 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목록에서 계약을 검색할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34202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926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PrfmncPrdocReg_PrfmncInpt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PrfmncPrdocReg_PrfmncInpt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47859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계약건에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맞는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분기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92098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23809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58999323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0973747"/>
              </p:ext>
            </p:extLst>
          </p:nvPr>
        </p:nvGraphicFramePr>
        <p:xfrm>
          <a:off x="635474" y="1413419"/>
          <a:ext cx="8701200" cy="5083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7219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9511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05098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484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567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8370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계약건에 맞는 실적 정보 입력 분기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4757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07414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국외조달원등록증신청목록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국외조달원등록증신청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조달업체선택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법령정보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정보 목록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589793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목록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91585" y="152904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상세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403476" y="1938391"/>
            <a:ext cx="410369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자료실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확인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19879" y="303886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48876" y="284820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신청</a:t>
            </a:r>
          </a:p>
        </p:txBody>
      </p: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1" idx="1"/>
          </p:cNvCxnSpPr>
          <p:nvPr/>
        </p:nvCxnSpPr>
        <p:spPr>
          <a:xfrm>
            <a:off x="3266608" y="2938208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2115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자주묻는</a:t>
            </a:r>
            <a:r>
              <a:rPr lang="ko-KR" altLang="en-US" sz="800" dirty="0">
                <a:solidFill>
                  <a:schemeClr val="tx1"/>
                </a:solidFill>
              </a:rPr>
              <a:t> 질문 목록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민원서류 발급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 목록</a:t>
            </a: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신청절자</a:t>
            </a:r>
            <a:r>
              <a:rPr lang="ko-KR" altLang="en-US" sz="800" dirty="0">
                <a:solidFill>
                  <a:schemeClr val="tx1"/>
                </a:solidFill>
              </a:rPr>
              <a:t> 및 안내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8" idx="1"/>
          </p:cNvCxnSpPr>
          <p:nvPr/>
        </p:nvCxnSpPr>
        <p:spPr>
          <a:xfrm>
            <a:off x="3266608" y="2938208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57" idx="1"/>
          </p:cNvCxnSpPr>
          <p:nvPr/>
        </p:nvCxnSpPr>
        <p:spPr>
          <a:xfrm>
            <a:off x="1435474" y="177296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60" idx="1"/>
          </p:cNvCxnSpPr>
          <p:nvPr/>
        </p:nvCxnSpPr>
        <p:spPr>
          <a:xfrm>
            <a:off x="1435474" y="1772964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7073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목록</a:t>
            </a: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75" idx="1"/>
          </p:cNvCxnSpPr>
          <p:nvPr/>
        </p:nvCxnSpPr>
        <p:spPr>
          <a:xfrm>
            <a:off x="1435474" y="1772964"/>
            <a:ext cx="931134" cy="40783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731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상세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외부링크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80" idx="1"/>
          </p:cNvCxnSpPr>
          <p:nvPr/>
        </p:nvCxnSpPr>
        <p:spPr>
          <a:xfrm>
            <a:off x="3266608" y="58513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0" idx="3"/>
            <a:endCxn id="62" idx="1"/>
          </p:cNvCxnSpPr>
          <p:nvPr/>
        </p:nvCxnSpPr>
        <p:spPr>
          <a:xfrm>
            <a:off x="3266608" y="293820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목록</a:t>
            </a:r>
          </a:p>
        </p:txBody>
      </p: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3" idx="1"/>
          </p:cNvCxnSpPr>
          <p:nvPr/>
        </p:nvCxnSpPr>
        <p:spPr>
          <a:xfrm>
            <a:off x="1435474" y="1772964"/>
            <a:ext cx="931134" cy="29131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51" idx="1"/>
          </p:cNvCxnSpPr>
          <p:nvPr/>
        </p:nvCxnSpPr>
        <p:spPr>
          <a:xfrm>
            <a:off x="3266608" y="468607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2" idx="3"/>
            <a:endCxn id="104" idx="2"/>
          </p:cNvCxnSpPr>
          <p:nvPr/>
        </p:nvCxnSpPr>
        <p:spPr>
          <a:xfrm>
            <a:off x="5097742" y="2938208"/>
            <a:ext cx="255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04" idx="2"/>
          </p:cNvCxnSpPr>
          <p:nvPr/>
        </p:nvCxnSpPr>
        <p:spPr>
          <a:xfrm>
            <a:off x="5097742" y="1772964"/>
            <a:ext cx="2551134" cy="1165244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04" idx="2"/>
          </p:cNvCxnSpPr>
          <p:nvPr/>
        </p:nvCxnSpPr>
        <p:spPr>
          <a:xfrm>
            <a:off x="3266608" y="2355586"/>
            <a:ext cx="4382268" cy="582622"/>
          </a:xfrm>
          <a:prstGeom prst="bentConnector3">
            <a:avLst>
              <a:gd name="adj1" fmla="val 9193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7" idx="3"/>
            <a:endCxn id="104" idx="2"/>
          </p:cNvCxnSpPr>
          <p:nvPr/>
        </p:nvCxnSpPr>
        <p:spPr>
          <a:xfrm flipV="1">
            <a:off x="6931639" y="2938208"/>
            <a:ext cx="71723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04" idx="2"/>
          </p:cNvCxnSpPr>
          <p:nvPr/>
        </p:nvCxnSpPr>
        <p:spPr>
          <a:xfrm flipV="1">
            <a:off x="6931639" y="2938208"/>
            <a:ext cx="717237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4" idx="2"/>
          </p:cNvCxnSpPr>
          <p:nvPr/>
        </p:nvCxnSpPr>
        <p:spPr>
          <a:xfrm flipV="1">
            <a:off x="5097742" y="2938208"/>
            <a:ext cx="2551134" cy="1747866"/>
          </a:xfrm>
          <a:prstGeom prst="bentConnector3">
            <a:avLst>
              <a:gd name="adj1" fmla="val 8652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04" idx="2"/>
          </p:cNvCxnSpPr>
          <p:nvPr/>
        </p:nvCxnSpPr>
        <p:spPr>
          <a:xfrm flipV="1">
            <a:off x="5097742" y="2938208"/>
            <a:ext cx="2551134" cy="2913109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검색</a:t>
            </a: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실적증명서제출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47" idx="1"/>
          </p:cNvCxnSpPr>
          <p:nvPr/>
        </p:nvCxnSpPr>
        <p:spPr>
          <a:xfrm>
            <a:off x="5097742" y="3520830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48" idx="1"/>
          </p:cNvCxnSpPr>
          <p:nvPr/>
        </p:nvCxnSpPr>
        <p:spPr>
          <a:xfrm>
            <a:off x="5097742" y="4103452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방위사업청공지사항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D2b_NoticeListPage</a:t>
            </a:r>
            <a:r>
              <a:rPr lang="en-US" altLang="ko-KR" sz="700" dirty="0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방위사업청공지사항상세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D2b_NoticeDtlPage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일반자료실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rpstrList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일반자료실상세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81448" y="5443501"/>
            <a:ext cx="1353773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계약관련서식자료실상세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시스템개선안내상세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계약관련서식자료실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시스템개선안내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자주묻는질문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9408263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신청절차및안내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검색필터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실적증명서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PrfmncPrdocPage_SrchFilter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실적증명서확인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>
                <a:solidFill>
                  <a:schemeClr val="tx1"/>
                </a:solidFill>
              </a:rPr>
              <a:t>상세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PrfmncPrdocDtl_D2b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PrfmncPrdocDtl_UnitB.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PrfmncPrdocDtl_UnitD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PrfmncPrdocDtl_UnitF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계약정보선택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CtrtInfoChc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검색필터</a:t>
            </a:r>
            <a:r>
              <a:rPr lang="en-US" altLang="ko-KR" sz="1000" dirty="0">
                <a:solidFill>
                  <a:schemeClr val="tx1"/>
                </a:solidFill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신청정보입력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PrfmncPrdocReg_AplyInpt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PrfmncPrdocReg_PrfmncInpt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 smtClean="0">
                <a:solidFill>
                  <a:schemeClr val="tx1"/>
                </a:solidFill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PrfmncPrdocReg_D2b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.</a:t>
            </a:r>
            <a:r>
              <a:rPr lang="en-US" altLang="ko-KR" sz="1000" dirty="0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PrfmncPrdocReg_UnitB.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F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3661136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국외조달원등록증신청목록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국외조달원등록증신청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조달업체선택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ovsSosCnfdocChc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 smtClean="0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/>
              <a:t>법령정보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SttInfoController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423455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수요부대별자료실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계약관련서식자료실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시스템개선안내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공통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376986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0385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7205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5898778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59046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082855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08869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59429"/>
            <a:ext cx="2473257" cy="960061"/>
            <a:chOff x="781461" y="2610063"/>
            <a:chExt cx="2473257" cy="960061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공통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상세 내용 표시</a:t>
            </a: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/>
              <a:t>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아코디언으로 최대 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(PDF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탭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및 수정은 </a:t>
            </a:r>
            <a:r>
              <a:rPr lang="ko-KR" altLang="en-US" dirty="0" err="1"/>
              <a:t>저장상태</a:t>
            </a:r>
            <a:r>
              <a:rPr lang="ko-KR" altLang="en-US" dirty="0"/>
              <a:t> 일 때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</a:t>
            </a:r>
            <a:r>
              <a:rPr lang="en-US" altLang="ko-KR" dirty="0"/>
              <a:t>,</a:t>
            </a:r>
            <a:r>
              <a:rPr lang="ko-KR" altLang="en-US" dirty="0"/>
              <a:t>제출은 </a:t>
            </a:r>
            <a:r>
              <a:rPr lang="ko-KR" altLang="en-US" dirty="0" err="1"/>
              <a:t>발급상태</a:t>
            </a:r>
            <a:r>
              <a:rPr lang="ko-KR" altLang="en-US" dirty="0"/>
              <a:t> 일 때</a:t>
            </a:r>
            <a:r>
              <a:rPr lang="en-US" altLang="ko-KR" dirty="0"/>
              <a:t>,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실적증명서 제출 </a:t>
            </a:r>
            <a:r>
              <a:rPr lang="en-US" altLang="ko-KR" dirty="0"/>
              <a:t>(MUI-CM-04-P20)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삭제는 반려</a:t>
            </a:r>
            <a:r>
              <a:rPr lang="en-US" altLang="ko-KR" dirty="0"/>
              <a:t>/</a:t>
            </a:r>
            <a:r>
              <a:rPr lang="ko-KR" altLang="en-US" dirty="0"/>
              <a:t>저장</a:t>
            </a:r>
            <a:r>
              <a:rPr lang="en-US" altLang="ko-KR" dirty="0"/>
              <a:t>/</a:t>
            </a:r>
            <a:r>
              <a:rPr lang="ko-KR" altLang="en-US" dirty="0" err="1"/>
              <a:t>회송상태</a:t>
            </a:r>
            <a:r>
              <a:rPr lang="ko-KR" altLang="en-US" dirty="0"/>
              <a:t> 일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확인 팝업 </a:t>
            </a:r>
            <a:r>
              <a:rPr lang="en-US" altLang="ko-KR" dirty="0"/>
              <a:t>– </a:t>
            </a:r>
            <a:r>
              <a:rPr lang="ko-KR" altLang="en-US" dirty="0"/>
              <a:t>정말 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250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084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0842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18250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586144" y="2295212"/>
            <a:ext cx="2010878" cy="408308"/>
          </a:xfrm>
          <a:prstGeom prst="parallelogram">
            <a:avLst>
              <a:gd name="adj" fmla="val 39703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191596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675400" y="1974254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3" name="그룹 22"/>
          <p:cNvGrpSpPr/>
          <p:nvPr/>
        </p:nvGrpSpPr>
        <p:grpSpPr>
          <a:xfrm>
            <a:off x="720490" y="3314164"/>
            <a:ext cx="2630093" cy="2302166"/>
            <a:chOff x="720490" y="3930133"/>
            <a:chExt cx="2630093" cy="2302166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9946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착수금신청금액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착수금발급금액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선금신청금액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선금발급금액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중도금신청금액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처리사유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310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4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84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853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425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087585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281740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173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1739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1739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28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65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025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39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14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751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888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5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9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25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327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65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602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739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5007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288168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31593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375155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15067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458832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499888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31181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1802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683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19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63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6757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7749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3756468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6757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436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63973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61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009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459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19656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43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0258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9310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19656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1972911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3872472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1972911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6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3967975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4864603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3995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87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0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88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19806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19767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28733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37737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29835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39776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49810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63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0071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020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1980621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5793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570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6043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7" y="19806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43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4399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261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3795734" y="19806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72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7646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8638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764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5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7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70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6" y="19806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704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43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806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4137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292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2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291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291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3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3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80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5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2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7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798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80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096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5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7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6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6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3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8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2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2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4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029245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230015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675399" y="1998040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405594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704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9035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3190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31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3189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3189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4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80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7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9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51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63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6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4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919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5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298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945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5922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94682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80001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1947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452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0852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2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291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624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0397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039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0396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0396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15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52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389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26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01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46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23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3903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291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0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4414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23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019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4880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4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76376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13193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15269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2574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13852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382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8713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2868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28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2867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2867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39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76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3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0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5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1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48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7200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0425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04096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1975382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40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1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3611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43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29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호출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MUI-CM-04-M09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/>
        </p:nvGraphicFramePr>
        <p:xfrm>
          <a:off x="402754" y="927298"/>
          <a:ext cx="8995591" cy="177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 신청 목록 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scwin.btn_ovsSosAplyDtlInfo_onclick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상세 정보가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닫기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622109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등록증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79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981944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430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4564592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2565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42565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405191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89105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신청인 </a:t>
            </a:r>
            <a:r>
              <a:rPr lang="en-US" altLang="ko-KR" sz="900" b="1" dirty="0">
                <a:latin typeface="+mn-ea"/>
              </a:rPr>
              <a:t>(Applicant)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996183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" name="양쪽 모서리가 둥근 사각형 81"/>
          <p:cNvSpPr/>
          <p:nvPr/>
        </p:nvSpPr>
        <p:spPr>
          <a:xfrm>
            <a:off x="379573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488174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284673" y="2622109"/>
            <a:ext cx="94010" cy="94010"/>
            <a:chOff x="6812560" y="3297172"/>
            <a:chExt cx="94010" cy="94010"/>
          </a:xfrm>
        </p:grpSpPr>
        <p:cxnSp>
          <p:nvCxnSpPr>
            <p:cNvPr id="85" name="직선 연결선 8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6" name="직선 연결선 8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등록증 신청서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모서리가 둥근 직사각형 89"/>
          <p:cNvSpPr/>
          <p:nvPr/>
        </p:nvSpPr>
        <p:spPr>
          <a:xfrm>
            <a:off x="4019461" y="4287897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43871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4148962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4148962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4019461" y="3405191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0" y="2989105"/>
            <a:ext cx="22191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조달원 등록증</a:t>
            </a:r>
            <a:r>
              <a:rPr lang="en-US" altLang="ko-KR" sz="9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325805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028373" y="3794919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11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3744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0922259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삭제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 비밀번호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 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CrtfInfoMsg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가져온 이후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인증서관리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 smtClean="0">
                <a:solidFill>
                  <a:schemeClr val="tx1"/>
                </a:solidFill>
                <a:latin typeface="+mn-ea"/>
              </a:rPr>
              <a:t>인증서삭제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인증서비밀번호확인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CrtfInfoMsg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/>
              <a:t>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067478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5097742" y="273203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5126739" y="2516031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3788168" y="2606031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2606031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2606031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5097742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2366608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2366608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4"/>
            <a:endCxn id="40" idx="1"/>
          </p:cNvCxnSpPr>
          <p:nvPr/>
        </p:nvCxnSpPr>
        <p:spPr>
          <a:xfrm rot="16200000" flipH="1">
            <a:off x="346599" y="2398432"/>
            <a:ext cx="305442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4"/>
            <a:endCxn id="41" idx="1"/>
          </p:cNvCxnSpPr>
          <p:nvPr/>
        </p:nvCxnSpPr>
        <p:spPr>
          <a:xfrm rot="16200000" flipH="1">
            <a:off x="84564" y="2660467"/>
            <a:ext cx="3578497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2366608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4"/>
            <a:endCxn id="133" idx="1"/>
          </p:cNvCxnSpPr>
          <p:nvPr/>
        </p:nvCxnSpPr>
        <p:spPr>
          <a:xfrm rot="16200000" flipH="1">
            <a:off x="-177472" y="2922503"/>
            <a:ext cx="4102568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2366608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4"/>
            <a:endCxn id="136" idx="1"/>
          </p:cNvCxnSpPr>
          <p:nvPr/>
        </p:nvCxnSpPr>
        <p:spPr>
          <a:xfrm rot="16200000" flipH="1">
            <a:off x="-439506" y="3184537"/>
            <a:ext cx="462663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3788168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3788168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3788168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3788168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3788168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앱 이용에 대한 안내 화면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1789045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184140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:dsp="http://schemas.microsoft.com/office/drawing/2008/diagram" xmlns:dgm="http://schemas.openxmlformats.org/drawingml/2006/diagram" xmlns:c="http://schemas.openxmlformats.org/drawingml/2006/chart" xmlns="">
      <p:transition/>
    </mc:Fallback>
  </mc:AlternateContent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365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1581494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72219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776198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7863972" y="2664163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866198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224133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329441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132838" y="171726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3788168" y="1866198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022376" y="3149934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3348411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1471017" y="3438411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3788168" y="1861261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29441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8081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3788168" y="3438411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3788168" y="3438411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6554398" y="1861261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6554398" y="2385332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6554398" y="2754163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6554398" y="2754163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996C471-E44F-C5C9-F26F-9A9662EC602C}"/>
              </a:ext>
            </a:extLst>
          </p:cNvPr>
          <p:cNvSpPr/>
          <p:nvPr/>
        </p:nvSpPr>
        <p:spPr>
          <a:xfrm>
            <a:off x="2366607" y="3149935"/>
            <a:ext cx="133857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서비스 사용 시도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16080</TotalTime>
  <Words>48313</Words>
  <Application>Microsoft Office PowerPoint</Application>
  <PresentationFormat>A4 용지(210x297mm)</PresentationFormat>
  <Paragraphs>21314</Paragraphs>
  <Slides>369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369</vt:i4>
      </vt:variant>
    </vt:vector>
  </HeadingPairs>
  <TitlesOfParts>
    <vt:vector size="380" baseType="lpstr"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882</cp:revision>
  <cp:lastPrinted>2016-10-27T08:57:39Z</cp:lastPrinted>
  <dcterms:created xsi:type="dcterms:W3CDTF">2016-10-27T07:41:55Z</dcterms:created>
  <dcterms:modified xsi:type="dcterms:W3CDTF">2026-07-10T07:28:58Z</dcterms:modified>
  <cp:category>서브시스템/업무명</cp:category>
  <cp:contentStatus>0.1</cp:contentStatus>
</cp:coreProperties>
</file>